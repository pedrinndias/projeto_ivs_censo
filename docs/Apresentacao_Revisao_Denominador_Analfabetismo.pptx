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12161520" cy="36576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6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REVISÃO METODOLÓGICA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IVS Censo 2022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40080" y="301752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Denominador V01042 → V00001, taxa de analfabetismo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estudo do sigilo IBGE em V00901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 Dias Soares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5349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Iniciação Científica  /  Fiocruz Minas — IRR  /  22 de maio de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SUMÁRIO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mudou nesta revisão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Cinco ajustes metodológicos no notebook 02 da Fase 3, com base no de-para oficial da orientadora e no dicionário IBGE 2022.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7373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280160" y="16916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Denominador V01042 → V00001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2057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 domiciliares (água, esgoto, lixo) voltam a usar o equivalente do V002 do Censo 2010.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60604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6060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280160" y="2560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Taxa de analfabetismo corrigida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80160" y="29260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Fórmula V00901/V00900 substituída por V00901/(V00900 + V00901) — taxa matematicamente válida.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47472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4747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280160" y="3429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Razão de moradores realinhada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80160" y="37947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(V00005 + V00006) / (V00001 + V00002) — reproduz V0005 do IBGE.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434340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43434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280160" y="42976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 Dados_sig reescrita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80160" y="4663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SIGILOSO / COLETIVO / ZERADO agora ancorados em v0001 e V00001 (não mais em V01042).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2920" y="521208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5212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280160" y="5166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Variáveis de esgoto confirmadas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280160" y="55321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Dicionário oficial IBGE confirma V00312–V00316. Bloco V00249–V00253 é tipologia de habitação, não esgoto.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Revisão Metodológica IVS Censo 2022  /  Sessão 22-05-2026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AJUSTE 1 — MOTIVAÇÃO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Denominador: V01042 estava conceitualmente errado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Definições do dicionário oficial IBGE 2022 (Agregados por Setores):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486400" cy="2286000"/>
          </a:xfrm>
          <a:prstGeom prst="roundRect">
            <a:avLst>
              <a:gd name="adj" fmla="val 4000"/>
            </a:avLst>
          </a:prstGeom>
          <a:solidFill>
            <a:srgbClr val="F2F6FA"/>
          </a:solidFill>
          <a:ln w="25400">
            <a:solidFill>
              <a:srgbClr val="B850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544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V01042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"Pessoa responsável pelo domicílio"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5120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Arquivo:</a:t>
            </a:r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Parentesco_BR.csv
</a:t>
            </a:r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Unidade:</a:t>
            </a:r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contagem de PESSOAS
</a:t>
            </a:r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é equivalente a domicílios.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417320"/>
            <a:ext cx="5486400" cy="2286000"/>
          </a:xfrm>
          <a:prstGeom prst="roundRect">
            <a:avLst>
              <a:gd name="adj" fmla="val 4000"/>
            </a:avLst>
          </a:prstGeom>
          <a:solidFill>
            <a:srgbClr val="F2F6FA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5544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V00001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400800" y="20116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"Domicílios Particulares Permanentes Ocupados"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0" y="2423160"/>
            <a:ext cx="5120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Arquivo:</a:t>
            </a:r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Domicilio1_BR.csv
</a:t>
            </a:r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Unidade:</a:t>
            </a:r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contagem de DOMICÍLIOS
</a:t>
            </a:r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Equivalente direto do V002 (Dom_part_p) do Censo 2010 — padrão IVS-BH 2012.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023360"/>
            <a:ext cx="11247120" cy="2011680"/>
          </a:xfrm>
          <a:prstGeom prst="roundRect">
            <a:avLst>
              <a:gd name="adj" fmla="val 4545"/>
            </a:avLst>
          </a:prstGeom>
          <a:solidFill>
            <a:srgbClr val="21295C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16052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surgiu o engano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77240" y="457200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Cálculo IVS2012.docx tem a frase "achamos melhor considerar o número de responsáveis como número total de domicílios do setor" na seção Tratamento dos dados. Essa frase só se aplica à detecção de setores com 100% de domicílios coletivos (asilos, presídios) — não é uma instrução para usar V01042 como denominador dos indicadores. A interpretação anterior generalizou indevidamente.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de-para da orientadora (Relatorio_Metodologico_IVS_2022_Corrigido.xlsx) é explícito: V00001 (Domicílios Permanentes — Arq. Domicilio1).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Revisão Metodológica IVS Censo 2022  /  Sessão 22-05-2026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AJUSTE 1 — IMPACTO NUMÉRICO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V01042 e V00001 são quase iguais — mas só o V00001 é o denominador certo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F2F6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8016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0,9993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94360" y="21031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Correlação V00001 ↔ V01042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24688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Quase perfeita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37560" y="118872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F2F6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128016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93,2%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474720" y="21031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Setores com V00001 = V01042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0" y="24688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99.076 de 106.281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118872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F2F6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28016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6,8%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6355080" y="21031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Setores com V01042 &gt; V00001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55080" y="24688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7.205 setores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098280" y="118872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F2F6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35440" y="128016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9235440" y="21031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Setores com V01042 &lt; V00001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235440" y="24688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Nunca o contrário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315468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nas proporções pós-correção (n = 106.281 setores OK)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520440"/>
          <a:ext cx="1124712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2011680"/>
                <a:gridCol w="2011680"/>
                <a:gridCol w="31089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Indicador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Mediana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Máximo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Setores &gt; 1 (antes / depois)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pct_agua_inad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0,0000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1,0000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pct_esgoto_inad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0,0000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1,0000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pct_lixo_inad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0,0000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1,0000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pct_raca_pretpardind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0,5756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1,0000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457200" y="3520440"/>
            <a:ext cx="11247120" cy="3657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3" name="Text 20"/>
          <p:cNvSpPr/>
          <p:nvPr/>
        </p:nvSpPr>
        <p:spPr>
          <a:xfrm>
            <a:off x="548640" y="35204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572000" y="35204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Mediana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583680" y="35204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Máximo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595360" y="35204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Setores &gt; 1 (antes / depois)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457200" y="534924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mudança altera muito pouco os valores numéricos das proporções de saneamento (porque V00001 ≈ V01042 em 93% dos setores), mas restaura o significado conceitual: estamos dividindo "domicílios com problema" por "total de domicílios" — não por "número de pessoas responsáveis".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Revisão Metodológica IVS Censo 2022  /  Sessão 22-05-2026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AJUSTE 2 — TAXA DE ANALFABETISMO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fórmula anterior gerava valores matematicamente impossíveis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F2F6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V00900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Pessoas com 15+ anos que SABEM ler e escrever (alfabetizadas)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09728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F2F6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1887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V00901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0" y="160020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Pessoas com 15+ anos que NÃO sabem ler e escrever (analfabetas)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5486400" cy="3383280"/>
          </a:xfrm>
          <a:prstGeom prst="roundRect">
            <a:avLst>
              <a:gd name="adj" fmla="val 2703"/>
            </a:avLst>
          </a:prstGeom>
          <a:solidFill>
            <a:srgbClr val="FFF5F4"/>
          </a:solidFill>
          <a:ln w="25400">
            <a:solidFill>
              <a:srgbClr val="B850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8803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(incorreto)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32918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pct_analfab = V00901 / V00900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384048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"analfabetos divididos por alfabetizados" — é uma razão, não uma taxa. O total de pessoas com 15+ é a soma das duas, não V00900 sozinha.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48006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Consequência empírica: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512064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setores com pct &gt; 1 (impossível como taxa)
</a:t>
            </a:r>
            <a:pPr indent="0" marL="0">
              <a:buNone/>
            </a:pPr>
            <a:r>
              <a:rPr lang="en-US" sz="24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5,33</a:t>
            </a:r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valor máximo bruto antes do clipping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217920" y="2743200"/>
            <a:ext cx="5486400" cy="3383280"/>
          </a:xfrm>
          <a:prstGeom prst="roundRect">
            <a:avLst>
              <a:gd name="adj" fmla="val 2703"/>
            </a:avLst>
          </a:prstGeom>
          <a:solidFill>
            <a:srgbClr val="F1F8F1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28803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(correto)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0" y="32918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pct_analfab = V00901 / (V00900 + V00901)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0" y="384048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"analfabetos divididos pelo total de pessoas com 15 anos ou mais" — denominador coerente; resultado é uma taxa válida em [0, 1].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0" y="48006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Consequência empírica: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0" y="512064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setores com pct &gt; 1 (sem anomalias)
</a:t>
            </a:r>
            <a:pPr indent="0" marL="0">
              <a:buNone/>
            </a:pPr>
            <a:r>
              <a:rPr lang="en-US" sz="24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0,8421</a:t>
            </a:r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valor máximo (Portel-PA, plausível)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Revisão Metodológica IVS Censo 2022  /  Sessão 22-05-2026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AJUSTE 3 — RAZÃO DE MORADORES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Alinhamento com a definição oficial de V0005 do IBGE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F2F6F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razao_moradores = (V00005 + V00006) / (V00001 + V00002)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40280"/>
          <a:ext cx="112471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92354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Variável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Definição (dicionário IBGE)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V00005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Quantidade de moradores em Domicílios Particulares Permanentes Ocupados (DPPO)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V00006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Quantidade de moradores em Domicílios Particulares Improvisados Ocupados (DPIO)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V00001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Domicílios Particulares Permanentes Ocupados (DPPO)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V00002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Domicílios Particulares Improvisados Ocupados (DPIO)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Antes: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371600" y="4572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(V00005 + V00006) / V01042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943600" y="457200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máximo: 8,79  /  p99: 3,65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4983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Agora: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371600" y="4983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(V00005+V00006) / (V00001+V00002)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943600" y="4983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máximo: 8,79  /  p99: 3,67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7200" y="544068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distribuição central praticamente não muda — mas a fórmula passa a reproduzir exatamente V0005 do IBGE (definição oficial: "Total de pessoas em Dom. Particulares Ocupados / DPPO + DPIO"). Vantagem prática: os extremos (Portel-PA com 8,79 moradores/dom.) agora são interpretáveis — refletem setores reais com domicílios maiores, não um artefato do denominador.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Revisão Metodológica IVS Censo 2022  /  Sessão 22-05-2026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AJUSTE 4 — REGRA DADOS_SIG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Classificação de elegibilidade dos setores reescrita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Filtra setores que não devem entrar no cálculo do IVS (replicando a lógica do Cálculo IVS2012.docx).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459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SIGILOSO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2,52%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468880" y="1600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2.751 setores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468880" y="1920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v0001 ou V00001 estão como sigilo (NaN). Sem essas variáveis-base não há análise possível.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651760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7432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COLETIVO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31089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468880" y="2697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setores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468880" y="30175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V00001 = 0 com v0001 &gt; 0 — toda a população reside em domicílios coletivos (asilos, presídios). Setores ELSI não apresentaram esse caso.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749040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5A6A7A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8404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ZERADO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4206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468880" y="37947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setores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468880" y="41148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v0001 = 0. Setor sem população residente. Nenhum nos 70 municípios ELSI.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846320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2C5F2D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9377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7200" y="5303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97,48%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2468880" y="4892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106.281 setores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468880" y="52120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Setor elegível: participa de todas as análises descritivas e do cálculo das proporções.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598932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a regra COLETIVO usava V00002 / V01042 — V00002 são domicílios improvisados, não coletivos. Agora a regra é ancorada em V00001 (denominador padrão) e usa a relação correta entre população e domicílios particulares.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Revisão Metodológica IVS Censo 2022  /  Sessão 22-05-2026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AJUSTE 5 — VARIÁVEIS DE ESGOTO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V00249–V00253 não tem relação com esgoto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Relatório Metodológico legado divergia em duas abas (De_Para indicava V00312–V00316; Mapa_de_Arquivos indicava V00249–V00253). O dicionário oficial IBGE resolve a ambiguidade.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5486400" cy="4114800"/>
          </a:xfrm>
          <a:prstGeom prst="roundRect">
            <a:avLst>
              <a:gd name="adj" fmla="val 2222"/>
            </a:avLst>
          </a:prstGeom>
          <a:solidFill>
            <a:srgbClr val="FFF5F4"/>
          </a:solidFill>
          <a:ln w="25400">
            <a:solidFill>
              <a:srgbClr val="B850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6596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V00249 – V00253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Tipologia de habitação (NÃO é esgoto)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788920"/>
            <a:ext cx="51206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V00249 — Casa de vila/condomínio, 4+ banheiros</a:t>
            </a:r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V00250 — Casa de vila/condomínio, banheiro comum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V00251 — Casa de vila/condomínio, sanitário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V00252 — Casa de vila/condomínio, sem banheiro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V00253 — Apartamento, 1 banheiro c/ chuveiro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507492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Tema: "Tipo de espécie do domicílio" e contagem de banheiros — não classifica destino do esgoto.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5486400" cy="4114800"/>
          </a:xfrm>
          <a:prstGeom prst="roundRect">
            <a:avLst>
              <a:gd name="adj" fmla="val 2222"/>
            </a:avLst>
          </a:prstGeom>
          <a:solidFill>
            <a:srgbClr val="F1F8F1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96596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V00312 – V00316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0" y="23774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Destinação do esgoto (BLOCO CORRETO)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0" y="2788920"/>
            <a:ext cx="51206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V00312 — Fossa rudimentar ou buraco</a:t>
            </a:r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V00313 — Vala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V00314 — Rio, lago, córrego ou mar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V00315 — Outra forma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V00316 — Inexistente (sem banheiro)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0" y="507492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Tema: "Destinação do esgoto do banheiro ou sanitário ou buraco para dejeções" — corresponde direto ao V019–V028 do Censo 2010 (esgoto inadequado).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Revisão Metodológica IVS Censo 2022  /  Sessão 22-05-2026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ESTUDO APROFUNDADO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o N do analfabetismo está baixo?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correção da fórmula resolveu o problema matemático (sem mais valores &gt;1), mas não resolveu o problema de cobertura: ainda perdemos 15,76% dos setores OK no cálculo de pct_analfab. A causa não é defeito do código — é o sigilo do IBGE.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2697480" cy="1280160"/>
          </a:xfrm>
          <a:prstGeom prst="roundRect">
            <a:avLst>
              <a:gd name="adj" fmla="val 5714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201168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106.281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94360" y="269748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setores OK na base ELSI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1965960"/>
            <a:ext cx="2697480" cy="1280160"/>
          </a:xfrm>
          <a:prstGeom prst="roundRect">
            <a:avLst>
              <a:gd name="adj" fmla="val 5714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0" y="201168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89.527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474720" y="269748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pct_analfab calculável (84,24%)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965960"/>
            <a:ext cx="2697480" cy="1280160"/>
          </a:xfrm>
          <a:prstGeom prst="roundRect">
            <a:avLst>
              <a:gd name="adj" fmla="val 5714"/>
            </a:avLst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6355080" y="201168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16.754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355080" y="269748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V00901 sigilada (15,76%)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098280" y="1965960"/>
            <a:ext cx="2697480" cy="1280160"/>
          </a:xfrm>
          <a:prstGeom prst="roundRect">
            <a:avLst>
              <a:gd name="adj" fmla="val 5714"/>
            </a:avLst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9235440" y="201168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0,0278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35440" y="269748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mediana da taxa (≈ 2,78%)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5204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Composição dos 106.281 setores OK quanto a V00901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4023360"/>
            <a:ext cx="8486374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023360"/>
            <a:ext cx="848637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75.45%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943574" y="4023360"/>
            <a:ext cx="987765" cy="6400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1" name="Shape 19"/>
          <p:cNvSpPr/>
          <p:nvPr/>
        </p:nvSpPr>
        <p:spPr>
          <a:xfrm>
            <a:off x="9931338" y="4023360"/>
            <a:ext cx="1772982" cy="6400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2" name="Text 20"/>
          <p:cNvSpPr/>
          <p:nvPr/>
        </p:nvSpPr>
        <p:spPr>
          <a:xfrm>
            <a:off x="9931338" y="4023360"/>
            <a:ext cx="177298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15.76%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846320"/>
            <a:ext cx="228600" cy="2286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4" name="Text 22"/>
          <p:cNvSpPr/>
          <p:nvPr/>
        </p:nvSpPr>
        <p:spPr>
          <a:xfrm>
            <a:off x="749808" y="4773168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V00901 ≥ 1 (analfabetos reportados)  (80.193)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206240" y="4846320"/>
            <a:ext cx="228600" cy="2286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4498848" y="4773168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V00901 = 0 (sem analfabetos)  (9.334)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955280" y="4846320"/>
            <a:ext cx="228600" cy="2286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8" name="Text 26"/>
          <p:cNvSpPr/>
          <p:nvPr/>
        </p:nvSpPr>
        <p:spPr>
          <a:xfrm>
            <a:off x="8247888" y="4773168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V00901 = NaN (sigilo IBGE)  (16.754)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548640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Hipótese inicial: o sigilo é aleatório? Não — é fortemente estruturado por município, como mostraremos no próximo slide.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Revisão Metodológica IVS Censo 2022  /  Sessão 22-05-2026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ESTUDO — SIGILO POR MUNICÍPIO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sigilo se concentra nas grandes capitais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municípios ELSI com maior % de sigilo em V00901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1247120" cy="365760"/>
          </a:xfrm>
          <a:prstGeom prst="rect">
            <a:avLst/>
          </a:prstGeom>
          <a:solidFill>
            <a:srgbClr val="F2F6F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63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São Caetano do Sul (SP)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0" y="14630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29.69%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0" y="1572768"/>
            <a:ext cx="4572000" cy="1463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9" name="Shape 7"/>
          <p:cNvSpPr/>
          <p:nvPr/>
        </p:nvSpPr>
        <p:spPr>
          <a:xfrm>
            <a:off x="4297680" y="1572768"/>
            <a:ext cx="4524756" cy="14630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 sigilo / 421 setores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18288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Porto Alegre (RS)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0" y="18288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27.46%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297680" y="1938528"/>
            <a:ext cx="4572000" cy="1463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4" name="Shape 12"/>
          <p:cNvSpPr/>
          <p:nvPr/>
        </p:nvSpPr>
        <p:spPr>
          <a:xfrm>
            <a:off x="4297680" y="1938528"/>
            <a:ext cx="4184904" cy="14630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0" y="1828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740 sigilo / 2.695 setores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194560"/>
            <a:ext cx="11247120" cy="365760"/>
          </a:xfrm>
          <a:prstGeom prst="rect">
            <a:avLst/>
          </a:prstGeom>
          <a:solidFill>
            <a:srgbClr val="F2F6FA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1945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Curitiba (PR)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0" y="21945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23.11%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297680" y="2304288"/>
            <a:ext cx="4572000" cy="1463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0" name="Shape 18"/>
          <p:cNvSpPr/>
          <p:nvPr/>
        </p:nvSpPr>
        <p:spPr>
          <a:xfrm>
            <a:off x="4297680" y="2304288"/>
            <a:ext cx="3521964" cy="14630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0" y="2194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732 sigilo / 3.168 setores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25603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São Pedro da Aldeia (RJ)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0" y="25603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22.66%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297680" y="2670048"/>
            <a:ext cx="4572000" cy="1463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5" name="Shape 23"/>
          <p:cNvSpPr/>
          <p:nvPr/>
        </p:nvSpPr>
        <p:spPr>
          <a:xfrm>
            <a:off x="4297680" y="2670048"/>
            <a:ext cx="3453384" cy="14630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0" y="25603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 sigilo / 353 setores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2926080"/>
            <a:ext cx="11247120" cy="365760"/>
          </a:xfrm>
          <a:prstGeom prst="rect">
            <a:avLst/>
          </a:prstGeom>
          <a:solidFill>
            <a:srgbClr val="F2F6FA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29260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 Horizonte (MG)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657600" y="29260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22.47%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297680" y="3035808"/>
            <a:ext cx="4572000" cy="1463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1" name="Shape 29"/>
          <p:cNvSpPr/>
          <p:nvPr/>
        </p:nvSpPr>
        <p:spPr>
          <a:xfrm>
            <a:off x="4297680" y="3035808"/>
            <a:ext cx="3424428" cy="14630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2" name="Text 30"/>
          <p:cNvSpPr/>
          <p:nvPr/>
        </p:nvSpPr>
        <p:spPr>
          <a:xfrm>
            <a:off x="9144000" y="29260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1.149 sigilo / 5.113 setores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" y="32918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Canoas (RS)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657600" y="32918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20.93%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297680" y="3401568"/>
            <a:ext cx="4572000" cy="1463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6" name="Shape 34"/>
          <p:cNvSpPr/>
          <p:nvPr/>
        </p:nvSpPr>
        <p:spPr>
          <a:xfrm>
            <a:off x="4297680" y="3401568"/>
            <a:ext cx="3189732" cy="14630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7" name="Text 35"/>
          <p:cNvSpPr/>
          <p:nvPr/>
        </p:nvSpPr>
        <p:spPr>
          <a:xfrm>
            <a:off x="9144000" y="3291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135 sigilo / 645 setores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" y="3657600"/>
            <a:ext cx="11247120" cy="365760"/>
          </a:xfrm>
          <a:prstGeom prst="rect">
            <a:avLst/>
          </a:prstGeom>
          <a:solidFill>
            <a:srgbClr val="F2F6FA"/>
          </a:solidFill>
          <a:ln/>
        </p:spPr>
      </p:sp>
      <p:sp>
        <p:nvSpPr>
          <p:cNvPr id="39" name="Text 37"/>
          <p:cNvSpPr/>
          <p:nvPr/>
        </p:nvSpPr>
        <p:spPr>
          <a:xfrm>
            <a:off x="548640" y="36576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Rio de Janeiro (RJ)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657600" y="36576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20.01%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297680" y="3767328"/>
            <a:ext cx="4572000" cy="1463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2" name="Shape 40"/>
          <p:cNvSpPr/>
          <p:nvPr/>
        </p:nvSpPr>
        <p:spPr>
          <a:xfrm>
            <a:off x="4297680" y="3767328"/>
            <a:ext cx="3049524" cy="14630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43" name="Text 41"/>
          <p:cNvSpPr/>
          <p:nvPr/>
        </p:nvSpPr>
        <p:spPr>
          <a:xfrm>
            <a:off x="9144000" y="3657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2.676 sigilo / 13.371 setores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48640" y="40233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Campinas (SP)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657600" y="40233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19.94%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4297680" y="4133088"/>
            <a:ext cx="4572000" cy="1463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7" name="Shape 45"/>
          <p:cNvSpPr/>
          <p:nvPr/>
        </p:nvSpPr>
        <p:spPr>
          <a:xfrm>
            <a:off x="4297680" y="4133088"/>
            <a:ext cx="3038856" cy="14630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48" name="Text 46"/>
          <p:cNvSpPr/>
          <p:nvPr/>
        </p:nvSpPr>
        <p:spPr>
          <a:xfrm>
            <a:off x="9144000" y="40233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499 sigilo / 2.502 setores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57200" y="4389120"/>
            <a:ext cx="11247120" cy="365760"/>
          </a:xfrm>
          <a:prstGeom prst="rect">
            <a:avLst/>
          </a:prstGeom>
          <a:solidFill>
            <a:srgbClr val="F2F6FA"/>
          </a:solidFill>
          <a:ln/>
        </p:spPr>
      </p:sp>
      <p:sp>
        <p:nvSpPr>
          <p:cNvPr id="50" name="Text 48"/>
          <p:cNvSpPr/>
          <p:nvPr/>
        </p:nvSpPr>
        <p:spPr>
          <a:xfrm>
            <a:off x="548640" y="43891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São Paulo (SP)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3657600" y="43891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19.69%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4297680" y="4498848"/>
            <a:ext cx="4572000" cy="1463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3" name="Shape 51"/>
          <p:cNvSpPr/>
          <p:nvPr/>
        </p:nvSpPr>
        <p:spPr>
          <a:xfrm>
            <a:off x="4297680" y="4498848"/>
            <a:ext cx="3000756" cy="14630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4" name="Text 52"/>
          <p:cNvSpPr/>
          <p:nvPr/>
        </p:nvSpPr>
        <p:spPr>
          <a:xfrm>
            <a:off x="9144000" y="4389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5.252 sigilo / 26.679 setores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48640" y="47548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Araçatuba (SP)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3657600" y="47548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18.53%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4297680" y="4864608"/>
            <a:ext cx="4572000" cy="1463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8" name="Shape 56"/>
          <p:cNvSpPr/>
          <p:nvPr/>
        </p:nvSpPr>
        <p:spPr>
          <a:xfrm>
            <a:off x="4297680" y="4864608"/>
            <a:ext cx="2823972" cy="14630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9" name="Text 57"/>
          <p:cNvSpPr/>
          <p:nvPr/>
        </p:nvSpPr>
        <p:spPr>
          <a:xfrm>
            <a:off x="9144000" y="4754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 sigilo / 502 setores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457200" y="534924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contraste — municípios sem sigilo: Arara (PB), Água Preta (PE), Portel (PA), Urandi (BA), Jaqueira (PE), Itajuípe (BA). Todos com média de analfabetismo entre 18,8% e 29,2% — exatamente os mais vulneráveis.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Revisão Metodológica IVS Censo 2022  /  Sessão 22-05-2026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ESTUDO — POR QUE O SIGILO É SISTEMÁTICO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regra do IBGE atinge mais setores urbanos com poucos analfabetos absolutos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IBGE suprime contagens muito pequenas (geralmente ≤ 2 ou 3 pessoas) para preservar confidencialidade. Em setores urbanos centrais — onde a taxa de analfabetismo é baixa — o NÚMERO ABSOLUTO de analfabetos por setor frequentemente cai abaixo desse limite, ativando o sigilo.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2057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Distribuição: setores por faixa de V00900 (alfabetizados 15+) — observe o % de sigilo em V00901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1–10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45920" y="260604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 setores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77440" y="2697480"/>
            <a:ext cx="6400800" cy="201168"/>
          </a:xfrm>
          <a:prstGeom prst="rect">
            <a:avLst/>
          </a:prstGeom>
          <a:solidFill>
            <a:srgbClr val="F2F6FA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77440" y="2697480"/>
            <a:ext cx="5644225" cy="2011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8113105" y="260604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44.09% sigilo em V00901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99008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11–50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645920" y="2990088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1.619 setores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377440" y="3081528"/>
            <a:ext cx="6400800" cy="201168"/>
          </a:xfrm>
          <a:prstGeom prst="rect">
            <a:avLst/>
          </a:prstGeom>
          <a:solidFill>
            <a:srgbClr val="F2F6FA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77440" y="3081528"/>
            <a:ext cx="4672584" cy="2011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7141464" y="299008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36.50% sigilo em V00901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374136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51–100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645920" y="3374136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3.279 setores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377440" y="3465576"/>
            <a:ext cx="6400800" cy="201168"/>
          </a:xfrm>
          <a:prstGeom prst="rect">
            <a:avLst/>
          </a:prstGeom>
          <a:solidFill>
            <a:srgbClr val="F2F6FA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77440" y="3465576"/>
            <a:ext cx="3165836" cy="2011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5634716" y="337413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24.73% sigilo em V00901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758184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101–200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645920" y="3758184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11.061 setores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377440" y="3849624"/>
            <a:ext cx="6400800" cy="201168"/>
          </a:xfrm>
          <a:prstGeom prst="rect">
            <a:avLst/>
          </a:prstGeom>
          <a:solidFill>
            <a:srgbClr val="F2F6FA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77440" y="3849624"/>
            <a:ext cx="2827873" cy="2011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/>
          <p:nvPr/>
        </p:nvSpPr>
        <p:spPr>
          <a:xfrm>
            <a:off x="5296753" y="3758184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22.09% sigilo em V00901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142232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201–500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645920" y="4142232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62.736 setores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377440" y="4233672"/>
            <a:ext cx="6400800" cy="201168"/>
          </a:xfrm>
          <a:prstGeom prst="rect">
            <a:avLst/>
          </a:prstGeom>
          <a:solidFill>
            <a:srgbClr val="F2F6FA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377440" y="4233672"/>
            <a:ext cx="2204436" cy="2011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0" name="Text 28"/>
          <p:cNvSpPr/>
          <p:nvPr/>
        </p:nvSpPr>
        <p:spPr>
          <a:xfrm>
            <a:off x="4673316" y="414223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17.22% sigilo em V00901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452628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501–1000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645920" y="452628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27.013 setores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377440" y="4617720"/>
            <a:ext cx="6400800" cy="201168"/>
          </a:xfrm>
          <a:prstGeom prst="rect">
            <a:avLst/>
          </a:prstGeom>
          <a:solidFill>
            <a:srgbClr val="F2F6FA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377440" y="4617720"/>
            <a:ext cx="971641" cy="2011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5" name="Text 33"/>
          <p:cNvSpPr/>
          <p:nvPr/>
        </p:nvSpPr>
        <p:spPr>
          <a:xfrm>
            <a:off x="3440521" y="452628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7.59% sigilo em V00901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491032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1000+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645920" y="4910328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480 setores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377440" y="5001768"/>
            <a:ext cx="6400800" cy="201168"/>
          </a:xfrm>
          <a:prstGeom prst="rect">
            <a:avLst/>
          </a:prstGeom>
          <a:solidFill>
            <a:srgbClr val="F2F6FA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377440" y="5001768"/>
            <a:ext cx="426293" cy="2011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0" name="Text 38"/>
          <p:cNvSpPr/>
          <p:nvPr/>
        </p:nvSpPr>
        <p:spPr>
          <a:xfrm>
            <a:off x="2895173" y="491032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3.33% sigilo em V00901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57200" y="5486400"/>
            <a:ext cx="11247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Leitura: setores menores (poucos alfabetizados) têm muito mais sigilo (44% na faixa 1–10) do que setores maiores (3,3% na faixa 1000+). Combinado com a tabela do slide anterior, fica claro: o sigilo segue um padrão de tamanho de setor e contexto urbano, não falha de captação. Manter NaN é mais transparente do que imputar zero, que subestimaria o analfabetismo em capitais.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Revisão Metodológica IVS Censo 2022  /  Sessão 22-05-2026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ESTUDO — IMPLICAÇÕES E DECISÃO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Manter NaN preserva a integridade — mas exige documentação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486400" cy="4114800"/>
          </a:xfrm>
          <a:prstGeom prst="roundRect">
            <a:avLst>
              <a:gd name="adj" fmla="val 2222"/>
            </a:avLst>
          </a:prstGeom>
          <a:solidFill>
            <a:srgbClr val="FFF5F4"/>
          </a:solidFill>
          <a:ln w="25400">
            <a:solidFill>
              <a:srgbClr val="B850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344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Opção descartada: imputar V00901 = 0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51206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Recuperaria os 16.754 setores faltantes
</a:t>
            </a:r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Justificável: IBGE sigila quando o valor é baixo
</a:t>
            </a:r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 </a:t>
            </a:r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Substitui um intervalo plausível (1 a 2 pessoas) por zero — viés sistemático para baixo
</a:t>
            </a:r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 </a:t>
            </a:r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Concentra o viés justamente em capitais (São Paulo, Rio, BH), distorcendo a comparação intraurbana
</a:t>
            </a:r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 </a:t>
            </a:r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Mascara a perda de cobertura no relatório descritivo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097280"/>
            <a:ext cx="5486400" cy="4114800"/>
          </a:xfrm>
          <a:prstGeom prst="roundRect">
            <a:avLst>
              <a:gd name="adj" fmla="val 2222"/>
            </a:avLst>
          </a:prstGeom>
          <a:solidFill>
            <a:srgbClr val="F1F8F1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2344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Decisão adotada: manter NaN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1783080"/>
            <a:ext cx="51206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Preserva a transparência da regra IBGE
</a:t>
            </a:r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introduz viés sistemático para baixo
</a:t>
            </a:r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taxa estimada nos 89.527 setores válidos representa pelo menos um limite inferior auditável
</a:t>
            </a:r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 </a:t>
            </a:r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Perde 15,76% do N para pct_analfab — exige declaração explícita nas tabelas descritivas
</a:t>
            </a:r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 </a:t>
            </a:r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Cuidado adicional no cálculo do IVS final (pode demandar imputação por estrato ou método de janela)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5440680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21295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55321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Auditoria documentada em banco_de_dados/eda/auditoria_analfabetismo_municipio.csv  e  auditoria_analfabetismo_v00900_bins.csv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58978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Recomenda-se discutir com a orientadora se haverá imputação no momento do cálculo do IVS final (não na EDA).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Revisão Metodológica IVS Censo 2022  /  Sessão 22-05-2026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RESUMO DA SESSÃO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estamos agora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5486400" cy="1188720"/>
          </a:xfrm>
          <a:prstGeom prst="roundRect">
            <a:avLst>
              <a:gd name="adj" fmla="val 6154"/>
            </a:avLst>
          </a:prstGeom>
          <a:solidFill>
            <a:srgbClr val="065A82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33172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 02 alinhado ao padrão IVS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Denominador V00001, taxa de analfabetismo corrigida, razão de moradores via V0005.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09360" y="2194560"/>
            <a:ext cx="5486400" cy="1188720"/>
          </a:xfrm>
          <a:prstGeom prst="roundRect">
            <a:avLst>
              <a:gd name="adj" fmla="val 6154"/>
            </a:avLst>
          </a:prstGeom>
          <a:solidFill>
            <a:srgbClr val="065A82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233172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106.281 setores OK (97,48%)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2240" y="274320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proporções inválidas (&gt; 1). Distribuições limpas e auditáveis.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520440"/>
            <a:ext cx="5486400" cy="1188720"/>
          </a:xfrm>
          <a:prstGeom prst="roundRect">
            <a:avLst>
              <a:gd name="adj" fmla="val 6154"/>
            </a:avLst>
          </a:prstGeom>
          <a:solidFill>
            <a:srgbClr val="065A82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65760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Sigilo IBGE em V00901 documentado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406908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15,76% dos setores OK, concentrados em capitais. Padrão estrutural, não aleatório.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9360" y="3520440"/>
            <a:ext cx="5486400" cy="1188720"/>
          </a:xfrm>
          <a:prstGeom prst="roundRect">
            <a:avLst>
              <a:gd name="adj" fmla="val 6154"/>
            </a:avLst>
          </a:prstGeom>
          <a:solidFill>
            <a:srgbClr val="065A82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365760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registrado no master local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92240" y="406908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push remoto — aguardando aprovação para subir o branch.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passos sugeridos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534924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Atualizar GUIA_DO_PROJETO.md (Problema 3 e tabela de denominadores) para refletir a nova decisão.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Decidir com a orientadora a estratégia de sigilo no cálculo do IVS final (imputação por estrato vs manter NaN).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Avançar para análise fatorial e ponderação das duas dimensões do IVS.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Revisão Metodológica IVS Censo 2022</dc:title>
  <dc:subject>PptxGenJS Presentation</dc:subject>
  <dc:creator>Pedro Dias Soares</dc:creator>
  <cp:lastModifiedBy>Pedro Dias Soares</cp:lastModifiedBy>
  <cp:revision>1</cp:revision>
  <dcterms:created xsi:type="dcterms:W3CDTF">2026-05-22T19:27:18Z</dcterms:created>
  <dcterms:modified xsi:type="dcterms:W3CDTF">2026-05-22T19:27:18Z</dcterms:modified>
</cp:coreProperties>
</file>