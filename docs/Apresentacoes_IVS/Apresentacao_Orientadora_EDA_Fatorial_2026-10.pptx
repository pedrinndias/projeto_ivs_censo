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Lst>
  <p:notesMasterIdLst>
    <p:notesMasterId r:id="rId8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notesMaster" Target="notesMasters/notesMaster1.xml"/><Relationship Id="rId89" Type="http://schemas.openxmlformats.org/officeDocument/2006/relationships/presProps" Target="presProps.xml"/><Relationship Id="rId90" Type="http://schemas.openxmlformats.org/officeDocument/2006/relationships/viewProps" Target="viewProps.xml"/><Relationship Id="rId91" Type="http://schemas.openxmlformats.org/officeDocument/2006/relationships/theme" Target="theme/theme1.xml"/><Relationship Id="rId9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versão é a referência proposta no NB05 com uma coisa mudada: que setores entram (eixo A), que indicadores entram (B), como o índice é construído (C), índices novos ao lado do IVS (D). O eixo E atravessa as versões. Esta parte põe tudo lado a lado; nada aqui escolhe versão.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versão é a referência proposta no NB05 com uma coisa mudada, para que a comparação responda a uma pergunta só.
A — que setores entram: com rurais, piso de população, Belo Horizonte, por região, por porte e o Brasil inteiro.
B — que indicadores entram: as três rendas, as definições de água, banheiro, esgoto e moradia, lixo, cor ou raça e os complementares.
C — como o índice é construído: rotação e pesos, extração, normalização, agregação, regras de faixa e pesos iguais.
D — índices novos: subíndices, IVS-Idoso, índice de moradia, IBP aproximado e pesos de especialista × dados.
E — análises que atravessam as versões: incerteza, estabilidade, desigualdade interna, população em risco, envelhecimento e tipologias.
São 32 versões que constroem um índice; 21 passam nos critérios de elegibilidade do NB05.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critérios de elegibilidade são os fixados no NB05 antes de rodar a grade: KMO de pelo menos 0,70, MSA de pelo menos 0,50, comunalidade de pelo menos 0,30 e carga de pelo menos 0,40.
Como ler: Uma linha por eixo: versões, quantas são elegíveis, a menor e a maior AUC municipal contra as favelas e a maior troca de faixa em relação à referência.
O que mostra: A AUC municipal vai de 0,6034 a 0,9214 entre as versões.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versões das análises transversais (E1 a E6) não entram, porque não constroem um índice. Versões sem bloco 13 não têm ρ nem trocas de faixa; versões sem bloco 9 não têm KMO.
Como ler: Uma linha por versão. ρ é a correlação de postos entre o índice da versão e o da referência; % muda faixa é a parcela dos setores comuns que troca de faixa (regra do IVS-BH). Traço: a versão não roda aquele bloco.
O que mostra: A menor correlação de postos com a referência é a de D3_indice_moradia (0,4884).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versões das análises transversais (E1 a E6) não entram, porque não constroem um índice. Versões sem bloco 13 não têm ρ nem trocas de faixa; versões sem bloco 9 não têm KMO.
Como ler: Uma linha por versão. ρ é a correlação de postos entre o índice da versão e o da referência; % muda faixa é a parcela dos setores comuns que troca de faixa (regra do IVS-BH). Traço: a versão não roda aquele bloco.
O que mostra: A menor correlação de postos com a referência é a de D3_indice_moradia (0,4884).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Versões à direita ordenam os setores quase como a referência; versões acima da linha pontilhada separam melhor as favelas. As cores indicam a elegibilidade.
Como ler: Cada ponto é uma versão: no eixo horizontal, a correlação de postos com o índice da referência; no vertical, a AUC municipal contra as favelas. A linha pontilhada é a AUC da referência.
O que mostra: A versão mais distante da referência é D3_indice_moradia (ρ = 0,4884).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versões que mudam o recorte (eixo A) comparam só os setores em comum com a referência.
Como ler: Uma barra por versão com o percentual de setores que mudam de faixa (regra do IVS-BH); petróleo: elegível; argila: não elegível.
O que mostra: A maior mudança é a de D2_ivs_idoso: 49,8% dos setores mudam de faixa.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números vêm das tabelas T01, T02 e T03 de cada versão, reunidos em analises_exploratorias/00_sintese/unificada/U01_recortes.csv. As médias de proporção são médias entre setores, não razões agregadas.
Como ler: Uma linha por recorte do eixo A (e a referência): setores no recorte e no índice, renda mediana, médias de analfabetismo, esgoto e água inadequados e o percentual de setores sem analfabetismo por sigilo.
O que mostra: Renda mediana mais alta: A4_por_regiao/sul (3.722,28); mais baixa: A4_por_regiao/nordeste (1.719,20).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Reunido das tabelas T34 de todas as versões em analises_exploratorias/00_sintese/unificada/U02_variantes.csv.
Como ler: Uma linha por variante: a primeira de cada versão é o valor-padrão dela; as demais, as alternativas da tabela T34 (inclusive a referência, quando entra como alternativa).
O que mostra: A maior AUC municipal entre as variantes é a de “água só no terreno” (B2_agua, 0,8774).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Reunido das tabelas T34 de todas as versões em analises_exploratorias/00_sintese/unificada/U02_variantes.csv.
Como ler: Uma linha por variante: a primeira de cada versão é o valor-padrão dela; as demais, as alternativas da tabela T34 (inclusive a referência, quando entra como alternativa).
O que mostra: A maior AUC municipal entre as variantes é a de “água só no terreno” (B2_agua, 0,8774).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Reunido das tabelas T34 de todas as versões em analises_exploratorias/00_sintese/unificada/U02_variantes.csv.
Como ler: Uma linha por variante: a primeira de cada versão é o valor-padrão dela; as demais, as alternativas da tabela T34 (inclusive a referência, quando entra como alternativa).
O que mostra: A maior AUC municipal entre as variantes é a de “água só no terreno” (B2_agua, 0,8774).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Reunido das tabelas T34 de todas as versões em analises_exploratorias/00_sintese/unificada/U02_variantes.csv.
Como ler: Uma linha por variante: a primeira de cada versão é o valor-padrão dela; as demais, as alternativas da tabela T34 (inclusive a referência, quando entra como alternativa).
O que mostra: A maior AUC municipal entre as variantes é a de “água só no terreno” (B2_agua, 0,8774).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barras nas pontas são os setores de classificação estável; o meio do histograma é a incerteza.
Como ler: Histograma da fração das versões elegíveis em que cada setor fica em risco elevado: 0 = nunca, 1 = sempre.
O que mostra: Nunca: 53,0%; às vezes: 36,1%; sempre: 10,9%.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figura destaca onde a escolha de método mais pesa na classificação.
Como ler: Os 25 municípios (com pelo menos 30 setores) com maior percentual de setores ora em risco elevado, ora não.
O que mostra: No topo, Taió (59,5%). Destaques entre os municípios com pelo menos 30 setores.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barras mostram que as faixas relativas ao município estabilizam o total; diferenças grandes aparecem nas versões que mudam a forma da distribuição do índice.
Como ler: Uma barra por versão com o percentual de moradores em risco elevado ou muito elevado; em argila, a referência.
O que mostra: Referência: 29,4%; mínimo 15,5%, máximo 35,5%.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Linhas curtas indicam desigualdade interna que não depende do método.
Como ler: Uma linha por município, do menor ao maior Gini entre as versões; o ponto é a referência.
O que mostra: A posição de Capelinha vai do 3º ao 57º. Destaques entre os municípios com pelo menos 30 setores.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gráfico mostra a nuvem inteira: a correlação resume a tendência, mas há setores vulneráveis e envelhecidos ao mesmo tempo.
Como ler: Cada hexágono reúne setores com IVS e proporção de 60+ parecidos; quanto mais escuro, mais setores.
O que mostra: ρ = -0,5426 no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caixas se sobrepõem: em todas as faixas há setores muito envelhecidos.
Como ler: Uma caixa por faixa com a proporção de pessoas de 60+ nos setores.
O que mostra: Mediana de 0,2311 na faixa baixa e 0,0957 na muito elevada.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Grupos com cores fortes em poucas colunas têm uma carência específica; grupos escuros em todas as colunas acumulam carências.
Como ler: Mapa de calor: linhas são grupos, colunas são componentes; a cor é a média normalizada (0 a 1).
O que mostra: O grupo 3 tem 50,7% dos setores em FCU.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de 32 versões passam nos critérios do NB05; quando falham, o motivo mais comum é o banheiro graduado.
A maior parte das versões fica perto da referência; a que mais se afasta é D3_indice_moradia (ρ = 0,4884).
Entre as versões elegíveis, 53,0% dos setores nunca ficam em risco elevado, 10,9% ficam sempre e 36,1% mudam conforme a versão.
Na referência, 29,4% dos moradores vivem em setores de risco elevado ou muito elevado.
IVS e envelhecimento andam em sentidos opostos (ρ = -0,5426 com a proporção de 60+).
Nada disso escolhe versão: a escolha é da orientadora.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versão final da EDA é a do recorte de análise (setores urbanos com Dados_sig = OK nos 70 municípios), com todos os indicadores e variantes pedidos nas demandas de setembro. O índice que a acompanha é a referência proposta no NB05, que continua proposta até a orientadora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Demanda 1 — renda com a mediana: coluna renda_media_mediana_mun, ao lado da renda original e da sem o extremo.
Demanda 2 — quadro de indicadores: Quadro_Indicadores, gerado do código, com numerador, denominador e origem.
Demandas 5 e 7 — água: “não chega”, sem canalização e só no terreno, comparadas com o IVS-7 e com as outras categorias.
Demanda 6 — banheiro: V00495 (que já contém V00238) e as três partições V00236, V00237 e V00238, além do banheiro graduado.
Demanda 9 — habitação: moradia não convencional, na direção da vulnerabilidade, com diagnóstico completo.
Índice que acompanha a EDA: original·lixo_sem·banheiro_graduado·promax·60_40·municipal (referência proposta no NB05, não decidida).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funil mostra o caminho dos setores. A base completa inclui setores rurais e setores sem dados divulgados. O recorte da versão é o conjunto sobre o qual são calculadas as descritivas, as distribuições e as correlações. A amostra do índice é menor, porque a análise fatorial exige que o setor tenha todos os componentes preenchidos (exclusão por lista: basta faltar um componente para o setor sair). Essa diferença de amostra é importante quando se comparam números de blocos diferentes.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quadro é gerado do código (scripts/gerar_quadro_indicadores.py), nunca digitado. As três variantes no fim (duas rendas e o banheiro graduado) foram criadas depois do quadro.
Como ler: Uma linha por indicador: dimensão, se entra no IVS-7 e o que mede (texto do Quadro de Indicadores).
O que mostra: O quadro completo, com numerador, denominador e arquivo do Censo, está em Quadro_Indicadores.xlsx.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quadro é gerado do código (scripts/gerar_quadro_indicadores.py), nunca digitado. As três variantes no fim (duas rendas e o banheiro graduado) foram criadas depois do quadro.
Como ler: Uma linha por indicador: dimensão, se entra no IVS-7 e o que mede (texto do Quadro de Indicadores).
O que mostra: O quadro completo, com numerador, denominador e arquivo do Censo, está em Quadro_Indicadores.xlsx.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quadro é gerado do código (scripts/gerar_quadro_indicadores.py), nunca digitado. As três variantes no fim (duas rendas e o banheiro graduado) foram criadas depois do quadro.
Como ler: Uma linha por indicador: dimensão, se entra no IVS-7 e o que mede (texto do Quadro de Indicadores).
O que mostra: O quadro completo, com numerador, denominador e arquivo do Censo, está em Quadro_Indicadores.xlsx.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mediana do próprio setor (V06006) não existe no arquivo do Censo; por isso a imputação usa a mediana do município. As alternativas mostram que a escolha mexe pouco nas estatísticas.
Como ler: Uma linha por alternativa de imputação do setor 310620005650366: o valor posto no lugar e o efeito nas estatísticas de BH e do conjunto.
O que mostra: A mediana de BH sem o setor (3.058,24) é a usada na coluna renda_media_mediana_mun; com qualquer alternativa, o máximo de BH cai para 45.385,44.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da 2ª rodada da EDA (eda/atualizada). O setor extremo comprime a escala min-max de toda a cidade; por isso as variantes de renda existem.
Como ler: A renda dos setores de Belo Horizonte e a escala normalizada, com e sem o setor extremo.
O que mostra: Sem o setor extremo, a maior renda média de setor em BH passa a ser 45.385,44.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média é sensível a valores extremos; a mediana não. Quando as duas se afastam, a distribuição é assimétrica. A assimetria é positiva quando há uma cauda longa à direita (poucos setores com valores muito altos). A curtose mede o peso das caudas: valores altos indicam muitos extremos. O coeficiente de variação (DP dividido pela média, em %) permite comparar a dispersão de indicadores em escalas diferentes. Nos indicadores de saneamento, a maioria dos setores vale zero: a mediana é zero e o intervalo interquartil também, o que explica por que o critério de extremos muda para eles (bloco 5).
Como ler: Uma linha por indicador: n, média, mediana, percentil 90, máximo, assimetria e percentual de setores com valor zero.
O que mostra: Os indicadores novos de água e banheiro têm mediana zero: sem banheiro tem 95,6% de zeros e água não chega, 94,5%.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Leitura (a) e (b) da demanda 5: compara com as outras categorias de canalização e com o IVS-7. Com 85% de zeros, a correlação de postos fica achatada pelos empates.
Como ler: Correlação de Spearman entre “água não chega” e cada variável do IVS-7 e as outras categorias de água, nos pares completos.
O que mostra: Maior ρ: Sem água canalizada (0,5138).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 a forma mais direta de comparar uma variável que é zero na maior parte dos setores: em vez de correlação, o perfil dos dois grupos.
Como ler: Perfil: a mediana de cada variável do IVS-7 nos setores com “água não chega” acima de zero e nos setores com zero.
O que mostra: Renda mediana 1.526,40 nos setores com o problema e 2.830,52 nos demais.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 a forma mais direta de comparar uma variável que é zero na maior parte dos setores: em vez de correlação, o perfil dos dois grupos.
Como ler: Perfil: a mediana de cada variável do IVS-7 nos setores com “sem banheiro” acima de zero e nos setores com zero.
O que mostra: Renda mediana 1.477,89 nos setores com o problema e 2.822,70 nos demais.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Somar V00238 a V00495 contaria o mesmo domicílio duas vezes; a V00495 já é a junção. As partições V00236, V00237 e V00238 estão na base e formam o banheiro graduado. A moradia não convencional entra na direção da vulnerabilidade e não foi excluída por variância baixa: o diagnóstico está aqui para a decisão.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histograma divide o intervalo de valores em 50 faixas iguais e conta os setores em cada uma. Uma barra alta junto do zero indica muitos setores sem o problema medido; uma cauda longa à direita indica poucos setores com valores muito altos. Os 0,5% de valores mais altos são omitidos só no desenho, para que a cauda não esmague a escala; as tabelas usam todos os valores.
Como ler: Um histograma por indicador da dimensão: no eixo horizontal, o valor; no vertical, quantos setores têm aquele valor. Os 0,5% maiores ficam de fora para a escala ser legível.
O que mostra: Entre os indicadores de Saneamento, a maior assimetria é a de Sem banheiro nem sanitário (68,98).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histograma divide o intervalo de valores em 50 faixas iguais e conta os setores em cada uma. Uma barra alta junto do zero indica muitos setores sem o problema medido; uma cauda longa à direita indica poucos setores com valores muito altos. Os 0,5% de valores mais altos são omitidos só no desenho, para que a cauda não esmague a escala; as tabelas usam todos os valores.
Como ler: Um histograma por indicador da dimensão: no eixo horizontal, o valor; no vertical, quantos setores têm aquele valor. Os 0,5% maiores ficam de fora para a escala ser legível.
O que mostra: Entre os indicadores de Socioeconômica, a maior assimetria é a de Renda média (3,74).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diagrama de caixa resume a distribuição em cinco números. A caixa contém a metade central dos setores; se as caixas de duas regiões não se sobrepõem, a diferença entre elas é grande. Quando a mediana e o 1º quartil coincidem com zero, a caixa fica achatada no chão: é o caso dos indicadores com muitos zeros.
Como ler: Uma caixa por região: a linha dentro é a mediana, a caixa vai do 1º ao 3º quartil e as hastes até 1,5 intervalo interquartil. Os pontos extremos não são desenhados (ver bloco 5).
O que mostra: No primeiro indicador da dimensão (Água inadequada), a mediana regional vai de 0,0000 (Centro-Oeste) a 0,1759 (Norte).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duas linhas mostram a mesma tabela em forma de gráfico. Uma linha que desce da esquerda para a direita é o sinal do sigilo: quanto menor o setor, mais provável que o valor tenha sido suprimido.
Como ler: Eixo horizontal: décimo de moradores do setor (1 = menores). Eixo vertical: percentual de setores sem o indicador.
O que mostra: Renda: de 0,1% a 0,0%; analfabetismo: de 29,4% a 3,9%, do menor ao maior décimo.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percentuais não são comparáveis de forma direta entre critérios diferentes: o critério da inflação de zeros olha só os setores com valor acima de zero. O gráfico serve para localizar os indicadores em que os extremos merecem atenção.
Como ler: Uma barra por indicador, com o percentual de setores marcados; a cor indica o critério (petróleo: Tukey; cinza: inflação de zeros; argila: renda).
O que mostra: A barra mais longa é a de Moradia convencional (6,8%).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 a matriz no formato da que a orientadora enviou: o IVS e as variáveis novas lado a lado, com os valores escritos. A correlação de Spearman mede se dois indicadores ordenam os setores do mesmo jeito: 1 é a mesma ordem, −1 a ordem invertida, 0 nenhuma relação. A renda aparece como renda média (não invertida): por isso ela tem correlação negativa com as carências. Variáveis com muitos zeros (água não chega, sem banheiro, moradia não convencional) têm correlações achatadas, porque os empates em zero não têm ordem.
Como ler: Matriz de Spearman só com os componentes do índice (acima e à esquerda da linha) e as variáveis das demandas de setembro (abaixo e à direita). Cada célula traz o ρ; argila é positiva, petróleo negativa.
O que mostra: Entre uma variável nova e um componente de outra família, o par mais forte é Sem água canalizada × Cor/raça PPI (ρ = 0,4193). Pares de variantes da mesma coisa (como banheiro graduado e sem banheiro) ficam de fora do destaque.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reordenação põe lado a lado os indicadores que se correlacionam entre si, e os blocos de cor ao longo da diagonal revelam os grupos. Um grupo nítido costuma corresponder a uma dimensão: socioeconômica, saneamento, moradia, idade.
Como ler: Matriz de correlação de Spearman entre todos os indicadores, reordenados pelo agrupamento do dendrograma. Cada célula do triângulo inferior traz o valor de ρ (−1 a 1); argila é correlação positiva, petróleo negativa, branco é perto de zero. Com 31 indicadores, os valores só ficam legíveis com a figura ampliada; as matrizes por dimensão vêm a seguir.
O que mostra: O par mais forte é Renda média × Renda sem o extremo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matriz completa tem 31 indicadores e, num slide, os valores ficam pequenos demais; por isso cada dimensão tem a sua. Pares com ρ perto de 1 são, quase sempre, variantes da mesma medida (as três rendas, as definições de banheiro): escolher uma delas é uma das decisões do índice. As correlações entre dimensões estão na matriz completa e na matriz dos componentes.
Como ler: Matriz de Spearman só com os indicadores da dimensão Saneamento; cada célula traz o ρ (−1 a 1). Argila é correlação positiva, petróleo negativa.
O que mostra: Na dimensão Saneamento, o par mais forte é Sem banheiro × Banheiro graduado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matriz completa tem 31 indicadores e, num slide, os valores ficam pequenos demais; por isso cada dimensão tem a sua. Pares com ρ perto de 1 são, quase sempre, variantes da mesma medida (as três rendas, as definições de banheiro): escolher uma delas é uma das decisões do índice. As correlações entre dimensões estão na matriz completa e na matriz dos componentes.
Como ler: Matriz de Spearman só com os indicadores da dimensão Socioeconômica; cada célula traz o ρ (−1 a 1). Argila é correlação positiva, petróleo negativa.
O que mostra: Na dimensão Socioeconômica, o par mais forte é Renda média × Renda sem o extremo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matriz completa tem 31 indicadores e, num slide, os valores ficam pequenos demais; por isso cada dimensão tem a sua. Pares com ρ perto de 1 são, quase sempre, variantes da mesma medida (as três rendas, as definições de banheiro): escolher uma delas é uma das decisões do índice. As correlações entre dimensões estão na matriz completa e na matriz dos componentes.
Como ler: Matriz de Spearman só com os indicadores da dimensão Morfologia; cada célula traz o ρ (−1 a 1). Argila é correlação positiva, petróleo negativa.
O que mostra: Na dimensão Morfologia, o par mais forte é Habitação precária × Moradia não convencional (ρ = 0,9646).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matriz completa tem 31 indicadores e, num slide, os valores ficam pequenos demais; por isso cada dimensão tem a sua. Pares com ρ perto de 1 são, quase sempre, variantes da mesma medida (as três rendas, as definições de banheiro): escolher uma delas é uma das decisões do índice. As correlações entre dimensões estão na matriz completa e na matriz dos componentes.
Como ler: Matriz de Spearman só com os indicadores da dimensão Demografia; cada célula traz o ρ (−1 a 1). Argila é correlação positiva, petróleo negativa.
O que mostra: Na dimensão Demografia, o par mais forte é Pessoas 60+ × Dependência idosa (ρ = 0,9957).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dendrograma é o resultado de um agrupamento hierárquico: começa com cada indicador sozinho e, a cada passo, une os dois grupos mais próximos. A distância entre dois indicadores é 1 menos o módulo da correlação de Spearman (0 = idênticos, 1 = sem relação); entre grupos, usa-se a média das distâncias (ligação média). Ele é um retrato descritivo: não substitui a análise fatorial.
Como ler: Cada indicador é uma folha à esquerda; as linhas os unem do mais parecido para o menos. Quanto mais à esquerda a união, mais correlacionados os indicadores.
O que mostra: O par mais próximo é Renda média × Renda sem o extremo (ρ =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Barras que partem de 0,5 deixam claro o sentido: argila para a direita, o indicador é maior nas favelas; petróleo para a esquerda, é menor. O painel das medianas mostra a mesma comparação em valores absolutos, o que ajuda a separar uma diferença grande em termos relativos de uma diferença grande de fato.
Como ler: À esquerda, a AUC de cada indicador (barras a partir de 0,5; argila acima, petróleo abaixo). À direita, as medianas em FCU e fora, para os indicadores em proporção.
O que mostra: A maior AUC é a de Cor/raça PPI (0,8456); a menor, a de Renda sem o extremo (0,1018).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agregados por setor do Censo trazem as faixas etárias sem a separação por sexo, por isso a figura é uma pirâmide de um lado só. Pontos à direita da barra nas faixas mais velhas indicam regiões mais envelhecidas.
Como ler: Barras: percentual da população total em cada faixa etária. Pontos: o mesmo percentual em cada região.
O que mostra: 70+: 7,4% no total e 8,5% no Sul.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mais de cem mil setores, um gráfico de pontos vira uma mancha. O gráfico de hexágonos conta quantos setores caem em cada célula. A escala logarítmica da renda espalha os setores de renda baixa, que de outro modo ficariam espremidos à esquerda.
Como ler: Cada hexágono reúne setores com valores parecidos; quanto mais escuro, mais setores. Eixo horizontal: renda média em escala logarítmica; vertical: proporção de pessoas de 60 anos ou mais.
O que mostra: A correlação de Spearman entre as duas é 0,5189.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104.108 setores no recorte e 73.878 na amostra do índice; a perda vem sobretudo do sigilo, que se concentra nos setores pequenos.
Os indicadores de saneamento têm mediana zero; o mais assimétrico é Sem banheiro nem sanitário (assimetria 68,98).
Contra as favelas, o indicador que mais separa sozinho é Cor/raça PPI (AUC 0,8456).
A renda tem 66 setores suspeitos e 3.292 extremos coerentes; as variantes de renda tratam o extremo de BH.
As demandas 1, 2, 5, 6, 7 e 9 estão atendidas com os dados acima; o que entra no índice é decisão da orientadora.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 bootstrap, a pedido da orientadora: a estabilidade é medida por sensibilidade por município e por reamostragem apresentada como tal. Sem rotação, Varimax e promax lado a lado em todos os cenários.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Método igual ao NB04 para ser comparável: Spearman, casos completos por cenário, componentes principais, renda invertida, sempre 2 fatores na solução apresentada.
Como ler: Uma linha por cenário da grade: variáveis, demanda que responde, setores com todos os dados (n), KMO, fatores retidos por Kaiser e por Horn e variância explicada por 2 fatores.
O que mostra: S0 (IVS-7) tem n 87.545 e KMO 0,7826; S6 (tudo isso) tem n 69.458, KMO 0,8100 e 4 fatores por Horn.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postos dentro do município tiram da matriz a diferença entre cidades: se a estrutura muda muito, parte dela vinha da diferença entre municípios.
Como ler: Mesmas colunas: as variantes de renda (sem o extremo, com a mediana) e a fatorial com postos percentis dentro do município.
O que mostra: As rendas não mudam a estrutura; com postos no município, o MSA mínimo de S6 cai para 0,3842.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formato da imagem enviada pela orientadora.
Como ler: Correlação de Spearman entre as variáveis; a linha separa as quatro novas (não chega, sem canalização, sem banheiro, não convencional).
O que mostra: As novas variáveis de água e banheiro se correlacionam com o bloco de saneamento; a moradia não convencional quase não se correlaciona com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autovalor mede quanta variância um componente resume, em unidades de variável: autovalor 2 equivale a duas variáveis inteiras. A análise paralela de Horn gera dados aleatórios com o mesmo número de setores e variáveis e calcula os autovalores que surgiriam só por acaso; um componente merece ser retido quando o seu autovalor supera esse valor.
Como ler: Autovalores de S6 em ordem decrescente, com a linha da análise paralela de Horn.
O que mostra: Primeiro autovalor 3,8301, segundo 1,5533; Horn no segundo componente: 1,0276.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MSA é o KMO de cada variável: abaixo de 0,50, a variável compartilha pouco com as outras. A comunalidade é a parte da variância da variável explicada pelos fatores retidos (critério do projeto: pelo menos 0,30). A carga é a correlação da variável com o fator (critério: pelo menos 0,40 no fator principal). A rotação gira os fatores para que cada variável carregue forte em um só: a Varimax mantém os fatores independentes; a promax permite que eles se correlacionem. Na promax, a matriz padrão dá o efeito próprio de cada fator e a matriz estrutura, a correlação simples.
Como ler: Três painéis com as cargas no plano dos fatores 1 e 2; o rótulo de cada eixo vem das cargas.
O que mostra: As rotações redistribuem as variáveis entre os dois fatores; a promax permite que eles se correlacionem.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duas métricas da repartição oblíqua (padrão e estrutura) são reportadas lado a lado, sem dizer que uma se afasta ou se aproxima da literatura.
Como ler: Uma linha por cenário e rotação: repartição do peso entre os dois fatores (na promax, pela matriz padrão e pela estrutura), a variável de maior carga em cada fator e a correlação Φ entre fatores.
O que mostra: Em S1 (IVS-6), o peso do fator 1 fica entre 59,64% e 77,17% conforme a rotação.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 índice intraurbano, um fator próprio do lixo pode refletir a cobertura de coleta de cada município, e não a vulnerabilidade do setor.
Como ler: Uma linha por cenário: o lixo fica sozinho no seu fator na solução Varimax?
O que mostra: Tirando um município por vez em S0, o lixo muda de situação em 2 das 71 rodadas.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Isto não é bootstrap: é sensibilidade por município, como pedido. Mostra se alguma cidade sozinha define os pesos.
Como ler: O peso do fator 1 (Varimax) nas rodadas em que cada município sai da estimação, em S1 e S6.
O que mostra: S1: de 62,89% a 66,58%; S6: de 55,11% a 56,94%.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AUC mede conteúdo socioeconômico, não valida pesos: a pergunta é o que o índice acrescenta à renda, e a tabela permite responder.
Como ler: Uma linha por cenário: AUC contra as favelas do índice (pesos Varimax), da média simples de postos e da renda invertida sozinha.
O que mostra: Em S0, índice 0,8377, média de postos 0,8684 e renda sozinha 0,8819.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Referência proposta: original·lixo_sem·banheiro_graduado·promax·60_40·municipal. Por quê: melhor posição média entre 96 elegíveis (normalização municipal): estabilidade 24.5º, AUC municipal 43º, parcimônia 48.5º; amplitude zero por construção (peso de F1 fixo).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do NB05 (scripts/ivs_especificacoes.py).
Como ler: A AUC contra as favelas de cada especificação.
O que mostra: Ver as tabelas do NB05 em banco_de_dados/eda/ivs_especificacoes/.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do NB05 (scripts/ivs_especificacoes.py).
Como ler: O peso do fator 1 em cada especificação e a amplitude entre municípios.
O que mostra: Ver as tabelas do NB05 em banco_de_dados/eda/ivs_especificacoes/.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do NB05 (scripts/ivs_especificacoes.py).
Como ler: Quanto as faixas de vulnerabilidade concordam entre especificações.
O que mostra: Ver as tabelas do NB05 em banco_de_dados/eda/ivs_especificacoes/.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KMO (Kaiser-Meyer-Olkin) compara as correlações entre as variáveis com as correlações parciais: perto de 1, as variáveis compartilham muita informação e a fatorial faz sentido; o critério do projeto é pelo menos 0,70. O teste de Bartlett verifica se a matriz de correlação é diferente da identidade (variáveis sem relação); com tantos setores, ele sempre rejeita. O critério de Kaiser retém fatores com autovalor acima de 1; a análise paralela de Horn, mais conservadora, retém os fatores cujo autovalor supera o que dados aleatórios do mesmo tamanho produziriam. A correlação usada é a de Spearman, como no NB04.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nome vem da imagem de uma encosta: os primeiros componentes formam o paredão e os demais, o entulho no pé. Os componentes que ficam acima da linha tracejada trazem estrutura real; os que ficam abaixo, ruído.
Como ler: Linha cheia: autovalores em ordem decrescente. Tracejada: o que dados aleatórios produziriam (Horn). Pontilhada: o critério de Kaiser (autovalor 1).
O que mostra: O segundo autovalor é 1,0708, contra 1,0155 da linha de Horn.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mapa de cargas mostra a que fator cada variável pertence. Setas ao longo do eixo horizontal pertencem a F1; ao longo do vertical, a F2; setas na diagonal dividem-se entre os dois. Setas curtas indicam variáveis mal explicadas pelos dois fatores (comunalidade baixa).
Como ler: Cada seta é um componente; a ponta fica nas cargas padrão da promax em F1 (horizontal) e F2 (vertical). O círculo marca carga 1.
O que mostra: Maior carga em F1: Renda (invertida) (0,9366); em F2: Água inadequada (0,7829).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pesos seguem a receita do NB04: cada variável vai para a dimensão em que tem a maior carga; o peso da dimensão é repartido entre as variáveis dela em proporção ao quadrado da carga. O peso das dimensões depende do método da versão; na referência é a regra do IVS-BH de 2012 (60% socioeconômica, 40% saneamento).
Como ler: Uma linha por componente: a dimensão em que ele carrega mais, a carga, o peso da dimensão e o peso final no índice (em %).
O que mostra: O maior peso é o de Renda (invertida) (19,3%); a dimensão F1 (socioeconômica) pesa 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Quanto mais a curva se aproxima do canto superior esquerdo, melhor o índice separa os dois grupos. A área sob a curva é a AUC. Esta curva usa todos os setores juntos; como o índice é normalizado no município, a AUC municipal é a medida principal.
Como ler: Cada ponto da curva é um corte do índice: no eixo vertical, a proporção de setores de FCU acima do corte; no horizontal, a dos setores de fora. A diagonal é o acaso.
O que mostra: Área sob a curva: 0,8309 (global); a mediana municipal é 0,8186.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as faixas são definidas dentro de cada município, um mesmo valor do índice pode cair em faixas diferentes em cidades diferentes: por isso as cores se sobrepõem nas fronteiras.
Como ler: Histograma do índice, com cada barra dividida pela faixa dos setores (regra do IVS-BH).
O que mostra: 28,8% dos setores ficam em baixo e 5,3% em muito elevado.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os pesos 60/40 fixos, trocar promax por Varimax quase não muda nada: correlação de postos praticamente 1 com a referência e poucas trocas de faixa. O que move o índice é o esquema de peso, não a rotação: os pesos pela soma dos quadrados das cargas elevam a AUC municipal, o 50/50 a reduz, e o índice sem rotação (um fator só) tem a AUC mais alta da tabela mas não é elegível pelos critérios do NB05.
Como ler: Uma linha por esquema; a primeira é o valor-padrão da versão, as demais as alternativas. ρ e % muda faixa são em relação à primeira linha.
O que mostra: Com promax, 60/40 (referência): 73.878 setores no índice (contra 73.878), AUC municipal 0,8186, ρ = 0,9997 com o valor-padrão e 1,8% dos setores comuns mudando de faixa.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o eixo principal ou a máxima verossimilhança, a versão deixa de ser elegível: esses métodos estimam só a variância compartilhada, e o banheiro graduado, que divide pouca variância com os demais componentes, fica com comunalidade e carga muito baixas. A ACP superestima essa comunalidade. O índice muda pouco na ordenação, mas cerca de um em cada dez setores troca de faixa em relação à referência, e a AUC municipal cai um pouco.
Como ler: Uma linha por esquema; a primeira é o valor-padrão da versão, as demais as alternativas. ρ e % muda faixa são em relação à primeira linha.
O que mostra: Com componentes principais (referência): 73.878 setores no índice (contra 73.878), AUC municipal 0,8186, ρ = 0,9912 com o valor-padrão e 9,2% dos setores comuns mudando de faixa.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dados dão à dimensão socioeconômica um peso um pouco maior que os 60% da regra do IVS-BH. O índice quase não muda: correlação de postos praticamente 1 e poucas trocas de faixa, com AUC municipal um pouco maior. Pesos de especialista e pesos dos dados levam, aqui, a resultados muito próximos.
Como ler: Uma linha por esquema; a primeira é o valor-padrão da versão, as demais as alternativas. ρ e % muda faixa são em relação à primeira linha.
O que mostra: Com especialista: 60/40 (referência): 73.878 setores no índice (contra 73.878), AUC municipal 0,8186, ρ = 0,9977 com o valor-padrão e 4,3% dos setores comuns mudando de faixa.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caixa vai do 1º ao 3º quartil dos pesos reamostrados; caixas estreitas indicam pesos estáveis.
Como ler: Uma caixa por componente com os pesos das reamostragens; o ponto é o peso na referência.
O que mostra: O intervalo mais largo é o de Banheiro graduado: de 13,9% a 15,8%.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Barras curtas em todos os municípios indicam que nenhuma cidade sozinha define os pesos.
Como ler: Uma barra por município excluído, com o percentual de setores que mudam de faixa.
O que mostra: No máximo, 4,1% dos setores mudam de faixa; o maior efeito é ao tirar São Paulo.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variáveis entram: lixo (fator próprio no IVS-7), as novas de água e banheiro, a moradia não convencional, a cor ou raça.
Qual renda: original, sem o extremo ou com a mediana do município (mudam pouco o índice).
Rotação e pesos: Varimax ou promax; regra 60/40 do IVS-BH ou pesos da fatorial (padrão ou estrutura).
Normalização e faixas: min-max no município (referência) ou outra; regra do IVS-BH, quartis ou outra.
Parâmetros exploratórios ainda abertos: piso de população, faixas de porte, composição do IVS-Idoso e do índice de moradia, número de grupos.
Tudo com as alternativas documentadas: analises_exploratorias/PERGUNTAS.md e o Catalogo_Mestre.xlsx.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Só identificação: cada miniatura traz a versão e o ID do Catalogo_Mestre.xlsx (aba Catálogo mestre), onde se marca "Vai para o artigo?".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00_referencia · F01 — Do recorte ao índice, 30.230 setores saem por falta de algum componente — analises_exploratorias/00_referencia/figuras/F01_funil.png
00_referencia · F02 — Saneamento: Sem banheiro nem sanitário tem a distribuição mais assimétrica (assimetria 68,98) — analises_exploratorias/00_referencia/figuras/F02_histogramas_saneamento.png
00_referencia · F03 — Saneamento: Água inadequada tem mediana de 0,1759 no Norte e 0,0000 no Centro-Oeste — analises_exploratorias/00_referencia/figuras/F03_boxplots_regiao_saneamento.png
00_referencia · F04 — Saneamento: as regiões têm formas diferentes de distribuição — analises_exploratorias/00_referencia/figuras/F04_densidades_regiao_saneamento.png
00_referencia · F05 — Socioeconômica: Renda média tem a distribuição mais assimétrica (assimetria 3,74) — analises_exploratorias/00_referencia/figuras/F05_histogramas_socioeconomica.png
00_referencia · F06 — Socioeconômica: Razão de moradores tem mediana de 3,1938 no Norte e 2,5992 no Sul — analises_exploratorias/00_referencia/figuras/F06_boxplots_regiao_socioeconomica.png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00_referencia · F07 — Socioeconômica: as regiões têm formas diferentes de distribuição — analises_exploratorias/00_referencia/figuras/F07_densidades_regiao_socioeconomica.png
00_referencia · F08 — Morfologia: Domicílio improvisado tem a distribuição mais assimétrica (assimetria 37,38) — analises_exploratorias/00_referencia/figuras/F08_histogramas_morfologia.png
00_referencia · F09 — Morfologia: Domicílio improvisado tem mediana de 0,0000 no Centro-Oeste e 0,0000 no Centro-Oeste — analises_exploratorias/00_referencia/figuras/F09_boxplots_regiao_morfologia.png
00_referencia · F10 — Morfologia: as regiões têm formas diferentes de distribuição — analises_exploratorias/00_referencia/figuras/F10_densidades_regiao_morfologia.png
00_referencia · F11 — Demografia: Índice de envelhecimento tem a distribuição mais assimétrica (assimetria 5,74) — analises_exploratorias/00_referencia/figuras/F11_histogramas_demografia.png
00_referencia · F12 — Demografia: Crianças 0–4 tem mediana de 0,0632 no Norte e 0,0465 no Sul — analises_exploratorias/00_referencia/figuras/F12_boxplots_regiao_demografia.png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00_referencia · F13 — Demografia: as regiões têm formas diferentes de distribuição — analises_exploratorias/00_referencia/figuras/F13_densidades_regiao_demografia.png
00_referencia · F14 — Os faltantes se concentram em poucos indicadores e municípios — analises_exploratorias/00_referencia/figuras/F14_mapa_faltantes.png
00_referencia · F15 — A falta de dados depende do tamanho do setor — analises_exploratorias/00_referencia/figuras/F15_sigilo_por_porte_do_setor.png
00_referencia · F16 — A proporção de extremos varia muito de um indicador para outro — analises_exploratorias/00_referencia/figuras/F16_extremos_por_indicador.png
00_referencia · F17 — Os indicadores formam grupos de correlação — analises_exploratorias/00_referencia/figuras/F17_mapa_spearman.png
00_referencia · F31 — Entre as variáveis das demandas e os componentes do índice, o par mais forte é Sem água canalizada × Cor/raça PPI (ρ = 0,4193) — analises_exploratorias/00_referencia/figuras/F31_mapa_spearman_componentes.png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00_referencia · F32 — Saneamento: o par mais correlacionado é Sem banheiro × Banheiro graduado (ρ = 1,0000) — analises_exploratorias/00_referencia/figuras/F32_mapa_spearman_saneamento.png
00_referencia · F33 — Socioeconômica: o par mais correlacionado é Renda média × Renda sem o extremo (ρ = 1,0000) — analises_exploratorias/00_referencia/figuras/F33_mapa_spearman_socioeconomica.png
00_referencia · F34 — Morfologia: o par mais correlacionado é Habitação precária × Moradia não convencional (ρ = 0,9646) — analises_exploratorias/00_referencia/figuras/F34_mapa_spearman_morfologia.png
00_referencia · F35 — Demografia: o par mais correlacionado é Pessoas 60+ × Dependência idosa (ρ = 0,9957) — analises_exploratorias/00_referencia/figuras/F35_mapa_spearman_demografia.png
00_referencia · F18 — O dendrograma junta os indicadores que medem coisas parecidas — analises_exploratorias/00_referencia/figuras/F18_dendrograma.png
00_referencia · F19 — Os indicadores separam as favelas com força muito diferente — analises_exploratorias/00_referencia/figuras/F19_fcu_por_indicador.png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00_referencia · F20 — A estrutura etária muda de região para região — analises_exploratorias/00_referencia/figuras/F20_piramide_etaria.png
00_referencia · F21 — Pessoas 60+ e renda média: ρ = 0,5189 — analises_exploratorias/00_referencia/figuras/F21_dispersao_60mais.png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Só identificação: cada miniatura traz a versão e o ID do Catalogo_Mestre.xlsx (aba Catálogo mestre), onde se marca "Vai para o artigo?".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00_referencia · F22 — Gráfico de sedimentação: dois componentes acima do acaso — analises_exploratorias/00_referencia/figuras/F22_sedimentacao_horn.png
00_referencia · F23 — Renda (invertida) define F1 e Água inadequada define F2 — analises_exploratorias/00_referencia/figuras/F23_mapa_cargas.png
00_referencia · F24 — A distribuição do índice e as faixas do IVS-BH — analises_exploratorias/00_referencia/figuras/F24_histograma_por_faixa.png
00_referencia · F25 — Curva ROC do índice contra as favelas (AUC global 0,8309) — analises_exploratorias/00_referencia/figuras/F25_curva_roc.png
00_referencia · F26 — A parcela de moradores em cada faixa muda de município para município — analises_exploratorias/00_referencia/figuras/F26_risco_por_municipio.png
00_referencia · F27 — A desigualdade interna do índice, município por município — analises_exploratorias/00_referencia/figuras/F27_desigualdade_interna.png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00_referencia · F28 — Matriz de faixas: referência × esta versão — analises_exploratorias/00_referencia/figuras/F28_matriz_de_faixas.png
00_referencia · F29 — Os municípios mais afetados pela mudança da versão — analises_exploratorias/00_referencia/figuras/F29_municipios_que_mudam.png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image" Target="../media/image-79-2.jpg"/><Relationship Id="rId3" Type="http://schemas.openxmlformats.org/officeDocument/2006/relationships/image" Target="../media/image-79-3.jpg"/><Relationship Id="rId4" Type="http://schemas.openxmlformats.org/officeDocument/2006/relationships/image" Target="../media/image-79-4.jpg"/><Relationship Id="rId5" Type="http://schemas.openxmlformats.org/officeDocument/2006/relationships/image" Target="../media/image-79-5.jpg"/><Relationship Id="rId6" Type="http://schemas.openxmlformats.org/officeDocument/2006/relationships/image" Target="../media/image-79-6.jpg"/><Relationship Id="rId7" Type="http://schemas.openxmlformats.org/officeDocument/2006/relationships/slideLayout" Target="../slideLayouts/slideLayout1.xml"/><Relationship Id="rId8"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image" Target="../media/image-80-2.jpg"/><Relationship Id="rId3" Type="http://schemas.openxmlformats.org/officeDocument/2006/relationships/image" Target="../media/image-80-3.jpg"/><Relationship Id="rId4" Type="http://schemas.openxmlformats.org/officeDocument/2006/relationships/image" Target="../media/image-80-4.jpg"/><Relationship Id="rId5" Type="http://schemas.openxmlformats.org/officeDocument/2006/relationships/image" Target="../media/image-80-5.jpg"/><Relationship Id="rId6" Type="http://schemas.openxmlformats.org/officeDocument/2006/relationships/image" Target="../media/image-80-6.jpg"/><Relationship Id="rId7" Type="http://schemas.openxmlformats.org/officeDocument/2006/relationships/slideLayout" Target="../slideLayouts/slideLayout1.xml"/><Relationship Id="rId8"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jpg"/><Relationship Id="rId2" Type="http://schemas.openxmlformats.org/officeDocument/2006/relationships/image" Target="../media/image-81-2.jpg"/><Relationship Id="rId3" Type="http://schemas.openxmlformats.org/officeDocument/2006/relationships/image" Target="../media/image-81-3.jpg"/><Relationship Id="rId4" Type="http://schemas.openxmlformats.org/officeDocument/2006/relationships/image" Target="../media/image-81-4.jpg"/><Relationship Id="rId5" Type="http://schemas.openxmlformats.org/officeDocument/2006/relationships/image" Target="../media/image-81-5.jpg"/><Relationship Id="rId6" Type="http://schemas.openxmlformats.org/officeDocument/2006/relationships/image" Target="../media/image-81-6.jpg"/><Relationship Id="rId7" Type="http://schemas.openxmlformats.org/officeDocument/2006/relationships/slideLayout" Target="../slideLayouts/slideLayout1.xml"/><Relationship Id="rId8"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image" Target="../media/image-82-2.jpg"/><Relationship Id="rId3" Type="http://schemas.openxmlformats.org/officeDocument/2006/relationships/image" Target="../media/image-82-3.jpg"/><Relationship Id="rId4" Type="http://schemas.openxmlformats.org/officeDocument/2006/relationships/image" Target="../media/image-82-4.jpg"/><Relationship Id="rId5" Type="http://schemas.openxmlformats.org/officeDocument/2006/relationships/image" Target="../media/image-82-5.jpg"/><Relationship Id="rId6" Type="http://schemas.openxmlformats.org/officeDocument/2006/relationships/image" Target="../media/image-82-6.jpg"/><Relationship Id="rId7" Type="http://schemas.openxmlformats.org/officeDocument/2006/relationships/slideLayout" Target="../slideLayouts/slideLayout1.xml"/><Relationship Id="rId8"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image" Target="../media/image-83-2.jpg"/><Relationship Id="rId3" Type="http://schemas.openxmlformats.org/officeDocument/2006/relationships/slideLayout" Target="../slideLayouts/slideLayout1.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jpg"/><Relationship Id="rId2" Type="http://schemas.openxmlformats.org/officeDocument/2006/relationships/image" Target="../media/image-85-2.jpg"/><Relationship Id="rId3" Type="http://schemas.openxmlformats.org/officeDocument/2006/relationships/image" Target="../media/image-85-3.jpg"/><Relationship Id="rId4" Type="http://schemas.openxmlformats.org/officeDocument/2006/relationships/image" Target="../media/image-85-4.jpg"/><Relationship Id="rId5" Type="http://schemas.openxmlformats.org/officeDocument/2006/relationships/image" Target="../media/image-85-5.jpg"/><Relationship Id="rId6" Type="http://schemas.openxmlformats.org/officeDocument/2006/relationships/image" Target="../media/image-85-6.jpg"/><Relationship Id="rId7" Type="http://schemas.openxmlformats.org/officeDocument/2006/relationships/slideLayout" Target="../slideLayouts/slideLayout1.xml"/><Relationship Id="rId8"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image" Target="../media/image-86-2.jpg"/><Relationship Id="rId3" Type="http://schemas.openxmlformats.org/officeDocument/2006/relationships/slideLayout" Target="../slideLayouts/slideLayout1.xml"/><Relationship Id="rId4" Type="http://schemas.openxmlformats.org/officeDocument/2006/relationships/notesSlide" Target="../notesSlides/notesSlide8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PROJETO IVS · CENSO 2022 · ELSI-BRASIL</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Análises exploratórias e análise fatorial</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A EDA unificada de todas as versões, a EDA e a fatorial da versão final, e os catálogos visuais para escolher o que vai para o artigo</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Pedro Dias Soares · outubro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Roteiro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335024"/>
            <a:ext cx="10634472" cy="4700016"/>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1 · A EDA unificada — todas as versões comparadas contra a mesma referência.</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2 · A EDA da versão final — o recorte de análise com os 31 indicadores e as demandas de setembro atendidas.</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3 · A análise fatorial — a grade das demandas, as especificações do NB05, a referência e a robustez.</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4 · Catálogo visual da EDA — as figuras da versão final, só identificadas, para escolher.</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5 · Catálogo visual da análise fatorial — as figuras da versão final, idem.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 EDA unificada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Todas as versões das análises exploratórias, comparadas contra a mesma referência</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Como as versões foram construídas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335024"/>
            <a:ext cx="10634472" cy="4700016"/>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Cada versão é a referência proposta no NB05 com uma coisa mudada, para que a comparação responda a uma pergunta só.</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A — que setores entram: com rurais, piso de população, Belo Horizonte, por região, por porte e o Brasil inteiro.</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B — que indicadores entram: as três rendas, as definições de água, banheiro, esgoto e moradia, lixo, cor ou raça e os complementares.</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C — como o índice é construído: rotação e pesos, extração, normalização, agregação, regras de faixa e pesos iguais.</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D — índices novos: subíndices, IVS-Idoso, índice de moradia, IBP aproximado e pesos de especialista × dados.</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E — análises que atravessam as versões: incerteza, estabilidade, desigualdade interna, população em risco, envelhecimento e tipologias.</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São 32 versões que constroem um índice; 21 passam nos critérios de elegibilidade do NB05.</a:t>
            </a:r>
            <a:endParaRPr lang="en-US" sz="1400" dirty="0"/>
          </a:p>
        </p:txBody>
      </p:sp>
      <p:sp>
        <p:nvSpPr>
          <p:cNvPr id="6"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00_sintese · T61</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21 de 32 versões são elegíveis pelos critérios do NB05</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2726473"/>
                <a:gridCol w="817942"/>
                <a:gridCol w="817942"/>
                <a:gridCol w="999707"/>
                <a:gridCol w="999707"/>
                <a:gridCol w="1090589"/>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Eixo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Versões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Elegíveis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 mun. mín.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 mun. máx.</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muda faixa (máx.)</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 — que setores entram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 — que indicadores entram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0,7696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 — como o índice é construído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0,7502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 — índices novos ao lado do IVS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Todas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eixo: versões, quantas são elegíveis, a menor e a maior AUC municipal contra as favelas e a maior troca de faixa em relação à referência.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AUC municipal vai de 0,6034 a 0,9214 entre as versões.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00_sintese · T61</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Todas as versões lado a lado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2544708"/>
                <a:gridCol w="999707"/>
                <a:gridCol w="681618"/>
                <a:gridCol w="772501"/>
                <a:gridCol w="681618"/>
                <a:gridCol w="908824"/>
                <a:gridCol w="863383"/>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Versão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no índice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Elegível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ρ com a referência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muda 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00_referencia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A1_com_rurais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75.096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A2_piso_populacional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73.407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A3_belo_horizonte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A4_por_regiao/centro_oeste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0,8703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A4_por_regiao/nordeste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0,9677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A4_por_regiao/norte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A4_por_regiao/sudeste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45.352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A4_por_regiao/sul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A5_por_porte/ate_100_mil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A5_por_porte/de_100_a_500_mil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5.568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A5_por_porte/mais_de_500_mil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67.432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A6_brasil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249.404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B1_renda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B2_agua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0,9503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B3_banheiro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87.545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6954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versão. ρ é a correlação de postos entre o índice da versão e o da referência; % muda faixa é a parcela dos setores comuns que troca de faixa (regra do IVS-BH). Traço: a versão não roda aquele bloco.</a:t>
            </a:r>
            <a:endParaRPr lang="en-US" sz="1250" dirty="0"/>
          </a:p>
        </p:txBody>
      </p:sp>
      <p:sp>
        <p:nvSpPr>
          <p:cNvPr id="7" name="Shape 4"/>
          <p:cNvSpPr/>
          <p:nvPr/>
        </p:nvSpPr>
        <p:spPr>
          <a:xfrm>
            <a:off x="8549640" y="3204210"/>
            <a:ext cx="822960" cy="0"/>
          </a:xfrm>
          <a:prstGeom prst="line">
            <a:avLst/>
          </a:prstGeom>
          <a:noFill/>
          <a:ln w="15875">
            <a:solidFill>
              <a:srgbClr val="8C2F27"/>
            </a:solidFill>
            <a:prstDash val="solid"/>
          </a:ln>
        </p:spPr>
      </p:sp>
      <p:sp>
        <p:nvSpPr>
          <p:cNvPr id="8" name="Text 5"/>
          <p:cNvSpPr/>
          <p:nvPr/>
        </p:nvSpPr>
        <p:spPr>
          <a:xfrm>
            <a:off x="8549640" y="32590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menor correlação de postos com a referência é a de D3_indice_moradia (0,4884).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00_sintese · T60  ·  parte 1 de 2</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Todas as versões lado a lado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2544708"/>
                <a:gridCol w="999707"/>
                <a:gridCol w="681618"/>
                <a:gridCol w="772501"/>
                <a:gridCol w="681618"/>
                <a:gridCol w="908824"/>
                <a:gridCol w="863383"/>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Versão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Setores no índice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Elegível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ρ com a referência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muda 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B4_esgoto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0,7638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0,7696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B5_lixo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B6_moradia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0,7443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0,9735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B7_raca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0,7155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0,9184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B8_complementares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73.794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C1_rotacao_e_pesos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C2_extracao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C3_normalizacao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C4_agregacao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0,7502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C5_faixas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C6_pesos_iguais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0,9885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D1_subindices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0,9278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D2_ivs_idoso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0,5518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D3_indice_moradia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90.035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0,3117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0,6776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0,4884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D4_ibp_aproximado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75.956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D5_especialista_x_dados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6954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versão. ρ é a correlação de postos entre o índice da versão e o da referência; % muda faixa é a parcela dos setores comuns que troca de faixa (regra do IVS-BH). Traço: a versão não roda aquele bloco.</a:t>
            </a:r>
            <a:endParaRPr lang="en-US" sz="1250" dirty="0"/>
          </a:p>
        </p:txBody>
      </p:sp>
      <p:sp>
        <p:nvSpPr>
          <p:cNvPr id="7" name="Shape 4"/>
          <p:cNvSpPr/>
          <p:nvPr/>
        </p:nvSpPr>
        <p:spPr>
          <a:xfrm>
            <a:off x="8549640" y="3204210"/>
            <a:ext cx="822960" cy="0"/>
          </a:xfrm>
          <a:prstGeom prst="line">
            <a:avLst/>
          </a:prstGeom>
          <a:noFill/>
          <a:ln w="15875">
            <a:solidFill>
              <a:srgbClr val="8C2F27"/>
            </a:solidFill>
            <a:prstDash val="solid"/>
          </a:ln>
        </p:spPr>
      </p:sp>
      <p:sp>
        <p:nvSpPr>
          <p:cNvPr id="8" name="Text 5"/>
          <p:cNvSpPr/>
          <p:nvPr/>
        </p:nvSpPr>
        <p:spPr>
          <a:xfrm>
            <a:off x="8549640" y="32590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menor correlação de postos com a referência é a de D3_indice_moradia (0,4884).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00_sintese · T60  ·  parte 2 de 2</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Proximidade da referência × capacidade de separar as favelas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sintese/figuras/F60_proximidade_x_auc.png">    </p:cNvPr>
          <p:cNvPicPr>
            <a:picLocks noChangeAspect="1"/>
          </p:cNvPicPr>
          <p:nvPr/>
        </p:nvPicPr>
        <p:blipFill>
          <a:blip r:embed="rId1"/>
          <a:stretch>
            <a:fillRect/>
          </a:stretch>
        </p:blipFill>
        <p:spPr>
          <a:xfrm>
            <a:off x="777240" y="1243584"/>
            <a:ext cx="7452360" cy="4677163"/>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ponto é uma versão: no eixo horizontal, a correlação de postos com o índice da referência; no vertical, a AUC municipal contra as favelas. A linha pontilhada é a AUC da referência.</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versão mais distante da referência é D3_indice_moradia (ρ = 0,4884).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00_sintese · F60 · figuras/F60_proximidade_x_auc.png</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Quanto cada versão muda as faixas em relação à referência</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sintese/figuras/F61_mudam_de_faixa.png">    </p:cNvPr>
          <p:cNvPicPr>
            <a:picLocks noChangeAspect="1"/>
          </p:cNvPicPr>
          <p:nvPr/>
        </p:nvPicPr>
        <p:blipFill>
          <a:blip r:embed="rId1"/>
          <a:stretch>
            <a:fillRect/>
          </a:stretch>
        </p:blipFill>
        <p:spPr>
          <a:xfrm>
            <a:off x="1436694" y="1243584"/>
            <a:ext cx="6133451" cy="4791456"/>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barra por versão com o percentual de setores que mudam de faixa (regra do IVS-BH); petróleo: elegível; argila: não elegível.</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mudança é a de D2_ivs_idoso: 49,8% dos setores mudam de faixa.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00_sintese · F61 · figuras/F61_mudam_de_faixa.png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Os recortes mudam o retrato: a renda mediana vai de 1.719,20 a 3.722,28</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2191871"/>
                <a:gridCol w="745236"/>
                <a:gridCol w="701399"/>
                <a:gridCol w="876748"/>
                <a:gridCol w="745236"/>
                <a:gridCol w="745236"/>
                <a:gridCol w="745236"/>
                <a:gridCol w="701399"/>
              </a:tblGrid>
              <a:tr h="533019">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Versão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Recorte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Índice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Renda mediana (R$)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Analfab. (média)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Esgoto inad. (média)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Água inad. (média)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sem analfab.</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00_referencia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A1_com_rurais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106.281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75.096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2.545,97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A2_piso_populacional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73.407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2.576,92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A3_belo_horizonte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3.060,31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A4_por_regiao/norte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1.820,99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0,3227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A4_por_regiao/nordeste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19.497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1.719,20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0,1176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A4_por_regiao/sudeste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61.989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45.352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2.730,60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0,0493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A4_por_regiao/sul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4.661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3.722,28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A4_por_regiao/centro_oeste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3.127,12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A5_por_porte/ate_100_mil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1.223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2.077,62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0,2025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0,1264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A5_por_porte/de_100_a_500_mil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7.674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5.568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2.496,83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0,1307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A5_por_porte/mais_de_500_mil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95.211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67.432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2.593,06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A6_brasil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347.400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249.404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2.312,82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0,1615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6954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recorte do eixo A (e a referência): setores no recorte e no índice, renda mediana, médias de analfabetismo, esgoto e água inadequados e o percentual de setores sem analfabetismo por sigilo.</a:t>
            </a:r>
            <a:endParaRPr lang="en-US" sz="1250" dirty="0"/>
          </a:p>
        </p:txBody>
      </p:sp>
      <p:sp>
        <p:nvSpPr>
          <p:cNvPr id="7" name="Shape 4"/>
          <p:cNvSpPr/>
          <p:nvPr/>
        </p:nvSpPr>
        <p:spPr>
          <a:xfrm>
            <a:off x="8549640" y="3204210"/>
            <a:ext cx="822960" cy="0"/>
          </a:xfrm>
          <a:prstGeom prst="line">
            <a:avLst/>
          </a:prstGeom>
          <a:noFill/>
          <a:ln w="15875">
            <a:solidFill>
              <a:srgbClr val="8C2F27"/>
            </a:solidFill>
            <a:prstDash val="solid"/>
          </a:ln>
        </p:spPr>
      </p:sp>
      <p:sp>
        <p:nvSpPr>
          <p:cNvPr id="8" name="Text 5"/>
          <p:cNvSpPr/>
          <p:nvPr/>
        </p:nvSpPr>
        <p:spPr>
          <a:xfrm>
            <a:off x="8549640" y="32590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Renda mediana mais alta: A4_por_regiao/sul (3.722,28); mais baixa: A4_por_regiao/nordeste (1.719,20).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00_sintese/unificada/U01_recortes.csv</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61 variantes testadas nas tabelas de sensibilidade, com AUC municipal de 0,5168 a 0,8774</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828800"/>
                <a:gridCol w="2743200"/>
                <a:gridCol w="777240"/>
                <a:gridCol w="685800"/>
                <a:gridCol w="777240"/>
                <a:gridCol w="6400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Versão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Variante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Índice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Elegível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A2_piso_populacional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73.407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A2_piso_populacional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piso de 100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72.289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B1_renda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B1_renda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com a mediana do município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B1_renda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original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B2_agua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B2_agua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 ao domicílio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68.001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0,8712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B2_agua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62.843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0,8774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B2_agua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B3_banheiro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87.545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B3_banheiro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(V00495)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75.955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B3_banheiro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nem banheiro nem sanitário (V00238)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84.678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B3_banheiro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 (V00237)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83.844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B3_banheiro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 (V00236)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78.298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B3_banheiro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B4_esgoto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0,7638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0,7696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variante: a primeira de cada versão é o valor-padrão dela; as demais, as alternativas da tabela T34 (inclusive a referência, quando entra como alternativa).</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AUC municipal entre as variantes é a de “água só no terreno” (B2_agua, 0,8774).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00_sintese/unificada/U02_variantes.csv  ·  parte 1 de 4</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61 variantes testadas nas tabelas de sensibilidade, com AUC municipal de 0,5168 a 0,8774</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828800"/>
                <a:gridCol w="2743200"/>
                <a:gridCol w="777240"/>
                <a:gridCol w="685800"/>
                <a:gridCol w="777240"/>
                <a:gridCol w="6400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Versão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Variante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Índice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Elegível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B4_esgoto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V00312–V00316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B5_lixo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B5_lixo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lixo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B6_moradia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0,7443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B6_moradia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70.286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0,7454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B6_moradia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0,7445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B6_moradia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B7_raca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0,7155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B7_raca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 cor ou raça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B8_complementares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73.794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B8_complementares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 crianças de 0 a 4 anos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72.799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B8_complementares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 população de 0 a 14 anos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73.725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B8_complementares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referência (sem complementares)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C1_rotacao_e_pesos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C1_rotacao_e_pesos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rotação, um fator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C1_rotacao_e_pesos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Varimax, soma dos quadrados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variante: a primeira de cada versão é o valor-padrão dela; as demais, as alternativas da tabela T34 (inclusive a referência, quando entra como alternativa).</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AUC municipal entre as variantes é a de “água só no terreno” (B2_agua, 0,8774).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00_sintese/unificada/U02_variantes.csv  ·  parte 2 de 4</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61 variantes testadas nas tabelas de sensibilidade, com AUC municipal de 0,5168 a 0,8774</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828800"/>
                <a:gridCol w="2743200"/>
                <a:gridCol w="777240"/>
                <a:gridCol w="685800"/>
                <a:gridCol w="777240"/>
                <a:gridCol w="6400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Versão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Variante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Índice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Elegível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C1_rotacao_e_pesos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Varimax, 50/50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C1_rotacao_e_pesos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 soma dos quadrados (padrão)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C1_rotacao_e_pesos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 soma dos quadrados (estrutura)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C1_rotacao_e_pesos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 comunalidades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C1_rotacao_e_pesos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 50/50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C1_rotacao_e_pesos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 60/40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C2_extracao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C2_extracao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máxima verossimilhança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C2_extracao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componentes principais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C3_normalizacao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C3_normalizacao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escore z no município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C3_normalizacao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escore z global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C3_normalizacao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postos percentis no município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C3_normalizacao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min-max no município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C4_agregacao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0,7502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C4_agregacao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soma ponderada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variante: a primeira de cada versão é o valor-padrão dela; as demais, as alternativas da tabela T34 (inclusive a referência, quando entra como alternativa).</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AUC municipal entre as variantes é a de “água só no terreno” (B2_agua, 0,8774).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00_sintese/unificada/U02_variantes.csv  ·  parte 3 de 4</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61 variantes testadas nas tabelas de sensibilidade, com AUC municipal de 0,5168 a 0,8774</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828800"/>
                <a:gridCol w="2743200"/>
                <a:gridCol w="777240"/>
                <a:gridCol w="685800"/>
                <a:gridCol w="777240"/>
                <a:gridCol w="64008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Versão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Variante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Índice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Elegível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C6_pesos_iguais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C6_pesos_iguais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média dos postos no município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C6_pesos_iguais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pesos da fatorial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D1_subindices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D1_subindices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subíndice de 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D1_subindices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completo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D2_ivs_idoso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0,6034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D2_ivs_idoso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mesmos 10 componentes com 2 fatores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0,7341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D2_ivs_idoso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referência (sem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D5_especialista_x_dados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D5_especialista_x_dados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dados: soma dos quadrados (estrutura)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D5_especialista_x_dados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dados: comunalidades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D5_especialista_x_dados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especialista: 60/40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variante: a primeira de cada versão é o valor-padrão dela; as demais, as alternativas da tabela T34 (inclusive a referência, quando entra como alternativa).</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AUC municipal entre as variantes é a de “água só no terreno” (B2_agua, 0,8774).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00_sintese/unificada/U02_variantes.csv  ·  parte 4 de 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maior parte dos setores tem classificação estável</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E1_incerteza/figuras/F40_fracao_em_risco.png">    </p:cNvPr>
          <p:cNvPicPr>
            <a:picLocks noChangeAspect="1"/>
          </p:cNvPicPr>
          <p:nvPr/>
        </p:nvPicPr>
        <p:blipFill>
          <a:blip r:embed="rId1"/>
          <a:stretch>
            <a:fillRect/>
          </a:stretch>
        </p:blipFill>
        <p:spPr>
          <a:xfrm>
            <a:off x="777240" y="1243584"/>
            <a:ext cx="7452360" cy="3888495"/>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Histograma da fração das versões elegíveis em que cada setor fica em risco elevado: 0 = nunca, 1 = sempre.</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Nunca: 53,0%; às vezes: 36,1%; sempre: 10,9%.</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E1_incerteza · F40 · figuras/F40_fracao_em_risco.png</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municípios com mais setores de classificação incerta</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E1_incerteza/figuras/F41_incerteza_por_municipio.png">    </p:cNvPr>
          <p:cNvPicPr>
            <a:picLocks noChangeAspect="1"/>
          </p:cNvPicPr>
          <p:nvPr/>
        </p:nvPicPr>
        <p:blipFill>
          <a:blip r:embed="rId1"/>
          <a:stretch>
            <a:fillRect/>
          </a:stretch>
        </p:blipFill>
        <p:spPr>
          <a:xfrm>
            <a:off x="1989330" y="1243584"/>
            <a:ext cx="5028179" cy="4791456"/>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25 municípios (com pelo menos 30 setores) com maior percentual de setores ora em risco elevado, ora não.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topo, Taió (59,5%). Destaques entre os municípios com pelo menos 30 setores.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E1_incerteza · F41 · figuras/F41_incerteza_por_municipio.png</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população em risco elevado em cada versão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E4_populacao_em_risco/figuras/F45_pessoas_em_risco_por_versao.png">    </p:cNvPr>
          <p:cNvPicPr>
            <a:picLocks noChangeAspect="1"/>
          </p:cNvPicPr>
          <p:nvPr/>
        </p:nvPicPr>
        <p:blipFill>
          <a:blip r:embed="rId1"/>
          <a:stretch>
            <a:fillRect/>
          </a:stretch>
        </p:blipFill>
        <p:spPr>
          <a:xfrm>
            <a:off x="1574210" y="1243584"/>
            <a:ext cx="5858419" cy="4791456"/>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barra por versão com o percentual de moradores em risco elevado ou muito elevado; em argila, a referência.</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Referência: 29,4%; mínimo 15,5%, máximo 35,5%.</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E4_populacao_em_risco · F45 · figuras/F45_pessoas_em_risco_por_versao.png</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Gini de cada município entre as versões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E3_desigualdade_intramunicipal/figuras/F44_gini_entre_versoes.png">    </p:cNvPr>
          <p:cNvPicPr>
            <a:picLocks noChangeAspect="1"/>
          </p:cNvPicPr>
          <p:nvPr/>
        </p:nvPicPr>
        <p:blipFill>
          <a:blip r:embed="rId1"/>
          <a:stretch>
            <a:fillRect/>
          </a:stretch>
        </p:blipFill>
        <p:spPr>
          <a:xfrm>
            <a:off x="2947052" y="1243584"/>
            <a:ext cx="3112736" cy="4791456"/>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município, do menor ao maior Gini entre as versões; o ponto é a referência.</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posição de Capelinha vai do 3º ao 57º. Destaques entre os municípios com pelo menos 30 setores.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E3_desigualdade_intramunicipal · F44 · figuras/F44_gini_entre_versoes.png</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IVS × proporção de 60+ (ρ = -0,5426)</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E5_ivs_e_envelhecimento/figuras/F46_ivs_x_60mais.png">    </p:cNvPr>
          <p:cNvPicPr>
            <a:picLocks noChangeAspect="1"/>
          </p:cNvPicPr>
          <p:nvPr/>
        </p:nvPicPr>
        <p:blipFill>
          <a:blip r:embed="rId1"/>
          <a:stretch>
            <a:fillRect/>
          </a:stretch>
        </p:blipFill>
        <p:spPr>
          <a:xfrm>
            <a:off x="1258755" y="1243584"/>
            <a:ext cx="6489329" cy="4791456"/>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hexágono reúne setores com IVS e proporção de 60+ parecidos; quanto mais escuro, mais setores.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4381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ρ = -0,5426 no total.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E5_ivs_e_envelhecimento · F46 · figuras/F46_ivs_x_60mais.png</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proporção de 60+ em cada faixa do IVS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E5_ivs_e_envelhecimento/figuras/F47_60mais_por_faixa.png">    </p:cNvPr>
          <p:cNvPicPr>
            <a:picLocks noChangeAspect="1"/>
          </p:cNvPicPr>
          <p:nvPr/>
        </p:nvPicPr>
        <p:blipFill>
          <a:blip r:embed="rId1"/>
          <a:stretch>
            <a:fillRect/>
          </a:stretch>
        </p:blipFill>
        <p:spPr>
          <a:xfrm>
            <a:off x="911795" y="1243584"/>
            <a:ext cx="7183250" cy="4791456"/>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caixa por faixa com a proporção de pessoas de 60+ nos setores.</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Mediana de 0,2311 na faixa baixa e 0,0957 na muito elevada.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E5_ivs_e_envelhecimento · F47 · figuras/F47_60mais_por_faixa.png</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perfis dos 4 grupos de setores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E6_tipologias/figuras/F48_perfis_grupos_setores.png">    </p:cNvPr>
          <p:cNvPicPr>
            <a:picLocks noChangeAspect="1"/>
          </p:cNvPicPr>
          <p:nvPr/>
        </p:nvPicPr>
        <p:blipFill>
          <a:blip r:embed="rId1"/>
          <a:stretch>
            <a:fillRect/>
          </a:stretch>
        </p:blipFill>
        <p:spPr>
          <a:xfrm>
            <a:off x="777240" y="1243584"/>
            <a:ext cx="7452360" cy="4471416"/>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Mapa de calor: linhas são grupos, colunas são componentes; a cor é a média normalizada (0 a 1).</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grupo 3 tem 50,7% dos setores em FCU.</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E6_tipologias · F48 · figuras/F48_perfis_grupos_setores.png</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que a EDA unificada mostra</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335024"/>
            <a:ext cx="10634472" cy="4700016"/>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21 de 32 versões passam nos critérios do NB05; quando falham, o motivo mais comum é o banheiro graduado.</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A maior parte das versões fica perto da referência; a que mais se afasta é D3_indice_moradia (ρ = 0,4884).</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Entre as versões elegíveis, 53,0% dos setores nunca ficam em risco elevado, 10,9% ficam sempre e 36,1% mudam conforme a versão.</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Na referência, 29,4% dos moradores vivem em setores de risco elevado ou muito elevado.</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IVS e envelhecimento andam em sentidos opostos (ρ = -0,5426 com a proporção de 60+).</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Nada disso escolhe versão: a escolha é da orientadora.</a:t>
            </a:r>
            <a:endParaRPr lang="en-US" sz="1400" dirty="0"/>
          </a:p>
        </p:txBody>
      </p:sp>
      <p:sp>
        <p:nvSpPr>
          <p:cNvPr id="6"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00_sintese · E1 · E4 · E5</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 EDA da versão final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recorte da referência, com os 31 indicadores e as correções das demandas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que esta versão atende</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335024"/>
            <a:ext cx="10634472" cy="4700016"/>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Demanda 1 — renda com a mediana: coluna renda_media_mediana_mun, ao lado da renda original e da sem o extremo.</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Demanda 2 — quadro de indicadores: Quadro_Indicadores, gerado do código, com numerador, denominador e origem.</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Demandas 5 e 7 — água: “não chega”, sem canalização e só no terreno, comparadas com o IVS-7 e com as outras categorias.</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Demanda 6 — banheiro: V00495 (que já contém V00238) e as três partições V00236, V00237 e V00238, além do banheiro graduado.</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Demanda 9 — habitação: moradia não convencional, na direção da vulnerabilidade, com diagnóstico completo.</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Índice que acompanha a EDA: original·lixo_sem·banheiro_graduado·promax·60_40·municipal (referência proposta no NB05, não decidida).</a:t>
            </a:r>
            <a:endParaRPr lang="en-US" sz="1400" dirty="0"/>
          </a:p>
        </p:txBody>
      </p:sp>
      <p:sp>
        <p:nvSpPr>
          <p:cNvPr id="6"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docs/prompts/estado_demandas_2026-09.md · ivs_especificacoes/referencia.csv</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73.878 setores chegam ao índice, de 109.032 na base</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Shape 3"/>
          <p:cNvSpPr/>
          <p:nvPr/>
        </p:nvSpPr>
        <p:spPr>
          <a:xfrm>
            <a:off x="777240" y="1517904"/>
            <a:ext cx="3300984" cy="0"/>
          </a:xfrm>
          <a:prstGeom prst="line">
            <a:avLst/>
          </a:prstGeom>
          <a:noFill/>
          <a:ln w="12700">
            <a:solidFill>
              <a:srgbClr val="1A1A18"/>
            </a:solidFill>
            <a:prstDash val="solid"/>
          </a:ln>
        </p:spPr>
      </p:sp>
      <p:sp>
        <p:nvSpPr>
          <p:cNvPr id="6" name="Text 4"/>
          <p:cNvSpPr/>
          <p:nvPr/>
        </p:nvSpPr>
        <p:spPr>
          <a:xfrm>
            <a:off x="777240" y="1591056"/>
            <a:ext cx="3300984"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109.032</a:t>
            </a:r>
            <a:endParaRPr lang="en-US" sz="3000" dirty="0"/>
          </a:p>
        </p:txBody>
      </p:sp>
      <p:sp>
        <p:nvSpPr>
          <p:cNvPr id="7" name="Text 5"/>
          <p:cNvSpPr/>
          <p:nvPr/>
        </p:nvSpPr>
        <p:spPr>
          <a:xfrm>
            <a:off x="777240" y="217627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na base completa</a:t>
            </a:r>
            <a:endParaRPr lang="en-US" sz="1050" dirty="0"/>
          </a:p>
        </p:txBody>
      </p:sp>
      <p:sp>
        <p:nvSpPr>
          <p:cNvPr id="8" name="Shape 6"/>
          <p:cNvSpPr/>
          <p:nvPr/>
        </p:nvSpPr>
        <p:spPr>
          <a:xfrm>
            <a:off x="4443984" y="1517904"/>
            <a:ext cx="3300984" cy="0"/>
          </a:xfrm>
          <a:prstGeom prst="line">
            <a:avLst/>
          </a:prstGeom>
          <a:noFill/>
          <a:ln w="12700">
            <a:solidFill>
              <a:srgbClr val="1A1A18"/>
            </a:solidFill>
            <a:prstDash val="solid"/>
          </a:ln>
        </p:spPr>
      </p:sp>
      <p:sp>
        <p:nvSpPr>
          <p:cNvPr id="9" name="Text 7"/>
          <p:cNvSpPr/>
          <p:nvPr/>
        </p:nvSpPr>
        <p:spPr>
          <a:xfrm>
            <a:off x="4443984" y="1591056"/>
            <a:ext cx="3300984"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104.108</a:t>
            </a:r>
            <a:endParaRPr lang="en-US" sz="3000" dirty="0"/>
          </a:p>
        </p:txBody>
      </p:sp>
      <p:sp>
        <p:nvSpPr>
          <p:cNvPr id="10" name="Text 8"/>
          <p:cNvSpPr/>
          <p:nvPr/>
        </p:nvSpPr>
        <p:spPr>
          <a:xfrm>
            <a:off x="4443984" y="217627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no recorte (urbanos, Dados_sig = OK)</a:t>
            </a:r>
            <a:endParaRPr lang="en-US" sz="1050" dirty="0"/>
          </a:p>
        </p:txBody>
      </p:sp>
      <p:sp>
        <p:nvSpPr>
          <p:cNvPr id="11" name="Shape 9"/>
          <p:cNvSpPr/>
          <p:nvPr/>
        </p:nvSpPr>
        <p:spPr>
          <a:xfrm>
            <a:off x="8110728" y="1517904"/>
            <a:ext cx="3300984" cy="0"/>
          </a:xfrm>
          <a:prstGeom prst="line">
            <a:avLst/>
          </a:prstGeom>
          <a:noFill/>
          <a:ln w="12700">
            <a:solidFill>
              <a:srgbClr val="8C2F27"/>
            </a:solidFill>
            <a:prstDash val="solid"/>
          </a:ln>
        </p:spPr>
      </p:sp>
      <p:sp>
        <p:nvSpPr>
          <p:cNvPr id="12" name="Text 10"/>
          <p:cNvSpPr/>
          <p:nvPr/>
        </p:nvSpPr>
        <p:spPr>
          <a:xfrm>
            <a:off x="8110728" y="1591056"/>
            <a:ext cx="3300984" cy="566928"/>
          </a:xfrm>
          <a:prstGeom prst="rect">
            <a:avLst/>
          </a:prstGeom>
          <a:noFill/>
          <a:ln/>
        </p:spPr>
        <p:txBody>
          <a:bodyPr wrap="square" lIns="0" tIns="0" rIns="0" bIns="0" rtlCol="0" anchor="ctr"/>
          <a:lstStyle/>
          <a:p>
            <a:pPr indent="0" marL="0">
              <a:buNone/>
            </a:pPr>
            <a:r>
              <a:rPr lang="en-US" sz="3000" b="1" dirty="0">
                <a:solidFill>
                  <a:srgbClr val="8C2F27"/>
                </a:solidFill>
                <a:latin typeface="Cambria" pitchFamily="34" charset="0"/>
                <a:ea typeface="Cambria" pitchFamily="34" charset="-122"/>
                <a:cs typeface="Cambria" pitchFamily="34" charset="-120"/>
              </a:rPr>
              <a:t>73.878</a:t>
            </a:r>
            <a:endParaRPr lang="en-US" sz="3000" dirty="0"/>
          </a:p>
        </p:txBody>
      </p:sp>
      <p:sp>
        <p:nvSpPr>
          <p:cNvPr id="13" name="Text 11"/>
          <p:cNvSpPr/>
          <p:nvPr/>
        </p:nvSpPr>
        <p:spPr>
          <a:xfrm>
            <a:off x="8110728" y="217627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setores com todos os componentes do índice</a:t>
            </a:r>
            <a:endParaRPr lang="en-US" sz="1050" dirty="0"/>
          </a:p>
        </p:txBody>
      </p:sp>
      <p:sp>
        <p:nvSpPr>
          <p:cNvPr id="14" name="Text 12"/>
          <p:cNvSpPr/>
          <p:nvPr/>
        </p:nvSpPr>
        <p:spPr>
          <a:xfrm>
            <a:off x="777240" y="3026664"/>
            <a:ext cx="10634472" cy="3008376"/>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Leitura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funil mostra o caminho dos setores. A base completa inclui setores rurais e setores sem dados divulgados. O recorte da versão é o conjunto sobre o qual são calculadas as descritivas, as distribuições e as correlações. A amostra do índice é menor, porque a análise fatorial exige que o setor tenha todos os componentes preenchidos (exclusão por lista: basta faltar um componente para o setor sair). Essa diferença de amostra é importante quando se comparam números de blocos diferentes.</a:t>
            </a:r>
            <a:endParaRPr lang="en-US" sz="1250" dirty="0"/>
          </a:p>
        </p:txBody>
      </p:sp>
      <p:sp>
        <p:nvSpPr>
          <p:cNvPr id="15" name="Text 13"/>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T01</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31 indicadores e variantes da versão final</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908531"/>
                <a:gridCol w="1181472"/>
                <a:gridCol w="545295"/>
                <a:gridCol w="3817062"/>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Dimensão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IVS-7</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O que mede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domicílios com abastecimento de água inadequado ou ausente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domicílios com esgotamento sanitário inadequado ou ausente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domicílios com destino do lixo inadequado ou ausente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 por domicílio (reproduz o V0005 do IBGE)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Taxa de analfabetismo entre pessoas de 15 anos ou mais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Rendimento nominal médio mensal das pessoas responsáveis (R$)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pessoas de cor/raça preta, parda ou indígena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Domicílio improvisado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domicílios particulares improvisados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Habitação precária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domicílios em habitação precária (cortiço, estrutura degradada, improvisados)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moradias convencionais (casa, casa de vila/condomínio, 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moradias não convencionais (cortiço, maloca, estrutura degradada)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dimensão, se entra no IVS-7 e o que mede (texto do Quadro de Indicadores).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quadro completo, com numerador, denominador e arquivo do Censo, está em Quadro_Indicadores.xlsx.</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entrega_orientadora/Quadro_Indicadores.csv  ·  parte 1 de 3</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31 indicadores e variantes da versão final</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908531"/>
                <a:gridCol w="1181472"/>
                <a:gridCol w="545295"/>
                <a:gridCol w="3817062"/>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Dimensão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IVS-7</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O que mede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domicílios do tipo apartamento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domicílios do tipo casa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Casa de vila/condomínio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Morfologia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domicílios do tipo casa de vila ou em condomínio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5626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domicílios em que a água não chega encanada até dentro do domicílio (complemento de V00199; equivale a V00200+V00201 sobre V00001)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domicílios em que a água não chega encanada ao domicílio (V00201)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domicílios em que a água chega encanada apenas ao terreno (V00200)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domicílios sem banheiro de uso exclusivo com chuveiro e vaso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domicílios 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domicílios com apenas sanitário ou buraco para dejeções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domicílios com apenas 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Responsável mulher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domicílios com pessoa responsável do sexo feminino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dimensão, se entra no IVS-7 e o que mede (texto do Quadro de Indicadores).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quadro completo, com numerador, denominador e arquivo do Censo, está em Quadro_Indicadores.xlsx.</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entrega_orientadora/Quadro_Indicadores.csv  ·  parte 2 de 3</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31 indicadores e variantes da versão final</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908531"/>
                <a:gridCol w="1181472"/>
                <a:gridCol w="545295"/>
                <a:gridCol w="3817062"/>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Dimensão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IVS-7</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O que mede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Crianças 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crianças de 0 a 4 anos na população residente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População 0–14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pessoas com menos de 15 anos na população residente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Pessoas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pessoas de 60 anos ou mais na população residente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Índice de Envelhecimento Populacional: 60+ por 100 menores de 15 anos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Dependência idosa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Dependência de Idosos: 60+ por 100 pessoas de 15 a 59 anos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5626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 entre 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Demografia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Proporção de pessoas de 70+ entre os de 60+ (proxy de longevidade; NÃO é o LI, que exigiria a faixa 75+, inexistente nos agregados por setor)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 dos responsáveis sem o valor extremo de Belo Horizonte (R$ 170.418,06), que vira faltante</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 dos responsáveis com o valor extremo trocado pela mediana do município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55626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Falta de banheiro graduada: 1 ponto para banheiro só de uso comum, 2 para só sanitário, 3 para nem banheiro nem sanitário, sobre 3 vezes os domicílios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dimensão, se entra no IVS-7 e o que mede (texto do Quadro de Indicadores).</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quadro completo, com numerador, denominador e arquivo do Censo, está em Quadro_Indicadores.xlsx.</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entrega_orientadora/Quadro_Indicadores.csv  ·  parte 3 de 3</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Demanda 1: a renda do setor extremo de BH, imputada por três medianas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315200" cy="914400"/>
        </p:xfrm>
        <a:graphic>
          <a:graphicData uri="http://schemas.openxmlformats.org/drawingml/2006/table">
            <a:tbl>
              <a:tblPr/>
              <a:tblGrid>
                <a:gridCol w="2468880"/>
                <a:gridCol w="1097280"/>
                <a:gridCol w="914400"/>
                <a:gridCol w="914400"/>
                <a:gridCol w="914400"/>
                <a:gridCol w="100584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Alternativa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Valor imputado (R$)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Média BH</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DP BH</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Máx. BH</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Média 70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mediana de BH sem o setor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3.058,24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4.649,57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3.847,13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45.385,44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4.185,80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mediana de BH com o setor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3.060,31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4.649,57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3.847,13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45.385,44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4.185,80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mediana dos 70 municípios sem o setor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4.649,47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3.847,18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45.385,44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4.185,80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alternativa de imputação do setor 310620005650366: o valor posto no lugar e o efeito nas estatísticas de BH e do conjunto.</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mediana de BH sem o setor (3.058,24) é a usada na coluna renda_media_mediana_mun; com qualquer alternativa, o máximo de BH cai para 45.385,44.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banco_de_dados/eda/atualizada/renda_imputacao_alternativas.csv</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setor extremo de Belo Horizonte e o efeito de tirá-lo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banco_de_dados/eda/atualizada/figuras/extremo_bh.png">    </p:cNvPr>
          <p:cNvPicPr>
            <a:picLocks noChangeAspect="1"/>
          </p:cNvPicPr>
          <p:nvPr/>
        </p:nvPicPr>
        <p:blipFill>
          <a:blip r:embed="rId1"/>
          <a:stretch>
            <a:fillRect/>
          </a:stretch>
        </p:blipFill>
        <p:spPr>
          <a:xfrm>
            <a:off x="777240" y="1243584"/>
            <a:ext cx="7452360" cy="3356785"/>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renda dos setores de Belo Horizonte e a escala normalizada, com e sem o setor extremo.</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Sem o setor extremo, a maior renda média de setor em BH passa a ser 45.385,44.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banco_de_dados/eda/atualizada/figuras/extremo_bh.png</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As descritivas do IVS-7 e dos indicadores das demandas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360920" cy="914400"/>
        </p:xfrm>
        <a:graphic>
          <a:graphicData uri="http://schemas.openxmlformats.org/drawingml/2006/table">
            <a:tbl>
              <a:tblPr/>
              <a:tblGrid>
                <a:gridCol w="2103120"/>
                <a:gridCol w="777240"/>
                <a:gridCol w="777240"/>
                <a:gridCol w="777240"/>
                <a:gridCol w="777240"/>
                <a:gridCol w="868680"/>
                <a:gridCol w="594360"/>
                <a:gridCol w="68580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Indicador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P90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Máx.</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Assim.</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zeros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0,0696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0,1986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0,0820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0,2838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2,6909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2,7126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3,1412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6,9135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87.556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0,0792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104.096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4.187,41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9.490,68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170.418,06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0,5719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104.067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94.402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88.211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0,0147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91.912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 nem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101.139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0,6667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Só sanitário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100.297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de uso comum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94.414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37,68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89.816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0,6667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Moradia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104.108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13,01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sem o 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104.095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4.185,81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9.490,42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140.172,64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(mediana 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104.096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4.185,80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2.572,39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9.490,41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140.172,64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indicador: n, média, mediana, percentil 90, máximo, assimetria e percentual de setores com valor zero.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Os indicadores novos de água e banheiro têm mediana zero: sem banheiro tem 95,6% de zeros e água não chega, 94,5%.</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T03</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Demandas 5 e 7: “não chega” se parece mais com as outras categorias de água do que com o IVS-7</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035040" cy="914400"/>
        </p:xfrm>
        <a:graphic>
          <a:graphicData uri="http://schemas.openxmlformats.org/drawingml/2006/table">
            <a:tbl>
              <a:tblPr/>
              <a:tblGrid>
                <a:gridCol w="3291840"/>
                <a:gridCol w="1463040"/>
                <a:gridCol w="128016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Variável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ρ com “não chega”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0,4591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94.402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0,2906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94.401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0,1092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94.402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0,1420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94.402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0,2185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78.266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-0,2519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94.391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0,2486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só no terreno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0,5063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81.303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água canalizada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0,5138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94.368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banheiro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0,3860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85.098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Correlação de Spearman entre “água não chega” e cada variável do IVS-7 e as outras categorias de água, nos pares completos.</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Maior ρ: Sem água canalizada (0,5138).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banco_de_dados/eda/fatorial_ampliada/comparacao_nao_chega_banheiro.csv</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“Água não chega”: os setores com o problema têm renda mediana de 1.526,40, contra 2.830,52 nos demais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400800" cy="914400"/>
        </p:xfrm>
        <a:graphic>
          <a:graphicData uri="http://schemas.openxmlformats.org/drawingml/2006/table">
            <a:tbl>
              <a:tblPr/>
              <a:tblGrid>
                <a:gridCol w="2194560"/>
                <a:gridCol w="1463040"/>
                <a:gridCol w="822960"/>
                <a:gridCol w="1097280"/>
                <a:gridCol w="82296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Variável do IVS-7</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com água não chega &gt; 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 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0,2370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89.212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0,0968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89.212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89.212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2,8880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2,6878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89.212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5.089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73.177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1.526,40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2.830,52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89.201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0,7438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5.190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89.210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Perfil: a mediana de cada variável do IVS-7 nos setores com “água não chega” acima de zero e nos setores com zero.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Renda mediana 1.526,40 nos setores com o problema e 2.830,52 nos demais.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banco_de_dados/eda/fatorial_ampliada/comparacao_nao_chega_banheiro.csv</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“Sem banheiro”: os setores com o problema têm renda mediana de 1.477,89, contra 2.822,70 nos demais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400800" cy="914400"/>
        </p:xfrm>
        <a:graphic>
          <a:graphicData uri="http://schemas.openxmlformats.org/drawingml/2006/table">
            <a:tbl>
              <a:tblPr/>
              <a:tblGrid>
                <a:gridCol w="2194560"/>
                <a:gridCol w="1463040"/>
                <a:gridCol w="822960"/>
                <a:gridCol w="1097280"/>
                <a:gridCol w="82296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Variável do IVS-7</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com sem banheiro &gt; 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Mediana = 0</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87.864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0,1123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87.864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0,0390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87.864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2,9830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2,6870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87.864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0,0571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3.948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0,0237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72.017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média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1.477,89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2.822,70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87.852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0,7719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0,5394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87.862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Perfil: a mediana de cada variável do IVS-7 nos setores com “sem banheiro” acima de zero e nos setores com zero.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Renda mediana 1.477,89 nos setores com o problema e 2.822,70 nos demais.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banco_de_dados/eda/fatorial_ampliada/comparacao_nao_chega_banheiro.csv</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Demandas 6 e 9: banheiro e habitação não convencional</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Shape 3"/>
          <p:cNvSpPr/>
          <p:nvPr/>
        </p:nvSpPr>
        <p:spPr>
          <a:xfrm>
            <a:off x="777240" y="1517904"/>
            <a:ext cx="2384298" cy="0"/>
          </a:xfrm>
          <a:prstGeom prst="line">
            <a:avLst/>
          </a:prstGeom>
          <a:noFill/>
          <a:ln w="12700">
            <a:solidFill>
              <a:srgbClr val="1A1A18"/>
            </a:solidFill>
            <a:prstDash val="solid"/>
          </a:ln>
        </p:spPr>
      </p:sp>
      <p:sp>
        <p:nvSpPr>
          <p:cNvPr id="6" name="Text 4"/>
          <p:cNvSpPr/>
          <p:nvPr/>
        </p:nvSpPr>
        <p:spPr>
          <a:xfrm>
            <a:off x="777240" y="1591056"/>
            <a:ext cx="2384298"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100,0%</a:t>
            </a:r>
            <a:endParaRPr lang="en-US" sz="3000" dirty="0"/>
          </a:p>
        </p:txBody>
      </p:sp>
      <p:sp>
        <p:nvSpPr>
          <p:cNvPr id="7" name="Text 5"/>
          <p:cNvSpPr/>
          <p:nvPr/>
        </p:nvSpPr>
        <p:spPr>
          <a:xfrm>
            <a:off x="777240" y="2176272"/>
            <a:ext cx="2384298"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dos 90.858 setores com as duas variáveis têm V00238 ≤ V00495 (a junção já está em V00495)</a:t>
            </a:r>
            <a:endParaRPr lang="en-US" sz="1050" dirty="0"/>
          </a:p>
        </p:txBody>
      </p:sp>
      <p:sp>
        <p:nvSpPr>
          <p:cNvPr id="8" name="Shape 6"/>
          <p:cNvSpPr/>
          <p:nvPr/>
        </p:nvSpPr>
        <p:spPr>
          <a:xfrm>
            <a:off x="3527298" y="1517904"/>
            <a:ext cx="2384298" cy="0"/>
          </a:xfrm>
          <a:prstGeom prst="line">
            <a:avLst/>
          </a:prstGeom>
          <a:noFill/>
          <a:ln w="12700">
            <a:solidFill>
              <a:srgbClr val="1A1A18"/>
            </a:solidFill>
            <a:prstDash val="solid"/>
          </a:ln>
        </p:spPr>
      </p:sp>
      <p:sp>
        <p:nvSpPr>
          <p:cNvPr id="9" name="Text 7"/>
          <p:cNvSpPr/>
          <p:nvPr/>
        </p:nvSpPr>
        <p:spPr>
          <a:xfrm>
            <a:off x="3527298" y="1591056"/>
            <a:ext cx="2384298"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93,0%</a:t>
            </a:r>
            <a:endParaRPr lang="en-US" sz="3000" dirty="0"/>
          </a:p>
        </p:txBody>
      </p:sp>
      <p:sp>
        <p:nvSpPr>
          <p:cNvPr id="10" name="Text 8"/>
          <p:cNvSpPr/>
          <p:nvPr/>
        </p:nvSpPr>
        <p:spPr>
          <a:xfrm>
            <a:off x="3527298" y="2176272"/>
            <a:ext cx="2384298"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dos setores com moradia não convencional igual a zero</a:t>
            </a:r>
            <a:endParaRPr lang="en-US" sz="1050" dirty="0"/>
          </a:p>
        </p:txBody>
      </p:sp>
      <p:sp>
        <p:nvSpPr>
          <p:cNvPr id="11" name="Shape 9"/>
          <p:cNvSpPr/>
          <p:nvPr/>
        </p:nvSpPr>
        <p:spPr>
          <a:xfrm>
            <a:off x="6277356" y="1517904"/>
            <a:ext cx="2384298" cy="0"/>
          </a:xfrm>
          <a:prstGeom prst="line">
            <a:avLst/>
          </a:prstGeom>
          <a:noFill/>
          <a:ln w="12700">
            <a:solidFill>
              <a:srgbClr val="1A1A18"/>
            </a:solidFill>
            <a:prstDash val="solid"/>
          </a:ln>
        </p:spPr>
      </p:sp>
      <p:sp>
        <p:nvSpPr>
          <p:cNvPr id="12" name="Text 10"/>
          <p:cNvSpPr/>
          <p:nvPr/>
        </p:nvSpPr>
        <p:spPr>
          <a:xfrm>
            <a:off x="6277356" y="1591056"/>
            <a:ext cx="2384298"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0,8125</a:t>
            </a:r>
            <a:endParaRPr lang="en-US" sz="3000" dirty="0"/>
          </a:p>
        </p:txBody>
      </p:sp>
      <p:sp>
        <p:nvSpPr>
          <p:cNvPr id="13" name="Text 11"/>
          <p:cNvSpPr/>
          <p:nvPr/>
        </p:nvSpPr>
        <p:spPr>
          <a:xfrm>
            <a:off x="6277356" y="2176272"/>
            <a:ext cx="2384298"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MSA da moradia não convencional (cenário S5)</a:t>
            </a:r>
            <a:endParaRPr lang="en-US" sz="1050" dirty="0"/>
          </a:p>
        </p:txBody>
      </p:sp>
      <p:sp>
        <p:nvSpPr>
          <p:cNvPr id="14" name="Shape 12"/>
          <p:cNvSpPr/>
          <p:nvPr/>
        </p:nvSpPr>
        <p:spPr>
          <a:xfrm>
            <a:off x="9027414" y="1517904"/>
            <a:ext cx="2384298" cy="0"/>
          </a:xfrm>
          <a:prstGeom prst="line">
            <a:avLst/>
          </a:prstGeom>
          <a:noFill/>
          <a:ln w="12700">
            <a:solidFill>
              <a:srgbClr val="8C2F27"/>
            </a:solidFill>
            <a:prstDash val="solid"/>
          </a:ln>
        </p:spPr>
      </p:sp>
      <p:sp>
        <p:nvSpPr>
          <p:cNvPr id="15" name="Text 13"/>
          <p:cNvSpPr/>
          <p:nvPr/>
        </p:nvSpPr>
        <p:spPr>
          <a:xfrm>
            <a:off x="9027414" y="1591056"/>
            <a:ext cx="2384298" cy="566928"/>
          </a:xfrm>
          <a:prstGeom prst="rect">
            <a:avLst/>
          </a:prstGeom>
          <a:noFill/>
          <a:ln/>
        </p:spPr>
        <p:txBody>
          <a:bodyPr wrap="square" lIns="0" tIns="0" rIns="0" bIns="0" rtlCol="0" anchor="ctr"/>
          <a:lstStyle/>
          <a:p>
            <a:pPr indent="0" marL="0">
              <a:buNone/>
            </a:pPr>
            <a:r>
              <a:rPr lang="en-US" sz="3000" b="1" dirty="0">
                <a:solidFill>
                  <a:srgbClr val="8C2F27"/>
                </a:solidFill>
                <a:latin typeface="Cambria" pitchFamily="34" charset="0"/>
                <a:ea typeface="Cambria" pitchFamily="34" charset="-122"/>
                <a:cs typeface="Cambria" pitchFamily="34" charset="-120"/>
              </a:rPr>
              <a:t>0,0128</a:t>
            </a:r>
            <a:endParaRPr lang="en-US" sz="3000" dirty="0"/>
          </a:p>
        </p:txBody>
      </p:sp>
      <p:sp>
        <p:nvSpPr>
          <p:cNvPr id="16" name="Text 14"/>
          <p:cNvSpPr/>
          <p:nvPr/>
        </p:nvSpPr>
        <p:spPr>
          <a:xfrm>
            <a:off x="9027414" y="2176272"/>
            <a:ext cx="2384298"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comunalidade da moradia não convencional (S5)</a:t>
            </a:r>
            <a:endParaRPr lang="en-US" sz="1050" dirty="0"/>
          </a:p>
        </p:txBody>
      </p:sp>
      <p:sp>
        <p:nvSpPr>
          <p:cNvPr id="17" name="Text 15"/>
          <p:cNvSpPr/>
          <p:nvPr/>
        </p:nvSpPr>
        <p:spPr>
          <a:xfrm>
            <a:off x="777240" y="3026664"/>
            <a:ext cx="10634472" cy="3008376"/>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Leitura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Somar V00238 a V00495 contaria o mesmo domicílio duas vezes; a V00495 já é a junção. As partições V00236, V00237 e V00238 estão na base e formam o banheiro graduado. A moradia não convencional entra na direção da vulnerabilidade e não foi excluída por variância baixa: o diagnóstico está aqui para a decisão.</a:t>
            </a:r>
            <a:endParaRPr lang="en-US" sz="1250" dirty="0"/>
          </a:p>
        </p:txBody>
      </p:sp>
      <p:sp>
        <p:nvSpPr>
          <p:cNvPr id="18" name="Text 1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fatorial_ampliada/comparacao_nao_chega_banheiro.csv · cargas.csv · 00_referencia T03</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Saneamento: Sem banheiro nem sanitário tem a distribuição mais assimétrica (assimetria 68,98)</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02_histogramas_saneamento.png">    </p:cNvPr>
          <p:cNvPicPr>
            <a:picLocks noChangeAspect="1"/>
          </p:cNvPicPr>
          <p:nvPr/>
        </p:nvPicPr>
        <p:blipFill>
          <a:blip r:embed="rId1"/>
          <a:stretch>
            <a:fillRect/>
          </a:stretch>
        </p:blipFill>
        <p:spPr>
          <a:xfrm>
            <a:off x="777240" y="1243584"/>
            <a:ext cx="7452360" cy="4155823"/>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 histograma por indicador da dimensão: no eixo horizontal, o valor; no vertical, quantos setores têm aquele valor. Os 0,5% maiores ficam de fora para a escala ser legível.</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indicadores de Saneamento, a maior assimetria é a de Sem banheiro nem sanitário (68,98).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F02 · figuras/F02_histogramas_saneamento.png</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Socioeconômica: Renda média tem a distribuição mais assimétrica (assimetria 3,74)</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05_histogramas_socioeconomica.png">    </p:cNvPr>
          <p:cNvPicPr>
            <a:picLocks noChangeAspect="1"/>
          </p:cNvPicPr>
          <p:nvPr/>
        </p:nvPicPr>
        <p:blipFill>
          <a:blip r:embed="rId1"/>
          <a:stretch>
            <a:fillRect/>
          </a:stretch>
        </p:blipFill>
        <p:spPr>
          <a:xfrm>
            <a:off x="777240" y="1243584"/>
            <a:ext cx="7452360" cy="2747252"/>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 histograma por indicador da dimensão: no eixo horizontal, o valor; no vertical, quantos setores têm aquele valor. Os 0,5% maiores ficam de fora para a escala ser legível.</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Entre os indicadores de Socioeconômica, a maior assimetria é a de Renda média (3,74).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F05 · figuras/F05_histogramas_socioeconomica.png</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38</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Saneamento: Água inadequada tem mediana de 0,1759 no Norte e 0,0000 no Centro-Oeste</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03_boxplots_regiao_saneamento.png">    </p:cNvPr>
          <p:cNvPicPr>
            <a:picLocks noChangeAspect="1"/>
          </p:cNvPicPr>
          <p:nvPr/>
        </p:nvPicPr>
        <p:blipFill>
          <a:blip r:embed="rId1"/>
          <a:stretch>
            <a:fillRect/>
          </a:stretch>
        </p:blipFill>
        <p:spPr>
          <a:xfrm>
            <a:off x="777240" y="1243584"/>
            <a:ext cx="7452360" cy="4160184"/>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caixa por região: a linha dentro é a mediana, a caixa vai do 1º ao 3º quartil e as hastes até 1,5 intervalo interquartil. Os pontos extremos não são desenhados (ver bloco 5).</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primeiro indicador da dimensão (Água inadequada), a mediana regional vai de 0,0000 (Centro-Oeste) a 0,1759 (Norte).</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F03 · figuras/F03_boxplots_regiao_saneamento.png</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falta de dados depende do tamanho do setor</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15_sigilo_por_porte_do_setor.png">    </p:cNvPr>
          <p:cNvPicPr>
            <a:picLocks noChangeAspect="1"/>
          </p:cNvPicPr>
          <p:nvPr/>
        </p:nvPicPr>
        <p:blipFill>
          <a:blip r:embed="rId1"/>
          <a:stretch>
            <a:fillRect/>
          </a:stretch>
        </p:blipFill>
        <p:spPr>
          <a:xfrm>
            <a:off x="777240" y="1243584"/>
            <a:ext cx="7452360" cy="4013930"/>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Eixo horizontal: décimo de moradores do setor (1 = menores). Eixo vertical: percentual de setores sem o indicador.</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Renda: de 0,1% a 0,0%; analfabetismo: de 29,4% a 3,9%, do menor ao maior décimo.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F15 · figuras/F15_sigilo_por_porte_do_setor.png</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proporção de extremos varia muito de um indicador para outro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16_extremos_por_indicador.png">    </p:cNvPr>
          <p:cNvPicPr>
            <a:picLocks noChangeAspect="1"/>
          </p:cNvPicPr>
          <p:nvPr/>
        </p:nvPicPr>
        <p:blipFill>
          <a:blip r:embed="rId1"/>
          <a:stretch>
            <a:fillRect/>
          </a:stretch>
        </p:blipFill>
        <p:spPr>
          <a:xfrm>
            <a:off x="2091800" y="1243584"/>
            <a:ext cx="4823240"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barra por indicador, com o percentual de setores marcados; a cor indica o critério (petróleo: Tukey; cinza: inflação de zeros; argila: renda).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barra mais longa é a de Moradia convencional (6,8%).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F16 · figuras/F16_extremos_por_indicador.png</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41</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Entre as variáveis das demandas e os componentes do índice, o par mais forte é Sem água canalizada × Cor/raça PPI (ρ = 0,4193)</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31_mapa_spearman_componentes.png">    </p:cNvPr>
          <p:cNvPicPr>
            <a:picLocks noChangeAspect="1"/>
          </p:cNvPicPr>
          <p:nvPr/>
        </p:nvPicPr>
        <p:blipFill>
          <a:blip r:embed="rId1"/>
          <a:stretch>
            <a:fillRect/>
          </a:stretch>
        </p:blipFill>
        <p:spPr>
          <a:xfrm>
            <a:off x="3592830" y="1243584"/>
            <a:ext cx="5003292" cy="4288536"/>
          </a:xfrm>
          <a:prstGeom prst="rect">
            <a:avLst/>
          </a:prstGeom>
        </p:spPr>
      </p:pic>
      <p:sp>
        <p:nvSpPr>
          <p:cNvPr id="6" name="Text 3"/>
          <p:cNvSpPr/>
          <p:nvPr/>
        </p:nvSpPr>
        <p:spPr>
          <a:xfrm>
            <a:off x="777240" y="5577840"/>
            <a:ext cx="10634472" cy="502920"/>
          </a:xfrm>
          <a:prstGeom prst="rect">
            <a:avLst/>
          </a:prstGeom>
          <a:noFill/>
          <a:ln/>
        </p:spPr>
        <p:txBody>
          <a:bodyPr wrap="square" lIns="0" tIns="0" rIns="0" bIns="0" rtlCol="0" anchor="t"/>
          <a:lstStyle/>
          <a:p>
            <a:pPr indent="0" marL="0">
              <a:buNone/>
            </a:pPr>
            <a:r>
              <a:rPr lang="en-US" sz="950" b="1" dirty="0">
                <a:solidFill>
                  <a:srgbClr val="1A1A18"/>
                </a:solidFill>
                <a:latin typeface="Cambria" pitchFamily="34" charset="0"/>
                <a:ea typeface="Cambria" pitchFamily="34" charset="-122"/>
                <a:cs typeface="Cambria" pitchFamily="34" charset="-120"/>
              </a:rPr>
              <a:t>Como ler  </a:t>
            </a:r>
            <a:pPr indent="0" marL="0">
              <a:buNone/>
            </a:pPr>
            <a:r>
              <a:rPr lang="en-US" sz="950" dirty="0">
                <a:solidFill>
                  <a:srgbClr val="1A1A18"/>
                </a:solidFill>
                <a:latin typeface="Cambria" pitchFamily="34" charset="0"/>
                <a:ea typeface="Cambria" pitchFamily="34" charset="-122"/>
                <a:cs typeface="Cambria" pitchFamily="34" charset="-120"/>
              </a:rPr>
              <a:t>Matriz de Spearman só com os componentes do índice (acima e à esquerda da linha) e as variáveis das demandas de setembro (abaixo e à direita). Cada célula traz o ρ; argila é positiva, petróleo negativa.  </a:t>
            </a:r>
            <a:pPr indent="0" marL="0">
              <a:buNone/>
            </a:pPr>
            <a:r>
              <a:rPr lang="en-US" sz="950" b="1" dirty="0">
                <a:solidFill>
                  <a:srgbClr val="8C2F27"/>
                </a:solidFill>
                <a:latin typeface="Cambria" pitchFamily="34" charset="0"/>
                <a:ea typeface="Cambria" pitchFamily="34" charset="-122"/>
                <a:cs typeface="Cambria" pitchFamily="34" charset="-120"/>
              </a:rPr>
              <a:t>O que mostra  </a:t>
            </a:r>
            <a:pPr indent="0" marL="0">
              <a:buNone/>
            </a:pPr>
            <a:r>
              <a:rPr lang="en-US" sz="950" dirty="0">
                <a:solidFill>
                  <a:srgbClr val="1A1A18"/>
                </a:solidFill>
                <a:latin typeface="Cambria" pitchFamily="34" charset="0"/>
                <a:ea typeface="Cambria" pitchFamily="34" charset="-122"/>
                <a:cs typeface="Cambria" pitchFamily="34" charset="-120"/>
              </a:rPr>
              <a:t>Entre uma variável nova e um componente de outra família, o par mais forte é Sem água canalizada × Cor/raça PPI (ρ = 0,4193). Pares de variantes da mesma coisa (como banheiro graduado e sem banheiro) ficam de fora do destaque.</a:t>
            </a:r>
            <a:endParaRPr lang="en-US" sz="950" dirty="0"/>
          </a:p>
        </p:txBody>
      </p:sp>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F31 · figuras/F31_mapa_spearman_componentes.png</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indicadores formam grupos de correlação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17_mapa_spearman.png">    </p:cNvPr>
          <p:cNvPicPr>
            <a:picLocks noChangeAspect="1"/>
          </p:cNvPicPr>
          <p:nvPr/>
        </p:nvPicPr>
        <p:blipFill>
          <a:blip r:embed="rId1"/>
          <a:stretch>
            <a:fillRect/>
          </a:stretch>
        </p:blipFill>
        <p:spPr>
          <a:xfrm>
            <a:off x="3720499" y="1243584"/>
            <a:ext cx="4747953" cy="4288536"/>
          </a:xfrm>
          <a:prstGeom prst="rect">
            <a:avLst/>
          </a:prstGeom>
        </p:spPr>
      </p:pic>
      <p:sp>
        <p:nvSpPr>
          <p:cNvPr id="6" name="Text 3"/>
          <p:cNvSpPr/>
          <p:nvPr/>
        </p:nvSpPr>
        <p:spPr>
          <a:xfrm>
            <a:off x="777240" y="5577840"/>
            <a:ext cx="10634472" cy="502920"/>
          </a:xfrm>
          <a:prstGeom prst="rect">
            <a:avLst/>
          </a:prstGeom>
          <a:noFill/>
          <a:ln/>
        </p:spPr>
        <p:txBody>
          <a:bodyPr wrap="square" lIns="0" tIns="0" rIns="0" bIns="0" rtlCol="0" anchor="t"/>
          <a:lstStyle/>
          <a:p>
            <a:pPr indent="0" marL="0">
              <a:buNone/>
            </a:pPr>
            <a:r>
              <a:rPr lang="en-US" sz="950" b="1" dirty="0">
                <a:solidFill>
                  <a:srgbClr val="1A1A18"/>
                </a:solidFill>
                <a:latin typeface="Cambria" pitchFamily="34" charset="0"/>
                <a:ea typeface="Cambria" pitchFamily="34" charset="-122"/>
                <a:cs typeface="Cambria" pitchFamily="34" charset="-120"/>
              </a:rPr>
              <a:t>Como ler  </a:t>
            </a:r>
            <a:pPr indent="0" marL="0">
              <a:buNone/>
            </a:pPr>
            <a:r>
              <a:rPr lang="en-US" sz="950" dirty="0">
                <a:solidFill>
                  <a:srgbClr val="1A1A18"/>
                </a:solidFill>
                <a:latin typeface="Cambria" pitchFamily="34" charset="0"/>
                <a:ea typeface="Cambria" pitchFamily="34" charset="-122"/>
                <a:cs typeface="Cambria" pitchFamily="34" charset="-120"/>
              </a:rPr>
              <a:t>Matriz de correlação de Spearman entre todos os indicadores, reordenados pelo agrupamento do dendrograma. Cada célula do triângulo inferior traz o valor de ρ (−1 a 1); argila é correlação positiva, petróleo negativa, branco é perto de zero. Com 31 indicadores, os valores só ficam legíveis com a figura ampliada; as matrizes por dimensão vêm a seguir.  </a:t>
            </a:r>
            <a:pPr indent="0" marL="0">
              <a:buNone/>
            </a:pPr>
            <a:r>
              <a:rPr lang="en-US" sz="950" b="1" dirty="0">
                <a:solidFill>
                  <a:srgbClr val="8C2F27"/>
                </a:solidFill>
                <a:latin typeface="Cambria" pitchFamily="34" charset="0"/>
                <a:ea typeface="Cambria" pitchFamily="34" charset="-122"/>
                <a:cs typeface="Cambria" pitchFamily="34" charset="-120"/>
              </a:rPr>
              <a:t>O que mostra  </a:t>
            </a:r>
            <a:pPr indent="0" marL="0">
              <a:buNone/>
            </a:pPr>
            <a:r>
              <a:rPr lang="en-US" sz="950" dirty="0">
                <a:solidFill>
                  <a:srgbClr val="1A1A18"/>
                </a:solidFill>
                <a:latin typeface="Cambria" pitchFamily="34" charset="0"/>
                <a:ea typeface="Cambria" pitchFamily="34" charset="-122"/>
                <a:cs typeface="Cambria" pitchFamily="34" charset="-120"/>
              </a:rPr>
              <a:t>O par mais forte é Renda média × Renda sem o extremo (ρ = 1,0000).</a:t>
            </a:r>
            <a:endParaRPr lang="en-US" sz="950" dirty="0"/>
          </a:p>
        </p:txBody>
      </p:sp>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F17 · figuras/F17_mapa_spearman.png</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43</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Saneamento: o par mais correlacionado é Sem banheiro × Banheiro graduado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32_mapa_spearman_saneamento.png">    </p:cNvPr>
          <p:cNvPicPr>
            <a:picLocks noChangeAspect="1"/>
          </p:cNvPicPr>
          <p:nvPr/>
        </p:nvPicPr>
        <p:blipFill>
          <a:blip r:embed="rId1"/>
          <a:stretch>
            <a:fillRect/>
          </a:stretch>
        </p:blipFill>
        <p:spPr>
          <a:xfrm>
            <a:off x="3547200" y="1243584"/>
            <a:ext cx="5094553" cy="4288536"/>
          </a:xfrm>
          <a:prstGeom prst="rect">
            <a:avLst/>
          </a:prstGeom>
        </p:spPr>
      </p:pic>
      <p:sp>
        <p:nvSpPr>
          <p:cNvPr id="6" name="Text 3"/>
          <p:cNvSpPr/>
          <p:nvPr/>
        </p:nvSpPr>
        <p:spPr>
          <a:xfrm>
            <a:off x="777240" y="5577840"/>
            <a:ext cx="10634472" cy="502920"/>
          </a:xfrm>
          <a:prstGeom prst="rect">
            <a:avLst/>
          </a:prstGeom>
          <a:noFill/>
          <a:ln/>
        </p:spPr>
        <p:txBody>
          <a:bodyPr wrap="square" lIns="0" tIns="0" rIns="0" bIns="0" rtlCol="0" anchor="t"/>
          <a:lstStyle/>
          <a:p>
            <a:pPr indent="0" marL="0">
              <a:buNone/>
            </a:pPr>
            <a:r>
              <a:rPr lang="en-US" sz="950" b="1" dirty="0">
                <a:solidFill>
                  <a:srgbClr val="1A1A18"/>
                </a:solidFill>
                <a:latin typeface="Cambria" pitchFamily="34" charset="0"/>
                <a:ea typeface="Cambria" pitchFamily="34" charset="-122"/>
                <a:cs typeface="Cambria" pitchFamily="34" charset="-120"/>
              </a:rPr>
              <a:t>Como ler  </a:t>
            </a:r>
            <a:pPr indent="0" marL="0">
              <a:buNone/>
            </a:pPr>
            <a:r>
              <a:rPr lang="en-US" sz="950" dirty="0">
                <a:solidFill>
                  <a:srgbClr val="1A1A18"/>
                </a:solidFill>
                <a:latin typeface="Cambria" pitchFamily="34" charset="0"/>
                <a:ea typeface="Cambria" pitchFamily="34" charset="-122"/>
                <a:cs typeface="Cambria" pitchFamily="34" charset="-120"/>
              </a:rPr>
              <a:t>Matriz de Spearman só com os indicadores da dimensão Saneamento; cada célula traz o ρ (−1 a 1). Argila é correlação positiva, petróleo negativa.  </a:t>
            </a:r>
            <a:pPr indent="0" marL="0">
              <a:buNone/>
            </a:pPr>
            <a:r>
              <a:rPr lang="en-US" sz="950" b="1" dirty="0">
                <a:solidFill>
                  <a:srgbClr val="8C2F27"/>
                </a:solidFill>
                <a:latin typeface="Cambria" pitchFamily="34" charset="0"/>
                <a:ea typeface="Cambria" pitchFamily="34" charset="-122"/>
                <a:cs typeface="Cambria" pitchFamily="34" charset="-120"/>
              </a:rPr>
              <a:t>O que mostra  </a:t>
            </a:r>
            <a:pPr indent="0" marL="0">
              <a:buNone/>
            </a:pPr>
            <a:r>
              <a:rPr lang="en-US" sz="950" dirty="0">
                <a:solidFill>
                  <a:srgbClr val="1A1A18"/>
                </a:solidFill>
                <a:latin typeface="Cambria" pitchFamily="34" charset="0"/>
                <a:ea typeface="Cambria" pitchFamily="34" charset="-122"/>
                <a:cs typeface="Cambria" pitchFamily="34" charset="-120"/>
              </a:rPr>
              <a:t>Na dimensão Saneamento, o par mais forte é Sem banheiro × Banheiro graduado (ρ = 1,0000).</a:t>
            </a:r>
            <a:endParaRPr lang="en-US" sz="950" dirty="0"/>
          </a:p>
        </p:txBody>
      </p:sp>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F32 · figuras/F32_mapa_spearman_saneamento.png</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44</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Socioeconômica: o par mais correlacionado é Renda média × Renda sem o extremo (ρ = 1,0000)</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33_mapa_spearman_socioeconomica.png">    </p:cNvPr>
          <p:cNvPicPr>
            <a:picLocks noChangeAspect="1"/>
          </p:cNvPicPr>
          <p:nvPr/>
        </p:nvPicPr>
        <p:blipFill>
          <a:blip r:embed="rId1"/>
          <a:stretch>
            <a:fillRect/>
          </a:stretch>
        </p:blipFill>
        <p:spPr>
          <a:xfrm>
            <a:off x="3526200" y="1243584"/>
            <a:ext cx="5136552" cy="4288536"/>
          </a:xfrm>
          <a:prstGeom prst="rect">
            <a:avLst/>
          </a:prstGeom>
        </p:spPr>
      </p:pic>
      <p:sp>
        <p:nvSpPr>
          <p:cNvPr id="6" name="Text 3"/>
          <p:cNvSpPr/>
          <p:nvPr/>
        </p:nvSpPr>
        <p:spPr>
          <a:xfrm>
            <a:off x="777240" y="5577840"/>
            <a:ext cx="10634472" cy="502920"/>
          </a:xfrm>
          <a:prstGeom prst="rect">
            <a:avLst/>
          </a:prstGeom>
          <a:noFill/>
          <a:ln/>
        </p:spPr>
        <p:txBody>
          <a:bodyPr wrap="square" lIns="0" tIns="0" rIns="0" bIns="0" rtlCol="0" anchor="t"/>
          <a:lstStyle/>
          <a:p>
            <a:pPr indent="0" marL="0">
              <a:buNone/>
            </a:pPr>
            <a:r>
              <a:rPr lang="en-US" sz="950" b="1" dirty="0">
                <a:solidFill>
                  <a:srgbClr val="1A1A18"/>
                </a:solidFill>
                <a:latin typeface="Cambria" pitchFamily="34" charset="0"/>
                <a:ea typeface="Cambria" pitchFamily="34" charset="-122"/>
                <a:cs typeface="Cambria" pitchFamily="34" charset="-120"/>
              </a:rPr>
              <a:t>Como ler  </a:t>
            </a:r>
            <a:pPr indent="0" marL="0">
              <a:buNone/>
            </a:pPr>
            <a:r>
              <a:rPr lang="en-US" sz="950" dirty="0">
                <a:solidFill>
                  <a:srgbClr val="1A1A18"/>
                </a:solidFill>
                <a:latin typeface="Cambria" pitchFamily="34" charset="0"/>
                <a:ea typeface="Cambria" pitchFamily="34" charset="-122"/>
                <a:cs typeface="Cambria" pitchFamily="34" charset="-120"/>
              </a:rPr>
              <a:t>Matriz de Spearman só com os indicadores da dimensão Socioeconômica; cada célula traz o ρ (−1 a 1). Argila é correlação positiva, petróleo negativa.  </a:t>
            </a:r>
            <a:pPr indent="0" marL="0">
              <a:buNone/>
            </a:pPr>
            <a:r>
              <a:rPr lang="en-US" sz="950" b="1" dirty="0">
                <a:solidFill>
                  <a:srgbClr val="8C2F27"/>
                </a:solidFill>
                <a:latin typeface="Cambria" pitchFamily="34" charset="0"/>
                <a:ea typeface="Cambria" pitchFamily="34" charset="-122"/>
                <a:cs typeface="Cambria" pitchFamily="34" charset="-120"/>
              </a:rPr>
              <a:t>O que mostra  </a:t>
            </a:r>
            <a:pPr indent="0" marL="0">
              <a:buNone/>
            </a:pPr>
            <a:r>
              <a:rPr lang="en-US" sz="950" dirty="0">
                <a:solidFill>
                  <a:srgbClr val="1A1A18"/>
                </a:solidFill>
                <a:latin typeface="Cambria" pitchFamily="34" charset="0"/>
                <a:ea typeface="Cambria" pitchFamily="34" charset="-122"/>
                <a:cs typeface="Cambria" pitchFamily="34" charset="-120"/>
              </a:rPr>
              <a:t>Na dimensão Socioeconômica, o par mais forte é Renda média × Renda sem o extremo (ρ = 1,0000).</a:t>
            </a:r>
            <a:endParaRPr lang="en-US" sz="950" dirty="0"/>
          </a:p>
        </p:txBody>
      </p:sp>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F33 · figuras/F33_mapa_spearman_socioeconomica.png</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45</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Morfologia: o par mais correlacionado é Habitação precária × Moradia não convencional (ρ = 0,9646)</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34_mapa_spearman_morfologia.png">    </p:cNvPr>
          <p:cNvPicPr>
            <a:picLocks noChangeAspect="1"/>
          </p:cNvPicPr>
          <p:nvPr/>
        </p:nvPicPr>
        <p:blipFill>
          <a:blip r:embed="rId1"/>
          <a:stretch>
            <a:fillRect/>
          </a:stretch>
        </p:blipFill>
        <p:spPr>
          <a:xfrm>
            <a:off x="3521354" y="1243584"/>
            <a:ext cx="5146243" cy="4288536"/>
          </a:xfrm>
          <a:prstGeom prst="rect">
            <a:avLst/>
          </a:prstGeom>
        </p:spPr>
      </p:pic>
      <p:sp>
        <p:nvSpPr>
          <p:cNvPr id="6" name="Text 3"/>
          <p:cNvSpPr/>
          <p:nvPr/>
        </p:nvSpPr>
        <p:spPr>
          <a:xfrm>
            <a:off x="777240" y="5577840"/>
            <a:ext cx="10634472" cy="502920"/>
          </a:xfrm>
          <a:prstGeom prst="rect">
            <a:avLst/>
          </a:prstGeom>
          <a:noFill/>
          <a:ln/>
        </p:spPr>
        <p:txBody>
          <a:bodyPr wrap="square" lIns="0" tIns="0" rIns="0" bIns="0" rtlCol="0" anchor="t"/>
          <a:lstStyle/>
          <a:p>
            <a:pPr indent="0" marL="0">
              <a:buNone/>
            </a:pPr>
            <a:r>
              <a:rPr lang="en-US" sz="950" b="1" dirty="0">
                <a:solidFill>
                  <a:srgbClr val="1A1A18"/>
                </a:solidFill>
                <a:latin typeface="Cambria" pitchFamily="34" charset="0"/>
                <a:ea typeface="Cambria" pitchFamily="34" charset="-122"/>
                <a:cs typeface="Cambria" pitchFamily="34" charset="-120"/>
              </a:rPr>
              <a:t>Como ler  </a:t>
            </a:r>
            <a:pPr indent="0" marL="0">
              <a:buNone/>
            </a:pPr>
            <a:r>
              <a:rPr lang="en-US" sz="950" dirty="0">
                <a:solidFill>
                  <a:srgbClr val="1A1A18"/>
                </a:solidFill>
                <a:latin typeface="Cambria" pitchFamily="34" charset="0"/>
                <a:ea typeface="Cambria" pitchFamily="34" charset="-122"/>
                <a:cs typeface="Cambria" pitchFamily="34" charset="-120"/>
              </a:rPr>
              <a:t>Matriz de Spearman só com os indicadores da dimensão Morfologia; cada célula traz o ρ (−1 a 1). Argila é correlação positiva, petróleo negativa.  </a:t>
            </a:r>
            <a:pPr indent="0" marL="0">
              <a:buNone/>
            </a:pPr>
            <a:r>
              <a:rPr lang="en-US" sz="950" b="1" dirty="0">
                <a:solidFill>
                  <a:srgbClr val="8C2F27"/>
                </a:solidFill>
                <a:latin typeface="Cambria" pitchFamily="34" charset="0"/>
                <a:ea typeface="Cambria" pitchFamily="34" charset="-122"/>
                <a:cs typeface="Cambria" pitchFamily="34" charset="-120"/>
              </a:rPr>
              <a:t>O que mostra  </a:t>
            </a:r>
            <a:pPr indent="0" marL="0">
              <a:buNone/>
            </a:pPr>
            <a:r>
              <a:rPr lang="en-US" sz="950" dirty="0">
                <a:solidFill>
                  <a:srgbClr val="1A1A18"/>
                </a:solidFill>
                <a:latin typeface="Cambria" pitchFamily="34" charset="0"/>
                <a:ea typeface="Cambria" pitchFamily="34" charset="-122"/>
                <a:cs typeface="Cambria" pitchFamily="34" charset="-120"/>
              </a:rPr>
              <a:t>Na dimensão Morfologia, o par mais forte é Habitação precária × Moradia não convencional (ρ = 0,9646).</a:t>
            </a:r>
            <a:endParaRPr lang="en-US" sz="950" dirty="0"/>
          </a:p>
        </p:txBody>
      </p:sp>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F34 · figuras/F34_mapa_spearman_morfologia.png</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46</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Demografia: o par mais correlacionado é Pessoas 60+ × Dependência idosa (ρ = 0,9957)</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35_mapa_spearman_demografia.png">    </p:cNvPr>
          <p:cNvPicPr>
            <a:picLocks noChangeAspect="1"/>
          </p:cNvPicPr>
          <p:nvPr/>
        </p:nvPicPr>
        <p:blipFill>
          <a:blip r:embed="rId1"/>
          <a:stretch>
            <a:fillRect/>
          </a:stretch>
        </p:blipFill>
        <p:spPr>
          <a:xfrm>
            <a:off x="3525696" y="1243584"/>
            <a:ext cx="5137560" cy="4288536"/>
          </a:xfrm>
          <a:prstGeom prst="rect">
            <a:avLst/>
          </a:prstGeom>
        </p:spPr>
      </p:pic>
      <p:sp>
        <p:nvSpPr>
          <p:cNvPr id="6" name="Text 3"/>
          <p:cNvSpPr/>
          <p:nvPr/>
        </p:nvSpPr>
        <p:spPr>
          <a:xfrm>
            <a:off x="777240" y="5577840"/>
            <a:ext cx="10634472" cy="502920"/>
          </a:xfrm>
          <a:prstGeom prst="rect">
            <a:avLst/>
          </a:prstGeom>
          <a:noFill/>
          <a:ln/>
        </p:spPr>
        <p:txBody>
          <a:bodyPr wrap="square" lIns="0" tIns="0" rIns="0" bIns="0" rtlCol="0" anchor="t"/>
          <a:lstStyle/>
          <a:p>
            <a:pPr indent="0" marL="0">
              <a:buNone/>
            </a:pPr>
            <a:r>
              <a:rPr lang="en-US" sz="950" b="1" dirty="0">
                <a:solidFill>
                  <a:srgbClr val="1A1A18"/>
                </a:solidFill>
                <a:latin typeface="Cambria" pitchFamily="34" charset="0"/>
                <a:ea typeface="Cambria" pitchFamily="34" charset="-122"/>
                <a:cs typeface="Cambria" pitchFamily="34" charset="-120"/>
              </a:rPr>
              <a:t>Como ler  </a:t>
            </a:r>
            <a:pPr indent="0" marL="0">
              <a:buNone/>
            </a:pPr>
            <a:r>
              <a:rPr lang="en-US" sz="950" dirty="0">
                <a:solidFill>
                  <a:srgbClr val="1A1A18"/>
                </a:solidFill>
                <a:latin typeface="Cambria" pitchFamily="34" charset="0"/>
                <a:ea typeface="Cambria" pitchFamily="34" charset="-122"/>
                <a:cs typeface="Cambria" pitchFamily="34" charset="-120"/>
              </a:rPr>
              <a:t>Matriz de Spearman só com os indicadores da dimensão Demografia; cada célula traz o ρ (−1 a 1). Argila é correlação positiva, petróleo negativa.  </a:t>
            </a:r>
            <a:pPr indent="0" marL="0">
              <a:buNone/>
            </a:pPr>
            <a:r>
              <a:rPr lang="en-US" sz="950" b="1" dirty="0">
                <a:solidFill>
                  <a:srgbClr val="8C2F27"/>
                </a:solidFill>
                <a:latin typeface="Cambria" pitchFamily="34" charset="0"/>
                <a:ea typeface="Cambria" pitchFamily="34" charset="-122"/>
                <a:cs typeface="Cambria" pitchFamily="34" charset="-120"/>
              </a:rPr>
              <a:t>O que mostra  </a:t>
            </a:r>
            <a:pPr indent="0" marL="0">
              <a:buNone/>
            </a:pPr>
            <a:r>
              <a:rPr lang="en-US" sz="950" dirty="0">
                <a:solidFill>
                  <a:srgbClr val="1A1A18"/>
                </a:solidFill>
                <a:latin typeface="Cambria" pitchFamily="34" charset="0"/>
                <a:ea typeface="Cambria" pitchFamily="34" charset="-122"/>
                <a:cs typeface="Cambria" pitchFamily="34" charset="-120"/>
              </a:rPr>
              <a:t>Na dimensão Demografia, o par mais forte é Pessoas 60+ × Dependência idosa (ρ = 0,9957).</a:t>
            </a:r>
            <a:endParaRPr lang="en-US" sz="950" dirty="0"/>
          </a:p>
        </p:txBody>
      </p:sp>
      <p:sp>
        <p:nvSpPr>
          <p:cNvPr id="7"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F35 · figuras/F35_mapa_spearman_demografia.png</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dendrograma junta os indicadores que medem coisas parecidas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18_dendrograma.png">    </p:cNvPr>
          <p:cNvPicPr>
            <a:picLocks noChangeAspect="1"/>
          </p:cNvPicPr>
          <p:nvPr/>
        </p:nvPicPr>
        <p:blipFill>
          <a:blip r:embed="rId1"/>
          <a:stretch>
            <a:fillRect/>
          </a:stretch>
        </p:blipFill>
        <p:spPr>
          <a:xfrm>
            <a:off x="2229445" y="1243584"/>
            <a:ext cx="4547950"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indicador é uma folha à esquerda; as linhas os unem do mais parecido para o menos. Quanto mais à esquerda a união, mais correlacionados os indicadores.</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par mais próximo é Renda média × Renda sem o extremo (ρ = 1,0000).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F18 · figuras/F18_dendrograma.png</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indicadores separam as favelas com força muito diferente</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19_fcu_por_indicador.png">    </p:cNvPr>
          <p:cNvPicPr>
            <a:picLocks noChangeAspect="1"/>
          </p:cNvPicPr>
          <p:nvPr/>
        </p:nvPicPr>
        <p:blipFill>
          <a:blip r:embed="rId1"/>
          <a:stretch>
            <a:fillRect/>
          </a:stretch>
        </p:blipFill>
        <p:spPr>
          <a:xfrm>
            <a:off x="1614498" y="1243584"/>
            <a:ext cx="5777844"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À esquerda, a AUC de cada indicador (barras a partir de 0,5; argila acima, petróleo abaixo). À direita, as medianas em FCU e fora, para os indicadores em proporção.</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maior AUC é a de Cor/raça PPI (0,8456); a menor, a de Renda sem o extremo (0,1018).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F19 · figuras/F19_fcu_por_indicador.png</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estrutura etária muda de região para região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20_piramide_etaria.png">    </p:cNvPr>
          <p:cNvPicPr>
            <a:picLocks noChangeAspect="1"/>
          </p:cNvPicPr>
          <p:nvPr/>
        </p:nvPicPr>
        <p:blipFill>
          <a:blip r:embed="rId1"/>
          <a:stretch>
            <a:fillRect/>
          </a:stretch>
        </p:blipFill>
        <p:spPr>
          <a:xfrm>
            <a:off x="777240" y="1243584"/>
            <a:ext cx="7452360" cy="4704523"/>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Barras: percentual da população total em cada faixa etária. Pontos: o mesmo percentual em cada região.</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70+: 7,4% no total e 8,5% no Sul.</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F20 · figuras/F20_piramide_etaria.png</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Pessoas 60+ e renda média: ρ = 0,5189</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21_dispersao_60mais.png">    </p:cNvPr>
          <p:cNvPicPr>
            <a:picLocks noChangeAspect="1"/>
          </p:cNvPicPr>
          <p:nvPr/>
        </p:nvPicPr>
        <p:blipFill>
          <a:blip r:embed="rId1"/>
          <a:stretch>
            <a:fillRect/>
          </a:stretch>
        </p:blipFill>
        <p:spPr>
          <a:xfrm>
            <a:off x="1262353" y="1243584"/>
            <a:ext cx="6482135" cy="4791456"/>
          </a:xfrm>
          <a:prstGeom prst="rect">
            <a:avLst/>
          </a:prstGeom>
        </p:spPr>
      </p:pic>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hexágono reúne setores com valores parecidos; quanto mais escuro, mais setores. Eixo horizontal: renda média em escala logarítmica; vertical: proporção de pessoas de 60 anos ou mais.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correlação de Spearman entre as duas é 0,5189.</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F21 · figuras/F21_dispersao_60mais.png</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que a EDA da versão final mostra</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335024"/>
            <a:ext cx="10634472" cy="4700016"/>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104.108 setores no recorte e 73.878 na amostra do índice; a perda vem sobretudo do sigilo, que se concentra nos setores pequenos.</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Os indicadores de saneamento têm mediana zero; o mais assimétrico é Sem banheiro nem sanitário (assimetria 68,98).</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Contra as favelas, o indicador que mais separa sozinho é Cor/raça PPI (AUC 0,8456).</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A renda tem 66 setores suspeitos e 3.292 extremos coerentes; as variantes de renda tratam o extremo de BH.</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As demandas 1, 2, 5, 6, 7 e 9 estão atendidas com os dados acima; o que entra no índice é decisão da orientadora.</a:t>
            </a:r>
            <a:endParaRPr lang="en-US" sz="1400" dirty="0"/>
          </a:p>
        </p:txBody>
      </p:sp>
      <p:sp>
        <p:nvSpPr>
          <p:cNvPr id="6"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T01 · T03 · T11 · T15</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52</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3</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 análise fatorial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A grade ampliada das demandas, as especificações do NB05, a referência e a robustez</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53</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A grade das demandas: com as quatro variáveis novas (S6), o KMO sobe para 0,8100 e Horn pede 4 fatores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846859"/>
                <a:gridCol w="2709949"/>
                <a:gridCol w="677487"/>
                <a:gridCol w="719830"/>
                <a:gridCol w="592801"/>
                <a:gridCol w="550458"/>
                <a:gridCol w="508115"/>
                <a:gridCol w="846859"/>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Cenário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Variáveis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Demanda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Kaiser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Horn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Var. 2 fatores (%)</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(referência, reproduz o NB04)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87.545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IVS-6 (IVS-7 sem lixo)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87.545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5, 7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78.256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 sem canalização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87.512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 sem banheiro (V00495)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6, 7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75.955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87.545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0,7826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 as quatro ("tudo isso")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69.458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S6 sem lixo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8, 10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69.458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cenário da grade: variáveis, demanda que responde, setores com todos os dados (n), KMO, fatores retidos por Kaiser e por Horn e variância explicada por 2 fatores.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S0 (IVS-7) tem n 87.545 e KMO 0,7826; S6 (tudo isso) tem n 69.458, KMO 0,8100 e 4 fatores por Horn.</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banco_de_dados/eda/fatorial_ampliada/cenarios.csv</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As três rendas e os postos dentro do município, em S0, S1 e S6</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846859"/>
                <a:gridCol w="2709949"/>
                <a:gridCol w="677487"/>
                <a:gridCol w="719830"/>
                <a:gridCol w="592801"/>
                <a:gridCol w="550458"/>
                <a:gridCol w="508115"/>
                <a:gridCol w="846859"/>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Cenário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Variáveis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Demanda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Kaiser</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Horn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Var. 2 fatores (%)</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S0_renda_sem_extremo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(referência, reproduz o NB04), renda sem_extremo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87.544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S0_renda_mediana_mun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(referência, reproduz o NB04), renda mediana_mun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87.545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0,7825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S0_postos_mun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(referência, reproduz o NB04), postos dentro do município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87.545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S1_postos_mun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IVS-6 (IVS-7 sem lixo), postos dentro do município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87.545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0,7938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68,0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S6_renda_sem_extremo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 as quatro ("tudo isso"), renda sem_extremo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69.457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S6_renda_mediana_mun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 as quatro ("tudo isso"), renda mediana_mun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69.458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0132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S6_postos_mun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 as quatro ("tudo isso"), postos dentro do município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69.458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0,7689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Mesmas colunas: as variantes de renda (sem o extremo, com a mediana) e a fatorial com postos percentis dentro do município.</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As rendas não mudam a estrutura; com postos no município, o MSA mínimo de S6 cai para 0,3842.</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banco_de_dados/eda/fatorial_ampliada/cenarios.csv</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matriz de correlação ampliada: o IVS-7 e as quatro variáveis novas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banco_de_dados/eda/fatorial_ampliada/figuras/fa_correlacao_ampliada.png">    </p:cNvPr>
          <p:cNvPicPr>
            <a:picLocks noChangeAspect="1"/>
          </p:cNvPicPr>
          <p:nvPr/>
        </p:nvPicPr>
        <p:blipFill>
          <a:blip r:embed="rId1"/>
          <a:stretch>
            <a:fillRect/>
          </a:stretch>
        </p:blipFill>
        <p:spPr>
          <a:xfrm>
            <a:off x="2053420" y="1243584"/>
            <a:ext cx="4900000"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Correlação de Spearman entre as variáveis; a linha separa as quatro novas (não chega, sem canalização, sem banheiro, não convencional).</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As novas variáveis de água e banheiro se correlacionam com o bloco de saneamento; a moradia não convencional quase não se correlaciona com nada.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banco_de_dados/eda/fatorial_ampliada/figuras/fa_correlacao_ampliada.png</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S6: 4 autovalores acima da linha de Horn</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banco_de_dados/eda/fatorial_ampliada/figuras/fa_scree_s6.png">    </p:cNvPr>
          <p:cNvPicPr>
            <a:picLocks noChangeAspect="1"/>
          </p:cNvPicPr>
          <p:nvPr/>
        </p:nvPicPr>
        <p:blipFill>
          <a:blip r:embed="rId1"/>
          <a:stretch>
            <a:fillRect/>
          </a:stretch>
        </p:blipFill>
        <p:spPr>
          <a:xfrm>
            <a:off x="887916" y="1243584"/>
            <a:ext cx="7231008" cy="4791456"/>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Autovalores de S6 em ordem decrescente, com a linha da análise paralela de Horn.</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Primeiro autovalor 3,8301, segundo 1,5533; Horn no segundo componente: 1,0276.</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banco_de_dados/eda/fatorial_ampliada/figuras/fa_scree_s6.png</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Demandas 3 e 11: o plano fatorial de S6 sem rotação, com Varimax e com promax</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banco_de_dados/eda/fatorial_ampliada/figuras/fa_plano_s6.png">    </p:cNvPr>
          <p:cNvPicPr>
            <a:picLocks noChangeAspect="1"/>
          </p:cNvPicPr>
          <p:nvPr/>
        </p:nvPicPr>
        <p:blipFill>
          <a:blip r:embed="rId1"/>
          <a:stretch>
            <a:fillRect/>
          </a:stretch>
        </p:blipFill>
        <p:spPr>
          <a:xfrm>
            <a:off x="777240" y="1243584"/>
            <a:ext cx="7452360" cy="2660552"/>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Três painéis com as cargas no plano dos fatores 1 e 2; o rótulo de cada eixo vem das cargas.</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As rotações redistribuem as variáveis entre os dois fatores; a promax permite que eles se correlacionem.</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banco_de_dados/eda/fatorial_ampliada/figuras/fa_plano_s6.png</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peso do fator 1 em cada rotação, nos cenários principais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315200" cy="914400"/>
        </p:xfrm>
        <a:graphic>
          <a:graphicData uri="http://schemas.openxmlformats.org/drawingml/2006/table">
            <a:tbl>
              <a:tblPr/>
              <a:tblGrid>
                <a:gridCol w="731520"/>
                <a:gridCol w="1463040"/>
                <a:gridCol w="822960"/>
                <a:gridCol w="822960"/>
                <a:gridCol w="1463040"/>
                <a:gridCol w="1463040"/>
                <a:gridCol w="54864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Cenário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Rotação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F1 (%)</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F2 (%)</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Maior carga F1</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Maior carga F2</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Φ</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sem_rotacao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24,11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varimax</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promax_padrao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74,69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25,31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promax_estrutura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73,40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26,60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Lixo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0,1506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sem_rotacao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77,17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22,83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varimax</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65,01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34,99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promax_padrao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65,82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promax_estrutura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59,64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40,36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sem_rotacao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71,15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28,85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varimax</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56,45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promax_padrao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55,48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promax_estrutura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53,82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0,4348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sem_rotacao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70,96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varimax</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56,63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43,37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promax_padrao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55,90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44,10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promax_estrutura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54,15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45,85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0,4295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cenário e rotação: repartição do peso entre os dois fatores (na promax, pela matriz padrão e pela estrutura), a variável de maior carga em cada fator e a correlação Φ entre fatores.</a:t>
            </a:r>
            <a:endParaRPr lang="en-US" sz="1250" dirty="0"/>
          </a:p>
        </p:txBody>
      </p:sp>
      <p:sp>
        <p:nvSpPr>
          <p:cNvPr id="7" name="Shape 4"/>
          <p:cNvSpPr/>
          <p:nvPr/>
        </p:nvSpPr>
        <p:spPr>
          <a:xfrm>
            <a:off x="8549640" y="2994660"/>
            <a:ext cx="822960" cy="0"/>
          </a:xfrm>
          <a:prstGeom prst="line">
            <a:avLst/>
          </a:prstGeom>
          <a:noFill/>
          <a:ln w="15875">
            <a:solidFill>
              <a:srgbClr val="8C2F27"/>
            </a:solidFill>
            <a:prstDash val="solid"/>
          </a:ln>
        </p:spPr>
      </p:sp>
      <p:sp>
        <p:nvSpPr>
          <p:cNvPr id="8" name="Text 5"/>
          <p:cNvSpPr/>
          <p:nvPr/>
        </p:nvSpPr>
        <p:spPr>
          <a:xfrm>
            <a:off x="8549640" y="30495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Em S1 (IVS-6), o peso do fator 1 fica entre 59,64% e 77,17% conforme a rotação.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banco_de_dados/eda/fatorial_ampliada/pesos.csv</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59</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Demanda 10: o lixo forma fator próprio no IVS-7 e deixa de formar quando entram as variáveis novas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949440" cy="914400"/>
        </p:xfrm>
        <a:graphic>
          <a:graphicData uri="http://schemas.openxmlformats.org/drawingml/2006/table">
            <a:tbl>
              <a:tblPr/>
              <a:tblGrid>
                <a:gridCol w="914400"/>
                <a:gridCol w="3840480"/>
                <a:gridCol w="219456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Cenário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Variáveis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Lixo em fator próprio (Varimax)</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(referência, reproduz o NB04)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IVS-6 (IVS-7 sem lixo)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lixo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 não chega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 sem canalização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 sem banheiro (V00495)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 não convencional</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IVS-7 + as quatro ("tudo isso")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S6 sem lixo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lixo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cenário: o lixo fica sozinho no seu fator na solução Varimax?</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Tirando um município por vez em S0, o lixo muda de situação em 2 das 71 rodadas.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fatorial_ampliada/cenarios.csv · sensibilidade_municipios.csv</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Um município de fora por vez: o peso do fator 1 em S6 varia entre 55,11% e 56,94%</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banco_de_dados/eda/fatorial_ampliada/figuras/fa_sensibilidade_municipios.png">    </p:cNvPr>
          <p:cNvPicPr>
            <a:picLocks noChangeAspect="1"/>
          </p:cNvPicPr>
          <p:nvPr/>
        </p:nvPicPr>
        <p:blipFill>
          <a:blip r:embed="rId1"/>
          <a:stretch>
            <a:fillRect/>
          </a:stretch>
        </p:blipFill>
        <p:spPr>
          <a:xfrm>
            <a:off x="777240" y="1243584"/>
            <a:ext cx="7452360" cy="3543140"/>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peso do fator 1 (Varimax) nas rodadas em que cada município sai da estimação, em S1 e S6.</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S1: de 62,89% a 66,58%; S6: de 55,11% a 56,94%.</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banco_de_dados/eda/fatorial_ampliada/figuras/fa_sensibilidade_municipios.png</a:t>
            </a:r>
            <a:endParaRPr lang="en-US" sz="9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61</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O que o índice acrescenta à renda: a AUC do índice ao lado da renda sozinha e da média de postos</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6858000" cy="914400"/>
        </p:xfrm>
        <a:graphic>
          <a:graphicData uri="http://schemas.openxmlformats.org/drawingml/2006/table">
            <a:tbl>
              <a:tblPr/>
              <a:tblGrid>
                <a:gridCol w="1645920"/>
                <a:gridCol w="1737360"/>
                <a:gridCol w="1737360"/>
                <a:gridCol w="1737360"/>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Cenário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indice_01 (pesos Varimax)</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media simples de postos</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renda invertida sozinha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0,8131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0,8707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0,8365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0,8758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0,8379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0,8681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0,8952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S0_renda_sem_extremo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S0_renda_mediana_mun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0,8382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0,8684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0,8819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S0_postos_mun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0,8528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S1_postos_mun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0,8133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S6_renda_sem_extremo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S6_renda_mediana_mun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0,8953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S6_postos_mun</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0,8651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0,7555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0,8643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cenário: AUC contra as favelas do índice (pesos Varimax), da média simples de postos e da renda invertida sozinha.</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Em S0, índice 0,8377, média de postos 0,8684 e renda sozinha 0,8819.</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banco_de_dados/eda/fatorial_ampliada/validacao_fcu.csv</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NB05: a grade de especificações e a referência proposta</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Shape 3"/>
          <p:cNvSpPr/>
          <p:nvPr/>
        </p:nvSpPr>
        <p:spPr>
          <a:xfrm>
            <a:off x="777240" y="1517904"/>
            <a:ext cx="3300984" cy="0"/>
          </a:xfrm>
          <a:prstGeom prst="line">
            <a:avLst/>
          </a:prstGeom>
          <a:noFill/>
          <a:ln w="12700">
            <a:solidFill>
              <a:srgbClr val="1A1A18"/>
            </a:solidFill>
            <a:prstDash val="solid"/>
          </a:ln>
        </p:spPr>
      </p:sp>
      <p:sp>
        <p:nvSpPr>
          <p:cNvPr id="6" name="Text 4"/>
          <p:cNvSpPr/>
          <p:nvPr/>
        </p:nvSpPr>
        <p:spPr>
          <a:xfrm>
            <a:off x="777240" y="1591056"/>
            <a:ext cx="3300984"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324</a:t>
            </a:r>
            <a:endParaRPr lang="en-US" sz="3000" dirty="0"/>
          </a:p>
        </p:txBody>
      </p:sp>
      <p:sp>
        <p:nvSpPr>
          <p:cNvPr id="7" name="Text 5"/>
          <p:cNvSpPr/>
          <p:nvPr/>
        </p:nvSpPr>
        <p:spPr>
          <a:xfrm>
            <a:off x="777240" y="217627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especificações (renda × lixo × banheiro × rotação × pesos × normalização)</a:t>
            </a:r>
            <a:endParaRPr lang="en-US" sz="1050" dirty="0"/>
          </a:p>
        </p:txBody>
      </p:sp>
      <p:sp>
        <p:nvSpPr>
          <p:cNvPr id="8" name="Shape 6"/>
          <p:cNvSpPr/>
          <p:nvPr/>
        </p:nvSpPr>
        <p:spPr>
          <a:xfrm>
            <a:off x="4443984" y="1517904"/>
            <a:ext cx="3300984" cy="0"/>
          </a:xfrm>
          <a:prstGeom prst="line">
            <a:avLst/>
          </a:prstGeom>
          <a:noFill/>
          <a:ln w="12700">
            <a:solidFill>
              <a:srgbClr val="1A1A18"/>
            </a:solidFill>
            <a:prstDash val="solid"/>
          </a:ln>
        </p:spPr>
      </p:sp>
      <p:sp>
        <p:nvSpPr>
          <p:cNvPr id="9" name="Text 7"/>
          <p:cNvSpPr/>
          <p:nvPr/>
        </p:nvSpPr>
        <p:spPr>
          <a:xfrm>
            <a:off x="4443984" y="1591056"/>
            <a:ext cx="3300984"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192</a:t>
            </a:r>
            <a:endParaRPr lang="en-US" sz="3000" dirty="0"/>
          </a:p>
        </p:txBody>
      </p:sp>
      <p:sp>
        <p:nvSpPr>
          <p:cNvPr id="10" name="Text 8"/>
          <p:cNvSpPr/>
          <p:nvPr/>
        </p:nvSpPr>
        <p:spPr>
          <a:xfrm>
            <a:off x="4443984" y="217627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elegíveis pelos critérios fixados antes de rodar</a:t>
            </a:r>
            <a:endParaRPr lang="en-US" sz="1050" dirty="0"/>
          </a:p>
        </p:txBody>
      </p:sp>
      <p:sp>
        <p:nvSpPr>
          <p:cNvPr id="11" name="Shape 9"/>
          <p:cNvSpPr/>
          <p:nvPr/>
        </p:nvSpPr>
        <p:spPr>
          <a:xfrm>
            <a:off x="8110728" y="1517904"/>
            <a:ext cx="3300984" cy="0"/>
          </a:xfrm>
          <a:prstGeom prst="line">
            <a:avLst/>
          </a:prstGeom>
          <a:noFill/>
          <a:ln w="12700">
            <a:solidFill>
              <a:srgbClr val="8C2F27"/>
            </a:solidFill>
            <a:prstDash val="solid"/>
          </a:ln>
        </p:spPr>
      </p:sp>
      <p:sp>
        <p:nvSpPr>
          <p:cNvPr id="12" name="Text 10"/>
          <p:cNvSpPr/>
          <p:nvPr/>
        </p:nvSpPr>
        <p:spPr>
          <a:xfrm>
            <a:off x="8110728" y="1591056"/>
            <a:ext cx="3300984" cy="566928"/>
          </a:xfrm>
          <a:prstGeom prst="rect">
            <a:avLst/>
          </a:prstGeom>
          <a:noFill/>
          <a:ln/>
        </p:spPr>
        <p:txBody>
          <a:bodyPr wrap="square" lIns="0" tIns="0" rIns="0" bIns="0" rtlCol="0" anchor="ctr"/>
          <a:lstStyle/>
          <a:p>
            <a:pPr indent="0" marL="0">
              <a:buNone/>
            </a:pPr>
            <a:r>
              <a:rPr lang="en-US" sz="3000" b="1" dirty="0">
                <a:solidFill>
                  <a:srgbClr val="8C2F27"/>
                </a:solidFill>
                <a:latin typeface="Cambria" pitchFamily="34" charset="0"/>
                <a:ea typeface="Cambria" pitchFamily="34" charset="-122"/>
                <a:cs typeface="Cambria" pitchFamily="34" charset="-120"/>
              </a:rPr>
              <a:t>0,8186</a:t>
            </a:r>
            <a:endParaRPr lang="en-US" sz="3000" dirty="0"/>
          </a:p>
        </p:txBody>
      </p:sp>
      <p:sp>
        <p:nvSpPr>
          <p:cNvPr id="13" name="Text 11"/>
          <p:cNvSpPr/>
          <p:nvPr/>
        </p:nvSpPr>
        <p:spPr>
          <a:xfrm>
            <a:off x="8110728" y="2176272"/>
            <a:ext cx="3300984"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AUC municipal da referência proposta</a:t>
            </a:r>
            <a:endParaRPr lang="en-US" sz="1050" dirty="0"/>
          </a:p>
        </p:txBody>
      </p:sp>
      <p:sp>
        <p:nvSpPr>
          <p:cNvPr id="14" name="Text 12"/>
          <p:cNvSpPr/>
          <p:nvPr/>
        </p:nvSpPr>
        <p:spPr>
          <a:xfrm>
            <a:off x="777240" y="3026664"/>
            <a:ext cx="10634472" cy="3008376"/>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Leitura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Referência proposta: original·lixo_sem·banheiro_graduado·promax·60_40·municipal. Por quê: melhor posição média entre 96 elegíveis (normalização municipal): estabilidade 24.5º, AUC municipal 43º, parcimônia 48.5º; amplitude zero por construção (peso de F1 fixo).</a:t>
            </a:r>
            <a:endParaRPr lang="en-US" sz="1250" dirty="0"/>
          </a:p>
        </p:txBody>
      </p:sp>
      <p:sp>
        <p:nvSpPr>
          <p:cNvPr id="15" name="Text 13"/>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ivs_especificacoes/especificacoes.csv · avaliacao.csv · referencia.csv</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AUC das especificações do NB05</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banco_de_dados/eda/ivs_especificacoes/figuras/auc_por_especificacao.png">    </p:cNvPr>
          <p:cNvPicPr>
            <a:picLocks noChangeAspect="1"/>
          </p:cNvPicPr>
          <p:nvPr/>
        </p:nvPicPr>
        <p:blipFill>
          <a:blip r:embed="rId1"/>
          <a:stretch>
            <a:fillRect/>
          </a:stretch>
        </p:blipFill>
        <p:spPr>
          <a:xfrm>
            <a:off x="777240" y="1243584"/>
            <a:ext cx="7452360" cy="2980944"/>
          </a:xfrm>
          <a:prstGeom prst="rect">
            <a:avLst/>
          </a:prstGeom>
        </p:spPr>
      </p:pic>
      <p:sp>
        <p:nvSpPr>
          <p:cNvPr id="6" name="Text 3"/>
          <p:cNvSpPr/>
          <p:nvPr/>
        </p:nvSpPr>
        <p:spPr>
          <a:xfrm>
            <a:off x="8549640" y="128930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A AUC contra as favelas de cada especificação.</a:t>
            </a:r>
            <a:endParaRPr lang="en-US" sz="1250" dirty="0"/>
          </a:p>
        </p:txBody>
      </p:sp>
      <p:sp>
        <p:nvSpPr>
          <p:cNvPr id="7" name="Shape 4"/>
          <p:cNvSpPr/>
          <p:nvPr/>
        </p:nvSpPr>
        <p:spPr>
          <a:xfrm>
            <a:off x="8549640" y="2156460"/>
            <a:ext cx="822960" cy="0"/>
          </a:xfrm>
          <a:prstGeom prst="line">
            <a:avLst/>
          </a:prstGeom>
          <a:noFill/>
          <a:ln w="15875">
            <a:solidFill>
              <a:srgbClr val="8C2F27"/>
            </a:solidFill>
            <a:prstDash val="solid"/>
          </a:ln>
        </p:spPr>
      </p:sp>
      <p:sp>
        <p:nvSpPr>
          <p:cNvPr id="8" name="Text 5"/>
          <p:cNvSpPr/>
          <p:nvPr/>
        </p:nvSpPr>
        <p:spPr>
          <a:xfrm>
            <a:off x="8549640" y="22113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Ver as tabelas do NB05 em banco_de_dados/eda/ivs_especificacoes/.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banco_de_dados/eda/ivs_especificacoes/figuras/auc_por_especificacao.png</a:t>
            </a:r>
            <a:endParaRPr lang="en-US" sz="9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peso do fator socioeconômico nas especificações do NB05</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banco_de_dados/eda/ivs_especificacoes/figuras/peso_f1_por_especificacao.png">    </p:cNvPr>
          <p:cNvPicPr>
            <a:picLocks noChangeAspect="1"/>
          </p:cNvPicPr>
          <p:nvPr/>
        </p:nvPicPr>
        <p:blipFill>
          <a:blip r:embed="rId1"/>
          <a:stretch>
            <a:fillRect/>
          </a:stretch>
        </p:blipFill>
        <p:spPr>
          <a:xfrm>
            <a:off x="777240" y="1243584"/>
            <a:ext cx="7452360" cy="3441376"/>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peso do fator 1 em cada especificação e a amplitude entre municípios.</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Ver as tabelas do NB05 em banco_de_dados/eda/ivs_especificacoes/.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banco_de_dados/eda/ivs_especificacoes/figuras/peso_f1_por_especificacao.png</a:t>
            </a:r>
            <a:endParaRPr lang="en-US" sz="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concordância das faixas entre especificações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banco_de_dados/eda/ivs_especificacoes/figuras/concordancia_faixas.png">    </p:cNvPr>
          <p:cNvPicPr>
            <a:picLocks noChangeAspect="1"/>
          </p:cNvPicPr>
          <p:nvPr/>
        </p:nvPicPr>
        <p:blipFill>
          <a:blip r:embed="rId1"/>
          <a:stretch>
            <a:fillRect/>
          </a:stretch>
        </p:blipFill>
        <p:spPr>
          <a:xfrm>
            <a:off x="777240" y="1243584"/>
            <a:ext cx="7452360" cy="2215566"/>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Quanto as faixas de vulnerabilidade concordam entre especificações.</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Ver as tabelas do NB05 em banco_de_dados/eda/ivs_especificacoes/.</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banco_de_dados/eda/ivs_especificacoes/figuras/concordancia_faixas.png</a:t>
            </a:r>
            <a:endParaRPr lang="en-US" sz="9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fatorial da referência proposta</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Shape 3"/>
          <p:cNvSpPr/>
          <p:nvPr/>
        </p:nvSpPr>
        <p:spPr>
          <a:xfrm>
            <a:off x="777240" y="1517904"/>
            <a:ext cx="2384298" cy="0"/>
          </a:xfrm>
          <a:prstGeom prst="line">
            <a:avLst/>
          </a:prstGeom>
          <a:noFill/>
          <a:ln w="12700">
            <a:solidFill>
              <a:srgbClr val="1A1A18"/>
            </a:solidFill>
            <a:prstDash val="solid"/>
          </a:ln>
        </p:spPr>
      </p:sp>
      <p:sp>
        <p:nvSpPr>
          <p:cNvPr id="6" name="Text 4"/>
          <p:cNvSpPr/>
          <p:nvPr/>
        </p:nvSpPr>
        <p:spPr>
          <a:xfrm>
            <a:off x="777240" y="1591056"/>
            <a:ext cx="2384298"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0,7807</a:t>
            </a:r>
            <a:endParaRPr lang="en-US" sz="3000" dirty="0"/>
          </a:p>
        </p:txBody>
      </p:sp>
      <p:sp>
        <p:nvSpPr>
          <p:cNvPr id="7" name="Text 5"/>
          <p:cNvSpPr/>
          <p:nvPr/>
        </p:nvSpPr>
        <p:spPr>
          <a:xfrm>
            <a:off x="777240" y="2176272"/>
            <a:ext cx="2384298"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KMO</a:t>
            </a:r>
            <a:endParaRPr lang="en-US" sz="1050" dirty="0"/>
          </a:p>
        </p:txBody>
      </p:sp>
      <p:sp>
        <p:nvSpPr>
          <p:cNvPr id="8" name="Shape 6"/>
          <p:cNvSpPr/>
          <p:nvPr/>
        </p:nvSpPr>
        <p:spPr>
          <a:xfrm>
            <a:off x="3527298" y="1517904"/>
            <a:ext cx="2384298" cy="0"/>
          </a:xfrm>
          <a:prstGeom prst="line">
            <a:avLst/>
          </a:prstGeom>
          <a:noFill/>
          <a:ln w="12700">
            <a:solidFill>
              <a:srgbClr val="1A1A18"/>
            </a:solidFill>
            <a:prstDash val="solid"/>
          </a:ln>
        </p:spPr>
      </p:sp>
      <p:sp>
        <p:nvSpPr>
          <p:cNvPr id="9" name="Text 7"/>
          <p:cNvSpPr/>
          <p:nvPr/>
        </p:nvSpPr>
        <p:spPr>
          <a:xfrm>
            <a:off x="3527298" y="1591056"/>
            <a:ext cx="2384298"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2</a:t>
            </a:r>
            <a:endParaRPr lang="en-US" sz="3000" dirty="0"/>
          </a:p>
        </p:txBody>
      </p:sp>
      <p:sp>
        <p:nvSpPr>
          <p:cNvPr id="10" name="Text 8"/>
          <p:cNvSpPr/>
          <p:nvPr/>
        </p:nvSpPr>
        <p:spPr>
          <a:xfrm>
            <a:off x="3527298" y="2176272"/>
            <a:ext cx="2384298"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fatores por Kaiser</a:t>
            </a:r>
            <a:endParaRPr lang="en-US" sz="1050" dirty="0"/>
          </a:p>
        </p:txBody>
      </p:sp>
      <p:sp>
        <p:nvSpPr>
          <p:cNvPr id="11" name="Shape 9"/>
          <p:cNvSpPr/>
          <p:nvPr/>
        </p:nvSpPr>
        <p:spPr>
          <a:xfrm>
            <a:off x="6277356" y="1517904"/>
            <a:ext cx="2384298" cy="0"/>
          </a:xfrm>
          <a:prstGeom prst="line">
            <a:avLst/>
          </a:prstGeom>
          <a:noFill/>
          <a:ln w="12700">
            <a:solidFill>
              <a:srgbClr val="1A1A18"/>
            </a:solidFill>
            <a:prstDash val="solid"/>
          </a:ln>
        </p:spPr>
      </p:sp>
      <p:sp>
        <p:nvSpPr>
          <p:cNvPr id="12" name="Text 10"/>
          <p:cNvSpPr/>
          <p:nvPr/>
        </p:nvSpPr>
        <p:spPr>
          <a:xfrm>
            <a:off x="6277356" y="1591056"/>
            <a:ext cx="2384298" cy="566928"/>
          </a:xfrm>
          <a:prstGeom prst="rect">
            <a:avLst/>
          </a:prstGeom>
          <a:noFill/>
          <a:ln/>
        </p:spPr>
        <p:txBody>
          <a:bodyPr wrap="square" lIns="0" tIns="0" rIns="0" bIns="0" rtlCol="0" anchor="ctr"/>
          <a:lstStyle/>
          <a:p>
            <a:pPr indent="0" marL="0">
              <a:buNone/>
            </a:pPr>
            <a:r>
              <a:rPr lang="en-US" sz="3000" b="1" dirty="0">
                <a:solidFill>
                  <a:srgbClr val="1A1A18"/>
                </a:solidFill>
                <a:latin typeface="Cambria" pitchFamily="34" charset="0"/>
                <a:ea typeface="Cambria" pitchFamily="34" charset="-122"/>
                <a:cs typeface="Cambria" pitchFamily="34" charset="-120"/>
              </a:rPr>
              <a:t>2</a:t>
            </a:r>
            <a:endParaRPr lang="en-US" sz="3000" dirty="0"/>
          </a:p>
        </p:txBody>
      </p:sp>
      <p:sp>
        <p:nvSpPr>
          <p:cNvPr id="13" name="Text 11"/>
          <p:cNvSpPr/>
          <p:nvPr/>
        </p:nvSpPr>
        <p:spPr>
          <a:xfrm>
            <a:off x="6277356" y="2176272"/>
            <a:ext cx="2384298"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fatores por Horn</a:t>
            </a:r>
            <a:endParaRPr lang="en-US" sz="1050" dirty="0"/>
          </a:p>
        </p:txBody>
      </p:sp>
      <p:sp>
        <p:nvSpPr>
          <p:cNvPr id="14" name="Shape 12"/>
          <p:cNvSpPr/>
          <p:nvPr/>
        </p:nvSpPr>
        <p:spPr>
          <a:xfrm>
            <a:off x="9027414" y="1517904"/>
            <a:ext cx="2384298" cy="0"/>
          </a:xfrm>
          <a:prstGeom prst="line">
            <a:avLst/>
          </a:prstGeom>
          <a:noFill/>
          <a:ln w="12700">
            <a:solidFill>
              <a:srgbClr val="8C2F27"/>
            </a:solidFill>
            <a:prstDash val="solid"/>
          </a:ln>
        </p:spPr>
      </p:sp>
      <p:sp>
        <p:nvSpPr>
          <p:cNvPr id="15" name="Text 13"/>
          <p:cNvSpPr/>
          <p:nvPr/>
        </p:nvSpPr>
        <p:spPr>
          <a:xfrm>
            <a:off x="9027414" y="1591056"/>
            <a:ext cx="2384298" cy="566928"/>
          </a:xfrm>
          <a:prstGeom prst="rect">
            <a:avLst/>
          </a:prstGeom>
          <a:noFill/>
          <a:ln/>
        </p:spPr>
        <p:txBody>
          <a:bodyPr wrap="square" lIns="0" tIns="0" rIns="0" bIns="0" rtlCol="0" anchor="ctr"/>
          <a:lstStyle/>
          <a:p>
            <a:pPr indent="0" marL="0">
              <a:buNone/>
            </a:pPr>
            <a:r>
              <a:rPr lang="en-US" sz="3000" b="1" dirty="0">
                <a:solidFill>
                  <a:srgbClr val="8C2F27"/>
                </a:solidFill>
                <a:latin typeface="Cambria" pitchFamily="34" charset="0"/>
                <a:ea typeface="Cambria" pitchFamily="34" charset="-122"/>
                <a:cs typeface="Cambria" pitchFamily="34" charset="-120"/>
              </a:rPr>
              <a:t>60,8%</a:t>
            </a:r>
            <a:endParaRPr lang="en-US" sz="3000" dirty="0"/>
          </a:p>
        </p:txBody>
      </p:sp>
      <p:sp>
        <p:nvSpPr>
          <p:cNvPr id="16" name="Text 14"/>
          <p:cNvSpPr/>
          <p:nvPr/>
        </p:nvSpPr>
        <p:spPr>
          <a:xfrm>
            <a:off x="9027414" y="2176272"/>
            <a:ext cx="2384298" cy="384048"/>
          </a:xfrm>
          <a:prstGeom prst="rect">
            <a:avLst/>
          </a:prstGeom>
          <a:noFill/>
          <a:ln/>
        </p:spPr>
        <p:txBody>
          <a:bodyPr wrap="square" lIns="0" tIns="0" rIns="0" bIns="0" rtlCol="0" anchor="ctr"/>
          <a:lstStyle/>
          <a:p>
            <a:pPr indent="0" marL="0">
              <a:buNone/>
            </a:pPr>
            <a:r>
              <a:rPr lang="en-US" sz="1050" dirty="0">
                <a:solidFill>
                  <a:srgbClr val="56534C"/>
                </a:solidFill>
                <a:latin typeface="Cambria" pitchFamily="34" charset="0"/>
                <a:ea typeface="Cambria" pitchFamily="34" charset="-122"/>
                <a:cs typeface="Cambria" pitchFamily="34" charset="-120"/>
              </a:rPr>
              <a:t>variância explicada por 2 fatores</a:t>
            </a:r>
            <a:endParaRPr lang="en-US" sz="1050" dirty="0"/>
          </a:p>
        </p:txBody>
      </p:sp>
      <p:sp>
        <p:nvSpPr>
          <p:cNvPr id="17" name="Text 15"/>
          <p:cNvSpPr/>
          <p:nvPr/>
        </p:nvSpPr>
        <p:spPr>
          <a:xfrm>
            <a:off x="777240" y="3026664"/>
            <a:ext cx="10634472" cy="3008376"/>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Leitura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KMO (Kaiser-Meyer-Olkin) compara as correlações entre as variáveis com as correlações parciais: perto de 1, as variáveis compartilham muita informação e a fatorial faz sentido; o critério do projeto é pelo menos 0,70. O teste de Bartlett verifica se a matriz de correlação é diferente da identidade (variáveis sem relação); com tantos setores, ele sempre rejeita. O critério de Kaiser retém fatores com autovalor acima de 1; a análise paralela de Horn, mais conservadora, retém os fatores cujo autovalor supera o que dados aleatórios do mesmo tamanho produziriam. A correlação usada é a de Spearman, como no NB04.</a:t>
            </a:r>
            <a:endParaRPr lang="en-US" sz="1250" dirty="0"/>
          </a:p>
        </p:txBody>
      </p:sp>
      <p:sp>
        <p:nvSpPr>
          <p:cNvPr id="18" name="Text 1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T19</a:t>
            </a:r>
            <a:endParaRPr lang="en-US" sz="9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Gráfico de sedimentação: dois componentes acima do acaso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22_sedimentacao_horn.png">    </p:cNvPr>
          <p:cNvPicPr>
            <a:picLocks noChangeAspect="1"/>
          </p:cNvPicPr>
          <p:nvPr/>
        </p:nvPicPr>
        <p:blipFill>
          <a:blip r:embed="rId1"/>
          <a:stretch>
            <a:fillRect/>
          </a:stretch>
        </p:blipFill>
        <p:spPr>
          <a:xfrm>
            <a:off x="777240" y="1243584"/>
            <a:ext cx="7452360" cy="449429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Linha cheia: autovalores em ordem decrescente. Tracejada: o que dados aleatórios produziriam (Horn). Pontilhada: o critério de Kaiser (autovalor 1).</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segundo autovalor é 1,0708, contra 1,0155 da linha de Horn.</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F22 · figuras/F22_sedimentacao_horn.png</a:t>
            </a:r>
            <a:endParaRPr lang="en-US" sz="9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Renda (invertida) define F1 e Água inadequada define F2</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23_mapa_cargas.png">    </p:cNvPr>
          <p:cNvPicPr>
            <a:picLocks noChangeAspect="1"/>
          </p:cNvPicPr>
          <p:nvPr/>
        </p:nvPicPr>
        <p:blipFill>
          <a:blip r:embed="rId1"/>
          <a:stretch>
            <a:fillRect/>
          </a:stretch>
        </p:blipFill>
        <p:spPr>
          <a:xfrm>
            <a:off x="1742194" y="1243584"/>
            <a:ext cx="5522453" cy="4791456"/>
          </a:xfrm>
          <a:prstGeom prst="rect">
            <a:avLst/>
          </a:prstGeom>
        </p:spPr>
      </p:pic>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seta é um componente; a ponta fica nas cargas padrão da promax em F1 (horizontal) e F2 (vertical). O círculo marca carga 1.</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Maior carga em F1: Renda (invertida) (0,9366); em F2: Água inadequada (0,7829).</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F23 · figuras/F23_mapa_cargas.png</a:t>
            </a:r>
            <a:endParaRPr lang="en-US" sz="9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Renda (invertida) tem o maior peso no índice (19,3%)</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52360" cy="914400"/>
        </p:xfrm>
        <a:graphic>
          <a:graphicData uri="http://schemas.openxmlformats.org/drawingml/2006/table">
            <a:tbl>
              <a:tblPr/>
              <a:tblGrid>
                <a:gridCol w="1975324"/>
                <a:gridCol w="1975324"/>
                <a:gridCol w="897875"/>
                <a:gridCol w="1346812"/>
                <a:gridCol w="1257025"/>
              </a:tblGrid>
              <a:tr h="238633">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Componente</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Dimensão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Carga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da dimensão (%)</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Peso no índice (%)</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Água inadequada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F2 (saneamento)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Esgoto inadequado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F2 (saneamento)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0,5245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Razão de moradores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 (socioeconômica)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0,5827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Analfabetismo 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 (socioeconômica)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0,8887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Renda (invertida)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 (socioeconômica)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0,9366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19,3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Cor/raça PPI</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F1 (socioeconômica)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0,8506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15,9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Banheiro graduado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F2 (saneamento)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0,7260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14,9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componente: a dimensão em que ele carrega mais, a carga, o peso da dimensão e o peso final no índice (em %).</a:t>
            </a:r>
            <a:endParaRPr lang="en-US" sz="1250" dirty="0"/>
          </a:p>
        </p:txBody>
      </p:sp>
      <p:sp>
        <p:nvSpPr>
          <p:cNvPr id="7" name="Shape 4"/>
          <p:cNvSpPr/>
          <p:nvPr/>
        </p:nvSpPr>
        <p:spPr>
          <a:xfrm>
            <a:off x="8549640" y="2575560"/>
            <a:ext cx="822960" cy="0"/>
          </a:xfrm>
          <a:prstGeom prst="line">
            <a:avLst/>
          </a:prstGeom>
          <a:noFill/>
          <a:ln w="15875">
            <a:solidFill>
              <a:srgbClr val="8C2F27"/>
            </a:solidFill>
            <a:prstDash val="solid"/>
          </a:ln>
        </p:spPr>
      </p:sp>
      <p:sp>
        <p:nvSpPr>
          <p:cNvPr id="8" name="Text 5"/>
          <p:cNvSpPr/>
          <p:nvPr/>
        </p:nvSpPr>
        <p:spPr>
          <a:xfrm>
            <a:off x="8549640" y="2630424"/>
            <a:ext cx="2862072" cy="10668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maior peso é o de Renda (invertida) (19,3%); a dimensão F1 (socioeconômica) pesa 60,0%.</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T23</a:t>
            </a:r>
            <a:endParaRPr lang="en-US" sz="9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Curva ROC do índice contra as favelas (AUC global 0,8309)</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25_curva_roc.png">    </p:cNvPr>
          <p:cNvPicPr>
            <a:picLocks noChangeAspect="1"/>
          </p:cNvPicPr>
          <p:nvPr/>
        </p:nvPicPr>
        <p:blipFill>
          <a:blip r:embed="rId1"/>
          <a:stretch>
            <a:fillRect/>
          </a:stretch>
        </p:blipFill>
        <p:spPr>
          <a:xfrm>
            <a:off x="2074602" y="1243584"/>
            <a:ext cx="4857636" cy="4791456"/>
          </a:xfrm>
          <a:prstGeom prst="rect">
            <a:avLst/>
          </a:prstGeom>
        </p:spPr>
      </p:pic>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Cada ponto da curva é um corte do índice: no eixo vertical, a proporção de setores de FCU acima do corte; no horizontal, a dos setores de fora. A diagonal é o acaso.</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Área sob a curva: 0,8309 (global); a mediana municipal é 0,8186.</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F25 · figuras/F25_curva_roc.png</a:t>
            </a:r>
            <a:endParaRPr lang="en-US" sz="9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A distribuição do índice e as faixas do IVS-BH</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00_referencia/figuras/F24_histograma_por_faixa.png">    </p:cNvPr>
          <p:cNvPicPr>
            <a:picLocks noChangeAspect="1"/>
          </p:cNvPicPr>
          <p:nvPr/>
        </p:nvPicPr>
        <p:blipFill>
          <a:blip r:embed="rId1"/>
          <a:stretch>
            <a:fillRect/>
          </a:stretch>
        </p:blipFill>
        <p:spPr>
          <a:xfrm>
            <a:off x="777240" y="1243584"/>
            <a:ext cx="7452360" cy="4335919"/>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Histograma do índice, com cada barra dividida pela faixa dos setores (regra do IVS-BH).</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6477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28,8% dos setores ficam em baixo e 5,3% em muito elevado.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00_referencia · F24 · figuras/F24_histograma_por_faixa.png</a:t>
            </a:r>
            <a:endParaRPr lang="en-US" sz="9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72</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Com promax, 60/40 (referência), o índice fica com 73.878 setores e ρ = 0,9997 com o valor-padrão</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06640" cy="914400"/>
        </p:xfrm>
        <a:graphic>
          <a:graphicData uri="http://schemas.openxmlformats.org/drawingml/2006/table">
            <a:tbl>
              <a:tblPr/>
              <a:tblGrid>
                <a:gridCol w="2743200"/>
                <a:gridCol w="640080"/>
                <a:gridCol w="822960"/>
                <a:gridCol w="777240"/>
                <a:gridCol w="685800"/>
                <a:gridCol w="914400"/>
                <a:gridCol w="82296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Esquema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 global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Elegível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ρ com o padrão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muda 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0,8160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sem rotação, um fator</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0,8501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0,8468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0,9790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Varimax, soma dos quadrados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0,8378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0,8353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Varimax, 50/50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0,8217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0,8048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0,9956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7,0%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 soma dos quadrados (padrão)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0,9972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5,4%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 soma dos quadrados (estrutura)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 comunalidades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0,9990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3,4%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 50/50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0,8215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0,8032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0,9958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6,2%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promax, 60/40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0,9997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1,8%</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esquema; a primeira é o valor-padrão da versão, as demais as alternativas. ρ e % muda faixa são em relação à primeira linha.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Com promax, 60/40 (referência): 73.878 setores no índice (contra 73.878), AUC municipal 0,8186, ρ = 0,9997 com o valor-padrão e 1,8% dos setores comuns mudando de faixa.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C1_rotacao_e_pesos · T34</a:t>
            </a:r>
            <a:endParaRPr lang="en-US" sz="9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73</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Com componentes principais (referência), o índice fica com 73.878 setores e ρ = 0,9912 com o valor-padrão</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06640" cy="914400"/>
        </p:xfrm>
        <a:graphic>
          <a:graphicData uri="http://schemas.openxmlformats.org/drawingml/2006/table">
            <a:tbl>
              <a:tblPr/>
              <a:tblGrid>
                <a:gridCol w="2743200"/>
                <a:gridCol w="640080"/>
                <a:gridCol w="822960"/>
                <a:gridCol w="777240"/>
                <a:gridCol w="685800"/>
                <a:gridCol w="914400"/>
                <a:gridCol w="82296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Esquema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 global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Elegível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ρ com o padrão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muda 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0,8269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0,8064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máxima verossimilhança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0,8311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0,8105</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não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componentes principais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0,9912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9,2%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esquema; a primeira é o valor-padrão da versão, as demais as alternativas. ρ e % muda faixa são em relação à primeira linha.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Com componentes principais (referência): 73.878 setores no índice (contra 73.878), AUC municipal 0,8186, ρ = 0,9912 com o valor-padrão e 9,2% dos setores comuns mudando de faixa.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C2_extracao · T34</a:t>
            </a:r>
            <a:endParaRPr lang="en-US" sz="9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74</a:t>
            </a:r>
            <a:endParaRPr lang="en-US" sz="1000" dirty="0"/>
          </a:p>
        </p:txBody>
      </p:sp>
      <p:sp>
        <p:nvSpPr>
          <p:cNvPr id="3" name="Text 1"/>
          <p:cNvSpPr/>
          <p:nvPr/>
        </p:nvSpPr>
        <p:spPr>
          <a:xfrm>
            <a:off x="777240" y="182880"/>
            <a:ext cx="10634472" cy="786384"/>
          </a:xfrm>
          <a:prstGeom prst="rect">
            <a:avLst/>
          </a:prstGeom>
          <a:noFill/>
          <a:ln/>
        </p:spPr>
        <p:txBody>
          <a:bodyPr wrap="square" lIns="0" tIns="0" rIns="0" bIns="0" rtlCol="0" anchor="b"/>
          <a:lstStyle/>
          <a:p>
            <a:pPr indent="0" marL="0">
              <a:buNone/>
            </a:pPr>
            <a:r>
              <a:rPr lang="en-US" sz="2000" b="1" dirty="0">
                <a:solidFill>
                  <a:srgbClr val="1A1A18"/>
                </a:solidFill>
                <a:latin typeface="Cambria" pitchFamily="34" charset="0"/>
                <a:ea typeface="Cambria" pitchFamily="34" charset="-122"/>
                <a:cs typeface="Cambria" pitchFamily="34" charset="-120"/>
              </a:rPr>
              <a:t>Com especialista: 60/40 (referência), o índice fica com 73.878 setores e ρ = 0,9977 com o valor-padrão</a:t>
            </a:r>
            <a:endParaRPr lang="en-US" sz="2000" dirty="0"/>
          </a:p>
        </p:txBody>
      </p:sp>
      <p:sp>
        <p:nvSpPr>
          <p:cNvPr id="4" name="Shape 2"/>
          <p:cNvSpPr/>
          <p:nvPr/>
        </p:nvSpPr>
        <p:spPr>
          <a:xfrm>
            <a:off x="777240" y="1042416"/>
            <a:ext cx="10634472" cy="0"/>
          </a:xfrm>
          <a:prstGeom prst="line">
            <a:avLst/>
          </a:prstGeom>
          <a:noFill/>
          <a:ln w="12700">
            <a:solidFill>
              <a:srgbClr val="1A1A18"/>
            </a:solidFill>
            <a:prstDash val="solid"/>
          </a:ln>
        </p:spPr>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777240" y="1243584"/>
          <a:ext cx="7406640" cy="914400"/>
        </p:xfrm>
        <a:graphic>
          <a:graphicData uri="http://schemas.openxmlformats.org/drawingml/2006/table">
            <a:tbl>
              <a:tblPr/>
              <a:tblGrid>
                <a:gridCol w="2743200"/>
                <a:gridCol w="640080"/>
                <a:gridCol w="822960"/>
                <a:gridCol w="777240"/>
                <a:gridCol w="685800"/>
                <a:gridCol w="914400"/>
                <a:gridCol w="822960"/>
              </a:tblGrid>
              <a:tr h="385826">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Esquema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KMO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 global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AUC mun.</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Elegível</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ρ com o padrão</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50" b="1" dirty="0">
                          <a:solidFill>
                            <a:srgbClr val="1A1A18"/>
                          </a:solidFill>
                          <a:latin typeface="Cambria" pitchFamily="34" charset="0"/>
                          <a:ea typeface="Cambria" pitchFamily="34" charset="-122"/>
                          <a:cs typeface="Cambria" pitchFamily="34" charset="-120"/>
                        </a:rPr>
                        <a:t>% muda faixa</a:t>
                      </a:r>
                      <a:endParaRPr lang="en-US" sz="9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valor-padrão desta versão</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0,8373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0,8374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1,0000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dados: soma dos quadrados (estrutura)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0,8330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0,8250</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0,9989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dados: comunalidades</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0,8342</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0,8286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0,9994</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2,1%</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380">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especialista: 60/40 (referência)</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0,7807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0,8309</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0,8186</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sim</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0,9977</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00" dirty="0">
                          <a:solidFill>
                            <a:srgbClr val="1A1A18"/>
                          </a:solidFill>
                          <a:latin typeface="Cambria" pitchFamily="34" charset="0"/>
                          <a:ea typeface="Cambria" pitchFamily="34" charset="-122"/>
                          <a:cs typeface="Cambria" pitchFamily="34" charset="-120"/>
                        </a:rPr>
                        <a:t>4,3%</a:t>
                      </a:r>
                      <a:endParaRPr lang="en-US" sz="10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Text 3"/>
          <p:cNvSpPr/>
          <p:nvPr/>
        </p:nvSpPr>
        <p:spPr>
          <a:xfrm>
            <a:off x="8549640" y="1289304"/>
            <a:ext cx="2862072" cy="12763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linha por esquema; a primeira é o valor-padrão da versão, as demais as alternativas. ρ e % muda faixa são em relação à primeira linha.</a:t>
            </a:r>
            <a:endParaRPr lang="en-US" sz="1250" dirty="0"/>
          </a:p>
        </p:txBody>
      </p:sp>
      <p:sp>
        <p:nvSpPr>
          <p:cNvPr id="7" name="Shape 4"/>
          <p:cNvSpPr/>
          <p:nvPr/>
        </p:nvSpPr>
        <p:spPr>
          <a:xfrm>
            <a:off x="8549640" y="2785110"/>
            <a:ext cx="822960" cy="0"/>
          </a:xfrm>
          <a:prstGeom prst="line">
            <a:avLst/>
          </a:prstGeom>
          <a:noFill/>
          <a:ln w="15875">
            <a:solidFill>
              <a:srgbClr val="8C2F27"/>
            </a:solidFill>
            <a:prstDash val="solid"/>
          </a:ln>
        </p:spPr>
      </p:sp>
      <p:sp>
        <p:nvSpPr>
          <p:cNvPr id="8" name="Text 5"/>
          <p:cNvSpPr/>
          <p:nvPr/>
        </p:nvSpPr>
        <p:spPr>
          <a:xfrm>
            <a:off x="8549640" y="2839974"/>
            <a:ext cx="2862072" cy="148590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Com especialista: 60/40 (referência): 73.878 setores no índice (contra 73.878), AUC municipal 0,8186, ρ = 0,9977 com o valor-padrão e 4,3% dos setores comuns mudando de faixa.</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D5_especialista_x_dados · T34</a:t>
            </a:r>
            <a:endParaRPr lang="en-US" sz="9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Os pesos variam pouco nas reamostragens</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E2_estabilidade/figuras/F43_pesos_reamostragem.png">    </p:cNvPr>
          <p:cNvPicPr>
            <a:picLocks noChangeAspect="1"/>
          </p:cNvPicPr>
          <p:nvPr/>
        </p:nvPicPr>
        <p:blipFill>
          <a:blip r:embed="rId1"/>
          <a:stretch>
            <a:fillRect/>
          </a:stretch>
        </p:blipFill>
        <p:spPr>
          <a:xfrm>
            <a:off x="791121" y="1243584"/>
            <a:ext cx="7424598" cy="4791456"/>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caixa por componente com os pesos das reamostragens; o ponto é o peso na referência.</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O intervalo mais largo é o de Banheiro graduado: de 13,9% a 15,8%.</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E2_estabilidade · F43 · figuras/F43_pesos_reamostragem.png</a:t>
            </a:r>
            <a:endParaRPr lang="en-US" sz="9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Quanto o índice muda quando cada município sai da estimação</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pic>
        <p:nvPicPr>
          <p:cNvPr id="5" name="Image 0" descr="/Users/pedro/Documents/Iniciacao Cientifica/Projeto_IVS_Censo22/analises_exploratorias/E2_estabilidade/figuras/F42_um_municipio_de_fora.png">    </p:cNvPr>
          <p:cNvPicPr>
            <a:picLocks noChangeAspect="1"/>
          </p:cNvPicPr>
          <p:nvPr/>
        </p:nvPicPr>
        <p:blipFill>
          <a:blip r:embed="rId1"/>
          <a:stretch>
            <a:fillRect/>
          </a:stretch>
        </p:blipFill>
        <p:spPr>
          <a:xfrm>
            <a:off x="2893709" y="1243584"/>
            <a:ext cx="3219422" cy="4791456"/>
          </a:xfrm>
          <a:prstGeom prst="rect">
            <a:avLst/>
          </a:prstGeom>
        </p:spPr>
      </p:pic>
      <p:sp>
        <p:nvSpPr>
          <p:cNvPr id="6" name="Text 3"/>
          <p:cNvSpPr/>
          <p:nvPr/>
        </p:nvSpPr>
        <p:spPr>
          <a:xfrm>
            <a:off x="8549640" y="128930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1A1A18"/>
                </a:solidFill>
                <a:latin typeface="Cambria" pitchFamily="34" charset="0"/>
                <a:ea typeface="Cambria" pitchFamily="34" charset="-122"/>
                <a:cs typeface="Cambria" pitchFamily="34" charset="-120"/>
              </a:rPr>
              <a:t>Como ler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Uma barra por município excluído, com o percentual de setores que mudam de faixa.</a:t>
            </a:r>
            <a:endParaRPr lang="en-US" sz="1250" dirty="0"/>
          </a:p>
        </p:txBody>
      </p:sp>
      <p:sp>
        <p:nvSpPr>
          <p:cNvPr id="7" name="Shape 4"/>
          <p:cNvSpPr/>
          <p:nvPr/>
        </p:nvSpPr>
        <p:spPr>
          <a:xfrm>
            <a:off x="8549640" y="2366010"/>
            <a:ext cx="822960" cy="0"/>
          </a:xfrm>
          <a:prstGeom prst="line">
            <a:avLst/>
          </a:prstGeom>
          <a:noFill/>
          <a:ln w="15875">
            <a:solidFill>
              <a:srgbClr val="8C2F27"/>
            </a:solidFill>
            <a:prstDash val="solid"/>
          </a:ln>
        </p:spPr>
      </p:sp>
      <p:sp>
        <p:nvSpPr>
          <p:cNvPr id="8" name="Text 5"/>
          <p:cNvSpPr/>
          <p:nvPr/>
        </p:nvSpPr>
        <p:spPr>
          <a:xfrm>
            <a:off x="8549640" y="2420874"/>
            <a:ext cx="2862072" cy="857250"/>
          </a:xfrm>
          <a:prstGeom prst="rect">
            <a:avLst/>
          </a:prstGeom>
          <a:noFill/>
          <a:ln/>
        </p:spPr>
        <p:txBody>
          <a:bodyPr wrap="square" lIns="0" tIns="0" rIns="0" bIns="0" rtlCol="0" anchor="t"/>
          <a:lstStyle/>
          <a:p>
            <a:pPr indent="0" marL="0">
              <a:lnSpc>
                <a:spcPts val="1650"/>
              </a:lnSpc>
              <a:buNone/>
            </a:pPr>
            <a:r>
              <a:rPr lang="en-US" sz="1250" b="1" dirty="0">
                <a:solidFill>
                  <a:srgbClr val="8C2F27"/>
                </a:solidFill>
                <a:latin typeface="Cambria" pitchFamily="34" charset="0"/>
                <a:ea typeface="Cambria" pitchFamily="34" charset="-122"/>
                <a:cs typeface="Cambria" pitchFamily="34" charset="-120"/>
              </a:rPr>
              <a:t>O que mostra  </a:t>
            </a:r>
            <a:pPr indent="0" marL="0">
              <a:lnSpc>
                <a:spcPts val="1650"/>
              </a:lnSpc>
              <a:buNone/>
            </a:pPr>
            <a:r>
              <a:rPr lang="en-US" sz="1250" dirty="0">
                <a:solidFill>
                  <a:srgbClr val="1A1A18"/>
                </a:solidFill>
                <a:latin typeface="Cambria" pitchFamily="34" charset="0"/>
                <a:ea typeface="Cambria" pitchFamily="34" charset="-122"/>
                <a:cs typeface="Cambria" pitchFamily="34" charset="-120"/>
              </a:rPr>
              <a:t>No máximo, 4,1% dos setores mudam de faixa; o maior efeito é ao tirar São Paulo.</a:t>
            </a:r>
            <a:endParaRPr lang="en-US" sz="1250" dirty="0"/>
          </a:p>
        </p:txBody>
      </p:sp>
      <p:sp>
        <p:nvSpPr>
          <p:cNvPr id="9" name="Text 6"/>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E2_estabilidade · F42 · figuras/F42_um_municipio_de_fora.png</a:t>
            </a:r>
            <a:endParaRPr lang="en-US" sz="9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400" b="1" dirty="0">
                <a:solidFill>
                  <a:srgbClr val="1A1A18"/>
                </a:solidFill>
                <a:latin typeface="Cambria" pitchFamily="34" charset="0"/>
                <a:ea typeface="Cambria" pitchFamily="34" charset="-122"/>
                <a:cs typeface="Cambria" pitchFamily="34" charset="-120"/>
              </a:rPr>
              <a:t>O que fica para a orientadora decidir</a:t>
            </a:r>
            <a:endParaRPr lang="en-US" sz="2400" dirty="0"/>
          </a:p>
        </p:txBody>
      </p:sp>
      <p:sp>
        <p:nvSpPr>
          <p:cNvPr id="4" name="Shape 2"/>
          <p:cNvSpPr/>
          <p:nvPr/>
        </p:nvSpPr>
        <p:spPr>
          <a:xfrm>
            <a:off x="777240" y="1042416"/>
            <a:ext cx="10634472" cy="0"/>
          </a:xfrm>
          <a:prstGeom prst="line">
            <a:avLst/>
          </a:prstGeom>
          <a:noFill/>
          <a:ln w="12700">
            <a:solidFill>
              <a:srgbClr val="1A1A18"/>
            </a:solidFill>
            <a:prstDash val="solid"/>
          </a:ln>
        </p:spPr>
      </p:sp>
      <p:sp>
        <p:nvSpPr>
          <p:cNvPr id="5" name="Text 3"/>
          <p:cNvSpPr/>
          <p:nvPr/>
        </p:nvSpPr>
        <p:spPr>
          <a:xfrm>
            <a:off x="777240" y="1335024"/>
            <a:ext cx="10634472" cy="4700016"/>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Que variáveis entram: lixo (fator próprio no IVS-7), as novas de água e banheiro, a moradia não convencional, a cor ou raça.</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Qual renda: original, sem o extremo ou com a mediana do município (mudam pouco o índice).</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Rotação e pesos: Varimax ou promax; regra 60/40 do IVS-BH ou pesos da fatorial (padrão ou estrutura).</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Normalização e faixas: min-max no município (referência) ou outra; regra do IVS-BH, quartis ou outra.</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Parâmetros exploratórios ainda abertos: piso de população, faixas de porte, composição do IVS-Idoso e do índice de moradia, número de grupos.</a:t>
            </a:r>
            <a:endParaRPr lang="en-US" sz="1400" dirty="0"/>
          </a:p>
          <a:p>
            <a:pPr marL="342900" indent="-342900">
              <a:spcAft>
                <a:spcPts val="900"/>
              </a:spcAft>
              <a:buSzPct val="100000"/>
              <a:buChar char="•"/>
            </a:pPr>
            <a:r>
              <a:rPr lang="en-US" sz="1400" dirty="0">
                <a:solidFill>
                  <a:srgbClr val="1A1A18"/>
                </a:solidFill>
                <a:latin typeface="Cambria" pitchFamily="34" charset="0"/>
                <a:ea typeface="Cambria" pitchFamily="34" charset="-122"/>
                <a:cs typeface="Cambria" pitchFamily="34" charset="-120"/>
              </a:rPr>
              <a:t>Tudo com as alternativas documentadas: analises_exploratorias/PERGUNTAS.md e o Catalogo_Mestre.xlsx.</a:t>
            </a:r>
            <a:endParaRPr lang="en-US" sz="1400" dirty="0"/>
          </a:p>
        </p:txBody>
      </p:sp>
      <p:sp>
        <p:nvSpPr>
          <p:cNvPr id="6" name="Text 4"/>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analises_exploratorias/PERGUNTAS.md</a:t>
            </a:r>
            <a:endParaRPr lang="en-US" sz="9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78</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4</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Catálogo visual: EDA — versão final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As 26 figuras da versão final, identificadas pelo ID, para escolher o que vai para o artigo</a:t>
            </a:r>
            <a:endParaRPr lang="en-US" sz="1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79</a:t>
            </a:r>
            <a:endParaRPr lang="en-US" sz="1000" dirty="0"/>
          </a:p>
        </p:txBody>
      </p:sp>
      <p:sp>
        <p:nvSpPr>
          <p:cNvPr id="3" name="Text 1"/>
          <p:cNvSpPr/>
          <p:nvPr/>
        </p:nvSpPr>
        <p:spPr>
          <a:xfrm>
            <a:off x="777240" y="274320"/>
            <a:ext cx="10634472" cy="411480"/>
          </a:xfrm>
          <a:prstGeom prst="rect">
            <a:avLst/>
          </a:prstGeom>
          <a:noFill/>
          <a:ln/>
        </p:spPr>
        <p:txBody>
          <a:bodyPr wrap="square" lIns="0" tIns="0" rIns="0" bIns="0" rtlCol="0" anchor="ctr"/>
          <a:lstStyle/>
          <a:p>
            <a:pPr indent="0" marL="0">
              <a:buNone/>
            </a:pPr>
            <a:r>
              <a:rPr lang="en-US" sz="1800" b="1" dirty="0">
                <a:solidFill>
                  <a:srgbClr val="1A1A18"/>
                </a:solidFill>
                <a:latin typeface="Cambria" pitchFamily="34" charset="0"/>
                <a:ea typeface="Cambria" pitchFamily="34" charset="-122"/>
                <a:cs typeface="Cambria" pitchFamily="34" charset="-120"/>
              </a:rPr>
              <a:t>EDA — versão final — 1 de 5</a:t>
            </a:r>
            <a:endParaRPr lang="en-US" sz="1800" dirty="0"/>
          </a:p>
        </p:txBody>
      </p:sp>
      <p:sp>
        <p:nvSpPr>
          <p:cNvPr id="4" name="Shape 2"/>
          <p:cNvSpPr/>
          <p:nvPr/>
        </p:nvSpPr>
        <p:spPr>
          <a:xfrm>
            <a:off x="777240" y="731520"/>
            <a:ext cx="10634472" cy="0"/>
          </a:xfrm>
          <a:prstGeom prst="line">
            <a:avLst/>
          </a:prstGeom>
          <a:noFill/>
          <a:ln w="9525">
            <a:solidFill>
              <a:srgbClr val="1A1A18"/>
            </a:solidFill>
            <a:prstDash val="solid"/>
          </a:ln>
        </p:spPr>
      </p:sp>
      <p:pic>
        <p:nvPicPr>
          <p:cNvPr id="5" name="Image 0" descr="/var/folders/rq/q1nmqsdx1dv0ltwc7c7z2bvc0000gn/T/deck_orientadora_miniaturas/00_referencia__F01.jpg">    </p:cNvPr>
          <p:cNvPicPr>
            <a:picLocks noChangeAspect="1"/>
          </p:cNvPicPr>
          <p:nvPr/>
        </p:nvPicPr>
        <p:blipFill>
          <a:blip r:embed="rId1"/>
          <a:stretch>
            <a:fillRect/>
          </a:stretch>
        </p:blipFill>
        <p:spPr>
          <a:xfrm>
            <a:off x="457200" y="868680"/>
            <a:ext cx="3605784" cy="1282057"/>
          </a:xfrm>
          <a:prstGeom prst="rect">
            <a:avLst/>
          </a:prstGeom>
        </p:spPr>
      </p:pic>
      <p:sp>
        <p:nvSpPr>
          <p:cNvPr id="6" name="Text 3"/>
          <p:cNvSpPr/>
          <p:nvPr/>
        </p:nvSpPr>
        <p:spPr>
          <a:xfrm>
            <a:off x="457200"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F01</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Do recorte ao índice, 30.230 setores saem por falta de algum componente</a:t>
            </a:r>
            <a:endParaRPr lang="en-US" sz="900" dirty="0"/>
          </a:p>
        </p:txBody>
      </p:sp>
      <p:pic>
        <p:nvPicPr>
          <p:cNvPr id="7" name="Image 1" descr="/var/folders/rq/q1nmqsdx1dv0ltwc7c7z2bvc0000gn/T/deck_orientadora_miniaturas/00_referencia__F02.jpg">    </p:cNvPr>
          <p:cNvPicPr>
            <a:picLocks noChangeAspect="1"/>
          </p:cNvPicPr>
          <p:nvPr/>
        </p:nvPicPr>
        <p:blipFill>
          <a:blip r:embed="rId2"/>
          <a:stretch>
            <a:fillRect/>
          </a:stretch>
        </p:blipFill>
        <p:spPr>
          <a:xfrm>
            <a:off x="4291584" y="868680"/>
            <a:ext cx="3605784" cy="2013229"/>
          </a:xfrm>
          <a:prstGeom prst="rect">
            <a:avLst/>
          </a:prstGeom>
        </p:spPr>
      </p:pic>
      <p:sp>
        <p:nvSpPr>
          <p:cNvPr id="8" name="Text 4"/>
          <p:cNvSpPr/>
          <p:nvPr/>
        </p:nvSpPr>
        <p:spPr>
          <a:xfrm>
            <a:off x="4291584"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F02</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Saneamento: Sem banheiro nem sanitário tem a distribuição mais assimétrica (a…</a:t>
            </a:r>
            <a:endParaRPr lang="en-US" sz="900" dirty="0"/>
          </a:p>
        </p:txBody>
      </p:sp>
      <p:pic>
        <p:nvPicPr>
          <p:cNvPr id="9" name="Image 2" descr="/var/folders/rq/q1nmqsdx1dv0ltwc7c7z2bvc0000gn/T/deck_orientadora_miniaturas/00_referencia__F03.jpg">    </p:cNvPr>
          <p:cNvPicPr>
            <a:picLocks noChangeAspect="1"/>
          </p:cNvPicPr>
          <p:nvPr/>
        </p:nvPicPr>
        <p:blipFill>
          <a:blip r:embed="rId3"/>
          <a:stretch>
            <a:fillRect/>
          </a:stretch>
        </p:blipFill>
        <p:spPr>
          <a:xfrm>
            <a:off x="8125968" y="868680"/>
            <a:ext cx="3605784" cy="2013229"/>
          </a:xfrm>
          <a:prstGeom prst="rect">
            <a:avLst/>
          </a:prstGeom>
        </p:spPr>
      </p:pic>
      <p:sp>
        <p:nvSpPr>
          <p:cNvPr id="10" name="Text 5"/>
          <p:cNvSpPr/>
          <p:nvPr/>
        </p:nvSpPr>
        <p:spPr>
          <a:xfrm>
            <a:off x="8125968"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F03</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Saneamento: Água inadequada tem mediana de 0,1759 no Norte e 0,0000 no Centro…</a:t>
            </a:r>
            <a:endParaRPr lang="en-US" sz="900" dirty="0"/>
          </a:p>
        </p:txBody>
      </p:sp>
      <p:pic>
        <p:nvPicPr>
          <p:cNvPr id="11" name="Image 3" descr="/var/folders/rq/q1nmqsdx1dv0ltwc7c7z2bvc0000gn/T/deck_orientadora_miniaturas/00_referencia__F04.jpg">    </p:cNvPr>
          <p:cNvPicPr>
            <a:picLocks noChangeAspect="1"/>
          </p:cNvPicPr>
          <p:nvPr/>
        </p:nvPicPr>
        <p:blipFill>
          <a:blip r:embed="rId4"/>
          <a:stretch>
            <a:fillRect/>
          </a:stretch>
        </p:blipFill>
        <p:spPr>
          <a:xfrm>
            <a:off x="457200" y="3543300"/>
            <a:ext cx="3605784" cy="2013229"/>
          </a:xfrm>
          <a:prstGeom prst="rect">
            <a:avLst/>
          </a:prstGeom>
        </p:spPr>
      </p:pic>
      <p:sp>
        <p:nvSpPr>
          <p:cNvPr id="12" name="Text 6"/>
          <p:cNvSpPr/>
          <p:nvPr/>
        </p:nvSpPr>
        <p:spPr>
          <a:xfrm>
            <a:off x="457200" y="564184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F04</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Saneamento: as regiões têm formas diferentes de distribuição</a:t>
            </a:r>
            <a:endParaRPr lang="en-US" sz="900" dirty="0"/>
          </a:p>
        </p:txBody>
      </p:sp>
      <p:pic>
        <p:nvPicPr>
          <p:cNvPr id="13" name="Image 4" descr="/var/folders/rq/q1nmqsdx1dv0ltwc7c7z2bvc0000gn/T/deck_orientadora_miniaturas/00_referencia__F05.jpg">    </p:cNvPr>
          <p:cNvPicPr>
            <a:picLocks noChangeAspect="1"/>
          </p:cNvPicPr>
          <p:nvPr/>
        </p:nvPicPr>
        <p:blipFill>
          <a:blip r:embed="rId5"/>
          <a:stretch>
            <a:fillRect/>
          </a:stretch>
        </p:blipFill>
        <p:spPr>
          <a:xfrm>
            <a:off x="4291584" y="3543300"/>
            <a:ext cx="3605784" cy="1327129"/>
          </a:xfrm>
          <a:prstGeom prst="rect">
            <a:avLst/>
          </a:prstGeom>
        </p:spPr>
      </p:pic>
      <p:sp>
        <p:nvSpPr>
          <p:cNvPr id="14" name="Text 7"/>
          <p:cNvSpPr/>
          <p:nvPr/>
        </p:nvSpPr>
        <p:spPr>
          <a:xfrm>
            <a:off x="4291584" y="564184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F05</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Socioeconômica: Renda média tem a distribuição mais assimétrica (assimetria 3…</a:t>
            </a:r>
            <a:endParaRPr lang="en-US" sz="900" dirty="0"/>
          </a:p>
        </p:txBody>
      </p:sp>
      <p:pic>
        <p:nvPicPr>
          <p:cNvPr id="15" name="Image 5" descr="/var/folders/rq/q1nmqsdx1dv0ltwc7c7z2bvc0000gn/T/deck_orientadora_miniaturas/00_referencia__F06.jpg">    </p:cNvPr>
          <p:cNvPicPr>
            <a:picLocks noChangeAspect="1"/>
          </p:cNvPicPr>
          <p:nvPr/>
        </p:nvPicPr>
        <p:blipFill>
          <a:blip r:embed="rId6"/>
          <a:stretch>
            <a:fillRect/>
          </a:stretch>
        </p:blipFill>
        <p:spPr>
          <a:xfrm>
            <a:off x="8125968" y="3543300"/>
            <a:ext cx="3605784" cy="1332137"/>
          </a:xfrm>
          <a:prstGeom prst="rect">
            <a:avLst/>
          </a:prstGeom>
        </p:spPr>
      </p:pic>
      <p:sp>
        <p:nvSpPr>
          <p:cNvPr id="16" name="Text 8"/>
          <p:cNvSpPr/>
          <p:nvPr/>
        </p:nvSpPr>
        <p:spPr>
          <a:xfrm>
            <a:off x="8125968" y="564184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F06</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Socioeconômica: Razão de moradores tem mediana de 3,1938 no Norte e 2,5992 no…</a:t>
            </a:r>
            <a:endParaRPr lang="en-US" sz="900" dirty="0"/>
          </a:p>
        </p:txBody>
      </p:sp>
      <p:sp>
        <p:nvSpPr>
          <p:cNvPr id="17" name="Text 9"/>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Catalogo_Mestre.xlsx</a:t>
            </a:r>
            <a:endParaRPr lang="en-US" sz="9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80</a:t>
            </a:r>
            <a:endParaRPr lang="en-US" sz="1000" dirty="0"/>
          </a:p>
        </p:txBody>
      </p:sp>
      <p:sp>
        <p:nvSpPr>
          <p:cNvPr id="3" name="Text 1"/>
          <p:cNvSpPr/>
          <p:nvPr/>
        </p:nvSpPr>
        <p:spPr>
          <a:xfrm>
            <a:off x="777240" y="274320"/>
            <a:ext cx="10634472" cy="411480"/>
          </a:xfrm>
          <a:prstGeom prst="rect">
            <a:avLst/>
          </a:prstGeom>
          <a:noFill/>
          <a:ln/>
        </p:spPr>
        <p:txBody>
          <a:bodyPr wrap="square" lIns="0" tIns="0" rIns="0" bIns="0" rtlCol="0" anchor="ctr"/>
          <a:lstStyle/>
          <a:p>
            <a:pPr indent="0" marL="0">
              <a:buNone/>
            </a:pPr>
            <a:r>
              <a:rPr lang="en-US" sz="1800" b="1" dirty="0">
                <a:solidFill>
                  <a:srgbClr val="1A1A18"/>
                </a:solidFill>
                <a:latin typeface="Cambria" pitchFamily="34" charset="0"/>
                <a:ea typeface="Cambria" pitchFamily="34" charset="-122"/>
                <a:cs typeface="Cambria" pitchFamily="34" charset="-120"/>
              </a:rPr>
              <a:t>EDA — versão final — 2 de 5</a:t>
            </a:r>
            <a:endParaRPr lang="en-US" sz="1800" dirty="0"/>
          </a:p>
        </p:txBody>
      </p:sp>
      <p:sp>
        <p:nvSpPr>
          <p:cNvPr id="4" name="Shape 2"/>
          <p:cNvSpPr/>
          <p:nvPr/>
        </p:nvSpPr>
        <p:spPr>
          <a:xfrm>
            <a:off x="777240" y="731520"/>
            <a:ext cx="10634472" cy="0"/>
          </a:xfrm>
          <a:prstGeom prst="line">
            <a:avLst/>
          </a:prstGeom>
          <a:noFill/>
          <a:ln w="9525">
            <a:solidFill>
              <a:srgbClr val="1A1A18"/>
            </a:solidFill>
            <a:prstDash val="solid"/>
          </a:ln>
        </p:spPr>
      </p:sp>
      <p:pic>
        <p:nvPicPr>
          <p:cNvPr id="5" name="Image 0" descr="/var/folders/rq/q1nmqsdx1dv0ltwc7c7z2bvc0000gn/T/deck_orientadora_miniaturas/00_referencia__F07.jpg">    </p:cNvPr>
          <p:cNvPicPr>
            <a:picLocks noChangeAspect="1"/>
          </p:cNvPicPr>
          <p:nvPr/>
        </p:nvPicPr>
        <p:blipFill>
          <a:blip r:embed="rId1"/>
          <a:stretch>
            <a:fillRect/>
          </a:stretch>
        </p:blipFill>
        <p:spPr>
          <a:xfrm>
            <a:off x="457200" y="868680"/>
            <a:ext cx="3605784" cy="1332137"/>
          </a:xfrm>
          <a:prstGeom prst="rect">
            <a:avLst/>
          </a:prstGeom>
        </p:spPr>
      </p:pic>
      <p:sp>
        <p:nvSpPr>
          <p:cNvPr id="6" name="Text 3"/>
          <p:cNvSpPr/>
          <p:nvPr/>
        </p:nvSpPr>
        <p:spPr>
          <a:xfrm>
            <a:off x="457200"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F07</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Socioeconômica: as regiões têm formas diferentes de distribuição</a:t>
            </a:r>
            <a:endParaRPr lang="en-US" sz="900" dirty="0"/>
          </a:p>
        </p:txBody>
      </p:sp>
      <p:pic>
        <p:nvPicPr>
          <p:cNvPr id="7" name="Image 1" descr="/var/folders/rq/q1nmqsdx1dv0ltwc7c7z2bvc0000gn/T/deck_orientadora_miniaturas/00_referencia__F08.jpg">    </p:cNvPr>
          <p:cNvPicPr>
            <a:picLocks noChangeAspect="1"/>
          </p:cNvPicPr>
          <p:nvPr/>
        </p:nvPicPr>
        <p:blipFill>
          <a:blip r:embed="rId2"/>
          <a:stretch>
            <a:fillRect/>
          </a:stretch>
        </p:blipFill>
        <p:spPr>
          <a:xfrm>
            <a:off x="4291584" y="868680"/>
            <a:ext cx="3605784" cy="1327129"/>
          </a:xfrm>
          <a:prstGeom prst="rect">
            <a:avLst/>
          </a:prstGeom>
        </p:spPr>
      </p:pic>
      <p:sp>
        <p:nvSpPr>
          <p:cNvPr id="8" name="Text 4"/>
          <p:cNvSpPr/>
          <p:nvPr/>
        </p:nvSpPr>
        <p:spPr>
          <a:xfrm>
            <a:off x="4291584"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F08</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Morfologia: Domicílio improvisado tem a distribuição mais assimétrica (assime…</a:t>
            </a:r>
            <a:endParaRPr lang="en-US" sz="900" dirty="0"/>
          </a:p>
        </p:txBody>
      </p:sp>
      <p:pic>
        <p:nvPicPr>
          <p:cNvPr id="9" name="Image 2" descr="/var/folders/rq/q1nmqsdx1dv0ltwc7c7z2bvc0000gn/T/deck_orientadora_miniaturas/00_referencia__F09.jpg">    </p:cNvPr>
          <p:cNvPicPr>
            <a:picLocks noChangeAspect="1"/>
          </p:cNvPicPr>
          <p:nvPr/>
        </p:nvPicPr>
        <p:blipFill>
          <a:blip r:embed="rId3"/>
          <a:stretch>
            <a:fillRect/>
          </a:stretch>
        </p:blipFill>
        <p:spPr>
          <a:xfrm>
            <a:off x="8125968" y="868680"/>
            <a:ext cx="3605784" cy="1332137"/>
          </a:xfrm>
          <a:prstGeom prst="rect">
            <a:avLst/>
          </a:prstGeom>
        </p:spPr>
      </p:pic>
      <p:sp>
        <p:nvSpPr>
          <p:cNvPr id="10" name="Text 5"/>
          <p:cNvSpPr/>
          <p:nvPr/>
        </p:nvSpPr>
        <p:spPr>
          <a:xfrm>
            <a:off x="8125968"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F09</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Morfologia: Domicílio improvisado tem mediana de 0,0000 no Centro-Oeste e 0,0…</a:t>
            </a:r>
            <a:endParaRPr lang="en-US" sz="900" dirty="0"/>
          </a:p>
        </p:txBody>
      </p:sp>
      <p:pic>
        <p:nvPicPr>
          <p:cNvPr id="11" name="Image 3" descr="/var/folders/rq/q1nmqsdx1dv0ltwc7c7z2bvc0000gn/T/deck_orientadora_miniaturas/00_referencia__F10.jpg">    </p:cNvPr>
          <p:cNvPicPr>
            <a:picLocks noChangeAspect="1"/>
          </p:cNvPicPr>
          <p:nvPr/>
        </p:nvPicPr>
        <p:blipFill>
          <a:blip r:embed="rId4"/>
          <a:stretch>
            <a:fillRect/>
          </a:stretch>
        </p:blipFill>
        <p:spPr>
          <a:xfrm>
            <a:off x="457200" y="3543300"/>
            <a:ext cx="3605784" cy="1332137"/>
          </a:xfrm>
          <a:prstGeom prst="rect">
            <a:avLst/>
          </a:prstGeom>
        </p:spPr>
      </p:pic>
      <p:sp>
        <p:nvSpPr>
          <p:cNvPr id="12" name="Text 6"/>
          <p:cNvSpPr/>
          <p:nvPr/>
        </p:nvSpPr>
        <p:spPr>
          <a:xfrm>
            <a:off x="457200" y="564184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F10</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Morfologia: as regiões têm formas diferentes de distribuição</a:t>
            </a:r>
            <a:endParaRPr lang="en-US" sz="900" dirty="0"/>
          </a:p>
        </p:txBody>
      </p:sp>
      <p:pic>
        <p:nvPicPr>
          <p:cNvPr id="13" name="Image 4" descr="/var/folders/rq/q1nmqsdx1dv0ltwc7c7z2bvc0000gn/T/deck_orientadora_miniaturas/00_referencia__F11.jpg">    </p:cNvPr>
          <p:cNvPicPr>
            <a:picLocks noChangeAspect="1"/>
          </p:cNvPicPr>
          <p:nvPr/>
        </p:nvPicPr>
        <p:blipFill>
          <a:blip r:embed="rId5"/>
          <a:stretch>
            <a:fillRect/>
          </a:stretch>
        </p:blipFill>
        <p:spPr>
          <a:xfrm>
            <a:off x="4291584" y="3543300"/>
            <a:ext cx="3605784" cy="1332137"/>
          </a:xfrm>
          <a:prstGeom prst="rect">
            <a:avLst/>
          </a:prstGeom>
        </p:spPr>
      </p:pic>
      <p:sp>
        <p:nvSpPr>
          <p:cNvPr id="14" name="Text 7"/>
          <p:cNvSpPr/>
          <p:nvPr/>
        </p:nvSpPr>
        <p:spPr>
          <a:xfrm>
            <a:off x="4291584" y="564184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F11</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Demografia: Índice de envelhecimento tem a distribuição mais assimétrica (ass…</a:t>
            </a:r>
            <a:endParaRPr lang="en-US" sz="900" dirty="0"/>
          </a:p>
        </p:txBody>
      </p:sp>
      <p:pic>
        <p:nvPicPr>
          <p:cNvPr id="15" name="Image 5" descr="/var/folders/rq/q1nmqsdx1dv0ltwc7c7z2bvc0000gn/T/deck_orientadora_miniaturas/00_referencia__F12.jpg">    </p:cNvPr>
          <p:cNvPicPr>
            <a:picLocks noChangeAspect="1"/>
          </p:cNvPicPr>
          <p:nvPr/>
        </p:nvPicPr>
        <p:blipFill>
          <a:blip r:embed="rId6"/>
          <a:stretch>
            <a:fillRect/>
          </a:stretch>
        </p:blipFill>
        <p:spPr>
          <a:xfrm>
            <a:off x="8125968" y="3543300"/>
            <a:ext cx="3605784" cy="1332137"/>
          </a:xfrm>
          <a:prstGeom prst="rect">
            <a:avLst/>
          </a:prstGeom>
        </p:spPr>
      </p:pic>
      <p:sp>
        <p:nvSpPr>
          <p:cNvPr id="16" name="Text 8"/>
          <p:cNvSpPr/>
          <p:nvPr/>
        </p:nvSpPr>
        <p:spPr>
          <a:xfrm>
            <a:off x="8125968" y="564184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F12</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Demografia: Crianças 0–4 tem mediana de 0,0632 no Norte e 0,0465 no Sul</a:t>
            </a:r>
            <a:endParaRPr lang="en-US" sz="900" dirty="0"/>
          </a:p>
        </p:txBody>
      </p:sp>
      <p:sp>
        <p:nvSpPr>
          <p:cNvPr id="17" name="Text 9"/>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Catalogo_Mestre.xlsx</a:t>
            </a:r>
            <a:endParaRPr lang="en-US" sz="9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81</a:t>
            </a:r>
            <a:endParaRPr lang="en-US" sz="1000" dirty="0"/>
          </a:p>
        </p:txBody>
      </p:sp>
      <p:sp>
        <p:nvSpPr>
          <p:cNvPr id="3" name="Text 1"/>
          <p:cNvSpPr/>
          <p:nvPr/>
        </p:nvSpPr>
        <p:spPr>
          <a:xfrm>
            <a:off x="777240" y="274320"/>
            <a:ext cx="10634472" cy="411480"/>
          </a:xfrm>
          <a:prstGeom prst="rect">
            <a:avLst/>
          </a:prstGeom>
          <a:noFill/>
          <a:ln/>
        </p:spPr>
        <p:txBody>
          <a:bodyPr wrap="square" lIns="0" tIns="0" rIns="0" bIns="0" rtlCol="0" anchor="ctr"/>
          <a:lstStyle/>
          <a:p>
            <a:pPr indent="0" marL="0">
              <a:buNone/>
            </a:pPr>
            <a:r>
              <a:rPr lang="en-US" sz="1800" b="1" dirty="0">
                <a:solidFill>
                  <a:srgbClr val="1A1A18"/>
                </a:solidFill>
                <a:latin typeface="Cambria" pitchFamily="34" charset="0"/>
                <a:ea typeface="Cambria" pitchFamily="34" charset="-122"/>
                <a:cs typeface="Cambria" pitchFamily="34" charset="-120"/>
              </a:rPr>
              <a:t>EDA — versão final — 3 de 5</a:t>
            </a:r>
            <a:endParaRPr lang="en-US" sz="1800" dirty="0"/>
          </a:p>
        </p:txBody>
      </p:sp>
      <p:sp>
        <p:nvSpPr>
          <p:cNvPr id="4" name="Shape 2"/>
          <p:cNvSpPr/>
          <p:nvPr/>
        </p:nvSpPr>
        <p:spPr>
          <a:xfrm>
            <a:off x="777240" y="731520"/>
            <a:ext cx="10634472" cy="0"/>
          </a:xfrm>
          <a:prstGeom prst="line">
            <a:avLst/>
          </a:prstGeom>
          <a:noFill/>
          <a:ln w="9525">
            <a:solidFill>
              <a:srgbClr val="1A1A18"/>
            </a:solidFill>
            <a:prstDash val="solid"/>
          </a:ln>
        </p:spPr>
      </p:sp>
      <p:pic>
        <p:nvPicPr>
          <p:cNvPr id="5" name="Image 0" descr="/var/folders/rq/q1nmqsdx1dv0ltwc7c7z2bvc0000gn/T/deck_orientadora_miniaturas/00_referencia__F13.jpg">    </p:cNvPr>
          <p:cNvPicPr>
            <a:picLocks noChangeAspect="1"/>
          </p:cNvPicPr>
          <p:nvPr/>
        </p:nvPicPr>
        <p:blipFill>
          <a:blip r:embed="rId1"/>
          <a:stretch>
            <a:fillRect/>
          </a:stretch>
        </p:blipFill>
        <p:spPr>
          <a:xfrm>
            <a:off x="457200" y="868680"/>
            <a:ext cx="3605784" cy="1332137"/>
          </a:xfrm>
          <a:prstGeom prst="rect">
            <a:avLst/>
          </a:prstGeom>
        </p:spPr>
      </p:pic>
      <p:sp>
        <p:nvSpPr>
          <p:cNvPr id="6" name="Text 3"/>
          <p:cNvSpPr/>
          <p:nvPr/>
        </p:nvSpPr>
        <p:spPr>
          <a:xfrm>
            <a:off x="457200"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F13</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Demografia: as regiões têm formas diferentes de distribuição</a:t>
            </a:r>
            <a:endParaRPr lang="en-US" sz="900" dirty="0"/>
          </a:p>
        </p:txBody>
      </p:sp>
      <p:pic>
        <p:nvPicPr>
          <p:cNvPr id="7" name="Image 1" descr="/var/folders/rq/q1nmqsdx1dv0ltwc7c7z2bvc0000gn/T/deck_orientadora_miniaturas/00_referencia__F14.jpg">    </p:cNvPr>
          <p:cNvPicPr>
            <a:picLocks noChangeAspect="1"/>
          </p:cNvPicPr>
          <p:nvPr/>
        </p:nvPicPr>
        <p:blipFill>
          <a:blip r:embed="rId2"/>
          <a:stretch>
            <a:fillRect/>
          </a:stretch>
        </p:blipFill>
        <p:spPr>
          <a:xfrm>
            <a:off x="5138134" y="868680"/>
            <a:ext cx="1912684" cy="2080260"/>
          </a:xfrm>
          <a:prstGeom prst="rect">
            <a:avLst/>
          </a:prstGeom>
        </p:spPr>
      </p:pic>
      <p:sp>
        <p:nvSpPr>
          <p:cNvPr id="8" name="Text 4"/>
          <p:cNvSpPr/>
          <p:nvPr/>
        </p:nvSpPr>
        <p:spPr>
          <a:xfrm>
            <a:off x="4291584"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F14</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Os faltantes se concentram em poucos indicadores e municípios</a:t>
            </a:r>
            <a:endParaRPr lang="en-US" sz="900" dirty="0"/>
          </a:p>
        </p:txBody>
      </p:sp>
      <p:pic>
        <p:nvPicPr>
          <p:cNvPr id="9" name="Image 2" descr="/var/folders/rq/q1nmqsdx1dv0ltwc7c7z2bvc0000gn/T/deck_orientadora_miniaturas/00_referencia__F15.jpg">    </p:cNvPr>
          <p:cNvPicPr>
            <a:picLocks noChangeAspect="1"/>
          </p:cNvPicPr>
          <p:nvPr/>
        </p:nvPicPr>
        <p:blipFill>
          <a:blip r:embed="rId3"/>
          <a:stretch>
            <a:fillRect/>
          </a:stretch>
        </p:blipFill>
        <p:spPr>
          <a:xfrm>
            <a:off x="8125968" y="868680"/>
            <a:ext cx="3605784" cy="1943117"/>
          </a:xfrm>
          <a:prstGeom prst="rect">
            <a:avLst/>
          </a:prstGeom>
        </p:spPr>
      </p:pic>
      <p:sp>
        <p:nvSpPr>
          <p:cNvPr id="10" name="Text 5"/>
          <p:cNvSpPr/>
          <p:nvPr/>
        </p:nvSpPr>
        <p:spPr>
          <a:xfrm>
            <a:off x="8125968"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F15</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A falta de dados depende do tamanho do setor</a:t>
            </a:r>
            <a:endParaRPr lang="en-US" sz="900" dirty="0"/>
          </a:p>
        </p:txBody>
      </p:sp>
      <p:pic>
        <p:nvPicPr>
          <p:cNvPr id="11" name="Image 3" descr="/var/folders/rq/q1nmqsdx1dv0ltwc7c7z2bvc0000gn/T/deck_orientadora_miniaturas/00_referencia__F16.jpg">    </p:cNvPr>
          <p:cNvPicPr>
            <a:picLocks noChangeAspect="1"/>
          </p:cNvPicPr>
          <p:nvPr/>
        </p:nvPicPr>
        <p:blipFill>
          <a:blip r:embed="rId4"/>
          <a:stretch>
            <a:fillRect/>
          </a:stretch>
        </p:blipFill>
        <p:spPr>
          <a:xfrm>
            <a:off x="1212688" y="3543300"/>
            <a:ext cx="2094807" cy="2080260"/>
          </a:xfrm>
          <a:prstGeom prst="rect">
            <a:avLst/>
          </a:prstGeom>
        </p:spPr>
      </p:pic>
      <p:sp>
        <p:nvSpPr>
          <p:cNvPr id="12" name="Text 6"/>
          <p:cNvSpPr/>
          <p:nvPr/>
        </p:nvSpPr>
        <p:spPr>
          <a:xfrm>
            <a:off x="457200" y="564184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F16</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A proporção de extremos varia muito de um indicador para outro</a:t>
            </a:r>
            <a:endParaRPr lang="en-US" sz="900" dirty="0"/>
          </a:p>
        </p:txBody>
      </p:sp>
      <p:pic>
        <p:nvPicPr>
          <p:cNvPr id="13" name="Image 4" descr="/var/folders/rq/q1nmqsdx1dv0ltwc7c7z2bvc0000gn/T/deck_orientadora_miniaturas/00_referencia__F17.jpg">    </p:cNvPr>
          <p:cNvPicPr>
            <a:picLocks noChangeAspect="1"/>
          </p:cNvPicPr>
          <p:nvPr/>
        </p:nvPicPr>
        <p:blipFill>
          <a:blip r:embed="rId5"/>
          <a:stretch>
            <a:fillRect/>
          </a:stretch>
        </p:blipFill>
        <p:spPr>
          <a:xfrm>
            <a:off x="4798812" y="3543300"/>
            <a:ext cx="2591327" cy="2080260"/>
          </a:xfrm>
          <a:prstGeom prst="rect">
            <a:avLst/>
          </a:prstGeom>
        </p:spPr>
      </p:pic>
      <p:sp>
        <p:nvSpPr>
          <p:cNvPr id="14" name="Text 7"/>
          <p:cNvSpPr/>
          <p:nvPr/>
        </p:nvSpPr>
        <p:spPr>
          <a:xfrm>
            <a:off x="4291584" y="564184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F17</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Os indicadores formam grupos de correlação</a:t>
            </a:r>
            <a:endParaRPr lang="en-US" sz="900" dirty="0"/>
          </a:p>
        </p:txBody>
      </p:sp>
      <p:pic>
        <p:nvPicPr>
          <p:cNvPr id="15" name="Image 5" descr="/var/folders/rq/q1nmqsdx1dv0ltwc7c7z2bvc0000gn/T/deck_orientadora_miniaturas/00_referencia__F31.jpg">    </p:cNvPr>
          <p:cNvPicPr>
            <a:picLocks noChangeAspect="1"/>
          </p:cNvPicPr>
          <p:nvPr/>
        </p:nvPicPr>
        <p:blipFill>
          <a:blip r:embed="rId6"/>
          <a:stretch>
            <a:fillRect/>
          </a:stretch>
        </p:blipFill>
        <p:spPr>
          <a:xfrm>
            <a:off x="8715094" y="3543300"/>
            <a:ext cx="2427532" cy="2080260"/>
          </a:xfrm>
          <a:prstGeom prst="rect">
            <a:avLst/>
          </a:prstGeom>
        </p:spPr>
      </p:pic>
      <p:sp>
        <p:nvSpPr>
          <p:cNvPr id="16" name="Text 8"/>
          <p:cNvSpPr/>
          <p:nvPr/>
        </p:nvSpPr>
        <p:spPr>
          <a:xfrm>
            <a:off x="8125968" y="564184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F31</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Entre as variáveis das demandas e os componentes do índice, o par mais forte …</a:t>
            </a:r>
            <a:endParaRPr lang="en-US" sz="900" dirty="0"/>
          </a:p>
        </p:txBody>
      </p:sp>
      <p:sp>
        <p:nvSpPr>
          <p:cNvPr id="17" name="Text 9"/>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Catalogo_Mestre.xlsx</a:t>
            </a:r>
            <a:endParaRPr lang="en-US" sz="9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82</a:t>
            </a:r>
            <a:endParaRPr lang="en-US" sz="1000" dirty="0"/>
          </a:p>
        </p:txBody>
      </p:sp>
      <p:sp>
        <p:nvSpPr>
          <p:cNvPr id="3" name="Text 1"/>
          <p:cNvSpPr/>
          <p:nvPr/>
        </p:nvSpPr>
        <p:spPr>
          <a:xfrm>
            <a:off x="777240" y="274320"/>
            <a:ext cx="10634472" cy="411480"/>
          </a:xfrm>
          <a:prstGeom prst="rect">
            <a:avLst/>
          </a:prstGeom>
          <a:noFill/>
          <a:ln/>
        </p:spPr>
        <p:txBody>
          <a:bodyPr wrap="square" lIns="0" tIns="0" rIns="0" bIns="0" rtlCol="0" anchor="ctr"/>
          <a:lstStyle/>
          <a:p>
            <a:pPr indent="0" marL="0">
              <a:buNone/>
            </a:pPr>
            <a:r>
              <a:rPr lang="en-US" sz="1800" b="1" dirty="0">
                <a:solidFill>
                  <a:srgbClr val="1A1A18"/>
                </a:solidFill>
                <a:latin typeface="Cambria" pitchFamily="34" charset="0"/>
                <a:ea typeface="Cambria" pitchFamily="34" charset="-122"/>
                <a:cs typeface="Cambria" pitchFamily="34" charset="-120"/>
              </a:rPr>
              <a:t>EDA — versão final — 4 de 5</a:t>
            </a:r>
            <a:endParaRPr lang="en-US" sz="1800" dirty="0"/>
          </a:p>
        </p:txBody>
      </p:sp>
      <p:sp>
        <p:nvSpPr>
          <p:cNvPr id="4" name="Shape 2"/>
          <p:cNvSpPr/>
          <p:nvPr/>
        </p:nvSpPr>
        <p:spPr>
          <a:xfrm>
            <a:off x="777240" y="731520"/>
            <a:ext cx="10634472" cy="0"/>
          </a:xfrm>
          <a:prstGeom prst="line">
            <a:avLst/>
          </a:prstGeom>
          <a:noFill/>
          <a:ln w="9525">
            <a:solidFill>
              <a:srgbClr val="1A1A18"/>
            </a:solidFill>
            <a:prstDash val="solid"/>
          </a:ln>
        </p:spPr>
      </p:sp>
      <p:pic>
        <p:nvPicPr>
          <p:cNvPr id="5" name="Image 0" descr="/var/folders/rq/q1nmqsdx1dv0ltwc7c7z2bvc0000gn/T/deck_orientadora_miniaturas/00_referencia__F32.jpg">    </p:cNvPr>
          <p:cNvPicPr>
            <a:picLocks noChangeAspect="1"/>
          </p:cNvPicPr>
          <p:nvPr/>
        </p:nvPicPr>
        <p:blipFill>
          <a:blip r:embed="rId1"/>
          <a:stretch>
            <a:fillRect/>
          </a:stretch>
        </p:blipFill>
        <p:spPr>
          <a:xfrm>
            <a:off x="1024294" y="868680"/>
            <a:ext cx="2471596" cy="2080260"/>
          </a:xfrm>
          <a:prstGeom prst="rect">
            <a:avLst/>
          </a:prstGeom>
        </p:spPr>
      </p:pic>
      <p:sp>
        <p:nvSpPr>
          <p:cNvPr id="6" name="Text 3"/>
          <p:cNvSpPr/>
          <p:nvPr/>
        </p:nvSpPr>
        <p:spPr>
          <a:xfrm>
            <a:off x="457200"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F32</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Saneamento: o par mais correlacionado é Sem banheiro × Banheiro graduado (ρ =…</a:t>
            </a:r>
            <a:endParaRPr lang="en-US" sz="900" dirty="0"/>
          </a:p>
        </p:txBody>
      </p:sp>
      <p:pic>
        <p:nvPicPr>
          <p:cNvPr id="7" name="Image 1" descr="/var/folders/rq/q1nmqsdx1dv0ltwc7c7z2bvc0000gn/T/deck_orientadora_miniaturas/00_referencia__F33.jpg">    </p:cNvPr>
          <p:cNvPicPr>
            <a:picLocks noChangeAspect="1"/>
          </p:cNvPicPr>
          <p:nvPr/>
        </p:nvPicPr>
        <p:blipFill>
          <a:blip r:embed="rId2"/>
          <a:stretch>
            <a:fillRect/>
          </a:stretch>
        </p:blipFill>
        <p:spPr>
          <a:xfrm>
            <a:off x="4848397" y="868680"/>
            <a:ext cx="2492158" cy="2080260"/>
          </a:xfrm>
          <a:prstGeom prst="rect">
            <a:avLst/>
          </a:prstGeom>
        </p:spPr>
      </p:pic>
      <p:sp>
        <p:nvSpPr>
          <p:cNvPr id="8" name="Text 4"/>
          <p:cNvSpPr/>
          <p:nvPr/>
        </p:nvSpPr>
        <p:spPr>
          <a:xfrm>
            <a:off x="4291584"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F33</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Socioeconômica: o par mais correlacionado é Renda média × Renda sem o extremo…</a:t>
            </a:r>
            <a:endParaRPr lang="en-US" sz="900" dirty="0"/>
          </a:p>
        </p:txBody>
      </p:sp>
      <p:pic>
        <p:nvPicPr>
          <p:cNvPr id="9" name="Image 2" descr="/var/folders/rq/q1nmqsdx1dv0ltwc7c7z2bvc0000gn/T/deck_orientadora_miniaturas/00_referencia__F34.jpg">    </p:cNvPr>
          <p:cNvPicPr>
            <a:picLocks noChangeAspect="1"/>
          </p:cNvPicPr>
          <p:nvPr/>
        </p:nvPicPr>
        <p:blipFill>
          <a:blip r:embed="rId3"/>
          <a:stretch>
            <a:fillRect/>
          </a:stretch>
        </p:blipFill>
        <p:spPr>
          <a:xfrm>
            <a:off x="8680704" y="868680"/>
            <a:ext cx="2496312" cy="2080260"/>
          </a:xfrm>
          <a:prstGeom prst="rect">
            <a:avLst/>
          </a:prstGeom>
        </p:spPr>
      </p:pic>
      <p:sp>
        <p:nvSpPr>
          <p:cNvPr id="10" name="Text 5"/>
          <p:cNvSpPr/>
          <p:nvPr/>
        </p:nvSpPr>
        <p:spPr>
          <a:xfrm>
            <a:off x="8125968"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F34</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Morfologia: o par mais correlacionado é Habitação precária × Moradia não conv…</a:t>
            </a:r>
            <a:endParaRPr lang="en-US" sz="900" dirty="0"/>
          </a:p>
        </p:txBody>
      </p:sp>
      <p:pic>
        <p:nvPicPr>
          <p:cNvPr id="11" name="Image 3" descr="/var/folders/rq/q1nmqsdx1dv0ltwc7c7z2bvc0000gn/T/deck_orientadora_miniaturas/00_referencia__F35.jpg">    </p:cNvPr>
          <p:cNvPicPr>
            <a:picLocks noChangeAspect="1"/>
          </p:cNvPicPr>
          <p:nvPr/>
        </p:nvPicPr>
        <p:blipFill>
          <a:blip r:embed="rId4"/>
          <a:stretch>
            <a:fillRect/>
          </a:stretch>
        </p:blipFill>
        <p:spPr>
          <a:xfrm>
            <a:off x="1014013" y="3543300"/>
            <a:ext cx="2492158" cy="2080260"/>
          </a:xfrm>
          <a:prstGeom prst="rect">
            <a:avLst/>
          </a:prstGeom>
        </p:spPr>
      </p:pic>
      <p:sp>
        <p:nvSpPr>
          <p:cNvPr id="12" name="Text 6"/>
          <p:cNvSpPr/>
          <p:nvPr/>
        </p:nvSpPr>
        <p:spPr>
          <a:xfrm>
            <a:off x="457200" y="564184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F35</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Demografia: o par mais correlacionado é Pessoas 60+ × Dependência idosa (ρ = …</a:t>
            </a:r>
            <a:endParaRPr lang="en-US" sz="900" dirty="0"/>
          </a:p>
        </p:txBody>
      </p:sp>
      <p:pic>
        <p:nvPicPr>
          <p:cNvPr id="13" name="Image 4" descr="/var/folders/rq/q1nmqsdx1dv0ltwc7c7z2bvc0000gn/T/deck_orientadora_miniaturas/00_referencia__F18.jpg">    </p:cNvPr>
          <p:cNvPicPr>
            <a:picLocks noChangeAspect="1"/>
          </p:cNvPicPr>
          <p:nvPr/>
        </p:nvPicPr>
        <p:blipFill>
          <a:blip r:embed="rId5"/>
          <a:stretch>
            <a:fillRect/>
          </a:stretch>
        </p:blipFill>
        <p:spPr>
          <a:xfrm>
            <a:off x="5107797" y="3543300"/>
            <a:ext cx="1973358" cy="2080260"/>
          </a:xfrm>
          <a:prstGeom prst="rect">
            <a:avLst/>
          </a:prstGeom>
        </p:spPr>
      </p:pic>
      <p:sp>
        <p:nvSpPr>
          <p:cNvPr id="14" name="Text 7"/>
          <p:cNvSpPr/>
          <p:nvPr/>
        </p:nvSpPr>
        <p:spPr>
          <a:xfrm>
            <a:off x="4291584" y="564184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F18</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O dendrograma junta os indicadores que medem coisas parecidas</a:t>
            </a:r>
            <a:endParaRPr lang="en-US" sz="900" dirty="0"/>
          </a:p>
        </p:txBody>
      </p:sp>
      <p:pic>
        <p:nvPicPr>
          <p:cNvPr id="15" name="Image 5" descr="/var/folders/rq/q1nmqsdx1dv0ltwc7c7z2bvc0000gn/T/deck_orientadora_miniaturas/00_referencia__F19.jpg">    </p:cNvPr>
          <p:cNvPicPr>
            <a:picLocks noChangeAspect="1"/>
          </p:cNvPicPr>
          <p:nvPr/>
        </p:nvPicPr>
        <p:blipFill>
          <a:blip r:embed="rId6"/>
          <a:stretch>
            <a:fillRect/>
          </a:stretch>
        </p:blipFill>
        <p:spPr>
          <a:xfrm>
            <a:off x="8674432" y="3543300"/>
            <a:ext cx="2508856" cy="2080260"/>
          </a:xfrm>
          <a:prstGeom prst="rect">
            <a:avLst/>
          </a:prstGeom>
        </p:spPr>
      </p:pic>
      <p:sp>
        <p:nvSpPr>
          <p:cNvPr id="16" name="Text 8"/>
          <p:cNvSpPr/>
          <p:nvPr/>
        </p:nvSpPr>
        <p:spPr>
          <a:xfrm>
            <a:off x="8125968" y="564184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F19</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Os indicadores separam as favelas com força muito diferente</a:t>
            </a:r>
            <a:endParaRPr lang="en-US" sz="900" dirty="0"/>
          </a:p>
        </p:txBody>
      </p:sp>
      <p:sp>
        <p:nvSpPr>
          <p:cNvPr id="17" name="Text 9"/>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Catalogo_Mestre.xlsx</a:t>
            </a:r>
            <a:endParaRPr lang="en-US" sz="9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83</a:t>
            </a:r>
            <a:endParaRPr lang="en-US" sz="1000" dirty="0"/>
          </a:p>
        </p:txBody>
      </p:sp>
      <p:sp>
        <p:nvSpPr>
          <p:cNvPr id="3" name="Text 1"/>
          <p:cNvSpPr/>
          <p:nvPr/>
        </p:nvSpPr>
        <p:spPr>
          <a:xfrm>
            <a:off x="777240" y="274320"/>
            <a:ext cx="10634472" cy="411480"/>
          </a:xfrm>
          <a:prstGeom prst="rect">
            <a:avLst/>
          </a:prstGeom>
          <a:noFill/>
          <a:ln/>
        </p:spPr>
        <p:txBody>
          <a:bodyPr wrap="square" lIns="0" tIns="0" rIns="0" bIns="0" rtlCol="0" anchor="ctr"/>
          <a:lstStyle/>
          <a:p>
            <a:pPr indent="0" marL="0">
              <a:buNone/>
            </a:pPr>
            <a:r>
              <a:rPr lang="en-US" sz="1800" b="1" dirty="0">
                <a:solidFill>
                  <a:srgbClr val="1A1A18"/>
                </a:solidFill>
                <a:latin typeface="Cambria" pitchFamily="34" charset="0"/>
                <a:ea typeface="Cambria" pitchFamily="34" charset="-122"/>
                <a:cs typeface="Cambria" pitchFamily="34" charset="-120"/>
              </a:rPr>
              <a:t>EDA — versão final — 5 de 5</a:t>
            </a:r>
            <a:endParaRPr lang="en-US" sz="1800" dirty="0"/>
          </a:p>
        </p:txBody>
      </p:sp>
      <p:sp>
        <p:nvSpPr>
          <p:cNvPr id="4" name="Shape 2"/>
          <p:cNvSpPr/>
          <p:nvPr/>
        </p:nvSpPr>
        <p:spPr>
          <a:xfrm>
            <a:off x="777240" y="731520"/>
            <a:ext cx="10634472" cy="0"/>
          </a:xfrm>
          <a:prstGeom prst="line">
            <a:avLst/>
          </a:prstGeom>
          <a:noFill/>
          <a:ln w="9525">
            <a:solidFill>
              <a:srgbClr val="1A1A18"/>
            </a:solidFill>
            <a:prstDash val="solid"/>
          </a:ln>
        </p:spPr>
      </p:sp>
      <p:pic>
        <p:nvPicPr>
          <p:cNvPr id="5" name="Image 0" descr="/var/folders/rq/q1nmqsdx1dv0ltwc7c7z2bvc0000gn/T/deck_orientadora_miniaturas/00_referencia__F20.jpg">    </p:cNvPr>
          <p:cNvPicPr>
            <a:picLocks noChangeAspect="1"/>
          </p:cNvPicPr>
          <p:nvPr/>
        </p:nvPicPr>
        <p:blipFill>
          <a:blip r:embed="rId1"/>
          <a:stretch>
            <a:fillRect/>
          </a:stretch>
        </p:blipFill>
        <p:spPr>
          <a:xfrm>
            <a:off x="614172" y="868680"/>
            <a:ext cx="3291840" cy="2080260"/>
          </a:xfrm>
          <a:prstGeom prst="rect">
            <a:avLst/>
          </a:prstGeom>
        </p:spPr>
      </p:pic>
      <p:sp>
        <p:nvSpPr>
          <p:cNvPr id="6" name="Text 3"/>
          <p:cNvSpPr/>
          <p:nvPr/>
        </p:nvSpPr>
        <p:spPr>
          <a:xfrm>
            <a:off x="457200"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F20</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A estrutura etária muda de região para região</a:t>
            </a:r>
            <a:endParaRPr lang="en-US" sz="900" dirty="0"/>
          </a:p>
        </p:txBody>
      </p:sp>
      <p:pic>
        <p:nvPicPr>
          <p:cNvPr id="7" name="Image 1" descr="/var/folders/rq/q1nmqsdx1dv0ltwc7c7z2bvc0000gn/T/deck_orientadora_miniaturas/00_referencia__F21.jpg">    </p:cNvPr>
          <p:cNvPicPr>
            <a:picLocks noChangeAspect="1"/>
          </p:cNvPicPr>
          <p:nvPr/>
        </p:nvPicPr>
        <p:blipFill>
          <a:blip r:embed="rId2"/>
          <a:stretch>
            <a:fillRect/>
          </a:stretch>
        </p:blipFill>
        <p:spPr>
          <a:xfrm>
            <a:off x="4686781" y="868680"/>
            <a:ext cx="2815389" cy="2080260"/>
          </a:xfrm>
          <a:prstGeom prst="rect">
            <a:avLst/>
          </a:prstGeom>
        </p:spPr>
      </p:pic>
      <p:sp>
        <p:nvSpPr>
          <p:cNvPr id="8" name="Text 4"/>
          <p:cNvSpPr/>
          <p:nvPr/>
        </p:nvSpPr>
        <p:spPr>
          <a:xfrm>
            <a:off x="4291584"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F21</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Pessoas 60+ e renda média: ρ = 0,5189</a:t>
            </a:r>
            <a:endParaRPr lang="en-US" sz="900" dirty="0"/>
          </a:p>
        </p:txBody>
      </p:sp>
      <p:sp>
        <p:nvSpPr>
          <p:cNvPr id="9" name="Text 5"/>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Catalogo_Mestre.xlsx</a:t>
            </a:r>
            <a:endParaRPr lang="en-US" sz="9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84</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5</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Catálogo visual: análise fatorial — versão final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As 8 figuras da versão final, identificadas pelo ID, para escolher o que vai para o artigo</a:t>
            </a:r>
            <a:endParaRPr lang="en-US" sz="1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85</a:t>
            </a:r>
            <a:endParaRPr lang="en-US" sz="1000" dirty="0"/>
          </a:p>
        </p:txBody>
      </p:sp>
      <p:sp>
        <p:nvSpPr>
          <p:cNvPr id="3" name="Text 1"/>
          <p:cNvSpPr/>
          <p:nvPr/>
        </p:nvSpPr>
        <p:spPr>
          <a:xfrm>
            <a:off x="777240" y="274320"/>
            <a:ext cx="10634472" cy="411480"/>
          </a:xfrm>
          <a:prstGeom prst="rect">
            <a:avLst/>
          </a:prstGeom>
          <a:noFill/>
          <a:ln/>
        </p:spPr>
        <p:txBody>
          <a:bodyPr wrap="square" lIns="0" tIns="0" rIns="0" bIns="0" rtlCol="0" anchor="ctr"/>
          <a:lstStyle/>
          <a:p>
            <a:pPr indent="0" marL="0">
              <a:buNone/>
            </a:pPr>
            <a:r>
              <a:rPr lang="en-US" sz="1800" b="1" dirty="0">
                <a:solidFill>
                  <a:srgbClr val="1A1A18"/>
                </a:solidFill>
                <a:latin typeface="Cambria" pitchFamily="34" charset="0"/>
                <a:ea typeface="Cambria" pitchFamily="34" charset="-122"/>
                <a:cs typeface="Cambria" pitchFamily="34" charset="-120"/>
              </a:rPr>
              <a:t>análise fatorial — versão final — 1 de 2</a:t>
            </a:r>
            <a:endParaRPr lang="en-US" sz="1800" dirty="0"/>
          </a:p>
        </p:txBody>
      </p:sp>
      <p:sp>
        <p:nvSpPr>
          <p:cNvPr id="4" name="Shape 2"/>
          <p:cNvSpPr/>
          <p:nvPr/>
        </p:nvSpPr>
        <p:spPr>
          <a:xfrm>
            <a:off x="777240" y="731520"/>
            <a:ext cx="10634472" cy="0"/>
          </a:xfrm>
          <a:prstGeom prst="line">
            <a:avLst/>
          </a:prstGeom>
          <a:noFill/>
          <a:ln w="9525">
            <a:solidFill>
              <a:srgbClr val="1A1A18"/>
            </a:solidFill>
            <a:prstDash val="solid"/>
          </a:ln>
        </p:spPr>
      </p:sp>
      <p:pic>
        <p:nvPicPr>
          <p:cNvPr id="5" name="Image 0" descr="/var/folders/rq/q1nmqsdx1dv0ltwc7c7z2bvc0000gn/T/deck_orientadora_miniaturas/00_referencia__F22.jpg">    </p:cNvPr>
          <p:cNvPicPr>
            <a:picLocks noChangeAspect="1"/>
          </p:cNvPicPr>
          <p:nvPr/>
        </p:nvPicPr>
        <p:blipFill>
          <a:blip r:embed="rId1"/>
          <a:stretch>
            <a:fillRect/>
          </a:stretch>
        </p:blipFill>
        <p:spPr>
          <a:xfrm>
            <a:off x="534531" y="868680"/>
            <a:ext cx="3451123" cy="2080260"/>
          </a:xfrm>
          <a:prstGeom prst="rect">
            <a:avLst/>
          </a:prstGeom>
        </p:spPr>
      </p:pic>
      <p:sp>
        <p:nvSpPr>
          <p:cNvPr id="6" name="Text 3"/>
          <p:cNvSpPr/>
          <p:nvPr/>
        </p:nvSpPr>
        <p:spPr>
          <a:xfrm>
            <a:off x="457200"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F22</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Gráfico de sedimentação: dois componentes acima do acaso</a:t>
            </a:r>
            <a:endParaRPr lang="en-US" sz="900" dirty="0"/>
          </a:p>
        </p:txBody>
      </p:sp>
      <p:pic>
        <p:nvPicPr>
          <p:cNvPr id="7" name="Image 1" descr="/var/folders/rq/q1nmqsdx1dv0ltwc7c7z2bvc0000gn/T/deck_orientadora_miniaturas/00_referencia__F23.jpg">    </p:cNvPr>
          <p:cNvPicPr>
            <a:picLocks noChangeAspect="1"/>
          </p:cNvPicPr>
          <p:nvPr/>
        </p:nvPicPr>
        <p:blipFill>
          <a:blip r:embed="rId2"/>
          <a:stretch>
            <a:fillRect/>
          </a:stretch>
        </p:blipFill>
        <p:spPr>
          <a:xfrm>
            <a:off x="4896246" y="868680"/>
            <a:ext cx="2396460" cy="2080260"/>
          </a:xfrm>
          <a:prstGeom prst="rect">
            <a:avLst/>
          </a:prstGeom>
        </p:spPr>
      </p:pic>
      <p:sp>
        <p:nvSpPr>
          <p:cNvPr id="8" name="Text 4"/>
          <p:cNvSpPr/>
          <p:nvPr/>
        </p:nvSpPr>
        <p:spPr>
          <a:xfrm>
            <a:off x="4291584"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F23</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Renda (invertida) define F1 e Água inadequada define F2</a:t>
            </a:r>
            <a:endParaRPr lang="en-US" sz="900" dirty="0"/>
          </a:p>
        </p:txBody>
      </p:sp>
      <p:pic>
        <p:nvPicPr>
          <p:cNvPr id="9" name="Image 2" descr="/var/folders/rq/q1nmqsdx1dv0ltwc7c7z2bvc0000gn/T/deck_orientadora_miniaturas/00_referencia__F24.jpg">    </p:cNvPr>
          <p:cNvPicPr>
            <a:picLocks noChangeAspect="1"/>
          </p:cNvPicPr>
          <p:nvPr/>
        </p:nvPicPr>
        <p:blipFill>
          <a:blip r:embed="rId3"/>
          <a:stretch>
            <a:fillRect/>
          </a:stretch>
        </p:blipFill>
        <p:spPr>
          <a:xfrm>
            <a:off x="8141524" y="868680"/>
            <a:ext cx="3574671" cy="2080260"/>
          </a:xfrm>
          <a:prstGeom prst="rect">
            <a:avLst/>
          </a:prstGeom>
        </p:spPr>
      </p:pic>
      <p:sp>
        <p:nvSpPr>
          <p:cNvPr id="10" name="Text 5"/>
          <p:cNvSpPr/>
          <p:nvPr/>
        </p:nvSpPr>
        <p:spPr>
          <a:xfrm>
            <a:off x="8125968"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F24</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A distribuição do índice e as faixas do IVS-BH</a:t>
            </a:r>
            <a:endParaRPr lang="en-US" sz="900" dirty="0"/>
          </a:p>
        </p:txBody>
      </p:sp>
      <p:pic>
        <p:nvPicPr>
          <p:cNvPr id="11" name="Image 3" descr="/var/folders/rq/q1nmqsdx1dv0ltwc7c7z2bvc0000gn/T/deck_orientadora_miniaturas/00_referencia__F25.jpg">    </p:cNvPr>
          <p:cNvPicPr>
            <a:picLocks noChangeAspect="1"/>
          </p:cNvPicPr>
          <p:nvPr/>
        </p:nvPicPr>
        <p:blipFill>
          <a:blip r:embed="rId4"/>
          <a:stretch>
            <a:fillRect/>
          </a:stretch>
        </p:blipFill>
        <p:spPr>
          <a:xfrm>
            <a:off x="1205312" y="3543300"/>
            <a:ext cx="2109559" cy="2080260"/>
          </a:xfrm>
          <a:prstGeom prst="rect">
            <a:avLst/>
          </a:prstGeom>
        </p:spPr>
      </p:pic>
      <p:sp>
        <p:nvSpPr>
          <p:cNvPr id="12" name="Text 6"/>
          <p:cNvSpPr/>
          <p:nvPr/>
        </p:nvSpPr>
        <p:spPr>
          <a:xfrm>
            <a:off x="457200" y="564184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F25</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Curva ROC do índice contra as favelas (AUC global 0,8309)</a:t>
            </a:r>
            <a:endParaRPr lang="en-US" sz="900" dirty="0"/>
          </a:p>
        </p:txBody>
      </p:sp>
      <p:pic>
        <p:nvPicPr>
          <p:cNvPr id="13" name="Image 4" descr="/var/folders/rq/q1nmqsdx1dv0ltwc7c7z2bvc0000gn/T/deck_orientadora_miniaturas/00_referencia__F26.jpg">    </p:cNvPr>
          <p:cNvPicPr>
            <a:picLocks noChangeAspect="1"/>
          </p:cNvPicPr>
          <p:nvPr/>
        </p:nvPicPr>
        <p:blipFill>
          <a:blip r:embed="rId5"/>
          <a:stretch>
            <a:fillRect/>
          </a:stretch>
        </p:blipFill>
        <p:spPr>
          <a:xfrm>
            <a:off x="5349050" y="3543300"/>
            <a:ext cx="1490853" cy="2080260"/>
          </a:xfrm>
          <a:prstGeom prst="rect">
            <a:avLst/>
          </a:prstGeom>
        </p:spPr>
      </p:pic>
      <p:sp>
        <p:nvSpPr>
          <p:cNvPr id="14" name="Text 7"/>
          <p:cNvSpPr/>
          <p:nvPr/>
        </p:nvSpPr>
        <p:spPr>
          <a:xfrm>
            <a:off x="4291584" y="564184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F26</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A parcela de moradores em cada faixa muda de município para município</a:t>
            </a:r>
            <a:endParaRPr lang="en-US" sz="900" dirty="0"/>
          </a:p>
        </p:txBody>
      </p:sp>
      <p:pic>
        <p:nvPicPr>
          <p:cNvPr id="15" name="Image 5" descr="/var/folders/rq/q1nmqsdx1dv0ltwc7c7z2bvc0000gn/T/deck_orientadora_miniaturas/00_referencia__F27.jpg">    </p:cNvPr>
          <p:cNvPicPr>
            <a:picLocks noChangeAspect="1"/>
          </p:cNvPicPr>
          <p:nvPr/>
        </p:nvPicPr>
        <p:blipFill>
          <a:blip r:embed="rId6"/>
          <a:stretch>
            <a:fillRect/>
          </a:stretch>
        </p:blipFill>
        <p:spPr>
          <a:xfrm>
            <a:off x="9265777" y="3543300"/>
            <a:ext cx="1326166" cy="2080260"/>
          </a:xfrm>
          <a:prstGeom prst="rect">
            <a:avLst/>
          </a:prstGeom>
        </p:spPr>
      </p:pic>
      <p:sp>
        <p:nvSpPr>
          <p:cNvPr id="16" name="Text 8"/>
          <p:cNvSpPr/>
          <p:nvPr/>
        </p:nvSpPr>
        <p:spPr>
          <a:xfrm>
            <a:off x="8125968" y="564184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F27</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A desigualdade interna do índice, município por município</a:t>
            </a:r>
            <a:endParaRPr lang="en-US" sz="900" dirty="0"/>
          </a:p>
        </p:txBody>
      </p:sp>
      <p:sp>
        <p:nvSpPr>
          <p:cNvPr id="17" name="Text 9"/>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Catalogo_Mestre.xlsx</a:t>
            </a:r>
            <a:endParaRPr lang="en-US" sz="9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86</a:t>
            </a:r>
            <a:endParaRPr lang="en-US" sz="1000" dirty="0"/>
          </a:p>
        </p:txBody>
      </p:sp>
      <p:sp>
        <p:nvSpPr>
          <p:cNvPr id="3" name="Text 1"/>
          <p:cNvSpPr/>
          <p:nvPr/>
        </p:nvSpPr>
        <p:spPr>
          <a:xfrm>
            <a:off x="777240" y="274320"/>
            <a:ext cx="10634472" cy="411480"/>
          </a:xfrm>
          <a:prstGeom prst="rect">
            <a:avLst/>
          </a:prstGeom>
          <a:noFill/>
          <a:ln/>
        </p:spPr>
        <p:txBody>
          <a:bodyPr wrap="square" lIns="0" tIns="0" rIns="0" bIns="0" rtlCol="0" anchor="ctr"/>
          <a:lstStyle/>
          <a:p>
            <a:pPr indent="0" marL="0">
              <a:buNone/>
            </a:pPr>
            <a:r>
              <a:rPr lang="en-US" sz="1800" b="1" dirty="0">
                <a:solidFill>
                  <a:srgbClr val="1A1A18"/>
                </a:solidFill>
                <a:latin typeface="Cambria" pitchFamily="34" charset="0"/>
                <a:ea typeface="Cambria" pitchFamily="34" charset="-122"/>
                <a:cs typeface="Cambria" pitchFamily="34" charset="-120"/>
              </a:rPr>
              <a:t>análise fatorial — versão final — 2 de 2</a:t>
            </a:r>
            <a:endParaRPr lang="en-US" sz="1800" dirty="0"/>
          </a:p>
        </p:txBody>
      </p:sp>
      <p:sp>
        <p:nvSpPr>
          <p:cNvPr id="4" name="Shape 2"/>
          <p:cNvSpPr/>
          <p:nvPr/>
        </p:nvSpPr>
        <p:spPr>
          <a:xfrm>
            <a:off x="777240" y="731520"/>
            <a:ext cx="10634472" cy="0"/>
          </a:xfrm>
          <a:prstGeom prst="line">
            <a:avLst/>
          </a:prstGeom>
          <a:noFill/>
          <a:ln w="9525">
            <a:solidFill>
              <a:srgbClr val="1A1A18"/>
            </a:solidFill>
            <a:prstDash val="solid"/>
          </a:ln>
        </p:spPr>
      </p:sp>
      <p:pic>
        <p:nvPicPr>
          <p:cNvPr id="5" name="Image 0" descr="/var/folders/rq/q1nmqsdx1dv0ltwc7c7z2bvc0000gn/T/deck_orientadora_miniaturas/00_referencia__F28.jpg">    </p:cNvPr>
          <p:cNvPicPr>
            <a:picLocks noChangeAspect="1"/>
          </p:cNvPicPr>
          <p:nvPr/>
        </p:nvPicPr>
        <p:blipFill>
          <a:blip r:embed="rId1"/>
          <a:stretch>
            <a:fillRect/>
          </a:stretch>
        </p:blipFill>
        <p:spPr>
          <a:xfrm>
            <a:off x="1052199" y="868680"/>
            <a:ext cx="2415786" cy="2080260"/>
          </a:xfrm>
          <a:prstGeom prst="rect">
            <a:avLst/>
          </a:prstGeom>
        </p:spPr>
      </p:pic>
      <p:sp>
        <p:nvSpPr>
          <p:cNvPr id="6" name="Text 3"/>
          <p:cNvSpPr/>
          <p:nvPr/>
        </p:nvSpPr>
        <p:spPr>
          <a:xfrm>
            <a:off x="457200"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F28</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Matriz de faixas: referência × esta versão</a:t>
            </a:r>
            <a:endParaRPr lang="en-US" sz="900" dirty="0"/>
          </a:p>
        </p:txBody>
      </p:sp>
      <p:pic>
        <p:nvPicPr>
          <p:cNvPr id="7" name="Image 1" descr="/var/folders/rq/q1nmqsdx1dv0ltwc7c7z2bvc0000gn/T/deck_orientadora_miniaturas/00_referencia__F29.jpg">    </p:cNvPr>
          <p:cNvPicPr>
            <a:picLocks noChangeAspect="1"/>
          </p:cNvPicPr>
          <p:nvPr/>
        </p:nvPicPr>
        <p:blipFill>
          <a:blip r:embed="rId2"/>
          <a:stretch>
            <a:fillRect/>
          </a:stretch>
        </p:blipFill>
        <p:spPr>
          <a:xfrm>
            <a:off x="4692054" y="868680"/>
            <a:ext cx="2804845" cy="2080260"/>
          </a:xfrm>
          <a:prstGeom prst="rect">
            <a:avLst/>
          </a:prstGeom>
        </p:spPr>
      </p:pic>
      <p:sp>
        <p:nvSpPr>
          <p:cNvPr id="8" name="Text 4"/>
          <p:cNvSpPr/>
          <p:nvPr/>
        </p:nvSpPr>
        <p:spPr>
          <a:xfrm>
            <a:off x="4291584" y="2967228"/>
            <a:ext cx="3605784" cy="457200"/>
          </a:xfrm>
          <a:prstGeom prst="rect">
            <a:avLst/>
          </a:prstGeom>
          <a:noFill/>
          <a:ln/>
        </p:spPr>
        <p:txBody>
          <a:bodyPr wrap="square" lIns="0" tIns="0" rIns="0" bIns="0" rtlCol="0" anchor="t"/>
          <a:lstStyle/>
          <a:p>
            <a:pPr indent="0" marL="0">
              <a:buNone/>
            </a:pPr>
            <a:r>
              <a:rPr lang="en-US" sz="900" b="1" dirty="0">
                <a:solidFill>
                  <a:srgbClr val="8C2F27"/>
                </a:solidFill>
                <a:latin typeface="Cambria" pitchFamily="34" charset="0"/>
                <a:ea typeface="Cambria" pitchFamily="34" charset="-122"/>
                <a:cs typeface="Cambria" pitchFamily="34" charset="-120"/>
              </a:rPr>
              <a:t>00_referencia · F29</a:t>
            </a:r>
            <a:endParaRPr lang="en-US" sz="900" dirty="0"/>
          </a:p>
          <a:p>
            <a:pPr indent="0" marL="0">
              <a:buNone/>
            </a:pPr>
            <a:r>
              <a:rPr lang="en-US" sz="900" dirty="0">
                <a:solidFill>
                  <a:srgbClr val="56534C"/>
                </a:solidFill>
                <a:latin typeface="Cambria" pitchFamily="34" charset="0"/>
                <a:ea typeface="Cambria" pitchFamily="34" charset="-122"/>
                <a:cs typeface="Cambria" pitchFamily="34" charset="-120"/>
              </a:rPr>
              <a:t>Os municípios mais afetados pela mudança da versão</a:t>
            </a:r>
            <a:endParaRPr lang="en-US" sz="900" dirty="0"/>
          </a:p>
        </p:txBody>
      </p:sp>
      <p:sp>
        <p:nvSpPr>
          <p:cNvPr id="9" name="Text 5"/>
          <p:cNvSpPr/>
          <p:nvPr/>
        </p:nvSpPr>
        <p:spPr>
          <a:xfrm>
            <a:off x="777240" y="6144768"/>
            <a:ext cx="9902952" cy="329184"/>
          </a:xfrm>
          <a:prstGeom prst="rect">
            <a:avLst/>
          </a:prstGeom>
          <a:noFill/>
          <a:ln/>
        </p:spPr>
        <p:txBody>
          <a:bodyPr wrap="square" lIns="0" tIns="0" rIns="0" bIns="0" rtlCol="0" anchor="ctr"/>
          <a:lstStyle/>
          <a:p>
            <a:pPr indent="0" marL="0">
              <a:buNone/>
            </a:pPr>
            <a:r>
              <a:rPr lang="en-US" sz="950" i="1" dirty="0">
                <a:solidFill>
                  <a:srgbClr val="8B877E"/>
                </a:solidFill>
                <a:latin typeface="Cambria" pitchFamily="34" charset="0"/>
                <a:ea typeface="Cambria" pitchFamily="34" charset="-122"/>
                <a:cs typeface="Cambria" pitchFamily="34" charset="-120"/>
              </a:rPr>
              <a:t>Catalogo_Mestre.xlsx</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86</Slides>
  <Notes>86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86</vt:i4>
      </vt:variant>
    </vt:vector>
  </HeadingPairs>
  <TitlesOfParts>
    <vt:vector size="8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Análises exploratórias e análise fatorial — IVS Censo 2022</dc:title>
  <dc:subject>PptxGenJS Presentation</dc:subject>
  <dc:creator>Pedro Dias Soares</dc:creator>
  <cp:lastModifiedBy>Pedro Dias Soares</cp:lastModifiedBy>
  <cp:revision>1</cp:revision>
  <dcterms:created xsi:type="dcterms:W3CDTF">2026-10-07T20:50:03Z</dcterms:created>
  <dcterms:modified xsi:type="dcterms:W3CDTF">2026-10-07T20:50:03Z</dcterms:modified>
</cp:coreProperties>
</file>