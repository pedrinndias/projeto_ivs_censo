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"/>
  </p:notesMasterIdLst>
  <p:sldIdLst>
    <p:sldId id="256" r:id="rId2"/>
    <p:sldId id="257" r:id="rId3"/>
    <p:sldId id="258" r:id="rId4"/>
    <p:sldId id="259" r:id="rId5"/>
    <p:sldId id="260" r:id="rId6"/>
    <p:sldId id="263" r:id="rId7"/>
    <p:sldId id="264" r:id="rId8"/>
    <p:sldId id="265" r:id="rId9"/>
    <p:sldId id="266" r:id="rId10"/>
    <p:sldId id="267" r:id="rId11"/>
    <p:sldId id="268" r:id="rId12"/>
    <p:sldId id="269" r:id="rId13"/>
    <p:sldId id="270" r:id="rId14"/>
    <p:sldId id="271" r:id="rId15"/>
    <p:sldId id="272" r:id="rId16"/>
    <p:sldId id="273" r:id="rId17"/>
    <p:sldId id="274" r:id="rId18"/>
    <p:sldId id="275" r:id="rId19"/>
    <p:sldId id="276" r:id="rId20"/>
    <p:sldId id="277" r:id="rId21"/>
    <p:sldId id="278" r:id="rId22"/>
    <p:sldId id="283" r:id="rId32"/>
    <p:sldId id="284" r:id="rId33"/>
    <p:sldId id="285" r:id="rId34"/>
    <p:sldId id="286" r:id="rId35"/>
    <p:sldId id="279" r:id="rId23"/>
    <p:sldId id="280" r:id="rId24"/>
    <p:sldId id="281" r:id="rId25"/>
    <p:sldId id="282" r:id="rId2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1" d="100"/>
          <a:sy n="71" d="100"/>
        </p:scale>
        <p:origin x="672" y="6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9199602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Apresentacao da EDA da Fase 3 do projeto IVS/Censo 2022 sobre os 70 municipios do ELSI-Brasil. Cobre as 7 variaveis-componente do IVS-BH 2012 e 6 demandas adicionais solicitadas. Base: 109.032 setores, 106.281 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Roteiro em seis blocos: contexto, metodologia, atualizacoes, EDA dos 7 componentes, as 6 demandas novas e a discussao final.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 projeto reproduz o IVS-BH 2012 para o Censo 2022, restrito aos 70 municipios do ELSI. Unidade: setor censitario. Hipotese central: gradiente centro-periferia. Sete variaveis em duas dimensoes.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Oito CSVs do Censo (2,4 GB) lidos por colunas e filtrados pelos 70 municipios via chave UF+nome. Dicionario oficial do IBGE versionado no repo. Sigilo "X" preservado na base bruta.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Denominador V00001 (DPPO). Classificacao Dados_sig: 106.281 OK (97,5%), 2.751 sigilosos, 0 coletivo/zerado. Sigilo X vira NaN; min_count=1 preserva NaN quando tudo e sigiloso. Proporcoes brutas; mediana/IQR pela assimetria.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109.032 setores nos 70 municipios; 106.281 OK (97,5%). Sudeste concentra 26 municipios. Nenhum setor coletivo/zerado (caem em sigiloso). Taxa de elegibilidade comparavel ao IVS-BH original.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As sete variaveis do IVS-BH 2012 operacionalizadas para o Censo 2022. Tres de saneamento, quatro socioeconomicas. Renda e a unica invertida. Denominador domiciliar V00001.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Saneamento: mediana zero, assimetria 2-3, "dois regimes" (norma urbana ~0 e bolsoes ~1). Renda: media 4.141 vs mediana 2.546 (concentracao). Analfabetismo n=89.527 (sigilo). Raca/cor: unica simetrica (assimetria -0,39).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Histogramas confirmam: saneamento bimodal (massa em zero + bolsoes), razao de moradores quase normal, renda com cauda extrema, raca/cor distribuida.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Boxplots por regiao mostram o gradiente Norte-&gt;Sul. Norte com piores condicoes de agua/esgoto e maior densidade. Outliers de saneamento sao esperados.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 regra IQR rotula ~20% de agua/esgoto/lixo como outliers, mas e artefato da distribuicao zero-inflada (P25=mediana=0). Nao excluir: os bolsoes sao o objeto do estudo. Renda tem outliers reais.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Missing concentrado no analfabetismo (15,8% de sigilo em V00901), sobretudo em capitais (Sao Caetano 30%, Porto Alegre 27%). Demais variaveis &gt;=99%. O sigilo introduz vies contra grandes cidades.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Spearman: eixo socioeconomico dominante (renda x raca -0,81). Saneamento forma bloco coeso. Estrutura de dois fatores sustenta o desenho da analise fatorial. Spearman pela assimetria.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As seis demandas adicionais solicitadas, todas implementadas como variaveis/tabelas descritivas (fora dos 7 componentes do IVS, pendentes de decisao da orientadora para entrarem no indice).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Cobertura 100%: 41,6% dos setores tem os tres servicos de saneamento plenamente adequados. Coleta de lixo 91,5% (com cacamba). Dados completos 84,2% (limite do sigilo). Norte 4,4% vs Sudeste 52,3% nos 3 servicos.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Domicilios improvisados = V00002 (nao o V00052, que e permanente degradado). Muito raro (0,8% dos setores). A variavel ampla "habitacao precaria" (cortico+degradado+improvisados) tem media 0,65% e e fenomeno metropolitano, nao rural.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SITUACAO ja vem como texto Urbana/Rural. 97,5% dos setores urbanos (99,1% dos domicilios). Norte com mais rural (7,1%). 9 municipios 100% urbanos; Autazes/AM majoritariamente rural.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Sem banheiro: V00495 (sem banheiro privativo completo, media 0,45%) e V00238 (privacao extrema, 0,04%). Gradiente Norte-rural (Norte 3,5%; Portel 61,9%), alinhado a agua/esgoto - diferente da habitacao precaria, que e metropolitana.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Chefia feminina (V01063): 10,26 milhoes de responsaveis femininas, 52,7% do total (maioria). Mais alto no Nordeste (55%) e capitais; mais baixo em pequenos municipios rurais. Contagens por municipio/regiao exportadas.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Estrutura etaria: 2,93 mi criancas &lt;5 e 8,75 mi idosos 60+ (indice de envelhecimento ~299). Sul/Sudeste muito envelhecidos (Sao Caetano 548), Norte jovem (Portel 56). Relevante para o ELSI (foco em idosos).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Tabela-resumo das 6 demandas: variavel IBGE, onde foi implementada na pipeline e o resultado-chave. Todas descritivas, fora do IVS-7.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Discussao: gradiente Norte-Sul confirmado; dois eixos (socioeconomico e saneamento); precariedade com geografias distintas (saneamento rural vs improvisados metropolitano); envelhecimento avancado (indice 299); chefia feminina majoritaria.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Limitacoes: sigilo no analfabetismo (vies contra capitais); variaveis novas esparsas; cacamba mantida como inadequada (fidelidade IVS-BH); poco artesiano e fronteira a testar; falacia ecologica inerente ao delineamento.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Proximos passos: normalizacao de renda por municipio, analise fatorial (Spearman, KMO/Bartlett), calculo do IVS final e categorizacao, decisao sobre as variaveis descritivas, e mapas no QGIS.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Encerramento: EDA reprodutivel cobrindo 7 componentes + 6 demandas, auditada contra o dicionario oficial. Proximo marco: normalizacao de renda, analise fatorial e IVS final.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3" name="Rectangle 2"/>
          <p:cNvSpPr/>
          <p:nvPr/>
        </p:nvSpPr>
        <p:spPr>
          <a:xfrm>
            <a:off x="0" y="4754880"/>
            <a:ext cx="12191695" cy="82296"/>
          </a:xfrm>
          <a:prstGeom prst="rect">
            <a:avLst/>
          </a:prstGeom>
          <a:solidFill>
            <a:srgbClr val="00A8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607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pt-BR" sz="1400" b="1" i="0" noProof="0" dirty="0">
                <a:solidFill>
                  <a:srgbClr val="00A896"/>
                </a:solidFill>
                <a:latin typeface="Calibri"/>
              </a:rPr>
              <a:t>ÍNDICE DE VULNERABILIDADE À SAÚDE (IVS) INTRAURBANO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1828800"/>
            <a:ext cx="10607040" cy="10720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lang="pt-BR" sz="4000" b="1" i="0" noProof="0" dirty="0">
                <a:solidFill>
                  <a:srgbClr val="FFFFFF"/>
                </a:solidFill>
                <a:latin typeface="Georgia"/>
              </a:rPr>
              <a:t>Análise Exploratória de Dados</a:t>
            </a:r>
          </a:p>
          <a:p>
            <a:pPr algn="l">
              <a:spcBef>
                <a:spcPts val="800"/>
              </a:spcBef>
            </a:pPr>
            <a:r>
              <a:rPr lang="pt-BR" sz="2100" b="0" i="0" noProof="0" dirty="0">
                <a:solidFill>
                  <a:srgbClr val="CADCFC"/>
                </a:solidFill>
                <a:latin typeface="Georgia"/>
              </a:rPr>
              <a:t>Censo Demográfico 2022 · 70 municípios do ELSI-Brasil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983480"/>
            <a:ext cx="1060704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lang="pt-BR" sz="1450" b="0" i="0" noProof="0" dirty="0">
                <a:solidFill>
                  <a:srgbClr val="CADCFC"/>
                </a:solidFill>
                <a:latin typeface="Calibri"/>
              </a:rPr>
              <a:t>Inclui as 7 variáveis-componente do IVS e 6 demandas adicionais </a:t>
            </a:r>
            <a:r>
              <a:rPr lang="pt-BR" sz="1450" b="0" i="1" noProof="0" dirty="0">
                <a:solidFill>
                  <a:srgbClr val="9FB6D6"/>
                </a:solidFill>
                <a:latin typeface="Calibri"/>
              </a:rPr>
              <a:t>(cobertura, domicílios improvisados, urbano/rural, sem banheiro, chefia feminina, estrutura etária)</a:t>
            </a:r>
          </a:p>
          <a:p>
            <a:pPr algn="l">
              <a:spcBef>
                <a:spcPts val="1000"/>
              </a:spcBef>
            </a:pPr>
            <a:r>
              <a:rPr lang="pt-BR" sz="1300" b="0" i="0" noProof="0" dirty="0">
                <a:solidFill>
                  <a:srgbClr val="8FA8C8"/>
                </a:solidFill>
                <a:latin typeface="Calibri"/>
              </a:rPr>
              <a:t>Pedro Dias Soares  ·  Iniciação Científica — Fiocruz Minas / IRR  ·  Junho/2026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3447" y="13447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1064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pt-BR" sz="1250" b="1" i="0" noProof="0" dirty="0">
                <a:solidFill>
                  <a:srgbClr val="1C7293"/>
                </a:solidFill>
                <a:latin typeface="Calibri"/>
              </a:rPr>
              <a:t>ROTEIRO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76656"/>
            <a:ext cx="110642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lang="pt-BR" sz="3000" b="1" i="0" noProof="0" dirty="0">
                <a:solidFill>
                  <a:srgbClr val="0E2A47"/>
                </a:solidFill>
                <a:latin typeface="Georgia"/>
              </a:rPr>
              <a:t>O que esta apresentação cobre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881360" cy="107285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</a:pPr>
            <a:r>
              <a:rPr lang="pt-BR" sz="1600" b="1" i="0" noProof="0" dirty="0">
                <a:solidFill>
                  <a:srgbClr val="1C7293"/>
                </a:solidFill>
                <a:latin typeface="Calibri"/>
              </a:rPr>
              <a:t>▪  </a:t>
            </a:r>
            <a:r>
              <a:rPr lang="pt-BR" sz="1600" b="1" i="0" noProof="0" dirty="0">
                <a:solidFill>
                  <a:srgbClr val="0E2A47"/>
                </a:solidFill>
                <a:latin typeface="Calibri"/>
              </a:rPr>
              <a:t>Contexto e base de dados  </a:t>
            </a:r>
            <a:r>
              <a:rPr lang="pt-BR" sz="1600" b="0" i="0" noProof="0" dirty="0">
                <a:solidFill>
                  <a:srgbClr val="0E2A47"/>
                </a:solidFill>
                <a:latin typeface="Calibri"/>
              </a:rPr>
              <a:t>— projeto IVS, ELSI-Brasil, Censo 2022, dicionário oficial IBGE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lang="pt-BR" sz="1600" b="1" i="0" noProof="0" dirty="0">
                <a:solidFill>
                  <a:srgbClr val="1C7293"/>
                </a:solidFill>
                <a:latin typeface="Calibri"/>
              </a:rPr>
              <a:t>▪  </a:t>
            </a:r>
            <a:r>
              <a:rPr lang="pt-BR" sz="1600" b="1" i="0" noProof="0" dirty="0">
                <a:solidFill>
                  <a:srgbClr val="0E2A47"/>
                </a:solidFill>
                <a:latin typeface="Calibri"/>
              </a:rPr>
              <a:t>Metodologia da EDA  </a:t>
            </a:r>
            <a:r>
              <a:rPr lang="pt-BR" sz="1600" b="0" i="0" noProof="0" dirty="0">
                <a:solidFill>
                  <a:srgbClr val="0E2A47"/>
                </a:solidFill>
                <a:latin typeface="Calibri"/>
              </a:rPr>
              <a:t>— denominador V00001, elegibilidade </a:t>
            </a:r>
            <a:r>
              <a:rPr lang="pt-BR" sz="1600" b="0" i="0" noProof="0" dirty="0" err="1">
                <a:solidFill>
                  <a:srgbClr val="0E2A47"/>
                </a:solidFill>
                <a:latin typeface="Calibri"/>
              </a:rPr>
              <a:t>Dados_sig</a:t>
            </a:r>
            <a:r>
              <a:rPr lang="pt-BR" sz="1600" b="0" i="0" noProof="0" dirty="0">
                <a:solidFill>
                  <a:srgbClr val="0E2A47"/>
                </a:solidFill>
                <a:latin typeface="Calibri"/>
              </a:rPr>
              <a:t>, tratamento de sigilo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lang="pt-BR" sz="1600" b="1" i="0" noProof="0" dirty="0">
                <a:solidFill>
                  <a:srgbClr val="1C7293"/>
                </a:solidFill>
                <a:latin typeface="Calibri"/>
              </a:rPr>
              <a:t>▪  </a:t>
            </a:r>
            <a:r>
              <a:rPr lang="pt-BR" sz="1600" b="1" i="0" noProof="0" dirty="0">
                <a:solidFill>
                  <a:srgbClr val="0E2A47"/>
                </a:solidFill>
                <a:latin typeface="Calibri"/>
              </a:rPr>
              <a:t>6 demandas adicionais  </a:t>
            </a:r>
            <a:r>
              <a:rPr lang="pt-BR" sz="1600" b="0" i="0" noProof="0" dirty="0">
                <a:solidFill>
                  <a:srgbClr val="0E2A47"/>
                </a:solidFill>
                <a:latin typeface="Calibri"/>
              </a:rPr>
              <a:t>— cobertura, improvisados, urbano/rural, banheiro, chefia feminina, idade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1064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pt-BR" sz="1250" b="1" i="0" noProof="0" dirty="0">
                <a:solidFill>
                  <a:srgbClr val="1C7293"/>
                </a:solidFill>
                <a:latin typeface="Calibri"/>
              </a:rPr>
              <a:t>CONTEXTO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76656"/>
            <a:ext cx="110642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lang="pt-BR" sz="3000" b="1" i="0" noProof="0" dirty="0">
                <a:solidFill>
                  <a:srgbClr val="0E2A47"/>
                </a:solidFill>
                <a:latin typeface="Georgia"/>
              </a:rPr>
              <a:t>O projeto IVS intraurbano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65960"/>
            <a:ext cx="6035040" cy="4206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1100"/>
              </a:spcAft>
            </a:pPr>
            <a:r>
              <a:rPr lang="pt-BR" sz="1450" b="1" i="0" noProof="0" dirty="0">
                <a:solidFill>
                  <a:srgbClr val="1C7293"/>
                </a:solidFill>
                <a:latin typeface="Calibri"/>
              </a:rPr>
              <a:t>▪  </a:t>
            </a:r>
            <a:r>
              <a:rPr lang="pt-BR" sz="1450" b="1" i="0" noProof="0" dirty="0">
                <a:solidFill>
                  <a:srgbClr val="0E2A47"/>
                </a:solidFill>
                <a:latin typeface="Calibri"/>
              </a:rPr>
              <a:t>Objetivo  </a:t>
            </a:r>
            <a:r>
              <a:rPr lang="pt-BR" sz="1450" b="0" i="0" noProof="0" dirty="0">
                <a:solidFill>
                  <a:srgbClr val="0E2A47"/>
                </a:solidFill>
                <a:latin typeface="Calibri"/>
              </a:rPr>
              <a:t>— construir um Índice de Vulnerabilidade à Saúde para os 70 municípios da amostra do ELSI-Brasil (Estudo Longitudinal da Saúde dos Idosos).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lang="pt-BR" sz="1450" b="1" i="0" noProof="0" dirty="0">
                <a:solidFill>
                  <a:srgbClr val="1C7293"/>
                </a:solidFill>
                <a:latin typeface="Calibri"/>
              </a:rPr>
              <a:t>▪  </a:t>
            </a:r>
            <a:r>
              <a:rPr lang="pt-BR" sz="1450" b="1" i="0" noProof="0" dirty="0">
                <a:solidFill>
                  <a:srgbClr val="0E2A47"/>
                </a:solidFill>
                <a:latin typeface="Calibri"/>
              </a:rPr>
              <a:t>Referência  </a:t>
            </a:r>
            <a:r>
              <a:rPr lang="pt-BR" sz="1450" b="0" i="0" noProof="0" dirty="0">
                <a:solidFill>
                  <a:srgbClr val="0E2A47"/>
                </a:solidFill>
                <a:latin typeface="Calibri"/>
              </a:rPr>
              <a:t>— metodologia do IVS-BH 2012 (SMS-BH), reproduzida para o Censo 2022.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lang="pt-BR" sz="1450" b="1" i="0" noProof="0" dirty="0">
                <a:solidFill>
                  <a:srgbClr val="1C7293"/>
                </a:solidFill>
                <a:latin typeface="Calibri"/>
              </a:rPr>
              <a:t>▪  </a:t>
            </a:r>
            <a:r>
              <a:rPr lang="pt-BR" sz="1450" b="1" i="0" noProof="0" dirty="0">
                <a:solidFill>
                  <a:srgbClr val="0E2A47"/>
                </a:solidFill>
                <a:latin typeface="Calibri"/>
              </a:rPr>
              <a:t>Unidade de análise  </a:t>
            </a:r>
            <a:r>
              <a:rPr lang="pt-BR" sz="1450" b="0" i="0" noProof="0" dirty="0">
                <a:solidFill>
                  <a:srgbClr val="0E2A47"/>
                </a:solidFill>
                <a:latin typeface="Calibri"/>
              </a:rPr>
              <a:t>— o setor censitário, menor recorte territorial do IBGE.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lang="pt-BR" sz="1450" b="1" i="0" noProof="0" dirty="0">
                <a:solidFill>
                  <a:srgbClr val="1C7293"/>
                </a:solidFill>
                <a:latin typeface="Calibri"/>
              </a:rPr>
              <a:t>▪  </a:t>
            </a:r>
            <a:r>
              <a:rPr lang="pt-BR" sz="1450" b="1" i="0" noProof="0" dirty="0">
                <a:solidFill>
                  <a:srgbClr val="0E2A47"/>
                </a:solidFill>
                <a:latin typeface="Calibri"/>
              </a:rPr>
              <a:t>Hipótese  </a:t>
            </a:r>
            <a:r>
              <a:rPr lang="pt-BR" sz="1450" b="0" i="0" noProof="0" dirty="0">
                <a:solidFill>
                  <a:srgbClr val="0E2A47"/>
                </a:solidFill>
                <a:latin typeface="Calibri"/>
              </a:rPr>
              <a:t>— padrão centro-periferia: setores periféricos mais vulneráveis.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lang="pt-BR" sz="1450" b="1" i="0" noProof="0" dirty="0">
                <a:solidFill>
                  <a:srgbClr val="1C7293"/>
                </a:solidFill>
                <a:latin typeface="Calibri"/>
              </a:rPr>
              <a:t>▪  </a:t>
            </a:r>
            <a:r>
              <a:rPr lang="pt-BR" sz="1450" b="1" i="0" noProof="0" dirty="0">
                <a:solidFill>
                  <a:srgbClr val="0E2A47"/>
                </a:solidFill>
                <a:latin typeface="Calibri"/>
              </a:rPr>
              <a:t>Dimensões  </a:t>
            </a:r>
            <a:r>
              <a:rPr lang="pt-BR" sz="1450" b="0" i="0" noProof="0" dirty="0">
                <a:solidFill>
                  <a:srgbClr val="0E2A47"/>
                </a:solidFill>
                <a:latin typeface="Calibri"/>
              </a:rPr>
              <a:t>— saneamento (3 var.) + socioeconômica (4 var.) = 7 componentes.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040880" y="2011680"/>
            <a:ext cx="2331720" cy="1508760"/>
          </a:xfrm>
          <a:prstGeom prst="roundRect">
            <a:avLst>
              <a:gd name="adj" fmla="val 8000"/>
            </a:avLst>
          </a:prstGeom>
          <a:solidFill>
            <a:srgbClr val="EE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8" name="TextBox 7"/>
          <p:cNvSpPr txBox="1"/>
          <p:nvPr/>
        </p:nvSpPr>
        <p:spPr>
          <a:xfrm>
            <a:off x="7040880" y="2157984"/>
            <a:ext cx="2331720" cy="7132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pt-BR" sz="3300" b="1" i="0" noProof="0" dirty="0">
                <a:solidFill>
                  <a:srgbClr val="1C7293"/>
                </a:solidFill>
                <a:latin typeface="Georgia"/>
              </a:rPr>
              <a:t>70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0" y="2843784"/>
            <a:ext cx="214884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pt-BR" sz="1150" b="0" i="0" noProof="0" dirty="0">
                <a:solidFill>
                  <a:srgbClr val="5A6B7B"/>
                </a:solidFill>
                <a:latin typeface="Calibri"/>
              </a:rPr>
              <a:t>municípios ELSI-Brasil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555480" y="2011680"/>
            <a:ext cx="2011680" cy="1508760"/>
          </a:xfrm>
          <a:prstGeom prst="roundRect">
            <a:avLst>
              <a:gd name="adj" fmla="val 8000"/>
            </a:avLst>
          </a:prstGeom>
          <a:solidFill>
            <a:srgbClr val="EE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11" name="TextBox 10"/>
          <p:cNvSpPr txBox="1"/>
          <p:nvPr/>
        </p:nvSpPr>
        <p:spPr>
          <a:xfrm>
            <a:off x="9555480" y="2157984"/>
            <a:ext cx="2011680" cy="7132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pt-BR" sz="3300" b="1" i="0" noProof="0" dirty="0">
                <a:solidFill>
                  <a:srgbClr val="00A896"/>
                </a:solidFill>
                <a:latin typeface="Georgia"/>
              </a:rPr>
              <a:t>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46920" y="2843784"/>
            <a:ext cx="182880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pt-BR" sz="1150" b="0" i="0" noProof="0" dirty="0">
                <a:solidFill>
                  <a:srgbClr val="5A6B7B"/>
                </a:solidFill>
                <a:latin typeface="Calibri"/>
              </a:rPr>
              <a:t>regiões do país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040880" y="3703320"/>
            <a:ext cx="2331720" cy="1508760"/>
          </a:xfrm>
          <a:prstGeom prst="roundRect">
            <a:avLst>
              <a:gd name="adj" fmla="val 8000"/>
            </a:avLst>
          </a:prstGeom>
          <a:solidFill>
            <a:srgbClr val="EE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14" name="TextBox 13"/>
          <p:cNvSpPr txBox="1"/>
          <p:nvPr/>
        </p:nvSpPr>
        <p:spPr>
          <a:xfrm>
            <a:off x="7040880" y="3849624"/>
            <a:ext cx="2331720" cy="7132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pt-BR" sz="3300" b="1" i="0" noProof="0" dirty="0">
                <a:solidFill>
                  <a:srgbClr val="0E2A47"/>
                </a:solidFill>
                <a:latin typeface="Georgia"/>
              </a:rPr>
              <a:t>109.032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0" y="4535424"/>
            <a:ext cx="214884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pt-BR" sz="1150" b="0" i="0" noProof="0" dirty="0">
                <a:solidFill>
                  <a:srgbClr val="5A6B7B"/>
                </a:solidFill>
                <a:latin typeface="Calibri"/>
              </a:rPr>
              <a:t>setores censitários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55480" y="3703320"/>
            <a:ext cx="2011680" cy="1508760"/>
          </a:xfrm>
          <a:prstGeom prst="roundRect">
            <a:avLst>
              <a:gd name="adj" fmla="val 8000"/>
            </a:avLst>
          </a:prstGeom>
          <a:solidFill>
            <a:srgbClr val="EE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17" name="TextBox 16"/>
          <p:cNvSpPr txBox="1"/>
          <p:nvPr/>
        </p:nvSpPr>
        <p:spPr>
          <a:xfrm>
            <a:off x="9555480" y="3849624"/>
            <a:ext cx="2011680" cy="7132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pt-BR" sz="3300" b="1" i="0" noProof="0" dirty="0">
                <a:solidFill>
                  <a:srgbClr val="E0A458"/>
                </a:solidFill>
                <a:latin typeface="Georgia"/>
              </a:rPr>
              <a:t>2022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46920" y="4535424"/>
            <a:ext cx="182880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pt-BR" sz="1150" b="0" i="0" noProof="0" dirty="0">
                <a:solidFill>
                  <a:srgbClr val="5A6B7B"/>
                </a:solidFill>
                <a:latin typeface="Calibri"/>
              </a:rPr>
              <a:t>Censo IBGE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1064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pt-BR" sz="1250" b="1" i="0" noProof="0" dirty="0">
                <a:solidFill>
                  <a:srgbClr val="1C7293"/>
                </a:solidFill>
                <a:latin typeface="Calibri"/>
              </a:rPr>
              <a:t>INSUMOS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76656"/>
            <a:ext cx="110642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lang="pt-BR" sz="3000" b="1" i="0" noProof="0" dirty="0">
                <a:solidFill>
                  <a:srgbClr val="0E2A47"/>
                </a:solidFill>
                <a:latin typeface="Georgia"/>
              </a:rPr>
              <a:t>A base de dados do Censo 2022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371600"/>
            <a:ext cx="110642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lang="pt-BR" sz="1450" b="0" i="0" noProof="0" dirty="0">
                <a:solidFill>
                  <a:srgbClr val="5A6B7B"/>
                </a:solidFill>
                <a:latin typeface="Calibri"/>
              </a:rPr>
              <a:t>Agregados por Setores Censitários (IBGE) — 8 arquivos CSV, lidos por colunas e filtrados pelos 70 municípios.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65960"/>
            <a:ext cx="6492240" cy="242919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1100"/>
              </a:spcAft>
            </a:pPr>
            <a:r>
              <a:rPr lang="pt-BR" sz="1450" b="1" i="0" noProof="0" dirty="0">
                <a:solidFill>
                  <a:srgbClr val="1C7293"/>
                </a:solidFill>
                <a:latin typeface="Calibri"/>
              </a:rPr>
              <a:t>▪  </a:t>
            </a:r>
            <a:r>
              <a:rPr lang="pt-BR" sz="1450" b="1" i="0" noProof="0" dirty="0">
                <a:solidFill>
                  <a:srgbClr val="0E2A47"/>
                </a:solidFill>
                <a:latin typeface="Calibri"/>
              </a:rPr>
              <a:t>8 arquivos do IBGE  </a:t>
            </a:r>
            <a:r>
              <a:rPr lang="pt-BR" sz="1450" b="0" i="0" noProof="0" dirty="0">
                <a:solidFill>
                  <a:srgbClr val="0E2A47"/>
                </a:solidFill>
                <a:latin typeface="Calibri"/>
              </a:rPr>
              <a:t>— básico, domicílio 1 e 2, alfabetização, cor/raça, renda, demografia, parentesco.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lang="pt-BR" sz="1450" b="1" i="0" noProof="0" dirty="0">
                <a:solidFill>
                  <a:srgbClr val="1C7293"/>
                </a:solidFill>
                <a:latin typeface="Calibri"/>
              </a:rPr>
              <a:t>▪  </a:t>
            </a:r>
            <a:r>
              <a:rPr lang="pt-BR" sz="1450" b="1" i="0" noProof="0" dirty="0">
                <a:solidFill>
                  <a:srgbClr val="0E2A47"/>
                </a:solidFill>
                <a:latin typeface="Calibri"/>
              </a:rPr>
              <a:t>Filtro ELSI  </a:t>
            </a:r>
            <a:r>
              <a:rPr lang="pt-BR" sz="1450" b="0" i="0" noProof="0" dirty="0">
                <a:solidFill>
                  <a:srgbClr val="0E2A47"/>
                </a:solidFill>
                <a:latin typeface="Calibri"/>
              </a:rPr>
              <a:t>— chave (UF + nome normalizado) localiza os 70 municípios; leitura em </a:t>
            </a:r>
            <a:r>
              <a:rPr lang="pt-BR" sz="1450" b="0" i="0" noProof="0" dirty="0" err="1">
                <a:solidFill>
                  <a:srgbClr val="0E2A47"/>
                </a:solidFill>
                <a:latin typeface="Calibri"/>
              </a:rPr>
              <a:t>chunks</a:t>
            </a:r>
            <a:r>
              <a:rPr lang="pt-BR" sz="1450" b="0" i="0" noProof="0" dirty="0">
                <a:solidFill>
                  <a:srgbClr val="0E2A47"/>
                </a:solidFill>
                <a:latin typeface="Calibri"/>
              </a:rPr>
              <a:t> p/ conter RAM.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lang="pt-BR" sz="1450" b="1" i="0" noProof="0" dirty="0">
                <a:solidFill>
                  <a:srgbClr val="1C7293"/>
                </a:solidFill>
                <a:latin typeface="Calibri"/>
              </a:rPr>
              <a:t>▪  </a:t>
            </a:r>
            <a:r>
              <a:rPr lang="pt-BR" sz="1450" b="1" i="0" noProof="0" dirty="0">
                <a:solidFill>
                  <a:srgbClr val="0E2A47"/>
                </a:solidFill>
                <a:latin typeface="Calibri"/>
              </a:rPr>
              <a:t>Dicionário oficial  </a:t>
            </a:r>
            <a:r>
              <a:rPr lang="pt-BR" sz="1450" b="0" i="0" noProof="0" dirty="0">
                <a:solidFill>
                  <a:srgbClr val="0E2A47"/>
                </a:solidFill>
                <a:latin typeface="Calibri"/>
              </a:rPr>
              <a:t>— baixado do FTP do IBGE e </a:t>
            </a:r>
            <a:r>
              <a:rPr lang="pt-BR" sz="1450" b="0" i="0" noProof="0" dirty="0" err="1">
                <a:solidFill>
                  <a:srgbClr val="0E2A47"/>
                </a:solidFill>
                <a:latin typeface="Calibri"/>
              </a:rPr>
              <a:t>versionado</a:t>
            </a:r>
            <a:r>
              <a:rPr lang="pt-BR" sz="1450" b="0" i="0" noProof="0" dirty="0">
                <a:solidFill>
                  <a:srgbClr val="0E2A47"/>
                </a:solidFill>
                <a:latin typeface="Calibri"/>
              </a:rPr>
              <a:t> no repositório </a:t>
            </a:r>
            <a:endParaRPr lang="pt-BR" sz="1450" noProof="0" dirty="0">
              <a:solidFill>
                <a:srgbClr val="0E2A47"/>
              </a:solidFill>
              <a:latin typeface="Calibri"/>
            </a:endParaRP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lang="pt-BR" sz="1450" b="1" i="0" noProof="0" dirty="0">
                <a:solidFill>
                  <a:srgbClr val="1C7293"/>
                </a:solidFill>
                <a:latin typeface="Calibri"/>
              </a:rPr>
              <a:t>▪  </a:t>
            </a:r>
            <a:r>
              <a:rPr lang="pt-BR" sz="1450" b="1" i="0" noProof="0" dirty="0">
                <a:solidFill>
                  <a:srgbClr val="0E2A47"/>
                </a:solidFill>
                <a:latin typeface="Calibri"/>
              </a:rPr>
              <a:t>Sigilo preservado  </a:t>
            </a:r>
            <a:r>
              <a:rPr lang="pt-BR" sz="1450" b="0" i="0" noProof="0" dirty="0">
                <a:solidFill>
                  <a:srgbClr val="0E2A47"/>
                </a:solidFill>
                <a:latin typeface="Calibri"/>
              </a:rPr>
              <a:t>— marcador "X" do IBGE mantido na base bruta; tratado só na EDA.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lang="pt-BR" sz="1450" b="1" i="0" noProof="0" dirty="0">
                <a:solidFill>
                  <a:srgbClr val="1C7293"/>
                </a:solidFill>
                <a:latin typeface="Calibri"/>
              </a:rPr>
              <a:t>▪  </a:t>
            </a:r>
            <a:r>
              <a:rPr lang="pt-BR" sz="1450" b="1" i="0" noProof="0" dirty="0">
                <a:solidFill>
                  <a:srgbClr val="0E2A47"/>
                </a:solidFill>
                <a:latin typeface="Calibri"/>
              </a:rPr>
              <a:t>Base unificada  </a:t>
            </a:r>
            <a:r>
              <a:rPr lang="pt-BR" sz="1450" b="0" i="0" noProof="0" dirty="0">
                <a:solidFill>
                  <a:srgbClr val="0E2A47"/>
                </a:solidFill>
                <a:latin typeface="Calibri"/>
              </a:rPr>
              <a:t>— Base_ELSI_Bruta_Censo2022.csv, hoje com 58 colunas.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79" y="2011680"/>
            <a:ext cx="1920240" cy="1463040"/>
          </a:xfrm>
          <a:prstGeom prst="roundRect">
            <a:avLst>
              <a:gd name="adj" fmla="val 8000"/>
            </a:avLst>
          </a:prstGeom>
          <a:solidFill>
            <a:srgbClr val="EE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8" name="TextBox 7"/>
          <p:cNvSpPr txBox="1"/>
          <p:nvPr/>
        </p:nvSpPr>
        <p:spPr>
          <a:xfrm>
            <a:off x="7498079" y="2157984"/>
            <a:ext cx="1920240" cy="7132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pt-BR" sz="3300" b="1" i="0" noProof="0" dirty="0">
                <a:solidFill>
                  <a:srgbClr val="5A6B7B"/>
                </a:solidFill>
                <a:latin typeface="Georgia"/>
              </a:rPr>
              <a:t>~2,4 GB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19" y="2798064"/>
            <a:ext cx="173736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pt-BR" sz="1150" b="0" i="0" noProof="0" dirty="0" err="1">
                <a:solidFill>
                  <a:srgbClr val="5A6B7B"/>
                </a:solidFill>
                <a:latin typeface="Calibri"/>
              </a:rPr>
              <a:t>CSVs</a:t>
            </a:r>
            <a:r>
              <a:rPr lang="pt-BR" sz="1150" b="0" i="0" noProof="0" dirty="0">
                <a:solidFill>
                  <a:srgbClr val="5A6B7B"/>
                </a:solidFill>
                <a:latin typeface="Calibri"/>
              </a:rPr>
              <a:t> brutos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555480" y="2011680"/>
            <a:ext cx="2011680" cy="1463040"/>
          </a:xfrm>
          <a:prstGeom prst="roundRect">
            <a:avLst>
              <a:gd name="adj" fmla="val 8000"/>
            </a:avLst>
          </a:prstGeom>
          <a:solidFill>
            <a:srgbClr val="EE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11" name="TextBox 10"/>
          <p:cNvSpPr txBox="1"/>
          <p:nvPr/>
        </p:nvSpPr>
        <p:spPr>
          <a:xfrm>
            <a:off x="9555480" y="2157984"/>
            <a:ext cx="2011680" cy="7132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pt-BR" sz="3300" b="1" i="0" noProof="0" dirty="0">
                <a:solidFill>
                  <a:srgbClr val="1C7293"/>
                </a:solidFill>
                <a:latin typeface="Georgia"/>
              </a:rPr>
              <a:t>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46920" y="2798064"/>
            <a:ext cx="182880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pt-BR" sz="1150" b="0" i="0" noProof="0" dirty="0">
                <a:solidFill>
                  <a:srgbClr val="5A6B7B"/>
                </a:solidFill>
                <a:latin typeface="Calibri"/>
              </a:rPr>
              <a:t>arquivos-fonte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98079" y="3611880"/>
            <a:ext cx="1920240" cy="1463040"/>
          </a:xfrm>
          <a:prstGeom prst="roundRect">
            <a:avLst>
              <a:gd name="adj" fmla="val 8000"/>
            </a:avLst>
          </a:prstGeom>
          <a:solidFill>
            <a:srgbClr val="EE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14" name="TextBox 13"/>
          <p:cNvSpPr txBox="1"/>
          <p:nvPr/>
        </p:nvSpPr>
        <p:spPr>
          <a:xfrm>
            <a:off x="7498079" y="3758184"/>
            <a:ext cx="1920240" cy="7132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pt-BR" sz="3300" b="1" i="0" noProof="0" dirty="0">
                <a:solidFill>
                  <a:srgbClr val="00A896"/>
                </a:solidFill>
                <a:latin typeface="Georgia"/>
              </a:rPr>
              <a:t>58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89519" y="4398264"/>
            <a:ext cx="173736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pt-BR" sz="1150" b="0" i="0" noProof="0" dirty="0">
                <a:solidFill>
                  <a:srgbClr val="5A6B7B"/>
                </a:solidFill>
                <a:latin typeface="Calibri"/>
              </a:rPr>
              <a:t>colunas na base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55480" y="3611880"/>
            <a:ext cx="2011680" cy="1463040"/>
          </a:xfrm>
          <a:prstGeom prst="roundRect">
            <a:avLst>
              <a:gd name="adj" fmla="val 8000"/>
            </a:avLst>
          </a:prstGeom>
          <a:solidFill>
            <a:srgbClr val="EE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17" name="TextBox 16"/>
          <p:cNvSpPr txBox="1"/>
          <p:nvPr/>
        </p:nvSpPr>
        <p:spPr>
          <a:xfrm>
            <a:off x="9555480" y="3758184"/>
            <a:ext cx="2011680" cy="7132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pt-BR" sz="3300" b="1" i="0" noProof="0" dirty="0">
                <a:solidFill>
                  <a:srgbClr val="0E2A47"/>
                </a:solidFill>
                <a:latin typeface="Georgia"/>
              </a:rPr>
              <a:t>17 MB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46920" y="4398264"/>
            <a:ext cx="182880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pt-BR" sz="1150" b="0" i="0" noProof="0" dirty="0">
                <a:solidFill>
                  <a:srgbClr val="5A6B7B"/>
                </a:solidFill>
                <a:latin typeface="Calibri"/>
              </a:rPr>
              <a:t>base filtrada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1064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pt-BR" sz="1250" b="1" i="0" noProof="0" dirty="0">
                <a:solidFill>
                  <a:srgbClr val="1C7293"/>
                </a:solidFill>
                <a:latin typeface="Calibri"/>
              </a:rPr>
              <a:t>METODOLOGIA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76656"/>
            <a:ext cx="110642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lang="pt-BR" sz="3000" b="1" i="0" noProof="0" dirty="0">
                <a:solidFill>
                  <a:srgbClr val="0E2A47"/>
                </a:solidFill>
                <a:latin typeface="Georgia"/>
              </a:rPr>
              <a:t>Como a EDA trata os dados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97280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</a:pPr>
            <a:r>
              <a:rPr lang="pt-BR" sz="1400" b="1" i="0" noProof="0" dirty="0">
                <a:solidFill>
                  <a:srgbClr val="1C7293"/>
                </a:solidFill>
                <a:latin typeface="Calibri"/>
              </a:rPr>
              <a:t>▪  </a:t>
            </a:r>
            <a:r>
              <a:rPr lang="pt-BR" sz="1400" b="1" i="0" noProof="0" dirty="0">
                <a:solidFill>
                  <a:srgbClr val="0E2A47"/>
                </a:solidFill>
                <a:latin typeface="Calibri"/>
              </a:rPr>
              <a:t>Denominador domiciliar V00001  </a:t>
            </a:r>
            <a:r>
              <a:rPr lang="pt-BR" sz="1400" b="0" i="0" noProof="0" dirty="0">
                <a:solidFill>
                  <a:srgbClr val="0E2A47"/>
                </a:solidFill>
                <a:latin typeface="Calibri"/>
              </a:rPr>
              <a:t>— Domicílios Particulares Permanentes Ocupados (DPPO); equivalente ao V002 do Censo 2010, padrão do IVS-BH. O V01042 (contagem de pessoas) foi descartado como denominador.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lang="pt-BR" sz="1400" b="1" i="0" noProof="0" dirty="0">
                <a:solidFill>
                  <a:srgbClr val="1C7293"/>
                </a:solidFill>
                <a:latin typeface="Calibri"/>
              </a:rPr>
              <a:t>▪  </a:t>
            </a:r>
            <a:r>
              <a:rPr lang="pt-BR" sz="1400" b="1" i="0" noProof="0" dirty="0">
                <a:solidFill>
                  <a:srgbClr val="0E2A47"/>
                </a:solidFill>
                <a:latin typeface="Calibri"/>
              </a:rPr>
              <a:t>Elegibilidade </a:t>
            </a:r>
            <a:r>
              <a:rPr lang="pt-BR" sz="1400" b="1" i="0" noProof="0" dirty="0" err="1">
                <a:solidFill>
                  <a:srgbClr val="0E2A47"/>
                </a:solidFill>
                <a:latin typeface="Calibri"/>
              </a:rPr>
              <a:t>Dados_sig</a:t>
            </a:r>
            <a:r>
              <a:rPr lang="pt-BR" sz="1400" b="1" i="0" noProof="0" dirty="0">
                <a:solidFill>
                  <a:srgbClr val="0E2A47"/>
                </a:solidFill>
                <a:latin typeface="Calibri"/>
              </a:rPr>
              <a:t>  </a:t>
            </a:r>
            <a:r>
              <a:rPr lang="pt-BR" sz="1400" b="0" i="0" noProof="0" dirty="0">
                <a:solidFill>
                  <a:srgbClr val="0E2A47"/>
                </a:solidFill>
                <a:latin typeface="Calibri"/>
              </a:rPr>
              <a:t>— cada setor é classificado em OK / SIGILOSO / COLETIVO / ZERADO. Só os OK entram nas análises.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lang="pt-BR" sz="1400" b="1" i="0" noProof="0" dirty="0">
                <a:solidFill>
                  <a:srgbClr val="1C7293"/>
                </a:solidFill>
                <a:latin typeface="Calibri"/>
              </a:rPr>
              <a:t>▪  </a:t>
            </a:r>
            <a:r>
              <a:rPr lang="pt-BR" sz="1400" b="1" i="0" noProof="0" dirty="0">
                <a:solidFill>
                  <a:srgbClr val="0E2A47"/>
                </a:solidFill>
                <a:latin typeface="Calibri"/>
              </a:rPr>
              <a:t>Tratamento de sigilo  </a:t>
            </a:r>
            <a:r>
              <a:rPr lang="pt-BR" sz="1400" b="0" i="0" noProof="0" dirty="0">
                <a:solidFill>
                  <a:srgbClr val="0E2A47"/>
                </a:solidFill>
                <a:latin typeface="Calibri"/>
              </a:rPr>
              <a:t>— o "X" do IBGE vira </a:t>
            </a:r>
            <a:r>
              <a:rPr lang="pt-BR" sz="1400" b="0" i="0" noProof="0" dirty="0" err="1">
                <a:solidFill>
                  <a:srgbClr val="0E2A47"/>
                </a:solidFill>
                <a:latin typeface="Calibri"/>
              </a:rPr>
              <a:t>NaN</a:t>
            </a:r>
            <a:r>
              <a:rPr lang="pt-BR" sz="1400" b="0" i="0" noProof="0" dirty="0">
                <a:solidFill>
                  <a:srgbClr val="0E2A47"/>
                </a:solidFill>
                <a:latin typeface="Calibri"/>
              </a:rPr>
              <a:t>; proporções viram </a:t>
            </a:r>
            <a:r>
              <a:rPr lang="pt-BR" sz="1400" b="0" i="0" noProof="0" dirty="0" err="1">
                <a:solidFill>
                  <a:srgbClr val="0E2A47"/>
                </a:solidFill>
                <a:latin typeface="Calibri"/>
              </a:rPr>
              <a:t>NaN</a:t>
            </a:r>
            <a:r>
              <a:rPr lang="pt-BR" sz="1400" b="0" i="0" noProof="0" dirty="0">
                <a:solidFill>
                  <a:srgbClr val="0E2A47"/>
                </a:solidFill>
                <a:latin typeface="Calibri"/>
              </a:rPr>
              <a:t> apenas se TODAS as parcelas estão sigilosas (</a:t>
            </a:r>
            <a:r>
              <a:rPr lang="pt-BR" sz="1400" b="0" i="0" noProof="0" dirty="0" err="1">
                <a:solidFill>
                  <a:srgbClr val="0E2A47"/>
                </a:solidFill>
                <a:latin typeface="Calibri"/>
              </a:rPr>
              <a:t>min_count</a:t>
            </a:r>
            <a:r>
              <a:rPr lang="pt-BR" sz="1400" b="0" i="0" noProof="0" dirty="0">
                <a:solidFill>
                  <a:srgbClr val="0E2A47"/>
                </a:solidFill>
                <a:latin typeface="Calibri"/>
              </a:rPr>
              <a:t>=1), preservando a transparência.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lang="pt-BR" sz="1400" b="1" i="0" noProof="0" dirty="0">
                <a:solidFill>
                  <a:srgbClr val="1C7293"/>
                </a:solidFill>
                <a:latin typeface="Calibri"/>
              </a:rPr>
              <a:t>▪  </a:t>
            </a:r>
            <a:r>
              <a:rPr lang="pt-BR" sz="1400" b="1" i="0" noProof="0" dirty="0">
                <a:solidFill>
                  <a:srgbClr val="0E2A47"/>
                </a:solidFill>
                <a:latin typeface="Calibri"/>
              </a:rPr>
              <a:t>Proporções brutas  </a:t>
            </a:r>
            <a:r>
              <a:rPr lang="pt-BR" sz="1400" b="0" i="0" noProof="0" dirty="0">
                <a:solidFill>
                  <a:srgbClr val="0E2A47"/>
                </a:solidFill>
                <a:latin typeface="Calibri"/>
              </a:rPr>
              <a:t>— para a EDA usam-se as proporções 0–1 sem normalização; a padronização min-</a:t>
            </a:r>
            <a:r>
              <a:rPr lang="pt-BR" sz="1400" b="0" i="0" noProof="0" dirty="0" err="1">
                <a:solidFill>
                  <a:srgbClr val="0E2A47"/>
                </a:solidFill>
                <a:latin typeface="Calibri"/>
              </a:rPr>
              <a:t>max</a:t>
            </a:r>
            <a:r>
              <a:rPr lang="pt-BR" sz="1400" b="0" i="0" noProof="0" dirty="0">
                <a:solidFill>
                  <a:srgbClr val="0E2A47"/>
                </a:solidFill>
                <a:latin typeface="Calibri"/>
              </a:rPr>
              <a:t> fica para o cálculo do índice.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lang="pt-BR" sz="1400" b="1" i="0" noProof="0" dirty="0">
                <a:solidFill>
                  <a:srgbClr val="1C7293"/>
                </a:solidFill>
                <a:latin typeface="Calibri"/>
              </a:rPr>
              <a:t>▪  </a:t>
            </a:r>
            <a:r>
              <a:rPr lang="pt-BR" sz="1400" b="1" i="0" noProof="0" dirty="0">
                <a:solidFill>
                  <a:srgbClr val="0E2A47"/>
                </a:solidFill>
                <a:latin typeface="Calibri"/>
              </a:rPr>
              <a:t>Estatística robusta  </a:t>
            </a:r>
            <a:r>
              <a:rPr lang="pt-BR" sz="1400" b="0" i="0" noProof="0" dirty="0">
                <a:solidFill>
                  <a:srgbClr val="0E2A47"/>
                </a:solidFill>
                <a:latin typeface="Calibri"/>
              </a:rPr>
              <a:t>— relatam-se mediana e IQR (além de média/DP), mais adequados à forte assimetria.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754880" cy="548640"/>
          </a:xfrm>
          <a:prstGeom prst="roundRect">
            <a:avLst>
              <a:gd name="adj" fmla="val 18000"/>
            </a:avLst>
          </a:prstGeom>
          <a:solidFill>
            <a:srgbClr val="00A8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38100" rIns="101600" bIns="38100" rtlCol="0" anchor="ctr"/>
          <a:lstStyle/>
          <a:p>
            <a:pPr algn="ctr"/>
            <a:r>
              <a:rPr lang="pt-BR" sz="1300" b="1" i="0" noProof="0" dirty="0">
                <a:solidFill>
                  <a:srgbClr val="0E2A47"/>
                </a:solidFill>
                <a:latin typeface="Calibri"/>
              </a:rPr>
              <a:t>106.281 setores OK  (97,48% dos 109.032)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577840" y="5897880"/>
            <a:ext cx="2743200" cy="548640"/>
          </a:xfrm>
          <a:prstGeom prst="roundRect">
            <a:avLst>
              <a:gd name="adj" fmla="val 18000"/>
            </a:avLst>
          </a:prstGeom>
          <a:solidFill>
            <a:srgbClr val="EE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38100" rIns="101600" bIns="38100" rtlCol="0" anchor="ctr"/>
          <a:lstStyle/>
          <a:p>
            <a:pPr algn="ctr"/>
            <a:r>
              <a:rPr lang="pt-BR" sz="1300" b="1" i="0" noProof="0" dirty="0">
                <a:solidFill>
                  <a:srgbClr val="0E2A47"/>
                </a:solidFill>
                <a:latin typeface="Calibri"/>
              </a:rPr>
              <a:t>2.751 SIGILOSO (2,52%)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1064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pt-BR" sz="1250" b="1" i="0" noProof="0" dirty="0">
                <a:solidFill>
                  <a:srgbClr val="1C7293"/>
                </a:solidFill>
                <a:latin typeface="Calibri"/>
              </a:rPr>
              <a:t>UNIVERSO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76656"/>
            <a:ext cx="110642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lang="pt-BR" sz="3000" b="1" i="0" noProof="0" dirty="0">
                <a:solidFill>
                  <a:srgbClr val="0E2A47"/>
                </a:solidFill>
                <a:latin typeface="Georgia"/>
              </a:rPr>
              <a:t>Universo amostral e elegibilidade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19621568"/>
              </p:ext>
            </p:extLst>
          </p:nvPr>
        </p:nvGraphicFramePr>
        <p:xfrm>
          <a:off x="640080" y="1874519"/>
          <a:ext cx="6126477" cy="2176272"/>
        </p:xfrm>
        <a:graphic>
          <a:graphicData uri="http://schemas.openxmlformats.org/drawingml/2006/table">
            <a:tbl>
              <a:tblPr/>
              <a:tblGrid>
                <a:gridCol w="180190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0095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8209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4152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lang="pt-BR" sz="1100" b="1" i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Região</a:t>
                      </a:r>
                    </a:p>
                  </a:txBody>
                  <a:tcPr marL="76200" marR="76200" marT="25400" marB="25400" anchor="ctr">
                    <a:solidFill>
                      <a:srgbClr val="1C729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b="1" i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Mun.</a:t>
                      </a:r>
                    </a:p>
                  </a:txBody>
                  <a:tcPr marL="76200" marR="76200" marT="25400" marB="25400" anchor="ctr">
                    <a:solidFill>
                      <a:srgbClr val="1C729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pt-BR" sz="1100" b="1" i="0" noProof="0" dirty="0" err="1">
                          <a:solidFill>
                            <a:srgbClr val="FFFFFF"/>
                          </a:solidFill>
                          <a:latin typeface="Calibri"/>
                        </a:rPr>
                        <a:t>UFs</a:t>
                      </a:r>
                      <a:endParaRPr lang="pt-BR" sz="1100" b="1" i="0" noProof="0" dirty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L="76200" marR="76200" marT="25400" marB="25400" anchor="ctr">
                    <a:solidFill>
                      <a:srgbClr val="1C729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pt-BR" sz="1100" b="1" i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Setores</a:t>
                      </a:r>
                    </a:p>
                  </a:txBody>
                  <a:tcPr marL="76200" marR="76200" marT="25400" marB="25400" anchor="ctr">
                    <a:solidFill>
                      <a:srgbClr val="1C729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lang="pt-BR" sz="1150" b="1" i="0" noProof="0" dirty="0">
                          <a:solidFill>
                            <a:srgbClr val="0E2A47"/>
                          </a:solidFill>
                          <a:latin typeface="Calibri"/>
                        </a:rPr>
                        <a:t>Sudeste</a:t>
                      </a:r>
                    </a:p>
                  </a:txBody>
                  <a:tcPr marL="76200" marR="762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50" b="0" i="0" noProof="0" dirty="0">
                          <a:solidFill>
                            <a:srgbClr val="0E2A47"/>
                          </a:solidFill>
                          <a:latin typeface="Calibri"/>
                        </a:rPr>
                        <a:t>26</a:t>
                      </a:r>
                    </a:p>
                  </a:txBody>
                  <a:tcPr marL="76200" marR="762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pt-BR" sz="1150" b="0" i="0" noProof="0" dirty="0">
                          <a:solidFill>
                            <a:srgbClr val="0E2A47"/>
                          </a:solidFill>
                          <a:latin typeface="Calibri"/>
                        </a:rPr>
                        <a:t>MG ES RJ SP</a:t>
                      </a:r>
                    </a:p>
                  </a:txBody>
                  <a:tcPr marL="76200" marR="762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pt-BR" sz="1150" b="0" i="0" noProof="0" dirty="0">
                          <a:solidFill>
                            <a:srgbClr val="0E2A47"/>
                          </a:solidFill>
                          <a:latin typeface="Calibri"/>
                        </a:rPr>
                        <a:t>64.281</a:t>
                      </a:r>
                    </a:p>
                  </a:txBody>
                  <a:tcPr marL="76200" marR="762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lang="pt-BR" sz="1150" b="1" i="0" noProof="0" dirty="0">
                          <a:solidFill>
                            <a:srgbClr val="0E2A47"/>
                          </a:solidFill>
                          <a:latin typeface="Calibri"/>
                        </a:rPr>
                        <a:t>Nordeste</a:t>
                      </a:r>
                    </a:p>
                  </a:txBody>
                  <a:tcPr marL="76200" marR="76200" marT="12700" marB="127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50" b="0" i="0" noProof="0" dirty="0">
                          <a:solidFill>
                            <a:srgbClr val="0E2A47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 marL="76200" marR="76200" marT="12700" marB="127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pt-BR" sz="1150" b="0" i="0" noProof="0" dirty="0">
                          <a:solidFill>
                            <a:srgbClr val="0E2A47"/>
                          </a:solidFill>
                          <a:latin typeface="Calibri"/>
                        </a:rPr>
                        <a:t>9 </a:t>
                      </a:r>
                      <a:r>
                        <a:rPr lang="pt-BR" sz="1150" b="0" i="0" noProof="0" dirty="0" err="1">
                          <a:solidFill>
                            <a:srgbClr val="0E2A47"/>
                          </a:solidFill>
                          <a:latin typeface="Calibri"/>
                        </a:rPr>
                        <a:t>UFs</a:t>
                      </a:r>
                      <a:endParaRPr lang="pt-BR" sz="1150" b="0" i="0" noProof="0" dirty="0">
                        <a:solidFill>
                          <a:srgbClr val="0E2A47"/>
                        </a:solidFill>
                        <a:latin typeface="Calibri"/>
                      </a:endParaRPr>
                    </a:p>
                  </a:txBody>
                  <a:tcPr marL="76200" marR="76200" marT="12700" marB="127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pt-BR" sz="1150" b="0" i="0" noProof="0" dirty="0">
                          <a:solidFill>
                            <a:srgbClr val="0E2A47"/>
                          </a:solidFill>
                          <a:latin typeface="Calibri"/>
                        </a:rPr>
                        <a:t>20.628</a:t>
                      </a:r>
                    </a:p>
                  </a:txBody>
                  <a:tcPr marL="76200" marR="76200" marT="12700" marB="12700" anchor="ctr">
                    <a:solidFill>
                      <a:srgbClr val="EEF3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lang="pt-BR" sz="1150" b="1" i="0" noProof="0" dirty="0">
                          <a:solidFill>
                            <a:srgbClr val="0E2A47"/>
                          </a:solidFill>
                          <a:latin typeface="Calibri"/>
                        </a:rPr>
                        <a:t>Sul</a:t>
                      </a:r>
                    </a:p>
                  </a:txBody>
                  <a:tcPr marL="76200" marR="762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50" b="0" i="0" noProof="0" dirty="0">
                          <a:solidFill>
                            <a:srgbClr val="0E2A47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76200" marR="762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pt-BR" sz="1150" b="0" i="0" noProof="0" dirty="0">
                          <a:solidFill>
                            <a:srgbClr val="0E2A47"/>
                          </a:solidFill>
                          <a:latin typeface="Calibri"/>
                        </a:rPr>
                        <a:t>PR SC RS</a:t>
                      </a:r>
                    </a:p>
                  </a:txBody>
                  <a:tcPr marL="76200" marR="762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pt-BR" sz="1150" b="0" i="0" noProof="0" dirty="0">
                          <a:solidFill>
                            <a:srgbClr val="0E2A47"/>
                          </a:solidFill>
                          <a:latin typeface="Calibri"/>
                        </a:rPr>
                        <a:t>7.561</a:t>
                      </a:r>
                    </a:p>
                  </a:txBody>
                  <a:tcPr marL="76200" marR="762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lang="pt-BR" sz="1150" b="1" i="0" noProof="0" dirty="0">
                          <a:solidFill>
                            <a:srgbClr val="0E2A47"/>
                          </a:solidFill>
                          <a:latin typeface="Calibri"/>
                        </a:rPr>
                        <a:t>Centro-Oeste</a:t>
                      </a:r>
                    </a:p>
                  </a:txBody>
                  <a:tcPr marL="76200" marR="76200" marT="12700" marB="127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50" b="0" i="0" noProof="0" dirty="0">
                          <a:solidFill>
                            <a:srgbClr val="0E2A47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76200" marR="76200" marT="12700" marB="127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pt-BR" sz="1150" b="0" i="0" noProof="0" dirty="0">
                          <a:solidFill>
                            <a:srgbClr val="0E2A47"/>
                          </a:solidFill>
                          <a:latin typeface="Calibri"/>
                        </a:rPr>
                        <a:t>MS MT GO DF</a:t>
                      </a:r>
                    </a:p>
                  </a:txBody>
                  <a:tcPr marL="76200" marR="76200" marT="12700" marB="127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pt-BR" sz="1150" b="0" i="0" noProof="0" dirty="0">
                          <a:solidFill>
                            <a:srgbClr val="0E2A47"/>
                          </a:solidFill>
                          <a:latin typeface="Calibri"/>
                        </a:rPr>
                        <a:t>10.171</a:t>
                      </a:r>
                    </a:p>
                  </a:txBody>
                  <a:tcPr marL="76200" marR="76200" marT="12700" marB="12700" anchor="ctr">
                    <a:solidFill>
                      <a:srgbClr val="EEF3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lang="pt-BR" sz="1150" b="1" i="0" noProof="0" dirty="0">
                          <a:solidFill>
                            <a:srgbClr val="0E2A47"/>
                          </a:solidFill>
                          <a:latin typeface="Calibri"/>
                        </a:rPr>
                        <a:t>Norte</a:t>
                      </a:r>
                    </a:p>
                  </a:txBody>
                  <a:tcPr marL="76200" marR="762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50" b="0" i="0" noProof="0" dirty="0">
                          <a:solidFill>
                            <a:srgbClr val="0E2A47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76200" marR="762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pt-BR" sz="1150" b="0" i="0" noProof="0" dirty="0">
                          <a:solidFill>
                            <a:srgbClr val="0E2A47"/>
                          </a:solidFill>
                          <a:latin typeface="Calibri"/>
                        </a:rPr>
                        <a:t>AM PA</a:t>
                      </a:r>
                    </a:p>
                  </a:txBody>
                  <a:tcPr marL="76200" marR="762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pt-BR" sz="1150" b="0" i="0" noProof="0" dirty="0">
                          <a:solidFill>
                            <a:srgbClr val="0E2A47"/>
                          </a:solidFill>
                          <a:latin typeface="Calibri"/>
                        </a:rPr>
                        <a:t>6.391</a:t>
                      </a:r>
                    </a:p>
                  </a:txBody>
                  <a:tcPr marL="76200" marR="762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lang="pt-BR" sz="1150" b="1" i="0" noProof="0" dirty="0">
                          <a:solidFill>
                            <a:srgbClr val="0E2A47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76200" marR="76200" marT="12700" marB="127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50" b="0" i="0" noProof="0" dirty="0">
                          <a:solidFill>
                            <a:srgbClr val="0E2A47"/>
                          </a:solidFill>
                          <a:latin typeface="Calibri"/>
                        </a:rPr>
                        <a:t>70</a:t>
                      </a:r>
                    </a:p>
                  </a:txBody>
                  <a:tcPr marL="76200" marR="76200" marT="12700" marB="127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pt-BR" sz="1150" b="0" i="0" noProof="0" dirty="0">
                          <a:solidFill>
                            <a:srgbClr val="0E2A47"/>
                          </a:solidFill>
                          <a:latin typeface="Calibri"/>
                        </a:rPr>
                        <a:t>22 </a:t>
                      </a:r>
                      <a:r>
                        <a:rPr lang="pt-BR" sz="1150" b="0" i="0" noProof="0" dirty="0" err="1">
                          <a:solidFill>
                            <a:srgbClr val="0E2A47"/>
                          </a:solidFill>
                          <a:latin typeface="Calibri"/>
                        </a:rPr>
                        <a:t>UFs</a:t>
                      </a:r>
                      <a:endParaRPr lang="pt-BR" sz="1150" b="0" i="0" noProof="0" dirty="0">
                        <a:solidFill>
                          <a:srgbClr val="0E2A47"/>
                        </a:solidFill>
                        <a:latin typeface="Calibri"/>
                      </a:endParaRPr>
                    </a:p>
                  </a:txBody>
                  <a:tcPr marL="76200" marR="76200" marT="12700" marB="127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pt-BR" sz="1150" b="0" i="0" noProof="0" dirty="0">
                          <a:solidFill>
                            <a:srgbClr val="0E2A47"/>
                          </a:solidFill>
                          <a:latin typeface="Calibri"/>
                        </a:rPr>
                        <a:t>109.032</a:t>
                      </a:r>
                    </a:p>
                  </a:txBody>
                  <a:tcPr marL="76200" marR="76200" marT="12700" marB="12700" anchor="ctr">
                    <a:solidFill>
                      <a:srgbClr val="EEF3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7132320" y="1874519"/>
            <a:ext cx="2148840" cy="1554480"/>
          </a:xfrm>
          <a:prstGeom prst="roundRect">
            <a:avLst>
              <a:gd name="adj" fmla="val 8000"/>
            </a:avLst>
          </a:prstGeom>
          <a:solidFill>
            <a:srgbClr val="EE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7" name="TextBox 6"/>
          <p:cNvSpPr txBox="1"/>
          <p:nvPr/>
        </p:nvSpPr>
        <p:spPr>
          <a:xfrm>
            <a:off x="7132320" y="2020823"/>
            <a:ext cx="2148840" cy="7132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pt-BR" sz="3300" b="1" i="0" noProof="0" dirty="0">
                <a:solidFill>
                  <a:srgbClr val="00A896"/>
                </a:solidFill>
                <a:latin typeface="Georgia"/>
              </a:rPr>
              <a:t>106.281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0" y="2752343"/>
            <a:ext cx="196596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pt-BR" sz="1150" b="0" i="0" noProof="0" dirty="0">
                <a:solidFill>
                  <a:srgbClr val="5A6B7B"/>
                </a:solidFill>
                <a:latin typeface="Calibri"/>
              </a:rPr>
              <a:t>setores OK (97,48%)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418320" y="1874519"/>
            <a:ext cx="2148840" cy="1554480"/>
          </a:xfrm>
          <a:prstGeom prst="roundRect">
            <a:avLst>
              <a:gd name="adj" fmla="val 8000"/>
            </a:avLst>
          </a:prstGeom>
          <a:solidFill>
            <a:srgbClr val="EE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10" name="TextBox 9"/>
          <p:cNvSpPr txBox="1"/>
          <p:nvPr/>
        </p:nvSpPr>
        <p:spPr>
          <a:xfrm>
            <a:off x="9418320" y="2020823"/>
            <a:ext cx="2148840" cy="7132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pt-BR" sz="3300" b="1" i="0" noProof="0" dirty="0">
                <a:solidFill>
                  <a:srgbClr val="E0A458"/>
                </a:solidFill>
                <a:latin typeface="Georgia"/>
              </a:rPr>
              <a:t>2.751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0" y="2752343"/>
            <a:ext cx="196596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pt-BR" sz="1150" b="0" i="0" noProof="0" dirty="0">
                <a:solidFill>
                  <a:srgbClr val="5A6B7B"/>
                </a:solidFill>
                <a:latin typeface="Calibri"/>
              </a:rPr>
              <a:t>sigilosos (2,52%)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0" y="3657600"/>
            <a:ext cx="4480560" cy="23774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lang="pt-BR" sz="1300" b="1" i="0" noProof="0" dirty="0">
                <a:solidFill>
                  <a:srgbClr val="1C7293"/>
                </a:solidFill>
                <a:latin typeface="Calibri"/>
              </a:rPr>
              <a:t>▪  </a:t>
            </a:r>
            <a:r>
              <a:rPr lang="pt-BR" sz="1300" b="1" i="0" noProof="0" dirty="0">
                <a:solidFill>
                  <a:srgbClr val="0E2A47"/>
                </a:solidFill>
                <a:latin typeface="Calibri"/>
              </a:rPr>
              <a:t>Sudeste domina  </a:t>
            </a:r>
            <a:r>
              <a:rPr lang="pt-BR" sz="1300" b="0" i="0" noProof="0" dirty="0">
                <a:solidFill>
                  <a:srgbClr val="0E2A47"/>
                </a:solidFill>
                <a:latin typeface="Calibri"/>
              </a:rPr>
              <a:t>— 26 municípios, reflete o desenho do ELSI (SP, RJ, BH).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lang="pt-BR" sz="1300" b="1" i="0" noProof="0" dirty="0">
                <a:solidFill>
                  <a:srgbClr val="1C7293"/>
                </a:solidFill>
                <a:latin typeface="Calibri"/>
              </a:rPr>
              <a:t>▪  </a:t>
            </a:r>
            <a:r>
              <a:rPr lang="pt-BR" sz="1300" b="1" i="0" noProof="0" dirty="0">
                <a:solidFill>
                  <a:srgbClr val="0E2A47"/>
                </a:solidFill>
                <a:latin typeface="Calibri"/>
              </a:rPr>
              <a:t>0 coletivo / 0 zerado  </a:t>
            </a:r>
            <a:r>
              <a:rPr lang="pt-BR" sz="1300" b="0" i="0" noProof="0" dirty="0">
                <a:solidFill>
                  <a:srgbClr val="0E2A47"/>
                </a:solidFill>
                <a:latin typeface="Calibri"/>
              </a:rPr>
              <a:t>— setores 100% coletivos caem em SIGILOSO.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lang="pt-BR" sz="1300" b="1" i="0" noProof="0" dirty="0">
                <a:solidFill>
                  <a:srgbClr val="1C7293"/>
                </a:solidFill>
                <a:latin typeface="Calibri"/>
              </a:rPr>
              <a:t>▪  </a:t>
            </a:r>
            <a:r>
              <a:rPr lang="pt-BR" sz="1300" b="1" i="0" noProof="0" dirty="0">
                <a:solidFill>
                  <a:srgbClr val="0E2A47"/>
                </a:solidFill>
                <a:latin typeface="Calibri"/>
              </a:rPr>
              <a:t>Elegibilidade alta  </a:t>
            </a:r>
            <a:r>
              <a:rPr lang="pt-BR" sz="1300" b="0" i="0" noProof="0" dirty="0">
                <a:solidFill>
                  <a:srgbClr val="0E2A47"/>
                </a:solidFill>
                <a:latin typeface="Calibri"/>
              </a:rPr>
              <a:t>— 97,5%, comparável ao IVS-BH 2012.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1064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pt-BR" sz="1250" b="1" i="0" noProof="0" dirty="0">
                <a:solidFill>
                  <a:srgbClr val="1C7293"/>
                </a:solidFill>
                <a:latin typeface="Calibri"/>
              </a:rPr>
              <a:t>COMPONENTES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76656"/>
            <a:ext cx="110642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lang="pt-BR" sz="3000" b="1" i="0" noProof="0" dirty="0">
                <a:solidFill>
                  <a:srgbClr val="0E2A47"/>
                </a:solidFill>
                <a:latin typeface="Georgia"/>
              </a:rPr>
              <a:t>As 7 variáveis-componente do IVS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6666218"/>
              </p:ext>
            </p:extLst>
          </p:nvPr>
        </p:nvGraphicFramePr>
        <p:xfrm>
          <a:off x="640080" y="1874519"/>
          <a:ext cx="10927077" cy="3657600"/>
        </p:xfrm>
        <a:graphic>
          <a:graphicData uri="http://schemas.openxmlformats.org/drawingml/2006/table">
            <a:tbl>
              <a:tblPr/>
              <a:tblGrid>
                <a:gridCol w="209039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3559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3061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7047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pt-BR" sz="1100" b="1" i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Dimensão</a:t>
                      </a:r>
                    </a:p>
                  </a:txBody>
                  <a:tcPr marL="76200" marR="76200" marT="25400" marB="25400" anchor="ctr">
                    <a:solidFill>
                      <a:srgbClr val="1C729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pt-BR" sz="1100" b="1" i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Variável</a:t>
                      </a:r>
                    </a:p>
                  </a:txBody>
                  <a:tcPr marL="76200" marR="76200" marT="25400" marB="25400" anchor="ctr">
                    <a:solidFill>
                      <a:srgbClr val="1C729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pt-BR" sz="1100" b="1" i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Numerador (Censo 2022)</a:t>
                      </a:r>
                    </a:p>
                  </a:txBody>
                  <a:tcPr marL="76200" marR="76200" marT="25400" marB="25400" anchor="ctr">
                    <a:solidFill>
                      <a:srgbClr val="1C729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pt-BR" sz="1100" b="1" i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Denominador</a:t>
                      </a:r>
                    </a:p>
                  </a:txBody>
                  <a:tcPr marL="76200" marR="76200" marT="25400" marB="25400" anchor="ctr">
                    <a:solidFill>
                      <a:srgbClr val="1C729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pt-BR" sz="1250" b="1" i="0" noProof="0" dirty="0">
                          <a:solidFill>
                            <a:srgbClr val="0E2A47"/>
                          </a:solidFill>
                          <a:latin typeface="Calibri"/>
                        </a:rPr>
                        <a:t>Saneamento</a:t>
                      </a:r>
                    </a:p>
                  </a:txBody>
                  <a:tcPr marL="76200" marR="762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pt-BR" sz="1250" b="0" i="0" noProof="0" dirty="0">
                          <a:solidFill>
                            <a:srgbClr val="0E2A47"/>
                          </a:solidFill>
                          <a:latin typeface="Calibri"/>
                        </a:rPr>
                        <a:t>Água inadequada</a:t>
                      </a:r>
                    </a:p>
                  </a:txBody>
                  <a:tcPr marL="76200" marR="762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pt-BR" sz="1250" b="0" i="0" noProof="0" dirty="0">
                          <a:solidFill>
                            <a:srgbClr val="0E2A47"/>
                          </a:solidFill>
                          <a:latin typeface="Calibri"/>
                        </a:rPr>
                        <a:t>V00112–V00118</a:t>
                      </a:r>
                    </a:p>
                  </a:txBody>
                  <a:tcPr marL="76200" marR="762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pt-BR" sz="1250" b="0" i="0" noProof="0" dirty="0">
                          <a:solidFill>
                            <a:srgbClr val="0E2A47"/>
                          </a:solidFill>
                          <a:latin typeface="Calibri"/>
                        </a:rPr>
                        <a:t>V00001</a:t>
                      </a:r>
                    </a:p>
                  </a:txBody>
                  <a:tcPr marL="76200" marR="762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pt-BR" sz="1250" b="1" i="0" noProof="0" dirty="0">
                          <a:solidFill>
                            <a:srgbClr val="0E2A47"/>
                          </a:solidFill>
                          <a:latin typeface="Calibri"/>
                        </a:rPr>
                        <a:t>Saneamento</a:t>
                      </a:r>
                    </a:p>
                  </a:txBody>
                  <a:tcPr marL="76200" marR="76200" marT="12700" marB="127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pt-BR" sz="1250" b="0" i="0" noProof="0" dirty="0">
                          <a:solidFill>
                            <a:srgbClr val="0E2A47"/>
                          </a:solidFill>
                          <a:latin typeface="Calibri"/>
                        </a:rPr>
                        <a:t>Esgoto inadequado</a:t>
                      </a:r>
                    </a:p>
                  </a:txBody>
                  <a:tcPr marL="76200" marR="76200" marT="12700" marB="127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pt-BR" sz="1250" b="0" i="0" noProof="0" dirty="0">
                          <a:solidFill>
                            <a:srgbClr val="0E2A47"/>
                          </a:solidFill>
                          <a:latin typeface="Calibri"/>
                        </a:rPr>
                        <a:t>V00312–V00316</a:t>
                      </a:r>
                    </a:p>
                  </a:txBody>
                  <a:tcPr marL="76200" marR="76200" marT="12700" marB="127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pt-BR" sz="1250" b="0" i="0" noProof="0" dirty="0">
                          <a:solidFill>
                            <a:srgbClr val="0E2A47"/>
                          </a:solidFill>
                          <a:latin typeface="Calibri"/>
                        </a:rPr>
                        <a:t>V00001</a:t>
                      </a:r>
                    </a:p>
                  </a:txBody>
                  <a:tcPr marL="76200" marR="76200" marT="12700" marB="12700" anchor="ctr">
                    <a:solidFill>
                      <a:srgbClr val="EEF3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pt-BR" sz="1250" b="1" i="0" noProof="0" dirty="0">
                          <a:solidFill>
                            <a:srgbClr val="0E2A47"/>
                          </a:solidFill>
                          <a:latin typeface="Calibri"/>
                        </a:rPr>
                        <a:t>Saneamento</a:t>
                      </a:r>
                    </a:p>
                  </a:txBody>
                  <a:tcPr marL="76200" marR="762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pt-BR" sz="1250" b="0" i="0" noProof="0" dirty="0">
                          <a:solidFill>
                            <a:srgbClr val="0E2A47"/>
                          </a:solidFill>
                          <a:latin typeface="Calibri"/>
                        </a:rPr>
                        <a:t>Lixo inadequado</a:t>
                      </a:r>
                    </a:p>
                  </a:txBody>
                  <a:tcPr marL="76200" marR="762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pt-BR" sz="1250" b="0" i="0" noProof="0" dirty="0">
                          <a:solidFill>
                            <a:srgbClr val="0E2A47"/>
                          </a:solidFill>
                          <a:latin typeface="Calibri"/>
                        </a:rPr>
                        <a:t>V00398–V00402</a:t>
                      </a:r>
                    </a:p>
                  </a:txBody>
                  <a:tcPr marL="76200" marR="762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pt-BR" sz="1250" b="0" i="0" noProof="0" dirty="0">
                          <a:solidFill>
                            <a:srgbClr val="0E2A47"/>
                          </a:solidFill>
                          <a:latin typeface="Calibri"/>
                        </a:rPr>
                        <a:t>V00001</a:t>
                      </a:r>
                    </a:p>
                  </a:txBody>
                  <a:tcPr marL="76200" marR="762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pt-BR" sz="1250" b="1" i="0" noProof="0" dirty="0">
                          <a:solidFill>
                            <a:srgbClr val="0E2A47"/>
                          </a:solidFill>
                          <a:latin typeface="Calibri"/>
                        </a:rPr>
                        <a:t>Socioeconômica</a:t>
                      </a:r>
                    </a:p>
                  </a:txBody>
                  <a:tcPr marL="76200" marR="76200" marT="12700" marB="127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pt-BR" sz="1250" b="0" i="0" noProof="0" dirty="0">
                          <a:solidFill>
                            <a:srgbClr val="0E2A47"/>
                          </a:solidFill>
                          <a:latin typeface="Calibri"/>
                        </a:rPr>
                        <a:t>Razão de moradores</a:t>
                      </a:r>
                    </a:p>
                  </a:txBody>
                  <a:tcPr marL="76200" marR="76200" marT="12700" marB="127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pt-BR" sz="1250" b="0" i="0" noProof="0" dirty="0">
                          <a:solidFill>
                            <a:srgbClr val="0E2A47"/>
                          </a:solidFill>
                          <a:latin typeface="Calibri"/>
                        </a:rPr>
                        <a:t>V00005+V00006</a:t>
                      </a:r>
                    </a:p>
                  </a:txBody>
                  <a:tcPr marL="76200" marR="76200" marT="12700" marB="127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pt-BR" sz="1250" b="0" i="0" noProof="0" dirty="0">
                          <a:solidFill>
                            <a:srgbClr val="0E2A47"/>
                          </a:solidFill>
                          <a:latin typeface="Calibri"/>
                        </a:rPr>
                        <a:t>V00001+V00002</a:t>
                      </a:r>
                    </a:p>
                  </a:txBody>
                  <a:tcPr marL="76200" marR="76200" marT="12700" marB="12700" anchor="ctr">
                    <a:solidFill>
                      <a:srgbClr val="EEF3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pt-BR" sz="1250" b="1" i="0" noProof="0" dirty="0">
                          <a:solidFill>
                            <a:srgbClr val="0E2A47"/>
                          </a:solidFill>
                          <a:latin typeface="Calibri"/>
                        </a:rPr>
                        <a:t>Socioeconômica</a:t>
                      </a:r>
                    </a:p>
                  </a:txBody>
                  <a:tcPr marL="76200" marR="762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pt-BR" sz="1250" b="0" i="0" noProof="0" dirty="0">
                          <a:solidFill>
                            <a:srgbClr val="0E2A47"/>
                          </a:solidFill>
                          <a:latin typeface="Calibri"/>
                        </a:rPr>
                        <a:t>Analfabetismo (15+)</a:t>
                      </a:r>
                    </a:p>
                  </a:txBody>
                  <a:tcPr marL="76200" marR="762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pt-BR" sz="1250" b="0" i="0" noProof="0" dirty="0">
                          <a:solidFill>
                            <a:srgbClr val="0E2A47"/>
                          </a:solidFill>
                          <a:latin typeface="Calibri"/>
                        </a:rPr>
                        <a:t>V00901</a:t>
                      </a:r>
                    </a:p>
                  </a:txBody>
                  <a:tcPr marL="76200" marR="762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pt-BR" sz="1250" b="0" i="0" noProof="0" dirty="0">
                          <a:solidFill>
                            <a:srgbClr val="0E2A47"/>
                          </a:solidFill>
                          <a:latin typeface="Calibri"/>
                        </a:rPr>
                        <a:t>V00900+V00901</a:t>
                      </a:r>
                    </a:p>
                  </a:txBody>
                  <a:tcPr marL="76200" marR="762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pt-BR" sz="1250" b="1" i="0" noProof="0" dirty="0">
                          <a:solidFill>
                            <a:srgbClr val="0E2A47"/>
                          </a:solidFill>
                          <a:latin typeface="Calibri"/>
                        </a:rPr>
                        <a:t>Socioeconômica</a:t>
                      </a:r>
                    </a:p>
                  </a:txBody>
                  <a:tcPr marL="76200" marR="76200" marT="12700" marB="127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pt-BR" sz="1250" b="0" i="0" noProof="0" dirty="0">
                          <a:solidFill>
                            <a:srgbClr val="0E2A47"/>
                          </a:solidFill>
                          <a:latin typeface="Calibri"/>
                        </a:rPr>
                        <a:t>Renda média (invertida)</a:t>
                      </a:r>
                    </a:p>
                  </a:txBody>
                  <a:tcPr marL="76200" marR="76200" marT="12700" marB="127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pt-BR" sz="1250" b="0" i="0" noProof="0" dirty="0">
                          <a:solidFill>
                            <a:srgbClr val="0E2A47"/>
                          </a:solidFill>
                          <a:latin typeface="Calibri"/>
                        </a:rPr>
                        <a:t>V06004</a:t>
                      </a:r>
                    </a:p>
                  </a:txBody>
                  <a:tcPr marL="76200" marR="76200" marT="12700" marB="127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pt-BR" sz="1250" b="0" i="0" noProof="0" dirty="0">
                          <a:solidFill>
                            <a:srgbClr val="0E2A4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6200" marR="76200" marT="12700" marB="12700" anchor="ctr">
                    <a:solidFill>
                      <a:srgbClr val="EEF3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pt-BR" sz="1250" b="1" i="0" noProof="0" dirty="0">
                          <a:solidFill>
                            <a:srgbClr val="0E2A47"/>
                          </a:solidFill>
                          <a:latin typeface="Calibri"/>
                        </a:rPr>
                        <a:t>Socioeconômica</a:t>
                      </a:r>
                    </a:p>
                  </a:txBody>
                  <a:tcPr marL="76200" marR="762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pt-BR" sz="1250" b="0" i="0" noProof="0" dirty="0">
                          <a:solidFill>
                            <a:srgbClr val="0E2A47"/>
                          </a:solidFill>
                          <a:latin typeface="Calibri"/>
                        </a:rPr>
                        <a:t>% preta/parda/indígena</a:t>
                      </a:r>
                    </a:p>
                  </a:txBody>
                  <a:tcPr marL="76200" marR="762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pt-BR" sz="1250" b="0" i="0" noProof="0" dirty="0">
                          <a:solidFill>
                            <a:srgbClr val="0E2A47"/>
                          </a:solidFill>
                          <a:latin typeface="Calibri"/>
                        </a:rPr>
                        <a:t>V01318+V01320+V01321</a:t>
                      </a:r>
                    </a:p>
                  </a:txBody>
                  <a:tcPr marL="76200" marR="762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pt-BR" sz="1250" b="0" i="0" noProof="0" dirty="0">
                          <a:solidFill>
                            <a:srgbClr val="0E2A47"/>
                          </a:solidFill>
                          <a:latin typeface="Calibri"/>
                        </a:rPr>
                        <a:t>v0001</a:t>
                      </a:r>
                    </a:p>
                  </a:txBody>
                  <a:tcPr marL="76200" marR="762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5943600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pt-BR" sz="1300" b="0" i="1" noProof="0" dirty="0">
                <a:solidFill>
                  <a:srgbClr val="5A6B7B"/>
                </a:solidFill>
                <a:latin typeface="Calibri"/>
              </a:rPr>
              <a:t>Direção: ↑ valor = ↑ vulnerabilidade (a renda é a única invertida). Denominador padrão: V00001 (DPPO).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1064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pt-BR" sz="1250" b="1" i="0" noProof="0" dirty="0">
                <a:solidFill>
                  <a:srgbClr val="1C7293"/>
                </a:solidFill>
                <a:latin typeface="Calibri"/>
              </a:rPr>
              <a:t>EDA · DESCRITIVAS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76656"/>
            <a:ext cx="110642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lang="pt-BR" sz="3000" b="1" i="0" noProof="0" dirty="0">
                <a:solidFill>
                  <a:srgbClr val="0E2A47"/>
                </a:solidFill>
                <a:latin typeface="Georgia"/>
              </a:rPr>
              <a:t>Descritivas globais das 7 variáveis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47888123"/>
              </p:ext>
            </p:extLst>
          </p:nvPr>
        </p:nvGraphicFramePr>
        <p:xfrm>
          <a:off x="640080" y="1874519"/>
          <a:ext cx="10927077" cy="3364992"/>
        </p:xfrm>
        <a:graphic>
          <a:graphicData uri="http://schemas.openxmlformats.org/drawingml/2006/table">
            <a:tbl>
              <a:tblPr/>
              <a:tblGrid>
                <a:gridCol w="25433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298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0718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0718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0718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2458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22458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20624">
                <a:tc>
                  <a:txBody>
                    <a:bodyPr/>
                    <a:lstStyle/>
                    <a:p>
                      <a:pPr algn="l"/>
                      <a:r>
                        <a:rPr lang="pt-BR" sz="1100" b="1" i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Variável</a:t>
                      </a:r>
                    </a:p>
                  </a:txBody>
                  <a:tcPr marL="76200" marR="76200" marT="25400" marB="25400" anchor="ctr">
                    <a:solidFill>
                      <a:srgbClr val="1C729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pt-BR" sz="1100" b="1" i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n</a:t>
                      </a:r>
                    </a:p>
                  </a:txBody>
                  <a:tcPr marL="76200" marR="76200" marT="25400" marB="25400" anchor="ctr">
                    <a:solidFill>
                      <a:srgbClr val="1C729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pt-BR" sz="1100" b="1" i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Média</a:t>
                      </a:r>
                    </a:p>
                  </a:txBody>
                  <a:tcPr marL="76200" marR="76200" marT="25400" marB="25400" anchor="ctr">
                    <a:solidFill>
                      <a:srgbClr val="1C729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pt-BR" sz="1100" b="1" i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Mediana</a:t>
                      </a:r>
                    </a:p>
                  </a:txBody>
                  <a:tcPr marL="76200" marR="76200" marT="25400" marB="25400" anchor="ctr">
                    <a:solidFill>
                      <a:srgbClr val="1C729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pt-BR" sz="1100" b="1" i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DP</a:t>
                      </a:r>
                    </a:p>
                  </a:txBody>
                  <a:tcPr marL="76200" marR="76200" marT="25400" marB="25400" anchor="ctr">
                    <a:solidFill>
                      <a:srgbClr val="1C729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pt-BR" sz="1100" b="1" i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Assim.</a:t>
                      </a:r>
                    </a:p>
                  </a:txBody>
                  <a:tcPr marL="76200" marR="76200" marT="25400" marB="25400" anchor="ctr">
                    <a:solidFill>
                      <a:srgbClr val="1C729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pt-BR" sz="1100" b="1" i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Curt.</a:t>
                      </a:r>
                    </a:p>
                  </a:txBody>
                  <a:tcPr marL="76200" marR="76200" marT="25400" marB="25400" anchor="ctr">
                    <a:solidFill>
                      <a:srgbClr val="1C729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lang="pt-BR" sz="1200" b="1" i="0" noProof="0" dirty="0">
                          <a:solidFill>
                            <a:srgbClr val="0E2A47"/>
                          </a:solidFill>
                          <a:latin typeface="Calibri"/>
                        </a:rPr>
                        <a:t>Água inadequada</a:t>
                      </a:r>
                    </a:p>
                  </a:txBody>
                  <a:tcPr marL="76200" marR="762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pt-BR" sz="1200" b="0" i="0" noProof="0" dirty="0">
                          <a:solidFill>
                            <a:srgbClr val="0E2A47"/>
                          </a:solidFill>
                          <a:latin typeface="Calibri"/>
                        </a:rPr>
                        <a:t>106.281</a:t>
                      </a:r>
                    </a:p>
                  </a:txBody>
                  <a:tcPr marL="76200" marR="762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pt-BR" sz="1200" b="0" i="0" noProof="0" dirty="0">
                          <a:solidFill>
                            <a:srgbClr val="0E2A47"/>
                          </a:solidFill>
                          <a:latin typeface="Calibri"/>
                        </a:rPr>
                        <a:t>0.083</a:t>
                      </a:r>
                    </a:p>
                  </a:txBody>
                  <a:tcPr marL="76200" marR="762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pt-BR" sz="1200" b="0" i="0" noProof="0" dirty="0">
                          <a:solidFill>
                            <a:srgbClr val="0E2A4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76200" marR="762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pt-BR" sz="1200" b="0" i="0" noProof="0" dirty="0">
                          <a:solidFill>
                            <a:srgbClr val="0E2A47"/>
                          </a:solidFill>
                          <a:latin typeface="Calibri"/>
                        </a:rPr>
                        <a:t>0.221</a:t>
                      </a:r>
                    </a:p>
                  </a:txBody>
                  <a:tcPr marL="76200" marR="762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pt-BR" sz="1200" b="0" i="0" noProof="0" dirty="0">
                          <a:solidFill>
                            <a:srgbClr val="0E2A47"/>
                          </a:solidFill>
                          <a:latin typeface="Calibri"/>
                        </a:rPr>
                        <a:t>3.07</a:t>
                      </a:r>
                    </a:p>
                  </a:txBody>
                  <a:tcPr marL="76200" marR="762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pt-BR" sz="1200" b="0" i="0" noProof="0" dirty="0">
                          <a:solidFill>
                            <a:srgbClr val="0E2A47"/>
                          </a:solidFill>
                          <a:latin typeface="Calibri"/>
                        </a:rPr>
                        <a:t>8.5</a:t>
                      </a:r>
                    </a:p>
                  </a:txBody>
                  <a:tcPr marL="76200" marR="762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lang="pt-BR" sz="1200" b="1" i="0" noProof="0" dirty="0">
                          <a:solidFill>
                            <a:srgbClr val="0E2A47"/>
                          </a:solidFill>
                          <a:latin typeface="Calibri"/>
                        </a:rPr>
                        <a:t>Esgoto inadequado</a:t>
                      </a:r>
                    </a:p>
                  </a:txBody>
                  <a:tcPr marL="76200" marR="76200" marT="12700" marB="127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pt-BR" sz="1200" b="0" i="0" noProof="0" dirty="0">
                          <a:solidFill>
                            <a:srgbClr val="0E2A47"/>
                          </a:solidFill>
                          <a:latin typeface="Calibri"/>
                        </a:rPr>
                        <a:t>106.280</a:t>
                      </a:r>
                    </a:p>
                  </a:txBody>
                  <a:tcPr marL="76200" marR="76200" marT="12700" marB="127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pt-BR" sz="1200" b="0" i="0" noProof="0" dirty="0">
                          <a:solidFill>
                            <a:srgbClr val="0E2A47"/>
                          </a:solidFill>
                          <a:latin typeface="Calibri"/>
                        </a:rPr>
                        <a:t>0.092</a:t>
                      </a:r>
                    </a:p>
                  </a:txBody>
                  <a:tcPr marL="76200" marR="76200" marT="12700" marB="127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pt-BR" sz="1200" b="0" i="0" noProof="0" dirty="0">
                          <a:solidFill>
                            <a:srgbClr val="0E2A4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76200" marR="76200" marT="12700" marB="127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pt-BR" sz="1200" b="0" i="0" noProof="0" dirty="0">
                          <a:solidFill>
                            <a:srgbClr val="0E2A47"/>
                          </a:solidFill>
                          <a:latin typeface="Calibri"/>
                        </a:rPr>
                        <a:t>0.231</a:t>
                      </a:r>
                    </a:p>
                  </a:txBody>
                  <a:tcPr marL="76200" marR="76200" marT="12700" marB="127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pt-BR" sz="1200" b="0" i="0" noProof="0" dirty="0">
                          <a:solidFill>
                            <a:srgbClr val="0E2A47"/>
                          </a:solidFill>
                          <a:latin typeface="Calibri"/>
                        </a:rPr>
                        <a:t>2.76</a:t>
                      </a:r>
                    </a:p>
                  </a:txBody>
                  <a:tcPr marL="76200" marR="76200" marT="12700" marB="127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pt-BR" sz="1200" b="0" i="0" noProof="0" dirty="0">
                          <a:solidFill>
                            <a:srgbClr val="0E2A47"/>
                          </a:solidFill>
                          <a:latin typeface="Calibri"/>
                        </a:rPr>
                        <a:t>6.5</a:t>
                      </a:r>
                    </a:p>
                  </a:txBody>
                  <a:tcPr marL="76200" marR="76200" marT="12700" marB="12700" anchor="ctr">
                    <a:solidFill>
                      <a:srgbClr val="EEF3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lang="pt-BR" sz="1200" b="1" i="0" noProof="0" dirty="0">
                          <a:solidFill>
                            <a:srgbClr val="0E2A47"/>
                          </a:solidFill>
                          <a:latin typeface="Calibri"/>
                        </a:rPr>
                        <a:t>Lixo inadequado</a:t>
                      </a:r>
                    </a:p>
                  </a:txBody>
                  <a:tcPr marL="76200" marR="762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pt-BR" sz="1200" b="0" i="0" noProof="0" dirty="0">
                          <a:solidFill>
                            <a:srgbClr val="0E2A47"/>
                          </a:solidFill>
                          <a:latin typeface="Calibri"/>
                        </a:rPr>
                        <a:t>106.281</a:t>
                      </a:r>
                    </a:p>
                  </a:txBody>
                  <a:tcPr marL="76200" marR="762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pt-BR" sz="1200" b="0" i="0" noProof="0" dirty="0">
                          <a:solidFill>
                            <a:srgbClr val="0E2A47"/>
                          </a:solidFill>
                          <a:latin typeface="Calibri"/>
                        </a:rPr>
                        <a:t>0.126</a:t>
                      </a:r>
                    </a:p>
                  </a:txBody>
                  <a:tcPr marL="76200" marR="762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pt-BR" sz="1200" b="0" i="0" noProof="0" dirty="0">
                          <a:solidFill>
                            <a:srgbClr val="0E2A4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76200" marR="762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pt-BR" sz="1200" b="0" i="0" noProof="0" dirty="0">
                          <a:solidFill>
                            <a:srgbClr val="0E2A47"/>
                          </a:solidFill>
                          <a:latin typeface="Calibri"/>
                        </a:rPr>
                        <a:t>0.264</a:t>
                      </a:r>
                    </a:p>
                  </a:txBody>
                  <a:tcPr marL="76200" marR="762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pt-BR" sz="1200" b="0" i="0" noProof="0" dirty="0">
                          <a:solidFill>
                            <a:srgbClr val="0E2A47"/>
                          </a:solidFill>
                          <a:latin typeface="Calibri"/>
                        </a:rPr>
                        <a:t>2.23</a:t>
                      </a:r>
                    </a:p>
                  </a:txBody>
                  <a:tcPr marL="76200" marR="762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pt-BR" sz="1200" b="0" i="0" noProof="0" dirty="0">
                          <a:solidFill>
                            <a:srgbClr val="0E2A47"/>
                          </a:solidFill>
                          <a:latin typeface="Calibri"/>
                        </a:rPr>
                        <a:t>3.7</a:t>
                      </a:r>
                    </a:p>
                  </a:txBody>
                  <a:tcPr marL="76200" marR="762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lang="pt-BR" sz="1200" b="1" i="0" noProof="0" dirty="0">
                          <a:solidFill>
                            <a:srgbClr val="0E2A47"/>
                          </a:solidFill>
                          <a:latin typeface="Calibri"/>
                        </a:rPr>
                        <a:t>Razão de moradores</a:t>
                      </a:r>
                    </a:p>
                  </a:txBody>
                  <a:tcPr marL="76200" marR="76200" marT="12700" marB="127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pt-BR" sz="1200" b="0" i="0" noProof="0" dirty="0">
                          <a:solidFill>
                            <a:srgbClr val="0E2A47"/>
                          </a:solidFill>
                          <a:latin typeface="Calibri"/>
                        </a:rPr>
                        <a:t>106.281</a:t>
                      </a:r>
                    </a:p>
                  </a:txBody>
                  <a:tcPr marL="76200" marR="76200" marT="12700" marB="127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pt-BR" sz="1200" b="0" i="0" noProof="0" dirty="0">
                          <a:solidFill>
                            <a:srgbClr val="0E2A47"/>
                          </a:solidFill>
                          <a:latin typeface="Calibri"/>
                        </a:rPr>
                        <a:t>2.698</a:t>
                      </a:r>
                    </a:p>
                  </a:txBody>
                  <a:tcPr marL="76200" marR="76200" marT="12700" marB="127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pt-BR" sz="1200" b="0" i="0" noProof="0" dirty="0">
                          <a:solidFill>
                            <a:srgbClr val="0E2A47"/>
                          </a:solidFill>
                          <a:latin typeface="Calibri"/>
                        </a:rPr>
                        <a:t>2.716</a:t>
                      </a:r>
                    </a:p>
                  </a:txBody>
                  <a:tcPr marL="76200" marR="76200" marT="12700" marB="127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pt-BR" sz="1200" b="0" i="0" noProof="0" dirty="0">
                          <a:solidFill>
                            <a:srgbClr val="0E2A47"/>
                          </a:solidFill>
                          <a:latin typeface="Calibri"/>
                        </a:rPr>
                        <a:t>0.399</a:t>
                      </a:r>
                    </a:p>
                  </a:txBody>
                  <a:tcPr marL="76200" marR="76200" marT="12700" marB="127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pt-BR" sz="1200" b="0" i="0" noProof="0" dirty="0">
                          <a:solidFill>
                            <a:srgbClr val="0E2A47"/>
                          </a:solidFill>
                          <a:latin typeface="Calibri"/>
                        </a:rPr>
                        <a:t>0.09</a:t>
                      </a:r>
                    </a:p>
                  </a:txBody>
                  <a:tcPr marL="76200" marR="76200" marT="12700" marB="127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pt-BR" sz="1200" b="0" i="0" noProof="0" dirty="0">
                          <a:solidFill>
                            <a:srgbClr val="0E2A47"/>
                          </a:solidFill>
                          <a:latin typeface="Calibri"/>
                        </a:rPr>
                        <a:t>3.9</a:t>
                      </a:r>
                    </a:p>
                  </a:txBody>
                  <a:tcPr marL="76200" marR="76200" marT="12700" marB="12700" anchor="ctr">
                    <a:solidFill>
                      <a:srgbClr val="EEF3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lang="pt-BR" sz="1200" b="1" i="0" noProof="0" dirty="0">
                          <a:solidFill>
                            <a:srgbClr val="0E2A47"/>
                          </a:solidFill>
                          <a:latin typeface="Calibri"/>
                        </a:rPr>
                        <a:t>Analfabetismo (15+)</a:t>
                      </a:r>
                    </a:p>
                  </a:txBody>
                  <a:tcPr marL="76200" marR="762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pt-BR" sz="1200" b="0" i="0" noProof="0" dirty="0">
                          <a:solidFill>
                            <a:srgbClr val="0E2A47"/>
                          </a:solidFill>
                          <a:latin typeface="Calibri"/>
                        </a:rPr>
                        <a:t>89.527</a:t>
                      </a:r>
                    </a:p>
                  </a:txBody>
                  <a:tcPr marL="76200" marR="762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pt-BR" sz="1200" b="0" i="0" noProof="0" dirty="0">
                          <a:solidFill>
                            <a:srgbClr val="0E2A47"/>
                          </a:solidFill>
                          <a:latin typeface="Calibri"/>
                        </a:rPr>
                        <a:t>0.039</a:t>
                      </a:r>
                    </a:p>
                  </a:txBody>
                  <a:tcPr marL="76200" marR="762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pt-BR" sz="1200" b="0" i="0" noProof="0" dirty="0">
                          <a:solidFill>
                            <a:srgbClr val="0E2A47"/>
                          </a:solidFill>
                          <a:latin typeface="Calibri"/>
                        </a:rPr>
                        <a:t>0.028</a:t>
                      </a:r>
                    </a:p>
                  </a:txBody>
                  <a:tcPr marL="76200" marR="762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pt-BR" sz="1200" b="0" i="0" noProof="0" dirty="0">
                          <a:solidFill>
                            <a:srgbClr val="0E2A47"/>
                          </a:solidFill>
                          <a:latin typeface="Calibri"/>
                        </a:rPr>
                        <a:t>0.041</a:t>
                      </a:r>
                    </a:p>
                  </a:txBody>
                  <a:tcPr marL="76200" marR="762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pt-BR" sz="1200" b="0" i="0" noProof="0" dirty="0">
                          <a:solidFill>
                            <a:srgbClr val="0E2A47"/>
                          </a:solidFill>
                          <a:latin typeface="Calibri"/>
                        </a:rPr>
                        <a:t>2.98</a:t>
                      </a:r>
                    </a:p>
                  </a:txBody>
                  <a:tcPr marL="76200" marR="762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pt-BR" sz="1200" b="0" i="0" noProof="0" dirty="0">
                          <a:solidFill>
                            <a:srgbClr val="0E2A47"/>
                          </a:solidFill>
                          <a:latin typeface="Calibri"/>
                        </a:rPr>
                        <a:t>17.7</a:t>
                      </a:r>
                    </a:p>
                  </a:txBody>
                  <a:tcPr marL="76200" marR="762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lang="pt-BR" sz="1200" b="1" i="0" noProof="0" dirty="0">
                          <a:solidFill>
                            <a:srgbClr val="0E2A47"/>
                          </a:solidFill>
                          <a:latin typeface="Calibri"/>
                        </a:rPr>
                        <a:t>Renda média (R$)</a:t>
                      </a:r>
                    </a:p>
                  </a:txBody>
                  <a:tcPr marL="76200" marR="76200" marT="12700" marB="127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pt-BR" sz="1200" b="0" i="0" noProof="0" dirty="0">
                          <a:solidFill>
                            <a:srgbClr val="0E2A47"/>
                          </a:solidFill>
                          <a:latin typeface="Calibri"/>
                        </a:rPr>
                        <a:t>106.262</a:t>
                      </a:r>
                    </a:p>
                  </a:txBody>
                  <a:tcPr marL="76200" marR="76200" marT="12700" marB="127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pt-BR" sz="1200" b="0" i="0" noProof="0" dirty="0">
                          <a:solidFill>
                            <a:srgbClr val="0E2A47"/>
                          </a:solidFill>
                          <a:latin typeface="Calibri"/>
                        </a:rPr>
                        <a:t>4.141</a:t>
                      </a:r>
                    </a:p>
                  </a:txBody>
                  <a:tcPr marL="76200" marR="76200" marT="12700" marB="127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pt-BR" sz="1200" b="0" i="0" noProof="0" dirty="0">
                          <a:solidFill>
                            <a:srgbClr val="0E2A47"/>
                          </a:solidFill>
                          <a:latin typeface="Calibri"/>
                        </a:rPr>
                        <a:t>2.546</a:t>
                      </a:r>
                    </a:p>
                  </a:txBody>
                  <a:tcPr marL="76200" marR="76200" marT="12700" marB="127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pt-BR" sz="1200" b="0" i="0" noProof="0" dirty="0">
                          <a:solidFill>
                            <a:srgbClr val="0E2A47"/>
                          </a:solidFill>
                          <a:latin typeface="Calibri"/>
                        </a:rPr>
                        <a:t>4.124</a:t>
                      </a:r>
                    </a:p>
                  </a:txBody>
                  <a:tcPr marL="76200" marR="76200" marT="12700" marB="127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pt-BR" sz="1200" b="0" i="0" noProof="0" dirty="0">
                          <a:solidFill>
                            <a:srgbClr val="0E2A47"/>
                          </a:solidFill>
                          <a:latin typeface="Calibri"/>
                        </a:rPr>
                        <a:t>3.76</a:t>
                      </a:r>
                    </a:p>
                  </a:txBody>
                  <a:tcPr marL="76200" marR="76200" marT="12700" marB="127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pt-BR" sz="1200" b="0" i="0" noProof="0" dirty="0">
                          <a:solidFill>
                            <a:srgbClr val="0E2A47"/>
                          </a:solidFill>
                          <a:latin typeface="Calibri"/>
                        </a:rPr>
                        <a:t>49.9</a:t>
                      </a:r>
                    </a:p>
                  </a:txBody>
                  <a:tcPr marL="76200" marR="76200" marT="12700" marB="12700" anchor="ctr">
                    <a:solidFill>
                      <a:srgbClr val="EEF3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lang="pt-BR" sz="1200" b="1" i="0" noProof="0" dirty="0">
                          <a:solidFill>
                            <a:srgbClr val="0E2A47"/>
                          </a:solidFill>
                          <a:latin typeface="Calibri"/>
                        </a:rPr>
                        <a:t>Raça/cor PPI</a:t>
                      </a:r>
                    </a:p>
                  </a:txBody>
                  <a:tcPr marL="76200" marR="762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pt-BR" sz="1200" b="0" i="0" noProof="0" dirty="0">
                          <a:solidFill>
                            <a:srgbClr val="0E2A47"/>
                          </a:solidFill>
                          <a:latin typeface="Calibri"/>
                        </a:rPr>
                        <a:t>106.279</a:t>
                      </a:r>
                    </a:p>
                  </a:txBody>
                  <a:tcPr marL="76200" marR="762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pt-BR" sz="1200" b="0" i="0" noProof="0" dirty="0">
                          <a:solidFill>
                            <a:srgbClr val="0E2A47"/>
                          </a:solidFill>
                          <a:latin typeface="Calibri"/>
                        </a:rPr>
                        <a:t>0.53</a:t>
                      </a:r>
                    </a:p>
                  </a:txBody>
                  <a:tcPr marL="76200" marR="762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pt-BR" sz="1200" b="0" i="0" noProof="0" dirty="0">
                          <a:solidFill>
                            <a:srgbClr val="0E2A47"/>
                          </a:solidFill>
                          <a:latin typeface="Calibri"/>
                        </a:rPr>
                        <a:t>0.576</a:t>
                      </a:r>
                    </a:p>
                  </a:txBody>
                  <a:tcPr marL="76200" marR="762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pt-BR" sz="1200" b="0" i="0" noProof="0" dirty="0">
                          <a:solidFill>
                            <a:srgbClr val="0E2A47"/>
                          </a:solidFill>
                          <a:latin typeface="Calibri"/>
                        </a:rPr>
                        <a:t>0.229</a:t>
                      </a:r>
                    </a:p>
                  </a:txBody>
                  <a:tcPr marL="76200" marR="762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pt-BR" sz="1200" b="0" i="0" noProof="0" dirty="0">
                          <a:solidFill>
                            <a:srgbClr val="0E2A47"/>
                          </a:solidFill>
                          <a:latin typeface="Calibri"/>
                        </a:rPr>
                        <a:t>-0.39</a:t>
                      </a:r>
                    </a:p>
                  </a:txBody>
                  <a:tcPr marL="76200" marR="762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pt-BR" sz="1200" b="0" i="0" noProof="0" dirty="0">
                          <a:solidFill>
                            <a:srgbClr val="0E2A47"/>
                          </a:solidFill>
                          <a:latin typeface="Calibri"/>
                        </a:rPr>
                        <a:t>-0.8</a:t>
                      </a:r>
                    </a:p>
                  </a:txBody>
                  <a:tcPr marL="76200" marR="762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5897880"/>
            <a:ext cx="109728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lang="pt-BR" sz="1300" b="1" i="0" noProof="0" dirty="0">
                <a:solidFill>
                  <a:srgbClr val="1C7293"/>
                </a:solidFill>
                <a:latin typeface="Calibri"/>
              </a:rPr>
              <a:t>Leitura: </a:t>
            </a:r>
            <a:r>
              <a:rPr lang="pt-BR" sz="1300" b="0" i="0" noProof="0" dirty="0">
                <a:solidFill>
                  <a:srgbClr val="5A6B7B"/>
                </a:solidFill>
                <a:latin typeface="Calibri"/>
              </a:rPr>
              <a:t>saneamento com mediana 0 e forte assimetria à direita (massa em zero + bolsões extremos); renda muito concentrada (média ≫ mediana); raça/cor é a única simétrica.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1064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pt-BR" sz="1250" b="1" i="0" noProof="0" dirty="0">
                <a:solidFill>
                  <a:srgbClr val="1C7293"/>
                </a:solidFill>
                <a:latin typeface="Calibri"/>
              </a:rPr>
              <a:t>EDA · DISTRIBUIÇÕES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76656"/>
            <a:ext cx="110642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lang="pt-BR" sz="3000" b="1" i="0" noProof="0" dirty="0">
                <a:solidFill>
                  <a:srgbClr val="0E2A47"/>
                </a:solidFill>
                <a:latin typeface="Georgia"/>
              </a:rPr>
              <a:t>Histogramas das 7 variáveis</a:t>
            </a:r>
          </a:p>
        </p:txBody>
      </p:sp>
      <p:pic>
        <p:nvPicPr>
          <p:cNvPr id="5" name="Picture 4" descr="histograma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916" y="1783080"/>
            <a:ext cx="7193527" cy="47548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321040" y="1920240"/>
            <a:ext cx="329184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lang="pt-BR" sz="1300" b="1" i="0" noProof="0" dirty="0">
                <a:solidFill>
                  <a:srgbClr val="1C7293"/>
                </a:solidFill>
                <a:latin typeface="Calibri"/>
              </a:rPr>
              <a:t>▪  </a:t>
            </a:r>
            <a:r>
              <a:rPr lang="pt-BR" sz="1300" b="1" i="0" noProof="0" dirty="0">
                <a:solidFill>
                  <a:srgbClr val="0E2A47"/>
                </a:solidFill>
                <a:latin typeface="Calibri"/>
              </a:rPr>
              <a:t>Saneamento  </a:t>
            </a:r>
            <a:r>
              <a:rPr lang="pt-BR" sz="1300" b="0" i="0" noProof="0" dirty="0">
                <a:solidFill>
                  <a:srgbClr val="0E2A47"/>
                </a:solidFill>
                <a:latin typeface="Calibri"/>
              </a:rPr>
              <a:t>— pico em zero e cauda longa: distribuição bimodal.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lang="pt-BR" sz="1300" b="1" i="0" noProof="0" dirty="0">
                <a:solidFill>
                  <a:srgbClr val="1C7293"/>
                </a:solidFill>
                <a:latin typeface="Calibri"/>
              </a:rPr>
              <a:t>▪  </a:t>
            </a:r>
            <a:r>
              <a:rPr lang="pt-BR" sz="1300" b="1" i="0" noProof="0" dirty="0">
                <a:solidFill>
                  <a:srgbClr val="0E2A47"/>
                </a:solidFill>
                <a:latin typeface="Calibri"/>
              </a:rPr>
              <a:t>Razão de moradores  </a:t>
            </a:r>
            <a:r>
              <a:rPr lang="pt-BR" sz="1300" b="0" i="0" noProof="0" dirty="0">
                <a:solidFill>
                  <a:srgbClr val="0E2A47"/>
                </a:solidFill>
                <a:latin typeface="Calibri"/>
              </a:rPr>
              <a:t>— a mais simétrica (≈ normal, centro ~2,7).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lang="pt-BR" sz="1300" b="1" i="0" noProof="0" dirty="0">
                <a:solidFill>
                  <a:srgbClr val="1C7293"/>
                </a:solidFill>
                <a:latin typeface="Calibri"/>
              </a:rPr>
              <a:t>▪  </a:t>
            </a:r>
            <a:r>
              <a:rPr lang="pt-BR" sz="1300" b="1" i="0" noProof="0" dirty="0">
                <a:solidFill>
                  <a:srgbClr val="0E2A47"/>
                </a:solidFill>
                <a:latin typeface="Calibri"/>
              </a:rPr>
              <a:t>Renda  </a:t>
            </a:r>
            <a:r>
              <a:rPr lang="pt-BR" sz="1300" b="0" i="0" noProof="0" dirty="0">
                <a:solidFill>
                  <a:srgbClr val="0E2A47"/>
                </a:solidFill>
                <a:latin typeface="Calibri"/>
              </a:rPr>
              <a:t>— assimetria extrema, cauda até R$ 170 mil.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lang="pt-BR" sz="1300" b="1" i="0" noProof="0" dirty="0">
                <a:solidFill>
                  <a:srgbClr val="1C7293"/>
                </a:solidFill>
                <a:latin typeface="Calibri"/>
              </a:rPr>
              <a:t>▪  </a:t>
            </a:r>
            <a:r>
              <a:rPr lang="pt-BR" sz="1300" b="1" i="0" noProof="0" dirty="0">
                <a:solidFill>
                  <a:srgbClr val="0E2A47"/>
                </a:solidFill>
                <a:latin typeface="Calibri"/>
              </a:rPr>
              <a:t>Analfabetismo  </a:t>
            </a:r>
            <a:r>
              <a:rPr lang="pt-BR" sz="1300" b="0" i="0" noProof="0" dirty="0">
                <a:solidFill>
                  <a:srgbClr val="0E2A47"/>
                </a:solidFill>
                <a:latin typeface="Calibri"/>
              </a:rPr>
              <a:t>— concentrado &lt; 10%, com cauda.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lang="pt-BR" sz="1300" b="1" i="0" noProof="0" dirty="0">
                <a:solidFill>
                  <a:srgbClr val="1C7293"/>
                </a:solidFill>
                <a:latin typeface="Calibri"/>
              </a:rPr>
              <a:t>▪  </a:t>
            </a:r>
            <a:r>
              <a:rPr lang="pt-BR" sz="1300" b="1" i="0" noProof="0" dirty="0">
                <a:solidFill>
                  <a:srgbClr val="0E2A47"/>
                </a:solidFill>
                <a:latin typeface="Calibri"/>
              </a:rPr>
              <a:t>Raça/cor  </a:t>
            </a:r>
            <a:r>
              <a:rPr lang="pt-BR" sz="1300" b="0" i="0" noProof="0" dirty="0">
                <a:solidFill>
                  <a:srgbClr val="0E2A47"/>
                </a:solidFill>
                <a:latin typeface="Calibri"/>
              </a:rPr>
              <a:t>— espalhada por todo o [0,1].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1064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pt-BR" sz="1250" b="1" i="0" noProof="0" dirty="0">
                <a:solidFill>
                  <a:srgbClr val="1C7293"/>
                </a:solidFill>
                <a:latin typeface="Calibri"/>
              </a:rPr>
              <a:t>EDA · DISTRIBUIÇÕES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76656"/>
            <a:ext cx="110642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lang="pt-BR" sz="3000" b="1" i="0" noProof="0" dirty="0" err="1">
                <a:solidFill>
                  <a:srgbClr val="0E2A47"/>
                </a:solidFill>
                <a:latin typeface="Georgia"/>
              </a:rPr>
              <a:t>Boxplots</a:t>
            </a:r>
            <a:r>
              <a:rPr lang="pt-BR" sz="3000" b="1" i="0" noProof="0" dirty="0">
                <a:solidFill>
                  <a:srgbClr val="0E2A47"/>
                </a:solidFill>
                <a:latin typeface="Georgia"/>
              </a:rPr>
              <a:t> por região</a:t>
            </a:r>
          </a:p>
        </p:txBody>
      </p:sp>
      <p:pic>
        <p:nvPicPr>
          <p:cNvPr id="5" name="Picture 4" descr="boxplots_por_regia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1334" y="1783080"/>
            <a:ext cx="6512691" cy="47548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321040" y="1920240"/>
            <a:ext cx="329184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lang="pt-BR" sz="1300" b="1" i="0" noProof="0" dirty="0">
                <a:solidFill>
                  <a:srgbClr val="1C7293"/>
                </a:solidFill>
                <a:latin typeface="Calibri"/>
              </a:rPr>
              <a:t>▪  </a:t>
            </a:r>
            <a:r>
              <a:rPr lang="pt-BR" sz="1300" b="1" i="0" noProof="0" dirty="0">
                <a:solidFill>
                  <a:srgbClr val="0E2A47"/>
                </a:solidFill>
                <a:latin typeface="Calibri"/>
              </a:rPr>
              <a:t>Gradiente </a:t>
            </a:r>
            <a:r>
              <a:rPr lang="pt-BR" sz="1300" b="1" i="0" noProof="0" dirty="0" err="1">
                <a:solidFill>
                  <a:srgbClr val="0E2A47"/>
                </a:solidFill>
                <a:latin typeface="Calibri"/>
              </a:rPr>
              <a:t>Norte→Sul</a:t>
            </a:r>
            <a:r>
              <a:rPr lang="pt-BR" sz="1300" b="1" i="0" noProof="0" dirty="0">
                <a:solidFill>
                  <a:srgbClr val="0E2A47"/>
                </a:solidFill>
                <a:latin typeface="Calibri"/>
              </a:rPr>
              <a:t>  </a:t>
            </a:r>
            <a:r>
              <a:rPr lang="pt-BR" sz="1300" b="0" i="0" noProof="0" dirty="0">
                <a:solidFill>
                  <a:srgbClr val="0E2A47"/>
                </a:solidFill>
                <a:latin typeface="Calibri"/>
              </a:rPr>
              <a:t>— saneamento inadequado cai do Norte para o Sul.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lang="pt-BR" sz="1300" b="1" i="0" noProof="0" dirty="0">
                <a:solidFill>
                  <a:srgbClr val="1C7293"/>
                </a:solidFill>
                <a:latin typeface="Calibri"/>
              </a:rPr>
              <a:t>▪  </a:t>
            </a:r>
            <a:r>
              <a:rPr lang="pt-BR" sz="1300" b="1" i="0" noProof="0" dirty="0">
                <a:solidFill>
                  <a:srgbClr val="0E2A47"/>
                </a:solidFill>
                <a:latin typeface="Calibri"/>
              </a:rPr>
              <a:t>Norte  </a:t>
            </a:r>
            <a:r>
              <a:rPr lang="pt-BR" sz="1300" b="0" i="0" noProof="0" dirty="0">
                <a:solidFill>
                  <a:srgbClr val="0E2A47"/>
                </a:solidFill>
                <a:latin typeface="Calibri"/>
              </a:rPr>
              <a:t>— maiores medianas de água/esgoto e densidade habitacional.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lang="pt-BR" sz="1300" b="1" i="0" noProof="0" dirty="0">
                <a:solidFill>
                  <a:srgbClr val="1C7293"/>
                </a:solidFill>
                <a:latin typeface="Calibri"/>
              </a:rPr>
              <a:t>▪  </a:t>
            </a:r>
            <a:r>
              <a:rPr lang="pt-BR" sz="1300" b="1" i="0" noProof="0" dirty="0">
                <a:solidFill>
                  <a:srgbClr val="0E2A47"/>
                </a:solidFill>
                <a:latin typeface="Calibri"/>
              </a:rPr>
              <a:t>Sul/Sudeste  </a:t>
            </a:r>
            <a:r>
              <a:rPr lang="pt-BR" sz="1300" b="0" i="0" noProof="0" dirty="0">
                <a:solidFill>
                  <a:srgbClr val="0E2A47"/>
                </a:solidFill>
                <a:latin typeface="Calibri"/>
              </a:rPr>
              <a:t>— medianas de saneamento ≈ 0.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lang="pt-BR" sz="1300" b="1" i="0" noProof="0" dirty="0">
                <a:solidFill>
                  <a:srgbClr val="1C7293"/>
                </a:solidFill>
                <a:latin typeface="Calibri"/>
              </a:rPr>
              <a:t>▪  </a:t>
            </a:r>
            <a:r>
              <a:rPr lang="pt-BR" sz="1300" b="1" i="0" noProof="0" dirty="0">
                <a:solidFill>
                  <a:srgbClr val="0E2A47"/>
                </a:solidFill>
                <a:latin typeface="Calibri"/>
              </a:rPr>
              <a:t>Outliers  </a:t>
            </a:r>
            <a:r>
              <a:rPr lang="pt-BR" sz="1300" b="0" i="0" noProof="0" dirty="0">
                <a:solidFill>
                  <a:srgbClr val="0E2A47"/>
                </a:solidFill>
                <a:latin typeface="Calibri"/>
              </a:rPr>
              <a:t>— numerosos no saneamento (esperado pela massa em zero).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1064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pt-BR" sz="1250" b="1" i="0" noProof="0" dirty="0">
                <a:solidFill>
                  <a:srgbClr val="1C7293"/>
                </a:solidFill>
                <a:latin typeface="Calibri"/>
              </a:rPr>
              <a:t>EDA · OUTLIERS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76656"/>
            <a:ext cx="110642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lang="pt-BR" sz="3000" b="1" i="0" noProof="0" dirty="0">
                <a:solidFill>
                  <a:srgbClr val="0E2A47"/>
                </a:solidFill>
                <a:latin typeface="Georgia"/>
              </a:rPr>
              <a:t>Outliers pela regra do IQR (</a:t>
            </a:r>
            <a:r>
              <a:rPr lang="pt-BR" sz="3000" b="1" i="0" noProof="0" dirty="0" err="1">
                <a:solidFill>
                  <a:srgbClr val="0E2A47"/>
                </a:solidFill>
                <a:latin typeface="Georgia"/>
              </a:rPr>
              <a:t>Tukey</a:t>
            </a:r>
            <a:r>
              <a:rPr lang="pt-BR" sz="3000" b="1" i="0" noProof="0" dirty="0">
                <a:solidFill>
                  <a:srgbClr val="0E2A47"/>
                </a:solidFill>
                <a:latin typeface="Georgia"/>
              </a:rPr>
              <a:t>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47701229"/>
              </p:ext>
            </p:extLst>
          </p:nvPr>
        </p:nvGraphicFramePr>
        <p:xfrm>
          <a:off x="640080" y="1874519"/>
          <a:ext cx="6766558" cy="2487168"/>
        </p:xfrm>
        <a:graphic>
          <a:graphicData uri="http://schemas.openxmlformats.org/drawingml/2006/table">
            <a:tbl>
              <a:tblPr/>
              <a:tblGrid>
                <a:gridCol w="2314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3550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7937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3680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lang="pt-BR" sz="1100" b="1" i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Variável</a:t>
                      </a:r>
                    </a:p>
                  </a:txBody>
                  <a:tcPr marL="76200" marR="76200" marT="25400" marB="25400" anchor="ctr">
                    <a:solidFill>
                      <a:srgbClr val="1C729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pt-BR" sz="1100" b="1" i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Outliers</a:t>
                      </a:r>
                    </a:p>
                  </a:txBody>
                  <a:tcPr marL="76200" marR="76200" marT="25400" marB="25400" anchor="ctr">
                    <a:solidFill>
                      <a:srgbClr val="1C729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pt-BR" sz="1100" b="1" i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% </a:t>
                      </a:r>
                    </a:p>
                  </a:txBody>
                  <a:tcPr marL="76200" marR="76200" marT="25400" marB="25400" anchor="ctr">
                    <a:solidFill>
                      <a:srgbClr val="1C729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b="1" i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IQR não-informativo</a:t>
                      </a:r>
                    </a:p>
                  </a:txBody>
                  <a:tcPr marL="76200" marR="76200" marT="25400" marB="25400" anchor="ctr">
                    <a:solidFill>
                      <a:srgbClr val="1C729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lang="pt-BR" sz="1150" b="1" i="0" noProof="0" dirty="0">
                          <a:solidFill>
                            <a:srgbClr val="0E2A47"/>
                          </a:solidFill>
                          <a:latin typeface="Calibri"/>
                        </a:rPr>
                        <a:t>Água inadequada</a:t>
                      </a:r>
                    </a:p>
                  </a:txBody>
                  <a:tcPr marL="76200" marR="762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pt-BR" sz="1150" b="0" i="0" noProof="0" dirty="0">
                          <a:solidFill>
                            <a:srgbClr val="0E2A47"/>
                          </a:solidFill>
                          <a:latin typeface="Calibri"/>
                        </a:rPr>
                        <a:t>21.476</a:t>
                      </a:r>
                    </a:p>
                  </a:txBody>
                  <a:tcPr marL="76200" marR="762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pt-BR" sz="1150" b="0" i="0" noProof="0" dirty="0">
                          <a:solidFill>
                            <a:srgbClr val="0E2A47"/>
                          </a:solidFill>
                          <a:latin typeface="Calibri"/>
                        </a:rPr>
                        <a:t>20.2%</a:t>
                      </a:r>
                    </a:p>
                  </a:txBody>
                  <a:tcPr marL="76200" marR="762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50" b="0" i="0" noProof="0" dirty="0">
                          <a:solidFill>
                            <a:srgbClr val="0E2A47"/>
                          </a:solidFill>
                          <a:latin typeface="Calibri"/>
                        </a:rPr>
                        <a:t>Sim</a:t>
                      </a:r>
                    </a:p>
                  </a:txBody>
                  <a:tcPr marL="76200" marR="762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lang="pt-BR" sz="1150" b="1" i="0" noProof="0" dirty="0">
                          <a:solidFill>
                            <a:srgbClr val="0E2A47"/>
                          </a:solidFill>
                          <a:latin typeface="Calibri"/>
                        </a:rPr>
                        <a:t>Esgoto inadequado</a:t>
                      </a:r>
                    </a:p>
                  </a:txBody>
                  <a:tcPr marL="76200" marR="76200" marT="12700" marB="127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pt-BR" sz="1150" b="0" i="0" noProof="0" dirty="0">
                          <a:solidFill>
                            <a:srgbClr val="0E2A47"/>
                          </a:solidFill>
                          <a:latin typeface="Calibri"/>
                        </a:rPr>
                        <a:t>21.158</a:t>
                      </a:r>
                    </a:p>
                  </a:txBody>
                  <a:tcPr marL="76200" marR="76200" marT="12700" marB="127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pt-BR" sz="1150" b="0" i="0" noProof="0" dirty="0">
                          <a:solidFill>
                            <a:srgbClr val="0E2A47"/>
                          </a:solidFill>
                          <a:latin typeface="Calibri"/>
                        </a:rPr>
                        <a:t>19.9%</a:t>
                      </a:r>
                    </a:p>
                  </a:txBody>
                  <a:tcPr marL="76200" marR="76200" marT="12700" marB="127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50" b="0" i="0" noProof="0" dirty="0">
                          <a:solidFill>
                            <a:srgbClr val="0E2A47"/>
                          </a:solidFill>
                          <a:latin typeface="Calibri"/>
                        </a:rPr>
                        <a:t>Sim</a:t>
                      </a:r>
                    </a:p>
                  </a:txBody>
                  <a:tcPr marL="76200" marR="76200" marT="12700" marB="12700" anchor="ctr">
                    <a:solidFill>
                      <a:srgbClr val="EEF3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lang="pt-BR" sz="1150" b="1" i="0" noProof="0" dirty="0">
                          <a:solidFill>
                            <a:srgbClr val="0E2A47"/>
                          </a:solidFill>
                          <a:latin typeface="Calibri"/>
                        </a:rPr>
                        <a:t>Lixo inadequado</a:t>
                      </a:r>
                    </a:p>
                  </a:txBody>
                  <a:tcPr marL="76200" marR="762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pt-BR" sz="1150" b="0" i="0" noProof="0" dirty="0">
                          <a:solidFill>
                            <a:srgbClr val="0E2A47"/>
                          </a:solidFill>
                          <a:latin typeface="Calibri"/>
                        </a:rPr>
                        <a:t>19.557</a:t>
                      </a:r>
                    </a:p>
                  </a:txBody>
                  <a:tcPr marL="76200" marR="762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pt-BR" sz="1150" b="0" i="0" noProof="0" dirty="0">
                          <a:solidFill>
                            <a:srgbClr val="0E2A47"/>
                          </a:solidFill>
                          <a:latin typeface="Calibri"/>
                        </a:rPr>
                        <a:t>18.4%</a:t>
                      </a:r>
                    </a:p>
                  </a:txBody>
                  <a:tcPr marL="76200" marR="762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50" b="0" i="0" noProof="0" dirty="0">
                          <a:solidFill>
                            <a:srgbClr val="0E2A47"/>
                          </a:solidFill>
                          <a:latin typeface="Calibri"/>
                        </a:rPr>
                        <a:t>Sim</a:t>
                      </a:r>
                    </a:p>
                  </a:txBody>
                  <a:tcPr marL="76200" marR="762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lang="pt-BR" sz="1150" b="1" i="0" noProof="0" dirty="0">
                          <a:solidFill>
                            <a:srgbClr val="0E2A47"/>
                          </a:solidFill>
                          <a:latin typeface="Calibri"/>
                        </a:rPr>
                        <a:t>Razão de moradores</a:t>
                      </a:r>
                    </a:p>
                  </a:txBody>
                  <a:tcPr marL="76200" marR="76200" marT="12700" marB="127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pt-BR" sz="1150" b="0" i="0" noProof="0" dirty="0">
                          <a:solidFill>
                            <a:srgbClr val="0E2A47"/>
                          </a:solidFill>
                          <a:latin typeface="Calibri"/>
                        </a:rPr>
                        <a:t>3.829</a:t>
                      </a:r>
                    </a:p>
                  </a:txBody>
                  <a:tcPr marL="76200" marR="76200" marT="12700" marB="127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pt-BR" sz="1150" b="0" i="0" noProof="0" dirty="0">
                          <a:solidFill>
                            <a:srgbClr val="0E2A47"/>
                          </a:solidFill>
                          <a:latin typeface="Calibri"/>
                        </a:rPr>
                        <a:t>3.6%</a:t>
                      </a:r>
                    </a:p>
                  </a:txBody>
                  <a:tcPr marL="76200" marR="76200" marT="12700" marB="127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50" b="0" i="0" noProof="0" dirty="0">
                          <a:solidFill>
                            <a:srgbClr val="0E2A47"/>
                          </a:solidFill>
                          <a:latin typeface="Calibri"/>
                        </a:rPr>
                        <a:t>Não</a:t>
                      </a:r>
                    </a:p>
                  </a:txBody>
                  <a:tcPr marL="76200" marR="76200" marT="12700" marB="12700" anchor="ctr">
                    <a:solidFill>
                      <a:srgbClr val="EEF3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lang="pt-BR" sz="1150" b="1" i="0" noProof="0" dirty="0">
                          <a:solidFill>
                            <a:srgbClr val="0E2A47"/>
                          </a:solidFill>
                          <a:latin typeface="Calibri"/>
                        </a:rPr>
                        <a:t>Analfabetismo (15+)</a:t>
                      </a:r>
                    </a:p>
                  </a:txBody>
                  <a:tcPr marL="76200" marR="762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pt-BR" sz="1150" b="0" i="0" noProof="0" dirty="0">
                          <a:solidFill>
                            <a:srgbClr val="0E2A47"/>
                          </a:solidFill>
                          <a:latin typeface="Calibri"/>
                        </a:rPr>
                        <a:t>4.696</a:t>
                      </a:r>
                    </a:p>
                  </a:txBody>
                  <a:tcPr marL="76200" marR="762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pt-BR" sz="1150" b="0" i="0" noProof="0" dirty="0">
                          <a:solidFill>
                            <a:srgbClr val="0E2A47"/>
                          </a:solidFill>
                          <a:latin typeface="Calibri"/>
                        </a:rPr>
                        <a:t>5.2%</a:t>
                      </a:r>
                    </a:p>
                  </a:txBody>
                  <a:tcPr marL="76200" marR="762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50" b="0" i="0" noProof="0" dirty="0">
                          <a:solidFill>
                            <a:srgbClr val="0E2A47"/>
                          </a:solidFill>
                          <a:latin typeface="Calibri"/>
                        </a:rPr>
                        <a:t>Não</a:t>
                      </a:r>
                    </a:p>
                  </a:txBody>
                  <a:tcPr marL="76200" marR="762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lang="pt-BR" sz="1150" b="1" i="0" noProof="0" dirty="0">
                          <a:solidFill>
                            <a:srgbClr val="0E2A47"/>
                          </a:solidFill>
                          <a:latin typeface="Calibri"/>
                        </a:rPr>
                        <a:t>Renda média (R$)</a:t>
                      </a:r>
                    </a:p>
                  </a:txBody>
                  <a:tcPr marL="76200" marR="76200" marT="12700" marB="127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pt-BR" sz="1150" b="0" i="0" noProof="0" dirty="0">
                          <a:solidFill>
                            <a:srgbClr val="0E2A47"/>
                          </a:solidFill>
                          <a:latin typeface="Calibri"/>
                        </a:rPr>
                        <a:t>10.850</a:t>
                      </a:r>
                    </a:p>
                  </a:txBody>
                  <a:tcPr marL="76200" marR="76200" marT="12700" marB="127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pt-BR" sz="1150" b="0" i="0" noProof="0" dirty="0">
                          <a:solidFill>
                            <a:srgbClr val="0E2A47"/>
                          </a:solidFill>
                          <a:latin typeface="Calibri"/>
                        </a:rPr>
                        <a:t>10.2%</a:t>
                      </a:r>
                    </a:p>
                  </a:txBody>
                  <a:tcPr marL="76200" marR="76200" marT="12700" marB="127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50" b="0" i="0" noProof="0" dirty="0">
                          <a:solidFill>
                            <a:srgbClr val="0E2A47"/>
                          </a:solidFill>
                          <a:latin typeface="Calibri"/>
                        </a:rPr>
                        <a:t>Não</a:t>
                      </a:r>
                    </a:p>
                  </a:txBody>
                  <a:tcPr marL="76200" marR="76200" marT="12700" marB="12700" anchor="ctr">
                    <a:solidFill>
                      <a:srgbClr val="EEF3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lang="pt-BR" sz="1150" b="1" i="0" noProof="0" dirty="0">
                          <a:solidFill>
                            <a:srgbClr val="0E2A47"/>
                          </a:solidFill>
                          <a:latin typeface="Calibri"/>
                        </a:rPr>
                        <a:t>Raça/cor PPI</a:t>
                      </a:r>
                    </a:p>
                  </a:txBody>
                  <a:tcPr marL="76200" marR="762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pt-BR" sz="1150" b="0" i="0" noProof="0" dirty="0">
                          <a:solidFill>
                            <a:srgbClr val="0E2A4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76200" marR="762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pt-BR" sz="1150" b="0" i="0" noProof="0" dirty="0">
                          <a:solidFill>
                            <a:srgbClr val="0E2A47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marL="76200" marR="762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50" b="0" i="0" noProof="0" dirty="0">
                          <a:solidFill>
                            <a:srgbClr val="0E2A47"/>
                          </a:solidFill>
                          <a:latin typeface="Calibri"/>
                        </a:rPr>
                        <a:t>Não</a:t>
                      </a:r>
                    </a:p>
                  </a:txBody>
                  <a:tcPr marL="76200" marR="762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680960" y="1920240"/>
            <a:ext cx="393192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lang="pt-BR" sz="1300" b="1" i="0" noProof="0" dirty="0">
                <a:solidFill>
                  <a:srgbClr val="1C7293"/>
                </a:solidFill>
                <a:latin typeface="Calibri"/>
              </a:rPr>
              <a:t>▪  </a:t>
            </a:r>
            <a:r>
              <a:rPr lang="pt-BR" sz="1300" b="1" i="0" noProof="0" dirty="0">
                <a:solidFill>
                  <a:srgbClr val="0E2A47"/>
                </a:solidFill>
                <a:latin typeface="Calibri"/>
              </a:rPr>
              <a:t>Saneamento ~20%  </a:t>
            </a:r>
            <a:r>
              <a:rPr lang="pt-BR" sz="1300" b="0" i="0" noProof="0" dirty="0">
                <a:solidFill>
                  <a:srgbClr val="0E2A47"/>
                </a:solidFill>
                <a:latin typeface="Calibri"/>
              </a:rPr>
              <a:t>— "outliers" são artefato: P25=mediana=0 colapsa o IQR.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lang="pt-BR" sz="1300" b="1" i="0" noProof="0" dirty="0">
                <a:solidFill>
                  <a:srgbClr val="1C7293"/>
                </a:solidFill>
                <a:latin typeface="Calibri"/>
              </a:rPr>
              <a:t>▪  </a:t>
            </a:r>
            <a:r>
              <a:rPr lang="pt-BR" sz="1300" b="1" i="0" noProof="0" dirty="0">
                <a:solidFill>
                  <a:srgbClr val="0E2A47"/>
                </a:solidFill>
                <a:latin typeface="Calibri"/>
              </a:rPr>
              <a:t>Não excluir  </a:t>
            </a:r>
            <a:r>
              <a:rPr lang="pt-BR" sz="1300" b="0" i="0" noProof="0" dirty="0">
                <a:solidFill>
                  <a:srgbClr val="0E2A47"/>
                </a:solidFill>
                <a:latin typeface="Calibri"/>
              </a:rPr>
              <a:t>— os bolsões de inadequação são o objeto de estudo, não ruído.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lang="pt-BR" sz="1300" b="1" i="0" noProof="0" dirty="0">
                <a:solidFill>
                  <a:srgbClr val="1C7293"/>
                </a:solidFill>
                <a:latin typeface="Calibri"/>
              </a:rPr>
              <a:t>▪  </a:t>
            </a:r>
            <a:r>
              <a:rPr lang="pt-BR" sz="1300" b="1" i="0" noProof="0" dirty="0">
                <a:solidFill>
                  <a:srgbClr val="0E2A47"/>
                </a:solidFill>
                <a:latin typeface="Calibri"/>
              </a:rPr>
              <a:t>Usar P95  </a:t>
            </a:r>
            <a:r>
              <a:rPr lang="pt-BR" sz="1300" b="0" i="0" noProof="0" dirty="0">
                <a:solidFill>
                  <a:srgbClr val="0E2A47"/>
                </a:solidFill>
                <a:latin typeface="Calibri"/>
              </a:rPr>
              <a:t>— alternativa robusta para distribuições zero-infladas.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lang="pt-BR" sz="1300" b="1" i="0" noProof="0" dirty="0">
                <a:solidFill>
                  <a:srgbClr val="1C7293"/>
                </a:solidFill>
                <a:latin typeface="Calibri"/>
              </a:rPr>
              <a:t>▪  </a:t>
            </a:r>
            <a:r>
              <a:rPr lang="pt-BR" sz="1300" b="1" i="0" noProof="0" dirty="0">
                <a:solidFill>
                  <a:srgbClr val="0E2A47"/>
                </a:solidFill>
                <a:latin typeface="Calibri"/>
              </a:rPr>
              <a:t>Renda 10,2%  </a:t>
            </a:r>
            <a:r>
              <a:rPr lang="pt-BR" sz="1300" b="0" i="0" noProof="0" dirty="0">
                <a:solidFill>
                  <a:srgbClr val="0E2A47"/>
                </a:solidFill>
                <a:latin typeface="Calibri"/>
              </a:rPr>
              <a:t>— outliers reais (áreas nobres); preservar.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1064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pt-BR" sz="1250" b="1" i="0" noProof="0" dirty="0">
                <a:solidFill>
                  <a:srgbClr val="1C7293"/>
                </a:solidFill>
                <a:latin typeface="Calibri"/>
              </a:rPr>
              <a:t>EDA · DADOS FALTANTES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76656"/>
            <a:ext cx="110642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lang="pt-BR" sz="3000" b="1" i="0" noProof="0" dirty="0">
                <a:solidFill>
                  <a:srgbClr val="0E2A47"/>
                </a:solidFill>
                <a:latin typeface="Georgia"/>
              </a:rPr>
              <a:t>Cobertura e dados faltantes</a:t>
            </a:r>
          </a:p>
        </p:txBody>
      </p:sp>
      <p:pic>
        <p:nvPicPr>
          <p:cNvPr id="5" name="Picture 4" descr="missing_por_municip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01297" y="1783080"/>
            <a:ext cx="3598205" cy="47548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309360" y="1920240"/>
            <a:ext cx="521208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1100"/>
              </a:spcAft>
            </a:pPr>
            <a:r>
              <a:rPr lang="pt-BR" sz="1350" b="1" i="0" noProof="0" dirty="0">
                <a:solidFill>
                  <a:srgbClr val="1C7293"/>
                </a:solidFill>
                <a:latin typeface="Calibri"/>
              </a:rPr>
              <a:t>▪  </a:t>
            </a:r>
            <a:r>
              <a:rPr lang="pt-BR" sz="1350" b="1" i="0" noProof="0" dirty="0">
                <a:solidFill>
                  <a:srgbClr val="0E2A47"/>
                </a:solidFill>
                <a:latin typeface="Calibri"/>
              </a:rPr>
              <a:t>Analfabetismo: 15,8% de sigilo  </a:t>
            </a:r>
            <a:r>
              <a:rPr lang="pt-BR" sz="1350" b="0" i="0" noProof="0" dirty="0">
                <a:solidFill>
                  <a:srgbClr val="0E2A47"/>
                </a:solidFill>
                <a:latin typeface="Calibri"/>
              </a:rPr>
              <a:t>— V00901 suprimido pelo IBGE em setores com poucos moradores 15+.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lang="pt-BR" sz="1350" b="1" i="0" noProof="0" dirty="0">
                <a:solidFill>
                  <a:srgbClr val="1C7293"/>
                </a:solidFill>
                <a:latin typeface="Calibri"/>
              </a:rPr>
              <a:t>▪  </a:t>
            </a:r>
            <a:r>
              <a:rPr lang="pt-BR" sz="1350" b="1" i="0" noProof="0" dirty="0">
                <a:solidFill>
                  <a:srgbClr val="0E2A47"/>
                </a:solidFill>
                <a:latin typeface="Calibri"/>
              </a:rPr>
              <a:t>Concentrado em capitais  </a:t>
            </a:r>
            <a:r>
              <a:rPr lang="pt-BR" sz="1350" b="0" i="0" noProof="0" dirty="0">
                <a:solidFill>
                  <a:srgbClr val="0E2A47"/>
                </a:solidFill>
                <a:latin typeface="Calibri"/>
              </a:rPr>
              <a:t>— São Caetano do Sul 29,7%, Porto Alegre 27,5%, Curitiba 23,1%, BH 22,5%.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lang="pt-BR" sz="1350" b="1" i="0" noProof="0" dirty="0">
                <a:solidFill>
                  <a:srgbClr val="1C7293"/>
                </a:solidFill>
                <a:latin typeface="Calibri"/>
              </a:rPr>
              <a:t>▪  </a:t>
            </a:r>
            <a:r>
              <a:rPr lang="pt-BR" sz="1350" b="1" i="0" noProof="0" dirty="0">
                <a:solidFill>
                  <a:srgbClr val="0E2A47"/>
                </a:solidFill>
                <a:latin typeface="Calibri"/>
              </a:rPr>
              <a:t>Demais variáveis ≥ 99%  </a:t>
            </a:r>
            <a:r>
              <a:rPr lang="pt-BR" sz="1350" b="0" i="0" noProof="0" dirty="0">
                <a:solidFill>
                  <a:srgbClr val="0E2A47"/>
                </a:solidFill>
                <a:latin typeface="Calibri"/>
              </a:rPr>
              <a:t>— cobertura quase total.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lang="pt-BR" sz="1350" b="1" i="0" noProof="0" dirty="0">
                <a:solidFill>
                  <a:srgbClr val="1C7293"/>
                </a:solidFill>
                <a:latin typeface="Calibri"/>
              </a:rPr>
              <a:t>▪  </a:t>
            </a:r>
            <a:r>
              <a:rPr lang="pt-BR" sz="1350" b="1" i="0" noProof="0" dirty="0">
                <a:solidFill>
                  <a:srgbClr val="0E2A47"/>
                </a:solidFill>
                <a:latin typeface="Calibri"/>
              </a:rPr>
              <a:t>Viés sistemático  </a:t>
            </a:r>
            <a:r>
              <a:rPr lang="pt-BR" sz="1350" b="0" i="0" noProof="0" dirty="0">
                <a:solidFill>
                  <a:srgbClr val="0E2A47"/>
                </a:solidFill>
                <a:latin typeface="Calibri"/>
              </a:rPr>
              <a:t>— o sigilo atinge mais as grandes cidades; tratar na construção do índice.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1064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pt-BR" sz="1250" b="1" i="0" noProof="0" dirty="0">
                <a:solidFill>
                  <a:srgbClr val="1C7293"/>
                </a:solidFill>
                <a:latin typeface="Calibri"/>
              </a:rPr>
              <a:t>EDA · CORRELAÇÕES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76656"/>
            <a:ext cx="110642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lang="pt-BR" sz="3000" b="1" i="0" noProof="0" dirty="0">
                <a:solidFill>
                  <a:srgbClr val="0E2A47"/>
                </a:solidFill>
                <a:latin typeface="Georgia"/>
              </a:rPr>
              <a:t>Estrutura de correlações (</a:t>
            </a:r>
            <a:r>
              <a:rPr lang="pt-BR" sz="3000" b="1" i="0" noProof="0" dirty="0" err="1">
                <a:solidFill>
                  <a:srgbClr val="0E2A47"/>
                </a:solidFill>
                <a:latin typeface="Georgia"/>
              </a:rPr>
              <a:t>Spearman</a:t>
            </a:r>
            <a:r>
              <a:rPr lang="pt-BR" sz="3000" b="1" i="0" noProof="0" dirty="0">
                <a:solidFill>
                  <a:srgbClr val="0E2A47"/>
                </a:solidFill>
                <a:latin typeface="Georgia"/>
              </a:rPr>
              <a:t>)</a:t>
            </a:r>
          </a:p>
        </p:txBody>
      </p:sp>
      <p:pic>
        <p:nvPicPr>
          <p:cNvPr id="5" name="Picture 4" descr="matriz_correlaca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783080"/>
            <a:ext cx="7498079" cy="322169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046720" y="1920240"/>
            <a:ext cx="356616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lang="pt-BR" sz="1250" b="1" i="0" noProof="0" dirty="0">
                <a:solidFill>
                  <a:srgbClr val="1C7293"/>
                </a:solidFill>
                <a:latin typeface="Calibri"/>
              </a:rPr>
              <a:t>▪  </a:t>
            </a:r>
            <a:r>
              <a:rPr lang="pt-BR" sz="1250" b="1" i="0" noProof="0" dirty="0">
                <a:solidFill>
                  <a:srgbClr val="0E2A47"/>
                </a:solidFill>
                <a:latin typeface="Calibri"/>
              </a:rPr>
              <a:t>Eixo socioeconômico forte  </a:t>
            </a:r>
            <a:r>
              <a:rPr lang="pt-BR" sz="1250" b="0" i="0" noProof="0" dirty="0">
                <a:solidFill>
                  <a:srgbClr val="0E2A47"/>
                </a:solidFill>
                <a:latin typeface="Calibri"/>
              </a:rPr>
              <a:t>— renda × raça/cor = −0,81; renda × </a:t>
            </a:r>
            <a:r>
              <a:rPr lang="pt-BR" sz="1250" b="0" i="0" noProof="0" dirty="0" err="1">
                <a:solidFill>
                  <a:srgbClr val="0E2A47"/>
                </a:solidFill>
                <a:latin typeface="Calibri"/>
              </a:rPr>
              <a:t>analfab</a:t>
            </a:r>
            <a:r>
              <a:rPr lang="pt-BR" sz="1250" b="0" i="0" noProof="0" dirty="0">
                <a:solidFill>
                  <a:srgbClr val="0E2A47"/>
                </a:solidFill>
                <a:latin typeface="Calibri"/>
              </a:rPr>
              <a:t> = −0,75; </a:t>
            </a:r>
            <a:r>
              <a:rPr lang="pt-BR" sz="1250" b="0" i="0" noProof="0" dirty="0" err="1">
                <a:solidFill>
                  <a:srgbClr val="0E2A47"/>
                </a:solidFill>
                <a:latin typeface="Calibri"/>
              </a:rPr>
              <a:t>analfab</a:t>
            </a:r>
            <a:r>
              <a:rPr lang="pt-BR" sz="1250" b="0" i="0" noProof="0" dirty="0">
                <a:solidFill>
                  <a:srgbClr val="0E2A47"/>
                </a:solidFill>
                <a:latin typeface="Calibri"/>
              </a:rPr>
              <a:t> × raça = +0,62.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lang="pt-BR" sz="1250" b="1" i="0" noProof="0" dirty="0">
                <a:solidFill>
                  <a:srgbClr val="1C7293"/>
                </a:solidFill>
                <a:latin typeface="Calibri"/>
              </a:rPr>
              <a:t>▪  </a:t>
            </a:r>
            <a:r>
              <a:rPr lang="pt-BR" sz="1250" b="1" i="0" noProof="0" dirty="0">
                <a:solidFill>
                  <a:srgbClr val="0E2A47"/>
                </a:solidFill>
                <a:latin typeface="Calibri"/>
              </a:rPr>
              <a:t>Bloco saneamento  </a:t>
            </a:r>
            <a:r>
              <a:rPr lang="pt-BR" sz="1250" b="0" i="0" noProof="0" dirty="0">
                <a:solidFill>
                  <a:srgbClr val="0E2A47"/>
                </a:solidFill>
                <a:latin typeface="Calibri"/>
              </a:rPr>
              <a:t>— água/esgoto/lixo coesos (0,15–0,45).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lang="pt-BR" sz="1250" b="1" i="0" noProof="0" dirty="0">
                <a:solidFill>
                  <a:srgbClr val="1C7293"/>
                </a:solidFill>
                <a:latin typeface="Calibri"/>
              </a:rPr>
              <a:t>▪  </a:t>
            </a:r>
            <a:r>
              <a:rPr lang="pt-BR" sz="1250" b="1" i="0" noProof="0" dirty="0">
                <a:solidFill>
                  <a:srgbClr val="0E2A47"/>
                </a:solidFill>
                <a:latin typeface="Calibri"/>
              </a:rPr>
              <a:t>Dois fatores latentes  </a:t>
            </a:r>
            <a:r>
              <a:rPr lang="pt-BR" sz="1250" b="0" i="0" noProof="0" dirty="0">
                <a:solidFill>
                  <a:srgbClr val="0E2A47"/>
                </a:solidFill>
                <a:latin typeface="Calibri"/>
              </a:rPr>
              <a:t>— socioeconômico + saneamento, como no IVS-BH.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lang="pt-BR" sz="1250" b="1" i="0" noProof="0" dirty="0">
                <a:solidFill>
                  <a:srgbClr val="1C7293"/>
                </a:solidFill>
                <a:latin typeface="Calibri"/>
              </a:rPr>
              <a:t>▪  </a:t>
            </a:r>
            <a:r>
              <a:rPr lang="pt-BR" sz="1250" b="1" i="0" noProof="0" dirty="0">
                <a:solidFill>
                  <a:srgbClr val="0E2A47"/>
                </a:solidFill>
                <a:latin typeface="Calibri"/>
              </a:rPr>
              <a:t>Implicação  </a:t>
            </a:r>
            <a:r>
              <a:rPr lang="pt-BR" sz="1250" b="0" i="0" noProof="0" dirty="0">
                <a:solidFill>
                  <a:srgbClr val="0E2A47"/>
                </a:solidFill>
                <a:latin typeface="Calibri"/>
              </a:rPr>
              <a:t>— usar </a:t>
            </a:r>
            <a:r>
              <a:rPr lang="pt-BR" sz="1250" b="0" i="0" noProof="0" dirty="0" err="1">
                <a:solidFill>
                  <a:srgbClr val="0E2A47"/>
                </a:solidFill>
                <a:latin typeface="Calibri"/>
              </a:rPr>
              <a:t>Spearman</a:t>
            </a:r>
            <a:r>
              <a:rPr lang="pt-BR" sz="1250" b="0" i="0" noProof="0" dirty="0">
                <a:solidFill>
                  <a:srgbClr val="0E2A47"/>
                </a:solidFill>
                <a:latin typeface="Calibri"/>
              </a:rPr>
              <a:t> na análise fatorial.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13447"/>
            <a:ext cx="12191695" cy="6858000"/>
          </a:xfrm>
          <a:prstGeom prst="rect">
            <a:avLst/>
          </a:prstGeom>
          <a:solidFill>
            <a:srgbClr val="0A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219456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pt-BR" sz="6000" b="1" i="0" noProof="0" dirty="0">
                <a:solidFill>
                  <a:srgbClr val="00A896"/>
                </a:solidFill>
                <a:latin typeface="Georgia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286000"/>
            <a:ext cx="105156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pt-BR" sz="3400" b="1" i="0" noProof="0" dirty="0">
                <a:solidFill>
                  <a:srgbClr val="FFFFFF"/>
                </a:solidFill>
                <a:latin typeface="Georgia"/>
              </a:rPr>
              <a:t>As 6 demandas adicionais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383280"/>
            <a:ext cx="10515600" cy="20856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lang="pt-BR" sz="1500" b="1" i="0" noProof="0" dirty="0">
                <a:solidFill>
                  <a:schemeClr val="bg1"/>
                </a:solidFill>
                <a:latin typeface="Calibri"/>
              </a:rPr>
              <a:t>▪  1  Cobertura 100%  </a:t>
            </a:r>
            <a:r>
              <a:rPr lang="pt-BR" sz="1500" b="0" i="0" noProof="0" dirty="0">
                <a:solidFill>
                  <a:schemeClr val="bg1"/>
                </a:solidFill>
                <a:latin typeface="Calibri"/>
              </a:rPr>
              <a:t>— quantos setores têm cobertura total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lang="pt-BR" sz="1500" b="1" i="0" noProof="0" dirty="0">
                <a:solidFill>
                  <a:schemeClr val="bg1"/>
                </a:solidFill>
                <a:latin typeface="Calibri"/>
              </a:rPr>
              <a:t>▪  2  Domicílios improvisados  </a:t>
            </a:r>
            <a:r>
              <a:rPr lang="pt-BR" sz="1500" b="0" i="0" noProof="0" dirty="0">
                <a:solidFill>
                  <a:schemeClr val="bg1"/>
                </a:solidFill>
                <a:latin typeface="Calibri"/>
              </a:rPr>
              <a:t>— % de DPIO (V00002)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lang="pt-BR" sz="1500" b="1" i="0" noProof="0" dirty="0">
                <a:solidFill>
                  <a:schemeClr val="bg1"/>
                </a:solidFill>
                <a:latin typeface="Calibri"/>
              </a:rPr>
              <a:t>▪  3  Urbano / rural  </a:t>
            </a:r>
            <a:r>
              <a:rPr lang="pt-BR" sz="1500" b="0" i="0" noProof="0" dirty="0">
                <a:solidFill>
                  <a:schemeClr val="bg1"/>
                </a:solidFill>
                <a:latin typeface="Calibri"/>
              </a:rPr>
              <a:t>— classificação do setor (SITUACAO)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lang="pt-BR" sz="1500" b="1" i="0" noProof="0" dirty="0">
                <a:solidFill>
                  <a:schemeClr val="bg1"/>
                </a:solidFill>
                <a:latin typeface="Calibri"/>
              </a:rPr>
              <a:t>▪  4  Sem banheiro  </a:t>
            </a:r>
            <a:r>
              <a:rPr lang="pt-BR" sz="1500" b="0" i="0" noProof="0" dirty="0">
                <a:solidFill>
                  <a:schemeClr val="bg1"/>
                </a:solidFill>
                <a:latin typeface="Calibri"/>
              </a:rPr>
              <a:t>— inadequação sanitária (V00495 / V00238)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lang="pt-BR" sz="1500" b="1" i="0" noProof="0" dirty="0">
                <a:solidFill>
                  <a:schemeClr val="bg1"/>
                </a:solidFill>
                <a:latin typeface="Calibri"/>
              </a:rPr>
              <a:t>▪  5  Chefia feminina  </a:t>
            </a:r>
            <a:r>
              <a:rPr lang="pt-BR" sz="1500" b="0" i="0" noProof="0" dirty="0">
                <a:solidFill>
                  <a:schemeClr val="bg1"/>
                </a:solidFill>
                <a:latin typeface="Calibri"/>
              </a:rPr>
              <a:t>— responsável do sexo feminino (V01063)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lang="pt-BR" sz="1500" b="1" i="0" noProof="0" dirty="0">
                <a:solidFill>
                  <a:schemeClr val="bg1"/>
                </a:solidFill>
                <a:latin typeface="Calibri"/>
              </a:rPr>
              <a:t>▪  6  Estrutura etária  </a:t>
            </a:r>
            <a:r>
              <a:rPr lang="pt-BR" sz="1500" b="0" i="0" noProof="0" dirty="0">
                <a:solidFill>
                  <a:schemeClr val="bg1"/>
                </a:solidFill>
                <a:latin typeface="Calibri"/>
              </a:rPr>
              <a:t>— crianças &lt;5 e idosos 60+ (V01031 / V01040+V01041)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1064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pt-BR" sz="1250" b="1" i="0" noProof="0" dirty="0">
                <a:solidFill>
                  <a:srgbClr val="1C7293"/>
                </a:solidFill>
                <a:latin typeface="Calibri"/>
              </a:rPr>
              <a:t>DEMANDA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76656"/>
            <a:ext cx="110642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lang="pt-BR" sz="3000" b="1" i="0" noProof="0" dirty="0">
                <a:solidFill>
                  <a:srgbClr val="0E2A47"/>
                </a:solidFill>
                <a:latin typeface="Georgia"/>
              </a:rPr>
              <a:t>Cobertura — setores com 100% de adequação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371600"/>
            <a:ext cx="110642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lang="pt-BR" sz="1450" b="0" i="0" noProof="0" dirty="0">
                <a:solidFill>
                  <a:srgbClr val="5A6B7B"/>
                </a:solidFill>
                <a:latin typeface="Calibri"/>
              </a:rPr>
              <a:t>Quantos setores têm cobertura total (inadequação = 0) por critério.</a:t>
            </a:r>
          </a:p>
        </p:txBody>
      </p:sp>
      <p:pic>
        <p:nvPicPr>
          <p:cNvPr id="6" name="Picture 5" descr="fig_cobertur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874519"/>
            <a:ext cx="6858000" cy="33632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680960" y="1920240"/>
            <a:ext cx="393192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lang="pt-BR" sz="1300" b="1" i="0" noProof="0" dirty="0">
                <a:solidFill>
                  <a:srgbClr val="1C7293"/>
                </a:solidFill>
                <a:latin typeface="Calibri"/>
              </a:rPr>
              <a:t>▪  </a:t>
            </a:r>
            <a:r>
              <a:rPr lang="pt-BR" sz="1300" b="1" i="0" noProof="0" dirty="0">
                <a:solidFill>
                  <a:srgbClr val="0E2A47"/>
                </a:solidFill>
                <a:latin typeface="Calibri"/>
              </a:rPr>
              <a:t>41,6% têm os 3 serviços  </a:t>
            </a:r>
            <a:r>
              <a:rPr lang="pt-BR" sz="1300" b="0" i="0" noProof="0" dirty="0">
                <a:solidFill>
                  <a:srgbClr val="0E2A47"/>
                </a:solidFill>
                <a:latin typeface="Calibri"/>
              </a:rPr>
              <a:t>— água, esgoto e lixo simultaneamente adequados.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lang="pt-BR" sz="1300" b="1" i="0" noProof="0" dirty="0">
                <a:solidFill>
                  <a:srgbClr val="1C7293"/>
                </a:solidFill>
                <a:latin typeface="Calibri"/>
              </a:rPr>
              <a:t>▪  </a:t>
            </a:r>
            <a:r>
              <a:rPr lang="pt-BR" sz="1300" b="1" i="0" noProof="0" dirty="0">
                <a:solidFill>
                  <a:srgbClr val="0E2A47"/>
                </a:solidFill>
                <a:latin typeface="Calibri"/>
              </a:rPr>
              <a:t>Coleta de lixo 91,5%  </a:t>
            </a:r>
            <a:r>
              <a:rPr lang="pt-BR" sz="1300" b="0" i="0" noProof="0" dirty="0">
                <a:solidFill>
                  <a:srgbClr val="0E2A47"/>
                </a:solidFill>
                <a:latin typeface="Calibri"/>
              </a:rPr>
              <a:t>— inclui caçamba; cai p/ 61,7% só porta-a-porta.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lang="pt-BR" sz="1300" b="1" i="0" noProof="0" dirty="0">
                <a:solidFill>
                  <a:srgbClr val="1C7293"/>
                </a:solidFill>
                <a:latin typeface="Calibri"/>
              </a:rPr>
              <a:t>▪  </a:t>
            </a:r>
            <a:r>
              <a:rPr lang="pt-BR" sz="1300" b="1" i="0" noProof="0" dirty="0">
                <a:solidFill>
                  <a:srgbClr val="0E2A47"/>
                </a:solidFill>
                <a:latin typeface="Calibri"/>
              </a:rPr>
              <a:t>Dados completos 84,2%  </a:t>
            </a:r>
            <a:r>
              <a:rPr lang="pt-BR" sz="1300" b="0" i="0" noProof="0" dirty="0">
                <a:solidFill>
                  <a:srgbClr val="0E2A47"/>
                </a:solidFill>
                <a:latin typeface="Calibri"/>
              </a:rPr>
              <a:t>— limite imposto pelo sigilo do analfabetismo.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lang="pt-BR" sz="1300" b="1" i="0" noProof="0" dirty="0">
                <a:solidFill>
                  <a:srgbClr val="1C7293"/>
                </a:solidFill>
                <a:latin typeface="Calibri"/>
              </a:rPr>
              <a:t>▪  </a:t>
            </a:r>
            <a:r>
              <a:rPr lang="pt-BR" sz="1300" b="1" i="0" noProof="0" dirty="0">
                <a:solidFill>
                  <a:srgbClr val="0E2A47"/>
                </a:solidFill>
                <a:latin typeface="Calibri"/>
              </a:rPr>
              <a:t>Gradiente regional  </a:t>
            </a:r>
            <a:r>
              <a:rPr lang="pt-BR" sz="1300" b="0" i="0" noProof="0" dirty="0">
                <a:solidFill>
                  <a:srgbClr val="0E2A47"/>
                </a:solidFill>
                <a:latin typeface="Calibri"/>
              </a:rPr>
              <a:t>— Norte só 4,4% com os 3 serviços; Sudeste 52,3%.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1064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pt-BR" sz="1250" b="1" i="0" noProof="0" dirty="0">
                <a:solidFill>
                  <a:srgbClr val="1C7293"/>
                </a:solidFill>
                <a:latin typeface="Calibri"/>
              </a:rPr>
              <a:t>DEMANDA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76656"/>
            <a:ext cx="110642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lang="pt-BR" sz="3000" b="1" i="0" noProof="0" dirty="0">
                <a:solidFill>
                  <a:srgbClr val="0E2A47"/>
                </a:solidFill>
                <a:latin typeface="Georgia"/>
              </a:rPr>
              <a:t>Domicílios particulares improvisados (DPIO)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371600"/>
            <a:ext cx="11064240" cy="22487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lang="pt-BR" sz="1450" b="0" i="0" noProof="0" dirty="0" err="1">
                <a:solidFill>
                  <a:srgbClr val="5A6B7B"/>
                </a:solidFill>
                <a:latin typeface="Calibri"/>
              </a:rPr>
              <a:t>pct_dom_improv</a:t>
            </a:r>
            <a:r>
              <a:rPr lang="pt-BR" sz="1450" b="0" i="0" noProof="0" dirty="0">
                <a:solidFill>
                  <a:srgbClr val="5A6B7B"/>
                </a:solidFill>
                <a:latin typeface="Calibri"/>
              </a:rPr>
              <a:t> = V00002 / (V00001 + V00002).</a:t>
            </a:r>
          </a:p>
        </p:txBody>
      </p:sp>
      <p:pic>
        <p:nvPicPr>
          <p:cNvPr id="6" name="Picture 5" descr="fig_hab_precari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2148840"/>
            <a:ext cx="6400800" cy="321556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223760" y="2057400"/>
            <a:ext cx="4389120" cy="4206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lang="pt-BR" sz="1300" b="1" i="0" noProof="0" dirty="0">
                <a:solidFill>
                  <a:srgbClr val="1C7293"/>
                </a:solidFill>
                <a:latin typeface="Calibri"/>
              </a:rPr>
              <a:t>▪  </a:t>
            </a:r>
            <a:r>
              <a:rPr lang="pt-BR" sz="1300" b="1" i="0" noProof="0" dirty="0">
                <a:solidFill>
                  <a:srgbClr val="0E2A47"/>
                </a:solidFill>
                <a:latin typeface="Calibri"/>
              </a:rPr>
              <a:t>Improvisado = V00002  </a:t>
            </a:r>
            <a:r>
              <a:rPr lang="pt-BR" sz="1300" b="0" i="0" noProof="0" dirty="0">
                <a:solidFill>
                  <a:srgbClr val="0E2A47"/>
                </a:solidFill>
                <a:latin typeface="Calibri"/>
              </a:rPr>
              <a:t>— tendas, barracos, veículos, estrutura degradada não-residencial.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lang="pt-BR" sz="1300" b="1" i="0" noProof="0" dirty="0">
                <a:solidFill>
                  <a:srgbClr val="1C7293"/>
                </a:solidFill>
                <a:latin typeface="Calibri"/>
              </a:rPr>
              <a:t>▪  </a:t>
            </a:r>
            <a:r>
              <a:rPr lang="pt-BR" sz="1300" b="1" i="0" noProof="0" dirty="0">
                <a:solidFill>
                  <a:srgbClr val="0E2A47"/>
                </a:solidFill>
                <a:latin typeface="Calibri"/>
              </a:rPr>
              <a:t>Muito raro  </a:t>
            </a:r>
            <a:r>
              <a:rPr lang="pt-BR" sz="1300" b="0" i="0" noProof="0" dirty="0">
                <a:solidFill>
                  <a:srgbClr val="0E2A47"/>
                </a:solidFill>
                <a:latin typeface="Calibri"/>
              </a:rPr>
              <a:t>— média 0,08%; só 0,8% dos setores têm algum DPIO.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lang="pt-BR" sz="1300" b="1" i="0" noProof="0" dirty="0">
                <a:solidFill>
                  <a:srgbClr val="1C7293"/>
                </a:solidFill>
                <a:latin typeface="Calibri"/>
              </a:rPr>
              <a:t>▪  </a:t>
            </a:r>
            <a:r>
              <a:rPr lang="pt-BR" sz="1300" b="1" i="0" noProof="0" dirty="0">
                <a:solidFill>
                  <a:srgbClr val="0E2A47"/>
                </a:solidFill>
                <a:latin typeface="Calibri"/>
              </a:rPr>
              <a:t>Habitação precária (gráfico)  </a:t>
            </a:r>
            <a:r>
              <a:rPr lang="pt-BR" sz="1300" b="0" i="0" noProof="0" dirty="0">
                <a:solidFill>
                  <a:srgbClr val="0E2A47"/>
                </a:solidFill>
                <a:latin typeface="Calibri"/>
              </a:rPr>
              <a:t>— cortiço (V00050) + degradado (V00052) + improvisados: média 0,65%.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lang="pt-BR" sz="1300" b="1" i="0" noProof="0" dirty="0">
                <a:solidFill>
                  <a:srgbClr val="1C7293"/>
                </a:solidFill>
                <a:latin typeface="Calibri"/>
              </a:rPr>
              <a:t>▪  </a:t>
            </a:r>
            <a:r>
              <a:rPr lang="pt-BR" sz="1300" b="1" i="0" noProof="0" dirty="0">
                <a:solidFill>
                  <a:srgbClr val="0E2A47"/>
                </a:solidFill>
                <a:latin typeface="Calibri"/>
              </a:rPr>
              <a:t>Padrão metropolitano  </a:t>
            </a:r>
            <a:r>
              <a:rPr lang="pt-BR" sz="1300" b="0" i="0" noProof="0" dirty="0">
                <a:solidFill>
                  <a:srgbClr val="0E2A47"/>
                </a:solidFill>
                <a:latin typeface="Calibri"/>
              </a:rPr>
              <a:t>— concentra-se em Centro-Oeste/Sudeste urbanos, não no Norte rural.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1064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pt-BR" sz="1250" b="1" i="0" noProof="0" dirty="0">
                <a:solidFill>
                  <a:srgbClr val="1C7293"/>
                </a:solidFill>
                <a:latin typeface="Calibri"/>
              </a:rPr>
              <a:t>DEMANDA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76656"/>
            <a:ext cx="110642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lang="pt-BR" sz="3000" b="1" i="0" noProof="0" dirty="0">
                <a:solidFill>
                  <a:srgbClr val="0E2A47"/>
                </a:solidFill>
                <a:latin typeface="Georgia"/>
              </a:rPr>
              <a:t>Classificação urbano / rural do setor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371600"/>
            <a:ext cx="110642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lang="pt-BR" sz="1450" b="0" i="0" noProof="0" dirty="0">
                <a:solidFill>
                  <a:srgbClr val="5A6B7B"/>
                </a:solidFill>
                <a:latin typeface="Calibri"/>
              </a:rPr>
              <a:t>Variável SITUACAO (texto pronto do IBGE). Cada domicílio herda a situação do seu setor.</a:t>
            </a:r>
          </a:p>
        </p:txBody>
      </p:sp>
      <p:pic>
        <p:nvPicPr>
          <p:cNvPr id="6" name="Picture 5" descr="fig_urbano_rur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2057400"/>
            <a:ext cx="6492240" cy="3205094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0" y="2011680"/>
            <a:ext cx="2103120" cy="1417320"/>
          </a:xfrm>
          <a:prstGeom prst="roundRect">
            <a:avLst>
              <a:gd name="adj" fmla="val 8000"/>
            </a:avLst>
          </a:prstGeom>
          <a:solidFill>
            <a:srgbClr val="EE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8" name="TextBox 7"/>
          <p:cNvSpPr txBox="1"/>
          <p:nvPr/>
        </p:nvSpPr>
        <p:spPr>
          <a:xfrm>
            <a:off x="7315200" y="2157984"/>
            <a:ext cx="2103120" cy="7132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pt-BR" sz="3300" b="1" i="0" noProof="0" dirty="0">
                <a:solidFill>
                  <a:srgbClr val="1C7293"/>
                </a:solidFill>
                <a:latin typeface="Georgia"/>
              </a:rPr>
              <a:t>97,5%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06640" y="2752344"/>
            <a:ext cx="192024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pt-BR" sz="1150" b="0" i="0" noProof="0" dirty="0">
                <a:solidFill>
                  <a:srgbClr val="5A6B7B"/>
                </a:solidFill>
                <a:latin typeface="Calibri"/>
              </a:rPr>
              <a:t>setores urbanos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509760" y="2011680"/>
            <a:ext cx="2103120" cy="1417320"/>
          </a:xfrm>
          <a:prstGeom prst="roundRect">
            <a:avLst>
              <a:gd name="adj" fmla="val 8000"/>
            </a:avLst>
          </a:prstGeom>
          <a:solidFill>
            <a:srgbClr val="EE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11" name="TextBox 10"/>
          <p:cNvSpPr txBox="1"/>
          <p:nvPr/>
        </p:nvSpPr>
        <p:spPr>
          <a:xfrm>
            <a:off x="9509760" y="2157984"/>
            <a:ext cx="2103120" cy="7132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pt-BR" sz="3300" b="1" i="0" noProof="0" dirty="0">
                <a:solidFill>
                  <a:srgbClr val="E0A458"/>
                </a:solidFill>
                <a:latin typeface="Georgia"/>
              </a:rPr>
              <a:t>2,4%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2752344"/>
            <a:ext cx="192024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pt-BR" sz="1150" b="0" i="0" noProof="0" dirty="0">
                <a:solidFill>
                  <a:srgbClr val="5A6B7B"/>
                </a:solidFill>
                <a:latin typeface="Calibri"/>
              </a:rPr>
              <a:t>setores rurais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0" y="3657600"/>
            <a:ext cx="4297680" cy="2468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lang="pt-BR" sz="1300" b="1" i="0" noProof="0" dirty="0">
                <a:solidFill>
                  <a:srgbClr val="1C7293"/>
                </a:solidFill>
                <a:latin typeface="Calibri"/>
              </a:rPr>
              <a:t>▪  </a:t>
            </a:r>
            <a:r>
              <a:rPr lang="pt-BR" sz="1300" b="1" i="0" noProof="0" dirty="0">
                <a:solidFill>
                  <a:srgbClr val="0E2A47"/>
                </a:solidFill>
                <a:latin typeface="Calibri"/>
              </a:rPr>
              <a:t>99,1% dos domicílios urbanos  </a:t>
            </a:r>
            <a:r>
              <a:rPr lang="pt-BR" sz="1300" b="0" i="0" noProof="0" dirty="0">
                <a:solidFill>
                  <a:srgbClr val="0E2A47"/>
                </a:solidFill>
                <a:latin typeface="Calibri"/>
              </a:rPr>
              <a:t>— desenho urbano do ELSI.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lang="pt-BR" sz="1300" b="1" i="0" noProof="0" dirty="0">
                <a:solidFill>
                  <a:srgbClr val="1C7293"/>
                </a:solidFill>
                <a:latin typeface="Calibri"/>
              </a:rPr>
              <a:t>▪  </a:t>
            </a:r>
            <a:r>
              <a:rPr lang="pt-BR" sz="1300" b="1" i="0" noProof="0" dirty="0">
                <a:solidFill>
                  <a:srgbClr val="0E2A47"/>
                </a:solidFill>
                <a:latin typeface="Calibri"/>
              </a:rPr>
              <a:t>Norte mais rural  </a:t>
            </a:r>
            <a:r>
              <a:rPr lang="pt-BR" sz="1300" b="0" i="0" noProof="0" dirty="0">
                <a:solidFill>
                  <a:srgbClr val="0E2A47"/>
                </a:solidFill>
                <a:latin typeface="Calibri"/>
              </a:rPr>
              <a:t>— 7,1% dos setores.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lang="pt-BR" sz="1300" b="1" i="0" noProof="0" dirty="0">
                <a:solidFill>
                  <a:srgbClr val="1C7293"/>
                </a:solidFill>
                <a:latin typeface="Calibri"/>
              </a:rPr>
              <a:t>▪  </a:t>
            </a:r>
            <a:r>
              <a:rPr lang="pt-BR" sz="1300" b="1" i="0" noProof="0" dirty="0">
                <a:solidFill>
                  <a:srgbClr val="0E2A47"/>
                </a:solidFill>
                <a:latin typeface="Calibri"/>
              </a:rPr>
              <a:t>9 municípios 100% urbanos  </a:t>
            </a:r>
            <a:r>
              <a:rPr lang="pt-BR" sz="1300" b="0" i="0" noProof="0" dirty="0">
                <a:solidFill>
                  <a:srgbClr val="0E2A47"/>
                </a:solidFill>
                <a:latin typeface="Calibri"/>
              </a:rPr>
              <a:t>; Autazes/AM é majoritariamente rural.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1064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pt-BR" sz="1250" b="1" i="0" noProof="0" dirty="0">
                <a:solidFill>
                  <a:srgbClr val="1C7293"/>
                </a:solidFill>
                <a:latin typeface="Calibri"/>
              </a:rPr>
              <a:t>DEMANDA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76656"/>
            <a:ext cx="110642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lang="pt-BR" sz="3000" b="1" i="0" noProof="0" dirty="0">
                <a:solidFill>
                  <a:srgbClr val="0E2A47"/>
                </a:solidFill>
                <a:latin typeface="Georgia"/>
              </a:rPr>
              <a:t>Inadequação de banheiro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371600"/>
            <a:ext cx="11064240" cy="22487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lang="pt-BR" sz="1450" b="0" i="0" noProof="0" dirty="0">
                <a:solidFill>
                  <a:srgbClr val="5A6B7B"/>
                </a:solidFill>
                <a:latin typeface="Calibri"/>
              </a:rPr>
              <a:t>Duas definições, denominador V00001. </a:t>
            </a:r>
          </a:p>
        </p:txBody>
      </p:sp>
      <p:pic>
        <p:nvPicPr>
          <p:cNvPr id="6" name="Picture 5" descr="fig_banheir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2148840"/>
            <a:ext cx="6400800" cy="321556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223760" y="2057400"/>
            <a:ext cx="4389120" cy="4206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lang="pt-BR" sz="1300" b="1" i="0" noProof="0" dirty="0">
                <a:solidFill>
                  <a:srgbClr val="1C7293"/>
                </a:solidFill>
                <a:latin typeface="Calibri"/>
              </a:rPr>
              <a:t>▪  </a:t>
            </a:r>
            <a:r>
              <a:rPr lang="pt-BR" sz="1300" b="1" i="0" noProof="0" dirty="0">
                <a:solidFill>
                  <a:srgbClr val="0E2A47"/>
                </a:solidFill>
                <a:latin typeface="Calibri"/>
              </a:rPr>
              <a:t>Sem banheiro privativo (V00495)  </a:t>
            </a:r>
            <a:r>
              <a:rPr lang="pt-BR" sz="1300" b="0" i="0" noProof="0" dirty="0">
                <a:solidFill>
                  <a:srgbClr val="0E2A47"/>
                </a:solidFill>
                <a:latin typeface="Calibri"/>
              </a:rPr>
              <a:t>— sem banheiro de uso exclusivo com chuveiro e vaso; média 0,45%.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lang="pt-BR" sz="1300" b="1" i="0" noProof="0" dirty="0">
                <a:solidFill>
                  <a:srgbClr val="1C7293"/>
                </a:solidFill>
                <a:latin typeface="Calibri"/>
              </a:rPr>
              <a:t>▪  </a:t>
            </a:r>
            <a:r>
              <a:rPr lang="pt-BR" sz="1300" b="1" i="0" noProof="0" dirty="0">
                <a:solidFill>
                  <a:srgbClr val="0E2A47"/>
                </a:solidFill>
                <a:latin typeface="Calibri"/>
              </a:rPr>
              <a:t>Privação extrema (V00238)  </a:t>
            </a:r>
            <a:r>
              <a:rPr lang="pt-BR" sz="1300" b="0" i="0" noProof="0" dirty="0">
                <a:solidFill>
                  <a:srgbClr val="0E2A47"/>
                </a:solidFill>
                <a:latin typeface="Calibri"/>
              </a:rPr>
              <a:t>— sem banheiro nem sanitário; média 0,04%.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lang="pt-BR" sz="1300" b="1" i="0" noProof="0" dirty="0">
                <a:solidFill>
                  <a:srgbClr val="1C7293"/>
                </a:solidFill>
                <a:latin typeface="Calibri"/>
              </a:rPr>
              <a:t>▪  </a:t>
            </a:r>
            <a:r>
              <a:rPr lang="pt-BR" sz="1300" b="1" i="0" noProof="0" dirty="0">
                <a:solidFill>
                  <a:srgbClr val="0E2A47"/>
                </a:solidFill>
                <a:latin typeface="Calibri"/>
              </a:rPr>
              <a:t>Gradiente Norte-rural  </a:t>
            </a:r>
            <a:r>
              <a:rPr lang="pt-BR" sz="1300" b="0" i="0" noProof="0" dirty="0">
                <a:solidFill>
                  <a:srgbClr val="0E2A47"/>
                </a:solidFill>
                <a:latin typeface="Calibri"/>
              </a:rPr>
              <a:t>— Norte 3,5%; alinhado a água/esgoto.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lang="pt-BR" sz="1300" b="1" i="0" noProof="0" dirty="0">
                <a:solidFill>
                  <a:srgbClr val="1C7293"/>
                </a:solidFill>
                <a:latin typeface="Calibri"/>
              </a:rPr>
              <a:t>▪  </a:t>
            </a:r>
            <a:r>
              <a:rPr lang="pt-BR" sz="1300" b="1" i="0" noProof="0" dirty="0">
                <a:solidFill>
                  <a:srgbClr val="0E2A47"/>
                </a:solidFill>
                <a:latin typeface="Calibri"/>
              </a:rPr>
              <a:t>Extremos  </a:t>
            </a:r>
            <a:r>
              <a:rPr lang="pt-BR" sz="1300" b="0" i="0" noProof="0" dirty="0">
                <a:solidFill>
                  <a:srgbClr val="0E2A47"/>
                </a:solidFill>
                <a:latin typeface="Calibri"/>
              </a:rPr>
              <a:t>— Portel/PA 61,9%, Rosário/MA 34%, Autazes/AM 31%.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1064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pt-BR" sz="1250" b="1" i="0" noProof="0" dirty="0">
                <a:solidFill>
                  <a:srgbClr val="1C7293"/>
                </a:solidFill>
                <a:latin typeface="Calibri"/>
              </a:rPr>
              <a:t>DEMANDA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76656"/>
            <a:ext cx="110642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lang="pt-BR" sz="3000" b="1" i="0" noProof="0" dirty="0">
                <a:solidFill>
                  <a:srgbClr val="0E2A47"/>
                </a:solidFill>
                <a:latin typeface="Georgia"/>
              </a:rPr>
              <a:t>Pessoa responsável do sexo feminino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371600"/>
            <a:ext cx="110642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lang="pt-BR" sz="1450" b="0" i="0" noProof="0" dirty="0" err="1">
                <a:solidFill>
                  <a:srgbClr val="5A6B7B"/>
                </a:solidFill>
                <a:latin typeface="Calibri"/>
              </a:rPr>
              <a:t>pct_resp_feminino</a:t>
            </a:r>
            <a:r>
              <a:rPr lang="pt-BR" sz="1450" b="0" i="0" noProof="0" dirty="0">
                <a:solidFill>
                  <a:srgbClr val="5A6B7B"/>
                </a:solidFill>
                <a:latin typeface="Calibri"/>
              </a:rPr>
              <a:t> = V01063 / (V01062 + V01063). Domicílios chefiados por mulher.</a:t>
            </a:r>
          </a:p>
        </p:txBody>
      </p:sp>
      <p:pic>
        <p:nvPicPr>
          <p:cNvPr id="6" name="Picture 5" descr="fig_resp_fe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2103120"/>
            <a:ext cx="6492240" cy="3271842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0" y="2011680"/>
            <a:ext cx="4297680" cy="1371600"/>
          </a:xfrm>
          <a:prstGeom prst="roundRect">
            <a:avLst>
              <a:gd name="adj" fmla="val 8000"/>
            </a:avLst>
          </a:prstGeom>
          <a:solidFill>
            <a:srgbClr val="EE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8" name="TextBox 7"/>
          <p:cNvSpPr txBox="1"/>
          <p:nvPr/>
        </p:nvSpPr>
        <p:spPr>
          <a:xfrm>
            <a:off x="7315200" y="2157984"/>
            <a:ext cx="4297680" cy="7132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pt-BR" sz="2600" b="1" i="0" noProof="0" dirty="0">
                <a:solidFill>
                  <a:srgbClr val="00A896"/>
                </a:solidFill>
                <a:latin typeface="Georgia"/>
              </a:rPr>
              <a:t>10,26 milhões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06640" y="2706624"/>
            <a:ext cx="411480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pt-BR" sz="1150" b="0" i="0" noProof="0" dirty="0">
                <a:solidFill>
                  <a:srgbClr val="5A6B7B"/>
                </a:solidFill>
                <a:latin typeface="Calibri"/>
              </a:rPr>
              <a:t>responsáveis do sexo feminino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3611880"/>
            <a:ext cx="4297680" cy="2560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lang="pt-BR" sz="1300" b="1" i="0" noProof="0" dirty="0">
                <a:solidFill>
                  <a:srgbClr val="1C7293"/>
                </a:solidFill>
                <a:latin typeface="Calibri"/>
              </a:rPr>
              <a:t>▪  </a:t>
            </a:r>
            <a:r>
              <a:rPr lang="pt-BR" sz="1300" b="1" i="0" noProof="0" dirty="0">
                <a:solidFill>
                  <a:srgbClr val="0E2A47"/>
                </a:solidFill>
                <a:latin typeface="Calibri"/>
              </a:rPr>
              <a:t>Maioria feminina  </a:t>
            </a:r>
            <a:r>
              <a:rPr lang="pt-BR" sz="1300" b="0" i="0" noProof="0" dirty="0">
                <a:solidFill>
                  <a:srgbClr val="0E2A47"/>
                </a:solidFill>
                <a:latin typeface="Calibri"/>
              </a:rPr>
              <a:t>— 52,7% das chefias (mulheres &gt; homens).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lang="pt-BR" sz="1300" b="1" i="0" noProof="0" dirty="0">
                <a:solidFill>
                  <a:srgbClr val="1C7293"/>
                </a:solidFill>
                <a:latin typeface="Calibri"/>
              </a:rPr>
              <a:t>▪  </a:t>
            </a:r>
            <a:r>
              <a:rPr lang="pt-BR" sz="1300" b="1" i="0" noProof="0" dirty="0">
                <a:solidFill>
                  <a:srgbClr val="0E2A47"/>
                </a:solidFill>
                <a:latin typeface="Calibri"/>
              </a:rPr>
              <a:t>Mais alto no Nordeste  </a:t>
            </a:r>
            <a:r>
              <a:rPr lang="pt-BR" sz="1300" b="0" i="0" noProof="0" dirty="0">
                <a:solidFill>
                  <a:srgbClr val="0E2A47"/>
                </a:solidFill>
                <a:latin typeface="Calibri"/>
              </a:rPr>
              <a:t>— 55,0%; capitais Fortaleza, Recife, Salvador ~56%.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lang="pt-BR" sz="1300" b="1" i="0" noProof="0" dirty="0">
                <a:solidFill>
                  <a:srgbClr val="1C7293"/>
                </a:solidFill>
                <a:latin typeface="Calibri"/>
              </a:rPr>
              <a:t>▪  </a:t>
            </a:r>
            <a:r>
              <a:rPr lang="pt-BR" sz="1300" b="1" i="0" noProof="0" dirty="0">
                <a:solidFill>
                  <a:srgbClr val="0E2A47"/>
                </a:solidFill>
                <a:latin typeface="Calibri"/>
              </a:rPr>
              <a:t>Mais baixo  </a:t>
            </a:r>
            <a:r>
              <a:rPr lang="pt-BR" sz="1300" b="0" i="0" noProof="0" dirty="0">
                <a:solidFill>
                  <a:srgbClr val="0E2A47"/>
                </a:solidFill>
                <a:latin typeface="Calibri"/>
              </a:rPr>
              <a:t>— pequenos municípios rurais do Sul/Centro-Oeste.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1064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pt-BR" sz="1250" b="1" i="0" noProof="0" dirty="0">
                <a:solidFill>
                  <a:srgbClr val="1C7293"/>
                </a:solidFill>
                <a:latin typeface="Calibri"/>
              </a:rPr>
              <a:t>DEMANDA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76656"/>
            <a:ext cx="110642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lang="pt-BR" sz="3000" b="1" i="0" noProof="0" dirty="0">
                <a:solidFill>
                  <a:srgbClr val="0E2A47"/>
                </a:solidFill>
                <a:latin typeface="Georgia"/>
              </a:rPr>
              <a:t>Estrutura etária — crianças (&lt;5) e idosos (60+)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371600"/>
            <a:ext cx="110642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lang="pt-BR" sz="1450" b="0" i="0" noProof="0" dirty="0">
                <a:solidFill>
                  <a:srgbClr val="5A6B7B"/>
                </a:solidFill>
                <a:latin typeface="Calibri"/>
              </a:rPr>
              <a:t>pct_crianca_0a4 = V01031/v0001 ;  pct_idoso_60mais = (V01040+V01041)/v0001.</a:t>
            </a:r>
          </a:p>
        </p:txBody>
      </p:sp>
      <p:pic>
        <p:nvPicPr>
          <p:cNvPr id="6" name="Picture 5" descr="fig_ida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103120"/>
            <a:ext cx="7863840" cy="300961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412480" y="2057400"/>
            <a:ext cx="3200400" cy="4206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lang="pt-BR" sz="1250" b="1" i="0" noProof="0" dirty="0">
                <a:solidFill>
                  <a:srgbClr val="1C7293"/>
                </a:solidFill>
                <a:latin typeface="Calibri"/>
              </a:rPr>
              <a:t>▪  </a:t>
            </a:r>
            <a:r>
              <a:rPr lang="pt-BR" sz="1250" b="1" i="0" noProof="0" dirty="0">
                <a:solidFill>
                  <a:srgbClr val="0E2A47"/>
                </a:solidFill>
                <a:latin typeface="Calibri"/>
              </a:rPr>
              <a:t>8,75 mi idosos  </a:t>
            </a:r>
            <a:r>
              <a:rPr lang="pt-BR" sz="1250" b="0" i="0" noProof="0" dirty="0" err="1">
                <a:solidFill>
                  <a:srgbClr val="0E2A47"/>
                </a:solidFill>
                <a:latin typeface="Calibri"/>
              </a:rPr>
              <a:t>vs</a:t>
            </a:r>
            <a:r>
              <a:rPr lang="pt-BR" sz="1250" b="0" i="0" noProof="0" dirty="0">
                <a:solidFill>
                  <a:srgbClr val="0E2A47"/>
                </a:solidFill>
                <a:latin typeface="Calibri"/>
              </a:rPr>
              <a:t> 2,93 mi crianças &lt;5.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lang="pt-BR" sz="1250" b="1" i="0" noProof="0" dirty="0">
                <a:solidFill>
                  <a:srgbClr val="1C7293"/>
                </a:solidFill>
                <a:latin typeface="Calibri"/>
              </a:rPr>
              <a:t>▪  </a:t>
            </a:r>
            <a:r>
              <a:rPr lang="pt-BR" sz="1250" b="1" i="0" noProof="0" dirty="0">
                <a:solidFill>
                  <a:srgbClr val="0E2A47"/>
                </a:solidFill>
                <a:latin typeface="Calibri"/>
              </a:rPr>
              <a:t>Índice ≈ 299  </a:t>
            </a:r>
            <a:r>
              <a:rPr lang="pt-BR" sz="1250" b="0" i="0" noProof="0" dirty="0">
                <a:solidFill>
                  <a:srgbClr val="0E2A47"/>
                </a:solidFill>
                <a:latin typeface="Calibri"/>
              </a:rPr>
              <a:t>idosos por 100 crianças.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lang="pt-BR" sz="1250" b="1" i="0" noProof="0" dirty="0">
                <a:solidFill>
                  <a:srgbClr val="1C7293"/>
                </a:solidFill>
                <a:latin typeface="Calibri"/>
              </a:rPr>
              <a:t>▪  </a:t>
            </a:r>
            <a:r>
              <a:rPr lang="pt-BR" sz="1250" b="1" i="0" noProof="0" dirty="0">
                <a:solidFill>
                  <a:srgbClr val="0E2A47"/>
                </a:solidFill>
                <a:latin typeface="Calibri"/>
              </a:rPr>
              <a:t>Sul/Sudeste envelhecidos  </a:t>
            </a:r>
            <a:r>
              <a:rPr lang="pt-BR" sz="1250" b="0" i="0" noProof="0" dirty="0">
                <a:solidFill>
                  <a:srgbClr val="0E2A47"/>
                </a:solidFill>
                <a:latin typeface="Calibri"/>
              </a:rPr>
              <a:t>— São Caetano 548, Porto Alegre 455.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lang="pt-BR" sz="1250" b="1" i="0" noProof="0" dirty="0">
                <a:solidFill>
                  <a:srgbClr val="1C7293"/>
                </a:solidFill>
                <a:latin typeface="Calibri"/>
              </a:rPr>
              <a:t>▪  </a:t>
            </a:r>
            <a:r>
              <a:rPr lang="pt-BR" sz="1250" b="1" i="0" noProof="0" dirty="0">
                <a:solidFill>
                  <a:srgbClr val="0E2A47"/>
                </a:solidFill>
                <a:latin typeface="Calibri"/>
              </a:rPr>
              <a:t>Norte jovem  </a:t>
            </a:r>
            <a:r>
              <a:rPr lang="pt-BR" sz="1250" b="0" i="0" noProof="0" dirty="0">
                <a:solidFill>
                  <a:srgbClr val="0E2A47"/>
                </a:solidFill>
                <a:latin typeface="Calibri"/>
              </a:rPr>
              <a:t>— Portel/PA 56, Autazes/AM 80.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1064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pt-BR" sz="1250" b="1" i="0" noProof="0" dirty="0">
                <a:solidFill>
                  <a:srgbClr val="1C7293"/>
                </a:solidFill>
                <a:latin typeface="Calibri"/>
              </a:rPr>
              <a:t>SÍNTESE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76656"/>
            <a:ext cx="110642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lang="pt-BR" sz="3000" b="1" i="0" noProof="0" dirty="0">
                <a:solidFill>
                  <a:srgbClr val="0E2A47"/>
                </a:solidFill>
                <a:latin typeface="Georgia"/>
              </a:rPr>
              <a:t>As 6 demandas — variáveis e artefatos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05838139"/>
              </p:ext>
            </p:extLst>
          </p:nvPr>
        </p:nvGraphicFramePr>
        <p:xfrm>
          <a:off x="640080" y="1874519"/>
          <a:ext cx="10927078" cy="3328416"/>
        </p:xfrm>
        <a:graphic>
          <a:graphicData uri="http://schemas.openxmlformats.org/drawingml/2006/table">
            <a:tbl>
              <a:tblPr/>
              <a:tblGrid>
                <a:gridCol w="244917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607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9116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259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 algn="l"/>
                      <a:r>
                        <a:rPr lang="pt-BR" sz="1100" b="1" i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Demanda</a:t>
                      </a:r>
                    </a:p>
                  </a:txBody>
                  <a:tcPr marL="76200" marR="76200" marT="25400" marB="25400" anchor="ctr">
                    <a:solidFill>
                      <a:srgbClr val="1C729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pt-BR" sz="1100" b="1" i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Variável IBGE</a:t>
                      </a:r>
                    </a:p>
                  </a:txBody>
                  <a:tcPr marL="76200" marR="76200" marT="25400" marB="25400" anchor="ctr">
                    <a:solidFill>
                      <a:srgbClr val="1C729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pt-BR" sz="1100" b="1" i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Implementação</a:t>
                      </a:r>
                    </a:p>
                  </a:txBody>
                  <a:tcPr marL="76200" marR="76200" marT="25400" marB="25400" anchor="ctr">
                    <a:solidFill>
                      <a:srgbClr val="1C729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pt-BR" sz="1100" b="1" i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Resultado-chave</a:t>
                      </a:r>
                    </a:p>
                  </a:txBody>
                  <a:tcPr marL="76200" marR="76200" marT="25400" marB="25400" anchor="ctr">
                    <a:solidFill>
                      <a:srgbClr val="1C729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lang="pt-BR" sz="1200" b="1" i="0" noProof="0" dirty="0">
                          <a:solidFill>
                            <a:srgbClr val="0E2A47"/>
                          </a:solidFill>
                          <a:latin typeface="Calibri"/>
                        </a:rPr>
                        <a:t>1 Cobertura 100%</a:t>
                      </a:r>
                    </a:p>
                  </a:txBody>
                  <a:tcPr marL="76200" marR="762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pt-BR" sz="1200" b="0" i="0" noProof="0" dirty="0">
                          <a:solidFill>
                            <a:srgbClr val="0E2A4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6200" marR="762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pt-BR" sz="1200" b="0" i="0" noProof="0" dirty="0">
                          <a:solidFill>
                            <a:srgbClr val="0E2A47"/>
                          </a:solidFill>
                          <a:latin typeface="Calibri"/>
                        </a:rPr>
                        <a:t>cobertura_{</a:t>
                      </a:r>
                      <a:r>
                        <a:rPr lang="pt-BR" sz="1200" b="0" i="0" noProof="0" dirty="0" err="1">
                          <a:solidFill>
                            <a:srgbClr val="0E2A47"/>
                          </a:solidFill>
                          <a:latin typeface="Calibri"/>
                        </a:rPr>
                        <a:t>total,regiao,municipio</a:t>
                      </a:r>
                      <a:r>
                        <a:rPr lang="pt-BR" sz="1200" b="0" i="0" noProof="0" dirty="0">
                          <a:solidFill>
                            <a:srgbClr val="0E2A47"/>
                          </a:solidFill>
                          <a:latin typeface="Calibri"/>
                        </a:rPr>
                        <a:t>}</a:t>
                      </a:r>
                    </a:p>
                  </a:txBody>
                  <a:tcPr marL="76200" marR="762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pt-BR" sz="1200" b="0" i="0" noProof="0" dirty="0">
                          <a:solidFill>
                            <a:srgbClr val="0E2A47"/>
                          </a:solidFill>
                          <a:latin typeface="Calibri"/>
                        </a:rPr>
                        <a:t>41,6% com os 3 serviços</a:t>
                      </a:r>
                    </a:p>
                  </a:txBody>
                  <a:tcPr marL="76200" marR="762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lang="pt-BR" sz="1200" b="1" i="0" noProof="0" dirty="0">
                          <a:solidFill>
                            <a:srgbClr val="0E2A47"/>
                          </a:solidFill>
                          <a:latin typeface="Calibri"/>
                        </a:rPr>
                        <a:t>2 Improvisados</a:t>
                      </a:r>
                    </a:p>
                  </a:txBody>
                  <a:tcPr marL="76200" marR="76200" marT="12700" marB="127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pt-BR" sz="1200" b="0" i="0" noProof="0" dirty="0">
                          <a:solidFill>
                            <a:srgbClr val="0E2A47"/>
                          </a:solidFill>
                          <a:latin typeface="Calibri"/>
                        </a:rPr>
                        <a:t>V00002</a:t>
                      </a:r>
                    </a:p>
                  </a:txBody>
                  <a:tcPr marL="76200" marR="76200" marT="12700" marB="127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pt-BR" sz="1200" b="0" i="0" noProof="0" dirty="0" err="1">
                          <a:solidFill>
                            <a:srgbClr val="0E2A47"/>
                          </a:solidFill>
                          <a:latin typeface="Calibri"/>
                        </a:rPr>
                        <a:t>pct_dom_improv</a:t>
                      </a:r>
                      <a:r>
                        <a:rPr lang="pt-BR" sz="1200" b="0" i="0" noProof="0" dirty="0">
                          <a:solidFill>
                            <a:srgbClr val="0E2A47"/>
                          </a:solidFill>
                          <a:latin typeface="Calibri"/>
                        </a:rPr>
                        <a:t> (7b)</a:t>
                      </a:r>
                    </a:p>
                  </a:txBody>
                  <a:tcPr marL="76200" marR="76200" marT="12700" marB="127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pt-BR" sz="1200" b="0" i="0" noProof="0" dirty="0">
                          <a:solidFill>
                            <a:srgbClr val="0E2A47"/>
                          </a:solidFill>
                          <a:latin typeface="Calibri"/>
                        </a:rPr>
                        <a:t>0,8% dos setores</a:t>
                      </a:r>
                    </a:p>
                  </a:txBody>
                  <a:tcPr marL="76200" marR="76200" marT="12700" marB="12700" anchor="ctr">
                    <a:solidFill>
                      <a:srgbClr val="EEF3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lang="pt-BR" sz="1200" b="1" i="0" noProof="0" dirty="0">
                          <a:solidFill>
                            <a:srgbClr val="0E2A47"/>
                          </a:solidFill>
                          <a:latin typeface="Calibri"/>
                        </a:rPr>
                        <a:t>3 Urbano/rural</a:t>
                      </a:r>
                    </a:p>
                  </a:txBody>
                  <a:tcPr marL="76200" marR="762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pt-BR" sz="1200" b="0" i="0" noProof="0" dirty="0">
                          <a:solidFill>
                            <a:srgbClr val="0E2A47"/>
                          </a:solidFill>
                          <a:latin typeface="Calibri"/>
                        </a:rPr>
                        <a:t>SITUACAO</a:t>
                      </a:r>
                    </a:p>
                  </a:txBody>
                  <a:tcPr marL="76200" marR="762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pt-BR" sz="1200" b="0" i="0" noProof="0" dirty="0" err="1">
                          <a:solidFill>
                            <a:srgbClr val="0E2A47"/>
                          </a:solidFill>
                          <a:latin typeface="Calibri"/>
                        </a:rPr>
                        <a:t>situacao_urbano_rural</a:t>
                      </a:r>
                      <a:r>
                        <a:rPr lang="pt-BR" sz="1200" b="0" i="0" noProof="0" dirty="0">
                          <a:solidFill>
                            <a:srgbClr val="0E2A47"/>
                          </a:solidFill>
                          <a:latin typeface="Calibri"/>
                        </a:rPr>
                        <a:t>_*</a:t>
                      </a:r>
                    </a:p>
                  </a:txBody>
                  <a:tcPr marL="76200" marR="762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pt-BR" sz="1200" b="0" i="0" noProof="0" dirty="0">
                          <a:solidFill>
                            <a:srgbClr val="0E2A47"/>
                          </a:solidFill>
                          <a:latin typeface="Calibri"/>
                        </a:rPr>
                        <a:t>97,5% urbano</a:t>
                      </a:r>
                    </a:p>
                  </a:txBody>
                  <a:tcPr marL="76200" marR="762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lang="pt-BR" sz="1200" b="1" i="0" noProof="0" dirty="0">
                          <a:solidFill>
                            <a:srgbClr val="0E2A47"/>
                          </a:solidFill>
                          <a:latin typeface="Calibri"/>
                        </a:rPr>
                        <a:t>4 Sem banheiro</a:t>
                      </a:r>
                    </a:p>
                  </a:txBody>
                  <a:tcPr marL="76200" marR="76200" marT="12700" marB="127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pt-BR" sz="1200" b="0" i="0" noProof="0" dirty="0">
                          <a:solidFill>
                            <a:srgbClr val="0E2A47"/>
                          </a:solidFill>
                          <a:latin typeface="Calibri"/>
                        </a:rPr>
                        <a:t>V00495 / V00238</a:t>
                      </a:r>
                    </a:p>
                  </a:txBody>
                  <a:tcPr marL="76200" marR="76200" marT="12700" marB="127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pt-BR" sz="1200" b="0" i="0" noProof="0" dirty="0" err="1">
                          <a:solidFill>
                            <a:srgbClr val="0E2A47"/>
                          </a:solidFill>
                          <a:latin typeface="Calibri"/>
                        </a:rPr>
                        <a:t>pct_sem_banheiro</a:t>
                      </a:r>
                      <a:r>
                        <a:rPr lang="pt-BR" sz="1200" b="0" i="0" noProof="0" dirty="0">
                          <a:solidFill>
                            <a:srgbClr val="0E2A47"/>
                          </a:solidFill>
                          <a:latin typeface="Calibri"/>
                        </a:rPr>
                        <a:t> (7c)</a:t>
                      </a:r>
                    </a:p>
                  </a:txBody>
                  <a:tcPr marL="76200" marR="76200" marT="12700" marB="127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pt-BR" sz="1200" b="0" i="0" noProof="0" dirty="0">
                          <a:solidFill>
                            <a:srgbClr val="0E2A47"/>
                          </a:solidFill>
                          <a:latin typeface="Calibri"/>
                        </a:rPr>
                        <a:t>0,45% / 0,04%</a:t>
                      </a:r>
                    </a:p>
                  </a:txBody>
                  <a:tcPr marL="76200" marR="76200" marT="12700" marB="12700" anchor="ctr">
                    <a:solidFill>
                      <a:srgbClr val="EEF3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lang="pt-BR" sz="1200" b="1" i="0" noProof="0" dirty="0">
                          <a:solidFill>
                            <a:srgbClr val="0E2A47"/>
                          </a:solidFill>
                          <a:latin typeface="Calibri"/>
                        </a:rPr>
                        <a:t>5 Chefia feminina</a:t>
                      </a:r>
                    </a:p>
                  </a:txBody>
                  <a:tcPr marL="76200" marR="762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pt-BR" sz="1200" b="0" i="0" noProof="0" dirty="0">
                          <a:solidFill>
                            <a:srgbClr val="0E2A47"/>
                          </a:solidFill>
                          <a:latin typeface="Calibri"/>
                        </a:rPr>
                        <a:t>V01063</a:t>
                      </a:r>
                    </a:p>
                  </a:txBody>
                  <a:tcPr marL="76200" marR="762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pt-BR" sz="1200" b="0" i="0" noProof="0" dirty="0" err="1">
                          <a:solidFill>
                            <a:srgbClr val="0E2A47"/>
                          </a:solidFill>
                          <a:latin typeface="Calibri"/>
                        </a:rPr>
                        <a:t>pct_resp_feminino</a:t>
                      </a:r>
                      <a:r>
                        <a:rPr lang="pt-BR" sz="1200" b="0" i="0" noProof="0" dirty="0">
                          <a:solidFill>
                            <a:srgbClr val="0E2A47"/>
                          </a:solidFill>
                          <a:latin typeface="Calibri"/>
                        </a:rPr>
                        <a:t> (7d)</a:t>
                      </a:r>
                    </a:p>
                  </a:txBody>
                  <a:tcPr marL="76200" marR="762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pt-BR" sz="1200" b="0" i="0" noProof="0" dirty="0">
                          <a:solidFill>
                            <a:srgbClr val="0E2A47"/>
                          </a:solidFill>
                          <a:latin typeface="Calibri"/>
                        </a:rPr>
                        <a:t>52,7% feminina</a:t>
                      </a:r>
                    </a:p>
                  </a:txBody>
                  <a:tcPr marL="76200" marR="762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lang="pt-BR" sz="1200" b="1" i="0" noProof="0" dirty="0">
                          <a:solidFill>
                            <a:srgbClr val="0E2A47"/>
                          </a:solidFill>
                          <a:latin typeface="Calibri"/>
                        </a:rPr>
                        <a:t>6 Crianças/idosos</a:t>
                      </a:r>
                    </a:p>
                  </a:txBody>
                  <a:tcPr marL="76200" marR="76200" marT="12700" marB="127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pt-BR" sz="1200" b="0" i="0" noProof="0" dirty="0">
                          <a:solidFill>
                            <a:srgbClr val="0E2A47"/>
                          </a:solidFill>
                          <a:latin typeface="Calibri"/>
                        </a:rPr>
                        <a:t>V01031 / V01040+41</a:t>
                      </a:r>
                    </a:p>
                  </a:txBody>
                  <a:tcPr marL="76200" marR="76200" marT="12700" marB="127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pt-BR" sz="1200" b="0" i="0" noProof="0" dirty="0" err="1">
                          <a:solidFill>
                            <a:srgbClr val="0E2A47"/>
                          </a:solidFill>
                          <a:latin typeface="Calibri"/>
                        </a:rPr>
                        <a:t>pct_crianca</a:t>
                      </a:r>
                      <a:r>
                        <a:rPr lang="pt-BR" sz="1200" b="0" i="0" noProof="0" dirty="0">
                          <a:solidFill>
                            <a:srgbClr val="0E2A47"/>
                          </a:solidFill>
                          <a:latin typeface="Calibri"/>
                        </a:rPr>
                        <a:t> / </a:t>
                      </a:r>
                      <a:r>
                        <a:rPr lang="pt-BR" sz="1200" b="0" i="0" noProof="0" dirty="0" err="1">
                          <a:solidFill>
                            <a:srgbClr val="0E2A47"/>
                          </a:solidFill>
                          <a:latin typeface="Calibri"/>
                        </a:rPr>
                        <a:t>pct_idoso</a:t>
                      </a:r>
                      <a:r>
                        <a:rPr lang="pt-BR" sz="1200" b="0" i="0" noProof="0" dirty="0">
                          <a:solidFill>
                            <a:srgbClr val="0E2A47"/>
                          </a:solidFill>
                          <a:latin typeface="Calibri"/>
                        </a:rPr>
                        <a:t> (7e)</a:t>
                      </a:r>
                    </a:p>
                  </a:txBody>
                  <a:tcPr marL="76200" marR="76200" marT="12700" marB="127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pt-BR" sz="1200" b="0" i="0" noProof="0" dirty="0">
                          <a:solidFill>
                            <a:srgbClr val="0E2A47"/>
                          </a:solidFill>
                          <a:latin typeface="Calibri"/>
                        </a:rPr>
                        <a:t>índice </a:t>
                      </a:r>
                      <a:r>
                        <a:rPr lang="pt-BR" sz="1200" b="0" i="0" noProof="0" dirty="0" err="1">
                          <a:solidFill>
                            <a:srgbClr val="0E2A47"/>
                          </a:solidFill>
                          <a:latin typeface="Calibri"/>
                        </a:rPr>
                        <a:t>env</a:t>
                      </a:r>
                      <a:r>
                        <a:rPr lang="pt-BR" sz="1200" b="0" i="0" noProof="0" dirty="0">
                          <a:solidFill>
                            <a:srgbClr val="0E2A47"/>
                          </a:solidFill>
                          <a:latin typeface="Calibri"/>
                        </a:rPr>
                        <a:t>. 299</a:t>
                      </a:r>
                    </a:p>
                  </a:txBody>
                  <a:tcPr marL="76200" marR="76200" marT="12700" marB="12700" anchor="ctr">
                    <a:solidFill>
                      <a:srgbClr val="EEF3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603504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pt-BR" sz="1250" b="0" i="1" noProof="0" dirty="0">
                <a:solidFill>
                  <a:srgbClr val="5A6B7B"/>
                </a:solidFill>
                <a:latin typeface="Calibri"/>
              </a:rPr>
              <a:t>Todas são variáveis descritivas, fora dos 7 componentes do IVS — promovê-las ao índice é decisão metodológica da orientadora.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1064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pt-BR" sz="1250" b="1" i="0" noProof="0" dirty="0">
                <a:solidFill>
                  <a:srgbClr val="1C7293"/>
                </a:solidFill>
                <a:latin typeface="Calibri"/>
              </a:rPr>
              <a:t>DISCUSSÃO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76656"/>
            <a:ext cx="110642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lang="pt-BR" sz="3000" b="1" i="0" noProof="0" dirty="0">
                <a:solidFill>
                  <a:srgbClr val="0E2A47"/>
                </a:solidFill>
                <a:latin typeface="Georgia"/>
              </a:rPr>
              <a:t>O que os achados dizem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</a:pPr>
            <a:r>
              <a:rPr lang="pt-BR" sz="1400" b="1" i="0" noProof="0" dirty="0">
                <a:solidFill>
                  <a:srgbClr val="1C7293"/>
                </a:solidFill>
                <a:latin typeface="Calibri"/>
              </a:rPr>
              <a:t>▪  </a:t>
            </a:r>
            <a:r>
              <a:rPr lang="pt-BR" sz="1400" b="1" i="0" noProof="0" dirty="0">
                <a:solidFill>
                  <a:srgbClr val="0E2A47"/>
                </a:solidFill>
                <a:latin typeface="Calibri"/>
              </a:rPr>
              <a:t>Gradiente centro-periferia / Norte-Sul confirmado  </a:t>
            </a:r>
            <a:r>
              <a:rPr lang="pt-BR" sz="1400" b="0" i="0" noProof="0" dirty="0">
                <a:solidFill>
                  <a:srgbClr val="0E2A47"/>
                </a:solidFill>
                <a:latin typeface="Calibri"/>
              </a:rPr>
              <a:t>— saneamento, sem banheiro e renda pioram do Sul/Sudeste para o Norte/Nordeste, sustentando a hipótese do estudo.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lang="pt-BR" sz="1400" b="1" i="0" noProof="0" dirty="0">
                <a:solidFill>
                  <a:srgbClr val="1C7293"/>
                </a:solidFill>
                <a:latin typeface="Calibri"/>
              </a:rPr>
              <a:t>▪  </a:t>
            </a:r>
            <a:r>
              <a:rPr lang="pt-BR" sz="1400" b="1" i="0" noProof="0" dirty="0">
                <a:solidFill>
                  <a:srgbClr val="0E2A47"/>
                </a:solidFill>
                <a:latin typeface="Calibri"/>
              </a:rPr>
              <a:t>Dois eixos de vulnerabilidade  </a:t>
            </a:r>
            <a:r>
              <a:rPr lang="pt-BR" sz="1400" b="0" i="0" noProof="0" dirty="0">
                <a:solidFill>
                  <a:srgbClr val="0E2A47"/>
                </a:solidFill>
                <a:latin typeface="Calibri"/>
              </a:rPr>
              <a:t>— socioeconômico (renda–raça–analfabetismo, correlações fortes) e saneamento (bloco coeso) — base para a análise fatorial.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lang="pt-BR" sz="1400" b="1" i="0" noProof="0" dirty="0">
                <a:solidFill>
                  <a:srgbClr val="1C7293"/>
                </a:solidFill>
                <a:latin typeface="Calibri"/>
              </a:rPr>
              <a:t>▪  </a:t>
            </a:r>
            <a:r>
              <a:rPr lang="pt-BR" sz="1400" b="1" i="0" noProof="0" dirty="0">
                <a:solidFill>
                  <a:srgbClr val="0E2A47"/>
                </a:solidFill>
                <a:latin typeface="Calibri"/>
              </a:rPr>
              <a:t>Precariedade tem geografias distintas  </a:t>
            </a:r>
            <a:r>
              <a:rPr lang="pt-BR" sz="1400" b="0" i="0" noProof="0" dirty="0">
                <a:solidFill>
                  <a:srgbClr val="0E2A47"/>
                </a:solidFill>
                <a:latin typeface="Calibri"/>
              </a:rPr>
              <a:t>— saneamento e sem-banheiro são rurais-Norte; habitação improvisada é metropolitana. Não são o mesmo fenômeno.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lang="pt-BR" sz="1400" b="1" i="0" noProof="0" dirty="0">
                <a:solidFill>
                  <a:srgbClr val="1C7293"/>
                </a:solidFill>
                <a:latin typeface="Calibri"/>
              </a:rPr>
              <a:t>▪  </a:t>
            </a:r>
            <a:r>
              <a:rPr lang="pt-BR" sz="1400" b="1" i="0" noProof="0" dirty="0">
                <a:solidFill>
                  <a:srgbClr val="0E2A47"/>
                </a:solidFill>
                <a:latin typeface="Calibri"/>
              </a:rPr>
              <a:t>Transição demográfica avançada  </a:t>
            </a:r>
            <a:r>
              <a:rPr lang="pt-BR" sz="1400" b="0" i="0" noProof="0" dirty="0">
                <a:solidFill>
                  <a:srgbClr val="0E2A47"/>
                </a:solidFill>
                <a:latin typeface="Calibri"/>
              </a:rPr>
              <a:t>— alto índice de envelhecimento (299), sobretudo no Sul/Sudeste — central para um estudo do ELSI (idosos).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lang="pt-BR" sz="1400" b="1" i="0" noProof="0" dirty="0">
                <a:solidFill>
                  <a:srgbClr val="1C7293"/>
                </a:solidFill>
                <a:latin typeface="Calibri"/>
              </a:rPr>
              <a:t>▪  </a:t>
            </a:r>
            <a:r>
              <a:rPr lang="pt-BR" sz="1400" b="1" i="0" noProof="0" dirty="0">
                <a:solidFill>
                  <a:srgbClr val="0E2A47"/>
                </a:solidFill>
                <a:latin typeface="Calibri"/>
              </a:rPr>
              <a:t>Chefia feminina majoritária  </a:t>
            </a:r>
            <a:r>
              <a:rPr lang="pt-BR" sz="1400" b="0" i="0" noProof="0" dirty="0">
                <a:solidFill>
                  <a:srgbClr val="0E2A47"/>
                </a:solidFill>
                <a:latin typeface="Calibri"/>
              </a:rPr>
              <a:t>— 52,7%, marcador sociodemográfico relevante para vulnerabilidade em saúde.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1064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pt-BR" sz="1250" b="1" i="0" noProof="0" dirty="0">
                <a:solidFill>
                  <a:srgbClr val="1C7293"/>
                </a:solidFill>
                <a:latin typeface="Calibri"/>
              </a:rPr>
              <a:t>LIMITAÇÕES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76656"/>
            <a:ext cx="110642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lang="pt-BR" sz="3000" b="1" i="0" noProof="0" dirty="0">
                <a:solidFill>
                  <a:srgbClr val="0E2A47"/>
                </a:solidFill>
                <a:latin typeface="Georgia"/>
              </a:rPr>
              <a:t>Limitações e ressalvas metodológicas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05701922"/>
              </p:ext>
            </p:extLst>
          </p:nvPr>
        </p:nvGraphicFramePr>
        <p:xfrm>
          <a:off x="640080" y="1828800"/>
          <a:ext cx="10927079" cy="3401568"/>
        </p:xfrm>
        <a:graphic>
          <a:graphicData uri="http://schemas.openxmlformats.org/drawingml/2006/table">
            <a:tbl>
              <a:tblPr/>
              <a:tblGrid>
                <a:gridCol w="321958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122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9521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algn="l"/>
                      <a:r>
                        <a:rPr lang="pt-BR" sz="1100" b="1" i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Limitação</a:t>
                      </a:r>
                    </a:p>
                  </a:txBody>
                  <a:tcPr marL="76200" marR="76200" marT="25400" marB="25400" anchor="ctr">
                    <a:solidFill>
                      <a:srgbClr val="1C729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pt-BR" sz="1100" b="1" i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Origem</a:t>
                      </a:r>
                    </a:p>
                  </a:txBody>
                  <a:tcPr marL="76200" marR="76200" marT="25400" marB="25400" anchor="ctr">
                    <a:solidFill>
                      <a:srgbClr val="1C729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pt-BR" sz="1100" b="1" i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Encaminhamento</a:t>
                      </a:r>
                    </a:p>
                  </a:txBody>
                  <a:tcPr marL="76200" marR="76200" marT="25400" marB="25400" anchor="ctr">
                    <a:solidFill>
                      <a:srgbClr val="1C729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lang="pt-BR" sz="1150" b="1" i="0" noProof="0" dirty="0">
                          <a:solidFill>
                            <a:srgbClr val="0E2A47"/>
                          </a:solidFill>
                          <a:latin typeface="Calibri"/>
                        </a:rPr>
                        <a:t>Sigilo no analfabetismo (15,8%)</a:t>
                      </a:r>
                    </a:p>
                  </a:txBody>
                  <a:tcPr marL="76200" marR="762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pt-BR" sz="1150" b="0" i="0" noProof="0" dirty="0">
                          <a:solidFill>
                            <a:srgbClr val="0E2A47"/>
                          </a:solidFill>
                          <a:latin typeface="Calibri"/>
                        </a:rPr>
                        <a:t>Supressão do IBGE em setores pequenos</a:t>
                      </a:r>
                    </a:p>
                  </a:txBody>
                  <a:tcPr marL="76200" marR="762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pt-BR" sz="1150" b="0" i="0" noProof="0" dirty="0">
                          <a:solidFill>
                            <a:srgbClr val="0E2A47"/>
                          </a:solidFill>
                          <a:latin typeface="Calibri"/>
                        </a:rPr>
                        <a:t>Reportar; imputação por mediana municipal</a:t>
                      </a:r>
                    </a:p>
                  </a:txBody>
                  <a:tcPr marL="76200" marR="762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lang="pt-BR" sz="1150" b="1" i="0" noProof="0" dirty="0">
                          <a:solidFill>
                            <a:srgbClr val="0E2A47"/>
                          </a:solidFill>
                          <a:latin typeface="Calibri"/>
                        </a:rPr>
                        <a:t>Variáveis novas muito esparsas</a:t>
                      </a:r>
                    </a:p>
                  </a:txBody>
                  <a:tcPr marL="76200" marR="76200" marT="12700" marB="127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pt-BR" sz="1150" b="0" i="0" noProof="0" dirty="0">
                          <a:solidFill>
                            <a:srgbClr val="0E2A47"/>
                          </a:solidFill>
                          <a:latin typeface="Calibri"/>
                        </a:rPr>
                        <a:t>Realidade (improvisado/sem-banheiro raros)</a:t>
                      </a:r>
                    </a:p>
                  </a:txBody>
                  <a:tcPr marL="76200" marR="76200" marT="12700" marB="127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pt-BR" sz="1150" b="0" i="0" noProof="0" dirty="0">
                          <a:solidFill>
                            <a:srgbClr val="0E2A47"/>
                          </a:solidFill>
                          <a:latin typeface="Calibri"/>
                        </a:rPr>
                        <a:t>Reportar mediana/P95; manter descritivas</a:t>
                      </a:r>
                    </a:p>
                  </a:txBody>
                  <a:tcPr marL="76200" marR="76200" marT="12700" marB="12700" anchor="ctr">
                    <a:solidFill>
                      <a:srgbClr val="EEF3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lang="pt-BR" sz="1150" b="1" i="0" noProof="0" dirty="0">
                          <a:solidFill>
                            <a:srgbClr val="0E2A47"/>
                          </a:solidFill>
                          <a:latin typeface="Calibri"/>
                        </a:rPr>
                        <a:t>Caçamba (V00398) = inadequada</a:t>
                      </a:r>
                    </a:p>
                  </a:txBody>
                  <a:tcPr marL="76200" marR="762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pt-BR" sz="1150" b="0" i="0" noProof="0" dirty="0">
                          <a:solidFill>
                            <a:srgbClr val="0E2A47"/>
                          </a:solidFill>
                          <a:latin typeface="Calibri"/>
                        </a:rPr>
                        <a:t>Definição do IVS-BH 2012</a:t>
                      </a:r>
                    </a:p>
                  </a:txBody>
                  <a:tcPr marL="76200" marR="762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pt-BR" sz="1150" b="0" i="0" noProof="0" dirty="0">
                          <a:solidFill>
                            <a:srgbClr val="0E2A47"/>
                          </a:solidFill>
                          <a:latin typeface="Calibri"/>
                        </a:rPr>
                        <a:t>Mantida por fidelidade; modernizar só com a orientadora</a:t>
                      </a:r>
                    </a:p>
                  </a:txBody>
                  <a:tcPr marL="76200" marR="762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lang="pt-BR" sz="1150" b="1" i="0" noProof="0" dirty="0">
                          <a:solidFill>
                            <a:srgbClr val="0E2A47"/>
                          </a:solidFill>
                          <a:latin typeface="Calibri"/>
                        </a:rPr>
                        <a:t>Água: poço artesiano (V00112)</a:t>
                      </a:r>
                    </a:p>
                  </a:txBody>
                  <a:tcPr marL="76200" marR="76200" marT="12700" marB="127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pt-BR" sz="1150" b="0" i="0" noProof="0" dirty="0">
                          <a:solidFill>
                            <a:srgbClr val="0E2A47"/>
                          </a:solidFill>
                          <a:latin typeface="Calibri"/>
                        </a:rPr>
                        <a:t>Fronteira metodológica</a:t>
                      </a:r>
                    </a:p>
                  </a:txBody>
                  <a:tcPr marL="76200" marR="76200" marT="12700" marB="127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pt-BR" sz="1150" b="0" i="0" noProof="0" dirty="0">
                          <a:solidFill>
                            <a:srgbClr val="0E2A47"/>
                          </a:solidFill>
                          <a:latin typeface="Calibri"/>
                        </a:rPr>
                        <a:t>Análise de sensibilidade futura</a:t>
                      </a:r>
                    </a:p>
                  </a:txBody>
                  <a:tcPr marL="76200" marR="76200" marT="12700" marB="12700" anchor="ctr">
                    <a:solidFill>
                      <a:srgbClr val="EEF3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lang="pt-BR" sz="1150" b="1" i="0" noProof="0" dirty="0">
                          <a:solidFill>
                            <a:srgbClr val="0E2A47"/>
                          </a:solidFill>
                          <a:latin typeface="Calibri"/>
                        </a:rPr>
                        <a:t>Falácia ecológica</a:t>
                      </a:r>
                    </a:p>
                  </a:txBody>
                  <a:tcPr marL="76200" marR="762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pt-BR" sz="1150" b="0" i="0" noProof="0" dirty="0">
                          <a:solidFill>
                            <a:srgbClr val="0E2A47"/>
                          </a:solidFill>
                          <a:latin typeface="Calibri"/>
                        </a:rPr>
                        <a:t>Delineamento ecológico (dado agregado)</a:t>
                      </a:r>
                    </a:p>
                  </a:txBody>
                  <a:tcPr marL="76200" marR="762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pt-BR" sz="1150" b="0" i="0" noProof="0" dirty="0">
                          <a:solidFill>
                            <a:srgbClr val="0E2A47"/>
                          </a:solidFill>
                          <a:latin typeface="Calibri"/>
                        </a:rPr>
                        <a:t>Declarar explicitamente no artigo</a:t>
                      </a:r>
                    </a:p>
                  </a:txBody>
                  <a:tcPr marL="76200" marR="762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1064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pt-BR" sz="1250" b="1" i="0" noProof="0" dirty="0">
                <a:solidFill>
                  <a:srgbClr val="1C7293"/>
                </a:solidFill>
                <a:latin typeface="Calibri"/>
              </a:rPr>
              <a:t>PRÓXIMOS PASSOS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76656"/>
            <a:ext cx="110642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lang="pt-BR" sz="3000" b="1" i="0" noProof="0" dirty="0">
                <a:solidFill>
                  <a:srgbClr val="0E2A47"/>
                </a:solidFill>
                <a:latin typeface="Georgia"/>
              </a:rPr>
              <a:t>Rumo ao cálculo do IVS final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74519"/>
            <a:ext cx="10972800" cy="4206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1300"/>
              </a:spcAft>
            </a:pPr>
            <a:r>
              <a:rPr lang="pt-BR" sz="1450" b="1" i="0" noProof="0" dirty="0">
                <a:solidFill>
                  <a:srgbClr val="1C7293"/>
                </a:solidFill>
                <a:latin typeface="Calibri"/>
              </a:rPr>
              <a:t>▪  </a:t>
            </a:r>
            <a:r>
              <a:rPr lang="pt-BR" sz="1450" b="1" i="0" noProof="0" dirty="0">
                <a:solidFill>
                  <a:srgbClr val="0E2A47"/>
                </a:solidFill>
                <a:latin typeface="Calibri"/>
              </a:rPr>
              <a:t>Normalização da renda por município  </a:t>
            </a:r>
            <a:r>
              <a:rPr lang="pt-BR" sz="1450" b="0" i="0" noProof="0" dirty="0">
                <a:solidFill>
                  <a:srgbClr val="0E2A47"/>
                </a:solidFill>
                <a:latin typeface="Calibri"/>
              </a:rPr>
              <a:t>— substituir o min-</a:t>
            </a:r>
            <a:r>
              <a:rPr lang="pt-BR" sz="1450" b="0" i="0" noProof="0" dirty="0" err="1">
                <a:solidFill>
                  <a:srgbClr val="0E2A47"/>
                </a:solidFill>
                <a:latin typeface="Calibri"/>
              </a:rPr>
              <a:t>max</a:t>
            </a:r>
            <a:r>
              <a:rPr lang="pt-BR" sz="1450" b="0" i="0" noProof="0" dirty="0">
                <a:solidFill>
                  <a:srgbClr val="0E2A47"/>
                </a:solidFill>
                <a:latin typeface="Calibri"/>
              </a:rPr>
              <a:t> global para capturar a desigualdade intraurbana.</a:t>
            </a:r>
          </a:p>
          <a:p>
            <a:pPr>
              <a:lnSpc>
                <a:spcPct val="105000"/>
              </a:lnSpc>
              <a:spcAft>
                <a:spcPts val="1300"/>
              </a:spcAft>
            </a:pPr>
            <a:r>
              <a:rPr lang="pt-BR" sz="1450" b="1" i="0" noProof="0" dirty="0">
                <a:solidFill>
                  <a:srgbClr val="1C7293"/>
                </a:solidFill>
                <a:latin typeface="Calibri"/>
              </a:rPr>
              <a:t>▪  </a:t>
            </a:r>
            <a:r>
              <a:rPr lang="pt-BR" sz="1450" b="1" i="0" noProof="0" dirty="0">
                <a:solidFill>
                  <a:srgbClr val="0E2A47"/>
                </a:solidFill>
                <a:latin typeface="Calibri"/>
              </a:rPr>
              <a:t>Análise fatorial / ACP  </a:t>
            </a:r>
            <a:r>
              <a:rPr lang="pt-BR" sz="1450" b="0" i="0" noProof="0" dirty="0">
                <a:solidFill>
                  <a:srgbClr val="0E2A47"/>
                </a:solidFill>
                <a:latin typeface="Calibri"/>
              </a:rPr>
              <a:t>— sobre a correlação de </a:t>
            </a:r>
            <a:r>
              <a:rPr lang="pt-BR" sz="1450" b="0" i="0" noProof="0" dirty="0" err="1">
                <a:solidFill>
                  <a:srgbClr val="0E2A47"/>
                </a:solidFill>
                <a:latin typeface="Calibri"/>
              </a:rPr>
              <a:t>Spearman</a:t>
            </a:r>
            <a:r>
              <a:rPr lang="pt-BR" sz="1450" b="0" i="0" noProof="0" dirty="0">
                <a:solidFill>
                  <a:srgbClr val="0E2A47"/>
                </a:solidFill>
                <a:latin typeface="Calibri"/>
              </a:rPr>
              <a:t>; verificar KMO e esfericidade de Bartlett; definir pesos.</a:t>
            </a:r>
          </a:p>
          <a:p>
            <a:pPr>
              <a:lnSpc>
                <a:spcPct val="105000"/>
              </a:lnSpc>
              <a:spcAft>
                <a:spcPts val="1300"/>
              </a:spcAft>
            </a:pPr>
            <a:r>
              <a:rPr lang="pt-BR" sz="1450" b="1" i="0" noProof="0" dirty="0">
                <a:solidFill>
                  <a:srgbClr val="1C7293"/>
                </a:solidFill>
                <a:latin typeface="Calibri"/>
              </a:rPr>
              <a:t>▪  </a:t>
            </a:r>
            <a:r>
              <a:rPr lang="pt-BR" sz="1450" b="1" i="0" noProof="0" dirty="0">
                <a:solidFill>
                  <a:srgbClr val="0E2A47"/>
                </a:solidFill>
                <a:latin typeface="Calibri"/>
              </a:rPr>
              <a:t>Cálculo do IVS final  </a:t>
            </a:r>
            <a:r>
              <a:rPr lang="pt-BR" sz="1450" b="0" i="0" noProof="0" dirty="0">
                <a:solidFill>
                  <a:srgbClr val="0E2A47"/>
                </a:solidFill>
                <a:latin typeface="Calibri"/>
              </a:rPr>
              <a:t>— média ponderada das 7 variáveis padronizadas + categorização em 4 faixas de risco.</a:t>
            </a:r>
          </a:p>
          <a:p>
            <a:pPr>
              <a:lnSpc>
                <a:spcPct val="105000"/>
              </a:lnSpc>
              <a:spcAft>
                <a:spcPts val="1300"/>
              </a:spcAft>
            </a:pPr>
            <a:r>
              <a:rPr lang="pt-BR" sz="1450" b="1" i="0" noProof="0" dirty="0">
                <a:solidFill>
                  <a:srgbClr val="1C7293"/>
                </a:solidFill>
                <a:latin typeface="Calibri"/>
              </a:rPr>
              <a:t>▪  </a:t>
            </a:r>
            <a:r>
              <a:rPr lang="pt-BR" sz="1450" b="1" i="0" noProof="0" dirty="0">
                <a:solidFill>
                  <a:srgbClr val="0E2A47"/>
                </a:solidFill>
                <a:latin typeface="Calibri"/>
              </a:rPr>
              <a:t>Decisão sobre as variáveis descritivas  </a:t>
            </a:r>
            <a:r>
              <a:rPr lang="pt-BR" sz="1450" b="0" i="0" noProof="0" dirty="0">
                <a:solidFill>
                  <a:srgbClr val="0E2A47"/>
                </a:solidFill>
                <a:latin typeface="Calibri"/>
              </a:rPr>
              <a:t>— quais das 6 demandas entram no índice (decisão da orientadora).</a:t>
            </a:r>
          </a:p>
          <a:p>
            <a:pPr>
              <a:lnSpc>
                <a:spcPct val="105000"/>
              </a:lnSpc>
              <a:spcAft>
                <a:spcPts val="1300"/>
              </a:spcAft>
            </a:pPr>
            <a:r>
              <a:rPr lang="pt-BR" sz="1450" b="1" i="0" noProof="0" dirty="0">
                <a:solidFill>
                  <a:srgbClr val="1C7293"/>
                </a:solidFill>
                <a:latin typeface="Calibri"/>
              </a:rPr>
              <a:t>▪  </a:t>
            </a:r>
            <a:r>
              <a:rPr lang="pt-BR" sz="1450" b="1" i="0" noProof="0" dirty="0">
                <a:solidFill>
                  <a:srgbClr val="0E2A47"/>
                </a:solidFill>
                <a:latin typeface="Calibri"/>
              </a:rPr>
              <a:t>Geoprocessamento (QGIS 3.x)  </a:t>
            </a:r>
            <a:r>
              <a:rPr lang="pt-BR" sz="1450" b="0" i="0" noProof="0" dirty="0">
                <a:solidFill>
                  <a:srgbClr val="0E2A47"/>
                </a:solidFill>
                <a:latin typeface="Calibri"/>
              </a:rPr>
              <a:t>— mapas temáticos do IVS por setor; iniciar a redação dos resultados.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3" name="Rectangle 2"/>
          <p:cNvSpPr/>
          <p:nvPr/>
        </p:nvSpPr>
        <p:spPr>
          <a:xfrm>
            <a:off x="0" y="4572000"/>
            <a:ext cx="12191695" cy="82296"/>
          </a:xfrm>
          <a:prstGeom prst="rect">
            <a:avLst/>
          </a:prstGeom>
          <a:solidFill>
            <a:srgbClr val="00A8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515600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lang="pt-BR" sz="3600" b="1" i="0" noProof="0" dirty="0">
                <a:solidFill>
                  <a:srgbClr val="FFFFFF"/>
                </a:solidFill>
                <a:latin typeface="Georgia"/>
              </a:rPr>
              <a:t>EDA concluída e reprodutível</a:t>
            </a:r>
          </a:p>
          <a:p>
            <a:pPr algn="l">
              <a:spcBef>
                <a:spcPts val="1000"/>
              </a:spcBef>
            </a:pPr>
            <a:r>
              <a:rPr lang="pt-BR" sz="1700" b="0" i="0" noProof="0" dirty="0">
                <a:solidFill>
                  <a:srgbClr val="CADCFC"/>
                </a:solidFill>
                <a:latin typeface="Georgia"/>
              </a:rPr>
              <a:t>7 componentes do IVS + 6 demandas adicionais, todos auditados contra o dicionário oficial do IBGE.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800600"/>
            <a:ext cx="1051560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pt-BR" sz="1450" b="0" i="0" noProof="0" dirty="0">
                <a:solidFill>
                  <a:srgbClr val="9FB6D6"/>
                </a:solidFill>
                <a:latin typeface="Calibri"/>
              </a:rPr>
              <a:t>Próximo marco: normalização da renda por município → análise fatorial → IVS final.</a:t>
            </a:r>
          </a:p>
          <a:p>
            <a:pPr algn="l">
              <a:spcBef>
                <a:spcPts val="800"/>
              </a:spcBef>
            </a:pPr>
            <a:r>
              <a:rPr lang="pt-BR" sz="1250" b="0" i="0" noProof="0" dirty="0">
                <a:solidFill>
                  <a:srgbClr val="7F98B8"/>
                </a:solidFill>
                <a:latin typeface="Calibri"/>
              </a:rPr>
              <a:t>Pedro Dias Soares · IC Fiocruz Minas / IRR · Junho/2026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C7293"/>
                </a:solidFill>
                <a:latin typeface="Calibri"/>
              </a:rPr>
              <a:t>PERFIL REGIONAL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76656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0E2A47"/>
                </a:solidFill>
                <a:latin typeface="Georgia"/>
              </a:rPr>
              <a:t>Categorias das variáveis de saneamento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371600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5A6B7B"/>
                </a:solidFill>
                <a:latin typeface="Calibri"/>
              </a:rPr>
              <a:t>Para cada variável, a distribuição dos setores OK em três bandas de inadequação, por região.</a:t>
            </a:r>
          </a:p>
        </p:txBody>
      </p:sp>
      <p:pic>
        <p:nvPicPr>
          <p:cNvPr id="6" name="Picture 5" descr="fig_saneamento_categori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3552" y="1828800"/>
            <a:ext cx="9400135" cy="33832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5440680"/>
            <a:ext cx="109728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600"/>
              </a:spcAft>
            </a:pPr>
            <a:r>
              <a:rPr sz="1300" b="1" i="0">
                <a:solidFill>
                  <a:srgbClr val="1C7293"/>
                </a:solidFill>
                <a:latin typeface="Calibri"/>
              </a:rPr>
              <a:t>▪  </a:t>
            </a:r>
            <a:r>
              <a:rPr sz="1300" b="1" i="0">
                <a:solidFill>
                  <a:srgbClr val="0E2A47"/>
                </a:solidFill>
                <a:latin typeface="Calibri"/>
              </a:rPr>
              <a:t>Gradiente Norte→Sul  </a:t>
            </a:r>
            <a:r>
              <a:rPr sz="1300" b="0" i="0">
                <a:solidFill>
                  <a:srgbClr val="0E2A47"/>
                </a:solidFill>
                <a:latin typeface="Calibri"/>
              </a:rPr>
              <a:t>— a banda “0% (adequado)” cresce do Norte (água 12%) ao Sul/Sudeste (85%+).</a:t>
            </a:r>
          </a:p>
          <a:p>
            <a:pPr>
              <a:lnSpc>
                <a:spcPct val="104000"/>
              </a:lnSpc>
              <a:spcAft>
                <a:spcPts val="600"/>
              </a:spcAft>
            </a:pPr>
            <a:r>
              <a:rPr sz="1300" b="1" i="0">
                <a:solidFill>
                  <a:srgbClr val="1C7293"/>
                </a:solidFill>
                <a:latin typeface="Calibri"/>
              </a:rPr>
              <a:t>▪  </a:t>
            </a:r>
            <a:r>
              <a:rPr sz="1300" b="1" i="0">
                <a:solidFill>
                  <a:srgbClr val="0E2A47"/>
                </a:solidFill>
                <a:latin typeface="Calibri"/>
              </a:rPr>
              <a:t>Norte crítico  </a:t>
            </a:r>
            <a:r>
              <a:rPr sz="1300" b="0" i="0">
                <a:solidFill>
                  <a:srgbClr val="0E2A47"/>
                </a:solidFill>
                <a:latin typeface="Calibri"/>
              </a:rPr>
              <a:t>— em água, 31% dos setores têm ≥50% dos domicílios inadequados; em esgoto, 25%.</a:t>
            </a:r>
          </a:p>
          <a:p>
            <a:pPr>
              <a:lnSpc>
                <a:spcPct val="104000"/>
              </a:lnSpc>
              <a:spcAft>
                <a:spcPts val="600"/>
              </a:spcAft>
            </a:pPr>
            <a:r>
              <a:rPr sz="1300" b="1" i="0">
                <a:solidFill>
                  <a:srgbClr val="1C7293"/>
                </a:solidFill>
                <a:latin typeface="Calibri"/>
              </a:rPr>
              <a:t>▪  </a:t>
            </a:r>
            <a:r>
              <a:rPr sz="1300" b="1" i="0">
                <a:solidFill>
                  <a:srgbClr val="0E2A47"/>
                </a:solidFill>
                <a:latin typeface="Calibri"/>
              </a:rPr>
              <a:t>Lixo mais homogêneo  </a:t>
            </a:r>
            <a:r>
              <a:rPr sz="1300" b="0" i="0">
                <a:solidFill>
                  <a:srgbClr val="0E2A47"/>
                </a:solidFill>
                <a:latin typeface="Calibri"/>
              </a:rPr>
              <a:t>— bandas semelhantes entre regiões (a caçamba pesa em todo o país).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C7293"/>
                </a:solidFill>
                <a:latin typeface="Calibri"/>
              </a:rPr>
              <a:t>PERFIL REGIONAL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76656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0E2A47"/>
                </a:solidFill>
                <a:latin typeface="Georgia"/>
              </a:rPr>
              <a:t>Categorias de saneamento — tabelas por região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371600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5A6B7B"/>
                </a:solidFill>
                <a:latin typeface="Calibri"/>
              </a:rPr>
              <a:t>Reprodução do formato solicitado: % dos setores OK em cada banda (cada linha soma 100%).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3619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C7293"/>
                </a:solidFill>
                <a:latin typeface="Calibri"/>
              </a:rPr>
              <a:t>Água inadequada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828800"/>
          <a:ext cx="6766560" cy="1344168"/>
        </p:xfrm>
        <a:graphic>
          <a:graphicData uri="http://schemas.openxmlformats.org/drawingml/2006/table">
            <a:tbl>
              <a:tblPr/>
              <a:tblGrid>
                <a:gridCol w="2326005"/>
                <a:gridCol w="1480185"/>
                <a:gridCol w="1480185"/>
                <a:gridCol w="1480185"/>
              </a:tblGrid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Região</a:t>
                      </a:r>
                    </a:p>
                  </a:txBody>
                  <a:tcPr anchor="ctr" marT="25400" marB="25400" marL="63500" marR="63500">
                    <a:solidFill>
                      <a:srgbClr val="1C729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0 %</a:t>
                      </a:r>
                    </a:p>
                  </a:txBody>
                  <a:tcPr anchor="ctr" marT="25400" marB="25400" marL="63500" marR="63500">
                    <a:solidFill>
                      <a:srgbClr val="1C729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1–49 %</a:t>
                      </a:r>
                    </a:p>
                  </a:txBody>
                  <a:tcPr anchor="ctr" marT="25400" marB="25400" marL="63500" marR="63500">
                    <a:solidFill>
                      <a:srgbClr val="1C729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≥ 50 %</a:t>
                      </a:r>
                    </a:p>
                  </a:txBody>
                  <a:tcPr anchor="ctr" marT="25400" marB="25400" marL="63500" marR="63500">
                    <a:solidFill>
                      <a:srgbClr val="1C7293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0E2A47"/>
                          </a:solidFill>
                          <a:latin typeface="Calibri"/>
                        </a:rPr>
                        <a:t>Norte</a:t>
                      </a:r>
                    </a:p>
                  </a:txBody>
                  <a:tcPr anchor="ctr" marT="12700" marB="127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0E2A47"/>
                          </a:solidFill>
                          <a:latin typeface="Calibri"/>
                        </a:rPr>
                        <a:t>11.8%</a:t>
                      </a:r>
                    </a:p>
                  </a:txBody>
                  <a:tcPr anchor="ctr" marT="12700" marB="127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0E2A47"/>
                          </a:solidFill>
                          <a:latin typeface="Calibri"/>
                        </a:rPr>
                        <a:t>57.4%</a:t>
                      </a:r>
                    </a:p>
                  </a:txBody>
                  <a:tcPr anchor="ctr" marT="12700" marB="127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0E2A47"/>
                          </a:solidFill>
                          <a:latin typeface="Calibri"/>
                        </a:rPr>
                        <a:t>30.8%</a:t>
                      </a:r>
                    </a:p>
                  </a:txBody>
                  <a:tcPr anchor="ctr" marT="12700" marB="12700" marL="63500" marR="63500"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0E2A47"/>
                          </a:solidFill>
                          <a:latin typeface="Calibri"/>
                        </a:rPr>
                        <a:t>Nordeste</a:t>
                      </a:r>
                    </a:p>
                  </a:txBody>
                  <a:tcPr anchor="ctr" marT="12700" marB="12700" marL="63500" marR="63500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0E2A47"/>
                          </a:solidFill>
                          <a:latin typeface="Calibri"/>
                        </a:rPr>
                        <a:t>48.9%</a:t>
                      </a:r>
                    </a:p>
                  </a:txBody>
                  <a:tcPr anchor="ctr" marT="12700" marB="12700" marL="63500" marR="63500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0E2A47"/>
                          </a:solidFill>
                          <a:latin typeface="Calibri"/>
                        </a:rPr>
                        <a:t>41.6%</a:t>
                      </a:r>
                    </a:p>
                  </a:txBody>
                  <a:tcPr anchor="ctr" marT="12700" marB="12700" marL="63500" marR="63500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0E2A47"/>
                          </a:solidFill>
                          <a:latin typeface="Calibri"/>
                        </a:rPr>
                        <a:t>9.5%</a:t>
                      </a:r>
                    </a:p>
                  </a:txBody>
                  <a:tcPr anchor="ctr" marT="12700" marB="12700" marL="63500" marR="63500">
                    <a:solidFill>
                      <a:srgbClr val="EEF3F7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0E2A47"/>
                          </a:solidFill>
                          <a:latin typeface="Calibri"/>
                        </a:rPr>
                        <a:t>Centro-Oeste</a:t>
                      </a:r>
                    </a:p>
                  </a:txBody>
                  <a:tcPr anchor="ctr" marT="12700" marB="127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0E2A47"/>
                          </a:solidFill>
                          <a:latin typeface="Calibri"/>
                        </a:rPr>
                        <a:t>66.2%</a:t>
                      </a:r>
                    </a:p>
                  </a:txBody>
                  <a:tcPr anchor="ctr" marT="12700" marB="127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0E2A47"/>
                          </a:solidFill>
                          <a:latin typeface="Calibri"/>
                        </a:rPr>
                        <a:t>26.2%</a:t>
                      </a:r>
                    </a:p>
                  </a:txBody>
                  <a:tcPr anchor="ctr" marT="12700" marB="127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0E2A47"/>
                          </a:solidFill>
                          <a:latin typeface="Calibri"/>
                        </a:rPr>
                        <a:t>7.7%</a:t>
                      </a:r>
                    </a:p>
                  </a:txBody>
                  <a:tcPr anchor="ctr" marT="12700" marB="12700" marL="63500" marR="63500"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0E2A47"/>
                          </a:solidFill>
                          <a:latin typeface="Calibri"/>
                        </a:rPr>
                        <a:t>Sudeste</a:t>
                      </a:r>
                    </a:p>
                  </a:txBody>
                  <a:tcPr anchor="ctr" marT="12700" marB="12700" marL="63500" marR="63500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0E2A47"/>
                          </a:solidFill>
                          <a:latin typeface="Calibri"/>
                        </a:rPr>
                        <a:t>86.4%</a:t>
                      </a:r>
                    </a:p>
                  </a:txBody>
                  <a:tcPr anchor="ctr" marT="12700" marB="12700" marL="63500" marR="63500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0E2A47"/>
                          </a:solidFill>
                          <a:latin typeface="Calibri"/>
                        </a:rPr>
                        <a:t>9.5%</a:t>
                      </a:r>
                    </a:p>
                  </a:txBody>
                  <a:tcPr anchor="ctr" marT="12700" marB="12700" marL="63500" marR="63500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0E2A47"/>
                          </a:solidFill>
                          <a:latin typeface="Calibri"/>
                        </a:rPr>
                        <a:t>4.1%</a:t>
                      </a:r>
                    </a:p>
                  </a:txBody>
                  <a:tcPr anchor="ctr" marT="12700" marB="12700" marL="63500" marR="63500">
                    <a:solidFill>
                      <a:srgbClr val="EEF3F7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0E2A47"/>
                          </a:solidFill>
                          <a:latin typeface="Calibri"/>
                        </a:rPr>
                        <a:t>Sul</a:t>
                      </a:r>
                    </a:p>
                  </a:txBody>
                  <a:tcPr anchor="ctr" marT="12700" marB="127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0E2A47"/>
                          </a:solidFill>
                          <a:latin typeface="Calibri"/>
                        </a:rPr>
                        <a:t>84.7%</a:t>
                      </a:r>
                    </a:p>
                  </a:txBody>
                  <a:tcPr anchor="ctr" marT="12700" marB="127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0E2A47"/>
                          </a:solidFill>
                          <a:latin typeface="Calibri"/>
                        </a:rPr>
                        <a:t>12.4%</a:t>
                      </a:r>
                    </a:p>
                  </a:txBody>
                  <a:tcPr anchor="ctr" marT="12700" marB="127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0E2A47"/>
                          </a:solidFill>
                          <a:latin typeface="Calibri"/>
                        </a:rPr>
                        <a:t>2.8%</a:t>
                      </a:r>
                    </a:p>
                  </a:txBody>
                  <a:tcPr anchor="ctr" marT="12700" marB="12700" marL="63500" marR="635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13639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C7293"/>
                </a:solidFill>
                <a:latin typeface="Calibri"/>
              </a:rPr>
              <a:t>Esgoto inadequado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3429000"/>
          <a:ext cx="6766560" cy="1344168"/>
        </p:xfrm>
        <a:graphic>
          <a:graphicData uri="http://schemas.openxmlformats.org/drawingml/2006/table">
            <a:tbl>
              <a:tblPr/>
              <a:tblGrid>
                <a:gridCol w="2326005"/>
                <a:gridCol w="1480185"/>
                <a:gridCol w="1480185"/>
                <a:gridCol w="1480185"/>
              </a:tblGrid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Região</a:t>
                      </a:r>
                    </a:p>
                  </a:txBody>
                  <a:tcPr anchor="ctr" marT="25400" marB="25400" marL="63500" marR="63500">
                    <a:solidFill>
                      <a:srgbClr val="1C729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0 %</a:t>
                      </a:r>
                    </a:p>
                  </a:txBody>
                  <a:tcPr anchor="ctr" marT="25400" marB="25400" marL="63500" marR="63500">
                    <a:solidFill>
                      <a:srgbClr val="1C729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1–49 %</a:t>
                      </a:r>
                    </a:p>
                  </a:txBody>
                  <a:tcPr anchor="ctr" marT="25400" marB="25400" marL="63500" marR="63500">
                    <a:solidFill>
                      <a:srgbClr val="1C729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≥ 50 %</a:t>
                      </a:r>
                    </a:p>
                  </a:txBody>
                  <a:tcPr anchor="ctr" marT="25400" marB="25400" marL="63500" marR="63500">
                    <a:solidFill>
                      <a:srgbClr val="1C7293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0E2A47"/>
                          </a:solidFill>
                          <a:latin typeface="Calibri"/>
                        </a:rPr>
                        <a:t>Norte</a:t>
                      </a:r>
                    </a:p>
                  </a:txBody>
                  <a:tcPr anchor="ctr" marT="12700" marB="127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0E2A47"/>
                          </a:solidFill>
                          <a:latin typeface="Calibri"/>
                        </a:rPr>
                        <a:t>30.2%</a:t>
                      </a:r>
                    </a:p>
                  </a:txBody>
                  <a:tcPr anchor="ctr" marT="12700" marB="127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0E2A47"/>
                          </a:solidFill>
                          <a:latin typeface="Calibri"/>
                        </a:rPr>
                        <a:t>44.8%</a:t>
                      </a:r>
                    </a:p>
                  </a:txBody>
                  <a:tcPr anchor="ctr" marT="12700" marB="127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0E2A47"/>
                          </a:solidFill>
                          <a:latin typeface="Calibri"/>
                        </a:rPr>
                        <a:t>25.1%</a:t>
                      </a:r>
                    </a:p>
                  </a:txBody>
                  <a:tcPr anchor="ctr" marT="12700" marB="12700" marL="63500" marR="63500"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0E2A47"/>
                          </a:solidFill>
                          <a:latin typeface="Calibri"/>
                        </a:rPr>
                        <a:t>Nordeste</a:t>
                      </a:r>
                    </a:p>
                  </a:txBody>
                  <a:tcPr anchor="ctr" marT="12700" marB="12700" marL="63500" marR="63500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0E2A47"/>
                          </a:solidFill>
                          <a:latin typeface="Calibri"/>
                        </a:rPr>
                        <a:t>52.1%</a:t>
                      </a:r>
                    </a:p>
                  </a:txBody>
                  <a:tcPr anchor="ctr" marT="12700" marB="12700" marL="63500" marR="63500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0E2A47"/>
                          </a:solidFill>
                          <a:latin typeface="Calibri"/>
                        </a:rPr>
                        <a:t>31.4%</a:t>
                      </a:r>
                    </a:p>
                  </a:txBody>
                  <a:tcPr anchor="ctr" marT="12700" marB="12700" marL="63500" marR="63500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0E2A47"/>
                          </a:solidFill>
                          <a:latin typeface="Calibri"/>
                        </a:rPr>
                        <a:t>16.5%</a:t>
                      </a:r>
                    </a:p>
                  </a:txBody>
                  <a:tcPr anchor="ctr" marT="12700" marB="12700" marL="63500" marR="63500">
                    <a:solidFill>
                      <a:srgbClr val="EEF3F7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0E2A47"/>
                          </a:solidFill>
                          <a:latin typeface="Calibri"/>
                        </a:rPr>
                        <a:t>Centro-Oeste</a:t>
                      </a:r>
                    </a:p>
                  </a:txBody>
                  <a:tcPr anchor="ctr" marT="12700" marB="127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0E2A47"/>
                          </a:solidFill>
                          <a:latin typeface="Calibri"/>
                        </a:rPr>
                        <a:t>73.8%</a:t>
                      </a:r>
                    </a:p>
                  </a:txBody>
                  <a:tcPr anchor="ctr" marT="12700" marB="127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0E2A47"/>
                          </a:solidFill>
                          <a:latin typeface="Calibri"/>
                        </a:rPr>
                        <a:t>17.2%</a:t>
                      </a:r>
                    </a:p>
                  </a:txBody>
                  <a:tcPr anchor="ctr" marT="12700" marB="127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0E2A47"/>
                          </a:solidFill>
                          <a:latin typeface="Calibri"/>
                        </a:rPr>
                        <a:t>9.1%</a:t>
                      </a:r>
                    </a:p>
                  </a:txBody>
                  <a:tcPr anchor="ctr" marT="12700" marB="12700" marL="63500" marR="63500"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0E2A47"/>
                          </a:solidFill>
                          <a:latin typeface="Calibri"/>
                        </a:rPr>
                        <a:t>Sudeste</a:t>
                      </a:r>
                    </a:p>
                  </a:txBody>
                  <a:tcPr anchor="ctr" marT="12700" marB="12700" marL="63500" marR="63500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0E2A47"/>
                          </a:solidFill>
                          <a:latin typeface="Calibri"/>
                        </a:rPr>
                        <a:t>79.8%</a:t>
                      </a:r>
                    </a:p>
                  </a:txBody>
                  <a:tcPr anchor="ctr" marT="12700" marB="12700" marL="63500" marR="63500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0E2A47"/>
                          </a:solidFill>
                          <a:latin typeface="Calibri"/>
                        </a:rPr>
                        <a:t>15.8%</a:t>
                      </a:r>
                    </a:p>
                  </a:txBody>
                  <a:tcPr anchor="ctr" marT="12700" marB="12700" marL="63500" marR="63500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0E2A47"/>
                          </a:solidFill>
                          <a:latin typeface="Calibri"/>
                        </a:rPr>
                        <a:t>4.4%</a:t>
                      </a:r>
                    </a:p>
                  </a:txBody>
                  <a:tcPr anchor="ctr" marT="12700" marB="12700" marL="63500" marR="63500">
                    <a:solidFill>
                      <a:srgbClr val="EEF3F7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0E2A47"/>
                          </a:solidFill>
                          <a:latin typeface="Calibri"/>
                        </a:rPr>
                        <a:t>Sul</a:t>
                      </a:r>
                    </a:p>
                  </a:txBody>
                  <a:tcPr anchor="ctr" marT="12700" marB="127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0E2A47"/>
                          </a:solidFill>
                          <a:latin typeface="Calibri"/>
                        </a:rPr>
                        <a:t>84.3%</a:t>
                      </a:r>
                    </a:p>
                  </a:txBody>
                  <a:tcPr anchor="ctr" marT="12700" marB="127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0E2A47"/>
                          </a:solidFill>
                          <a:latin typeface="Calibri"/>
                        </a:rPr>
                        <a:t>12.7%</a:t>
                      </a:r>
                    </a:p>
                  </a:txBody>
                  <a:tcPr anchor="ctr" marT="12700" marB="127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0E2A47"/>
                          </a:solidFill>
                          <a:latin typeface="Calibri"/>
                        </a:rPr>
                        <a:t>3.1%</a:t>
                      </a:r>
                    </a:p>
                  </a:txBody>
                  <a:tcPr anchor="ctr" marT="12700" marB="12700" marL="63500" marR="635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473659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C7293"/>
                </a:solidFill>
                <a:latin typeface="Calibri"/>
              </a:rPr>
              <a:t>Lixo inadequado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40080" y="5029200"/>
          <a:ext cx="6766560" cy="1344168"/>
        </p:xfrm>
        <a:graphic>
          <a:graphicData uri="http://schemas.openxmlformats.org/drawingml/2006/table">
            <a:tbl>
              <a:tblPr/>
              <a:tblGrid>
                <a:gridCol w="2326005"/>
                <a:gridCol w="1480185"/>
                <a:gridCol w="1480185"/>
                <a:gridCol w="1480185"/>
              </a:tblGrid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Região</a:t>
                      </a:r>
                    </a:p>
                  </a:txBody>
                  <a:tcPr anchor="ctr" marT="25400" marB="25400" marL="63500" marR="63500">
                    <a:solidFill>
                      <a:srgbClr val="1C729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0 %</a:t>
                      </a:r>
                    </a:p>
                  </a:txBody>
                  <a:tcPr anchor="ctr" marT="25400" marB="25400" marL="63500" marR="63500">
                    <a:solidFill>
                      <a:srgbClr val="1C729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1–49 %</a:t>
                      </a:r>
                    </a:p>
                  </a:txBody>
                  <a:tcPr anchor="ctr" marT="25400" marB="25400" marL="63500" marR="63500">
                    <a:solidFill>
                      <a:srgbClr val="1C729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≥ 50 %</a:t>
                      </a:r>
                    </a:p>
                  </a:txBody>
                  <a:tcPr anchor="ctr" marT="25400" marB="25400" marL="63500" marR="63500">
                    <a:solidFill>
                      <a:srgbClr val="1C7293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0E2A47"/>
                          </a:solidFill>
                          <a:latin typeface="Calibri"/>
                        </a:rPr>
                        <a:t>Norte</a:t>
                      </a:r>
                    </a:p>
                  </a:txBody>
                  <a:tcPr anchor="ctr" marT="12700" marB="127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0E2A47"/>
                          </a:solidFill>
                          <a:latin typeface="Calibri"/>
                        </a:rPr>
                        <a:t>54.1%</a:t>
                      </a:r>
                    </a:p>
                  </a:txBody>
                  <a:tcPr anchor="ctr" marT="12700" marB="127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0E2A47"/>
                          </a:solidFill>
                          <a:latin typeface="Calibri"/>
                        </a:rPr>
                        <a:t>34.3%</a:t>
                      </a:r>
                    </a:p>
                  </a:txBody>
                  <a:tcPr anchor="ctr" marT="12700" marB="127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0E2A47"/>
                          </a:solidFill>
                          <a:latin typeface="Calibri"/>
                        </a:rPr>
                        <a:t>11.6%</a:t>
                      </a:r>
                    </a:p>
                  </a:txBody>
                  <a:tcPr anchor="ctr" marT="12700" marB="12700" marL="63500" marR="63500"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0E2A47"/>
                          </a:solidFill>
                          <a:latin typeface="Calibri"/>
                        </a:rPr>
                        <a:t>Nordeste</a:t>
                      </a:r>
                    </a:p>
                  </a:txBody>
                  <a:tcPr anchor="ctr" marT="12700" marB="12700" marL="63500" marR="63500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0E2A47"/>
                          </a:solidFill>
                          <a:latin typeface="Calibri"/>
                        </a:rPr>
                        <a:t>53.9%</a:t>
                      </a:r>
                    </a:p>
                  </a:txBody>
                  <a:tcPr anchor="ctr" marT="12700" marB="12700" marL="63500" marR="63500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0E2A47"/>
                          </a:solidFill>
                          <a:latin typeface="Calibri"/>
                        </a:rPr>
                        <a:t>31.1%</a:t>
                      </a:r>
                    </a:p>
                  </a:txBody>
                  <a:tcPr anchor="ctr" marT="12700" marB="12700" marL="63500" marR="63500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0E2A47"/>
                          </a:solidFill>
                          <a:latin typeface="Calibri"/>
                        </a:rPr>
                        <a:t>15.0%</a:t>
                      </a:r>
                    </a:p>
                  </a:txBody>
                  <a:tcPr anchor="ctr" marT="12700" marB="12700" marL="63500" marR="63500">
                    <a:solidFill>
                      <a:srgbClr val="EEF3F7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0E2A47"/>
                          </a:solidFill>
                          <a:latin typeface="Calibri"/>
                        </a:rPr>
                        <a:t>Centro-Oeste</a:t>
                      </a:r>
                    </a:p>
                  </a:txBody>
                  <a:tcPr anchor="ctr" marT="12700" marB="127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0E2A47"/>
                          </a:solidFill>
                          <a:latin typeface="Calibri"/>
                        </a:rPr>
                        <a:t>66.6%</a:t>
                      </a:r>
                    </a:p>
                  </a:txBody>
                  <a:tcPr anchor="ctr" marT="12700" marB="127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0E2A47"/>
                          </a:solidFill>
                          <a:latin typeface="Calibri"/>
                        </a:rPr>
                        <a:t>22.1%</a:t>
                      </a:r>
                    </a:p>
                  </a:txBody>
                  <a:tcPr anchor="ctr" marT="12700" marB="127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0E2A47"/>
                          </a:solidFill>
                          <a:latin typeface="Calibri"/>
                        </a:rPr>
                        <a:t>11.3%</a:t>
                      </a:r>
                    </a:p>
                  </a:txBody>
                  <a:tcPr anchor="ctr" marT="12700" marB="12700" marL="63500" marR="63500"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0E2A47"/>
                          </a:solidFill>
                          <a:latin typeface="Calibri"/>
                        </a:rPr>
                        <a:t>Sudeste</a:t>
                      </a:r>
                    </a:p>
                  </a:txBody>
                  <a:tcPr anchor="ctr" marT="12700" marB="12700" marL="63500" marR="63500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0E2A47"/>
                          </a:solidFill>
                          <a:latin typeface="Calibri"/>
                        </a:rPr>
                        <a:t>63.7%</a:t>
                      </a:r>
                    </a:p>
                  </a:txBody>
                  <a:tcPr anchor="ctr" marT="12700" marB="12700" marL="63500" marR="63500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0E2A47"/>
                          </a:solidFill>
                          <a:latin typeface="Calibri"/>
                        </a:rPr>
                        <a:t>26.2%</a:t>
                      </a:r>
                    </a:p>
                  </a:txBody>
                  <a:tcPr anchor="ctr" marT="12700" marB="12700" marL="63500" marR="63500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0E2A47"/>
                          </a:solidFill>
                          <a:latin typeface="Calibri"/>
                        </a:rPr>
                        <a:t>10.1%</a:t>
                      </a:r>
                    </a:p>
                  </a:txBody>
                  <a:tcPr anchor="ctr" marT="12700" marB="12700" marL="63500" marR="63500">
                    <a:solidFill>
                      <a:srgbClr val="EEF3F7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0E2A47"/>
                          </a:solidFill>
                          <a:latin typeface="Calibri"/>
                        </a:rPr>
                        <a:t>Sul</a:t>
                      </a:r>
                    </a:p>
                  </a:txBody>
                  <a:tcPr anchor="ctr" marT="12700" marB="127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0E2A47"/>
                          </a:solidFill>
                          <a:latin typeface="Calibri"/>
                        </a:rPr>
                        <a:t>65.5%</a:t>
                      </a:r>
                    </a:p>
                  </a:txBody>
                  <a:tcPr anchor="ctr" marT="12700" marB="127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0E2A47"/>
                          </a:solidFill>
                          <a:latin typeface="Calibri"/>
                        </a:rPr>
                        <a:t>24.4%</a:t>
                      </a:r>
                    </a:p>
                  </a:txBody>
                  <a:tcPr anchor="ctr" marT="12700" marB="127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0E2A47"/>
                          </a:solidFill>
                          <a:latin typeface="Calibri"/>
                        </a:rPr>
                        <a:t>10.1%</a:t>
                      </a:r>
                    </a:p>
                  </a:txBody>
                  <a:tcPr anchor="ctr" marT="12700" marB="12700" marL="63500" marR="635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7772400" y="1828800"/>
            <a:ext cx="38404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C7293"/>
                </a:solidFill>
                <a:latin typeface="Calibri"/>
              </a:rPr>
              <a:t>Como ler</a:t>
            </a:r>
          </a:p>
          <a:p>
            <a:pPr algn="l">
              <a:lnSpc>
                <a:spcPct val="105000"/>
              </a:lnSpc>
              <a:spcBef>
                <a:spcPts val="600"/>
              </a:spcBef>
            </a:pPr>
            <a:r>
              <a:rPr sz="1300" b="1" i="0">
                <a:solidFill>
                  <a:srgbClr val="0E2A47"/>
                </a:solidFill>
                <a:latin typeface="Calibri"/>
              </a:rPr>
              <a:t>• 0 %</a:t>
            </a:r>
            <a:r>
              <a:rPr sz="1300" b="0" i="0">
                <a:solidFill>
                  <a:srgbClr val="5A6B7B"/>
                </a:solidFill>
                <a:latin typeface="Calibri"/>
              </a:rPr>
              <a:t> — todos os domicílios adequados.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300" b="1" i="0">
                <a:solidFill>
                  <a:srgbClr val="0E2A47"/>
                </a:solidFill>
                <a:latin typeface="Calibri"/>
              </a:rPr>
              <a:t>• 1–49 %</a:t>
            </a:r>
            <a:r>
              <a:rPr sz="1300" b="0" i="0">
                <a:solidFill>
                  <a:srgbClr val="5A6B7B"/>
                </a:solidFill>
                <a:latin typeface="Calibri"/>
              </a:rPr>
              <a:t> — inadequação parcial no setor.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300" b="1" i="0">
                <a:solidFill>
                  <a:srgbClr val="0E2A47"/>
                </a:solidFill>
                <a:latin typeface="Calibri"/>
              </a:rPr>
              <a:t>• ≥ 50 %</a:t>
            </a:r>
            <a:r>
              <a:rPr sz="1300" b="0" i="0">
                <a:solidFill>
                  <a:srgbClr val="5A6B7B"/>
                </a:solidFill>
                <a:latin typeface="Calibri"/>
              </a:rPr>
              <a:t> — maioria dos domicílios inadequada.</a:t>
            </a:r>
          </a:p>
          <a:p>
            <a:pPr algn="l">
              <a:lnSpc>
                <a:spcPct val="105000"/>
              </a:lnSpc>
              <a:spcBef>
                <a:spcPts val="1200"/>
              </a:spcBef>
            </a:pPr>
            <a:r>
              <a:rPr sz="1200" b="1" i="0">
                <a:solidFill>
                  <a:srgbClr val="5A6B7B"/>
                </a:solidFill>
                <a:latin typeface="Calibri"/>
              </a:rPr>
              <a:t>Fonte: </a:t>
            </a:r>
            <a:r>
              <a:rPr sz="1200" b="0" i="1">
                <a:solidFill>
                  <a:srgbClr val="5A6B7B"/>
                </a:solidFill>
                <a:latin typeface="Calibri"/>
              </a:rPr>
              <a:t>saneamento_categorias_por_regiao.csv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C7293"/>
                </a:solidFill>
                <a:latin typeface="Calibri"/>
              </a:rPr>
              <a:t>HABITAÇÃO · TIPO DE ESPÉCIE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76656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0E2A47"/>
                </a:solidFill>
                <a:latin typeface="Georgia"/>
              </a:rPr>
              <a:t>Tipos de domicílio — V00048 a V00058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371600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5A6B7B"/>
                </a:solidFill>
                <a:latin typeface="Calibri"/>
              </a:rPr>
              <a:t>Distribuição dos domicílios por tipo de espécie (% sobre domicílios particulares ocupados).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828800"/>
          <a:ext cx="10927075" cy="3730752"/>
        </p:xfrm>
        <a:graphic>
          <a:graphicData uri="http://schemas.openxmlformats.org/drawingml/2006/table">
            <a:tbl>
              <a:tblPr/>
              <a:tblGrid>
                <a:gridCol w="926023"/>
                <a:gridCol w="3426287"/>
                <a:gridCol w="1203830"/>
                <a:gridCol w="1111228"/>
                <a:gridCol w="1111228"/>
                <a:gridCol w="1111228"/>
                <a:gridCol w="1111228"/>
                <a:gridCol w="926023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Cód.</a:t>
                      </a:r>
                    </a:p>
                  </a:txBody>
                  <a:tcPr anchor="ctr" marT="25400" marB="25400" marL="63500" marR="63500">
                    <a:solidFill>
                      <a:srgbClr val="1C729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Tipo de espécie</a:t>
                      </a:r>
                    </a:p>
                  </a:txBody>
                  <a:tcPr anchor="ctr" marT="25400" marB="25400" marL="63500" marR="63500">
                    <a:solidFill>
                      <a:srgbClr val="1C729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% Brasil</a:t>
                      </a:r>
                    </a:p>
                  </a:txBody>
                  <a:tcPr anchor="ctr" marT="25400" marB="25400" marL="63500" marR="63500">
                    <a:solidFill>
                      <a:srgbClr val="1C729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Norte</a:t>
                      </a:r>
                    </a:p>
                  </a:txBody>
                  <a:tcPr anchor="ctr" marT="25400" marB="25400" marL="63500" marR="63500">
                    <a:solidFill>
                      <a:srgbClr val="1C729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Nordeste</a:t>
                      </a:r>
                    </a:p>
                  </a:txBody>
                  <a:tcPr anchor="ctr" marT="25400" marB="25400" marL="63500" marR="63500">
                    <a:solidFill>
                      <a:srgbClr val="1C729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C-Oeste</a:t>
                      </a:r>
                    </a:p>
                  </a:txBody>
                  <a:tcPr anchor="ctr" marT="25400" marB="25400" marL="63500" marR="63500">
                    <a:solidFill>
                      <a:srgbClr val="1C729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Sudeste</a:t>
                      </a:r>
                    </a:p>
                  </a:txBody>
                  <a:tcPr anchor="ctr" marT="25400" marB="25400" marL="63500" marR="63500">
                    <a:solidFill>
                      <a:srgbClr val="1C729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Sul</a:t>
                      </a:r>
                    </a:p>
                  </a:txBody>
                  <a:tcPr anchor="ctr" marT="25400" marB="25400" marL="63500" marR="63500">
                    <a:solidFill>
                      <a:srgbClr val="1C7293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0E2A47"/>
                          </a:solidFill>
                          <a:latin typeface="Calibri"/>
                        </a:rPr>
                        <a:t>V00048</a:t>
                      </a:r>
                    </a:p>
                  </a:txBody>
                  <a:tcPr anchor="ctr" marT="12700" marB="127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0E2A47"/>
                          </a:solidFill>
                          <a:latin typeface="Calibri"/>
                        </a:rPr>
                        <a:t>Casa de vila/condomínio</a:t>
                      </a:r>
                    </a:p>
                  </a:txBody>
                  <a:tcPr anchor="ctr" marT="12700" marB="127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0E2A47"/>
                          </a:solidFill>
                          <a:latin typeface="Calibri"/>
                        </a:rPr>
                        <a:t>4.0%</a:t>
                      </a:r>
                    </a:p>
                  </a:txBody>
                  <a:tcPr anchor="ctr" marT="12700" marB="127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0E2A47"/>
                          </a:solidFill>
                          <a:latin typeface="Calibri"/>
                        </a:rPr>
                        <a:t>6.6%</a:t>
                      </a:r>
                    </a:p>
                  </a:txBody>
                  <a:tcPr anchor="ctr" marT="12700" marB="127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0E2A47"/>
                          </a:solidFill>
                          <a:latin typeface="Calibri"/>
                        </a:rPr>
                        <a:t>4.6%</a:t>
                      </a:r>
                    </a:p>
                  </a:txBody>
                  <a:tcPr anchor="ctr" marT="12700" marB="127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0E2A47"/>
                          </a:solidFill>
                          <a:latin typeface="Calibri"/>
                        </a:rPr>
                        <a:t>3.8%</a:t>
                      </a:r>
                    </a:p>
                  </a:txBody>
                  <a:tcPr anchor="ctr" marT="12700" marB="127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0E2A47"/>
                          </a:solidFill>
                          <a:latin typeface="Calibri"/>
                        </a:rPr>
                        <a:t>3.4%</a:t>
                      </a:r>
                    </a:p>
                  </a:txBody>
                  <a:tcPr anchor="ctr" marT="12700" marB="127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0E2A47"/>
                          </a:solidFill>
                          <a:latin typeface="Calibri"/>
                        </a:rPr>
                        <a:t>3.8%</a:t>
                      </a:r>
                    </a:p>
                  </a:txBody>
                  <a:tcPr anchor="ctr" marT="12700" marB="12700" marL="63500" marR="63500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0E2A47"/>
                          </a:solidFill>
                          <a:latin typeface="Calibri"/>
                        </a:rPr>
                        <a:t>V00049</a:t>
                      </a:r>
                    </a:p>
                  </a:txBody>
                  <a:tcPr anchor="ctr" marT="12700" marB="12700" marL="63500" marR="63500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0E2A47"/>
                          </a:solidFill>
                          <a:latin typeface="Calibri"/>
                        </a:rPr>
                        <a:t>Apartamento</a:t>
                      </a:r>
                    </a:p>
                  </a:txBody>
                  <a:tcPr anchor="ctr" marT="12700" marB="12700" marL="63500" marR="63500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0E2A47"/>
                          </a:solidFill>
                          <a:latin typeface="Calibri"/>
                        </a:rPr>
                        <a:t>28.4%</a:t>
                      </a:r>
                    </a:p>
                  </a:txBody>
                  <a:tcPr anchor="ctr" marT="12700" marB="12700" marL="63500" marR="63500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0E2A47"/>
                          </a:solidFill>
                          <a:latin typeface="Calibri"/>
                        </a:rPr>
                        <a:t>15.7%</a:t>
                      </a:r>
                    </a:p>
                  </a:txBody>
                  <a:tcPr anchor="ctr" marT="12700" marB="12700" marL="63500" marR="63500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0E2A47"/>
                          </a:solidFill>
                          <a:latin typeface="Calibri"/>
                        </a:rPr>
                        <a:t>22.6%</a:t>
                      </a:r>
                    </a:p>
                  </a:txBody>
                  <a:tcPr anchor="ctr" marT="12700" marB="12700" marL="63500" marR="63500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0E2A47"/>
                          </a:solidFill>
                          <a:latin typeface="Calibri"/>
                        </a:rPr>
                        <a:t>26.7%</a:t>
                      </a:r>
                    </a:p>
                  </a:txBody>
                  <a:tcPr anchor="ctr" marT="12700" marB="12700" marL="63500" marR="63500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0E2A47"/>
                          </a:solidFill>
                          <a:latin typeface="Calibri"/>
                        </a:rPr>
                        <a:t>31.2%</a:t>
                      </a:r>
                    </a:p>
                  </a:txBody>
                  <a:tcPr anchor="ctr" marT="12700" marB="12700" marL="63500" marR="63500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0E2A47"/>
                          </a:solidFill>
                          <a:latin typeface="Calibri"/>
                        </a:rPr>
                        <a:t>36.9%</a:t>
                      </a:r>
                    </a:p>
                  </a:txBody>
                  <a:tcPr anchor="ctr" marT="12700" marB="12700" marL="63500" marR="63500">
                    <a:solidFill>
                      <a:srgbClr val="EEF3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0E2A47"/>
                          </a:solidFill>
                          <a:latin typeface="Calibri"/>
                        </a:rPr>
                        <a:t>V00050</a:t>
                      </a:r>
                    </a:p>
                  </a:txBody>
                  <a:tcPr anchor="ctr" marT="12700" marB="127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0E2A47"/>
                          </a:solidFill>
                          <a:latin typeface="Calibri"/>
                        </a:rPr>
                        <a:t>Cortiço/casa de cômodos</a:t>
                      </a:r>
                    </a:p>
                  </a:txBody>
                  <a:tcPr anchor="ctr" marT="12700" marB="127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0E2A47"/>
                          </a:solidFill>
                          <a:latin typeface="Calibri"/>
                        </a:rPr>
                        <a:t>0.53%</a:t>
                      </a:r>
                    </a:p>
                  </a:txBody>
                  <a:tcPr anchor="ctr" marT="12700" marB="127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0E2A47"/>
                          </a:solidFill>
                          <a:latin typeface="Calibri"/>
                        </a:rPr>
                        <a:t>0.58%</a:t>
                      </a:r>
                    </a:p>
                  </a:txBody>
                  <a:tcPr anchor="ctr" marT="12700" marB="127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0E2A47"/>
                          </a:solidFill>
                          <a:latin typeface="Calibri"/>
                        </a:rPr>
                        <a:t>0.34%</a:t>
                      </a:r>
                    </a:p>
                  </a:txBody>
                  <a:tcPr anchor="ctr" marT="12700" marB="127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0E2A47"/>
                          </a:solidFill>
                          <a:latin typeface="Calibri"/>
                        </a:rPr>
                        <a:t>0.90%</a:t>
                      </a:r>
                    </a:p>
                  </a:txBody>
                  <a:tcPr anchor="ctr" marT="12700" marB="127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0E2A47"/>
                          </a:solidFill>
                          <a:latin typeface="Calibri"/>
                        </a:rPr>
                        <a:t>0.59%</a:t>
                      </a:r>
                    </a:p>
                  </a:txBody>
                  <a:tcPr anchor="ctr" marT="12700" marB="127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0E2A47"/>
                          </a:solidFill>
                          <a:latin typeface="Calibri"/>
                        </a:rPr>
                        <a:t>0.10%</a:t>
                      </a:r>
                    </a:p>
                  </a:txBody>
                  <a:tcPr anchor="ctr" marT="12700" marB="12700" marL="63500" marR="63500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0E2A47"/>
                          </a:solidFill>
                          <a:latin typeface="Calibri"/>
                        </a:rPr>
                        <a:t>V00051</a:t>
                      </a:r>
                    </a:p>
                  </a:txBody>
                  <a:tcPr anchor="ctr" marT="12700" marB="12700" marL="63500" marR="63500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0E2A47"/>
                          </a:solidFill>
                          <a:latin typeface="Calibri"/>
                        </a:rPr>
                        <a:t>Maloca indígena</a:t>
                      </a:r>
                    </a:p>
                  </a:txBody>
                  <a:tcPr anchor="ctr" marT="12700" marB="12700" marL="63500" marR="63500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0E2A47"/>
                          </a:solidFill>
                          <a:latin typeface="Calibri"/>
                        </a:rPr>
                        <a:t>0.00%</a:t>
                      </a:r>
                    </a:p>
                  </a:txBody>
                  <a:tcPr anchor="ctr" marT="12700" marB="12700" marL="63500" marR="63500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0E2A47"/>
                          </a:solidFill>
                          <a:latin typeface="Calibri"/>
                        </a:rPr>
                        <a:t>0.00%</a:t>
                      </a:r>
                    </a:p>
                  </a:txBody>
                  <a:tcPr anchor="ctr" marT="12700" marB="12700" marL="63500" marR="63500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0E2A47"/>
                          </a:solidFill>
                          <a:latin typeface="Calibri"/>
                        </a:rPr>
                        <a:t>0.00%</a:t>
                      </a:r>
                    </a:p>
                  </a:txBody>
                  <a:tcPr anchor="ctr" marT="12700" marB="12700" marL="63500" marR="63500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0E2A47"/>
                          </a:solidFill>
                          <a:latin typeface="Calibri"/>
                        </a:rPr>
                        <a:t>0.00%</a:t>
                      </a:r>
                    </a:p>
                  </a:txBody>
                  <a:tcPr anchor="ctr" marT="12700" marB="12700" marL="63500" marR="63500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0E2A47"/>
                          </a:solidFill>
                          <a:latin typeface="Calibri"/>
                        </a:rPr>
                        <a:t>0.00%</a:t>
                      </a:r>
                    </a:p>
                  </a:txBody>
                  <a:tcPr anchor="ctr" marT="12700" marB="12700" marL="63500" marR="63500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0E2A47"/>
                          </a:solidFill>
                          <a:latin typeface="Calibri"/>
                        </a:rPr>
                        <a:t>0.00%</a:t>
                      </a:r>
                    </a:p>
                  </a:txBody>
                  <a:tcPr anchor="ctr" marT="12700" marB="12700" marL="63500" marR="63500">
                    <a:solidFill>
                      <a:srgbClr val="EEF3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0E2A47"/>
                          </a:solidFill>
                          <a:latin typeface="Calibri"/>
                        </a:rPr>
                        <a:t>V00052</a:t>
                      </a:r>
                    </a:p>
                  </a:txBody>
                  <a:tcPr anchor="ctr" marT="12700" marB="127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0E2A47"/>
                          </a:solidFill>
                          <a:latin typeface="Calibri"/>
                        </a:rPr>
                        <a:t>Estrutura permanente degradada</a:t>
                      </a:r>
                    </a:p>
                  </a:txBody>
                  <a:tcPr anchor="ctr" marT="12700" marB="127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0E2A47"/>
                          </a:solidFill>
                          <a:latin typeface="Calibri"/>
                        </a:rPr>
                        <a:t>0.04%</a:t>
                      </a:r>
                    </a:p>
                  </a:txBody>
                  <a:tcPr anchor="ctr" marT="12700" marB="127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0E2A47"/>
                          </a:solidFill>
                          <a:latin typeface="Calibri"/>
                        </a:rPr>
                        <a:t>0.03%</a:t>
                      </a:r>
                    </a:p>
                  </a:txBody>
                  <a:tcPr anchor="ctr" marT="12700" marB="127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0E2A47"/>
                          </a:solidFill>
                          <a:latin typeface="Calibri"/>
                        </a:rPr>
                        <a:t>0.01%</a:t>
                      </a:r>
                    </a:p>
                  </a:txBody>
                  <a:tcPr anchor="ctr" marT="12700" marB="127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0E2A47"/>
                          </a:solidFill>
                          <a:latin typeface="Calibri"/>
                        </a:rPr>
                        <a:t>0.06%</a:t>
                      </a:r>
                    </a:p>
                  </a:txBody>
                  <a:tcPr anchor="ctr" marT="12700" marB="127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0E2A47"/>
                          </a:solidFill>
                          <a:latin typeface="Calibri"/>
                        </a:rPr>
                        <a:t>0.05%</a:t>
                      </a:r>
                    </a:p>
                  </a:txBody>
                  <a:tcPr anchor="ctr" marT="12700" marB="127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0E2A47"/>
                          </a:solidFill>
                          <a:latin typeface="Calibri"/>
                        </a:rPr>
                        <a:t>0.01%</a:t>
                      </a:r>
                    </a:p>
                  </a:txBody>
                  <a:tcPr anchor="ctr" marT="12700" marB="12700" marL="63500" marR="63500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0E2A47"/>
                          </a:solidFill>
                          <a:latin typeface="Calibri"/>
                        </a:rPr>
                        <a:t>V00053</a:t>
                      </a:r>
                    </a:p>
                  </a:txBody>
                  <a:tcPr anchor="ctr" marT="12700" marB="12700" marL="63500" marR="63500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0E2A47"/>
                          </a:solidFill>
                          <a:latin typeface="Calibri"/>
                        </a:rPr>
                        <a:t>Tenda/barraca</a:t>
                      </a:r>
                    </a:p>
                  </a:txBody>
                  <a:tcPr anchor="ctr" marT="12700" marB="12700" marL="63500" marR="63500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0E2A47"/>
                          </a:solidFill>
                          <a:latin typeface="Calibri"/>
                        </a:rPr>
                        <a:t>0.02%</a:t>
                      </a:r>
                    </a:p>
                  </a:txBody>
                  <a:tcPr anchor="ctr" marT="12700" marB="12700" marL="63500" marR="63500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0E2A47"/>
                          </a:solidFill>
                          <a:latin typeface="Calibri"/>
                        </a:rPr>
                        <a:t>0.01%</a:t>
                      </a:r>
                    </a:p>
                  </a:txBody>
                  <a:tcPr anchor="ctr" marT="12700" marB="12700" marL="63500" marR="63500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0E2A47"/>
                          </a:solidFill>
                          <a:latin typeface="Calibri"/>
                        </a:rPr>
                        <a:t>0.02%</a:t>
                      </a:r>
                    </a:p>
                  </a:txBody>
                  <a:tcPr anchor="ctr" marT="12700" marB="12700" marL="63500" marR="63500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0E2A47"/>
                          </a:solidFill>
                          <a:latin typeface="Calibri"/>
                        </a:rPr>
                        <a:t>0.02%</a:t>
                      </a:r>
                    </a:p>
                  </a:txBody>
                  <a:tcPr anchor="ctr" marT="12700" marB="12700" marL="63500" marR="63500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0E2A47"/>
                          </a:solidFill>
                          <a:latin typeface="Calibri"/>
                        </a:rPr>
                        <a:t>0.02%</a:t>
                      </a:r>
                    </a:p>
                  </a:txBody>
                  <a:tcPr anchor="ctr" marT="12700" marB="12700" marL="63500" marR="63500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0E2A47"/>
                          </a:solidFill>
                          <a:latin typeface="Calibri"/>
                        </a:rPr>
                        <a:t>0.00%</a:t>
                      </a:r>
                    </a:p>
                  </a:txBody>
                  <a:tcPr anchor="ctr" marT="12700" marB="12700" marL="63500" marR="63500">
                    <a:solidFill>
                      <a:srgbClr val="EEF3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0E2A47"/>
                          </a:solidFill>
                          <a:latin typeface="Calibri"/>
                        </a:rPr>
                        <a:t>V00054</a:t>
                      </a:r>
                    </a:p>
                  </a:txBody>
                  <a:tcPr anchor="ctr" marT="12700" marB="127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0E2A47"/>
                          </a:solidFill>
                          <a:latin typeface="Calibri"/>
                        </a:rPr>
                        <a:t>Dentro de estabelecimento</a:t>
                      </a:r>
                    </a:p>
                  </a:txBody>
                  <a:tcPr anchor="ctr" marT="12700" marB="127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0E2A47"/>
                          </a:solidFill>
                          <a:latin typeface="Calibri"/>
                        </a:rPr>
                        <a:t>0.01%</a:t>
                      </a:r>
                    </a:p>
                  </a:txBody>
                  <a:tcPr anchor="ctr" marT="12700" marB="127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0E2A47"/>
                          </a:solidFill>
                          <a:latin typeface="Calibri"/>
                        </a:rPr>
                        <a:t>0.01%</a:t>
                      </a:r>
                    </a:p>
                  </a:txBody>
                  <a:tcPr anchor="ctr" marT="12700" marB="127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0E2A47"/>
                          </a:solidFill>
                          <a:latin typeface="Calibri"/>
                        </a:rPr>
                        <a:t>0.01%</a:t>
                      </a:r>
                    </a:p>
                  </a:txBody>
                  <a:tcPr anchor="ctr" marT="12700" marB="127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0E2A47"/>
                          </a:solidFill>
                          <a:latin typeface="Calibri"/>
                        </a:rPr>
                        <a:t>0.01%</a:t>
                      </a:r>
                    </a:p>
                  </a:txBody>
                  <a:tcPr anchor="ctr" marT="12700" marB="127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0E2A47"/>
                          </a:solidFill>
                          <a:latin typeface="Calibri"/>
                        </a:rPr>
                        <a:t>0.01%</a:t>
                      </a:r>
                    </a:p>
                  </a:txBody>
                  <a:tcPr anchor="ctr" marT="12700" marB="127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0E2A47"/>
                          </a:solidFill>
                          <a:latin typeface="Calibri"/>
                        </a:rPr>
                        <a:t>0.00%</a:t>
                      </a:r>
                    </a:p>
                  </a:txBody>
                  <a:tcPr anchor="ctr" marT="12700" marB="12700" marL="63500" marR="63500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0E2A47"/>
                          </a:solidFill>
                          <a:latin typeface="Calibri"/>
                        </a:rPr>
                        <a:t>V00055</a:t>
                      </a:r>
                    </a:p>
                  </a:txBody>
                  <a:tcPr anchor="ctr" marT="12700" marB="12700" marL="63500" marR="63500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0E2A47"/>
                          </a:solidFill>
                          <a:latin typeface="Calibri"/>
                        </a:rPr>
                        <a:t>Abrigo natural/outras</a:t>
                      </a:r>
                    </a:p>
                  </a:txBody>
                  <a:tcPr anchor="ctr" marT="12700" marB="12700" marL="63500" marR="63500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0E2A47"/>
                          </a:solidFill>
                          <a:latin typeface="Calibri"/>
                        </a:rPr>
                        <a:t>0.01%</a:t>
                      </a:r>
                    </a:p>
                  </a:txBody>
                  <a:tcPr anchor="ctr" marT="12700" marB="12700" marL="63500" marR="63500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0E2A47"/>
                          </a:solidFill>
                          <a:latin typeface="Calibri"/>
                        </a:rPr>
                        <a:t>0.01%</a:t>
                      </a:r>
                    </a:p>
                  </a:txBody>
                  <a:tcPr anchor="ctr" marT="12700" marB="12700" marL="63500" marR="63500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0E2A47"/>
                          </a:solidFill>
                          <a:latin typeface="Calibri"/>
                        </a:rPr>
                        <a:t>0.01%</a:t>
                      </a:r>
                    </a:p>
                  </a:txBody>
                  <a:tcPr anchor="ctr" marT="12700" marB="12700" marL="63500" marR="63500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0E2A47"/>
                          </a:solidFill>
                          <a:latin typeface="Calibri"/>
                        </a:rPr>
                        <a:t>0.01%</a:t>
                      </a:r>
                    </a:p>
                  </a:txBody>
                  <a:tcPr anchor="ctr" marT="12700" marB="12700" marL="63500" marR="63500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0E2A47"/>
                          </a:solidFill>
                          <a:latin typeface="Calibri"/>
                        </a:rPr>
                        <a:t>0.02%</a:t>
                      </a:r>
                    </a:p>
                  </a:txBody>
                  <a:tcPr anchor="ctr" marT="12700" marB="12700" marL="63500" marR="63500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0E2A47"/>
                          </a:solidFill>
                          <a:latin typeface="Calibri"/>
                        </a:rPr>
                        <a:t>0.00%</a:t>
                      </a:r>
                    </a:p>
                  </a:txBody>
                  <a:tcPr anchor="ctr" marT="12700" marB="12700" marL="63500" marR="63500">
                    <a:solidFill>
                      <a:srgbClr val="EEF3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0E2A47"/>
                          </a:solidFill>
                          <a:latin typeface="Calibri"/>
                        </a:rPr>
                        <a:t>V00056</a:t>
                      </a:r>
                    </a:p>
                  </a:txBody>
                  <a:tcPr anchor="ctr" marT="12700" marB="127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0E2A47"/>
                          </a:solidFill>
                          <a:latin typeface="Calibri"/>
                        </a:rPr>
                        <a:t>Estrutura em logradouro público</a:t>
                      </a:r>
                    </a:p>
                  </a:txBody>
                  <a:tcPr anchor="ctr" marT="12700" marB="127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0E2A47"/>
                          </a:solidFill>
                          <a:latin typeface="Calibri"/>
                        </a:rPr>
                        <a:t>0.01%</a:t>
                      </a:r>
                    </a:p>
                  </a:txBody>
                  <a:tcPr anchor="ctr" marT="12700" marB="127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0E2A47"/>
                          </a:solidFill>
                          <a:latin typeface="Calibri"/>
                        </a:rPr>
                        <a:t>0.01%</a:t>
                      </a:r>
                    </a:p>
                  </a:txBody>
                  <a:tcPr anchor="ctr" marT="12700" marB="127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0E2A47"/>
                          </a:solidFill>
                          <a:latin typeface="Calibri"/>
                        </a:rPr>
                        <a:t>0.01%</a:t>
                      </a:r>
                    </a:p>
                  </a:txBody>
                  <a:tcPr anchor="ctr" marT="12700" marB="127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0E2A47"/>
                          </a:solidFill>
                          <a:latin typeface="Calibri"/>
                        </a:rPr>
                        <a:t>0.00%</a:t>
                      </a:r>
                    </a:p>
                  </a:txBody>
                  <a:tcPr anchor="ctr" marT="12700" marB="127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0E2A47"/>
                          </a:solidFill>
                          <a:latin typeface="Calibri"/>
                        </a:rPr>
                        <a:t>0.01%</a:t>
                      </a:r>
                    </a:p>
                  </a:txBody>
                  <a:tcPr anchor="ctr" marT="12700" marB="127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0E2A47"/>
                          </a:solidFill>
                          <a:latin typeface="Calibri"/>
                        </a:rPr>
                        <a:t>0.00%</a:t>
                      </a:r>
                    </a:p>
                  </a:txBody>
                  <a:tcPr anchor="ctr" marT="12700" marB="12700" marL="63500" marR="63500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0E2A47"/>
                          </a:solidFill>
                          <a:latin typeface="Calibri"/>
                        </a:rPr>
                        <a:t>V00057</a:t>
                      </a:r>
                    </a:p>
                  </a:txBody>
                  <a:tcPr anchor="ctr" marT="12700" marB="12700" marL="63500" marR="63500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0E2A47"/>
                          </a:solidFill>
                          <a:latin typeface="Calibri"/>
                        </a:rPr>
                        <a:t>Estrutura não-residencial degradada</a:t>
                      </a:r>
                    </a:p>
                  </a:txBody>
                  <a:tcPr anchor="ctr" marT="12700" marB="12700" marL="63500" marR="63500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0E2A47"/>
                          </a:solidFill>
                          <a:latin typeface="Calibri"/>
                        </a:rPr>
                        <a:t>0.01%</a:t>
                      </a:r>
                    </a:p>
                  </a:txBody>
                  <a:tcPr anchor="ctr" marT="12700" marB="12700" marL="63500" marR="63500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0E2A47"/>
                          </a:solidFill>
                          <a:latin typeface="Calibri"/>
                        </a:rPr>
                        <a:t>0.00%</a:t>
                      </a:r>
                    </a:p>
                  </a:txBody>
                  <a:tcPr anchor="ctr" marT="12700" marB="12700" marL="63500" marR="63500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0E2A47"/>
                          </a:solidFill>
                          <a:latin typeface="Calibri"/>
                        </a:rPr>
                        <a:t>0.00%</a:t>
                      </a:r>
                    </a:p>
                  </a:txBody>
                  <a:tcPr anchor="ctr" marT="12700" marB="12700" marL="63500" marR="63500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0E2A47"/>
                          </a:solidFill>
                          <a:latin typeface="Calibri"/>
                        </a:rPr>
                        <a:t>0.00%</a:t>
                      </a:r>
                    </a:p>
                  </a:txBody>
                  <a:tcPr anchor="ctr" marT="12700" marB="12700" marL="63500" marR="63500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0E2A47"/>
                          </a:solidFill>
                          <a:latin typeface="Calibri"/>
                        </a:rPr>
                        <a:t>0.02%</a:t>
                      </a:r>
                    </a:p>
                  </a:txBody>
                  <a:tcPr anchor="ctr" marT="12700" marB="12700" marL="63500" marR="63500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0E2A47"/>
                          </a:solidFill>
                          <a:latin typeface="Calibri"/>
                        </a:rPr>
                        <a:t>0.00%</a:t>
                      </a:r>
                    </a:p>
                  </a:txBody>
                  <a:tcPr anchor="ctr" marT="12700" marB="12700" marL="63500" marR="63500">
                    <a:solidFill>
                      <a:srgbClr val="EEF3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0E2A47"/>
                          </a:solidFill>
                          <a:latin typeface="Calibri"/>
                        </a:rPr>
                        <a:t>V00058</a:t>
                      </a:r>
                    </a:p>
                  </a:txBody>
                  <a:tcPr anchor="ctr" marT="12700" marB="127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0E2A47"/>
                          </a:solidFill>
                          <a:latin typeface="Calibri"/>
                        </a:rPr>
                        <a:t>Veículo</a:t>
                      </a:r>
                    </a:p>
                  </a:txBody>
                  <a:tcPr anchor="ctr" marT="12700" marB="127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0E2A47"/>
                          </a:solidFill>
                          <a:latin typeface="Calibri"/>
                        </a:rPr>
                        <a:t>0.00%</a:t>
                      </a:r>
                    </a:p>
                  </a:txBody>
                  <a:tcPr anchor="ctr" marT="12700" marB="127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0E2A47"/>
                          </a:solidFill>
                          <a:latin typeface="Calibri"/>
                        </a:rPr>
                        <a:t>0.00%</a:t>
                      </a:r>
                    </a:p>
                  </a:txBody>
                  <a:tcPr anchor="ctr" marT="12700" marB="127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0E2A47"/>
                          </a:solidFill>
                          <a:latin typeface="Calibri"/>
                        </a:rPr>
                        <a:t>0.00%</a:t>
                      </a:r>
                    </a:p>
                  </a:txBody>
                  <a:tcPr anchor="ctr" marT="12700" marB="127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0E2A47"/>
                          </a:solidFill>
                          <a:latin typeface="Calibri"/>
                        </a:rPr>
                        <a:t>0.00%</a:t>
                      </a:r>
                    </a:p>
                  </a:txBody>
                  <a:tcPr anchor="ctr" marT="12700" marB="127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0E2A47"/>
                          </a:solidFill>
                          <a:latin typeface="Calibri"/>
                        </a:rPr>
                        <a:t>0.00%</a:t>
                      </a:r>
                    </a:p>
                  </a:txBody>
                  <a:tcPr anchor="ctr" marT="12700" marB="127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0E2A47"/>
                          </a:solidFill>
                          <a:latin typeface="Calibri"/>
                        </a:rPr>
                        <a:t>0.00%</a:t>
                      </a:r>
                    </a:p>
                  </a:txBody>
                  <a:tcPr anchor="ctr" marT="12700" marB="12700" marL="63500" marR="635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580644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1" i="0">
                <a:solidFill>
                  <a:srgbClr val="E0A458"/>
                </a:solidFill>
                <a:latin typeface="Calibri"/>
              </a:rPr>
              <a:t>Nota: </a:t>
            </a:r>
            <a:r>
              <a:rPr sz="1250" b="0" i="1">
                <a:solidFill>
                  <a:srgbClr val="5A6B7B"/>
                </a:solidFill>
                <a:latin typeface="Calibri"/>
              </a:rPr>
              <a:t>apartamento (V00049, 28,4%) e casa de vila/condomínio (V00048, 4,0%) são moradia adequada e dominam a faixa; os tipos genuinamente precários (V00050, V00052–V00058) somam &lt; 0,7%. Maloca (V00051) = 0 nos 70 municípios urbanos.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C7293"/>
                </a:solidFill>
                <a:latin typeface="Calibri"/>
              </a:rPr>
              <a:t>HABITAÇÃO · TIPO DE ESPÉCIE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76656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0E2A47"/>
                </a:solidFill>
                <a:latin typeface="Georgia"/>
              </a:rPr>
              <a:t>Composição e leitura de V00048 a V00058</a:t>
            </a:r>
          </a:p>
        </p:txBody>
      </p:sp>
      <p:pic>
        <p:nvPicPr>
          <p:cNvPr id="5" name="Picture 4" descr="fig_morfolog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783080"/>
            <a:ext cx="6675120" cy="3304774"/>
          </a:xfrm>
          <a:prstGeom prst="rect">
            <a:avLst/>
          </a:prstGeom>
        </p:spPr>
      </p:pic>
      <p:pic>
        <p:nvPicPr>
          <p:cNvPr id="6" name="Picture 5" descr="fig_v48_58_regia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3760" y="1828800"/>
            <a:ext cx="4480560" cy="219781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223760" y="4343400"/>
            <a:ext cx="438912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800"/>
              </a:spcAft>
            </a:pPr>
            <a:r>
              <a:rPr sz="1250" b="1" i="0">
                <a:solidFill>
                  <a:srgbClr val="1C7293"/>
                </a:solidFill>
                <a:latin typeface="Calibri"/>
              </a:rPr>
              <a:t>▪  </a:t>
            </a:r>
            <a:r>
              <a:rPr sz="1250" b="1" i="0">
                <a:solidFill>
                  <a:srgbClr val="0E2A47"/>
                </a:solidFill>
                <a:latin typeface="Calibri"/>
              </a:rPr>
              <a:t>Soma V00048–V00058  </a:t>
            </a:r>
            <a:r>
              <a:rPr sz="1250" b="0" i="0">
                <a:solidFill>
                  <a:srgbClr val="0E2A47"/>
                </a:solidFill>
                <a:latin typeface="Calibri"/>
              </a:rPr>
              <a:t>— 21% (Norte) a 38% (Sul), mas é puxada pelo apartamento, não por precariedade.</a:t>
            </a:r>
          </a:p>
          <a:p>
            <a:pPr>
              <a:lnSpc>
                <a:spcPct val="104000"/>
              </a:lnSpc>
              <a:spcAft>
                <a:spcPts val="800"/>
              </a:spcAft>
            </a:pPr>
            <a:r>
              <a:rPr sz="1250" b="1" i="0">
                <a:solidFill>
                  <a:srgbClr val="1C7293"/>
                </a:solidFill>
                <a:latin typeface="Calibri"/>
              </a:rPr>
              <a:t>▪  </a:t>
            </a:r>
            <a:r>
              <a:rPr sz="1250" b="1" i="0">
                <a:solidFill>
                  <a:srgbClr val="0E2A47"/>
                </a:solidFill>
                <a:latin typeface="Calibri"/>
              </a:rPr>
              <a:t>Leitura cuidadosa  </a:t>
            </a:r>
            <a:r>
              <a:rPr sz="1250" b="0" i="0">
                <a:solidFill>
                  <a:srgbClr val="0E2A47"/>
                </a:solidFill>
                <a:latin typeface="Calibri"/>
              </a:rPr>
              <a:t>— como inclui moradia adequada (apto/condomínio), a soma reflete verticalização urbana, não vulnerabilidade.</a:t>
            </a:r>
          </a:p>
          <a:p>
            <a:pPr>
              <a:lnSpc>
                <a:spcPct val="104000"/>
              </a:lnSpc>
              <a:spcAft>
                <a:spcPts val="800"/>
              </a:spcAft>
            </a:pPr>
            <a:r>
              <a:rPr sz="1250" b="1" i="0">
                <a:solidFill>
                  <a:srgbClr val="1C7293"/>
                </a:solidFill>
                <a:latin typeface="Calibri"/>
              </a:rPr>
              <a:t>▪  </a:t>
            </a:r>
            <a:r>
              <a:rPr sz="1250" b="1" i="0">
                <a:solidFill>
                  <a:srgbClr val="0E2A47"/>
                </a:solidFill>
                <a:latin typeface="Calibri"/>
              </a:rPr>
              <a:t>Para precariedade  </a:t>
            </a:r>
            <a:r>
              <a:rPr sz="1250" b="0" i="0">
                <a:solidFill>
                  <a:srgbClr val="0E2A47"/>
                </a:solidFill>
                <a:latin typeface="Calibri"/>
              </a:rPr>
              <a:t>— usar o subconjunto V00050+V00052+V00053–V00058 (indicador pct_hab_precaria, seção 7b).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</TotalTime>
  <Words>3259</Words>
  <Application>Microsoft Office PowerPoint</Application>
  <PresentationFormat>Widescreen</PresentationFormat>
  <Paragraphs>392</Paragraphs>
  <Slides>25</Slides>
  <Notes>25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25</vt:i4>
      </vt:variant>
    </vt:vector>
  </HeadingPairs>
  <TitlesOfParts>
    <vt:vector size="29" baseType="lpstr">
      <vt:lpstr>Arial</vt:lpstr>
      <vt:lpstr>Calibri</vt:lpstr>
      <vt:lpstr>Georgia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PEDRO DIAS SOARES</cp:lastModifiedBy>
  <cp:revision>3</cp:revision>
  <dcterms:created xsi:type="dcterms:W3CDTF">2013-01-27T09:14:16Z</dcterms:created>
  <dcterms:modified xsi:type="dcterms:W3CDTF">2026-06-18T21:38:45Z</dcterms:modified>
  <cp:category/>
</cp:coreProperties>
</file>