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Apresentacao da EDA da Fase 3 do projeto IVS/Censo 2022 sobre os 70 municipios do ELSI-Brasil. Cobre as 7 variaveis-componente do IVS-BH 2012 e 6 demandas adicionais solicitadas. Base: 109.032 setores, 106.281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em seis blocos: contexto, metodologia, atualizacoes, EDA dos 7 componentes, as 6 demandas novas e a discussao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projeto reproduz o IVS-BH 2012 para o Censo 2022, restrito aos 70 municipios do ELSI. Unidade: setor censitario. Hipotese central: gradiente centro-periferia. Sete variaveis em duas dimensoes.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Oito CSVs do Censo (2,4 GB) lidos por colunas e filtrados pelos 70 municipios via chave UF+nome. Dicionario oficial do IBGE versionado no repo. Sigilo "X" preservado na base bruta.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Denominador V00001 (DPPO). Classificacao Dados_sig: 106.281 OK (97,5%), 2.751 sigilosos, 0 coletivo/zerado. Sigilo X vira NaN; min_count=1 preserva NaN quando tudo e sigiloso. Proporcoes brutas; mediana/IQR pela assimetria.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de atualizacoes: dicionario oficial versionado, correcao/auditoria do lixo (cacamba mantida como inadequada por fidelidade ao IVS-BH 2012), 5 novas variaveis descritivas e base de 47-&gt;58 colunas.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Caso ilustrativo de governanca metodologica: a cacamba (V00398) parece coleta adequada pela otica moderna, mas o IVS-BH 2012 a conta como inadequada. A mudanca foi revertida apos auditoria do Calculo IVS2012.docx. Licao: conferir a fonte antes de mudar a metodologia.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109.032 setores nos 70 municipios; 106.281 OK (97,5%). Sudeste concentra 26 municipios. Nenhum setor coletivo/zerado (caem em sigiloso). Taxa de elegibilidade comparavel ao IVS-BH original.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sete variaveis do IVS-BH 2012 operacionalizadas para o Censo 2022. Tres de saneamento, quatro socioeconomicas. Renda e a unica invertida. Denominador domiciliar V00001.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Saneamento: mediana zero, assimetria 2-3, "dois regimes" (norma urbana ~0 e bolsoes ~1). Renda: media 4.141 vs mediana 2.546 (concentracao). Analfabetismo n=89.527 (sigilo). Raca/cor: unica simetrica (assimetria -0,39).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Histogramas confirmam: saneamento bimodal (massa em zero + bolsoes), razao de moradores quase normal, renda com cauda extrema, raca/cor distribuida.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Boxplots por regiao mostram o gradiente Norte-&gt;Sul. Norte com piores condicoes de agua/esgoto e maior densidade. Outliers de saneamento sao esperados.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regra IQR rotula ~20% de agua/esgoto/lixo como outliers, mas e artefato da distribuicao zero-inflada (P25=mediana=0). Nao excluir: os bolsoes sao o objeto do estudo. Renda tem outliers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Missing concentrado no analfabetismo (15,8% de sigilo em V00901), sobretudo em capitais (Sao Caetano 30%, Porto Alegre 27%). Demais variaveis &gt;=99%. O sigilo introduz vies contra grandes cidades.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Spearman: eixo socioeconomico dominante (renda x raca -0,81). Saneamento forma bloco coeso. Estrutura de dois fatores sustenta o desenho da analise fatorial. Spearman pela assimetria.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seis demandas adicionais solicitadas, todas implementadas como variaveis/tabelas descritivas (fora dos 7 componentes do IVS, pendentes de decisao da orientadora para entrarem no indice).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Cobertura 100%: 41,6% dos setores tem os tres servicos de saneamento plenamente adequados. Coleta de lixo 91,5% (com cacamba). Dados completos 84,2% (limite do sigilo). Norte 4,4% vs Sudeste 52,3% nos 3 servicos.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Domicilios improvisados = V00002 (nao o V00052, que e permanente degradado). Muito raro (0,8% dos setores). A variavel ampla "habitacao precaria" (cortico+degradado+improvisados) tem media 0,65% e e fenomeno metropolitano, nao rural.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SITUACAO ja vem como texto Urbana/Rural. 97,5% dos setores urbanos (99,1% dos domicilios). Norte com mais rural (7,1%). 9 municipios 100% urbanos; Autazes/AM majoritariamente rural.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 banheiro: V00495 (sem banheiro privativo completo, media 0,45%) e V00238 (privacao extrema, 0,04%). Gradiente Norte-rural (Norte 3,5%; Portel 61,9%), alinhado a agua/esgoto - diferente da habitacao precaria, que e metropolitana.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Chefia feminina (V01063): 10,26 milhoes de responsaveis femininas, 52,7% do total (maioria). Mais alto no Nordeste (55%) e capitais; mais baixo em pequenos municipios rurais. Contagens por municipio/regiao exportadas.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Estrutura etaria: 2,93 mi criancas &lt;5 e 8,75 mi idosos 60+ (indice de envelhecimento ~299). Sul/Sudeste muito envelhecidos (Sao Caetano 548), Norte jovem (Portel 56). Relevante para o ELSI (foco em idosos).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Tabela-resumo das 6 demandas: variavel IBGE, onde foi implementada na pipeline e o resultado-chave. Todas descritivas, fora do IVS-7.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Discussao: gradiente Norte-Sul confirmado; dois eixos (socioeconomico e saneamento); precariedade com geografias distintas (saneamento rural vs improvisados metropolitano); envelhecimento avancado (indice 299); chefia feminina majoritaria.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Limitacoes: sigilo no analfabetismo (vies contra capitais); variaveis novas esparsas; cacamba mantida como inadequada (fidelidade IVS-BH); poco artesiano e fronteira a testar; falacia ecologica inerente ao delineamento.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Proximos passos: normalizacao de renda por municipio, analise fatorial (Spearman, KMO/Bartlett), calculo do IVS final e categorizacao, decisao sobre as variaveis descritivas, e mapas no QGIS.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Encerramento: EDA reprodutivel cobrindo 7 componentes + 6 demandas, auditada contra o dicionario oficial. Proximo marco: normalizacao de renda, analise fatorial e IVS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82296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A896"/>
                </a:solidFill>
                <a:latin typeface="Calibri"/>
              </a:rPr>
              <a:t>ÍNDICE DE VULNERABILIDADE À SAÚDE (IVS) INTRAURBANO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82880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Análise Exploratória de Dados — Fase 3</a:t>
            </a:r>
          </a:p>
          <a:p>
            <a:pPr algn="l">
              <a:spcBef>
                <a:spcPts val="800"/>
              </a:spcBef>
            </a:pPr>
            <a:r>
              <a:rPr sz="2100" b="0" i="0">
                <a:solidFill>
                  <a:srgbClr val="CADCFC"/>
                </a:solidFill>
                <a:latin typeface="Georgia"/>
              </a:rPr>
              <a:t>Censo Demográfico 2022 · 70 municípios do ELSI-Brasil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8348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CADCFC"/>
                </a:solidFill>
                <a:latin typeface="Calibri"/>
              </a:rPr>
              <a:t>Inclui as 7 variáveis-componente do IVS e 6 demandas adicionais </a:t>
            </a:r>
            <a:r>
              <a:rPr sz="1450" b="0" i="1">
                <a:solidFill>
                  <a:srgbClr val="9FB6D6"/>
                </a:solidFill>
                <a:latin typeface="Calibri"/>
              </a:rPr>
              <a:t>(cobertura, domicílios improvisados, urbano/rural, sem banheiro, chefia feminina, estrutura etária)</a:t>
            </a:r>
          </a:p>
          <a:p>
            <a:pPr algn="l">
              <a:spcBef>
                <a:spcPts val="1000"/>
              </a:spcBef>
            </a:pPr>
            <a:r>
              <a:rPr sz="1300" b="0" i="0">
                <a:solidFill>
                  <a:srgbClr val="8FA8C8"/>
                </a:solidFill>
                <a:latin typeface="Calibri"/>
              </a:rPr>
              <a:t>Pedro Dias Soares  ·  Iniciação Científica — Fiocruz Minas / IRR  ·  Junho/2026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7293"/>
                </a:solidFill>
                <a:latin typeface="Calibri"/>
              </a:rPr>
              <a:t>ROTEIRO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A47"/>
                </a:solidFill>
                <a:latin typeface="Georgia"/>
              </a:rPr>
              <a:t>O que esta apresentação cobre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0E2A47"/>
                </a:solidFill>
                <a:latin typeface="Calibri"/>
              </a:rPr>
              <a:t>Contexto e base de dados  </a:t>
            </a:r>
            <a:r>
              <a:rPr sz="1600" b="0" i="0">
                <a:solidFill>
                  <a:srgbClr val="0E2A47"/>
                </a:solidFill>
                <a:latin typeface="Calibri"/>
              </a:rPr>
              <a:t>— projeto IVS, ELSI-Brasil, Censo 2022, dicionário oficial IBGE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0E2A47"/>
                </a:solidFill>
                <a:latin typeface="Calibri"/>
              </a:rPr>
              <a:t>Metodologia da EDA  </a:t>
            </a:r>
            <a:r>
              <a:rPr sz="1600" b="0" i="0">
                <a:solidFill>
                  <a:srgbClr val="0E2A47"/>
                </a:solidFill>
                <a:latin typeface="Calibri"/>
              </a:rPr>
              <a:t>— denominador V00001, elegibilidade Dados_sig, tratamento de sigilo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0E2A47"/>
                </a:solidFill>
                <a:latin typeface="Calibri"/>
              </a:rPr>
              <a:t>Atualizações recentes  </a:t>
            </a:r>
            <a:r>
              <a:rPr sz="1600" b="0" i="0">
                <a:solidFill>
                  <a:srgbClr val="0E2A47"/>
                </a:solidFill>
                <a:latin typeface="Calibri"/>
              </a:rPr>
              <a:t>— correção do lixo (caçamba), 5 novas variáveis, base 47→58 colunas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0E2A47"/>
                </a:solidFill>
                <a:latin typeface="Calibri"/>
              </a:rPr>
              <a:t>EDA das 7 variáveis do IVS  </a:t>
            </a:r>
            <a:r>
              <a:rPr sz="1600" b="0" i="0">
                <a:solidFill>
                  <a:srgbClr val="0E2A47"/>
                </a:solidFill>
                <a:latin typeface="Calibri"/>
              </a:rPr>
              <a:t>— descritivas, distribuições, outliers, missing, correlações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0E2A47"/>
                </a:solidFill>
                <a:latin typeface="Calibri"/>
              </a:rPr>
              <a:t>6 demandas adicionais  </a:t>
            </a:r>
            <a:r>
              <a:rPr sz="1600" b="0" i="0">
                <a:solidFill>
                  <a:srgbClr val="0E2A47"/>
                </a:solidFill>
                <a:latin typeface="Calibri"/>
              </a:rPr>
              <a:t>— cobertura, improvisados, urbano/rural, banheiro, chefia feminina, idade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0E2A47"/>
                </a:solidFill>
                <a:latin typeface="Calibri"/>
              </a:rPr>
              <a:t>Discussão, limitações e próximos passos  </a:t>
            </a:r>
            <a:r>
              <a:rPr sz="1600" b="0" i="0">
                <a:solidFill>
                  <a:srgbClr val="0E2A47"/>
                </a:solidFill>
                <a:latin typeface="Calibri"/>
              </a:rPr>
              <a:t>— rumo ao cálculo do IVS final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7293"/>
                </a:solidFill>
                <a:latin typeface="Calibri"/>
              </a:rP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A47"/>
                </a:solidFill>
                <a:latin typeface="Georgia"/>
              </a:rPr>
              <a:t>O projeto IVS intraurbano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5A6B7B"/>
                </a:solidFill>
                <a:latin typeface="Calibri"/>
              </a:rPr>
              <a:t>Estudo ecológico que mede desigualdades de saúde DENTRO de cada cidade, no nível do setor censitário.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0E2A47"/>
                </a:solidFill>
                <a:latin typeface="Calibri"/>
              </a:rPr>
              <a:t>Objetivo  </a:t>
            </a:r>
            <a:r>
              <a:rPr sz="1450" b="0" i="0">
                <a:solidFill>
                  <a:srgbClr val="0E2A47"/>
                </a:solidFill>
                <a:latin typeface="Calibri"/>
              </a:rPr>
              <a:t>— construir um Índice de Vulnerabilidade à Saúde para os 70 municípios da amostra do ELSI-Brasil (Estudo Longitudinal da Saúde dos Idosos).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0E2A47"/>
                </a:solidFill>
                <a:latin typeface="Calibri"/>
              </a:rPr>
              <a:t>Referência  </a:t>
            </a:r>
            <a:r>
              <a:rPr sz="1450" b="0" i="0">
                <a:solidFill>
                  <a:srgbClr val="0E2A47"/>
                </a:solidFill>
                <a:latin typeface="Calibri"/>
              </a:rPr>
              <a:t>— metodologia do IVS-BH 2012 (SMS-BH), reproduzida para o Censo 2022.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0E2A47"/>
                </a:solidFill>
                <a:latin typeface="Calibri"/>
              </a:rPr>
              <a:t>Unidade de análise  </a:t>
            </a:r>
            <a:r>
              <a:rPr sz="1450" b="0" i="0">
                <a:solidFill>
                  <a:srgbClr val="0E2A47"/>
                </a:solidFill>
                <a:latin typeface="Calibri"/>
              </a:rPr>
              <a:t>— o setor censitário, menor recorte territorial do IBGE.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0E2A47"/>
                </a:solidFill>
                <a:latin typeface="Calibri"/>
              </a:rPr>
              <a:t>Hipótese  </a:t>
            </a:r>
            <a:r>
              <a:rPr sz="1450" b="0" i="0">
                <a:solidFill>
                  <a:srgbClr val="0E2A47"/>
                </a:solidFill>
                <a:latin typeface="Calibri"/>
              </a:rPr>
              <a:t>— padrão centro-periferia: setores periféricos mais vulneráveis.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0E2A47"/>
                </a:solidFill>
                <a:latin typeface="Calibri"/>
              </a:rPr>
              <a:t>Dimensões  </a:t>
            </a:r>
            <a:r>
              <a:rPr sz="1450" b="0" i="0">
                <a:solidFill>
                  <a:srgbClr val="0E2A47"/>
                </a:solidFill>
                <a:latin typeface="Calibri"/>
              </a:rPr>
              <a:t>— saneamento (3 var.) + socioeconômica (4 var.) = 7 componentes.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2011680"/>
            <a:ext cx="2331720" cy="150876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2157984"/>
            <a:ext cx="23317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300" b="1" i="0">
                <a:solidFill>
                  <a:srgbClr val="1C7293"/>
                </a:solidFill>
                <a:latin typeface="Georgia"/>
              </a:rPr>
              <a:t>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843784"/>
            <a:ext cx="2148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6B7B"/>
                </a:solidFill>
                <a:latin typeface="Calibri"/>
              </a:rPr>
              <a:t>municípios ELSI-Brasil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5480" y="2011680"/>
            <a:ext cx="2011680" cy="150876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55480" y="2157984"/>
            <a:ext cx="2011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300" b="1" i="0">
                <a:solidFill>
                  <a:srgbClr val="00A896"/>
                </a:solidFill>
                <a:latin typeface="Georgia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2843784"/>
            <a:ext cx="1828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6B7B"/>
                </a:solidFill>
                <a:latin typeface="Calibri"/>
              </a:rPr>
              <a:t>regiões do país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3703320"/>
            <a:ext cx="2331720" cy="150876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3849624"/>
            <a:ext cx="23317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300" b="1" i="0">
                <a:solidFill>
                  <a:srgbClr val="0E2A47"/>
                </a:solidFill>
                <a:latin typeface="Georgia"/>
              </a:rPr>
              <a:t>109.032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4535424"/>
            <a:ext cx="2148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6B7B"/>
                </a:solidFill>
                <a:latin typeface="Calibri"/>
              </a:rPr>
              <a:t>setores censitários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55480" y="3703320"/>
            <a:ext cx="2011680" cy="150876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3849624"/>
            <a:ext cx="2011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300" b="1" i="0">
                <a:solidFill>
                  <a:srgbClr val="E0A458"/>
                </a:solidFill>
                <a:latin typeface="Georgia"/>
              </a:rPr>
              <a:t>2022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4535424"/>
            <a:ext cx="1828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6B7B"/>
                </a:solidFill>
                <a:latin typeface="Calibri"/>
              </a:rPr>
              <a:t>Censo IBGE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7293"/>
                </a:solidFill>
                <a:latin typeface="Calibri"/>
              </a:rPr>
              <a:t>INSUMOS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A47"/>
                </a:solidFill>
                <a:latin typeface="Georgia"/>
              </a:rPr>
              <a:t>A base de dados do Censo 2022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5A6B7B"/>
                </a:solidFill>
                <a:latin typeface="Calibri"/>
              </a:rPr>
              <a:t>Agregados por Setores Censitários (IBGE) — 8 arquivos CSV, lidos por colunas e filtrados pelos 70 municípios.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4922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0E2A47"/>
                </a:solidFill>
                <a:latin typeface="Calibri"/>
              </a:rPr>
              <a:t>8 arquivos do IBGE  </a:t>
            </a:r>
            <a:r>
              <a:rPr sz="1450" b="0" i="0">
                <a:solidFill>
                  <a:srgbClr val="0E2A47"/>
                </a:solidFill>
                <a:latin typeface="Calibri"/>
              </a:rPr>
              <a:t>— básico, domicílio 1 e 2, alfabetização, cor/raça, renda, demografia, parentesco.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0E2A47"/>
                </a:solidFill>
                <a:latin typeface="Calibri"/>
              </a:rPr>
              <a:t>Filtro ELSI  </a:t>
            </a:r>
            <a:r>
              <a:rPr sz="1450" b="0" i="0">
                <a:solidFill>
                  <a:srgbClr val="0E2A47"/>
                </a:solidFill>
                <a:latin typeface="Calibri"/>
              </a:rPr>
              <a:t>— chave (UF + nome normalizado) localiza os 70 municípios; leitura em chunks p/ conter RAM.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0E2A47"/>
                </a:solidFill>
                <a:latin typeface="Calibri"/>
              </a:rPr>
              <a:t>Dicionário oficial  </a:t>
            </a:r>
            <a:r>
              <a:rPr sz="1450" b="0" i="0">
                <a:solidFill>
                  <a:srgbClr val="0E2A47"/>
                </a:solidFill>
                <a:latin typeface="Calibri"/>
              </a:rPr>
              <a:t>— baixado do FTP do IBGE e versionado no repositório (fonte de verdade das variáveis).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0E2A47"/>
                </a:solidFill>
                <a:latin typeface="Calibri"/>
              </a:rPr>
              <a:t>Sigilo preservado  </a:t>
            </a:r>
            <a:r>
              <a:rPr sz="1450" b="0" i="0">
                <a:solidFill>
                  <a:srgbClr val="0E2A47"/>
                </a:solidFill>
                <a:latin typeface="Calibri"/>
              </a:rPr>
              <a:t>— marcador "X" do IBGE mantido na base bruta; tratado só na EDA.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0E2A47"/>
                </a:solidFill>
                <a:latin typeface="Calibri"/>
              </a:rPr>
              <a:t>Base unificada  </a:t>
            </a:r>
            <a:r>
              <a:rPr sz="1450" b="0" i="0">
                <a:solidFill>
                  <a:srgbClr val="0E2A47"/>
                </a:solidFill>
                <a:latin typeface="Calibri"/>
              </a:rPr>
              <a:t>— Base_ELSI_Bruta_Censo2022.csv, hoje com 58 colunas.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2011680"/>
            <a:ext cx="1920240" cy="146304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2157984"/>
            <a:ext cx="19202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300" b="1" i="0">
                <a:solidFill>
                  <a:srgbClr val="5A6B7B"/>
                </a:solidFill>
                <a:latin typeface="Georgia"/>
              </a:rPr>
              <a:t>~2,4 GB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19" y="2798064"/>
            <a:ext cx="1737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6B7B"/>
                </a:solidFill>
                <a:latin typeface="Calibri"/>
              </a:rPr>
              <a:t>CSVs brutos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5480" y="2011680"/>
            <a:ext cx="2011680" cy="146304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55480" y="2157984"/>
            <a:ext cx="2011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300" b="1" i="0">
                <a:solidFill>
                  <a:srgbClr val="1C7293"/>
                </a:solidFill>
                <a:latin typeface="Georgia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2798064"/>
            <a:ext cx="1828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6B7B"/>
                </a:solidFill>
                <a:latin typeface="Calibri"/>
              </a:rPr>
              <a:t>arquivos-fonte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3611880"/>
            <a:ext cx="1920240" cy="146304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3758184"/>
            <a:ext cx="19202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300" b="1" i="0">
                <a:solidFill>
                  <a:srgbClr val="00A896"/>
                </a:solidFill>
                <a:latin typeface="Georgia"/>
              </a:rPr>
              <a:t>58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4398264"/>
            <a:ext cx="1737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6B7B"/>
                </a:solidFill>
                <a:latin typeface="Calibri"/>
              </a:rPr>
              <a:t>colunas na base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55480" y="3611880"/>
            <a:ext cx="2011680" cy="146304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3758184"/>
            <a:ext cx="2011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300" b="1" i="0">
                <a:solidFill>
                  <a:srgbClr val="0E2A47"/>
                </a:solidFill>
                <a:latin typeface="Georgia"/>
              </a:rPr>
              <a:t>17 MB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4398264"/>
            <a:ext cx="1828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6B7B"/>
                </a:solidFill>
                <a:latin typeface="Calibri"/>
              </a:rPr>
              <a:t>base filtrada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7293"/>
                </a:solidFill>
                <a:latin typeface="Calibri"/>
              </a:rPr>
              <a:t>METODOLOGIA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A47"/>
                </a:solidFill>
                <a:latin typeface="Georgia"/>
              </a:rPr>
              <a:t>Como a EDA trata os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E2A47"/>
                </a:solidFill>
                <a:latin typeface="Calibri"/>
              </a:rPr>
              <a:t>Denominador domiciliar V00001  </a:t>
            </a:r>
            <a:r>
              <a:rPr sz="1400" b="0" i="0">
                <a:solidFill>
                  <a:srgbClr val="0E2A47"/>
                </a:solidFill>
                <a:latin typeface="Calibri"/>
              </a:rPr>
              <a:t>— Domicílios Particulares Permanentes Ocupados (DPPO); equivalente ao V002 do Censo 2010, padrão do IVS-BH. O V01042 (contagem de pessoas) foi descartado como denominador.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E2A47"/>
                </a:solidFill>
                <a:latin typeface="Calibri"/>
              </a:rPr>
              <a:t>Elegibilidade Dados_sig  </a:t>
            </a:r>
            <a:r>
              <a:rPr sz="1400" b="0" i="0">
                <a:solidFill>
                  <a:srgbClr val="0E2A47"/>
                </a:solidFill>
                <a:latin typeface="Calibri"/>
              </a:rPr>
              <a:t>— cada setor é classificado em OK / SIGILOSO / COLETIVO / ZERADO. Só os OK entram nas análises.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E2A47"/>
                </a:solidFill>
                <a:latin typeface="Calibri"/>
              </a:rPr>
              <a:t>Tratamento de sigilo  </a:t>
            </a:r>
            <a:r>
              <a:rPr sz="1400" b="0" i="0">
                <a:solidFill>
                  <a:srgbClr val="0E2A47"/>
                </a:solidFill>
                <a:latin typeface="Calibri"/>
              </a:rPr>
              <a:t>— o "X" do IBGE vira NaN; proporções viram NaN apenas se TODAS as parcelas estão sigilosas (min_count=1), preservando a transparência.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E2A47"/>
                </a:solidFill>
                <a:latin typeface="Calibri"/>
              </a:rPr>
              <a:t>Proporções brutas  </a:t>
            </a:r>
            <a:r>
              <a:rPr sz="1400" b="0" i="0">
                <a:solidFill>
                  <a:srgbClr val="0E2A47"/>
                </a:solidFill>
                <a:latin typeface="Calibri"/>
              </a:rPr>
              <a:t>— para a EDA usam-se as proporções 0–1 sem normalização; a padronização min-max fica para o cálculo do índice.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E2A47"/>
                </a:solidFill>
                <a:latin typeface="Calibri"/>
              </a:rPr>
              <a:t>Estatística robusta  </a:t>
            </a:r>
            <a:r>
              <a:rPr sz="1400" b="0" i="0">
                <a:solidFill>
                  <a:srgbClr val="0E2A47"/>
                </a:solidFill>
                <a:latin typeface="Calibri"/>
              </a:rPr>
              <a:t>— relatam-se mediana e IQR (além de média/DP), mais adequados à forte assimetria.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754880" cy="548640"/>
          </a:xfrm>
          <a:prstGeom prst="roundRect">
            <a:avLst>
              <a:gd name="adj" fmla="val 18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101600" rIns="101600"/>
          <a:lstStyle/>
          <a:p>
            <a:pPr algn="ctr"/>
            <a:r>
              <a:rPr sz="1300" b="1" i="0">
                <a:solidFill>
                  <a:srgbClr val="0E2A47"/>
                </a:solidFill>
                <a:latin typeface="Calibri"/>
              </a:rPr>
              <a:t>106.281 setores OK  (97,48% dos 109.032)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5897880"/>
            <a:ext cx="2743200" cy="548640"/>
          </a:xfrm>
          <a:prstGeom prst="roundRect">
            <a:avLst>
              <a:gd name="adj" fmla="val 18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 lIns="101600" rIns="101600"/>
          <a:lstStyle/>
          <a:p>
            <a:pPr algn="ctr"/>
            <a:r>
              <a:rPr sz="1300" b="1" i="0">
                <a:solidFill>
                  <a:srgbClr val="0E2A47"/>
                </a:solidFill>
                <a:latin typeface="Calibri"/>
              </a:rPr>
              <a:t>2.751 SIGILOSO (2,52%)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2194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00A896"/>
                </a:solidFill>
                <a:latin typeface="Georgia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2860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/>
              </a:rPr>
              <a:t>Atualizações recentes do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383280"/>
            <a:ext cx="104241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 i="0">
                <a:solidFill>
                  <a:srgbClr val="00A896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Dicionário oficial do IBGE versionado  </a:t>
            </a:r>
            <a:r>
              <a:rPr sz="1500" b="0" i="0">
                <a:solidFill>
                  <a:srgbClr val="0E2A47"/>
                </a:solidFill>
                <a:latin typeface="Calibri"/>
              </a:rPr>
              <a:t>— resolve a lacuna de reprodutibilidade; confirma os códigos das variáveis.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 i="0">
                <a:solidFill>
                  <a:srgbClr val="00A896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Correção crítica do lixo  </a:t>
            </a:r>
            <a:r>
              <a:rPr sz="1500" b="0" i="0">
                <a:solidFill>
                  <a:srgbClr val="0E2A47"/>
                </a:solidFill>
                <a:latin typeface="Calibri"/>
              </a:rPr>
              <a:t>— auditoria contra o IVS-BH 2012 manteve a caçamba (V00398) como inadequada.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 i="0">
                <a:solidFill>
                  <a:srgbClr val="00A896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5 novas variáveis descritivas  </a:t>
            </a:r>
            <a:r>
              <a:rPr sz="1500" b="0" i="0">
                <a:solidFill>
                  <a:srgbClr val="0E2A47"/>
                </a:solidFill>
                <a:latin typeface="Calibri"/>
              </a:rPr>
              <a:t>— habitação precária, sem banheiro, chefia feminina, crianças e idosos.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 i="0">
                <a:solidFill>
                  <a:srgbClr val="00A896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Base ampliada  </a:t>
            </a:r>
            <a:r>
              <a:rPr sz="1500" b="0" i="0">
                <a:solidFill>
                  <a:srgbClr val="0E2A47"/>
                </a:solidFill>
                <a:latin typeface="Calibri"/>
              </a:rPr>
              <a:t>— de 47 para 58 colunas; 7 componentes do IVS permanecem byte-idênticos.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7293"/>
                </a:solidFill>
                <a:latin typeface="Calibri"/>
              </a:rPr>
              <a:t>AUDITORIA METODOLÓGICA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A47"/>
                </a:solidFill>
                <a:latin typeface="Georgia"/>
              </a:rPr>
              <a:t>O caso da caçamba (V00398)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5A6B7B"/>
                </a:solidFill>
                <a:latin typeface="Calibri"/>
              </a:rPr>
              <a:t>Verificar o documento-fonte antes de redefinir uma variável.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0E2A47"/>
                </a:solidFill>
                <a:latin typeface="Calibri"/>
              </a:rPr>
              <a:t>A categoria </a:t>
            </a:r>
            <a:r>
              <a:rPr sz="1400" b="1" i="0">
                <a:solidFill>
                  <a:srgbClr val="0E2A47"/>
                </a:solidFill>
                <a:latin typeface="Calibri"/>
              </a:rPr>
              <a:t>V00398 (“lixo depositado em caçamba de serviço de limpeza”)</a:t>
            </a:r>
            <a:r>
              <a:rPr sz="1400" b="0" i="0">
                <a:solidFill>
                  <a:srgbClr val="0E2A47"/>
                </a:solidFill>
                <a:latin typeface="Calibri"/>
              </a:rPr>
              <a:t> foi inicialmente tratada como coleta adequada e removida do indicador. A auditoria contra o </a:t>
            </a:r>
            <a:r>
              <a:rPr sz="1400" b="1" i="0">
                <a:solidFill>
                  <a:srgbClr val="1C7293"/>
                </a:solidFill>
                <a:latin typeface="Calibri"/>
              </a:rPr>
              <a:t>Cálculo IVS2012.docx (Tabela 3)</a:t>
            </a:r>
            <a:r>
              <a:rPr sz="1400" b="0" i="0">
                <a:solidFill>
                  <a:srgbClr val="0E2A47"/>
                </a:solidFill>
                <a:latin typeface="Calibri"/>
              </a:rPr>
              <a:t> mostrou que o IVS-BH 2012 conta a caçamba como INADEQUADA — só a coleta porta-a-porta é adequada. A mudança foi revertida.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3337560"/>
          <a:ext cx="10927078" cy="1828800"/>
        </p:xfrm>
        <a:graphic>
          <a:graphicData uri="http://schemas.openxmlformats.org/drawingml/2006/table">
            <a:tbl>
              <a:tblPr/>
              <a:tblGrid>
                <a:gridCol w="4774858"/>
                <a:gridCol w="2203780"/>
                <a:gridCol w="39484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Categoria (Censo 2022)</a:t>
                      </a:r>
                    </a:p>
                  </a:txBody>
                  <a:tcPr anchor="ctr" marT="25400" marB="25400" marL="76200" marR="76200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Variável</a:t>
                      </a:r>
                    </a:p>
                  </a:txBody>
                  <a:tcPr anchor="ctr" marT="25400" marB="25400" marL="76200" marR="76200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Classificação IVS-BH 2012</a:t>
                      </a:r>
                    </a:p>
                  </a:txBody>
                  <a:tcPr anchor="ctr" marT="25400" marB="25400" marL="76200" marR="76200">
                    <a:solidFill>
                      <a:srgbClr val="1C729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E2A47"/>
                          </a:solidFill>
                          <a:latin typeface="Calibri"/>
                        </a:rPr>
                        <a:t>Lixo coletado porta-a-porta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E2A47"/>
                          </a:solidFill>
                          <a:latin typeface="Calibri"/>
                        </a:rPr>
                        <a:t>V00397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E2A47"/>
                          </a:solidFill>
                          <a:latin typeface="Calibri"/>
                        </a:rPr>
                        <a:t>Adequada (única)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E2A47"/>
                          </a:solidFill>
                          <a:latin typeface="Calibri"/>
                        </a:rPr>
                        <a:t>Lixo em caçamba de serviço de limpeza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E2A47"/>
                          </a:solidFill>
                          <a:latin typeface="Calibri"/>
                        </a:rPr>
                        <a:t>V00398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E2A47"/>
                          </a:solidFill>
                          <a:latin typeface="Calibri"/>
                        </a:rPr>
                        <a:t>Inadequada — mantida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E2A47"/>
                          </a:solidFill>
                          <a:latin typeface="Calibri"/>
                        </a:rPr>
                        <a:t>Queimado · enterrado · jogado · outro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E2A47"/>
                          </a:solidFill>
                          <a:latin typeface="Calibri"/>
                        </a:rPr>
                        <a:t>V00399–V00402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E2A47"/>
                          </a:solidFill>
                          <a:latin typeface="Calibri"/>
                        </a:rPr>
                        <a:t>Inadequada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34924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C44E4E"/>
                </a:solidFill>
                <a:latin typeface="Calibri"/>
              </a:rPr>
              <a:t>Lição: </a:t>
            </a:r>
            <a:r>
              <a:rPr sz="1400" b="0" i="1">
                <a:solidFill>
                  <a:srgbClr val="5A6B7B"/>
                </a:solidFill>
                <a:latin typeface="Calibri"/>
              </a:rPr>
              <a:t>o que parece um “bug” pode ser uma escolha metodológica deliberada — sempre conferir o documento-fonte e o dicionário oficial antes de redefinir uma variável.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7293"/>
                </a:solidFill>
                <a:latin typeface="Calibri"/>
              </a:rPr>
              <a:t>UNIVERSO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A47"/>
                </a:solidFill>
                <a:latin typeface="Georgia"/>
              </a:rPr>
              <a:t>Universo amostral e elegibilidade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74519"/>
          <a:ext cx="6126477" cy="2176272"/>
        </p:xfrm>
        <a:graphic>
          <a:graphicData uri="http://schemas.openxmlformats.org/drawingml/2006/table">
            <a:tbl>
              <a:tblPr/>
              <a:tblGrid>
                <a:gridCol w="1801905"/>
                <a:gridCol w="900952"/>
                <a:gridCol w="1982096"/>
                <a:gridCol w="1441524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Região</a:t>
                      </a:r>
                    </a:p>
                  </a:txBody>
                  <a:tcPr anchor="ctr" marT="25400" marB="25400" marL="76200" marR="76200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Mun.</a:t>
                      </a:r>
                    </a:p>
                  </a:txBody>
                  <a:tcPr anchor="ctr" marT="25400" marB="25400" marL="76200" marR="76200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UFs</a:t>
                      </a:r>
                    </a:p>
                  </a:txBody>
                  <a:tcPr anchor="ctr" marT="25400" marB="25400" marL="76200" marR="76200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Setores</a:t>
                      </a:r>
                    </a:p>
                  </a:txBody>
                  <a:tcPr anchor="ctr" marT="25400" marB="25400" marL="76200" marR="76200">
                    <a:solidFill>
                      <a:srgbClr val="1C729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0E2A47"/>
                          </a:solidFill>
                          <a:latin typeface="Calibri"/>
                        </a:rPr>
                        <a:t>Sudeste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MG ES RJ SP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64.281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0E2A47"/>
                          </a:solidFill>
                          <a:latin typeface="Calibri"/>
                        </a:rPr>
                        <a:t>Nordeste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9 UFs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20.628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0E2A47"/>
                          </a:solidFill>
                          <a:latin typeface="Calibri"/>
                        </a:rPr>
                        <a:t>Sul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PR SC RS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7.561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0E2A47"/>
                          </a:solidFill>
                          <a:latin typeface="Calibri"/>
                        </a:rPr>
                        <a:t>Centro-Oeste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MS MT GO DF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10.171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0E2A47"/>
                          </a:solidFill>
                          <a:latin typeface="Calibri"/>
                        </a:rPr>
                        <a:t>Norte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AM PA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6.391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0E2A47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22 UFs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109.032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132320" y="1874519"/>
            <a:ext cx="2148840" cy="155448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2020823"/>
            <a:ext cx="2148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300" b="1" i="0">
                <a:solidFill>
                  <a:srgbClr val="00A896"/>
                </a:solidFill>
                <a:latin typeface="Georgia"/>
              </a:rPr>
              <a:t>106.281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2752343"/>
            <a:ext cx="1965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6B7B"/>
                </a:solidFill>
                <a:latin typeface="Calibri"/>
              </a:rPr>
              <a:t>setores OK (97,48%)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1874519"/>
            <a:ext cx="2148840" cy="155448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0" y="2020823"/>
            <a:ext cx="2148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300" b="1" i="0">
                <a:solidFill>
                  <a:srgbClr val="E0A458"/>
                </a:solidFill>
                <a:latin typeface="Georgia"/>
              </a:rPr>
              <a:t>2.751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2752343"/>
            <a:ext cx="1965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6B7B"/>
                </a:solidFill>
                <a:latin typeface="Calibri"/>
              </a:rPr>
              <a:t>sigilosos (2,52%)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657600"/>
            <a:ext cx="44805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Sudeste domina  </a:t>
            </a:r>
            <a:r>
              <a:rPr sz="1300" b="0" i="0">
                <a:solidFill>
                  <a:srgbClr val="0E2A47"/>
                </a:solidFill>
                <a:latin typeface="Calibri"/>
              </a:rPr>
              <a:t>— 26 municípios, reflete o desenho do ELSI (SP, RJ, BH).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0 coletivo / 0 zerado  </a:t>
            </a:r>
            <a:r>
              <a:rPr sz="1300" b="0" i="0">
                <a:solidFill>
                  <a:srgbClr val="0E2A47"/>
                </a:solidFill>
                <a:latin typeface="Calibri"/>
              </a:rPr>
              <a:t>— setores 100% coletivos caem em SIGILOSO.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Elegibilidade alta  </a:t>
            </a:r>
            <a:r>
              <a:rPr sz="1300" b="0" i="0">
                <a:solidFill>
                  <a:srgbClr val="0E2A47"/>
                </a:solidFill>
                <a:latin typeface="Calibri"/>
              </a:rPr>
              <a:t>— 97,5%, comparável ao IVS-BH 2012.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7293"/>
                </a:solidFill>
                <a:latin typeface="Calibri"/>
              </a:rPr>
              <a:t>COMPONENTES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A47"/>
                </a:solidFill>
                <a:latin typeface="Georgia"/>
              </a:rPr>
              <a:t>As 7 variáveis-componente do IVS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74519"/>
          <a:ext cx="10927077" cy="3657600"/>
        </p:xfrm>
        <a:graphic>
          <a:graphicData uri="http://schemas.openxmlformats.org/drawingml/2006/table">
            <a:tbl>
              <a:tblPr/>
              <a:tblGrid>
                <a:gridCol w="2090397"/>
                <a:gridCol w="3135596"/>
                <a:gridCol w="3230614"/>
                <a:gridCol w="247047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Dimensão</a:t>
                      </a:r>
                    </a:p>
                  </a:txBody>
                  <a:tcPr anchor="ctr" marT="25400" marB="25400" marL="76200" marR="76200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Variável</a:t>
                      </a:r>
                    </a:p>
                  </a:txBody>
                  <a:tcPr anchor="ctr" marT="25400" marB="25400" marL="76200" marR="76200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Numerador (Censo 2022)</a:t>
                      </a:r>
                    </a:p>
                  </a:txBody>
                  <a:tcPr anchor="ctr" marT="25400" marB="25400" marL="76200" marR="76200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Denominador</a:t>
                      </a:r>
                    </a:p>
                  </a:txBody>
                  <a:tcPr anchor="ctr" marT="25400" marB="25400" marL="76200" marR="76200">
                    <a:solidFill>
                      <a:srgbClr val="1C729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E2A47"/>
                          </a:solidFill>
                          <a:latin typeface="Calibri"/>
                        </a:rPr>
                        <a:t>Saneamento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E2A47"/>
                          </a:solidFill>
                          <a:latin typeface="Calibri"/>
                        </a:rPr>
                        <a:t>Água inadequada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E2A47"/>
                          </a:solidFill>
                          <a:latin typeface="Calibri"/>
                        </a:rPr>
                        <a:t>V00112–V00118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E2A47"/>
                          </a:solidFill>
                          <a:latin typeface="Calibri"/>
                        </a:rPr>
                        <a:t>V00001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E2A47"/>
                          </a:solidFill>
                          <a:latin typeface="Calibri"/>
                        </a:rPr>
                        <a:t>Saneamento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E2A47"/>
                          </a:solidFill>
                          <a:latin typeface="Calibri"/>
                        </a:rPr>
                        <a:t>Esgoto inadequado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E2A47"/>
                          </a:solidFill>
                          <a:latin typeface="Calibri"/>
                        </a:rPr>
                        <a:t>V00312–V00316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E2A47"/>
                          </a:solidFill>
                          <a:latin typeface="Calibri"/>
                        </a:rPr>
                        <a:t>V00001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E2A47"/>
                          </a:solidFill>
                          <a:latin typeface="Calibri"/>
                        </a:rPr>
                        <a:t>Saneamento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E2A47"/>
                          </a:solidFill>
                          <a:latin typeface="Calibri"/>
                        </a:rPr>
                        <a:t>Lixo inadequado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E2A47"/>
                          </a:solidFill>
                          <a:latin typeface="Calibri"/>
                        </a:rPr>
                        <a:t>V00398–V00402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E2A47"/>
                          </a:solidFill>
                          <a:latin typeface="Calibri"/>
                        </a:rPr>
                        <a:t>V00001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E2A47"/>
                          </a:solidFill>
                          <a:latin typeface="Calibri"/>
                        </a:rPr>
                        <a:t>Socioeconômica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E2A47"/>
                          </a:solidFill>
                          <a:latin typeface="Calibri"/>
                        </a:rPr>
                        <a:t>Razão de moradores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E2A47"/>
                          </a:solidFill>
                          <a:latin typeface="Calibri"/>
                        </a:rPr>
                        <a:t>V00005+V00006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E2A47"/>
                          </a:solidFill>
                          <a:latin typeface="Calibri"/>
                        </a:rPr>
                        <a:t>V00001+V00002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E2A47"/>
                          </a:solidFill>
                          <a:latin typeface="Calibri"/>
                        </a:rPr>
                        <a:t>Socioeconômica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E2A47"/>
                          </a:solidFill>
                          <a:latin typeface="Calibri"/>
                        </a:rPr>
                        <a:t>Analfabetismo (15+)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E2A47"/>
                          </a:solidFill>
                          <a:latin typeface="Calibri"/>
                        </a:rPr>
                        <a:t>V00901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E2A47"/>
                          </a:solidFill>
                          <a:latin typeface="Calibri"/>
                        </a:rPr>
                        <a:t>V00900+V00901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E2A47"/>
                          </a:solidFill>
                          <a:latin typeface="Calibri"/>
                        </a:rPr>
                        <a:t>Socioeconômica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E2A47"/>
                          </a:solidFill>
                          <a:latin typeface="Calibri"/>
                        </a:rPr>
                        <a:t>Renda média (invertida)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E2A47"/>
                          </a:solidFill>
                          <a:latin typeface="Calibri"/>
                        </a:rPr>
                        <a:t>V06004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E2A4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0E2A47"/>
                          </a:solidFill>
                          <a:latin typeface="Calibri"/>
                        </a:rPr>
                        <a:t>Socioeconômica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E2A47"/>
                          </a:solidFill>
                          <a:latin typeface="Calibri"/>
                        </a:rPr>
                        <a:t>% preta/parda/indígena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E2A47"/>
                          </a:solidFill>
                          <a:latin typeface="Calibri"/>
                        </a:rPr>
                        <a:t>V01318+V01320+V01321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0E2A47"/>
                          </a:solidFill>
                          <a:latin typeface="Calibri"/>
                        </a:rPr>
                        <a:t>v0001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A6B7B"/>
                </a:solidFill>
                <a:latin typeface="Calibri"/>
              </a:rPr>
              <a:t>Direção: ↑ valor = ↑ vulnerabilidade (a renda é a única invertida). Denominador padrão: V00001 (DPPO).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7293"/>
                </a:solidFill>
                <a:latin typeface="Calibri"/>
              </a:rPr>
              <a:t>EDA · DESCRITIVAS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A47"/>
                </a:solidFill>
                <a:latin typeface="Georgia"/>
              </a:rPr>
              <a:t>Descritivas globais das 7 variáveis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74519"/>
          <a:ext cx="10927077" cy="3364992"/>
        </p:xfrm>
        <a:graphic>
          <a:graphicData uri="http://schemas.openxmlformats.org/drawingml/2006/table">
            <a:tbl>
              <a:tblPr/>
              <a:tblGrid>
                <a:gridCol w="2543372"/>
                <a:gridCol w="1412984"/>
                <a:gridCol w="1507183"/>
                <a:gridCol w="1507183"/>
                <a:gridCol w="1507183"/>
                <a:gridCol w="1224586"/>
                <a:gridCol w="1224586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Variável</a:t>
                      </a:r>
                    </a:p>
                  </a:txBody>
                  <a:tcPr anchor="ctr" marT="25400" marB="25400" marL="76200" marR="76200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T="25400" marB="25400" marL="76200" marR="76200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Média</a:t>
                      </a:r>
                    </a:p>
                  </a:txBody>
                  <a:tcPr anchor="ctr" marT="25400" marB="25400" marL="76200" marR="76200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Mediana</a:t>
                      </a:r>
                    </a:p>
                  </a:txBody>
                  <a:tcPr anchor="ctr" marT="25400" marB="25400" marL="76200" marR="76200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DP</a:t>
                      </a:r>
                    </a:p>
                  </a:txBody>
                  <a:tcPr anchor="ctr" marT="25400" marB="25400" marL="76200" marR="76200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Assim.</a:t>
                      </a:r>
                    </a:p>
                  </a:txBody>
                  <a:tcPr anchor="ctr" marT="25400" marB="25400" marL="76200" marR="76200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Curt.</a:t>
                      </a:r>
                    </a:p>
                  </a:txBody>
                  <a:tcPr anchor="ctr" marT="25400" marB="25400" marL="76200" marR="76200">
                    <a:solidFill>
                      <a:srgbClr val="1C7293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E2A47"/>
                          </a:solidFill>
                          <a:latin typeface="Calibri"/>
                        </a:rPr>
                        <a:t>Água inadequada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106.281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0.083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0.221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3.07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8.5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E2A47"/>
                          </a:solidFill>
                          <a:latin typeface="Calibri"/>
                        </a:rPr>
                        <a:t>Esgoto inadequado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106.280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0.092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0.231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2.76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6.5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E2A47"/>
                          </a:solidFill>
                          <a:latin typeface="Calibri"/>
                        </a:rPr>
                        <a:t>Lixo inadequado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106.281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0.126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0.264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2.23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3.7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E2A47"/>
                          </a:solidFill>
                          <a:latin typeface="Calibri"/>
                        </a:rPr>
                        <a:t>Razão de moradores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106.281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2.698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2.716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0.399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0.09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3.9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E2A47"/>
                          </a:solidFill>
                          <a:latin typeface="Calibri"/>
                        </a:rPr>
                        <a:t>Analfabetismo (15+)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89.527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0.039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0.028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0.041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2.98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17.7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E2A47"/>
                          </a:solidFill>
                          <a:latin typeface="Calibri"/>
                        </a:rPr>
                        <a:t>Renda média (R$)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106.262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4.141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2.546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4.124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3.76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49.9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E2A47"/>
                          </a:solidFill>
                          <a:latin typeface="Calibri"/>
                        </a:rPr>
                        <a:t>Raça/cor PPI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106.279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0.53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0.576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0.229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-0.39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-0.8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8978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C7293"/>
                </a:solidFill>
                <a:latin typeface="Calibri"/>
              </a:rPr>
              <a:t>Leitura: </a:t>
            </a:r>
            <a:r>
              <a:rPr sz="1300" b="0" i="0">
                <a:solidFill>
                  <a:srgbClr val="5A6B7B"/>
                </a:solidFill>
                <a:latin typeface="Calibri"/>
              </a:rPr>
              <a:t>saneamento com mediana 0 e forte assimetria à direita (massa em zero + bolsões extremos); renda muito concentrada (média ≫ mediana); raça/cor é a única simétrica.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7293"/>
                </a:solidFill>
                <a:latin typeface="Calibri"/>
              </a:rPr>
              <a:t>EDA · DISTRIBUIÇÕES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A47"/>
                </a:solidFill>
                <a:latin typeface="Georgia"/>
              </a:rPr>
              <a:t>Histogramas das 7 variáveis</a:t>
            </a:r>
          </a:p>
        </p:txBody>
      </p:sp>
      <p:pic>
        <p:nvPicPr>
          <p:cNvPr id="5" name="Picture 4" descr="histogra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916" y="1783080"/>
            <a:ext cx="7193527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920240"/>
            <a:ext cx="32918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Saneamento  </a:t>
            </a:r>
            <a:r>
              <a:rPr sz="1300" b="0" i="0">
                <a:solidFill>
                  <a:srgbClr val="0E2A47"/>
                </a:solidFill>
                <a:latin typeface="Calibri"/>
              </a:rPr>
              <a:t>— pico em zero e cauda longa: distribuição bimodal.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Razão de moradores  </a:t>
            </a:r>
            <a:r>
              <a:rPr sz="1300" b="0" i="0">
                <a:solidFill>
                  <a:srgbClr val="0E2A47"/>
                </a:solidFill>
                <a:latin typeface="Calibri"/>
              </a:rPr>
              <a:t>— a mais simétrica (≈ normal, centro ~2,7).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Renda  </a:t>
            </a:r>
            <a:r>
              <a:rPr sz="1300" b="0" i="0">
                <a:solidFill>
                  <a:srgbClr val="0E2A47"/>
                </a:solidFill>
                <a:latin typeface="Calibri"/>
              </a:rPr>
              <a:t>— assimetria extrema, cauda até R$ 170 mil.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Analfabetismo  </a:t>
            </a:r>
            <a:r>
              <a:rPr sz="1300" b="0" i="0">
                <a:solidFill>
                  <a:srgbClr val="0E2A47"/>
                </a:solidFill>
                <a:latin typeface="Calibri"/>
              </a:rPr>
              <a:t>— concentrado &lt; 10%, com cauda.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Raça/cor  </a:t>
            </a:r>
            <a:r>
              <a:rPr sz="1300" b="0" i="0">
                <a:solidFill>
                  <a:srgbClr val="0E2A47"/>
                </a:solidFill>
                <a:latin typeface="Calibri"/>
              </a:rPr>
              <a:t>— espalhada por todo o [0,1].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7293"/>
                </a:solidFill>
                <a:latin typeface="Calibri"/>
              </a:rPr>
              <a:t>EDA · DISTRIBUIÇÕES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A47"/>
                </a:solidFill>
                <a:latin typeface="Georgia"/>
              </a:rPr>
              <a:t>Boxplots por região</a:t>
            </a:r>
          </a:p>
        </p:txBody>
      </p:sp>
      <p:pic>
        <p:nvPicPr>
          <p:cNvPr id="5" name="Picture 4" descr="boxplots_por_regi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334" y="1783080"/>
            <a:ext cx="6512691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920240"/>
            <a:ext cx="32918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Gradiente Norte→Sul  </a:t>
            </a:r>
            <a:r>
              <a:rPr sz="1300" b="0" i="0">
                <a:solidFill>
                  <a:srgbClr val="0E2A47"/>
                </a:solidFill>
                <a:latin typeface="Calibri"/>
              </a:rPr>
              <a:t>— saneamento inadequado cai do Norte para o Sul.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Norte  </a:t>
            </a:r>
            <a:r>
              <a:rPr sz="1300" b="0" i="0">
                <a:solidFill>
                  <a:srgbClr val="0E2A47"/>
                </a:solidFill>
                <a:latin typeface="Calibri"/>
              </a:rPr>
              <a:t>— maiores medianas de água/esgoto e densidade habitacional.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Sul/Sudeste  </a:t>
            </a:r>
            <a:r>
              <a:rPr sz="1300" b="0" i="0">
                <a:solidFill>
                  <a:srgbClr val="0E2A47"/>
                </a:solidFill>
                <a:latin typeface="Calibri"/>
              </a:rPr>
              <a:t>— medianas de saneamento ≈ 0.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Outliers  </a:t>
            </a:r>
            <a:r>
              <a:rPr sz="1300" b="0" i="0">
                <a:solidFill>
                  <a:srgbClr val="0E2A47"/>
                </a:solidFill>
                <a:latin typeface="Calibri"/>
              </a:rPr>
              <a:t>— numerosos no saneamento (esperado pela massa em zero).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7293"/>
                </a:solidFill>
                <a:latin typeface="Calibri"/>
              </a:rPr>
              <a:t>EDA · OUTLIERS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A47"/>
                </a:solidFill>
                <a:latin typeface="Georgia"/>
              </a:rPr>
              <a:t>Outliers pela regra do IQR (Tukey)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74519"/>
          <a:ext cx="6766558" cy="2487168"/>
        </p:xfrm>
        <a:graphic>
          <a:graphicData uri="http://schemas.openxmlformats.org/drawingml/2006/table">
            <a:tbl>
              <a:tblPr/>
              <a:tblGrid>
                <a:gridCol w="2314875"/>
                <a:gridCol w="1335505"/>
                <a:gridCol w="979370"/>
                <a:gridCol w="2136808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Variável</a:t>
                      </a:r>
                    </a:p>
                  </a:txBody>
                  <a:tcPr anchor="ctr" marT="25400" marB="25400" marL="76200" marR="76200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Outliers</a:t>
                      </a:r>
                    </a:p>
                  </a:txBody>
                  <a:tcPr anchor="ctr" marT="25400" marB="25400" marL="76200" marR="76200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% </a:t>
                      </a:r>
                    </a:p>
                  </a:txBody>
                  <a:tcPr anchor="ctr" marT="25400" marB="25400" marL="76200" marR="76200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IQR não-informativo</a:t>
                      </a:r>
                    </a:p>
                  </a:txBody>
                  <a:tcPr anchor="ctr" marT="25400" marB="25400" marL="76200" marR="76200">
                    <a:solidFill>
                      <a:srgbClr val="1C729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0E2A47"/>
                          </a:solidFill>
                          <a:latin typeface="Calibri"/>
                        </a:rPr>
                        <a:t>Água inadequada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21.476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20.2%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Sim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0E2A47"/>
                          </a:solidFill>
                          <a:latin typeface="Calibri"/>
                        </a:rPr>
                        <a:t>Esgoto inadequado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21.158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19.9%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Sim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0E2A47"/>
                          </a:solidFill>
                          <a:latin typeface="Calibri"/>
                        </a:rPr>
                        <a:t>Lixo inadequado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19.557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18.4%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Sim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0E2A47"/>
                          </a:solidFill>
                          <a:latin typeface="Calibri"/>
                        </a:rPr>
                        <a:t>Razão de moradores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3.829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3.6%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0E2A47"/>
                          </a:solidFill>
                          <a:latin typeface="Calibri"/>
                        </a:rPr>
                        <a:t>Analfabetismo (15+)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4.696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5.2%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0E2A47"/>
                          </a:solidFill>
                          <a:latin typeface="Calibri"/>
                        </a:rPr>
                        <a:t>Renda média (R$)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10.850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10.2%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0E2A47"/>
                          </a:solidFill>
                          <a:latin typeface="Calibri"/>
                        </a:rPr>
                        <a:t>Raça/cor PPI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80960" y="1920240"/>
            <a:ext cx="39319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Saneamento ~20%  </a:t>
            </a:r>
            <a:r>
              <a:rPr sz="1300" b="0" i="0">
                <a:solidFill>
                  <a:srgbClr val="0E2A47"/>
                </a:solidFill>
                <a:latin typeface="Calibri"/>
              </a:rPr>
              <a:t>— "outliers" são artefato: P25=mediana=0 colapsa o IQR.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Não excluir  </a:t>
            </a:r>
            <a:r>
              <a:rPr sz="1300" b="0" i="0">
                <a:solidFill>
                  <a:srgbClr val="0E2A47"/>
                </a:solidFill>
                <a:latin typeface="Calibri"/>
              </a:rPr>
              <a:t>— os bolsões de inadequação são o objeto de estudo, não ruído.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Usar P95  </a:t>
            </a:r>
            <a:r>
              <a:rPr sz="1300" b="0" i="0">
                <a:solidFill>
                  <a:srgbClr val="0E2A47"/>
                </a:solidFill>
                <a:latin typeface="Calibri"/>
              </a:rPr>
              <a:t>— alternativa robusta para distribuições zero-infladas.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Renda 10,2%  </a:t>
            </a:r>
            <a:r>
              <a:rPr sz="1300" b="0" i="0">
                <a:solidFill>
                  <a:srgbClr val="0E2A47"/>
                </a:solidFill>
                <a:latin typeface="Calibri"/>
              </a:rPr>
              <a:t>— outliers reais (áreas nobres); preservar.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7293"/>
                </a:solidFill>
                <a:latin typeface="Calibri"/>
              </a:rPr>
              <a:t>EDA · DADOS FALTANTES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A47"/>
                </a:solidFill>
                <a:latin typeface="Georgia"/>
              </a:rPr>
              <a:t>Cobertura e dados faltantes</a:t>
            </a:r>
          </a:p>
        </p:txBody>
      </p:sp>
      <p:pic>
        <p:nvPicPr>
          <p:cNvPr id="5" name="Picture 4" descr="missing_por_municip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297" y="1783080"/>
            <a:ext cx="3598205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1920240"/>
            <a:ext cx="52120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0E2A47"/>
                </a:solidFill>
                <a:latin typeface="Calibri"/>
              </a:rPr>
              <a:t>Analfabetismo: 15,8% de sigilo  </a:t>
            </a:r>
            <a:r>
              <a:rPr sz="1350" b="0" i="0">
                <a:solidFill>
                  <a:srgbClr val="0E2A47"/>
                </a:solidFill>
                <a:latin typeface="Calibri"/>
              </a:rPr>
              <a:t>— V00901 suprimido pelo IBGE em setores com poucos moradores 15+.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0E2A47"/>
                </a:solidFill>
                <a:latin typeface="Calibri"/>
              </a:rPr>
              <a:t>Concentrado em capitais  </a:t>
            </a:r>
            <a:r>
              <a:rPr sz="1350" b="0" i="0">
                <a:solidFill>
                  <a:srgbClr val="0E2A47"/>
                </a:solidFill>
                <a:latin typeface="Calibri"/>
              </a:rPr>
              <a:t>— São Caetano do Sul 29,7%, Porto Alegre 27,5%, Curitiba 23,1%, BH 22,5%.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0E2A47"/>
                </a:solidFill>
                <a:latin typeface="Calibri"/>
              </a:rPr>
              <a:t>Demais variáveis ≥ 99%  </a:t>
            </a:r>
            <a:r>
              <a:rPr sz="1350" b="0" i="0">
                <a:solidFill>
                  <a:srgbClr val="0E2A47"/>
                </a:solidFill>
                <a:latin typeface="Calibri"/>
              </a:rPr>
              <a:t>— cobertura quase total.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0E2A47"/>
                </a:solidFill>
                <a:latin typeface="Calibri"/>
              </a:rPr>
              <a:t>Viés sistemático  </a:t>
            </a:r>
            <a:r>
              <a:rPr sz="1350" b="0" i="0">
                <a:solidFill>
                  <a:srgbClr val="0E2A47"/>
                </a:solidFill>
                <a:latin typeface="Calibri"/>
              </a:rPr>
              <a:t>— o sigilo atinge mais as grandes cidades; tratar na construção do índice.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7293"/>
                </a:solidFill>
                <a:latin typeface="Calibri"/>
              </a:rPr>
              <a:t>EDA · CORRELAÇÕES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A47"/>
                </a:solidFill>
                <a:latin typeface="Georgia"/>
              </a:rPr>
              <a:t>Estrutura de correlações (Spearman)</a:t>
            </a:r>
          </a:p>
        </p:txBody>
      </p:sp>
      <p:pic>
        <p:nvPicPr>
          <p:cNvPr id="5" name="Picture 4" descr="matriz_correl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83080"/>
            <a:ext cx="7498079" cy="32216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46720" y="1920240"/>
            <a:ext cx="35661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0E2A47"/>
                </a:solidFill>
                <a:latin typeface="Calibri"/>
              </a:rPr>
              <a:t>Eixo socioeconômico forte  </a:t>
            </a:r>
            <a:r>
              <a:rPr sz="1250" b="0" i="0">
                <a:solidFill>
                  <a:srgbClr val="0E2A47"/>
                </a:solidFill>
                <a:latin typeface="Calibri"/>
              </a:rPr>
              <a:t>— renda × raça/cor = −0,81; renda × analfab = −0,75; analfab × raça = +0,62.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0E2A47"/>
                </a:solidFill>
                <a:latin typeface="Calibri"/>
              </a:rPr>
              <a:t>Bloco saneamento  </a:t>
            </a:r>
            <a:r>
              <a:rPr sz="1250" b="0" i="0">
                <a:solidFill>
                  <a:srgbClr val="0E2A47"/>
                </a:solidFill>
                <a:latin typeface="Calibri"/>
              </a:rPr>
              <a:t>— água/esgoto/lixo coesos (0,15–0,45).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0E2A47"/>
                </a:solidFill>
                <a:latin typeface="Calibri"/>
              </a:rPr>
              <a:t>Dois fatores latentes  </a:t>
            </a:r>
            <a:r>
              <a:rPr sz="1250" b="0" i="0">
                <a:solidFill>
                  <a:srgbClr val="0E2A47"/>
                </a:solidFill>
                <a:latin typeface="Calibri"/>
              </a:rPr>
              <a:t>— socioeconômico + saneamento, como no IVS-BH.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0E2A47"/>
                </a:solidFill>
                <a:latin typeface="Calibri"/>
              </a:rPr>
              <a:t>Implicação  </a:t>
            </a:r>
            <a:r>
              <a:rPr sz="1250" b="0" i="0">
                <a:solidFill>
                  <a:srgbClr val="0E2A47"/>
                </a:solidFill>
                <a:latin typeface="Calibri"/>
              </a:rPr>
              <a:t>— usar Spearman na análise fatorial.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2194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00A896"/>
                </a:solidFill>
                <a:latin typeface="Georgia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2860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/>
              </a:rPr>
              <a:t>As 6 demandas adicionais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383280"/>
            <a:ext cx="105156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 i="0">
                <a:solidFill>
                  <a:srgbClr val="00A896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1  Cobertura 100%  </a:t>
            </a:r>
            <a:r>
              <a:rPr sz="1500" b="0" i="0">
                <a:solidFill>
                  <a:srgbClr val="0E2A47"/>
                </a:solidFill>
                <a:latin typeface="Calibri"/>
              </a:rPr>
              <a:t>— quantos setores têm cobertura total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 i="0">
                <a:solidFill>
                  <a:srgbClr val="00A896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2  Domicílios improvisados  </a:t>
            </a:r>
            <a:r>
              <a:rPr sz="1500" b="0" i="0">
                <a:solidFill>
                  <a:srgbClr val="0E2A47"/>
                </a:solidFill>
                <a:latin typeface="Calibri"/>
              </a:rPr>
              <a:t>— % de DPIO (V00002)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 i="0">
                <a:solidFill>
                  <a:srgbClr val="00A896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3  Urbano / rural  </a:t>
            </a:r>
            <a:r>
              <a:rPr sz="1500" b="0" i="0">
                <a:solidFill>
                  <a:srgbClr val="0E2A47"/>
                </a:solidFill>
                <a:latin typeface="Calibri"/>
              </a:rPr>
              <a:t>— classificação do setor (SITUACAO)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 i="0">
                <a:solidFill>
                  <a:srgbClr val="00A896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4  Sem banheiro  </a:t>
            </a:r>
            <a:r>
              <a:rPr sz="1500" b="0" i="0">
                <a:solidFill>
                  <a:srgbClr val="0E2A47"/>
                </a:solidFill>
                <a:latin typeface="Calibri"/>
              </a:rPr>
              <a:t>— inadequação sanitária (V00495 / V00238)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 i="0">
                <a:solidFill>
                  <a:srgbClr val="00A896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5  Chefia feminina  </a:t>
            </a:r>
            <a:r>
              <a:rPr sz="1500" b="0" i="0">
                <a:solidFill>
                  <a:srgbClr val="0E2A47"/>
                </a:solidFill>
                <a:latin typeface="Calibri"/>
              </a:rPr>
              <a:t>— responsável do sexo feminino (V01063)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 i="0">
                <a:solidFill>
                  <a:srgbClr val="00A896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6  Estrutura etária  </a:t>
            </a:r>
            <a:r>
              <a:rPr sz="1500" b="0" i="0">
                <a:solidFill>
                  <a:srgbClr val="0E2A47"/>
                </a:solidFill>
                <a:latin typeface="Calibri"/>
              </a:rPr>
              <a:t>— crianças &lt;5 e idosos 60+ (V01031 / V01040+V01041)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7293"/>
                </a:solidFill>
                <a:latin typeface="Calibri"/>
              </a:rPr>
              <a:t>DEMANDA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A47"/>
                </a:solidFill>
                <a:latin typeface="Georgia"/>
              </a:rPr>
              <a:t>Cobertura — setores com 100% de adequação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5A6B7B"/>
                </a:solidFill>
                <a:latin typeface="Calibri"/>
              </a:rPr>
              <a:t>Quantos setores têm cobertura total (inadequação = 0) por critério.</a:t>
            </a:r>
          </a:p>
        </p:txBody>
      </p:sp>
      <p:pic>
        <p:nvPicPr>
          <p:cNvPr id="6" name="Picture 5" descr="fig_cober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4519"/>
            <a:ext cx="6858000" cy="33632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80960" y="1920240"/>
            <a:ext cx="39319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41,6% têm os 3 serviços  </a:t>
            </a:r>
            <a:r>
              <a:rPr sz="1300" b="0" i="0">
                <a:solidFill>
                  <a:srgbClr val="0E2A47"/>
                </a:solidFill>
                <a:latin typeface="Calibri"/>
              </a:rPr>
              <a:t>— água, esgoto e lixo simultaneamente adequados.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Coleta de lixo 91,5%  </a:t>
            </a:r>
            <a:r>
              <a:rPr sz="1300" b="0" i="0">
                <a:solidFill>
                  <a:srgbClr val="0E2A47"/>
                </a:solidFill>
                <a:latin typeface="Calibri"/>
              </a:rPr>
              <a:t>— inclui caçamba; cai p/ 61,7% só porta-a-porta.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Dados completos 84,2%  </a:t>
            </a:r>
            <a:r>
              <a:rPr sz="1300" b="0" i="0">
                <a:solidFill>
                  <a:srgbClr val="0E2A47"/>
                </a:solidFill>
                <a:latin typeface="Calibri"/>
              </a:rPr>
              <a:t>— limite imposto pelo sigilo do analfabetismo.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Gradiente regional  </a:t>
            </a:r>
            <a:r>
              <a:rPr sz="1300" b="0" i="0">
                <a:solidFill>
                  <a:srgbClr val="0E2A47"/>
                </a:solidFill>
                <a:latin typeface="Calibri"/>
              </a:rPr>
              <a:t>— Norte só 4,4% com os 3 serviços; Sudeste 52,3%.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7293"/>
                </a:solidFill>
                <a:latin typeface="Calibri"/>
              </a:rPr>
              <a:t>DEMANDA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A47"/>
                </a:solidFill>
                <a:latin typeface="Georgia"/>
              </a:rPr>
              <a:t>Domicílios particulares improvisados (DPIO)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5A6B7B"/>
                </a:solidFill>
                <a:latin typeface="Calibri"/>
              </a:rPr>
              <a:t>pct_dom_improv = V00002 / (V00001 + V00002). Confirmado: V00052 NÃO é improvisado (é permanente degradado).</a:t>
            </a:r>
          </a:p>
        </p:txBody>
      </p:sp>
      <p:pic>
        <p:nvPicPr>
          <p:cNvPr id="6" name="Picture 5" descr="fig_hab_preca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48840"/>
            <a:ext cx="6400800" cy="32155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23760" y="2057400"/>
            <a:ext cx="43891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Improvisado = V00002  </a:t>
            </a:r>
            <a:r>
              <a:rPr sz="1300" b="0" i="0">
                <a:solidFill>
                  <a:srgbClr val="0E2A47"/>
                </a:solidFill>
                <a:latin typeface="Calibri"/>
              </a:rPr>
              <a:t>— tendas, barracos, veículos, estrutura degradada não-residencial.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Muito raro  </a:t>
            </a:r>
            <a:r>
              <a:rPr sz="1300" b="0" i="0">
                <a:solidFill>
                  <a:srgbClr val="0E2A47"/>
                </a:solidFill>
                <a:latin typeface="Calibri"/>
              </a:rPr>
              <a:t>— média 0,08%; só 0,8% dos setores têm algum DPIO.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Habitação precária (gráfico)  </a:t>
            </a:r>
            <a:r>
              <a:rPr sz="1300" b="0" i="0">
                <a:solidFill>
                  <a:srgbClr val="0E2A47"/>
                </a:solidFill>
                <a:latin typeface="Calibri"/>
              </a:rPr>
              <a:t>— cortiço (V00050) + degradado (V00052) + improvisados: média 0,65%.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Padrão metropolitano  </a:t>
            </a:r>
            <a:r>
              <a:rPr sz="1300" b="0" i="0">
                <a:solidFill>
                  <a:srgbClr val="0E2A47"/>
                </a:solidFill>
                <a:latin typeface="Calibri"/>
              </a:rPr>
              <a:t>— concentra-se em Centro-Oeste/Sudeste urbanos, não no Norte rural.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7293"/>
                </a:solidFill>
                <a:latin typeface="Calibri"/>
              </a:rPr>
              <a:t>DEMANDA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A47"/>
                </a:solidFill>
                <a:latin typeface="Georgia"/>
              </a:rPr>
              <a:t>Classificação urbano / rural do setor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5A6B7B"/>
                </a:solidFill>
                <a:latin typeface="Calibri"/>
              </a:rPr>
              <a:t>Variável SITUACAO (texto pronto do IBGE). Cada domicílio herda a situação do seu setor.</a:t>
            </a:r>
          </a:p>
        </p:txBody>
      </p:sp>
      <p:pic>
        <p:nvPicPr>
          <p:cNvPr id="6" name="Picture 5" descr="fig_urbano_ru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57400"/>
            <a:ext cx="6492240" cy="320509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0" y="2011680"/>
            <a:ext cx="2103120" cy="141732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2157984"/>
            <a:ext cx="21031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300" b="1" i="0">
                <a:solidFill>
                  <a:srgbClr val="1C7293"/>
                </a:solidFill>
                <a:latin typeface="Georgia"/>
              </a:rPr>
              <a:t>97,5%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2752344"/>
            <a:ext cx="1920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6B7B"/>
                </a:solidFill>
                <a:latin typeface="Calibri"/>
              </a:rPr>
              <a:t>setores urbanos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2011680"/>
            <a:ext cx="2103120" cy="141732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0" y="2157984"/>
            <a:ext cx="21031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300" b="1" i="0">
                <a:solidFill>
                  <a:srgbClr val="E0A458"/>
                </a:solidFill>
                <a:latin typeface="Georgia"/>
              </a:rPr>
              <a:t>2,4%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2752344"/>
            <a:ext cx="1920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6B7B"/>
                </a:solidFill>
                <a:latin typeface="Calibri"/>
              </a:rPr>
              <a:t>setores rurais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657600"/>
            <a:ext cx="42976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99,1% dos domicílios urbanos  </a:t>
            </a:r>
            <a:r>
              <a:rPr sz="1300" b="0" i="0">
                <a:solidFill>
                  <a:srgbClr val="0E2A47"/>
                </a:solidFill>
                <a:latin typeface="Calibri"/>
              </a:rPr>
              <a:t>— desenho urbano do ELSI.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Norte mais rural  </a:t>
            </a:r>
            <a:r>
              <a:rPr sz="1300" b="0" i="0">
                <a:solidFill>
                  <a:srgbClr val="0E2A47"/>
                </a:solidFill>
                <a:latin typeface="Calibri"/>
              </a:rPr>
              <a:t>— 7,1% dos setores.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9 municípios 100% urbanos  </a:t>
            </a:r>
            <a:r>
              <a:rPr sz="1300" b="0" i="0">
                <a:solidFill>
                  <a:srgbClr val="0E2A47"/>
                </a:solidFill>
                <a:latin typeface="Calibri"/>
              </a:rPr>
              <a:t>; Autazes/AM é majoritariamente rural.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7293"/>
                </a:solidFill>
                <a:latin typeface="Calibri"/>
              </a:rPr>
              <a:t>DEMANDA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A47"/>
                </a:solidFill>
                <a:latin typeface="Georgia"/>
              </a:rPr>
              <a:t>Inadequação de banheiro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5A6B7B"/>
                </a:solidFill>
                <a:latin typeface="Calibri"/>
              </a:rPr>
              <a:t>Duas definições, denominador V00001. A intuição do V00485 levou ao V00495.</a:t>
            </a:r>
          </a:p>
        </p:txBody>
      </p:sp>
      <p:pic>
        <p:nvPicPr>
          <p:cNvPr id="6" name="Picture 5" descr="fig_banhei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48840"/>
            <a:ext cx="6400800" cy="32155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23760" y="2057400"/>
            <a:ext cx="43891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Sem banheiro privativo (V00495)  </a:t>
            </a:r>
            <a:r>
              <a:rPr sz="1300" b="0" i="0">
                <a:solidFill>
                  <a:srgbClr val="0E2A47"/>
                </a:solidFill>
                <a:latin typeface="Calibri"/>
              </a:rPr>
              <a:t>— sem banheiro de uso exclusivo com chuveiro e vaso; média 0,45%.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Privação extrema (V00238)  </a:t>
            </a:r>
            <a:r>
              <a:rPr sz="1300" b="0" i="0">
                <a:solidFill>
                  <a:srgbClr val="0E2A47"/>
                </a:solidFill>
                <a:latin typeface="Calibri"/>
              </a:rPr>
              <a:t>— sem banheiro nem sanitário; média 0,04%.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Gradiente Norte-rural  </a:t>
            </a:r>
            <a:r>
              <a:rPr sz="1300" b="0" i="0">
                <a:solidFill>
                  <a:srgbClr val="0E2A47"/>
                </a:solidFill>
                <a:latin typeface="Calibri"/>
              </a:rPr>
              <a:t>— Norte 3,5%; alinhado a água/esgoto.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Extremos  </a:t>
            </a:r>
            <a:r>
              <a:rPr sz="1300" b="0" i="0">
                <a:solidFill>
                  <a:srgbClr val="0E2A47"/>
                </a:solidFill>
                <a:latin typeface="Calibri"/>
              </a:rPr>
              <a:t>— Portel/PA 61,9%, Rosário/MA 34%, Autazes/AM 31%.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7293"/>
                </a:solidFill>
                <a:latin typeface="Calibri"/>
              </a:rPr>
              <a:t>DEMANDA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A47"/>
                </a:solidFill>
                <a:latin typeface="Georgia"/>
              </a:rPr>
              <a:t>Pessoa responsável do sexo feminino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5A6B7B"/>
                </a:solidFill>
                <a:latin typeface="Calibri"/>
              </a:rPr>
              <a:t>pct_resp_feminino = V01063 / (V01062 + V01063). Domicílios chefiados por mulher.</a:t>
            </a:r>
          </a:p>
        </p:txBody>
      </p:sp>
      <p:pic>
        <p:nvPicPr>
          <p:cNvPr id="6" name="Picture 5" descr="fig_resp_f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6492240" cy="327184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0" y="2011680"/>
            <a:ext cx="4297680" cy="137160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2157984"/>
            <a:ext cx="4297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00A896"/>
                </a:solidFill>
                <a:latin typeface="Georgia"/>
              </a:rPr>
              <a:t>10,26 milhões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2706624"/>
            <a:ext cx="4114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6B7B"/>
                </a:solidFill>
                <a:latin typeface="Calibri"/>
              </a:rPr>
              <a:t>responsáveis do sexo feminino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611880"/>
            <a:ext cx="42976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Maioria feminina  </a:t>
            </a:r>
            <a:r>
              <a:rPr sz="1300" b="0" i="0">
                <a:solidFill>
                  <a:srgbClr val="0E2A47"/>
                </a:solidFill>
                <a:latin typeface="Calibri"/>
              </a:rPr>
              <a:t>— 52,7% das chefias (mulheres &gt; homens).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Mais alto no Nordeste  </a:t>
            </a:r>
            <a:r>
              <a:rPr sz="1300" b="0" i="0">
                <a:solidFill>
                  <a:srgbClr val="0E2A47"/>
                </a:solidFill>
                <a:latin typeface="Calibri"/>
              </a:rPr>
              <a:t>— 55,0%; capitais Fortaleza, Recife, Salvador ~56%.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E2A47"/>
                </a:solidFill>
                <a:latin typeface="Calibri"/>
              </a:rPr>
              <a:t>Mais baixo  </a:t>
            </a:r>
            <a:r>
              <a:rPr sz="1300" b="0" i="0">
                <a:solidFill>
                  <a:srgbClr val="0E2A47"/>
                </a:solidFill>
                <a:latin typeface="Calibri"/>
              </a:rPr>
              <a:t>— pequenos municípios rurais do Sul/Centro-Oeste.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7293"/>
                </a:solidFill>
                <a:latin typeface="Calibri"/>
              </a:rPr>
              <a:t>DEMANDA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A47"/>
                </a:solidFill>
                <a:latin typeface="Georgia"/>
              </a:rPr>
              <a:t>Estrutura etária — crianças (&lt;5) e idosos (60+)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5A6B7B"/>
                </a:solidFill>
                <a:latin typeface="Calibri"/>
              </a:rPr>
              <a:t>pct_crianca_0a4 = V01031/v0001 ;  pct_idoso_60mais = (V01040+V01041)/v0001.</a:t>
            </a:r>
          </a:p>
        </p:txBody>
      </p:sp>
      <p:pic>
        <p:nvPicPr>
          <p:cNvPr id="6" name="Picture 5" descr="fig_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3120"/>
            <a:ext cx="7863840" cy="30096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2057400"/>
            <a:ext cx="32004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0E2A47"/>
                </a:solidFill>
                <a:latin typeface="Calibri"/>
              </a:rPr>
              <a:t>8,75 mi idosos  </a:t>
            </a:r>
            <a:r>
              <a:rPr sz="1250" b="0" i="0">
                <a:solidFill>
                  <a:srgbClr val="0E2A47"/>
                </a:solidFill>
                <a:latin typeface="Calibri"/>
              </a:rPr>
              <a:t>vs 2,93 mi crianças &lt;5.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0E2A47"/>
                </a:solidFill>
                <a:latin typeface="Calibri"/>
              </a:rPr>
              <a:t>Índice ≈ 299  </a:t>
            </a:r>
            <a:r>
              <a:rPr sz="1250" b="0" i="0">
                <a:solidFill>
                  <a:srgbClr val="0E2A47"/>
                </a:solidFill>
                <a:latin typeface="Calibri"/>
              </a:rPr>
              <a:t>idosos por 100 crianças.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0E2A47"/>
                </a:solidFill>
                <a:latin typeface="Calibri"/>
              </a:rPr>
              <a:t>Sul/Sudeste envelhecidos  </a:t>
            </a:r>
            <a:r>
              <a:rPr sz="1250" b="0" i="0">
                <a:solidFill>
                  <a:srgbClr val="0E2A47"/>
                </a:solidFill>
                <a:latin typeface="Calibri"/>
              </a:rPr>
              <a:t>— São Caetano 548, Porto Alegre 455.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0E2A47"/>
                </a:solidFill>
                <a:latin typeface="Calibri"/>
              </a:rPr>
              <a:t>Norte jovem  </a:t>
            </a:r>
            <a:r>
              <a:rPr sz="1250" b="0" i="0">
                <a:solidFill>
                  <a:srgbClr val="0E2A47"/>
                </a:solidFill>
                <a:latin typeface="Calibri"/>
              </a:rPr>
              <a:t>— Portel/PA 56, Autazes/AM 80.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7293"/>
                </a:solidFill>
                <a:latin typeface="Calibri"/>
              </a:rPr>
              <a:t>SÍNTESE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A47"/>
                </a:solidFill>
                <a:latin typeface="Georgia"/>
              </a:rPr>
              <a:t>As 6 demandas — variáveis e artefatos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74519"/>
          <a:ext cx="10927078" cy="3328416"/>
        </p:xfrm>
        <a:graphic>
          <a:graphicData uri="http://schemas.openxmlformats.org/drawingml/2006/table">
            <a:tbl>
              <a:tblPr/>
              <a:tblGrid>
                <a:gridCol w="2449173"/>
                <a:gridCol w="2260775"/>
                <a:gridCol w="3391162"/>
                <a:gridCol w="2825968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Demanda</a:t>
                      </a:r>
                    </a:p>
                  </a:txBody>
                  <a:tcPr anchor="ctr" marT="25400" marB="25400" marL="76200" marR="76200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Variável IBGE</a:t>
                      </a:r>
                    </a:p>
                  </a:txBody>
                  <a:tcPr anchor="ctr" marT="25400" marB="25400" marL="76200" marR="76200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Implementação</a:t>
                      </a:r>
                    </a:p>
                  </a:txBody>
                  <a:tcPr anchor="ctr" marT="25400" marB="25400" marL="76200" marR="76200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Resultado-chave</a:t>
                      </a:r>
                    </a:p>
                  </a:txBody>
                  <a:tcPr anchor="ctr" marT="25400" marB="25400" marL="76200" marR="76200">
                    <a:solidFill>
                      <a:srgbClr val="1C729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E2A47"/>
                          </a:solidFill>
                          <a:latin typeface="Calibri"/>
                        </a:rPr>
                        <a:t>1 Cobertura 100%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cobertura_{total,regiao,municipio}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41,6% com os 3 serviços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E2A47"/>
                          </a:solidFill>
                          <a:latin typeface="Calibri"/>
                        </a:rPr>
                        <a:t>2 Improvisados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V00002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pct_dom_improv (7b)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0,8% dos setores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E2A47"/>
                          </a:solidFill>
                          <a:latin typeface="Calibri"/>
                        </a:rPr>
                        <a:t>3 Urbano/rural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SITUACAO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situacao_urbano_rural_*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97,5% urbano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E2A47"/>
                          </a:solidFill>
                          <a:latin typeface="Calibri"/>
                        </a:rPr>
                        <a:t>4 Sem banheiro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V00495 / V00238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pct_sem_banheiro (7c)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0,45% / 0,04%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E2A47"/>
                          </a:solidFill>
                          <a:latin typeface="Calibri"/>
                        </a:rPr>
                        <a:t>5 Chefia feminina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V01063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pct_resp_feminino (7d)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52,7% feminina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E2A47"/>
                          </a:solidFill>
                          <a:latin typeface="Calibri"/>
                        </a:rPr>
                        <a:t>6 Crianças/idosos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V01031 / V01040+41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pct_crianca / pct_idoso (7e)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E2A47"/>
                          </a:solidFill>
                          <a:latin typeface="Calibri"/>
                        </a:rPr>
                        <a:t>índice env. 299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5A6B7B"/>
                </a:solidFill>
                <a:latin typeface="Calibri"/>
              </a:rPr>
              <a:t>Todas são variáveis descritivas, fora dos 7 componentes do IVS — promovê-las ao índice é decisão metodológica da orientadora.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7293"/>
                </a:solidFill>
                <a:latin typeface="Calibri"/>
              </a:rPr>
              <a:t>DISCUSSÃO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A47"/>
                </a:solidFill>
                <a:latin typeface="Georgia"/>
              </a:rPr>
              <a:t>O que os achados dizem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E2A47"/>
                </a:solidFill>
                <a:latin typeface="Calibri"/>
              </a:rPr>
              <a:t>Gradiente centro-periferia / Norte-Sul confirmado  </a:t>
            </a:r>
            <a:r>
              <a:rPr sz="1400" b="0" i="0">
                <a:solidFill>
                  <a:srgbClr val="0E2A47"/>
                </a:solidFill>
                <a:latin typeface="Calibri"/>
              </a:rPr>
              <a:t>— saneamento, sem banheiro e renda pioram do Sul/Sudeste para o Norte/Nordeste, sustentando a hipótese do estudo.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E2A47"/>
                </a:solidFill>
                <a:latin typeface="Calibri"/>
              </a:rPr>
              <a:t>Dois eixos de vulnerabilidade  </a:t>
            </a:r>
            <a:r>
              <a:rPr sz="1400" b="0" i="0">
                <a:solidFill>
                  <a:srgbClr val="0E2A47"/>
                </a:solidFill>
                <a:latin typeface="Calibri"/>
              </a:rPr>
              <a:t>— socioeconômico (renda–raça–analfabetismo, correlações fortes) e saneamento (bloco coeso) — base para a análise fatorial.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E2A47"/>
                </a:solidFill>
                <a:latin typeface="Calibri"/>
              </a:rPr>
              <a:t>Precariedade tem geografias distintas  </a:t>
            </a:r>
            <a:r>
              <a:rPr sz="1400" b="0" i="0">
                <a:solidFill>
                  <a:srgbClr val="0E2A47"/>
                </a:solidFill>
                <a:latin typeface="Calibri"/>
              </a:rPr>
              <a:t>— saneamento e sem-banheiro são rurais-Norte; habitação improvisada é metropolitana. Não são o mesmo fenômeno.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E2A47"/>
                </a:solidFill>
                <a:latin typeface="Calibri"/>
              </a:rPr>
              <a:t>Transição demográfica avançada  </a:t>
            </a:r>
            <a:r>
              <a:rPr sz="1400" b="0" i="0">
                <a:solidFill>
                  <a:srgbClr val="0E2A47"/>
                </a:solidFill>
                <a:latin typeface="Calibri"/>
              </a:rPr>
              <a:t>— alto índice de envelhecimento (299), sobretudo no Sul/Sudeste — central para um estudo do ELSI (idosos).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0E2A47"/>
                </a:solidFill>
                <a:latin typeface="Calibri"/>
              </a:rPr>
              <a:t>Chefia feminina majoritária  </a:t>
            </a:r>
            <a:r>
              <a:rPr sz="1400" b="0" i="0">
                <a:solidFill>
                  <a:srgbClr val="0E2A47"/>
                </a:solidFill>
                <a:latin typeface="Calibri"/>
              </a:rPr>
              <a:t>— 52,7%, marcador sociodemográfico relevante para vulnerabilidade em saúde.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7293"/>
                </a:solidFill>
                <a:latin typeface="Calibri"/>
              </a:rPr>
              <a:t>LIMITAÇÕES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A47"/>
                </a:solidFill>
                <a:latin typeface="Georgia"/>
              </a:rPr>
              <a:t>Limitações e ressalvas metodológicas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927079" cy="3401568"/>
        </p:xfrm>
        <a:graphic>
          <a:graphicData uri="http://schemas.openxmlformats.org/drawingml/2006/table">
            <a:tbl>
              <a:tblPr/>
              <a:tblGrid>
                <a:gridCol w="3219586"/>
                <a:gridCol w="3512275"/>
                <a:gridCol w="4195218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Limitação</a:t>
                      </a:r>
                    </a:p>
                  </a:txBody>
                  <a:tcPr anchor="ctr" marT="25400" marB="25400" marL="76200" marR="76200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Origem</a:t>
                      </a:r>
                    </a:p>
                  </a:txBody>
                  <a:tcPr anchor="ctr" marT="25400" marB="25400" marL="76200" marR="76200">
                    <a:solidFill>
                      <a:srgbClr val="1C729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Encaminhamento</a:t>
                      </a:r>
                    </a:p>
                  </a:txBody>
                  <a:tcPr anchor="ctr" marT="25400" marB="25400" marL="76200" marR="76200">
                    <a:solidFill>
                      <a:srgbClr val="1C729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0E2A47"/>
                          </a:solidFill>
                          <a:latin typeface="Calibri"/>
                        </a:rPr>
                        <a:t>Sigilo no analfabetismo (15,8%)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Supressão do IBGE em setores pequenos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Reportar; imputação por mediana municipal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0E2A47"/>
                          </a:solidFill>
                          <a:latin typeface="Calibri"/>
                        </a:rPr>
                        <a:t>Variáveis novas muito esparsas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Realidade (improvisado/sem-banheiro raros)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Reportar mediana/P95; manter descritivas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0E2A47"/>
                          </a:solidFill>
                          <a:latin typeface="Calibri"/>
                        </a:rPr>
                        <a:t>Caçamba (V00398) = inadequada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Definição do IVS-BH 2012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Mantida por fidelidade; modernizar só com a orientadora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0E2A47"/>
                          </a:solidFill>
                          <a:latin typeface="Calibri"/>
                        </a:rPr>
                        <a:t>Água: poço artesiano (V00112)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Fronteira metodológica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Análise de sensibilidade futura</a:t>
                      </a:r>
                    </a:p>
                  </a:txBody>
                  <a:tcPr anchor="ctr" marT="12700" marB="12700" marL="76200" marR="76200">
                    <a:solidFill>
                      <a:srgbClr val="EEF3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0E2A47"/>
                          </a:solidFill>
                          <a:latin typeface="Calibri"/>
                        </a:rPr>
                        <a:t>Falácia ecológica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Delineamento ecológico (dado agregado)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E2A47"/>
                          </a:solidFill>
                          <a:latin typeface="Calibri"/>
                        </a:rPr>
                        <a:t>Declarar explicitamente no artigo</a:t>
                      </a:r>
                    </a:p>
                  </a:txBody>
                  <a:tcPr anchor="ctr" marT="12700" marB="12700" marL="762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7293"/>
                </a:solidFill>
                <a:latin typeface="Calibri"/>
              </a:rPr>
              <a:t>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2A47"/>
                </a:solidFill>
                <a:latin typeface="Georgia"/>
              </a:rPr>
              <a:t>Rumo ao cálculo do IVS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0E2A47"/>
                </a:solidFill>
                <a:latin typeface="Calibri"/>
              </a:rPr>
              <a:t>Normalização da renda por município  </a:t>
            </a:r>
            <a:r>
              <a:rPr sz="1450" b="0" i="0">
                <a:solidFill>
                  <a:srgbClr val="0E2A47"/>
                </a:solidFill>
                <a:latin typeface="Calibri"/>
              </a:rPr>
              <a:t>— substituir o min-max global para capturar a desigualdade intraurbana.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0E2A47"/>
                </a:solidFill>
                <a:latin typeface="Calibri"/>
              </a:rPr>
              <a:t>Análise fatorial / ACP  </a:t>
            </a:r>
            <a:r>
              <a:rPr sz="1450" b="0" i="0">
                <a:solidFill>
                  <a:srgbClr val="0E2A47"/>
                </a:solidFill>
                <a:latin typeface="Calibri"/>
              </a:rPr>
              <a:t>— sobre a correlação de Spearman; verificar KMO e esfericidade de Bartlett; definir pesos.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0E2A47"/>
                </a:solidFill>
                <a:latin typeface="Calibri"/>
              </a:rPr>
              <a:t>Cálculo do IVS final  </a:t>
            </a:r>
            <a:r>
              <a:rPr sz="1450" b="0" i="0">
                <a:solidFill>
                  <a:srgbClr val="0E2A47"/>
                </a:solidFill>
                <a:latin typeface="Calibri"/>
              </a:rPr>
              <a:t>— média ponderada das 7 variáveis padronizadas + categorização em 4 faixas de risco.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0E2A47"/>
                </a:solidFill>
                <a:latin typeface="Calibri"/>
              </a:rPr>
              <a:t>Decisão sobre as variáveis descritivas  </a:t>
            </a:r>
            <a:r>
              <a:rPr sz="1450" b="0" i="0">
                <a:solidFill>
                  <a:srgbClr val="0E2A47"/>
                </a:solidFill>
                <a:latin typeface="Calibri"/>
              </a:rPr>
              <a:t>— quais das 6 demandas entram no índice (decisão da orientadora).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 i="0">
                <a:solidFill>
                  <a:srgbClr val="1C7293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0E2A47"/>
                </a:solidFill>
                <a:latin typeface="Calibri"/>
              </a:rPr>
              <a:t>Geoprocessamento (QGIS 3.x)  </a:t>
            </a:r>
            <a:r>
              <a:rPr sz="1450" b="0" i="0">
                <a:solidFill>
                  <a:srgbClr val="0E2A47"/>
                </a:solidFill>
                <a:latin typeface="Calibri"/>
              </a:rPr>
              <a:t>— mapas temáticos do IVS por setor; iniciar a redação dos resultados.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82296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EDA concluída e reprodutível</a:t>
            </a:r>
          </a:p>
          <a:p>
            <a:pPr algn="l">
              <a:spcBef>
                <a:spcPts val="1000"/>
              </a:spcBef>
            </a:pPr>
            <a:r>
              <a:rPr sz="1700" b="0" i="0">
                <a:solidFill>
                  <a:srgbClr val="CADCFC"/>
                </a:solidFill>
                <a:latin typeface="Georgia"/>
              </a:rPr>
              <a:t>7 componentes do IVS + 6 demandas adicionais, todos auditados contra o dicionário oficial do IBGE.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006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FB6D6"/>
                </a:solidFill>
                <a:latin typeface="Calibri"/>
              </a:rPr>
              <a:t>Próximo marco: normalização da renda por município → análise fatorial → IVS final.</a:t>
            </a:r>
          </a:p>
          <a:p>
            <a:pPr algn="l">
              <a:spcBef>
                <a:spcPts val="800"/>
              </a:spcBef>
            </a:pPr>
            <a:r>
              <a:rPr sz="1250" b="0" i="0">
                <a:solidFill>
                  <a:srgbClr val="7F98B8"/>
                </a:solidFill>
                <a:latin typeface="Calibri"/>
              </a:rPr>
              <a:t>Pedro Dias Soares · IC Fiocruz Minas / IRR · Junho/2026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