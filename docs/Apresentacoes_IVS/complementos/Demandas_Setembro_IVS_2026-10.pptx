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parte abre com uma divisória. Os números de todos os slides saem dos CSVs gravados pelos scripts (fatorial_ampliada/ e ivs_especificacoes/), lidos na hora em que o deck é gerado (05/10/2026).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onze foram executadas em 25/09, nas Fases 1 a 4 do plano das demandas. A demanda 6 ficou com uma pergunta aberta — a versão graduada do banheiro, que exige a V00237 — e ela foi feita em 26/09, na Fase B do pedido seguinte.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mensagem com esses nove pontos foi redigida na Fase 0 e registrada no arquivo de estado. Em cada ponto, a leitura adotada é a que o trabalho seguiu; se a orientadora preferir outra, basta trocar o parâmetro do cenário e rodar de novo — nada foi fixado no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25/09 — Fase 0 — a linha de base do NB04 e os destravamentos
A Varimax corrigida (parava antes de convergir) e o NB04 regerado; a proporção nacional de "sem água canalizada" corrigida; a linha de base gravada para comparar tudo o que viria depois.
25/09 — Fases 1 e 2 — as demandas 1 e 2, e a fatorial ampliada
A renda com a mediana municipal, o quadro de indicadores e a grade de cenários S0–S7, sem bootstrap, com as três rendas e os postos no município.
25/09 — Fases 3 e 4 — o Notebook 04b e a apresentação
O NB04b chama o motor da Fase 2 em sete blocos; a curadoria do deck, os números corrigidos e o bloco novo de slides.
25/09 — Fase 5 — o resto da revisão geral, em quatro lotes
Código frágil, testes, documentação e repositório.
26/09 — Fases A e B — as pendências e o banheiro graduado
O que estava inferido vira verificação; a V00237 extraída do Censo e a partição do banheiro conferida setor a setor.
27/09 — Fases C e D — o motor de especificações e o Notebook 05
A grade de 324 especificações, a referência proposta, o relatório e os slides do IVS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renda invertida, sozinha, separa os setores de FCU melhor que o índice (AUC 0,8819 contra 0,8131); até a média simples dos postos, sem peso nenhum, fica em 0,8533. Sem São Paulo, o peso da dimensão socioeconômica cai para 62,91%. Esses números são o ponto de partida: as demandas de setembro perguntam o que muda quando a base muda.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mediana de BH com o setor extremo quase não muda (a mediana é robusta a um ponto); a dos 70 municípios é bem mais baixa, porque mistura municípios de renda menor. Na fatorial, as três versões dão o mesmo resultado na prática — o setor extremo pesa na escala min-max, não na correlação de Spearman que a fatorial usa.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quadro existe em CSV, XLSX e Markdown na pasta da entrega. Para cada indicador: o que mede, numerador, denominador, se usa o complemento, o arquivo de origem do Censo e uma observação. Os indicadores fora do IVS-7 são descritivos: caracterizam o território, não o pontuam.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S0 reproduz o NB04 (IVS-7). S1 tira o lixo; S2 a S5 acrescentam, um por vez, não chega, sem canalização, sem banheiro (V00495) e não convencional; S6 junta as quatro; S7 é o S6 sem o lixo. Variantes do S0, do S1 e do S6 com as outras rendas e com postos dentro do município estão no mesmo CSV. O número de setores cai quando entra variável com sigilo.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pesos de cada dimensão saem da soma dos quadrados das cargas de cada fator, normalizada para 100%. Na promax, a matriz padrão dá o efeito único de cada fator; a estrutura, a correlação simples variável-fator, que inclui o que os fatores compartilham.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ponto é uma variável; a posição é a carga nos fatores 1 e 2. Com promax, os eixos deixam de ser perpendiculares: Φ = 0,435 no S6.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 variável nova com sigilo do IBGE derruba setores da base (perdidos vs S0). A AUC da renda sozinha também muda de cenário para cenário porque a base de setores muda. Com as variáveis de água e de banheiro, o lixo deixa de ter fator próprio.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EDA de agosto, 99,19% das moradias do recorte eram convencionais (demanda de julho). Uma variável quase sempre zero tem pouca variância para dividir com as outras — é o que a comunalidade mede.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"Tudo isso" foi lido como IVS-7 + não chega + sem canalização + sem banheiro + não convencional (ponto 6 da mensagem à orientadora). As três rendas dão o mesmo resultado também aqui.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lixo é a variável menos correlacionada com as outras desde a EDA de junho. No IVS-7 ele ocupa o fator 2 sozinho; quando entram as variáveis de água e de banheiro, o fator 2 passa a ser o da água e o lixo perde o fator próprio. A sensibilidade por município só foi rodada para S0, S1 e S6.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cenário roda 71 vezes, uma por município fora. O bootstrap foi deixado de lado de propósito: com dezenas de milhares de setores, ele mede o erro de amostragem de uma população que não é amostra; a pergunta útil é quanto o resultado depende de um município.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AUC contra FCU mede o quanto o índice ordena os setores de favela acima dos demais. Ela é uma validação parcial: o critério do IBGE para FCU olha, em parte, as mesmas condições de saneamento que entram no índice.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deck principal tem marcações "EXPLICAR SLIDE" e anotações feitas à mão; regerá-lo apagaria esse trabalho. Por isso os blocos novos saem num .pptx separado e o juntador os anexa à versão do HEAD.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contagens de elegíveis são sobre as 324 especificações da grade (18 bases × 9 esquemas × 2 normalizações).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V00237 não estava na base: foi extraída do arquivo de domicílio 2 do Censo e entrou na entrega à orientadora, com os indicadores pct_so_sanitario e pct_banheiro_comum. O indicador graduado vai de 0 (todos com banheiro de uso exclusivo) a 1 (todos sem banheiro nem sanitário); fica ausente se alguma das partes ou o total estiver sob sigilo.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nove esquemas: sem rotação (fator único); Varimax com SS, 50/50 e 60/40; promax com SS da matriz padrão, SS da estrutura, comunalidades, 50/50 e 60/40.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renda não muda nada na elegibilidade: as três linhas de cada lixo são iguais. Com lixo, só passa a base com V00495; sem lixo, as três versões de banheiro passam.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promax, os cinco esquemas passam em igual número, porque a elegibilidade depende da base e da rotação, não de como os pesos são repartidos depois.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F1 é a dimensão socioeconômica; F2, a de saneamento. Os esquemas fixos (50/50 e 60/40) não dependem dos dados; os outros três, sim. O 60/40 é o do IVS-BH 2012 — falta conferir os números no Quadro 3 do PDF, que não saíram no texto extraído.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amostra comum é a de setores presentes nas três versões de banheiro, para que a comparação não dependa de qual base perdeu mais setores por sigilo.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leitura: o índice não substitui a renda como separador das favelas, e não precisa — ele ordena os setores dentro de cada faixa de renda, que é o que um índice de vulnerabilidade acrescenta. A AUC contra FCU tem circularidade parcial com o saneamento, e por isso não deveria decidir sozinha a especificação.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Principal: estabilidade de F1, AUC na amostra comum: melhor posição média entre 96 elegíveis (normalização municipal): estabilidade 24.5º, AUC municipal 43º, parcimônia 48.5º; amplitude zero por construção (peso de F1 fixo); segunda colocada: sem_extremo·lixo_sem·banheiro_graduado·promax·60_40·municipal.
AUC na amostra própria: melhor posição média entre 96 elegíveis (normalização municipal): estabilidade 24.5º, AUC municipal 41º, parcimônia 48.5º; amplitude zero por construção (peso de F1 fixo); segunda colocada: sem_extremo·lixo_sem·banheiro_v00495·promax·60_40·municipal.
Estabilidade pelos pesos das variáveis: melhor posição média entre 96 elegíveis (normalização municipal): estabilidade 10º, AUC municipal 61º, parcimônia 12.5º; segunda colocada: mediana_mun·lixo_sem·banheiro_fora·promax·comunalidades·municipal.
Normalização global: melhor posição média entre 96 elegíveis (normalização global): estabilidade 24.5º, AUC municipal 75.5º, parcimônia 12.5º; amplitude zero por construção (peso de F1 fixo); segunda colocada: mediana_mun·lixo_sem·banheiro_fora·varimax·60_40·global.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Nada disso invalida a grade: as 192 elegíveis estão todas no CSV, com os três postos de cada uma. A referência é só a que os critérios, lidos ao pé da letra, apontam.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regra do IVS-BH 2012 corta pela média e pelo desvio-padrão, aplicada dentro de cada município; os quartis dividem cada município em quatro partes iguais. A faixa "indefinida" é a do setor que fica sozinho numa faixa do seu município.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Nenhuma dessas escolhas foi feita no código. O NB05 calcula todas as combinações e deixa a referência como proposta.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perguntas apareceram ao rodar a grade; estão também no NB05 (seção 11) e no relatório do IVS final, cada uma apontando o achado com os números.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um CSV mudar — por exemplo, depois de a orientadora escolher a especificação —, basta rodar o gerador de novo: nenhum número deste deck foi digitado.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23444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PROJETO IVS · CENSO 2022 · FIOCRUZ MINAS — INSTITUTO RENÉ RACHOU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777240" y="162763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demandas de setembro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foi pedido, como cada pedido foi lido, o que foi feito e o que os números dizem — da fatorial ampliada ao IVS final do Notebook 05. As escolhas de método ficam com a orientadora, com os números ao lado de cada uma.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5623560"/>
            <a:ext cx="10634472" cy="0"/>
          </a:xfrm>
          <a:prstGeom prst="line">
            <a:avLst/>
          </a:prstGeom>
          <a:noFill/>
          <a:ln w="9525">
            <a:solidFill>
              <a:srgbClr val="C8C6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76072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Pedro Dias Soares · Iniciação Científica · outubro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roteiro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Dez partes, na ordem em que uma resposta prepara a seguinte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73352"/>
          <a:ext cx="1063447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566160"/>
                <a:gridCol w="651967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Parte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responde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pedido e como foi lido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 onze demandas, as leituras adotadas e como o trabalho foi feito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ponto de partida: o NB04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índice que já existia, e o quanto ele separa as favelas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e quadro de indicadores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Demandas 1 e 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fatorial ampliada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Demandas 3 e 5 a 11: cenários S0–S7, rotações, lixo, incerteza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apresentação revista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Demanda 4: o útil, o inútil e os números corrigidos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testes seguintes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nove itens da etapa seguinte e o banheiro graduado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IVS final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grade do NB05: 324 especificações, 192 elegíveis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índice contra a renda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o índice acrescenta ao que a renda já diz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referência proposta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Quatro leituras, e por que desconfiar da principal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fica para decidir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 escolhas da orientadora, com os números de cada uma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pedido e como foi lido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Onze demandas de setembro; nove pontos com mais de uma leitura.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onze demandas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de cada uma e onde está o resultado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45920"/>
          <a:ext cx="10634472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3749040"/>
                <a:gridCol w="2514600"/>
                <a:gridCol w="3867912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#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Demanda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Estado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Onde está o resultado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Coluna de renda com a mediana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feita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renda_media_mediana_mun, na entrega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Quadro de indicadores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feita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entrega_orientadora/Quadro_Indicadores (28 indicadores)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Fatorial sem bootstrap, sem e com rotação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feita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fatorial_ampliada/cargas.csv e pesos.csv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Separar o útil do inútil na apresentação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feita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MAPA_APRESENTACAO_FINAL.md; deck corrigido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Comparar o "não chega" com os outros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feita, nas duas leituras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 S2; comparacao_nao_chega_banheiro.csv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8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Juntar o "sem banheiro"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feita com V00495; a graduada em 26/09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 S4; banheiro_particao.csv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Acrescentar canalização e sem banheiro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feita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cenários S2, S3 e S4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fatorial de "tudo isso"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feita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cenários S6 e S7, com as três rendas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convencional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feita, como não convencional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cenários S5 e S6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Testar o lixo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feita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cenários S1 e S7; sensibilidade por município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Testar as duas rotações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feita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 e promax lado a lado, com Φ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estado_demandas_2026-09.md, tabela "Demandas da orientadora".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li o que tinha mais de uma leitura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padrão seguido enquanto a orientadora não responde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45920"/>
          <a:ext cx="1063447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7616952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Ponto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Leitura adotada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(demanda 1)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Coluna nova com a mediana de BH sem o setor extremo (R$ 3.058,24); as alternativas num CSV de sensibilidade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Rotação (demanda 3)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 duas: sem rotação, Varimax e promax lado a lado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"Comparar com os outros" (5)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 duas leituras: contra as outras categorias de canalização e contra os indicadores do IVS-7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Juntar "sem banheiro" (6)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V00495, que já contém a V00238; a versão graduada pedia extrair a V00237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convencional (9)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 direção da vulnerabilidade (não convencional), sem excluir por variância baixa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"Tudo isso" (8)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não chega + sem canalização + sem banheiro + não convencional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Repartição oblíqua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 duas métricas — matriz padrão e matriz estrutura —, sem dizer qual "aproxima" da literatura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no índice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cenários com as três rendas; a escolha fica com a orientadora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Incerteza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Sensibilidade por município, um de fora por vez — não bootstrap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estado_demandas_2026-09.md, "Perguntas à orientadora" (mensagem redigida na Fase 0).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trabalho foi feito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 fases em 25/09, mais quatro em 26 e 27/09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estado_demandas_2026-09.md; estado_nb05_2026-09.md.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25/09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011680" y="1682496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0 — a linha de base do NB04 e os destravamentos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011680" y="1947672"/>
            <a:ext cx="9400032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Varimax corrigida (parava antes de convergir) e o NB04 regerado; a proporção nacional de "sem água canalizada" corrigida; a linha de base gravada para comparar tudo o que viria depois.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2396236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5242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25/09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011680" y="2505964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Fases 1 e 2 — as demandas 1 e 2, e a fatorial ampliada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011680" y="2771140"/>
            <a:ext cx="9400032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renda com a mediana municipal, o quadro de indicadores e a grade de cenários S0–S7, sem bootstrap, com as três rendas e os postos no município.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3219704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3477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25/09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011680" y="3329432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Fases 3 e 4 — o Notebook 04b e a apresentação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2011680" y="3594608"/>
            <a:ext cx="9400032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NB04b chama o motor da Fase 2 em sete blocos; a curadoria do deck, os números corrigidos e o bloco novo de slides.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7240" y="3846322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97433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25/09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011680" y="3956050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5 — o resto da revisão geral, em quatro lotes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2011680" y="4221226"/>
            <a:ext cx="9400032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 frágil, testes, documentação e repositório.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77240" y="4472940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60095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26/09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2011680" y="4582668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Fases A e B — as pendências e o banheiro graduado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2011680" y="4847844"/>
            <a:ext cx="9400032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estava inferido vira verificação; a V00237 extraída do Censo e a partição do banheiro conferida setor a setor.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77240" y="5099558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22757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27/09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2011680" y="5209286"/>
            <a:ext cx="9400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Fases C e D — o motor de especificações e o Notebook 05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2011680" y="5474462"/>
            <a:ext cx="9400032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grade de 324 especificações, a referência proposta, o relatório e os slides do IVS final.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77240" y="5726176"/>
            <a:ext cx="10634472" cy="0"/>
          </a:xfrm>
          <a:prstGeom prst="line">
            <a:avLst/>
          </a:prstGeom>
          <a:noFill/>
          <a:ln w="6350">
            <a:solidFill>
              <a:srgbClr val="E6E4DE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ponto de partida: o NB04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que já existia antes das demandas — e o quanto ele separa as favelas.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do NB04, em seis números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linha de base contra a qual todo cenário novo é comparado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83080"/>
            <a:ext cx="283464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5623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0,7826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244144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KMO do IVS-7 (correlação de Spearman)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931920" y="1783080"/>
            <a:ext cx="283464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0" y="185623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0,6995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931920" y="244144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MSA mínimo — o do lixo inadequado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7240" y="3154680"/>
            <a:ext cx="283464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22783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65,0 / 35,0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77240" y="381304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Pesos do IVS-6 com Varimax: socioeconômica / saneamento (%)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931920" y="3154680"/>
            <a:ext cx="283464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0" y="322783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0,5215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931920" y="381304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 — correlação entre os fatores na promax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77240" y="4526280"/>
            <a:ext cx="283464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59943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0,8131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77240" y="518464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do índice contra os setores de FCU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931920" y="4526280"/>
            <a:ext cx="2834640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0" y="459943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0,8819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3931920" y="518464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da renda invertida, sozinha</a:t>
            </a:r>
            <a:endParaRPr lang="en-US" sz="1050" dirty="0"/>
          </a:p>
        </p:txBody>
      </p:sp>
      <p:pic>
        <p:nvPicPr>
          <p:cNvPr id="24" name="Image 0" descr="/Users/pedro/Documents/Iniciacao Cientifica/Projeto_IVS_Censo22/banco_de_dados/eda/fatorial/figuras/nb04_roc_fc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691640"/>
            <a:ext cx="3776472" cy="3833261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635240" y="5598053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curva ROC do índice do NB04 contra os setores de FCU.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banco_de_dados/eda/fatorial_ampliada/linha_de_base_nb04.csv; figura do NB04.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Demandas 1 e 2 — a renda e o quadro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mediana no lugar do setor extremo; os indicadores num quadro só.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1: a renda com a mediana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setor de Belo Horizonte esticava a escala da renda inteira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73352"/>
            <a:ext cx="10634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5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setor 310620005650366 </a:t>
            </a:r>
            <a:pPr indent="0" marL="0">
              <a:lnSpc>
                <a:spcPts val="1625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tinha renda média de R$ 170.418,06 por responsável. A coluna nova, renda_media_mediana_mun, troca esse valor pela mediana de Belo Horizonte sem ele; as alternativas ficam registradas: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404872"/>
          <a:ext cx="10634472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737360"/>
                <a:gridCol w="1737360"/>
                <a:gridCol w="1737360"/>
                <a:gridCol w="1764792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Alternativa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 imputado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 de BH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DP de BH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 de BH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de BH sem o setor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R$ 3.058,24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R$ 4.649,57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R$ 3.847,13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R$ 45.385,44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de BH com o setor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R$ 3.060,31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R$ 4.649,57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R$ 3.847,13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R$ 45.385,44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dos 70 municípios sem o setor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R$ 2.572,39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R$ 4.649,47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R$ 3.847,18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R$ 45.385,44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3813048"/>
          <a:ext cx="106344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011680"/>
                <a:gridCol w="2103120"/>
                <a:gridCol w="2103120"/>
                <a:gridCol w="2039112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 (IVS-7)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mínimo (IVS-7)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do índice (IVS-7)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do índice (S6)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0,7826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0,6995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0,8377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0,8472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o extremo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0,7825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0,6996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0,8382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0,8478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municipal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0,7825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0,6996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0,8382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0,8478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777240" y="5111496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5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Leitura: </a:t>
            </a:r>
            <a:pPr indent="0" marL="0">
              <a:lnSpc>
                <a:spcPts val="1625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as três rendas, o KMO muda no máximo 0,00003 e a AUC do índice 0,0005. A escolha da renda é conceitual, não empírica.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atualizada/renda_imputacao_alternativas.csv; fatorial_ampliada/cenarios.csv e validacao_fcu.csv.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2: o quadro de indicadores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 indicadores, cada um com numerador, denominador e arquivo de origem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73352"/>
          <a:ext cx="1063447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097280"/>
                <a:gridCol w="960120"/>
                <a:gridCol w="68854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 IVS-7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Quais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59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pct_agua_inad*, pct_esgoto_inad*, pct_lixo_inad*, pct_sem_agua_canalizada, pct_agua_nao_encanada, pct_agua_so_terreno, pct_sem_banheiro, pct_sem_banheiro_nem_sanitario, pct_so_sanitario, pct_banheiro_comum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razao_moradores*, pct_analfab*, renda_media*, pct_raca_pretpardind*, pct_resp_feminino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8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pct_dom_improv, pct_hab_precaria, pct_moradia_convencional, pct_moradia_nao_convencional, pct_apartamento, pct_casa, pct_casa_vila_condominio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pct_crianca_0a4, pct_pop_0a14, pct_idoso_60mais, iep_setor, rdi_setor, prop_70mais_entre_60mais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banco_de_dados/entrega_orientadora/Quadro_Indicadores.csv (* = entra no IVS-7).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Demandas 3 e 5 a 11 — a fatorial ampliada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Oito cenários sem bootstrap: o IVS-7 do NB04 e o que muda a cada variável que entra ou sai.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cenários: o que entra em cada um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linha é uma análise fatorial completa, sobre a mesma regra de setores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45920"/>
          <a:ext cx="1063447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566160"/>
                <a:gridCol w="868680"/>
                <a:gridCol w="914400"/>
                <a:gridCol w="1005840"/>
                <a:gridCol w="731520"/>
                <a:gridCol w="868680"/>
                <a:gridCol w="1078992"/>
                <a:gridCol w="10515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entra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Demanda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mín.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K/H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Var. 2 fat.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(referência, reproduz o NB04)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 / 2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62,1%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S1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IVS-6 (IVS-7 sem lixo)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0,787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0,715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 / 1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70,0%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S2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não chega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5, 7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78.256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0,693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 / 3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58,5%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S3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sem canalização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87.512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0,805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0,733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 / 3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59,2%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S4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sem banheiro (V00495)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6, 7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0,792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0,691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 / 2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56,4%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S5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não convencional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 / 2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54,4%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 ("tudo isso")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0,695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 / 4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48,9%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S7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 sem lixo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8, 10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0,813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0,702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 / 2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53,2%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banco_de_dados/eda/fatorial_ampliada/cenarios.csv. K/H: fatores pelo critério de Kaiser e pelo de Horn.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Demandas 3 e 11: sem rotação, Varimax e promax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Peso do fator 1 / fator 2, em %, e a correlação Φ entre os fatores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45920"/>
          <a:ext cx="10634472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234440"/>
                <a:gridCol w="1143000"/>
                <a:gridCol w="1325880"/>
                <a:gridCol w="1417320"/>
                <a:gridCol w="640080"/>
                <a:gridCol w="167335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rotação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 (padrão)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 (estrutura)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 2 puxado por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 — IVS-7 (referência, reproduz o NB04)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75,9 / 24,1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74,0 / 26,0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74,7 / 25,3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73,4 / 26,6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0,151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S1 — IVS-6 (IVS-7 sem lixo)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77,2 / 22,8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65,0 / 35,0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65,8 / 34,2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59,6 / 40,4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0,522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 — IVS-7 + as quatro ("tudo isso")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71,1 / 28,9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56,4 / 43,6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55,5 / 44,5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53,8 / 46,2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0,435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S7 — S6 sem lixo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71,0 / 29,0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56,6 / 43,4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55,9 / 44,1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54,2 / 45,8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0,429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776472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Leitura.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rotação, o fator 1 leva de 71,0% a 77,2% do peso; a rotação reparte. O fator 1 é sempre puxado pela renda. Na promax, a matriz estrutura dá ao fator 2 mais peso que a padrão em todos os cenários, porque soma a parte que os dois fatores compartilham (Φ).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77240" y="472744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4782312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não está dito.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das duas matrizes é a "certa" para repartir os pesos na solução oblíqua: as duas ficam lado a lado, e a escolha é da orientadora.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banco_de_dados/eda/fatorial_ampliada/pesos.csv (os 15 cenários, quatro rotações cada).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plano fatorial do S6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IVS-7 mais as quatro variáveis novas: sem rotação, Varimax e promax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6" name="Image 0" descr="/Users/pedro/Documents/Iniciacao Cientifica/Projeto_IVS_Censo22/banco_de_dados/eda/fatorial_ampliada/figuras/fa_plano_s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37360"/>
            <a:ext cx="10634472" cy="37965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625391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das onze variáveis do S6 nos dois primeiros fatores — sem rotação, Varimax e promax (matriz padrão); em vermelho, as quatro novas.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banco_de_dados/eda/fatorial_ampliada/figuras/fa_plano_s6.png (NB04b).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Demandas 5, 6 e 7: uma variável nova por vez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cada uma faz com a base, a adequação e a validação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45920"/>
          <a:ext cx="106344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960120"/>
                <a:gridCol w="1143000"/>
                <a:gridCol w="731520"/>
                <a:gridCol w="1051560"/>
                <a:gridCol w="1051560"/>
                <a:gridCol w="1051560"/>
                <a:gridCol w="1353312"/>
              </a:tblGrid>
              <a:tr h="4323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Perdidos vs S0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K/H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índice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renda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com fator próprio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 — IVS-7 (referência, reproduz o NB04)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 / 2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0,8377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0,8819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S2 — IVS-7 + não chega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78.256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9.289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 / 3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0,8384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0,8889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S3 — IVS-7 + sem canalização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87.512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0,805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 / 3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0,8365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0,8819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S4 — IVS-7 + sem banheiro (V00495)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11.590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0,792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 / 2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0,8568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0,8897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S5 — IVS-7 + não convencional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 / 2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0,8379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0,8819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4142232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junção da demanda 6.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V00238 nunca passa da V00495: vale em 92.452 de 92.452 setores com as duas presentes. A V00495 já contém a V00238 — juntar é usar a V00495, não somar as duas.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7240" y="5010912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comparação da demanda 5.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"não chega" foi comparado nas duas leituras — contra as outras categorias de canalização e contra os indicadores do IVS-7 (Spearman e perfil dos setores com e sem o problema).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fatorial_ampliada/cenarios.csv, validacao_fcu.csv, banheiro_particao.csv, comparacao_nao_chega_banheiro.csv.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9: a moradia não convencional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Entrou na direção da vulnerabilidade, sem excluir por variância baixa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901952"/>
            <a:ext cx="3017520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7510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0,013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Comunalidade no S5 — o mínimo exigido na grade do NB05 é 0,30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06240" y="1901952"/>
            <a:ext cx="301752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197510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92,2%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206240" y="25603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com valor zero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635240" y="1901952"/>
            <a:ext cx="301752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35240" y="197510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0,813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635240" y="25603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MSA da variável — passa no critério de 0,50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7240" y="3319272"/>
            <a:ext cx="10634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Leitura.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variável passa no MSA, mas quase não compartilha variância com as outras: a maior carga fica em 0,094, porque 92% dos setores não têm nenhuma moradia não convencional. Ela fica no S5 e no S6 como pedido — e mostra por que não carrega o índice.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banco_de_dados/eda/fatorial_ampliada/cargas.csv, cenário S5.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8: tudo isso junto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S6 = IVS-7 + as quatro; S7 = S6 sem o lixo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73352"/>
          <a:ext cx="6309360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548640"/>
                <a:gridCol w="914400"/>
                <a:gridCol w="685800"/>
                <a:gridCol w="1005840"/>
                <a:gridCol w="9144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Var.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K/H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Var. 2 fat.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 / 4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48,9%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S7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0,813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 / 2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53,2%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 renda sem extremo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69.457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 / 4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48,9%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 renda mediana mun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 / 4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48,9%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 postos mun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0,769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 / 3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48,3%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7" name="Image 0" descr="/Users/pedro/Documents/Iniciacao Cientifica/Projeto_IVS_Censo22/banco_de_dados/eda/fatorial_ampliada/figuras/fa_scree_s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673352"/>
            <a:ext cx="4096512" cy="2714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0" y="4433528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Autovalores do S6 e a linha de Horn.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777240" y="3867912"/>
            <a:ext cx="6309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Leitura.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onze variáveis, Kaiser e Horn pedem 4 fatores, e dois fatores explicam só 48,9% da variância — contra 62,1% no IVS-7. A base perde setores: 69.458 contra 87.545. Com postos dentro do município, o MSA mínimo cai para 0,384.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fatorial_ampliada/cenarios.csv; figuras/fa_scree_s6.png.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10: o lixo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o lixo, ele forma um fator sozinho; sem ele, a fatorial pede um fator só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45920"/>
          <a:ext cx="10634472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280160"/>
                <a:gridCol w="2560320"/>
                <a:gridCol w="2770632"/>
              </a:tblGrid>
              <a:tr h="4323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K/H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com fator próprio (Varimax)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Municípios cuja saída muda o lixo de fator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 — IVS-7 (referência, reproduz o NB04)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 / 2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 de 71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S1 — IVS-6 (IVS-7 sem lixo)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 / 1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 (sem lixo)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de 71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S2 — IVS-7 + não chega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 / 3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S3 — IVS-7 + sem canalização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 / 3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S4 — IVS-7 + sem banheiro (V00495)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 / 2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S5 — IVS-7 + não convencional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 / 2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 — IVS-7 + as quatro ("tudo isso")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 / 4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de 71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S7 — S6 sem lixo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 / 2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 (sem lixo)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fatorial_ampliada/cenarios.csv (lixo_fator_proprio_varimax) e sensibilidade_municipios.csv (lixo_muda).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incerteza: um município de fora por vez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vez do bootstrap, quanto o peso do fator 1 se move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6" name="Image 0" descr="/Users/pedro/Documents/Iniciacao Cientifica/Projeto_IVS_Censo22/banco_de_dados/eda/fatorial_ampliada/figuras/fa_sensibilidade_municipi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73352"/>
            <a:ext cx="6400800" cy="30431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780547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4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Peso do fator 1 (Varimax) no S1 e no S6, com um município de fora por rodada; o traço é a amostra inteira.</a:t>
            </a:r>
            <a:endParaRPr lang="en-US" sz="10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52360" y="1673352"/>
          <a:ext cx="3959352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554480"/>
                <a:gridCol w="1490472"/>
              </a:tblGrid>
              <a:tr h="416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|Δ| Varimax, p.p.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|Δ| promax, p.p.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2,79 (Salvador)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2,83 (Salvador)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S1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2,12 (São Paulo)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2,81 (São Paulo)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1,34 (São Paulo)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1,43 (São Paulo)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7452360" y="3639312"/>
            <a:ext cx="39593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Leitura.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Tirar um município move o peso do fator 1 em no máximo 2,83 pontos percentuais; os que mais movem: Salvador, São Paulo.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fatorial_ampliada/sensibilidade_municipios.csv; figuras/fa_sensibilidade_municipios.png.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validação contra as favelas, cenário a cenário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contra os setores de FCU: o índice, a média de postos e a renda sozinha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45920"/>
          <a:ext cx="10634472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1828800"/>
                <a:gridCol w="1920240"/>
                <a:gridCol w="1856232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do índice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da média de postos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da renda sozinha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 — IVS-7 (referência, reproduz o NB04)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0,8377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0,8684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0,8819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S1 — IVS-6 (IVS-7 sem lixo)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0,8131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0,8533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0,8819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S2 — IVS-7 + não chega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0,8384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0,8707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0,8889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S3 — IVS-7 + sem canalização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0,8365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0,8584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0,8819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S4 — IVS-7 + sem banheiro (V00495)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0,8568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0,8758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0,8897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S5 — IVS-7 + não convencional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0,8379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0,8681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0,8819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 — IVS-7 + as quatro ("tudo isso")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0,8472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0,8694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0,8952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S7 — S6 sem lixo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0,8394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0,8560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0,8952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4690872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5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Leitura: </a:t>
            </a:r>
            <a:pPr indent="0" marL="0">
              <a:lnSpc>
                <a:spcPts val="1625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renda sozinha separa melhor que o índice em 13 de 15 cenários (contando as variantes de renda e de postos). A Parte 8 mostra o que o índice acrescenta mesmo assim.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banco_de_dados/eda/fatorial_ampliada/validacao_fcu.csv.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4 — a apresentação revista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ficou, o que saiu e os números que estavam errados.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Separar o útil do inútil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deck principal corrigido e ampliado, sem ser regerado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64792"/>
            <a:ext cx="5074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inventário.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scripts/inventario_apresentacao.py listou os artefatos; docs/Apresentacoes_IVS/MAPA_APRESENTACAO_FINAL.md separa o que entra, o que sai e propõe o roteiro.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170992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764792"/>
            <a:ext cx="5074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números corrigidos.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números errados nos slides (AUD-07, DEC-1, AUD-04) e o guia de apoio com 16.548 no lugar de 16.563 (AUD-08) — os quatro relidos dos CSVs.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3227832"/>
            <a:ext cx="5074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bloco novo.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slides da fatorial ampliada e, depois, os do IVS final saem de script e são anexados por scripts/juntar_decks.py ao deck principal, que nunca é regerado.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309360" y="3227832"/>
            <a:ext cx="5074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deck hoje.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Analise_Fatorial_NB04_2026-09.pptx, com 114 slides; a estrutura do pacote conferida e consertada em 30/09.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estado_demandas_2026-09.md, Fase 4; MAPA_APRESENTACAO_FINAL.md.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testes seguintes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nove itens da etapa de 26/09 e o banheiro graduado.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nove itens da etapa seguinte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escolha em aberto virou uma dimensão da grade do NB05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45920"/>
          <a:ext cx="1063447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297680"/>
                <a:gridCol w="569671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Item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foi pedido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Resultado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Renda: original · sem extremo · mediana municipal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 três na grade; empatam na AUC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Rotação: sem rotação · Varimax · promax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rotação: 0 de 36 elegíveis; Varimax: 72 de 108; promax: 120 de 180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Pesos na oblíqua: cinco esquemas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SS da padrão, SS da estrutura, comunalidades, 50/50 e 60/40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Lixo: com · sem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lixo: 48 de 162 elegíveis; sem: 144 de 162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Banheiro: fora · V00495 · graduado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V00237 extraída; a partição fecha setor a setor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o índice acrescenta à renda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Parte 8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estava inferido, sem verificação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Virou verificação por script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Pendências pequenas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Dicionário, slide 45 da EDA Central, scripts reexecutados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Notebook 05, relatório e slides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Feitos em 27/09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estado_nb05_2026-09.md, "Tabela dos itens 1–9"; ivs_especificacoes/especificacoes.csv.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banheiro graduado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graus de inadequação, em vez de um "sem banheiro" só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73352"/>
          <a:ext cx="88696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5120640"/>
                <a:gridCol w="1737360"/>
                <a:gridCol w="8229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Domicílios com…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Grau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apenas banheiro de uso comum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leve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V00237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apenas sanitário ou buraco para dejeções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intermediário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nem banheiro nem sanitário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grave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V00495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de uso exclusivo — a soma das três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593592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Banheiro graduado = (1·V00236 + 2·V00237 + 3·V00238) ÷ (3·V00001)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77240" y="4233672"/>
            <a:ext cx="3108960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430682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91.199 de 91.199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777240" y="48920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em que V00495 = V00236 + V00237 + V00238, sem resto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43400" y="4233672"/>
            <a:ext cx="310896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43400" y="430682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17.833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4343400" y="48920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da base ELSI com alguma das quatro variáveis ausente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fatorial_ampliada/banheiro_particao.csv; a fórmula em scripts/ivs_especificacoes.py.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IVS final — a grade do Notebook 05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Todas as combinações das escolhas em aberto, com regras fixadas antes de rodar.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grade: 324 especificações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× lixo × banheiro × rotação e pesos × normalização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56232"/>
            <a:ext cx="187452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29384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bases: 3 rendas × 2 lixos × 3 banheiros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926080" y="1856232"/>
            <a:ext cx="187452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1929384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926080" y="25146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esquemas de rotação e de peso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74920" y="1856232"/>
            <a:ext cx="187452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1929384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074920" y="25146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normalizações: no município ou global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223760" y="1856232"/>
            <a:ext cx="187452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0" y="1929384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223760" y="25146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especificações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372600" y="1856232"/>
            <a:ext cx="1874520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72600" y="1929384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192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372600" y="25146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elegíveis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77240" y="3319272"/>
            <a:ext cx="10634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Elegível é quem passa nos quatro critérios.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KMO ≥ 0,70; MSA mínimo ≥ 0,50; comunalidade mínima ≥ 0,30; maior carga de cada variável ≥ 0,40. Os critérios foram escritos antes de a grade rodar.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77240" y="417880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233672"/>
            <a:ext cx="10634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as elegíveis, a referência é a de melhor posição média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três critérios de peso igual: (a) estabilidade — a amplitude do peso de F1 ao tirar um município; (b) a AUC contra FCU dentro do município; (c) parcimônia — menos variáveis.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ivs_especificacoes/especificacoes.csv; Relatorio_IVS_Final_NB05.md (Método).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passa nos critérios, base a base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Elegíveis em cada base, de 18 (9 esquemas × 2 normalizações)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45920"/>
          <a:ext cx="106344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463040"/>
                <a:gridCol w="2194560"/>
                <a:gridCol w="2194560"/>
                <a:gridCol w="2404872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V00495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o graduado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lixo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de 18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 de 18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de 18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lixo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 de 18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 de 18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 de 18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o extremo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lixo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de 18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 de 18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de 18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o extremo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lixo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 de 18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 de 18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 de 18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municipal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lixo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de 18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 de 18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de 18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municipal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lixo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 de 18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 de 18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 de 18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813048"/>
            <a:ext cx="10634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5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cai: </a:t>
            </a:r>
            <a:pPr indent="0" marL="0">
              <a:lnSpc>
                <a:spcPts val="1625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o lixo e sem banheiro (o IVS-7 do NB04), a comunalidade mínima é a da água inadequada, 0,253; com o graduado, a do banheiro graduado, 0,299 — por pouco abaixo de 0,30. Com a V00495, a mínima sobe para 0,394; sem o lixo, fica em 0,380 (razão de moradores).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ivs_especificacoes/especificacoes.csv (comunalidade_min e comunalidade_min_variavel, renda original).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Rotação e esquema de peso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Elegíveis por esquema, em toda a grade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45920"/>
          <a:ext cx="74980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108960"/>
                <a:gridCol w="201168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Rotação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Esquema de peso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Elegíveis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rotação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 único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de 36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 de 36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50/50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 de 36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60/40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 de 36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SS da padrão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 de 36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SS da estrutura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 de 36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 de 36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50/50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 de 36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60/40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 de 36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641080" y="166420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41080" y="1719072"/>
            <a:ext cx="27706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fator ou dois.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um fator no IVS-6, mas o fator único reprova na comunalidade em toda a grade: a comparação sempre usa dois.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ivs_especificacoes/especificacoes.csv.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pesos na solução oblíqua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base da referência: original · sem lixo · banheiro graduado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45920"/>
          <a:ext cx="41148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731520"/>
                <a:gridCol w="731520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Rotação · esquema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rotação · fator único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 · SS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67,2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32,8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 · 50/50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 · 60/40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 · SS da padrão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66,8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33,2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 · SS da estrutura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62,2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37,8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 · comunalidades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63,5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36,5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 · 50/50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 · 60/40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7" name="Image 0" descr="/Users/pedro/Documents/Iniciacao Cientifica/Projeto_IVS_Censo22/banco_de_dados/eda/ivs_especificacoes/figuras/peso_f1_por_especificac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1673352"/>
            <a:ext cx="6245352" cy="2884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66360" y="4621360"/>
            <a:ext cx="6245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5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Peso de F1 nas fatorações elegíveis com peso tirado dos dados: ponto, a amostra inteira; barra, um município de fora por vez.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ivs_especificacoes/pesos.csv; figuras/peso_f1_por_especificacao.png.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AUC de cada especificação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 os setores de FCU, global e dentro do município, na amostra comum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6" name="Image 0" descr="/Users/pedro/Documents/Iniciacao Cientifica/Projeto_IVS_Censo22/banco_de_dados/eda/ivs_especificacoes/figuras/auc_por_especificac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37360"/>
            <a:ext cx="8961120" cy="35844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39496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6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das especificações com normalização municipal, em ordem crescente (cheio: elegível; vazado: inelegível); tracejado: a renda sozinha; estrela: a referência.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77240" y="5815584"/>
            <a:ext cx="1063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5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renda, entre as elegíveis: </a:t>
            </a:r>
            <a:pPr indent="0" marL="0">
              <a:lnSpc>
                <a:spcPts val="1625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original 0,7964; sem o extremo 0,7968; mediana municipal 0,7968 — as três coladas.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ivs_especificacoes/especificacoes.csv (auc_mun_comum); figuras/auc_por_especificacao.png.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índice acrescenta à renda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renda sozinha separa melhor; dentro de cada faixa de renda, o índice acrescenta.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renda sozinha contra o índice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 192 especificações elegíveis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56232"/>
            <a:ext cx="242316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29384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192 de 192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renda vence o índice na AUC global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0" y="1856232"/>
            <a:ext cx="242316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929384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192 de 192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474720" y="25146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renda vence na AUC dentro do município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2200" y="1856232"/>
            <a:ext cx="2423160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1929384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192 de 192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172200" y="25146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vence dentro dos decis de renda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869680" y="1856232"/>
            <a:ext cx="242316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0" y="1929384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 ≥ 7,9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869680" y="25146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soma à renda na regressão logística</a:t>
            </a:r>
            <a:endParaRPr lang="en-US" sz="105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3182112"/>
          <a:ext cx="7863840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1463040"/>
                <a:gridCol w="16459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 referência proposta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sozinha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0,8309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0,8900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dentro do município (mediana)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0,8186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0,8618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dentro dos decis de renda de cada município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0,7062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0,5900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8961120" y="3182112"/>
            <a:ext cx="24505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Somar o índice à renda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logística baixa a deviance em 135,5 (z = 17,5) e leva a AUC de 0,8900 a 0,8909. Em toda a grade, o ganho de AUC fica em até 0,0101.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banco_de_dados/eda/ivs_especificacoes/acrescimo_renda.csv.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referência proposta — e por que desconfiar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proposta, não uma decisão: quatro leituras dos critérios, quatro resultados.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leituras, quatro propostas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especificação de melhor posição média em cada leitura dos critérios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45920"/>
          <a:ext cx="10634472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325880"/>
                <a:gridCol w="914400"/>
                <a:gridCol w="1143000"/>
                <a:gridCol w="914400"/>
                <a:gridCol w="1234440"/>
                <a:gridCol w="1051560"/>
                <a:gridCol w="850392"/>
              </a:tblGrid>
              <a:tr h="4323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Leitura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Rotação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Normal.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Posto médio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8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Principal: estabilidade de F1, AUC na amostra comum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lixo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graduado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60/40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 município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38,7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na amostra própria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lixo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V00495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60/40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 município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38,0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Estabilidade pelos pesos das variáveis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o extremo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lixo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comunalidades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 município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27,8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Normalização global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o extremo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lixo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60/40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global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37,5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banco_de_dados/eda/ivs_especificacoes/referencia.csv.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desconfiar da principal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pontos, todos com número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82496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37360"/>
            <a:ext cx="5074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critério (a) degenera.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pesos fixos (50/50, 60/40), a amplitude do peso de F1 é 0,0 por construção: a principal (60/40) empata em primeiro na estabilidade sem ter sido testada.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309360" y="1737360"/>
            <a:ext cx="5074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Medida de outro jeito, a proposta muda.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Pela estabilidade dos pesos das variáveis: sem o extremo · sem lixo · sem banheiro · promax · comunalidades · no município.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3136392"/>
            <a:ext cx="5074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60/40 não foi conferido na fonte.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números do Quadro 3 (p. 7 do PDF do IVS-BH 2012) não saíram no texto extraído: falta confirmar 0,6 para a socioeconômica e 0,4 para o saneamento.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309360" y="3136392"/>
            <a:ext cx="5074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normalização importa.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Normalizando global em vez de no município, 10,2% dos setores mudam de faixa (regra do IVS-BH) e 10,5% (quartis); o Spearman com a referência fica em 0,940.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4535424"/>
            <a:ext cx="10634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corte de 0,30 é rígido?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IVS-7 com o banheiro graduado ficou de fora por uma comunalidade de 0,299. Um corte de 0,29 mudaria a lista de elegíveis.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ivs_especificacoes/especificacoes.csv, avaliacao.csv, referencia.csv; estado_nb05_2026-09.md.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faixas da referência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referência contra quatro alternativas, e as duas regras de corte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6" name="Image 0" descr="/Users/pedro/Documents/Iniciacao Cientifica/Projeto_IVS_Censo22/banco_de_dados/eda/ivs_especificacoes/figuras/concordancia_faix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73352"/>
            <a:ext cx="9326880" cy="27728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491928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7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Faixas pela regra do IVS-BH 2012: a referência (linhas) contra quatro alternativas (colunas), em % dos setores; a diagonal é quem fica na mesma faixa.</a:t>
            </a:r>
            <a:endParaRPr lang="en-US" sz="105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03408"/>
          <a:ext cx="10634472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325880"/>
                <a:gridCol w="1325880"/>
                <a:gridCol w="1325880"/>
                <a:gridCol w="1463040"/>
                <a:gridCol w="135331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Regra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Indefinida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 2012 (média ± DP, no município)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21.270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31.052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17.622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3.933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 municipais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18.449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18.472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18.464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18.493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ivs_especificacoes/ivs_referencia_por_setor.csv; figuras/concordancia_faixas.png.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fica para decidir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escolhas são da orientadora; os números de cada uma estão aqui.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sete escolhas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uma com o que a grade mostra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45920"/>
          <a:ext cx="1063447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206240"/>
                <a:gridCol w="459943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Escolha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Opções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os números mostram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 · sem o extremo · mediana municipal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Empatam: AUC municipal média 0,7964 / 0,7968 / 0,7968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Rotação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rotação · Varimax · promax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Elegíveis: 0 de 36 / 72 de 108 / 120 de 180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8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Pesos na oblíqua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SS da padrão · SS da estrutura · comunalidades · 50/50 · 60/40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Passam em igual número; os fixos empatam a estabilidade por construção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· sem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Elegíveis: com 48 de 162; sem 144 de 162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fora · V00495 · graduado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Elegíveis: fora 48 de 108; V00495 96 de 108; graduado 48 de 108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Normalização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 município · global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Global: 10,2% dos setores mudam de faixa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Faixas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 2012 · quartis municipais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 distribuições estão na Parte 9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ivs_especificacoes/especificacoes.csv e avaliacao.csv; estado_nb05_2026-09.md, "Perguntas à orientadora".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perguntas de método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os critérios não decidem sozinhos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45920"/>
          <a:ext cx="10634472" cy="914400"/>
        </p:xfrm>
        <a:graphic>
          <a:graphicData uri="http://schemas.openxmlformats.org/drawingml/2006/table">
            <a:tbl>
              <a:tblPr/>
              <a:tblGrid>
                <a:gridCol w="5852160"/>
                <a:gridCol w="478231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Pergunta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 quê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Manter o critério (a) como está, ou medir a estabilidade pelos pesos das variáveis?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 duas leituras levam a propostas diferentes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corte de comunalidade de 0,30 é rígido?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IVS-7 + graduado ficou de fora por 0,299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regra da grade basta para o lixo sair, ou a saída pede justificativa própria?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IVS-7 do NB04 é inelegível pela comunalidade da água (0,253)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Amostra comum ou própria no critério (b)?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proposta muda de banheiro graduado para V00495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60/40 do IVS-BH 2012 confere com o Quadro 3 do PDF?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números não saíram no texto extraído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8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 papel a AUC contra FCU deve ter na escolha?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renda sozinha vence; o critério de FCU olha, em parte, o próprio saneamento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8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Pesos por comunalidades na promax: a leitura operacional está certa?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oblíqua de cada variável, somada na dimensão da maior carga padrão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Fonte: estado_nb05_2026-09.md, "Perguntas à orientadora" (novas da Fase C).</a:t>
            </a:r>
            <a:endParaRPr lang="en-US" sz="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está cada resultado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conferir qualquer número deste deck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45920"/>
          <a:ext cx="10634472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679399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Resultado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Onde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entrega, com as três rendas e o banheiro graduado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banco_de_dados/entrega_orientadora/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2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fatorial ampliada (S0–S7)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notebooks/Fase3_EDA_ELSI/04b_Analise_Fatorial_Ampliada.ipynb; banco_de_dados/eda/fatorial_ampliada/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grade do IVS final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notebooks/Fase3_EDA_ELSI/05_Calculo_IVS_Final.ipynb; banco_de_dados/eda/ivs_especificacoes/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relatórios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docs/relatorios/Relatorio_IVS_Final_NB05.md; docs/relatorios/Relatorio_Analise_Fatorial_NB04.md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deck principal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docs/Apresentacoes_IVS/Analise_Fatorial_NB04_2026-09.pptx (114 slides)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registro de cada fase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estado_demandas_2026-09.md; estado_nb05_2026-09.md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5623560"/>
            <a:ext cx="1063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Gerado por scripts/gerar_deck_demandas_setembro.js em 05/10/2026, a partir dos CSVs. Para refazer: node scripts/gerar_deck_demandas_setembro.js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Demandas de setembro — Projeto IVS Censo 2022</dc:title>
  <dc:subject>PptxGenJS Presentation</dc:subject>
  <dc:creator>Pedro Dias Soares</dc:creator>
  <cp:lastModifiedBy>Pedro Dias Soares</cp:lastModifiedBy>
  <cp:revision>1</cp:revision>
  <dcterms:created xsi:type="dcterms:W3CDTF">2026-10-05T12:39:23Z</dcterms:created>
  <dcterms:modified xsi:type="dcterms:W3CDTF">2026-10-05T12:39:23Z</dcterms:modified>
</cp:coreProperties>
</file>