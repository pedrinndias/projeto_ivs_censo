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Água</c:v>
                </c:pt>
              </c:strCache>
            </c:strRef>
          </c:tx>
          <c:spPr>
            <a:solidFill>
              <a:srgbClr val="1959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Norte</c:v>
                  </c:pt>
                  <c:pt idx="1">
                    <c:v>Nordeste</c:v>
                  </c:pt>
                  <c:pt idx="2">
                    <c:v>Centro-Oeste</c:v>
                  </c:pt>
                  <c:pt idx="3">
                    <c:v>Sudeste</c:v>
                  </c:pt>
                  <c:pt idx="4">
                    <c:v>Sul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0.356</c:v>
                </c:pt>
                <c:pt idx="1">
                  <c:v>0.127</c:v>
                </c:pt>
                <c:pt idx="2">
                  <c:v>0.092</c:v>
                </c:pt>
                <c:pt idx="3">
                  <c:v>0.045</c:v>
                </c:pt>
                <c:pt idx="4">
                  <c:v>0.035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Esgoto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Norte</c:v>
                  </c:pt>
                  <c:pt idx="1">
                    <c:v>Nordeste</c:v>
                  </c:pt>
                  <c:pt idx="2">
                    <c:v>Centro-Oeste</c:v>
                  </c:pt>
                  <c:pt idx="3">
                    <c:v>Sudeste</c:v>
                  </c:pt>
                  <c:pt idx="4">
                    <c:v>Sul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0.271</c:v>
                </c:pt>
                <c:pt idx="1">
                  <c:v>0.176</c:v>
                </c:pt>
                <c:pt idx="2">
                  <c:v>0.094</c:v>
                </c:pt>
                <c:pt idx="3">
                  <c:v>0.054</c:v>
                </c:pt>
                <c:pt idx="4">
                  <c:v>0.039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Lixo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Norte</c:v>
                  </c:pt>
                  <c:pt idx="1">
                    <c:v>Nordeste</c:v>
                  </c:pt>
                  <c:pt idx="2">
                    <c:v>Centro-Oeste</c:v>
                  </c:pt>
                  <c:pt idx="3">
                    <c:v>Sudeste</c:v>
                  </c:pt>
                  <c:pt idx="4">
                    <c:v>Sul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0.14</c:v>
                </c:pt>
                <c:pt idx="1">
                  <c:v>0.165</c:v>
                </c:pt>
                <c:pt idx="2">
                  <c:v>0.12</c:v>
                </c:pt>
                <c:pt idx="3">
                  <c:v>0.115</c:v>
                </c:pt>
                <c:pt idx="4">
                  <c:v>0.11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DA ANÁLISE EXPLORATÓRIA  ·  FASE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mudou na EDA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IVS — e por quê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a versão de 15/05 e a versão corrigida de 22/05/2026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429000"/>
            <a:ext cx="3657600" cy="749808"/>
          </a:xfrm>
          <a:prstGeom prst="roundRect">
            <a:avLst>
              <a:gd name="adj" fmla="val 9756"/>
            </a:avLst>
          </a:prstGeom>
          <a:solidFill>
            <a:srgbClr val="12365E"/>
          </a:solidFill>
          <a:ln w="15875">
            <a:solidFill>
              <a:srgbClr val="1959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domiciliar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7947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V01042 (pessoas) → V00001 (domicílios)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3429000"/>
            <a:ext cx="3657600" cy="749808"/>
          </a:xfrm>
          <a:prstGeom prst="roundRect">
            <a:avLst>
              <a:gd name="adj" fmla="val 9756"/>
            </a:avLst>
          </a:prstGeom>
          <a:solidFill>
            <a:srgbClr val="12365E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analfabetismo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37947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V00900 → ÷ (V00900 + V00901)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4572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Dias Soares  ·  Iniciação Científica  ·  Fiocruz Minas — IRR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o projeto, em uma página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Índice de Vulnerabilidade à Saúde (IVS)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intraurbano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comparar a vulnerabilidade entre setores </a:t>
            </a:r>
            <a:pPr indent="0" marL="0">
              <a:lnSpc>
                <a:spcPct val="105000"/>
              </a:lnSpc>
              <a:buNone/>
            </a:pPr>
            <a:r>
              <a:rPr lang="en-US" sz="1450" i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cada cidade — com dados do Censo 2022, para os 70 municípios do ELSI-Brasil.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2606040" cy="15544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057400"/>
            <a:ext cx="82296" cy="1554480"/>
          </a:xfrm>
          <a:prstGeom prst="rect">
            <a:avLst/>
          </a:prstGeom>
          <a:solidFill>
            <a:srgbClr val="19599A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1762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5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542032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setor censitário — a menor área do IBGE. Permite enxergar desigualdades dentro da cidade.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2057400"/>
            <a:ext cx="2606040" cy="15544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2057400"/>
            <a:ext cx="82296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21762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Método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47288" y="2542032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ecológico baseado no IVS de Belo Horizonte (2012): 7 variáveis em 2 dimensões.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2057400"/>
            <a:ext cx="2606040" cy="15544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2057400"/>
            <a:ext cx="82296" cy="155448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21762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Produto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36208" y="2542032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Final de IC + artigo científico. Hoje estamos na EDA (Fase 3).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9F1F7"/>
          </a:solidFill>
          <a:ln w="12700">
            <a:solidFill>
              <a:srgbClr val="1959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8404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5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 para esta apresentação: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EDA é a base que alimenta o cálculo do índice. Se os indicadores forem definidos de forma incorreta, todo o IVS herda o erro. Por isso revisamos a EDA antes de avançar.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7 variáveis-componente do IVS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mede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959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Saneamento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domicílios com água inadequada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domicílios com esgoto inadequado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domicílios com lixo inadequado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Socioeconômica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moradores por domicílio (densidade)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pessoas analfabetas (15+)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Rendimento médio mensal dos responsáveis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959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pior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pessoas pretas, pardas e indígenas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“direção”:  </a:t>
            </a:r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todas, maior valor = mais vulnerável; só o rendimento é invertido (quanto menor a renda, mais vulnerável).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revisar a EDA de 15/05?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EDA estava tecnicamente bem feita, mas tinha duas decisões metodológicas que, revisadas com a orientadora e o dicionário oficial do IBGE, precisavam ser corrigidas: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8229600" cy="1051560"/>
          </a:xfrm>
          <a:prstGeom prst="rect">
            <a:avLst/>
          </a:prstGeom>
          <a:solidFill>
            <a:srgbClr val="FBEBE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2585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209397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denominador dos indicadores de saneamento era uma contagem de pessoas (V01042)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que falam de “% de domicílios” precisam ser divididos por domicílios — não por pessoas. A unidade estava trocada.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1051560"/>
          </a:xfrm>
          <a:prstGeom prst="rect">
            <a:avLst/>
          </a:prstGeom>
          <a:solidFill>
            <a:srgbClr val="FBEBE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3493008"/>
            <a:ext cx="502920" cy="50292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4930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71600" y="332841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taxa de analfabetismo usava um denominador que não fechava (V00901 / V00900)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36576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Dividia analfabetos por alfabetizados (uma razão), não pelo total de pessoas 15+. Produzia “taxas” acima de 100% — matematicamente impossíveis.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7083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0B2447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3708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brutos do IBGE não mudaram. O que mudou foi como calculamos os indicadores a partir deles.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5 correções desta revisão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137160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19599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07008" y="1444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Denominador domiciliar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97510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V01042 (pessoas) → V00001 (domicílios particulares permanentes ocupados).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1280160"/>
            <a:ext cx="3977640" cy="137160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463040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58968" y="1444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Taxa de analfabetismo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97510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V00901/V00900 → V00901/(V00900+V00901): taxa válida em [0,1].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3977640" cy="137160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07008" y="29535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Razão de moradores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3483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(V00001+V00002): reproduz o V0005 oficial do IBGE.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2788920"/>
            <a:ext cx="3977640" cy="137160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2971800"/>
            <a:ext cx="457200" cy="457200"/>
          </a:xfrm>
          <a:prstGeom prst="ellipse">
            <a:avLst/>
          </a:prstGeom>
          <a:solidFill>
            <a:srgbClr val="C786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58968" y="29535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Regra Dados_sig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37760" y="3483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Elegibilidade reancorada em v0001 e V00001 (não mais em V01042).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370832"/>
            <a:ext cx="438912" cy="438912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3708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188720" y="42976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de esgoto confirmadas:  </a:t>
            </a:r>
            <a:pPr indent="0" marL="0"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V00312–V00316 (destino do esgoto). O bloco V00249–V00253 é tipologia de habitação, não esgoto.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95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Denominador: pessoas → domicílios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1417320"/>
          </a:xfrm>
          <a:prstGeom prst="rect">
            <a:avLst/>
          </a:prstGeom>
          <a:solidFill>
            <a:srgbClr val="F2F6F9"/>
          </a:solidFill>
          <a:ln w="15875">
            <a:solidFill>
              <a:srgbClr val="B3261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3977640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REJEITADO — conta PESSOAS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V01042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" y="21762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responsáveis pelo domicílio (arquivo Parentesco).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234440"/>
            <a:ext cx="3977640" cy="1417320"/>
          </a:xfrm>
          <a:prstGeom prst="rect">
            <a:avLst/>
          </a:prstGeom>
          <a:solidFill>
            <a:srgbClr val="F2F6F9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234440"/>
            <a:ext cx="3977640" cy="4572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ADOTADO — conta DOMICÍLIOS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0328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V00001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910328" y="21762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Domicílios Particulares Permanentes Ocupados — padrão IVS-BH.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Impacto nos números: quase nenhum — porque as duas variáveis são quase idênticas por setor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2F6F9"/>
          </a:solidFill>
          <a:ln w="12700">
            <a:solidFill>
              <a:srgbClr val="1959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101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5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0,9993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94360" y="38221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entre V00001 e V01042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6898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2F6F9"/>
          </a:solidFill>
          <a:ln w="12700">
            <a:solidFill>
              <a:srgbClr val="1959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68980" y="33101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5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93,2%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406140" y="38221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setores: V00001 = V01042 (idênticos)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80760" y="320040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2F6F9"/>
          </a:solidFill>
          <a:ln w="12700">
            <a:solidFill>
              <a:srgbClr val="1959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0760" y="33101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5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6,8%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17920" y="382219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diferem ligeiramente (nunca o contrário)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 correção conceitual com impacto numérico mínimo — mas agora dividimos domicílios por domicílios.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Taxa de analfabetismo: a mais importante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1371600"/>
          </a:xfrm>
          <a:prstGeom prst="rect">
            <a:avLst/>
          </a:prstGeom>
          <a:solidFill>
            <a:srgbClr val="FBEBEA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3502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(incorreto)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V00901  ÷  V00900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analfabetos ÷ alfabetizados — é uma razão, não uma taxa.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234440"/>
            <a:ext cx="3977640" cy="1371600"/>
          </a:xfrm>
          <a:prstGeom prst="rect">
            <a:avLst/>
          </a:prstGeom>
          <a:solidFill>
            <a:srgbClr val="E9F5F2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133502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 (correto)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09160" y="16459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V00901  ÷  (V00900 + V00901)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00600" y="208483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analfabetos ÷ total de pessoas 15+ — taxa válida em [0, 1].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isso mudou nos dados (antes → depois)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30098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48640" y="40233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com valor impossível (&gt;1)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46120" y="315468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30098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5,33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337560" y="40233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máximo da taxa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315468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26480" y="330098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44,1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17,7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26480" y="40233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curtose (peso dos extremos)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importa:  </a:t>
            </a:r>
            <a:pPr indent="0" marL="0">
              <a:buNone/>
            </a:pPr>
            <a:r>
              <a:rPr lang="en-US" sz="1150" i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proporção tem de ficar entre 0 e 1. A fórmula antiga estourava 1 onde havia mais analfabetos que alfabetizados — justamente os setores mais vulneráveis.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Razão de moradores: alinhada ao IBGE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fórmula: 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(V00005 + V00006) / (V00001 + V00002)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reproduz exatamente a definição oficial do V0005 do IBGE (moradores ÷ domicílios particulares ocupados).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397764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157984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0,17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32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da razão de moradores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2011680"/>
            <a:ext cx="397764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09160" y="215798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8,79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846320" y="2706624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— inalterado, mas agora interpretável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(setores reais com domicílios grandes, ex.: Portel-PA)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BEBE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61188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que isso resolveu: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denominador antigo (V01042), um setor de Brasília tinha razão de 0,17 — cerca de 1 morador para 6 domicílios, fisicamente impossível. Era um artefato do denominador errado.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(V00001+V00002), o mínimo passa a 1,00 — coerente: nunca há menos de 1 morador por domicílio ocupado.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CORREÇÕES 4 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Elegibilidade e variáveis de esgoto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141732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91440" cy="1417320"/>
          </a:xfrm>
          <a:prstGeom prst="rect">
            <a:avLst/>
          </a:prstGeom>
          <a:solidFill>
            <a:srgbClr val="C7861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3502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Regra Dados_sig (quais setores entram na análise)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6642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a regra de domicílios coletivos usava V00002/V01042 — mas V00002 são domicílios improvisados, não coletivos. </a:t>
            </a:r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Reescrita e reancorada em v0001 e V00001.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nos 70 municípios ELSI: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106.281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(97,48%)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26080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86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2.751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51760" y="24688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SIGILOSO (2,52%)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0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24688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COLETIVO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766560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24688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ZERADO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8229600" cy="150876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788920"/>
            <a:ext cx="91440" cy="1508760"/>
          </a:xfrm>
          <a:prstGeom prst="rect">
            <a:avLst/>
          </a:prstGeom>
          <a:solidFill>
            <a:srgbClr val="5B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950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· Variáveis de esgoto confirmadas no dicionário oficial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24612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V00312–V00316  ✓ esgoto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 do esgoto: fossa rudimentar, vala, rio/córrego, sem banheiro. É o bloco correto (equivale ao V019–V028 do Censo 2010).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09160" y="324612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V00249–V00253  ✗ não é esgoto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Tipologia de habitação (casa de vila, apartamento, contagem de banheiros). O relatório legado divergia; o dicionário resolveu.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setor COLETIVO ou ZERADO apareceu no recorte ELSI — só OK e SIGILOSO.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Descritivas: EDA antiga × EDA nova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554480"/>
                <a:gridCol w="1463040"/>
                <a:gridCol w="1463040"/>
              </a:tblGrid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Antiga (15/05)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(22/05)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Mudou?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água inadequada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igual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esgoto inadequado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igual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lixo inadequado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igual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moradores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analfabetismo (15+)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analfabetismo (15+)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setores &gt;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rendimento médio (R$)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inalterado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preta/parda/indíg.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inalterado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5196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E9F5F2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25196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frase:  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saneamento, a renda e a raça/cor praticamente não mudaram; o que se corrigiu foi a razão de moradores (mínimo impossível) e, sobretudo, a taxa de analfabetismo (valores acima de 1).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EM FOCO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analfabetismo ficou mais bem-comportado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correção da fórmula não só eliminou os valores impossíveis — deixou a distribuição inteira mais limpa: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8366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0,042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0,039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da taxa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73736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37560" y="188366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0,051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0,041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337560" y="2606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desvio-padrão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73736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88366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4,69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2,98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126480" y="2606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(cauda à direita)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34670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44,1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17,7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8640" y="4069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curtose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46120" y="320040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37560" y="334670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5,33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337560" y="4069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máximo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35040" y="3200400"/>
            <a:ext cx="2651760" cy="132588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3346704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trike="sngStrike" dirty="0">
                <a:solidFill>
                  <a:srgbClr val="B326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126480" y="4069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impossíveis (&gt;1)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45262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0B2447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ler: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e curtose menores = menos distorção por extremos. O n (89.527) depende do sigilo, não da fórmula.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DISTRIBUIÇÕES (BASE NOVA)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 de cada uma das 7 variáveis</a:t>
            </a:r>
            <a:endParaRPr lang="en-US" sz="2500" dirty="0"/>
          </a:p>
        </p:txBody>
      </p:sp>
      <p:pic>
        <p:nvPicPr>
          <p:cNvPr id="4" name="Image 0" descr="D:/Iniciação Cientifica/Projeto_IVS_Censo22/banco_de_dados/eda/figuras/histog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5120640" cy="33844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15000" y="1371600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Água, esgoto e lixo: a maioria dos setores tem 0% de inadequação (pico em zero) e uma cauda de bolsões críticos.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moradores: a única quase simétrica (~normal em torno de 2,7).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Analfabetismo: assimétrico, agora contido em [0; 0,84] após a correção.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Renda: cauda longuíssima (máx. R$ 170 mil em 1 setor).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Raça PPI: a mais espalhada — reflete a diversidade entre municípios.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MANTEVE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Gradiente regional Norte → Sul (média)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325880"/>
          <a:ext cx="53949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3716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correção não alterou o retrato regional: a vulnerabilidade ainda cai do Norte para o Sul.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inadequada no Norte (36%) é ~10× a do Sul (3,5%).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Socioeconômico: analfabetismo NE 6,7% vs Sul 2,2%; raça PPI Norte 76% vs Sul 25%; renda NE R$2.960 (menor).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seja: as conclusões substantivas da EDA antiga continuam válidas.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MANTEVE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 de correlações (Spearman)</a:t>
            </a:r>
            <a:endParaRPr lang="en-US" sz="2500" dirty="0"/>
          </a:p>
        </p:txBody>
      </p:sp>
      <p:pic>
        <p:nvPicPr>
          <p:cNvPr id="4" name="Image 0" descr="D:/Iniciação Cientifica/Projeto_IVS_Censo22/banco_de_dados/eda/figuras/matriz_corr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7680960" cy="33007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572000"/>
            <a:ext cx="267004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4572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−0,81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× raça/cor (a mais forte)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36976" y="4572000"/>
            <a:ext cx="267004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19599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346704" y="4572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5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−0,75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 × renda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16752" y="4572000"/>
            <a:ext cx="267004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C7861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0" y="4572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−0,04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× razão (quase nula)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ATENÇÃO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sigilo do analfabetismo permanece</a:t>
            </a:r>
            <a:endParaRPr lang="en-US" sz="2500" dirty="0"/>
          </a:p>
        </p:txBody>
      </p:sp>
      <p:pic>
        <p:nvPicPr>
          <p:cNvPr id="4" name="Image 0" descr="D:/Iniciação Cientifica/Projeto_IVS_Censo22/banco_de_dados/eda/figuras/missing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2457313" cy="3246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337560" y="1371600"/>
            <a:ext cx="54406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correção da fórmula resolveu a matemática, mas não a cobertura: 15,76% dos setores OK têm o analfabetismo sigilado pelo IBGE.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sigilo é sistemático, não aleatório — concentra-se nas capitais: São Caetano do Sul 29,7%, Porto Alegre 27,5%, Curitiba 23,1%, Belo Horizonte 22,5%.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o IBGE não divulga contagens muito pequenas. Em setores urbanos centrais, o nº absoluto de analfabetos cai abaixo do limite (44% de sigilo nos setores com 1–10 alfabetizados; só 3% nos maiores).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manter NaN (transparente). Imputar zero subestimaria o analfabetismo justamente onde a vulnerabilidade é menor. Tratar no cálculo do IVS, com a orientadora.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76809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mudou × o que se manteve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1463040"/>
            <a:ext cx="3703320" cy="1920240"/>
          </a:xfrm>
          <a:prstGeom prst="rect">
            <a:avLst/>
          </a:prstGeom>
          <a:solidFill>
            <a:srgbClr val="12365E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72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MUDOU (corrigido)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810512"/>
            <a:ext cx="33375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domiciliar → V00001 (conceito correto).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analfabetismo → válida em [0,1] (máx. 5,33 → 0,84).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moradores → mínimo impossível 0,17 → 1,00.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Dados_sig e esgoto → conferidas no dicionário IBGE.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3703320" cy="1920240"/>
          </a:xfrm>
          <a:prstGeom prst="rect">
            <a:avLst/>
          </a:prstGeom>
          <a:solidFill>
            <a:srgbClr val="12365E"/>
          </a:solidFill>
          <a:ln w="15875">
            <a:solidFill>
              <a:srgbClr val="1959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72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FB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MANTEVE-SE (robusto)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92040" y="1810512"/>
            <a:ext cx="33375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Saneamento, renda e raça/cor: valores praticamente iguais.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 regional Norte → Sul.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racial-econômico (renda × raça = −0,81).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106.281 setores OK (97,48%) e o sigilo do analfabetismo.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566160"/>
            <a:ext cx="7589520" cy="713232"/>
          </a:xfrm>
          <a:prstGeom prst="roundRect">
            <a:avLst>
              <a:gd name="adj" fmla="val 10256"/>
            </a:avLst>
          </a:prstGeom>
          <a:solidFill>
            <a:srgbClr val="12365E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64845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51560" y="389534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por município  →  análise fatorial e pesos  →  IVS final  →  4 faixas de risco  →  mapas (QGIS)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434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recalculada, reproduzível e auditada — pronta para o cálculo do índice.  Fonte: Censo 2022 (IBGE), 70 municípios ELSI-Brasil.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IVS — Comparativo Antiga × Nova</dc:title>
  <dc:subject>PptxGenJS Presentation</dc:subject>
  <dc:creator>Pedro Dias Soares</dc:creator>
  <cp:lastModifiedBy>Pedro Dias Soares</cp:lastModifiedBy>
  <cp:revision>1</cp:revision>
  <dcterms:created xsi:type="dcterms:W3CDTF">2026-05-28T22:52:01Z</dcterms:created>
  <dcterms:modified xsi:type="dcterms:W3CDTF">2026-05-28T22:52:01Z</dcterms:modified>
</cp:coreProperties>
</file>