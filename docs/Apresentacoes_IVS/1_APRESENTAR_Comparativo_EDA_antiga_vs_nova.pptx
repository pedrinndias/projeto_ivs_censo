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Água</c:v>
                </c:pt>
              </c:strCache>
            </c:strRef>
          </c:tx>
          <c:spPr>
            <a:solidFill>
              <a:srgbClr val="19599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Norte</c:v>
                </c:pt>
                <c:pt idx="1">
                  <c:v>Nordeste</c:v>
                </c:pt>
                <c:pt idx="2">
                  <c:v>Centro-Oeste</c:v>
                </c:pt>
                <c:pt idx="3">
                  <c:v>Sudeste</c:v>
                </c:pt>
                <c:pt idx="4">
                  <c:v>Sul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0.35599999999999998</c:v>
                </c:pt>
                <c:pt idx="1">
                  <c:v>0.127</c:v>
                </c:pt>
                <c:pt idx="2">
                  <c:v>9.1999999999999998E-2</c:v>
                </c:pt>
                <c:pt idx="3">
                  <c:v>4.4999999999999998E-2</c:v>
                </c:pt>
                <c:pt idx="4">
                  <c:v>3.5000000000000003E-2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BB-40E2-9F8B-B34F400800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Esgoto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Norte</c:v>
                </c:pt>
                <c:pt idx="1">
                  <c:v>Nordeste</c:v>
                </c:pt>
                <c:pt idx="2">
                  <c:v>Centro-Oeste</c:v>
                </c:pt>
                <c:pt idx="3">
                  <c:v>Sudeste</c:v>
                </c:pt>
                <c:pt idx="4">
                  <c:v>Sul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0.27100000000000002</c:v>
                </c:pt>
                <c:pt idx="1">
                  <c:v>0.17599999999999999</c:v>
                </c:pt>
                <c:pt idx="2">
                  <c:v>9.4E-2</c:v>
                </c:pt>
                <c:pt idx="3">
                  <c:v>5.3999999999999999E-2</c:v>
                </c:pt>
                <c:pt idx="4">
                  <c:v>3.9E-2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BB-40E2-9F8B-B34F400800C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Lixo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Norte</c:v>
                </c:pt>
                <c:pt idx="1">
                  <c:v>Nordeste</c:v>
                </c:pt>
                <c:pt idx="2">
                  <c:v>Centro-Oeste</c:v>
                </c:pt>
                <c:pt idx="3">
                  <c:v>Sudeste</c:v>
                </c:pt>
                <c:pt idx="4">
                  <c:v>Sul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0.14000000000000001</c:v>
                </c:pt>
                <c:pt idx="1">
                  <c:v>0.16500000000000001</c:v>
                </c:pt>
                <c:pt idx="2">
                  <c:v>0.12</c:v>
                </c:pt>
                <c:pt idx="3">
                  <c:v>0.115</c:v>
                </c:pt>
                <c:pt idx="4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4BB-40E2-9F8B-B34F400800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1370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kern="0" spc="200" noProof="0" dirty="0">
                <a:solidFill>
                  <a:srgbClr val="8FB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DA ANÁLISE EXPLORATÓRIA  ·  FASE 3</a:t>
            </a:r>
            <a:endParaRPr lang="pt-BR" sz="1300" noProof="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pt-BR" sz="38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mudou na EDA</a:t>
            </a:r>
            <a:endParaRPr lang="pt-BR" sz="3800" noProof="0" dirty="0"/>
          </a:p>
          <a:p>
            <a:pPr marL="0" indent="0">
              <a:lnSpc>
                <a:spcPct val="102000"/>
              </a:lnSpc>
              <a:buNone/>
            </a:pPr>
            <a:r>
              <a:rPr lang="pt-BR" sz="38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IVS — e por quê</a:t>
            </a:r>
            <a:endParaRPr lang="pt-BR" sz="3800" noProof="0" dirty="0"/>
          </a:p>
        </p:txBody>
      </p:sp>
      <p:sp>
        <p:nvSpPr>
          <p:cNvPr id="6" name="Shape 4"/>
          <p:cNvSpPr/>
          <p:nvPr/>
        </p:nvSpPr>
        <p:spPr>
          <a:xfrm>
            <a:off x="822960" y="3429000"/>
            <a:ext cx="3657600" cy="749808"/>
          </a:xfrm>
          <a:prstGeom prst="roundRect">
            <a:avLst>
              <a:gd name="adj" fmla="val 9756"/>
            </a:avLst>
          </a:prstGeom>
          <a:solidFill>
            <a:srgbClr val="12365E"/>
          </a:solidFill>
          <a:ln w="15875">
            <a:solidFill>
              <a:srgbClr val="19599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105156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Denominador domiciliar</a:t>
            </a:r>
            <a:endParaRPr lang="pt-BR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1051560" y="3794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AF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V01042 (pessoas) → V00001 (domicílios)</a:t>
            </a:r>
            <a:endParaRPr lang="pt-BR" sz="1100" noProof="0" dirty="0"/>
          </a:p>
        </p:txBody>
      </p:sp>
      <p:sp>
        <p:nvSpPr>
          <p:cNvPr id="9" name="Shape 7"/>
          <p:cNvSpPr/>
          <p:nvPr/>
        </p:nvSpPr>
        <p:spPr>
          <a:xfrm>
            <a:off x="4663440" y="3429000"/>
            <a:ext cx="3657600" cy="749808"/>
          </a:xfrm>
          <a:prstGeom prst="roundRect">
            <a:avLst>
              <a:gd name="adj" fmla="val 9756"/>
            </a:avLst>
          </a:prstGeom>
          <a:solidFill>
            <a:srgbClr val="12365E"/>
          </a:solidFill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489204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analfabetismo</a:t>
            </a:r>
            <a:endParaRPr lang="pt-BR" sz="1300" noProof="0" dirty="0"/>
          </a:p>
        </p:txBody>
      </p:sp>
      <p:sp>
        <p:nvSpPr>
          <p:cNvPr id="11" name="Text 9"/>
          <p:cNvSpPr/>
          <p:nvPr/>
        </p:nvSpPr>
        <p:spPr>
          <a:xfrm>
            <a:off x="4892040" y="3794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AF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V00900 → ÷ (V00900 + V00901)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200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pt-BR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pt-BR" sz="1450" b="1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 </a:t>
            </a:r>
            <a:r>
              <a:rPr lang="pt-BR" sz="145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um Índice de Vulnerabilidade à Saúde (IVS) </a:t>
            </a:r>
            <a:r>
              <a:rPr lang="pt-BR" sz="1450" b="1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intraurbano</a:t>
            </a:r>
            <a:r>
              <a:rPr lang="pt-BR" sz="145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comparar a vulnerabilidade entre setores </a:t>
            </a:r>
            <a:r>
              <a:rPr lang="pt-BR" sz="1450" i="1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</a:t>
            </a:r>
            <a:r>
              <a:rPr lang="pt-BR" sz="145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cada cidade — com dados do Censo 2022, para os 70 municípios do ELSI-Brasil.</a:t>
            </a:r>
            <a:endParaRPr lang="pt-BR" sz="145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2606040" cy="155448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82296" cy="1554480"/>
          </a:xfrm>
          <a:prstGeom prst="rect">
            <a:avLst/>
          </a:prstGeom>
          <a:solidFill>
            <a:srgbClr val="19599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658368" y="21762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959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Unidade</a:t>
            </a:r>
            <a:endParaRPr lang="pt-BR" sz="1500" noProof="0" dirty="0"/>
          </a:p>
        </p:txBody>
      </p:sp>
      <p:sp>
        <p:nvSpPr>
          <p:cNvPr id="8" name="Text 6"/>
          <p:cNvSpPr/>
          <p:nvPr/>
        </p:nvSpPr>
        <p:spPr>
          <a:xfrm>
            <a:off x="658368" y="2542032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pt-BR" sz="115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setor censitário — a menor área do IBGE. Permite enxergar desigualdades dentro da cidade.</a:t>
            </a:r>
            <a:endParaRPr lang="pt-BR" sz="1150" noProof="0" dirty="0"/>
          </a:p>
        </p:txBody>
      </p:sp>
      <p:sp>
        <p:nvSpPr>
          <p:cNvPr id="9" name="Shape 7"/>
          <p:cNvSpPr/>
          <p:nvPr/>
        </p:nvSpPr>
        <p:spPr>
          <a:xfrm>
            <a:off x="3246120" y="2057400"/>
            <a:ext cx="2606040" cy="155448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3246120" y="2057400"/>
            <a:ext cx="82296" cy="1554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3447288" y="21762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Método</a:t>
            </a:r>
            <a:endParaRPr lang="pt-BR" sz="1500" noProof="0" dirty="0"/>
          </a:p>
        </p:txBody>
      </p:sp>
      <p:sp>
        <p:nvSpPr>
          <p:cNvPr id="12" name="Text 10"/>
          <p:cNvSpPr/>
          <p:nvPr/>
        </p:nvSpPr>
        <p:spPr>
          <a:xfrm>
            <a:off x="3447288" y="2542032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pt-BR" sz="115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ecológico baseado no IVS de Belo Horizonte (2012): 7 variáveis em 2 dimensões.</a:t>
            </a:r>
            <a:endParaRPr lang="pt-BR" sz="1150" noProof="0" dirty="0"/>
          </a:p>
        </p:txBody>
      </p:sp>
      <p:sp>
        <p:nvSpPr>
          <p:cNvPr id="13" name="Shape 11"/>
          <p:cNvSpPr/>
          <p:nvPr/>
        </p:nvSpPr>
        <p:spPr>
          <a:xfrm>
            <a:off x="6035040" y="2057400"/>
            <a:ext cx="2606040" cy="155448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2"/>
          <p:cNvSpPr/>
          <p:nvPr/>
        </p:nvSpPr>
        <p:spPr>
          <a:xfrm>
            <a:off x="6035040" y="2057400"/>
            <a:ext cx="82296" cy="15544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6236208" y="21762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Produto</a:t>
            </a:r>
            <a:endParaRPr lang="pt-BR" sz="1500" noProof="0" dirty="0"/>
          </a:p>
        </p:txBody>
      </p:sp>
      <p:sp>
        <p:nvSpPr>
          <p:cNvPr id="16" name="Text 14"/>
          <p:cNvSpPr/>
          <p:nvPr/>
        </p:nvSpPr>
        <p:spPr>
          <a:xfrm>
            <a:off x="6236208" y="2542032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pt-BR" sz="115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Final de IC + artigo científico. </a:t>
            </a:r>
            <a:endParaRPr lang="pt-BR" sz="115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200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OBJETO</a:t>
            </a:r>
            <a:endParaRPr lang="pt-BR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500" b="1" noProof="0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7 variáveis-componente do IVS</a:t>
            </a:r>
            <a:endParaRPr lang="pt-BR" sz="2500" noProof="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311273"/>
              </p:ext>
            </p:extLst>
          </p:nvPr>
        </p:nvGraphicFramePr>
        <p:xfrm>
          <a:off x="457200" y="1234440"/>
          <a:ext cx="8229600" cy="29260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2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Dimensão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2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mede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2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Direção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50" b="1" noProof="0" dirty="0">
                          <a:solidFill>
                            <a:srgbClr val="1959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Saneamento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50" noProof="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domicílios com água inadequada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50" b="1" noProof="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pior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50" noProof="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domicílios com esgoto inadequado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50" b="1" noProof="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pior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50" noProof="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domicílios com lixo inadequado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50" b="1" noProof="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pior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50" b="1" noProof="0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Socioeconômica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50" noProof="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Razão de moradores por domicílio (densidade)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50" b="1" noProof="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pior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50" noProof="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 pessoas analfabetas (15+)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50" b="1" noProof="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pior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50" noProof="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Rendimento médio mensal dos responsáveis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50" b="1" noProof="0" dirty="0">
                          <a:solidFill>
                            <a:srgbClr val="1959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pior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50" noProof="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 pessoas pretas, pardas e indígenas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50" b="1" noProof="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pior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200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DE PARTIDA</a:t>
            </a:r>
            <a:endParaRPr lang="pt-BR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pt-BR" sz="140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primeira analise exploratória de dados estava tecnicamente bem feita, mas tinha duas decisões metodológicas que, revisadas com a orientadora e o dicionário oficial do IBGE, precisavam ser corrigidas:</a:t>
            </a:r>
            <a:endParaRPr lang="pt-BR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8229600" cy="1051560"/>
          </a:xfrm>
          <a:prstGeom prst="rect">
            <a:avLst/>
          </a:prstGeom>
          <a:solidFill>
            <a:srgbClr val="FBEBEA"/>
          </a:solidFill>
          <a:ln w="12700">
            <a:solidFill>
              <a:srgbClr val="B3261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685800" y="2258568"/>
            <a:ext cx="502920" cy="502920"/>
          </a:xfrm>
          <a:prstGeom prst="ellipse">
            <a:avLst/>
          </a:prstGeom>
          <a:solidFill>
            <a:srgbClr val="B3261E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685800" y="2258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0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pt-BR" sz="2000" noProof="0" dirty="0"/>
          </a:p>
        </p:txBody>
      </p:sp>
      <p:sp>
        <p:nvSpPr>
          <p:cNvPr id="8" name="Text 6"/>
          <p:cNvSpPr/>
          <p:nvPr/>
        </p:nvSpPr>
        <p:spPr>
          <a:xfrm>
            <a:off x="1371600" y="209397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denominador dos indicadores de saneamento era uma contagem de pessoas (V01042)</a:t>
            </a:r>
            <a:endParaRPr lang="pt-BR" sz="1500" noProof="0" dirty="0"/>
          </a:p>
        </p:txBody>
      </p:sp>
      <p:sp>
        <p:nvSpPr>
          <p:cNvPr id="9" name="Text 7"/>
          <p:cNvSpPr/>
          <p:nvPr/>
        </p:nvSpPr>
        <p:spPr>
          <a:xfrm>
            <a:off x="1371600" y="2423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pt-BR" sz="125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que falam de “% de domicílios” precisam ser divididos por domicílios — não por pessoas. A unidade estava trocada.</a:t>
            </a:r>
            <a:endParaRPr lang="pt-BR" sz="1250" noProof="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8229600" cy="1051560"/>
          </a:xfrm>
          <a:prstGeom prst="rect">
            <a:avLst/>
          </a:prstGeom>
          <a:solidFill>
            <a:srgbClr val="FBEBEA"/>
          </a:solidFill>
          <a:ln w="12700">
            <a:solidFill>
              <a:srgbClr val="B3261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9"/>
          <p:cNvSpPr/>
          <p:nvPr/>
        </p:nvSpPr>
        <p:spPr>
          <a:xfrm>
            <a:off x="685800" y="3493008"/>
            <a:ext cx="502920" cy="502920"/>
          </a:xfrm>
          <a:prstGeom prst="ellipse">
            <a:avLst/>
          </a:prstGeom>
          <a:solidFill>
            <a:srgbClr val="B3261E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685800" y="3493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0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pt-BR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1371600" y="332841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taxa de analfabetismo usava um denominador que não fechava (V00901 / V00900)</a:t>
            </a:r>
            <a:endParaRPr lang="pt-BR" sz="1500" noProof="0" dirty="0"/>
          </a:p>
        </p:txBody>
      </p:sp>
      <p:sp>
        <p:nvSpPr>
          <p:cNvPr id="14" name="Text 12"/>
          <p:cNvSpPr/>
          <p:nvPr/>
        </p:nvSpPr>
        <p:spPr>
          <a:xfrm>
            <a:off x="1371600" y="3657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pt-BR" sz="125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Dividia analfabetos por alfabetizados (uma razão), não pelo total de pessoas 15+. Produzia “taxas” acima de 100% — matematicamente impossíveis.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200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pt-BR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500" b="1" noProof="0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5 correções desta revisão</a:t>
            </a:r>
            <a:endParaRPr lang="pt-BR" sz="25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77640" cy="137160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19599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pt-BR" sz="1600" noProof="0" dirty="0"/>
          </a:p>
        </p:txBody>
      </p:sp>
      <p:sp>
        <p:nvSpPr>
          <p:cNvPr id="7" name="Text 5"/>
          <p:cNvSpPr/>
          <p:nvPr/>
        </p:nvSpPr>
        <p:spPr>
          <a:xfrm>
            <a:off x="1207008" y="14447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Denominador domiciliar</a:t>
            </a:r>
            <a:endParaRPr lang="pt-BR" sz="1400" noProof="0" dirty="0"/>
          </a:p>
        </p:txBody>
      </p:sp>
      <p:sp>
        <p:nvSpPr>
          <p:cNvPr id="8" name="Text 6"/>
          <p:cNvSpPr/>
          <p:nvPr/>
        </p:nvSpPr>
        <p:spPr>
          <a:xfrm>
            <a:off x="685800" y="197510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pt-BR" sz="1150" noProof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V01042 (pessoas) → V00001 (domicílios particulares permanentes ocupados).</a:t>
            </a:r>
            <a:endParaRPr lang="pt-BR" sz="1150" noProof="0" dirty="0"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3977640" cy="137160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4892040" y="146304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pt-BR" sz="1600" noProof="0" dirty="0"/>
          </a:p>
        </p:txBody>
      </p:sp>
      <p:sp>
        <p:nvSpPr>
          <p:cNvPr id="12" name="Text 10"/>
          <p:cNvSpPr/>
          <p:nvPr/>
        </p:nvSpPr>
        <p:spPr>
          <a:xfrm>
            <a:off x="5458968" y="14447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Taxa de analfabetismo</a:t>
            </a:r>
            <a:endParaRPr lang="pt-BR" sz="1400" noProof="0" dirty="0"/>
          </a:p>
        </p:txBody>
      </p:sp>
      <p:sp>
        <p:nvSpPr>
          <p:cNvPr id="13" name="Text 11"/>
          <p:cNvSpPr/>
          <p:nvPr/>
        </p:nvSpPr>
        <p:spPr>
          <a:xfrm>
            <a:off x="4937760" y="197510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pt-BR" sz="1150" noProof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V00901/V00900 → V00901/(V00900+V00901): taxa válida em [0,1].</a:t>
            </a:r>
            <a:endParaRPr lang="pt-BR" sz="1150" noProof="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3977640" cy="137160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pt-BR" sz="1600" noProof="0" dirty="0"/>
          </a:p>
        </p:txBody>
      </p:sp>
      <p:sp>
        <p:nvSpPr>
          <p:cNvPr id="17" name="Text 15"/>
          <p:cNvSpPr/>
          <p:nvPr/>
        </p:nvSpPr>
        <p:spPr>
          <a:xfrm>
            <a:off x="1207008" y="29535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Razão de moradores</a:t>
            </a:r>
            <a:endParaRPr lang="pt-BR" sz="1400" noProof="0" dirty="0"/>
          </a:p>
        </p:txBody>
      </p:sp>
      <p:sp>
        <p:nvSpPr>
          <p:cNvPr id="18" name="Text 16"/>
          <p:cNvSpPr/>
          <p:nvPr/>
        </p:nvSpPr>
        <p:spPr>
          <a:xfrm>
            <a:off x="685800" y="348386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pt-BR" sz="1150" noProof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Denominador (V00001+V00002): reproduz o V0005 oficial do IBGE.</a:t>
            </a:r>
            <a:endParaRPr lang="pt-BR" sz="1150" noProof="0" dirty="0"/>
          </a:p>
        </p:txBody>
      </p:sp>
      <p:sp>
        <p:nvSpPr>
          <p:cNvPr id="19" name="Shape 17"/>
          <p:cNvSpPr/>
          <p:nvPr/>
        </p:nvSpPr>
        <p:spPr>
          <a:xfrm>
            <a:off x="4709160" y="2788920"/>
            <a:ext cx="3977640" cy="137160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/>
          <p:cNvSpPr/>
          <p:nvPr/>
        </p:nvSpPr>
        <p:spPr>
          <a:xfrm>
            <a:off x="4892040" y="2971800"/>
            <a:ext cx="457200" cy="457200"/>
          </a:xfrm>
          <a:prstGeom prst="ellipse">
            <a:avLst/>
          </a:prstGeom>
          <a:solidFill>
            <a:srgbClr val="C7861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48920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pt-BR" sz="1600" noProof="0" dirty="0"/>
          </a:p>
        </p:txBody>
      </p:sp>
      <p:sp>
        <p:nvSpPr>
          <p:cNvPr id="22" name="Text 20"/>
          <p:cNvSpPr/>
          <p:nvPr/>
        </p:nvSpPr>
        <p:spPr>
          <a:xfrm>
            <a:off x="5458968" y="29535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Regra </a:t>
            </a:r>
            <a:r>
              <a:rPr lang="pt-BR" sz="1400" b="1" noProof="0" dirty="0" err="1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Dados_sig</a:t>
            </a:r>
            <a:endParaRPr lang="pt-BR" sz="1400" noProof="0" dirty="0"/>
          </a:p>
        </p:txBody>
      </p:sp>
      <p:sp>
        <p:nvSpPr>
          <p:cNvPr id="23" name="Text 21"/>
          <p:cNvSpPr/>
          <p:nvPr/>
        </p:nvSpPr>
        <p:spPr>
          <a:xfrm>
            <a:off x="4937760" y="348386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pt-BR" sz="1150" noProof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Elegibilidade </a:t>
            </a:r>
            <a:r>
              <a:rPr lang="pt-BR" sz="1150" noProof="0" dirty="0" err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reancorada</a:t>
            </a:r>
            <a:r>
              <a:rPr lang="pt-BR" sz="1150" noProof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v0001 e V00001 (não mais em V01042).</a:t>
            </a:r>
            <a:endParaRPr lang="pt-BR" sz="1150" noProof="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Shape 23"/>
          <p:cNvSpPr/>
          <p:nvPr/>
        </p:nvSpPr>
        <p:spPr>
          <a:xfrm>
            <a:off x="640080" y="4370832"/>
            <a:ext cx="438912" cy="438912"/>
          </a:xfrm>
          <a:prstGeom prst="ellipse">
            <a:avLst/>
          </a:prstGeom>
          <a:solidFill>
            <a:srgbClr val="5B6B7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6" name="Text 24"/>
          <p:cNvSpPr/>
          <p:nvPr/>
        </p:nvSpPr>
        <p:spPr>
          <a:xfrm>
            <a:off x="640080" y="43708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pt-BR" sz="1500" noProof="0" dirty="0"/>
          </a:p>
        </p:txBody>
      </p:sp>
      <p:sp>
        <p:nvSpPr>
          <p:cNvPr id="27" name="Text 25"/>
          <p:cNvSpPr/>
          <p:nvPr/>
        </p:nvSpPr>
        <p:spPr>
          <a:xfrm>
            <a:off x="1188720" y="4297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de esgoto confirmadas:  </a:t>
            </a:r>
            <a:r>
              <a:rPr lang="pt-BR" sz="1250" noProof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V00312–V00316 (destino do esgoto). O bloco V00249–V00253 é tipologia de habitação, não esgoto.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200" noProof="0" dirty="0">
                <a:solidFill>
                  <a:srgbClr val="195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1</a:t>
            </a:r>
            <a:endParaRPr lang="pt-BR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500" b="1" noProof="0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Denominador: pessoas → domicílios</a:t>
            </a:r>
            <a:endParaRPr lang="pt-BR" sz="25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77640" cy="1417320"/>
          </a:xfrm>
          <a:prstGeom prst="rect">
            <a:avLst/>
          </a:prstGeom>
          <a:solidFill>
            <a:srgbClr val="F2F6F9"/>
          </a:solidFill>
          <a:ln w="15875">
            <a:solidFill>
              <a:srgbClr val="B3261E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77640" cy="457200"/>
          </a:xfrm>
          <a:prstGeom prst="rect">
            <a:avLst/>
          </a:prstGeom>
          <a:solidFill>
            <a:srgbClr val="B3261E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REJEITADO — conta PESSOAS</a:t>
            </a:r>
            <a:endParaRPr lang="pt-BR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658368" y="17556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000" b="1" noProof="0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V01042</a:t>
            </a:r>
            <a:endParaRPr lang="pt-BR" sz="2000" noProof="0" dirty="0"/>
          </a:p>
        </p:txBody>
      </p:sp>
      <p:sp>
        <p:nvSpPr>
          <p:cNvPr id="8" name="Text 6"/>
          <p:cNvSpPr/>
          <p:nvPr/>
        </p:nvSpPr>
        <p:spPr>
          <a:xfrm>
            <a:off x="658368" y="217627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pt-BR" sz="120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responsáveis pelo domicílio (arquivo Parentesco).</a:t>
            </a:r>
            <a:endParaRPr lang="pt-BR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3977640" cy="1417320"/>
          </a:xfrm>
          <a:prstGeom prst="rect">
            <a:avLst/>
          </a:prstGeom>
          <a:solidFill>
            <a:srgbClr val="F2F6F9"/>
          </a:solidFill>
          <a:ln w="15875">
            <a:solidFill>
              <a:srgbClr val="2A9D8F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4709160" y="1234440"/>
            <a:ext cx="3977640" cy="4572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4910328" y="1234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ADOTADO — conta DOMICÍLIOS</a:t>
            </a:r>
            <a:endParaRPr lang="pt-BR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4910328" y="17556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000" b="1" noProof="0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V00001</a:t>
            </a:r>
            <a:endParaRPr lang="pt-BR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4910328" y="217627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pt-BR" sz="120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Domicílios Particulares Permanentes Ocupados — padrão IVS-BH.</a:t>
            </a:r>
            <a:endParaRPr lang="pt-BR" sz="1200" noProof="0" dirty="0"/>
          </a:p>
        </p:txBody>
      </p:sp>
      <p:sp>
        <p:nvSpPr>
          <p:cNvPr id="14" name="Text 12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i="1" noProof="0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Impacto nos números: quase nenhum — porque as duas variáveis são quase idênticas por setor</a:t>
            </a:r>
            <a:endParaRPr lang="pt-BR" sz="1400" noProof="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2F6F9"/>
          </a:solidFill>
          <a:ln w="12700">
            <a:solidFill>
              <a:srgbClr val="19599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457200" y="33101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600" b="1" noProof="0" dirty="0">
                <a:solidFill>
                  <a:srgbClr val="1959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0,9993</a:t>
            </a:r>
            <a:endParaRPr lang="pt-BR" sz="2600" noProof="0" dirty="0"/>
          </a:p>
        </p:txBody>
      </p:sp>
      <p:sp>
        <p:nvSpPr>
          <p:cNvPr id="17" name="Text 15"/>
          <p:cNvSpPr/>
          <p:nvPr/>
        </p:nvSpPr>
        <p:spPr>
          <a:xfrm>
            <a:off x="594360" y="38221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pt-BR" sz="110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entre V00001 e V01042</a:t>
            </a:r>
            <a:endParaRPr lang="pt-BR" sz="1100" noProof="0" dirty="0"/>
          </a:p>
        </p:txBody>
      </p:sp>
      <p:sp>
        <p:nvSpPr>
          <p:cNvPr id="18" name="Shape 16"/>
          <p:cNvSpPr/>
          <p:nvPr/>
        </p:nvSpPr>
        <p:spPr>
          <a:xfrm>
            <a:off x="3268980" y="32004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2F6F9"/>
          </a:solidFill>
          <a:ln w="12700">
            <a:solidFill>
              <a:srgbClr val="19599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7"/>
          <p:cNvSpPr/>
          <p:nvPr/>
        </p:nvSpPr>
        <p:spPr>
          <a:xfrm>
            <a:off x="3268980" y="33101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600" b="1" noProof="0" dirty="0">
                <a:solidFill>
                  <a:srgbClr val="1959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93,2%</a:t>
            </a:r>
            <a:endParaRPr lang="pt-BR" sz="2600" noProof="0" dirty="0"/>
          </a:p>
        </p:txBody>
      </p:sp>
      <p:sp>
        <p:nvSpPr>
          <p:cNvPr id="20" name="Text 18"/>
          <p:cNvSpPr/>
          <p:nvPr/>
        </p:nvSpPr>
        <p:spPr>
          <a:xfrm>
            <a:off x="3406140" y="38221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pt-BR" sz="110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setores: V00001 = V01042 (idênticos)</a:t>
            </a:r>
            <a:endParaRPr lang="pt-BR" sz="1100" noProof="0" dirty="0"/>
          </a:p>
        </p:txBody>
      </p:sp>
      <p:sp>
        <p:nvSpPr>
          <p:cNvPr id="21" name="Shape 19"/>
          <p:cNvSpPr/>
          <p:nvPr/>
        </p:nvSpPr>
        <p:spPr>
          <a:xfrm>
            <a:off x="6080760" y="32004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2F6F9"/>
          </a:solidFill>
          <a:ln w="12700">
            <a:solidFill>
              <a:srgbClr val="19599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Text 20"/>
          <p:cNvSpPr/>
          <p:nvPr/>
        </p:nvSpPr>
        <p:spPr>
          <a:xfrm>
            <a:off x="6080760" y="33101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600" b="1" noProof="0" dirty="0">
                <a:solidFill>
                  <a:srgbClr val="1959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6,8%</a:t>
            </a:r>
            <a:endParaRPr lang="pt-BR" sz="2600" noProof="0" dirty="0"/>
          </a:p>
        </p:txBody>
      </p:sp>
      <p:sp>
        <p:nvSpPr>
          <p:cNvPr id="23" name="Text 21"/>
          <p:cNvSpPr/>
          <p:nvPr/>
        </p:nvSpPr>
        <p:spPr>
          <a:xfrm>
            <a:off x="6217920" y="38221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pt-BR" sz="110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diferem ligeiramente (nunca o contrário)</a:t>
            </a:r>
            <a:endParaRPr lang="pt-BR" sz="1100" noProof="0" dirty="0"/>
          </a:p>
        </p:txBody>
      </p:sp>
      <p:sp>
        <p:nvSpPr>
          <p:cNvPr id="24" name="Text 22"/>
          <p:cNvSpPr/>
          <p:nvPr/>
        </p:nvSpPr>
        <p:spPr>
          <a:xfrm>
            <a:off x="457200" y="44988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i="1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correção conceitual com impacto numérico mínimo — mas agora dividimos domicílios por domicílios.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200" noProof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2</a:t>
            </a:r>
            <a:endParaRPr lang="pt-BR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500" b="1" noProof="0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Taxa de analfabetismo: a mais importante</a:t>
            </a:r>
            <a:endParaRPr lang="pt-BR" sz="25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77640" cy="1371600"/>
          </a:xfrm>
          <a:prstGeom prst="rect">
            <a:avLst/>
          </a:prstGeom>
          <a:solidFill>
            <a:srgbClr val="FBEBEA"/>
          </a:solidFill>
          <a:ln w="15875">
            <a:solidFill>
              <a:srgbClr val="B3261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133502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b="1" kern="0" spc="100" noProof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(incorreto)</a:t>
            </a:r>
            <a:endParaRPr lang="pt-BR" sz="115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800" b="1" noProof="0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V00901  ÷  V00900</a:t>
            </a:r>
            <a:endParaRPr lang="pt-BR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pt-BR" sz="1200" i="1" noProof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analfabetos ÷ alfabetizados — é uma razão, não uma taxa.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709160" y="1234440"/>
            <a:ext cx="3977640" cy="1371600"/>
          </a:xfrm>
          <a:prstGeom prst="rect">
            <a:avLst/>
          </a:prstGeom>
          <a:solidFill>
            <a:srgbClr val="E9F5F2"/>
          </a:solidFill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4709160" y="133502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b="1" kern="0" spc="100" noProof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(correto)</a:t>
            </a:r>
            <a:endParaRPr lang="pt-BR" sz="1150" noProof="0" dirty="0"/>
          </a:p>
        </p:txBody>
      </p:sp>
      <p:sp>
        <p:nvSpPr>
          <p:cNvPr id="10" name="Text 8"/>
          <p:cNvSpPr/>
          <p:nvPr/>
        </p:nvSpPr>
        <p:spPr>
          <a:xfrm>
            <a:off x="4709160" y="16459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V00901  ÷  (V00900 + V00901)</a:t>
            </a:r>
            <a:endParaRPr lang="pt-BR" sz="1600" noProof="0" dirty="0"/>
          </a:p>
        </p:txBody>
      </p:sp>
      <p:sp>
        <p:nvSpPr>
          <p:cNvPr id="11" name="Text 9"/>
          <p:cNvSpPr/>
          <p:nvPr/>
        </p:nvSpPr>
        <p:spPr>
          <a:xfrm>
            <a:off x="4800600" y="208483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pt-BR" sz="1200" i="1" noProof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analfabetos ÷ total de pessoas 15+ — taxa válida em [0, 1].</a:t>
            </a:r>
            <a:endParaRPr lang="pt-BR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isso mudou nos dados (antes → depois)</a:t>
            </a:r>
            <a:endParaRPr lang="pt-BR" sz="1400" noProof="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2651760" cy="132588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548640" y="3300984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b="1" strike="sngStrike" noProof="0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r>
              <a:rPr lang="pt-BR" sz="1600" noProof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pt-BR" sz="2800" b="1" noProof="0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pt-BR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548640" y="40233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com valor impossível (&gt;1)</a:t>
            </a:r>
            <a:endParaRPr lang="pt-BR" sz="1150" noProof="0" dirty="0"/>
          </a:p>
        </p:txBody>
      </p:sp>
      <p:sp>
        <p:nvSpPr>
          <p:cNvPr id="16" name="Shape 14"/>
          <p:cNvSpPr/>
          <p:nvPr/>
        </p:nvSpPr>
        <p:spPr>
          <a:xfrm>
            <a:off x="3246120" y="3154680"/>
            <a:ext cx="2651760" cy="132588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3337560" y="3300984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b="1" strike="sngStrike" noProof="0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5,33</a:t>
            </a:r>
            <a:r>
              <a:rPr lang="pt-BR" sz="1600" noProof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pt-BR" sz="2800" b="1" noProof="0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0,84</a:t>
            </a:r>
            <a:endParaRPr lang="pt-BR" sz="2400" noProof="0" dirty="0"/>
          </a:p>
        </p:txBody>
      </p:sp>
      <p:sp>
        <p:nvSpPr>
          <p:cNvPr id="18" name="Text 16"/>
          <p:cNvSpPr/>
          <p:nvPr/>
        </p:nvSpPr>
        <p:spPr>
          <a:xfrm>
            <a:off x="3337560" y="40233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máximo da taxa</a:t>
            </a:r>
            <a:endParaRPr lang="pt-BR" sz="1150" noProof="0" dirty="0"/>
          </a:p>
        </p:txBody>
      </p:sp>
      <p:sp>
        <p:nvSpPr>
          <p:cNvPr id="19" name="Shape 17"/>
          <p:cNvSpPr/>
          <p:nvPr/>
        </p:nvSpPr>
        <p:spPr>
          <a:xfrm>
            <a:off x="6035040" y="3154680"/>
            <a:ext cx="2651760" cy="132588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Text 18"/>
          <p:cNvSpPr/>
          <p:nvPr/>
        </p:nvSpPr>
        <p:spPr>
          <a:xfrm>
            <a:off x="6126480" y="3300984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b="1" strike="sngStrike" noProof="0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44,1</a:t>
            </a:r>
            <a:r>
              <a:rPr lang="pt-BR" sz="1600" noProof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pt-BR" sz="2800" b="1" noProof="0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17,7</a:t>
            </a:r>
            <a:endParaRPr lang="pt-BR" sz="2400" noProof="0" dirty="0"/>
          </a:p>
        </p:txBody>
      </p:sp>
      <p:sp>
        <p:nvSpPr>
          <p:cNvPr id="21" name="Text 19"/>
          <p:cNvSpPr/>
          <p:nvPr/>
        </p:nvSpPr>
        <p:spPr>
          <a:xfrm>
            <a:off x="6126480" y="40233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curtose (peso dos extremos)</a:t>
            </a:r>
            <a:endParaRPr lang="pt-BR" sz="1150" noProof="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i="1" noProof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importa:  </a:t>
            </a:r>
            <a:r>
              <a:rPr lang="pt-BR" sz="1150" i="1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proporção tem de ficar entre 0 e 1. A fórmula antiga estourava 1 onde havia mais analfabetos que alfabetizados — justamente os setores mais vulneráveis.</a:t>
            </a:r>
            <a:endParaRPr lang="pt-BR" sz="115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200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3</a:t>
            </a:r>
            <a:endParaRPr lang="pt-BR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500" b="1" noProof="0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Razão de moradores: alinhada ao IBGE</a:t>
            </a:r>
            <a:endParaRPr lang="pt-BR" sz="25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pt-BR" sz="1350" b="1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fórmula:  </a:t>
            </a:r>
            <a:r>
              <a:rPr lang="pt-BR" sz="1350" b="1" noProof="0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(V00005 + V00006) / (V00001 + V00002)</a:t>
            </a:r>
            <a:r>
              <a:rPr lang="pt-BR" sz="135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reproduz exatamente a definição oficial do V0005 do IBGE (moradores ÷ domicílios particulares ocupados).</a:t>
            </a:r>
            <a:endParaRPr lang="pt-BR" sz="135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977640" cy="132588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2157984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3000" b="1" strike="sngStrike" noProof="0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0,17</a:t>
            </a:r>
            <a:r>
              <a:rPr lang="pt-BR" sz="1600" noProof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pt-BR" sz="3200" b="1" noProof="0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</a:t>
            </a:r>
            <a:endParaRPr lang="pt-BR" sz="30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da razão de moradores</a:t>
            </a:r>
            <a:endParaRPr lang="pt-BR" sz="1150" noProof="0" dirty="0"/>
          </a:p>
        </p:txBody>
      </p:sp>
      <p:sp>
        <p:nvSpPr>
          <p:cNvPr id="8" name="Shape 6"/>
          <p:cNvSpPr/>
          <p:nvPr/>
        </p:nvSpPr>
        <p:spPr>
          <a:xfrm>
            <a:off x="4709160" y="2011680"/>
            <a:ext cx="3977640" cy="132588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4709160" y="215798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3000" b="1" noProof="0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8,79</a:t>
            </a:r>
            <a:endParaRPr lang="pt-BR" sz="3000" noProof="0" dirty="0"/>
          </a:p>
        </p:txBody>
      </p:sp>
      <p:sp>
        <p:nvSpPr>
          <p:cNvPr id="10" name="Text 8"/>
          <p:cNvSpPr/>
          <p:nvPr/>
        </p:nvSpPr>
        <p:spPr>
          <a:xfrm>
            <a:off x="4846320" y="2706624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pt-BR" sz="115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— inalterado, mas agora interpretável</a:t>
            </a:r>
            <a:endParaRPr lang="pt-BR" sz="1150" noProof="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pt-BR" sz="115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(setores reais com domicílios grandes, ex.: </a:t>
            </a:r>
            <a:r>
              <a:rPr lang="pt-BR" sz="1150" noProof="0" dirty="0" err="1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Portel-PA</a:t>
            </a:r>
            <a:r>
              <a:rPr lang="pt-BR" sz="115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pt-BR" sz="1150" noProof="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FBEBEA"/>
          </a:solidFill>
          <a:ln w="12700">
            <a:solidFill>
              <a:srgbClr val="B3261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685800" y="3611880"/>
            <a:ext cx="7772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pt-BR" sz="1300" b="1" noProof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que isso resolveu:  </a:t>
            </a:r>
            <a:r>
              <a:rPr lang="pt-BR" sz="130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denominador antigo (V01042), um setor de Brasília tinha razão de 0,17 — cerca de 1 morador para 6 domicílios, fisicamente impossível. Era um artefato do denominador errado. </a:t>
            </a:r>
            <a:r>
              <a:rPr lang="pt-BR" sz="1300" b="1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(V00001+V00002), o mínimo passa a 1,00 — coerente: nunca há menos de 1 morador por domicílio ocupado.</a:t>
            </a:r>
            <a:endParaRPr lang="pt-BR" sz="13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200" noProof="0" dirty="0">
                <a:solidFill>
                  <a:srgbClr val="C7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CORREÇÕES 4 E 5</a:t>
            </a:r>
            <a:endParaRPr lang="pt-BR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500" b="1" noProof="0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Elegibilidade e variáveis de esgoto</a:t>
            </a:r>
            <a:endParaRPr lang="pt-BR" sz="25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41732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91440" cy="1417320"/>
          </a:xfrm>
          <a:prstGeom prst="rect">
            <a:avLst/>
          </a:prstGeom>
          <a:solidFill>
            <a:srgbClr val="C7861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685800" y="133502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· Regra </a:t>
            </a:r>
            <a:r>
              <a:rPr lang="pt-BR" sz="1500" b="1" noProof="0" dirty="0" err="1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Dados_sig</a:t>
            </a:r>
            <a:r>
              <a:rPr lang="pt-BR" sz="1500" b="1" noProof="0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(quais setores entram na análise)</a:t>
            </a:r>
            <a:endParaRPr lang="pt-BR" sz="1500" noProof="0" dirty="0"/>
          </a:p>
        </p:txBody>
      </p:sp>
      <p:sp>
        <p:nvSpPr>
          <p:cNvPr id="7" name="Text 5"/>
          <p:cNvSpPr/>
          <p:nvPr/>
        </p:nvSpPr>
        <p:spPr>
          <a:xfrm>
            <a:off x="685800" y="166420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pt-BR" sz="125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a regra de domicílios coletivos usava V00002/V01042 — mas V00002 são domicílios improvisados, não coletivos. </a:t>
            </a:r>
            <a:r>
              <a:rPr lang="pt-BR" sz="1250" b="1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Reescrita e </a:t>
            </a:r>
            <a:r>
              <a:rPr lang="pt-BR" sz="1250" b="1" noProof="0" dirty="0" err="1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reancorada</a:t>
            </a:r>
            <a:r>
              <a:rPr lang="pt-BR" sz="1250" b="1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v0001 e V00001. </a:t>
            </a:r>
            <a:r>
              <a:rPr lang="pt-BR" sz="125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nos 70 municípios ELSI: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822960" y="22128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106.281</a:t>
            </a:r>
            <a:endParaRPr lang="pt-BR" sz="1500" noProof="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50" noProof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(97,48%)</a:t>
            </a:r>
            <a:endParaRPr lang="pt-BR" sz="1050" noProof="0" dirty="0"/>
          </a:p>
        </p:txBody>
      </p:sp>
      <p:sp>
        <p:nvSpPr>
          <p:cNvPr id="10" name="Text 8"/>
          <p:cNvSpPr/>
          <p:nvPr/>
        </p:nvSpPr>
        <p:spPr>
          <a:xfrm>
            <a:off x="2926080" y="22128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C786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2.751</a:t>
            </a:r>
            <a:endParaRPr lang="pt-BR" sz="1500" noProof="0" dirty="0"/>
          </a:p>
        </p:txBody>
      </p:sp>
      <p:sp>
        <p:nvSpPr>
          <p:cNvPr id="11" name="Text 9"/>
          <p:cNvSpPr/>
          <p:nvPr/>
        </p:nvSpPr>
        <p:spPr>
          <a:xfrm>
            <a:off x="2651760" y="24688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50" noProof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SIGILOSO (2,52%)</a:t>
            </a:r>
            <a:endParaRPr lang="pt-BR" sz="1050" noProof="0" dirty="0"/>
          </a:p>
        </p:txBody>
      </p:sp>
      <p:sp>
        <p:nvSpPr>
          <p:cNvPr id="12" name="Text 10"/>
          <p:cNvSpPr/>
          <p:nvPr/>
        </p:nvSpPr>
        <p:spPr>
          <a:xfrm>
            <a:off x="5029200" y="22128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5B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pt-BR" sz="1500" noProof="0" dirty="0"/>
          </a:p>
        </p:txBody>
      </p:sp>
      <p:sp>
        <p:nvSpPr>
          <p:cNvPr id="13" name="Text 11"/>
          <p:cNvSpPr/>
          <p:nvPr/>
        </p:nvSpPr>
        <p:spPr>
          <a:xfrm>
            <a:off x="4754880" y="24688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50" noProof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COLETIVO</a:t>
            </a:r>
            <a:endParaRPr lang="pt-BR" sz="1050" noProof="0" dirty="0"/>
          </a:p>
        </p:txBody>
      </p:sp>
      <p:sp>
        <p:nvSpPr>
          <p:cNvPr id="14" name="Text 12"/>
          <p:cNvSpPr/>
          <p:nvPr/>
        </p:nvSpPr>
        <p:spPr>
          <a:xfrm>
            <a:off x="6766560" y="22128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5B6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pt-BR" sz="1500" noProof="0" dirty="0"/>
          </a:p>
        </p:txBody>
      </p:sp>
      <p:sp>
        <p:nvSpPr>
          <p:cNvPr id="15" name="Text 13"/>
          <p:cNvSpPr/>
          <p:nvPr/>
        </p:nvSpPr>
        <p:spPr>
          <a:xfrm>
            <a:off x="6492240" y="24688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50" noProof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ZERADO</a:t>
            </a:r>
            <a:endParaRPr lang="pt-BR" sz="1050" noProof="0" dirty="0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8229600" cy="150876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Shape 15"/>
          <p:cNvSpPr/>
          <p:nvPr/>
        </p:nvSpPr>
        <p:spPr>
          <a:xfrm>
            <a:off x="457200" y="2788920"/>
            <a:ext cx="91440" cy="1508760"/>
          </a:xfrm>
          <a:prstGeom prst="rect">
            <a:avLst/>
          </a:prstGeom>
          <a:solidFill>
            <a:srgbClr val="5B6B7A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6"/>
          <p:cNvSpPr/>
          <p:nvPr/>
        </p:nvSpPr>
        <p:spPr>
          <a:xfrm>
            <a:off x="685800" y="288950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· Variáveis de esgoto confirmadas no dicionário oficial</a:t>
            </a:r>
            <a:endParaRPr lang="pt-BR" sz="1500" noProof="0" dirty="0"/>
          </a:p>
        </p:txBody>
      </p:sp>
      <p:sp>
        <p:nvSpPr>
          <p:cNvPr id="19" name="Text 17"/>
          <p:cNvSpPr/>
          <p:nvPr/>
        </p:nvSpPr>
        <p:spPr>
          <a:xfrm>
            <a:off x="685800" y="324612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pt-BR" sz="1300" b="1" noProof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V00312–V00316  ✓ esgoto</a:t>
            </a:r>
            <a:endParaRPr lang="pt-BR" sz="1300" noProof="0" dirty="0"/>
          </a:p>
          <a:p>
            <a:pPr marL="0" indent="0">
              <a:lnSpc>
                <a:spcPct val="100000"/>
              </a:lnSpc>
              <a:buNone/>
            </a:pPr>
            <a:r>
              <a:rPr lang="pt-BR" sz="120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 do esgoto: fossa rudimentar, vala, rio/córrego, sem banheiro. É o bloco correto (equivale ao V019–V028 do Censo 2010).</a:t>
            </a:r>
            <a:endParaRPr lang="pt-BR" sz="1300" noProof="0" dirty="0"/>
          </a:p>
        </p:txBody>
      </p:sp>
      <p:sp>
        <p:nvSpPr>
          <p:cNvPr id="20" name="Text 18"/>
          <p:cNvSpPr/>
          <p:nvPr/>
        </p:nvSpPr>
        <p:spPr>
          <a:xfrm>
            <a:off x="4709160" y="324612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pt-BR" sz="1300" b="1" noProof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V00249–V00253  ✗ não é esgoto</a:t>
            </a:r>
            <a:endParaRPr lang="pt-BR" sz="1300" noProof="0" dirty="0"/>
          </a:p>
          <a:p>
            <a:pPr marL="0" indent="0">
              <a:lnSpc>
                <a:spcPct val="100000"/>
              </a:lnSpc>
              <a:buNone/>
            </a:pPr>
            <a:r>
              <a:rPr lang="pt-BR" sz="120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Tipologia de habitação (casa de vila, apartamento, contagem de banheiros). O relatório legado divergia; o dicionário resolveu.</a:t>
            </a:r>
            <a:endParaRPr lang="pt-BR" sz="1300" noProof="0" dirty="0"/>
          </a:p>
        </p:txBody>
      </p:sp>
      <p:sp>
        <p:nvSpPr>
          <p:cNvPr id="21" name="Text 19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00" i="1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setor COLETIVO ou ZERADO apareceu no recorte ELSI — só OK e SIGILOSO.</a:t>
            </a:r>
            <a:endParaRPr lang="pt-BR" sz="12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200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</a:t>
            </a:r>
            <a:endParaRPr lang="pt-BR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500" b="1" noProof="0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Descritivas: EDA antiga × EDA nova</a:t>
            </a:r>
            <a:endParaRPr lang="pt-BR" sz="2500" noProof="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005971"/>
              </p:ext>
            </p:extLst>
          </p:nvPr>
        </p:nvGraphicFramePr>
        <p:xfrm>
          <a:off x="457200" y="1188720"/>
          <a:ext cx="8229600" cy="292150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46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Antiga (15/05)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 (22/05)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Mudou?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50" b="1" noProof="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água inadequada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0,083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0,083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igual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50" b="1" noProof="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esgoto inadequado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0,092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0,093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igual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50" b="1" noProof="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lixo inadequado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0,126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0,126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igual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50" b="1" noProof="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razão de moradores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mínimo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b="1" noProof="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0,17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b="1" noProof="0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b="1" noProof="0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corrigido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50" b="1" noProof="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analfabetismo (15+)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máximo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b="1" noProof="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5,33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b="1" noProof="0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b="1" noProof="0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corrigido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50" b="1" noProof="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analfabetismo (15+)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setores &gt; 1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b="1" noProof="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b="1" noProof="0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b="1" noProof="0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corrigido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50" b="1" noProof="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rendimento médio (R$)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mediana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2.546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2.546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inalterado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50" b="1" noProof="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preta/parda/</a:t>
                      </a:r>
                      <a:r>
                        <a:rPr lang="pt-BR" sz="1150" b="1" noProof="0" dirty="0" err="1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indíg</a:t>
                      </a:r>
                      <a:r>
                        <a:rPr lang="pt-BR" sz="1150" b="1" noProof="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mediana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0,576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0,576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50" noProof="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inalterado</a:t>
                      </a:r>
                      <a:endParaRPr lang="pt-BR" sz="11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51960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E9F5F2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3"/>
          <p:cNvSpPr/>
          <p:nvPr/>
        </p:nvSpPr>
        <p:spPr>
          <a:xfrm>
            <a:off x="640080" y="42519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pt-BR" sz="1250" b="1" noProof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frase:  </a:t>
            </a:r>
            <a:r>
              <a:rPr lang="pt-BR" sz="125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saneamento, a renda e a raça/cor praticamente não mudaram; o que se corrigiu foi a razão de moradores (mínimo impossível) e, sobretudo, a taxa de analfabetismo (valores acima de 1).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200" noProof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EM FOCO</a:t>
            </a:r>
            <a:endParaRPr lang="pt-BR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500" b="1" noProof="0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analfabetismo ficou mais bem-comportado</a:t>
            </a:r>
            <a:endParaRPr lang="pt-BR" sz="25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correção da fórmula não só eliminou os valores impossíveis — deixou a distribuição inteira mais limpa:</a:t>
            </a:r>
            <a:endParaRPr lang="pt-BR" sz="135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51760" cy="132588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1883664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b="1" strike="sngStrike" noProof="0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0,042</a:t>
            </a:r>
            <a:r>
              <a:rPr lang="pt-BR" sz="1600" noProof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pt-BR" sz="2800" b="1" noProof="0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0,039</a:t>
            </a:r>
            <a:endParaRPr lang="pt-BR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da taxa</a:t>
            </a:r>
            <a:endParaRPr lang="pt-BR" sz="1150" noProof="0" dirty="0"/>
          </a:p>
        </p:txBody>
      </p:sp>
      <p:sp>
        <p:nvSpPr>
          <p:cNvPr id="8" name="Shape 6"/>
          <p:cNvSpPr/>
          <p:nvPr/>
        </p:nvSpPr>
        <p:spPr>
          <a:xfrm>
            <a:off x="3246120" y="1737360"/>
            <a:ext cx="2651760" cy="132588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3337560" y="1883664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b="1" strike="sngStrike" noProof="0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0,051</a:t>
            </a:r>
            <a:r>
              <a:rPr lang="pt-BR" sz="1600" noProof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pt-BR" sz="2800" b="1" noProof="0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0,041</a:t>
            </a:r>
            <a:endParaRPr lang="pt-BR" sz="2400" noProof="0" dirty="0"/>
          </a:p>
        </p:txBody>
      </p:sp>
      <p:sp>
        <p:nvSpPr>
          <p:cNvPr id="10" name="Text 8"/>
          <p:cNvSpPr/>
          <p:nvPr/>
        </p:nvSpPr>
        <p:spPr>
          <a:xfrm>
            <a:off x="3337560" y="2606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desvio-padrão</a:t>
            </a:r>
            <a:endParaRPr lang="pt-BR" sz="1150" noProof="0" dirty="0"/>
          </a:p>
        </p:txBody>
      </p:sp>
      <p:sp>
        <p:nvSpPr>
          <p:cNvPr id="11" name="Shape 9"/>
          <p:cNvSpPr/>
          <p:nvPr/>
        </p:nvSpPr>
        <p:spPr>
          <a:xfrm>
            <a:off x="6035040" y="1737360"/>
            <a:ext cx="2651760" cy="132588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6126480" y="1883664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b="1" strike="sngStrike" noProof="0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4,69</a:t>
            </a:r>
            <a:r>
              <a:rPr lang="pt-BR" sz="1600" noProof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pt-BR" sz="2800" b="1" noProof="0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2,98</a:t>
            </a:r>
            <a:endParaRPr lang="pt-BR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6126480" y="2606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assimetria (cauda à direita)</a:t>
            </a:r>
            <a:endParaRPr lang="pt-BR" sz="1150" noProof="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2651760" cy="132588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548640" y="3346704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b="1" strike="sngStrike" noProof="0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44,1</a:t>
            </a:r>
            <a:r>
              <a:rPr lang="pt-BR" sz="1600" noProof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pt-BR" sz="2800" b="1" noProof="0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17,7</a:t>
            </a:r>
            <a:endParaRPr lang="pt-BR" sz="2400" noProof="0" dirty="0"/>
          </a:p>
        </p:txBody>
      </p:sp>
      <p:sp>
        <p:nvSpPr>
          <p:cNvPr id="16" name="Text 14"/>
          <p:cNvSpPr/>
          <p:nvPr/>
        </p:nvSpPr>
        <p:spPr>
          <a:xfrm>
            <a:off x="548640" y="40690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curtose</a:t>
            </a:r>
            <a:endParaRPr lang="pt-BR" sz="1150" noProof="0" dirty="0"/>
          </a:p>
        </p:txBody>
      </p:sp>
      <p:sp>
        <p:nvSpPr>
          <p:cNvPr id="17" name="Shape 15"/>
          <p:cNvSpPr/>
          <p:nvPr/>
        </p:nvSpPr>
        <p:spPr>
          <a:xfrm>
            <a:off x="3246120" y="3200400"/>
            <a:ext cx="2651760" cy="132588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6"/>
          <p:cNvSpPr/>
          <p:nvPr/>
        </p:nvSpPr>
        <p:spPr>
          <a:xfrm>
            <a:off x="3337560" y="3346704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b="1" strike="sngStrike" noProof="0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5,33</a:t>
            </a:r>
            <a:r>
              <a:rPr lang="pt-BR" sz="1600" noProof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pt-BR" sz="2800" b="1" noProof="0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0,84</a:t>
            </a:r>
            <a:endParaRPr lang="pt-BR" sz="2400" noProof="0" dirty="0"/>
          </a:p>
        </p:txBody>
      </p:sp>
      <p:sp>
        <p:nvSpPr>
          <p:cNvPr id="19" name="Text 17"/>
          <p:cNvSpPr/>
          <p:nvPr/>
        </p:nvSpPr>
        <p:spPr>
          <a:xfrm>
            <a:off x="3337560" y="40690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máximo</a:t>
            </a:r>
            <a:endParaRPr lang="pt-BR" sz="1150" noProof="0" dirty="0"/>
          </a:p>
        </p:txBody>
      </p:sp>
      <p:sp>
        <p:nvSpPr>
          <p:cNvPr id="20" name="Shape 18"/>
          <p:cNvSpPr/>
          <p:nvPr/>
        </p:nvSpPr>
        <p:spPr>
          <a:xfrm>
            <a:off x="6035040" y="3200400"/>
            <a:ext cx="2651760" cy="132588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6126480" y="3346704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b="1" strike="sngStrike" noProof="0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r>
              <a:rPr lang="pt-BR" sz="1600" noProof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pt-BR" sz="2800" b="1" noProof="0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pt-BR" sz="2400" noProof="0" dirty="0"/>
          </a:p>
        </p:txBody>
      </p:sp>
      <p:sp>
        <p:nvSpPr>
          <p:cNvPr id="22" name="Text 20"/>
          <p:cNvSpPr/>
          <p:nvPr/>
        </p:nvSpPr>
        <p:spPr>
          <a:xfrm>
            <a:off x="6126480" y="40690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impossíveis (&gt;1)</a:t>
            </a:r>
            <a:endParaRPr lang="pt-BR" sz="1150" noProof="0" dirty="0"/>
          </a:p>
        </p:txBody>
      </p:sp>
      <p:sp>
        <p:nvSpPr>
          <p:cNvPr id="23" name="Shape 21"/>
          <p:cNvSpPr/>
          <p:nvPr/>
        </p:nvSpPr>
        <p:spPr>
          <a:xfrm>
            <a:off x="457200" y="45262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0B2447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4" name="Text 22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b="1" noProof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ler:  </a:t>
            </a:r>
            <a:r>
              <a:rPr lang="pt-B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assimetria e curtose menores = menos distorção por extremos. O n (89.527) depende do sigilo, não da fórmula.</a:t>
            </a:r>
            <a:endParaRPr lang="pt-BR" sz="115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200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DISTRIBUIÇÕES (BASE NOVA)</a:t>
            </a:r>
            <a:endParaRPr lang="pt-BR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500" b="1" noProof="0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 de cada uma das 7 variáveis</a:t>
            </a:r>
            <a:endParaRPr lang="pt-BR" sz="2500" noProof="0" dirty="0"/>
          </a:p>
        </p:txBody>
      </p:sp>
      <p:pic>
        <p:nvPicPr>
          <p:cNvPr id="4" name="Image 0" descr="D:/Iniciação Cientifica/Projeto_IVS_Censo22/banco_de_dados/eda/figuras/histogram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25880"/>
            <a:ext cx="5120640" cy="33844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0" y="1371600"/>
            <a:ext cx="3063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pt-BR" sz="130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Água, esgoto e lixo: a maioria dos setores tem 0% de inadequação (pico em zero) e uma cauda de bolsões críticos.</a:t>
            </a:r>
            <a:endParaRPr lang="pt-BR" sz="1300" noProof="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pt-BR" sz="1300" b="1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de moradores: a única quase simétrica (~normal em torno de 2,7).</a:t>
            </a:r>
            <a:endParaRPr lang="pt-BR" sz="1300" noProof="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pt-BR" sz="1300" b="1" noProof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Analfabetismo: assimétrico, agora contido em [0; 0,84] após a correção.</a:t>
            </a:r>
            <a:endParaRPr lang="pt-BR" sz="1300" noProof="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pt-BR" sz="130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Renda: cauda longuíssima (máx. R$ 170 mil em 1 setor).</a:t>
            </a:r>
            <a:endParaRPr lang="pt-BR" sz="1300" noProof="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pt-BR" sz="130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Raça PPI: a mais espalhada — reflete a diversidade entre municípios.</a:t>
            </a:r>
            <a:endParaRPr lang="pt-BR" sz="13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200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MANTEVE</a:t>
            </a:r>
            <a:endParaRPr lang="pt-BR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500" b="1" noProof="0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Gradiente regional Norte → Sul (média)</a:t>
            </a:r>
            <a:endParaRPr lang="pt-BR" sz="2500" noProof="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325880"/>
          <a:ext cx="53949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943600" y="13716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pt-BR" sz="1300" b="1" noProof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correção não alterou o retrato regional: a vulnerabilidade ainda cai do Norte para o Sul.</a:t>
            </a:r>
            <a:endParaRPr lang="pt-BR" sz="1300" noProof="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pt-BR" sz="130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Água inadequada no Norte (36%) é ~10× a do Sul (3,5%).</a:t>
            </a:r>
            <a:endParaRPr lang="pt-BR" sz="1300" noProof="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pt-BR" sz="1300" b="1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Socioeconômico: analfabetismo NE 6,7% </a:t>
            </a:r>
            <a:r>
              <a:rPr lang="pt-BR" sz="1300" b="1" noProof="0" dirty="0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r>
              <a:rPr lang="pt-BR" sz="1300" b="1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Sul 2,2%; raça PPI Norte 76% </a:t>
            </a:r>
            <a:r>
              <a:rPr lang="pt-BR" sz="1300" b="1" noProof="0" dirty="0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r>
              <a:rPr lang="pt-BR" sz="1300" b="1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Sul 25%; renda média mais baixa no Norte e NE (R$2,8–3,0 mil).</a:t>
            </a:r>
            <a:endParaRPr lang="pt-BR" sz="1300" noProof="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pt-BR" sz="1300" b="1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seja: as conclusões substantivas da EDA antiga continuam válidas.</a:t>
            </a:r>
            <a:endParaRPr lang="pt-BR" sz="13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200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MANTEVE</a:t>
            </a:r>
            <a:endParaRPr lang="pt-BR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500" b="1" noProof="0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Estrutura de correlações (</a:t>
            </a:r>
            <a:r>
              <a:rPr lang="pt-BR" sz="2500" b="1" noProof="0" dirty="0" err="1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Spearman</a:t>
            </a:r>
            <a:r>
              <a:rPr lang="pt-BR" sz="2500" b="1" noProof="0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pt-BR" sz="2500" noProof="0" dirty="0"/>
          </a:p>
        </p:txBody>
      </p:sp>
      <p:pic>
        <p:nvPicPr>
          <p:cNvPr id="4" name="Image 0" descr="D:/Iniciação Cientifica/Projeto_IVS_Censo22/banco_de_dados/eda/figuras/matriz_correl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43000"/>
            <a:ext cx="7680960" cy="330079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572000"/>
            <a:ext cx="2670048" cy="45720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12700">
            <a:solidFill>
              <a:srgbClr val="B3261E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3"/>
          <p:cNvSpPr/>
          <p:nvPr/>
        </p:nvSpPr>
        <p:spPr>
          <a:xfrm>
            <a:off x="566928" y="4572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−0,81  </a:t>
            </a:r>
            <a:r>
              <a:rPr lang="pt-BR" sz="100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× raça/cor (a mais forte)</a:t>
            </a:r>
            <a:endParaRPr lang="pt-BR" sz="1300" noProof="0" dirty="0"/>
          </a:p>
        </p:txBody>
      </p:sp>
      <p:sp>
        <p:nvSpPr>
          <p:cNvPr id="7" name="Shape 4"/>
          <p:cNvSpPr/>
          <p:nvPr/>
        </p:nvSpPr>
        <p:spPr>
          <a:xfrm>
            <a:off x="3236976" y="4572000"/>
            <a:ext cx="2670048" cy="45720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12700">
            <a:solidFill>
              <a:srgbClr val="19599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5"/>
          <p:cNvSpPr/>
          <p:nvPr/>
        </p:nvSpPr>
        <p:spPr>
          <a:xfrm>
            <a:off x="3346704" y="4572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195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−0,75  </a:t>
            </a:r>
            <a:r>
              <a:rPr lang="pt-BR" sz="100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analfabetismo × renda</a:t>
            </a:r>
            <a:endParaRPr lang="pt-BR" sz="1300" noProof="0" dirty="0"/>
          </a:p>
        </p:txBody>
      </p:sp>
      <p:sp>
        <p:nvSpPr>
          <p:cNvPr id="9" name="Shape 6"/>
          <p:cNvSpPr/>
          <p:nvPr/>
        </p:nvSpPr>
        <p:spPr>
          <a:xfrm>
            <a:off x="6016752" y="4572000"/>
            <a:ext cx="2670048" cy="45720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12700">
            <a:solidFill>
              <a:srgbClr val="C7861B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6126480" y="4572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C7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−0,04  </a:t>
            </a:r>
            <a:r>
              <a:rPr lang="pt-BR" sz="100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lixo × razão (quase nula)</a:t>
            </a:r>
            <a:endParaRPr lang="pt-BR" sz="130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200" noProof="0" dirty="0">
                <a:solidFill>
                  <a:srgbClr val="C7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ATENÇÃO</a:t>
            </a:r>
            <a:endParaRPr lang="pt-BR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500" b="1" noProof="0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sigilo do analfabetismo permanece</a:t>
            </a:r>
            <a:endParaRPr lang="pt-BR" sz="2500" noProof="0" dirty="0"/>
          </a:p>
        </p:txBody>
      </p:sp>
      <p:pic>
        <p:nvPicPr>
          <p:cNvPr id="4" name="Image 0" descr="D:/Iniciação Cientifica/Projeto_IVS_Censo22/banco_de_dados/eda/figuras/missing_por_municip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2457313" cy="3246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337560" y="1371600"/>
            <a:ext cx="5440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pt-BR" sz="130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correção da fórmula resolveu a matemática, mas não a cobertura: 15,76% dos setores OK têm o analfabetismo sigilado pelo IBGE.</a:t>
            </a:r>
            <a:endParaRPr lang="pt-BR" sz="1300" noProof="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pt-BR" sz="1300" b="1" noProof="0" dirty="0">
                <a:solidFill>
                  <a:srgbClr val="C7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sigilo é sistemático, não aleatório — concentra-se nas capitais: São Caetano do Sul 29,7%, Porto Alegre 27,5%, Curitiba 23,1%, Belo Horizonte 22,5%.</a:t>
            </a:r>
            <a:endParaRPr lang="pt-BR" sz="1300" noProof="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pt-BR" sz="1300" noProof="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o IBGE não divulga contagens muito pequenas. Em setores urbanos centrais, o nº absoluto de analfabetos cai abaixo do limite (44% de sigilo nos setores com 1–10 alfabetizados; só 3% nos maiores).</a:t>
            </a:r>
            <a:endParaRPr lang="pt-BR" sz="1300" noProof="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pt-BR" sz="1300" b="1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manter </a:t>
            </a:r>
            <a:r>
              <a:rPr lang="pt-BR" sz="1300" b="1" noProof="0" dirty="0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</a:t>
            </a:r>
            <a:r>
              <a:rPr lang="pt-BR" sz="1300" b="1" noProof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(transparente). Imputar zero subestimaria o analfabetismo justamente onde a vulnerabilidade é menor. Tratar no cálculo do IVS, com a orientadora.</a:t>
            </a:r>
            <a:endParaRPr lang="pt-BR" sz="130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200" noProof="0" dirty="0">
                <a:solidFill>
                  <a:srgbClr val="8FB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pt-BR" sz="1200" noProof="0" dirty="0"/>
          </a:p>
        </p:txBody>
      </p:sp>
      <p:sp>
        <p:nvSpPr>
          <p:cNvPr id="4" name="Text 2"/>
          <p:cNvSpPr/>
          <p:nvPr/>
        </p:nvSpPr>
        <p:spPr>
          <a:xfrm>
            <a:off x="822960" y="76809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7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mudou × o que se manteve</a:t>
            </a:r>
            <a:endParaRPr lang="pt-BR" sz="2700" noProof="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3703320" cy="1920240"/>
          </a:xfrm>
          <a:prstGeom prst="rect">
            <a:avLst/>
          </a:prstGeom>
          <a:solidFill>
            <a:srgbClr val="12365E"/>
          </a:solidFill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1005840" y="15727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100" noProof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MUDOU (corrigido)</a:t>
            </a:r>
            <a:endParaRPr lang="pt-BR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1005840" y="1810512"/>
            <a:ext cx="33375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pt-BR" sz="1200" noProof="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Denominador domiciliar → V00001 (conceito correto).</a:t>
            </a:r>
            <a:endParaRPr lang="pt-BR" sz="1200" noProof="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pt-BR" sz="1200" noProof="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analfabetismo → válida em [0,1] (máx. 5,33 → 0,84).</a:t>
            </a:r>
            <a:endParaRPr lang="pt-BR" sz="1200" noProof="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pt-BR" sz="1200" noProof="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de moradores → mínimo impossível 0,17 → 1,00.</a:t>
            </a:r>
            <a:endParaRPr lang="pt-BR" sz="1200" noProof="0" dirty="0"/>
          </a:p>
          <a:p>
            <a:pPr marL="152400" indent="-152400">
              <a:buSzPct val="100000"/>
              <a:buChar char="•"/>
            </a:pPr>
            <a:r>
              <a:rPr lang="pt-BR" sz="1200" noProof="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</a:t>
            </a:r>
            <a:r>
              <a:rPr lang="pt-BR" sz="1200" noProof="0" dirty="0" err="1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Dados_sig</a:t>
            </a:r>
            <a:r>
              <a:rPr lang="pt-BR" sz="1200" noProof="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esgoto → conferidas no dicionário IBGE.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709160" y="1463040"/>
            <a:ext cx="3703320" cy="1920240"/>
          </a:xfrm>
          <a:prstGeom prst="rect">
            <a:avLst/>
          </a:prstGeom>
          <a:solidFill>
            <a:srgbClr val="12365E"/>
          </a:solidFill>
          <a:ln w="15875">
            <a:solidFill>
              <a:srgbClr val="19599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4892040" y="15727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100" noProof="0" dirty="0">
                <a:solidFill>
                  <a:srgbClr val="8FB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MANTEVE-SE (robusto)</a:t>
            </a:r>
            <a:endParaRPr lang="pt-BR" sz="1200" noProof="0" dirty="0"/>
          </a:p>
        </p:txBody>
      </p:sp>
      <p:sp>
        <p:nvSpPr>
          <p:cNvPr id="10" name="Text 8"/>
          <p:cNvSpPr/>
          <p:nvPr/>
        </p:nvSpPr>
        <p:spPr>
          <a:xfrm>
            <a:off x="4892040" y="1810512"/>
            <a:ext cx="33375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pt-BR" sz="1250" noProof="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Saneamento, renda e raça/cor: valores praticamente iguais.</a:t>
            </a:r>
            <a:endParaRPr lang="pt-BR" sz="1250" noProof="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pt-BR" sz="1250" noProof="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Gradiente regional Norte → Sul.</a:t>
            </a:r>
            <a:endParaRPr lang="pt-BR" sz="1250" noProof="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pt-BR" sz="1250" noProof="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racial-econômico (renda × raça = −0,81).</a:t>
            </a:r>
            <a:endParaRPr lang="pt-BR" sz="1250" noProof="0" dirty="0"/>
          </a:p>
          <a:p>
            <a:pPr marL="152400" indent="-152400">
              <a:buSzPct val="100000"/>
              <a:buChar char="•"/>
            </a:pPr>
            <a:r>
              <a:rPr lang="pt-BR" sz="1200" noProof="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106.281 setores OK (97,48%) e o sigilo do analfabetismo.</a:t>
            </a:r>
            <a:endParaRPr lang="pt-BR" sz="125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1622</Words>
  <Application>Microsoft Office PowerPoint</Application>
  <PresentationFormat>Apresentação na tela (16:9)</PresentationFormat>
  <Paragraphs>235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IVS — Comparativo Antiga × Nova</dc:title>
  <dc:subject>PptxGenJS Presentation</dc:subject>
  <dc:creator>Pedro Dias Soares</dc:creator>
  <cp:lastModifiedBy>PEDRO DIAS SOARES</cp:lastModifiedBy>
  <cp:revision>2</cp:revision>
  <dcterms:created xsi:type="dcterms:W3CDTF">2026-05-28T22:52:01Z</dcterms:created>
  <dcterms:modified xsi:type="dcterms:W3CDTF">2026-05-29T15:00:59Z</dcterms:modified>
</cp:coreProperties>
</file>