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99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01"/>
    <p:sldMasterId id="2147483649" r:id="rId106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2"/>
    <p:sldId id="351" r:id="rId103"/>
    <p:sldId id="352" r:id="rId104"/>
    <p:sldId id="353" r:id="rId105"/>
    <p:sldId id="354" r:id="rId107"/>
    <p:sldId id="355" r:id="rId108"/>
    <p:sldId id="356" r:id="rId109"/>
    <p:sldId id="357" r:id="rId110"/>
    <p:sldId id="358" r:id="rId111"/>
    <p:sldId id="359" r:id="rId112"/>
    <p:sldId id="360" r:id="rId113"/>
    <p:sldId id="361" r:id="rId1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42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Master" Target="slideMasters/slideMaster2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Master" Target="slideMasters/slideMaster2.xml"/><Relationship Id="rId107" Type="http://schemas.openxmlformats.org/officeDocument/2006/relationships/slide" Target="slides/slide99.xml"/><Relationship Id="rId108" Type="http://schemas.openxmlformats.org/officeDocument/2006/relationships/slide" Target="slides/slide100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730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recomputação foi validada: rodada com a coluna antiga, ela reproduz número a número as tabelas já publicadas. Só depois disso as tabelas novas foram aceitas.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3.987 setores marcados pelo critério global, apenas 1.672 coincidem com o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análise é posterior à 2ª rodada da EDA. A 2ª rodada mediu o efeito do extremo no AGREGADO dos 70 municípios, onde ele é quase nulo. Faltava medir dentro de Belo Horizonte, que é onde o setor está — e faltava a consequência metodológica, que é a mais séria.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leitura é esta: o efeito de um único setor depende inteiramente do recorte em que se olha. Em 104.096 setores ele move a média em 0,04% e por isso a 2ª rodada concluiu, com razão, que o agregado é robusto. Mas dentro de Belo Horizonte ele derruba o desvio-padrão em 14% e o máximo em 73%. A mediana quase não se move nos dois casos, o que é a assinatura de um outlier: ele desloca média e dispersão, não 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da análise, e ele é metodológico, não descritivo. Um único dado provavelmente errado estava achatando a escala de renda de 1.909 setores de Belo Horizonte — que apareciam como se tivessem renda praticamente idêntica quando não têm. Como o IVS classifica território em quatro faixas, achatar a escala de 37% do município tem consequência direta sobre quem seria apontado como vulnerável. Vale dizer também o que NÃO muda: no ranking dos 70 municípios por renda média, Belo Horizonte continua em 7º e nenhum município troca de posição. O agregado é robusto; o intramunicipal não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painel da esquerda, o extremo nem cabe no quadro: o eixo vai até R$ 30 mil e ele está em R$ 170 mil. No da direita está o argumento inteiro — a distribuição vermelha, com o extremo, é um pico esmagado contra o zero; a verde, sem ele, se espalha e volta a distinguir os setores entre si. É a mesma cidade, medida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junta o que a Fase 2 rodou (scripts/fatorial_ampliada.py, a grade S0-S7 e as variantes) e o que o Notebook 04b registrou por escrito. Nenhum número aqui é novo: são os mesmos CSVs de banco_de_dados/eda/fatorial_ampliada/, lidos de novo para 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de conferência: onze itens, onze respostas, cada uma com o arquivo exato. Isto substitui qualquer resumo de memória — quem quiser conferir um número abre o CSV citado.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novas se correlacionam mais entre si (bloco inferior direito) do que com o IVS-7 original — esperado, já que medem a mesma dimensão de saneamento por outro ângulo. A exceção é moradia não convencional: comunalidade de 0,018 e correlação baixa com tudo, inclusive com as outras três novas — a variável mais fraca da grade, não excluída aqui (demanda 9 fica para a orientadora decidir).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renda sozinha bate o índice em AUC nos oito cenários — achado NB4-02, sem adjetivo, já registrado no 04b. O KMO sobe de 0,78 (S0) para 0,81 quando entram as quatro novas (S6); Kaiser e Horn discordam em S4 e S7 (kaiser_horn_discordam em cenarios.csv), e a solução usa sempre 2 fatores, como o prompt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rotação, as quatro novas já aparecem isoladas de analfabetismo/renda/cor-raça, no quadrante de cima. A Varimax e a promax só giram os eixos para alinhar essa separação com F1 e F2 — a nuvem de pontos não muda de posição relativa, só o sistema de referência. Conferido rótulo a rótulo e eixo a eixo antes deste slide: todos legíveis.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Testar o lixo (demanda 10) dá resultado ambíguo por desenho: forma fator próprio em S0 e S5, mas se dissolve nos outros cenários quando entram mais variáveis de saneamento. A sensibilidade por município (S0, S1, S6, em sensibilidade_municipios.csv) mostra que isso quase não depende de qual dos 70 é retirado.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único ponto da grade em que o índice bate a renda sozinha em AUC — e mesmo assim só em 2 dos 3 cenários (S1_postos_mun continua atrás). O outro eixo da robustez, tirar um município por vez sem mudar para posto percentil, quase não move o peso: a maior variação nas 70 rodadas de S1 e S6 juntas é pequena.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decisões de método, nenhuma tomada por este executor — a regra do prompt (seção 0.2) é implementar o padrão que preserva as alternativas e registrar a pergunta, não escolher por ela. As quatro já estão na mensagem redigida na Fase 0 e no estado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2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pt-BR" sz="115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pt-BR" sz="40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pt-BR" sz="1400" noProof="0" dirty="0"/>
          </a:p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943062"/>
              </p:ext>
            </p:extLst>
          </p:nvPr>
        </p:nvGraphicFramePr>
        <p:xfrm>
          <a:off x="777240" y="1627632"/>
          <a:ext cx="10634472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Recorte: 87.545 setores completos.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638105"/>
              </p:ext>
            </p:extLst>
          </p:nvPr>
        </p:nvGraphicFramePr>
        <p:xfrm>
          <a:off x="777240" y="2176272"/>
          <a:ext cx="10634472" cy="2545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0,001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que torna a análise defensável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escolha por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foi decidida na §9 do relatório da EDA.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39137"/>
              </p:ext>
            </p:extLst>
          </p:nvPr>
        </p:nvGraphicFramePr>
        <p:xfrm>
          <a:off x="777240" y="2176272"/>
          <a:ext cx="10634472" cy="252374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| ≥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</a:t>
                      </a:r>
                      <a:r>
                        <a:rPr lang="pt-BR" sz="1150" b="1" noProof="0" dirty="0" err="1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cruza os 60%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fazer análise de componentes principais sobre os POSTOS, não sobre os valores. As cargas se referem a posições relativas. Isso volta a aparecer, com consequência concreta, no slide dos escores.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sete componentes, 87.545 setores.  Fonte: figuras/nb04_matriz_correlacao.png, bloco 2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 número que circula é de outra matriz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87.545 setores)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(livro, p. 42)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só os setores completos nas sete variáveis entram. A diferença vai na mesma direção do viés do sigilo — a base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perde os setores de melhor situação, e isso comprime a associação entre renda e cor/raça.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pt-BR" sz="11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782174"/>
              </p:ext>
            </p:extLst>
          </p:nvPr>
        </p:nvGraphicFramePr>
        <p:xfrm>
          <a:off x="777240" y="2176272"/>
          <a:ext cx="10634472" cy="21031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pt-BR" sz="1000" noProof="0" dirty="0"/>
          </a:p>
        </p:txBody>
      </p:sp>
      <p:pic>
        <p:nvPicPr>
          <p:cNvPr id="6" name="Image 0" descr="/Users/pedro/Documents/Iniciacao Cientifica/Projeto_IVS_Censo22/banco_de_dados/eda/fatorial/figuras/nb04_scree_ho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963386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/fatorial/figuras/nb04_scree_horn.png, bloco 3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0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pt-BR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pt-BR" sz="105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 </a:t>
            </a:r>
            <a:r>
              <a:rPr lang="pt-BR" sz="26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pt-BR" sz="11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088160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pt-BR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pa_car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Fonte: figuras/nb04_mapa_cargas.png,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plan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dois fatores.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pt-BR" sz="950" noProof="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1895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pt-BR" sz="950" noProof="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881742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pt-BR" sz="105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 o escore sobre POSTOS (coerente)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valores BRUTOS. O modelo fatorial foi estimado sobre POSTOS, porque a correlação é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São dois objetos em escalas diferentes, e a diferença entre 0,924 e 0,945 é exatamente o tamanho dessa incoerência.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roc_f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pt-BR" sz="1050" noProof="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pt-BR" sz="3000" noProof="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pt-BR" sz="3000" noProof="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pt-BR" sz="1050" noProof="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95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04703"/>
              </p:ext>
            </p:extLst>
          </p:nvPr>
        </p:nvGraphicFramePr>
        <p:xfrm>
          <a:off x="777240" y="2176272"/>
          <a:ext cx="10634472" cy="182880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renda_media_sem_extremo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fatorial é anterior a essa coluna.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pt-BR" sz="9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12094"/>
              </p:ext>
            </p:extLst>
          </p:nvPr>
        </p:nvGraphicFramePr>
        <p:xfrm>
          <a:off x="777240" y="2176272"/>
          <a:ext cx="10634472" cy="20116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</a:t>
                      </a: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pt-BR" sz="3000" noProof="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entre os dois índices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pt-BR" sz="1250" noProof="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818094"/>
              </p:ext>
            </p:extLst>
          </p:nvPr>
        </p:nvGraphicFramePr>
        <p:xfrm>
          <a:off x="777240" y="3867912"/>
          <a:ext cx="10634472" cy="19202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atrapalha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0,52, é consistente com isso: alta o bastante para justificar a rotação oblíqua, longe o bastante de 1 para não sugerir um fator só.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 </a:t>
            </a:r>
            <a:r>
              <a:rPr lang="pt-BR" sz="32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Parte 8 TODA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puro, e não uma biblioteca pronta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requirements.txt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tem cinco pacotes. Acrescentar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factor_analyzer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traria conveniência e traria uma dependência a mais para instalar,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justificar numa dissertação — por um ganho de digitação, não de método. Tudo que a análise precisa é álgebra linear que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já faz.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foi escrevendo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ficou claro por que existem DUAS matrizes de carga numa solução oblíqua. Nenhuma das duas coisas se aprende chamando uma função.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escolha seria outra, e razoável.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psych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padrão da área, está em toda a bibliografia — inclusive nos exemplos do livro da Enap, que são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e não é dependência exótica. Os próximos slides mostram a correspondência função a função, e o script completo.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528898"/>
              </p:ext>
            </p:extLst>
          </p:nvPr>
        </p:nvGraphicFramePr>
        <p:xfrm>
          <a:off x="777240" y="1627632"/>
          <a:ext cx="10634472" cy="42062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numpy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=’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’)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::KMO(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cortest.bartlett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fa.parallel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fm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normalize = FALSE)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m = 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factor.scores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np.outer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inverte.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(parcial, 0.0)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R.copy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(R0, 0.0)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(R0 ** 2).sum()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(parcial ** 2).sum()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=0) sai o MSA de cada variável.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np.linalg.eigh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 é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hermitian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 versão para matriz simétrica, mais rápida e mais estável. Matriz de correlação é sempre simétrica.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np.argsort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)[::-1]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devolve em ordem CRESCENTE e a análise fatorial lê em decrescente. Sem esta linha, o "primeiro fator" seria o menos importante.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[ordem]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ordem]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0))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corta em zero: autovalor negativo por erro numérico viraria raiz de número negativo.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cargas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guardam o sinal cru.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np.eye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np.linalg.svd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@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sua SVD. É o que garante que a rotação continue ortogonal a cada passo.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 3 -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cubo vem da derivada da soma dos quadrados dos quadrados; o segundo termo subtrai a média por fator.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Lam.T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d_ant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1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break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pt-BR" sz="1050" noProof="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::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aplica normalização de Kaiser POR PADRÃO: divide cada linha pela raiz da comunalidade antes de girar e desfaz depois. É defensável, é o que o SPSS faz — e produz cargas diferentes. Para reproduzir estes números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preciso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(L, normalize = FALSE).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deixa os eixos se inclinarem. O procedimento é engenhoso.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(cargas)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np.sign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kappa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4, uma carga de 0,9 vira 0,66 e uma de 0,3 vira 0,008. O contraste entre alto e baixo é ampliado.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*_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np.linalg.lstsq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(V, alvo)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saia com diagonal 1. Sem este passo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covariância entre fatores, não correlação, e a comunalidade vaza.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V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1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"DBI",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(DBI);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banco_de_dados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entrega_orientadora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/Base_ELSI_70Municipios_Censo2022.db")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dbGetQuery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"SELECT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setores_censitarios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Dados_sig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'OK'")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sentido único: maior = mais vulnerável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na.omit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")])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                             # esperado: 87545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pt-BR" sz="1000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cor(X,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global e por variável</a:t>
            </a:r>
            <a:endParaRPr lang="pt-B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       # com a ressalva de amostra grande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multicolinearidade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livro p. 42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2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)$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critério de Kaiser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50)  # análise paralela de Horn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1:2]), 3)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não pode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normalize = TRUE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(acp0$loadings[, 1:2], normalize = FALSE)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matriz padrão — é dela que saem os pesos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matriz de estrutura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correlação entre os fatores: esperado ~0,52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3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colSums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1:2]^2)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sum(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1)           # a repartição entre as dimensões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factor.scores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as.matrix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")$scores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2, var)                     # ~1 quando as cargas vêm de ACP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19,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1,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1",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2")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"grey60")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rownames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0.8)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TRUE,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"Matriz de correlação de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versionado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docs/metodologia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Codigo_Analise_Fatorial_Comentado.md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traz este código com a explicação linha a linha de cada função em Python ao lado da equivalente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 a tabela das cinco diferenças a esperar entre as duas implementações.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977902"/>
              </p:ext>
            </p:extLst>
          </p:nvPr>
        </p:nvGraphicFramePr>
        <p:xfrm>
          <a:off x="777240" y="1627632"/>
          <a:ext cx="11548872" cy="27432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os dados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  O PORQUE DE CADA DECISAO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62455"/>
              </p:ext>
            </p:extLst>
          </p:nvPr>
        </p:nvGraphicFramePr>
        <p:xfrm>
          <a:off x="777240" y="1627632"/>
          <a:ext cx="106344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Φ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Custo nos pesos: 0,8 ponto percentual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0589"/>
              </p:ext>
            </p:extLst>
          </p:nvPr>
        </p:nvGraphicFramePr>
        <p:xfrm>
          <a:off x="777240" y="1627632"/>
          <a:ext cx="10634472" cy="402336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é ACP de postos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renda × cor/raça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global e provisória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não entrou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como os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CSVs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de agosto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 — 2ª rodada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análise, recalculada com a renda sem o valor extremo de Belo Horizonte. As alterações estão marcadas.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104.108 setores urbanos elegíveis  ·  renda sem o setor 310620005650366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nesta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foi recalculada. Um único valor saiu da base — e o efeito dele é mais estreito e mais fundo do que se esperava.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coluna de renda sem o valor extremo de Belo Horizonte. A coluna nova é `renda_media_sem_extremo`; a `renda_media` original continua na base, sem alteração, ao lado dela.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setor.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310620005650366 — Belo Horizonte, bairro Senhor dos Passos, R$ 170.418,06 por responsável. Maior valor da base, 55,7× a mediana do município, num setor de favela com 186 domicílios e 518 pessoas.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alcance.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todas as células recalculadas, 45 mudaram, em 6 tabelas: correlacao_pearson, descritivas_globais, descritivas_por_regiao, favelas_fcu_comparativo_indicadores, missing_por_municipio, outliers. Nenhuma delas fora da renda e de suas correlações.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3774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 excluído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alteradas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32520" y="4343400"/>
            <a:ext cx="2651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41655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curtose da renda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célula a célula em banco_de_dados/eda/atualizada/comparacao_antes_depois.csv, gerada por scripts/eda_atualizada.py.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nível quase não se move. A forma da distribuição, sim.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 da exclusão.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eda/descritivas_globais.csv × eda/atualizada/descritivas_globais.csv.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Estatística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-14,50%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Curtose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-48,16%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de setores com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 setor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617720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de 1 setor em 104.108 quase não move o nível e desmonta a cauda: a curtose cai quase pela metade.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7914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463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cai 0,04% e a mediana não muda — tirar um setor em 104 mil não desloca o centro. O que muda é a cauda: o desvio-padrão cai 0,8%, a assimetria 14,5% e a curtose 48,2%. Metade do peso da cauda da renda no recorte inteiro estava naquele único setor.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eda/descritivas_globais.csv (antes) × eda/atualizada/descritivas_globais.csv (depois).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com a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 — e Spearman não muda em casa nenhuma.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de Pearson com a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eda/atualizada/comparacao_antes_depois.csv.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 com a renda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Δ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Idosos 60+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03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fortes: o valor extremo achatava a associação linear. Spearman não muda em casa nenhuma — ele já era imune ao caso.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628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61772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mede associação linear e é sensível a um ponto extremo: o setor de BH achatava toda a coluna da renda. A matriz de Spearman, que trabalha com postos, é idêntica antes e depois — o caso nunca a afetou. É o argumento empírico a favor de estatística robusta para a renda, já registrado como decisão em aberto.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16 células alteradas na matriz — os 8 pares acima, contados nos dois triângulos. Detalhe em eda/atualizada/comparacao_antes_depois.csv.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mudou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Tão importante quanto o que mudou: a exclusão não vazou para o resto da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da EDA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 após o recálculo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Elegibilidade e 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 — 106.281 elegíveis, 104.108 no recorte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Água, esgoto, lixo, razão de moradores, analfabetismo, cor/raça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 em média, mediana, outliers e faltantes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Spearman (10 variáveis)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 em todas as 100 células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— contagens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idênticas: 19.452 no recorte, 19.507 na base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de saneamento, faixas de gravidade, morfologia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feminina, envelhecimento, habitação precária, banheiro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da água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75488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foi verificado.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inspeção visual: o script recalcula as sete tabelas nas duas versões e compara célula a célula. As que não aparecem na lista de alterações têm diferença exatamente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scripts/eda_atualizada.py — a mesma rotina valida que, com a coluna antiga, o recálculo reproduz a EDA publicada.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É dessa escolha que decorrem o recorte urbano, a normalização por município e o desenho ecológico.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 vazia — ver limitações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 setores rurais elegíveis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três das sete a mediana é zero: água, esgoto e lixo não têm inadequação medida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4.488,14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setores: cada setor pesa igual, independentemente de quantos domicílios tem.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9.460,850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superior = q3 + 1,5 × (q3 − q1), a regra de Tukey.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O que a regra está marcando é a forma da distribuição, não uma cauda de casos extremos.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interessa: alguma das três descritivas merece entrar no índice?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aqui, do caso isolado à decisão de escala.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de 5,26 contra 0,78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média puxada por poucos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O perfil do setor não sustenta esse valor.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próprio IBGE responde.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arquivo traz V06005, a variância. Aqui o CV é 5,26 contra mediana nacional de 0,78. Se fosse vírgula fora do lugar, o CV seria da ordem de 526 — a média está sendo puxada por poucas declarações.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banco_de_dados/eda/atualizada/renda_outliers_rastreados.csv — 3.357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R$ 10.131,71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65 (32%)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coluna da direita não valida a regra: ser favela É um dos testes de incoerência, então nenhuma favela pode cair em EXTREMO. O que a regra ainda não pega é erro em bairro rico — São Paulo, R$ 140.172,64, 45× a mediana local, sai como EXTREMO.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65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-1,94%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0,0046;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 valor não depende do tamanho; a suspeita depende.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(R$ 140.172,64, São Paulo) está num setor de 78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51,3 vezes a mediana da própria região. Mas a taxa de suspeita é baixa — 0,042%.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a distribuição tão comprimida na base que qualquer setor de classe média já destoa, e não uma concentração maior de ricos.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65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complemento que recupera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quantidade medida por outro caminho, com um vigésimo dos ausentes.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da base completa, 19.507 estão na lista oficial — e são exatamente os 19.507 com CD_TIPO = 1. Zero falso positivo, zero omissão. No recorte de análise são 19.452, 18,68% dos 104.108. O campo NM_FCU não serve de critério: diverge em 25 setores, nenhum deles na lista oficial.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1.600,946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médias abaixo de 1 significa valor MENOR em favela — é o caso da renda, do apartamento e do índice de envelhecimento.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 ATENÇÃO: esta é a ÚNICA tabela do deck que usa a renda COM o extremo de BH (R$ 4.187,41, e não R$ 4.185,81). A linha de base nacional é calculada sobre os 468 mil setores do país, onde o setor também está — excluí-lo só do lado do ELSI quebraria a comparação. Aplicar a exclusão aos dois lados é decisão de método, ainda em aberto.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limitação, e ainda assim medir o tamanho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apareceu num teste ou numa conferência de números.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atualizada/renda_outliers_rastreados.csv — 3.357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revisão acrescentou.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uma tabela responde a pergunta.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institucionalizados — que não saem pela classe COLETIVO, vazia na base, e sim porque entram em v0001 sem entrar em V00001.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de renda, por dentro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da orientação, levada até onde ela de fato morde: o município do setor.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setor, dois efeitos de tamanhos diferentes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agregado dos 70 municípios ele quase não aparece. Dentro do município dele, aparece muito.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 de excluir o setor 310620005650366, por recorte.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banco_de_dados/eda/atualizada/extremo_bh_descritivas.csv · variação percentual ao retirar o setor.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468880"/>
                <a:gridCol w="2651760"/>
                <a:gridCol w="25877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ELSI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vezes maior em BH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-14,34%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Coef. de variação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-13,74%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-73,37%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3657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do setor, por responsável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83480" y="487375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R$ 3.058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98348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Belo Horizonte sem ele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89720" y="4873752"/>
            <a:ext cx="21945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4946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56×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89720" y="5532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entre as duas</a:t>
            </a:r>
            <a:endParaRPr lang="en-US" sz="10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que ninguém tinha medido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normaliza a renda por min-max DENTRO de cada município. Um máximo distorcido comprime todo o resto.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isto importa mais do que a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é intraurbano: cada variável é posta numa escala de 0 a 1 usando o mínimo e o máximo DAQUELE município. Se o máximo de Belo Horizonte é R$ 170 mil e o segundo maior é R$ 45.385,44, todos os outros 5 mil setores são empurrados contra o zero — e deixam de se distinguir entre 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9067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0,0222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normalizada média em BH, COM o extremo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090672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0,0846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SEM o extremo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41080" y="309067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641080" y="3749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a escala se abre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3251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de Belo Horizonte comprimidos contra o zero.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811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extremo_bh_normalizacao.csv · min-max municipal sobre 5.112 setores.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73752"/>
          <a:ext cx="106344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194560"/>
                <a:gridCol w="2194560"/>
                <a:gridCol w="1856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abaixo de 0,05 na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4.514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1.909 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usada na normalização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R$ 169.532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R$ 44.500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e o que ele faz com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renda de Belo Horizonte. À direita, o efeito na normalização municipal.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extremo_b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43032" cy="4123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por setor em Belo Horizonte e a escala normalizada, com e sem o extremo.  Fonte: eda/atualizada/figuras/extremo_bh.png · scripts/eda_extremo_belo_horizonte.py.</a:t>
            </a:r>
            <a:endParaRPr lang="en-US" sz="10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ampliada, resultado por resultado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Onze demandas da orientadora, respondidas em cenários novos — sem escolher nada por ela.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onze demandas, uma por uma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aponta o cenário ou o arquivo onde a resposta está — nenhuma foi escolhida aqui.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7114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 a resposta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com a mediana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coluna renda_media_mediana_mun; sensibilidade em renda_imputacao_alternativas.csv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Quadro de 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Quadro_Indicadores.csv / .xlsx / .md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Fatorial sem e com 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cargas.csv e pesos.csv — sem rotação, Varimax e promax lado a lado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Útil × inútil na apresentação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MAPA_APRESENTACAO_FINAL.md; correções no deck e no guia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Comparar "não chega" com os outros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 S2; comparacao_nao_chega_banheiro.csv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Juntar "sem banheiro"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 S4; prova V00238 ≤ V00495 em comparacao_nao_chega_banheiro.csv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e sem banheiro na grade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S2, S3, S4 em cenarios.csv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Fatorial de "tudo isso"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S6 e S7; postos no município em S6_postos_mun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S5 e S6; MSA, comunalidade e % de zeros em cargas.csv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o lixo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S1 e S7; lixo_fator_proprio_varimax e lixo_muda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as duas rotações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pesos.csv — Varimax e promax (padrão e estrutura) + Φ; figura fa_plano_s6.png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ampliada: como as quatro variáveis novas se encaixam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o IVS-7 e água não chega, sem canalização, sem banheiro e moradia não convencional.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_ampliada/figuras/fa_correlacao_ampli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463040"/>
            <a:ext cx="9262872" cy="4059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6692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em S6 (n = 69.458).  Fonte: banco_de_dados/eda/fatorial_ampliada/correlacao_s6.csv · figuras/fa_correlacao_ampliada.png.</a:t>
            </a:r>
            <a:endParaRPr lang="en-US" sz="10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grade de cenários,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Ajuste, fatores e o que o índice ganha — ou perde — contra a renda sozinha em AUC.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371600"/>
                <a:gridCol w="1051560"/>
                <a:gridCol w="1920240"/>
                <a:gridCol w="1737360"/>
                <a:gridCol w="1691640"/>
                <a:gridCol w="18105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(Kaiser/Horn)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F1 Varimax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renda sozinha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1/1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65,01%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78.256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62,74%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0,8384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87.512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61,23%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0,8365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75.955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66,40%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0,8897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74,23%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69.458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4/4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56,45%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69.458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56,63%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0,8394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fatorial de S6 em três rotações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Mesmos dois fatores, três formas de olhar: sem rotação, Varimax e promax (matriz padrão).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_ampliada/figuras/fa_plano_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11274552" cy="4160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quatro variáveis novas (vermelho) e as sete do IVS-7 (verde), em S6.  Fonte: figuras/fa_plano_s6.png · rótulo de cada eixo sai das cargas (achado NB4-08).</a:t>
            </a:r>
            <a:endParaRPr lang="en-US" sz="10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lixo: fator próprio ou dissolvido?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cenário — e quase não se move ao tirar um dos 70 municípios por vez.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forma fator próprio na Varimax, por cenário.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banco_de_dados/eda/fatorial_ampliada/cenarios.csv, coluna lixo_fator_proprio_varimax.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799832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 próprio?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(referência, reproduz o NB04)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não chega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sem canalização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sem banheiro (V00495)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não 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as quatro ("tudo isso")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82896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5604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0,6995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4126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MSA do lixo em S0 — o mínimo da grade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09160" y="4882896"/>
            <a:ext cx="38404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09160" y="49560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70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709160" y="55412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rodadas em que tirar 1 município muda se o lixo tem fator próprio (S0)</a:t>
            </a:r>
            <a:endParaRPr lang="en-US" sz="10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municipal: postos dentro do município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valor bruto pelo posto percentil dentro do próprio município muda o resultado.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com cada variável em posto percentil dentro do próprio município.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validacao_fcu.csv, cenários S0_postos_mun, S1_postos_mun e S6_postos_mun.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  <a:gridCol w="29535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índice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renda sozinha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ganha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3986784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05993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6451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cenários em que o índice supera a renda sozinha só com postos municipais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00600" y="3986784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00600" y="405993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±2,12 p.p.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800600" y="4645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variação do peso F1 (Varimax) ao tirar 1 dos 70 municípios, em S1 e S6</a:t>
            </a:r>
            <a:endParaRPr lang="en-US" sz="10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para a orientadora decidir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disso foi escolhido aqui — as alternativas estão lado a lado nos CSVs e no Notebook 04b.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727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2763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renda entra no índice final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original, sem o extremo de Belo Horizonte, ou imputada pela mediana municipal — as três rodadas de referência estão em S0_renda_* e S6_renda_*.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67919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rotação e qual repartição reportar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rotação, Varimax ou promax; e, na oblíqua, matriz padrão ou matriz estrutura — pesos.csv traz as quatro, sem apontar qual "aproxima" da literatura.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758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3075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graduada de "sem banheiro"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V00237 (só sanitário ou buraco) exige reextração do NB01; a V00495 usada na grade já é a junção com V00238.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7823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a moradia não convencional na grade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variância baixa e comunalidade fraca (slide da matriz ampliada), mas mostrada e não excluída.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8569</Words>
  <Application>Microsoft Macintosh PowerPoint</Application>
  <PresentationFormat>Widescreen</PresentationFormat>
  <Paragraphs>768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2</cp:revision>
  <dcterms:created xsi:type="dcterms:W3CDTF">2026-09-17T12:36:58Z</dcterms:created>
  <dcterms:modified xsi:type="dcterms:W3CDTF">2026-09-17T13:15:01Z</dcterms:modified>
</cp:coreProperties>
</file>