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  <Override PartName="/ppt/slides/slide99.xml" ContentType="application/vnd.openxmlformats-officedocument.presentationml.slide+xml"/>
  <Override PartName="/ppt/slideLayouts/slideLayout3.xml" ContentType="application/vnd.openxmlformats-officedocument.presentationml.slideLayout+xml"/>
  <Override PartName="/ppt/notesSlides/notesSlide99.xml" ContentType="application/vnd.openxmlformats-officedocument.presentationml.notesSlide+xml"/>
  <Override PartName="/ppt/slides/slide100.xml" ContentType="application/vnd.openxmlformats-officedocument.presentationml.slide+xml"/>
  <Override PartName="/ppt/notesSlides/notesSlide100.xml" ContentType="application/vnd.openxmlformats-officedocument.presentationml.notesSlide+xml"/>
  <Override PartName="/ppt/slides/slide101.xml" ContentType="application/vnd.openxmlformats-officedocument.presentationml.slide+xml"/>
  <Override PartName="/ppt/notesSlides/notesSlide101.xml" ContentType="application/vnd.openxmlformats-officedocument.presentationml.notesSlide+xml"/>
  <Override PartName="/ppt/slides/slide102.xml" ContentType="application/vnd.openxmlformats-officedocument.presentationml.slide+xml"/>
  <Override PartName="/ppt/notesSlides/notesSlide102.xml" ContentType="application/vnd.openxmlformats-officedocument.presentationml.notesSlide+xml"/>
  <Override PartName="/ppt/slides/slide103.xml" ContentType="application/vnd.openxmlformats-officedocument.presentationml.slide+xml"/>
  <Override PartName="/ppt/notesSlides/notesSlide103.xml" ContentType="application/vnd.openxmlformats-officedocument.presentationml.notesSlide+xml"/>
  <Override PartName="/ppt/slides/slide104.xml" ContentType="application/vnd.openxmlformats-officedocument.presentationml.slide+xml"/>
  <Override PartName="/ppt/notesSlides/notesSlide104.xml" ContentType="application/vnd.openxmlformats-officedocument.presentationml.notesSlide+xml"/>
  <Override PartName="/ppt/slides/slide105.xml" ContentType="application/vnd.openxmlformats-officedocument.presentationml.slide+xml"/>
  <Override PartName="/ppt/notesSlides/notesSlide105.xml" ContentType="application/vnd.openxmlformats-officedocument.presentationml.notesSlide+xml"/>
  <Override PartName="/ppt/slides/slide106.xml" ContentType="application/vnd.openxmlformats-officedocument.presentationml.slide+xml"/>
  <Override PartName="/ppt/notesSlides/notesSlide106.xml" ContentType="application/vnd.openxmlformats-officedocument.presentationml.notesSlide+xml"/>
  <Override PartName="/ppt/slides/slide107.xml" ContentType="application/vnd.openxmlformats-officedocument.presentationml.slide+xml"/>
  <Override PartName="/ppt/slideLayouts/slideLayout4.xml" ContentType="application/vnd.openxmlformats-officedocument.presentationml.slideLayout+xml"/>
  <Override PartName="/ppt/notesSlides/notesSlide107.xml" ContentType="application/vnd.openxmlformats-officedocument.presentationml.notesSlide+xml"/>
  <Override PartName="/ppt/slides/slide108.xml" ContentType="application/vnd.openxmlformats-officedocument.presentationml.slide+xml"/>
  <Override PartName="/ppt/notesSlides/notesSlide108.xml" ContentType="application/vnd.openxmlformats-officedocument.presentationml.notesSlide+xml"/>
  <Override PartName="/ppt/slides/slide109.xml" ContentType="application/vnd.openxmlformats-officedocument.presentationml.slide+xml"/>
  <Override PartName="/ppt/notesSlides/notesSlide109.xml" ContentType="application/vnd.openxmlformats-officedocument.presentationml.notesSlide+xml"/>
  <Override PartName="/ppt/slides/slide110.xml" ContentType="application/vnd.openxmlformats-officedocument.presentationml.slide+xml"/>
  <Override PartName="/ppt/notesSlides/notesSlide110.xml" ContentType="application/vnd.openxmlformats-officedocument.presentationml.notesSlide+xml"/>
  <Override PartName="/ppt/slides/slide111.xml" ContentType="application/vnd.openxmlformats-officedocument.presentationml.slide+xml"/>
  <Override PartName="/ppt/notesSlides/notesSlide111.xml" ContentType="application/vnd.openxmlformats-officedocument.presentationml.notesSlide+xml"/>
  <Override PartName="/ppt/slides/slide112.xml" ContentType="application/vnd.openxmlformats-officedocument.presentationml.slide+xml"/>
  <Override PartName="/ppt/notesSlides/notesSlide112.xml" ContentType="application/vnd.openxmlformats-officedocument.presentationml.notesSlide+xml"/>
  <Override PartName="/ppt/slides/slide113.xml" ContentType="application/vnd.openxmlformats-officedocument.presentationml.slide+xml"/>
  <Override PartName="/ppt/notesSlides/notesSlide113.xml" ContentType="application/vnd.openxmlformats-officedocument.presentationml.notesSlide+xml"/>
  <Override PartName="/ppt/slides/slide114.xml" ContentType="application/vnd.openxmlformats-officedocument.presentationml.slide+xml"/>
  <Override PartName="/ppt/notesSlides/notesSlide114.xml" ContentType="application/vnd.openxmlformats-officedocument.presentationml.notes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2" r:id="rId10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  <p:sldId id="350" r:id="rId102"/>
    <p:sldId id="351" r:id="rId103"/>
    <p:sldId id="352" r:id="rId104"/>
    <p:sldId id="353" r:id="rId105"/>
    <p:sldId id="354" r:id="rId107"/>
    <p:sldId id="355" r:id="rId108"/>
    <p:sldId id="356" r:id="rId109"/>
    <p:sldId id="357" r:id="rId110"/>
    <p:sldId id="358" r:id="rId111"/>
    <p:sldId id="359" r:id="rId112"/>
    <p:sldId id="360" r:id="rId113"/>
    <p:sldId id="361" r:id="rId114"/>
    <p:sldId id="362" r:id="rId115"/>
    <p:sldId id="363" r:id="rId116"/>
    <p:sldId id="364" r:id="rId117"/>
    <p:sldId id="365" r:id="rId118"/>
    <p:sldId id="366" r:id="rId119"/>
    <p:sldId id="367" r:id="rId120"/>
    <p:sldId id="368" r:id="rId121"/>
    <p:sldId id="369" r:id="rId1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3942"/>
    <p:restoredTop sz="94610"/>
  </p:normalViewPr>
  <p:slideViewPr>
    <p:cSldViewPr snapToGrid="0" snapToObjects="1">
      <p:cViewPr varScale="1">
        <p:scale>
          <a:sx n="156" d="100"/>
          <a:sy n="156" d="100"/>
        </p:scale>
        <p:origin x="184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Relationship Id="rId101" Type="http://schemas.openxmlformats.org/officeDocument/2006/relationships/slideMaster" Target="slideMasters/slideMaster2.xml"/><Relationship Id="rId102" Type="http://schemas.openxmlformats.org/officeDocument/2006/relationships/slide" Target="slides/slide95.xml"/><Relationship Id="rId103" Type="http://schemas.openxmlformats.org/officeDocument/2006/relationships/slide" Target="slides/slide96.xml"/><Relationship Id="rId104" Type="http://schemas.openxmlformats.org/officeDocument/2006/relationships/slide" Target="slides/slide97.xml"/><Relationship Id="rId105" Type="http://schemas.openxmlformats.org/officeDocument/2006/relationships/slide" Target="slides/slide98.xml"/><Relationship Id="rId106" Type="http://schemas.openxmlformats.org/officeDocument/2006/relationships/slideMaster" Target="slideMasters/slideMaster2.xml"/><Relationship Id="rId107" Type="http://schemas.openxmlformats.org/officeDocument/2006/relationships/slide" Target="slides/slide99.xml"/><Relationship Id="rId108" Type="http://schemas.openxmlformats.org/officeDocument/2006/relationships/slide" Target="slides/slide100.xml"/><Relationship Id="rId109" Type="http://schemas.openxmlformats.org/officeDocument/2006/relationships/slide" Target="slides/slide101.xml"/><Relationship Id="rId110" Type="http://schemas.openxmlformats.org/officeDocument/2006/relationships/slide" Target="slides/slide102.xml"/><Relationship Id="rId111" Type="http://schemas.openxmlformats.org/officeDocument/2006/relationships/slide" Target="slides/slide103.xml"/><Relationship Id="rId112" Type="http://schemas.openxmlformats.org/officeDocument/2006/relationships/slide" Target="slides/slide104.xml"/><Relationship Id="rId113" Type="http://schemas.openxmlformats.org/officeDocument/2006/relationships/slide" Target="slides/slide105.xml"/><Relationship Id="rId114" Type="http://schemas.openxmlformats.org/officeDocument/2006/relationships/slide" Target="slides/slide106.xml"/><Relationship Id="rId115" Type="http://schemas.openxmlformats.org/officeDocument/2006/relationships/slide" Target="slides/slide107.xml"/><Relationship Id="rId116" Type="http://schemas.openxmlformats.org/officeDocument/2006/relationships/slide" Target="slides/slide108.xml"/><Relationship Id="rId117" Type="http://schemas.openxmlformats.org/officeDocument/2006/relationships/slide" Target="slides/slide109.xml"/><Relationship Id="rId118" Type="http://schemas.openxmlformats.org/officeDocument/2006/relationships/slide" Target="slides/slide110.xml"/><Relationship Id="rId119" Type="http://schemas.openxmlformats.org/officeDocument/2006/relationships/slide" Target="slides/slide111.xml"/><Relationship Id="rId120" Type="http://schemas.openxmlformats.org/officeDocument/2006/relationships/slide" Target="slides/slide112.xml"/><Relationship Id="rId121" Type="http://schemas.openxmlformats.org/officeDocument/2006/relationships/slide" Target="slides/slide113.xml"/><Relationship Id="rId122" Type="http://schemas.openxmlformats.org/officeDocument/2006/relationships/slide" Target="slides/slide1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917302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Notebook 04, a última etapa central que faltava. O produto dele não é o IVS — é a estrutura e os pesos. O IVS final é o Notebook 05, depois da normalização por município. Vale abrir dizendo isso, para a expectativa ficar no lugar certo.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desta apresentação não é fechar as decisões. É que elas passam a ser tomadas com número, e o número diz que três delas importam menos do que parecia.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é de conferência. Os números são os mesmos de agosto, e o notebook trava se não os reproduzir — é a garantia de que nada se perdeu na reimplementação.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por que o Bartlett aparece se não informa: porque é convenção da área e a ausência dele seria notada. O que muda é a frase que o acompanha — em vez de apresentá-lo como prova, ele vem com a ressalva do próprio livro.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justificativa é a não-normalidade já documentada: assimetria de 3,42 na água e 3,74 na renda, curtose de 49,5 na renda. O livro não lista Spearman entre as correlações que discute — ele trata de escalas Likert, não de proporções infladas de zero. É preciso justificar uma escolha que a referência não contempla.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conduzir a leitura por três lugares. Primeiro, o retângulo escuro no canto inferior direito: analfabetismo, renda e cor/raça a 0,63, 0,76 e 0,78 — o bloco socioeconômico. Segundo, água e esgoto a 0,41 — o bloco de saneamento, mais fraco. Terceiro, a linha do lixo, que é a mais clara da matriz inteira: 0,10 com a água e −0,05 com a razão de moradores. O livro diz, na p. 16, que já na exploração inicial dá para ter dicas sobre a variável que não vai se comportar bem. Esta é a dica.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um dos três resultados que contrariaram o que os documentos do projeto afirmavam. Foi verificado antes de seguir: a origem do 0,811 está em banco_de_dados/eda/correlacao_spearman.csv, calculado par a par. O guia de leitura do livro da Enap precisa de correção nesse ponto.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a decisão mais desconfortável do trabalho, e a que mais depende de julgamento. Vale ser explícito com a orientadora: o número de fatores não sai dos dados sozinho.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de Kaiser é o mais fraco aqui: a p. 29 registra que ele funciona melhor entre 20 e 50 variáveis, e com comunalidades acima de 0,7. Temos 6 variáveis e comunalidade mínima de 0,380. E a análise paralela de Horn, que é mais robusta, nem está no livro — está em nota de rodapé em Figueiredo. Vale dizer que estamos usando um critério melhor que o da referência.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Apontar para o segundo ponto do painel da direita: ele fica logo ABAIXO da linha do acaso. É a imagem do problema do slide anterior. No painel da esquerda o segundo ponto passa por muito pouco, e o terceiro quase encosta.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Aqui a evidência ficou mais forte do que era em agosto, e por um motivo técnico que vale explicar: ACP e análise fatorial contam variâncias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Cuidado com uma armadilha aqui: a regra mecânica de comunalidade do artigo de Figueiredo teria excluído a ÁGUA, não o lixo. A comunalidade não é propriedade da variável, é propriedade da solução. A ordem correta é diagnosticar a estrutura, remover o que é externo ao construto, e só então avaliar comunalidades.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projeto vinha seguindo Figueiredo &amp; Silva (2010). O livro da Enap é posterior, mais rigoroso, e contradiz aquele artigo em três pontos que mudam o que o Notebook 04 faz.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rotação oblíqua produz uma coisa que a ortogonal não pode produzir por construção: a matriz de correlação entre os fatores. Φ = 0,52, positiva e moderada, é exatamente o que a teoria da vulnerabilidade prevê — territórios pobres têm pior saneamento. Isso vira um parágrafo de validação no artigo.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água tem SMC de 0,222: as outras cinco variáveis explicam só 22% da variabilidade dela. É nela que a diferença entre os métodos é maior. Nas de SMC alta — renda 0,735, cor/raça 0,648 — os dois métodos praticamente coincidem. Isso é confirmação de que a implementação está certa, não sinal de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Até este trabalho, a decisão sobre a razão de moradores estava pendente, entre manter por razão teórica e excluir pela regra. A p. 58 dá respaldo bibliográfico para manter, desde que se reporte carga e comunalidade juntas. Deixa de ser ousadia e vira domínio da bibliografia.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Nenhuma variável carrega acima de 0,40 em dois fatores — a estrutura simples do livro está atendida nas duas rotações. Fator 1 é socioeconômico: renda, analfabetismo, cor/raça e densidade. Fator 2 é saneamento: água e esgoto. É a estrutura do IVS-BH 2012, recuperada dos dados.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para mostrar quando a pergunta for "por que tirar o lixo?". No painel da esquerda ele está sozinho no alto, longe de todo o resto — exatamente o que o livro descreve para o item 7 do exemplo dele: "se encontra espacialmente distante dos dois grupos". No painel da direita, sem ele, as seis variáveis se organizam em dois braços: saneamento subindo pelo eixo vertical, socioeconômico avançando pelo horizontal. Os eixos vão de −1 a 1 de propósito, que são os limites do coeficiente de correlação; encolher os eixos para caber os dados faria carga média parecer carga alta.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partir daqui é o resultado. Os três slides seguintes respondem: quais são os pesos, são confiáveis, e o índice que sai deles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argumento a favor dos pesos empíricos está na p. 71 do livro: os itens contribuem de maneira desigual para o fator, e quanto maior a carga maior a contribuição — o que não acontece nas técnicas mais simples de índice, que pressupõem contribuição igual. Pesos iguais dariam três votos à posição social, porque renda, cor/raça e analfabetismo medem em boa parte a mesma coisa.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bootstrap não está em nenhuma das duas referências; é extensão do projeto. Ele importa porque o livro acusa os índices por média ponderada de serem instáveis entre amostras. A resposta honesta não era discordar, era medir — e a instabilidade não se materializou.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plano previa Spearman acima de 0,97 aqui. Deu 0,924. Nenhum dos dois valores chega ao piso de 0,90 que obrigaria a adotar o escore refinado como índice oficial — então o índice 0–1 continua viável, mas com a ressalva declarada. Esta é a questão técnica mais aberta que sai do Notebook 04.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KMO, comunalidade e variância explicada dizem se as variáveis se organizam. Nenhuma delas diz se o índice acerta. Para isso é preciso um marcador externo — e o projeto tem um.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18.901 setores de FCU contra 68.644 demais, dentro do conjunto completo nas seis variáveis. Se a orientadora perguntar por que não são os 19.452 do recorte: a diferença são os setores de favela que caíram na exclusão por lista, quase toda por sigilo do analfabetismo.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objetivo deste bloco é mostrar o custo, não escolher. Se a orientadora preferir 60/40 pela comparabilidade com o IVS-BH, agora se sabe exatamente o que isso custa: 2.196 setores mudam de faixa. Antes, a escolha seria feita no escuro.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primeira é a renda sem o extremo, que era dívida da 2ª rodada da EDA. A segunda é conceitual e é a mais séria em aberto no projeto inteiro.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resposta é clara: trocar a coluna não muda a estrutura, não muda os pesos e quase não muda a classificação. As cargas batem até a quarta casa decimal. É o resultado que se esperava de um setor em 87 mil, mas ele precisava ser medido, porque a renda é a variável de maior carga do índice e o extremo foi grande o bastante para justificar uma rodada inteira da EDA. Fica registrado que a fatorial pode continuar sobre renda_media sem prejuízo, ou migrar sem custo — a decisão deixa de importar.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que não pode passar batido: a decisão sobre o lixo SE INVERTE entre as duas leituras. Sob a leitura reflexiva, comunalidade de 0,052 manda tirar. Sob a formativa, o lixo é a única variável que cobre destino de resíduo, e tirá-la remove uma faceta do que se quer medir. Não é preciosismo terminológico — é a diferença entre dois índices diferentes.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é uma proposta, não um resultado — e precisa de aval. O que falta é literatura: Bollen &amp; Lennox (1991) é a formulação canônica da distinção, e Diamantopoulos &amp; Winklhofer (2001) e Edwards (2011) completam o núcleo. Nenhum está lido no projeto. Valeria também descobrir se o IVS-BH 2012 e o ISU de Passarelli-Araujo declaram a posição deles — provavelmente não declaram, e isso é comum na área.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existe para que a análise seja defensável linha a linha. Álgebra linear escrita à mão precisa disso.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perguntar se não teria sido mais rápido usar uma biblioteca: teria, e o resultado seria o mesmo. O que se ganhou foi poder responder a qualquer pergunta sobre o método sem dizer "a biblioteca faz". Numa iniciação científica isso vale mais do que as horas economizadas.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dizer em voz alta que a coluna da direita é mais curta — em R, cada passo é uma chamada. O projeto escreveu as nove à mão, em 457 linhas de módulo com 9 testes. O passo 7 tem uma armadilha que aparece daqui a três slides: a varimax do R normaliza por padrão e a nossa não.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resultado do projeto é 0,783, que na escala de Friel é a faixa "mediano", bem acima do piso de 0,50 de Hair. Se perguntarem o que o KMO mede em uma frase: se duas variáveis continuam associadas depois de descontar todas as outras, elas têm algo próprio entre si e não um fator comum — e é isso que derruba o KMO.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a orientadora quiser entender a diferença entre ACP e análise fatorial em uma frase, ela cabe aqui: é o que vai na diagonal da matriz antes de decompor. A ACP põe 1 e usa toda a variância; a análise fatorial põe a comunalidade e usa só a compartilhada. O resto do procedimento é idêntico.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da Varimax é maximizar a variância dos quadrados das cargas dentro de cada fator, o que empurra cada carga para perto de 0 ou de 1 — é assim que se obtém a "estrutura simples" de que o livro fala. A armadilha da normalização é o tipo de coisa que faz alguém achar que errou quando só usou o padrão de outra ferramenta.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checagem que precisa acompanhar: numa solução oblíqua uma carga padrão pode passar de 1 sem ser erro, porque é coeficiente de regressão e não correlação — está na p. 22 do livro. Se passar, testa-se a variância residual da variável; negativa, a solução é inadmissível e sugere fatores demais. No nosso caso a maior carga deu 0,999 e a menor variância residual, 0,144.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Vale rodar este bloco na frente dela se houver computador: KMO(R) devolve o global e os individuais de uma vez, e o resultado tem de bater com 0,787 e 0,715 da solução de seis variáveis. Se bater, está provado que as duas implementações concordam no que importa. na.omit é a exclusão por lista — com use = "pairwise.complete.obs" no cor() seria a versão par a par, que é a que NÃO se quer aqui.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bloco do meio é o mais importante deste slide. A varimax do R normaliza por padrão e a nossa não, então rodar principal(rotate = "varimax") dá cargas parecidas mas não idênticas. Para bater número a número é preciso extrair sem rotação e chamar varimax(normalize = FALSE) à parte. Quem não souber disso vai achar que uma das duas implementações está errada.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linhas 8 e 9 reproduzem em R as duas figuras que esta apresentação mostrou. O plot básico do R faz a Figura 2 do livro em cinco linhas — vale mostrar isso, porque desfaz a impressão de que a figura exigiu ferramenta especial.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slide é o que transforma a versão em R de curiosidade em ferramenta: ela vira uma segunda opinião sobre os números do projeto. A convergência entre duas implementações independentes é o argumento mais forte disponível quando não há um valor de referência externo para conferir.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Fechar estas decisões não era papel do notebook. O papel dele era tirá-las do terreno da opinião.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Sugestão de condução: começar pela 2 e pela 5, que são as que têm evidência mais forte e menos custo político. A 4 é a mais delicada, porque os critérios estatísticos e a teoria apontam para lados diferentes. A 6 é a mais técnica e pode ficar para depois do Notebook 03.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limitação de dados faltantes merece destaque: o livro da Enap não discute dados faltantes em nenhuma das 74 páginas. Os exemplos dele são questionários com resposta completa. É lacuna da referência, não descuido do projeto, e o tratamento adequado exigirá literatura que ainda não temos.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Primeira apresentação que reúne a EDA inteira. As anteriores eram recortes: cada deck foi montado em torno da pauta do mês, e o que não estava na pauta caía fora sem aviso.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recomputação foi validada: rodada com a coluna antiga, ela reproduz número a número as tabelas já publicadas. Só depois disso as tabelas novas foram aceitas.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Cinco das sete são fortemente assimétricas à direita, com massa concentrada no zero. A razão de moradores é a única aproximadamente simétrica.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global inverte esse retrato: marca 4,61% do Sudeste e só 1,32% do Norte. Dos 3.987 setores marcados pelo critério global, apenas 1.672 coincidem com o municipal.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Apartamento vai de 15,7% no Norte a 36,9% no Sul — é o indicador de morfologia pedido pela orientadora em julho. Cortiço e casa de cômodos concentram-se no Centro-Oeste.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Esgoto inadequado é 4,1 vezes maior em setor de favela; lixo, 2,9 vezes. A razão de moradores difere pouco (1,11), o que é coerente: adensamento domiciliar não é o eixo que separa favela do resto da cidade.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população nacional calculada pela pipeline confere com o número oficial do Censo 2022: 203.080.756.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cinco revisões cegas escolheram independentemente a mesma resposta como a mais forte. A arbitragem final é da orientação.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análise é posterior à 2ª rodada da EDA. A 2ª rodada mediu o efeito do extremo no AGREGADO dos 70 municípios, onde ele é quase nulo. Faltava medir dentro de Belo Horizonte, que é onde o setor está — e faltava a consequência metodológica, que é a mais séria.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leitura é esta: o efeito de um único setor depende inteiramente do recorte em que se olha. Em 104.096 setores ele move a média em 0,04% e por isso a 2ª rodada concluiu, com razão, que o agregado é robusto. Mas dentro de Belo Horizonte ele derruba o desvio-padrão em 14% e o máximo em 73%. A mediana quase não se move nos dois casos, o que é a assinatura de um outlier: ele desloca média e dispersão, não o centro.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achado da análise, e ele é metodológico, não descritivo. Um único dado provavelmente errado estava achatando a escala de renda de 1.909 setores de Belo Horizonte — que apareciam como se tivessem renda praticamente idêntica quando não têm. Como o IVS classifica território em quatro faixas, achatar a escala de 37% do município tem consequência direta sobre quem seria apontado como vulnerável. Vale dizer também o que NÃO muda: no ranking dos 70 municípios por renda média, Belo Horizonte continua em 7º e nenhum município troca de posição. O agregado é robusto; o intramunicipal não era.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 painel da esquerda, o extremo nem cabe no quadro: o eixo vai até R$ 30 mil e ele está em R$ 170 mil. No da direita está o argumento inteiro — a distribuição vermelha, com o extremo, é um pico esmagado contra o zero; a verde, sem ele, se espalha e volta a distinguir os setores entre si. É a mesma cidade, medida duas vezes.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junta o que a Fase 2 rodou (scripts/fatorial_ampliada.py, a grade S0-S7 e as variantes) e o que o Notebook 04b registrou por escrito. Nenhum número aqui é novo: são os mesmos CSVs de banco_de_dados/eda/fatorial_ampliada/, lidos de novo para os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Lista de conferência: onze itens, onze respostas, cada uma com o arquivo exato. Isto substitui qualquer resumo de memória — quem quiser conferir um número abre o CSV citado.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quatro novas se correlacionam mais entre si (bloco inferior direito) do que com o IVS-7 original — esperado, já que medem a mesma dimensão de saneamento por outro ângulo. A exceção é moradia não convencional: comunalidade de 0,018 e correlação baixa com tudo, inclusive com as outras três novas — a variável mais fraca da grade, não excluída aqui (demanda 9 fica para a orientadora decidir).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renda sozinha bate o índice em AUC nos oito cenários — achado NB4-02, sem adjetivo, já registrado no 04b. O KMO sobe de 0,78 (S0) para 0,81 quando entram as quatro novas (S6); Kaiser e Horn discordam em S4 e S7 (kaiser_horn_discordam em cenarios.csv), e a solução usa sempre 2 fatores, como o prompt manda.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Sem rotação, as quatro novas já aparecem isoladas de analfabetismo/renda/cor-raça, no quadrante de cima. A Varimax e a promax só giram os eixos para alinhar essa separação com F1 e F2 — a nuvem de pontos não muda de posição relativa, só o sistema de referência. Conferido rótulo a rótulo e eixo a eixo antes deste slide: todos legíveis.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Testar o lixo (demanda 10) dá resultado ambíguo por desenho: forma fator próprio em S0 e S5, mas se dissolve nos outros cenários quando entram mais variáveis de saneamento. A sensibilidade por município (S0, S1, S6, em sensibilidade_municipios.csv) mostra que isso quase não depende de qual dos 70 é retirado.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É o único ponto da grade em que o índice bate a renda sozinha em AUC — e mesmo assim só em 2 dos 3 cenários (S1_postos_mun continua atrás). O outro eixo da robustez, tirar um município por vez sem mudar para posto percentil, quase não move o peso: a maior variação nas 70 rodadas de S1 e S6 juntas é pequena.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decisões de método, nenhuma tomada por este executor — a regra do prompt (seção 0.2) é implementar o padrão que preserva as alternativas e registrar a pergunta, não escolher por ela. As quatro já estão na mensagem redigida na Fase 0 e no estado do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 seção junta o motor da Fase C (scripts/ivs_especificacoes.py, banco_de_dados/eda/ivs_especificacoes/*.csv) e o Notebook 05 (notebooks/Fase3_EDA_ELSI/05_Calculo_IVS_Final.ipynb). Nenhum número aqui é novo: são os mesmos CSVs, lidos de novo para os slides.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Elegibilidade não é escolha: é a regra da seção 2.2 aplicada às 324 linhas de especificacoes.csv. Kaiser e Horn indicam 1 fator no IVS-6, mas o fator único reprova em toda a grade pela comunalidade — por isso a comparação de referência sempre usa 2 fatores.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escolha da renda quase não move o resultado agregado: a AUC contra FCU, dentro do município, é igual até a 4ª casa decimal nas três versões — a ordem entre elas no ranking de 96 especificações sai de diferenças menores que essa. O critério da seção 2.2 não resolve sozinho qual renda usar: a escolha continua sendo da orientadora.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critério (a) da seção 2.2 (menor amplitude do peso de F1 ao tirar 1 município) empata trivialmente nos pesos fixos — amplitude zero por construção, não por robustez medida; é por isso que a leitura alternativa "estabilidade pelos pesos das variáveis" (referencia.csv) muda a proposta. Na base com mais variáveis (IVS-7 + V00495) a mesma amplitude sobe para 8,64–21,22 p.p. — mais variáveis, mais sensível a qual município sai. Fator único (sem rotação) nunca chega a este ponto: já caiu na comunalidade.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lixo em si não é o problema: IVS-6 (sem lixo) passa nas três versões de banheiro, e IVS-7 + V00495 (com lixo) também passa — quem reprova o IVS-7 puro é a comunalidade da água (0,2535), não o lixo. O banheiro graduado só reprova quando junto do lixo (IVS-7 + graduado, comunalidade 0,2986 — a 0,0014 do corte de 0,30); sozinho, com o IVS-6, ele passa.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renda bate o índice em AUC no agregado e por município — mas dentro dos estratos de renda do próprio município (mesma faixa, municípios diferentes) o índice separa mais FCU que a renda. Limite: FCU já é critério do IBGE que usa condições de moradia, então há circularidade parcial com as variáveis de saneamento do índice.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proposta muda pouco de faixa em relação a outras leituras plausíveis do mesmo critério (10,2% a 10,4%) e muito mais em relação ao índice hoje em uso no NB04 (33,0%) — a maior parte da diferença vem de trocar renda, lixo e banheiro juntos, não de uma peça isolada.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Quatro decisões de método, nenhuma tomada por este executor — a regra do prompt (seção 0.2) é calcular todas as alternativas e registrar a pergunta. A lista completa, com as herdadas do pedido original, está na seção 11 do Notebook 05 e no Relatorio_IVS_Final_NB05.md.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3"/>
    <p:sldLayoutId id="2147483651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3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1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2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2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3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8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9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0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1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2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3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4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5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6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8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9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0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1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2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3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4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5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6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image" Target="../media/eda-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8.xml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9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0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2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03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4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5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6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7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8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9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0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2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3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50" kern="0" spc="2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pt-BR" sz="1150" noProof="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4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</a:t>
            </a:r>
            <a:endParaRPr lang="pt-BR" sz="4000" noProof="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fatorial dos sete componentes · Censo Demográfico 2022 · 70 municípios do ELSI-Brasil</a:t>
            </a:r>
            <a:endParaRPr lang="pt-BR" sz="1400" noProof="0" dirty="0"/>
          </a:p>
          <a:p>
            <a:pPr marL="0" indent="0">
              <a:lnSpc>
                <a:spcPts val="2000"/>
              </a:lnSpc>
              <a:buNone/>
            </a:pPr>
            <a:r>
              <a:rPr lang="pt-BR" sz="14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estrutura latente dos dados diz sobre quanto cada indicador deve pesar no índice.</a:t>
            </a:r>
            <a:endParaRPr lang="pt-BR" sz="1400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87.545 setores completos nas sete variáveis</a:t>
            </a:r>
            <a:endParaRPr lang="pt-BR" sz="1100" noProof="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estava em aberto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travavam o cálculo do índice, e nenhuma tinha número para sustentá-la.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5943062"/>
              </p:ext>
            </p:extLst>
          </p:nvPr>
        </p:nvGraphicFramePr>
        <p:xfrm>
          <a:off x="777240" y="1627632"/>
          <a:ext cx="10634472" cy="2377440"/>
        </p:xfrm>
        <a:graphic>
          <a:graphicData uri="http://schemas.openxmlformats.org/drawingml/2006/table">
            <a:tbl>
              <a:tblPr/>
              <a:tblGrid>
                <a:gridCol w="3291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5994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ela trava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existia antes deste trabalho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dos pesos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Notebooks 04 e 05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argumento: renda, cor/raça e analfabetismo são colineares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Composição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Uma ressalva: é a variável menos correlacionada com as demais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Notebook 03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constatação de que o sigilo não é aleatório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548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leitura do índice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teoria do IVS-BH 2012 dizia duas dimensões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702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777240" y="43251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quatro continuam sendo decisão da orientação — mas agora cada opção tem o seu custo medido em quantos setores mudam de faixa de risco.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base aguenta a análise?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Etapa 1 do planejamento, nos termos de Matos &amp; Rodrigues (2019), p. 39–46.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Etapa 1 do livro, conferida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os critérios atendidos, dois deles com ressalva a declarar.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Critérios de adequabilidade da base, sete componentes, correlação de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Recorte: 87.545 setores completos.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2638105"/>
              </p:ext>
            </p:extLst>
          </p:nvPr>
        </p:nvGraphicFramePr>
        <p:xfrm>
          <a:off x="777240" y="2176272"/>
          <a:ext cx="10634472" cy="25450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904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 do livro (p. 44)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Patamar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Tamanho da amostra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&gt; 100 e ≥ 5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 · 12.506 : 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 com folga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maioria acima de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0,50; ideal a partir de 0,70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por variável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≥ 0,50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mínimo 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χ² = 235.084 ·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&lt; 0,001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atendido, mas vazio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Bartlett não informa nesta escala.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p. 43 adverte que o teste "depende muito do tamanho amostral e tende a rejeitar a hipótese nula para amostras grandes". Com 87 mil setores ele rejeita por construção. A conclusão de adequabilidade se apoia no KMO e nos MSA, que não crescem com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escolha por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que torna a análise defensável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Pearson, a mesma base reprovaria em dois critérios da Etapa 1.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mesmos setores, as duas correlações.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resumo_adequabilidade.csv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escolha por 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foi decidida na §9 do relatório da EDA.</a:t>
            </a:r>
            <a:endParaRPr lang="pt-BR" sz="950" noProof="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6039137"/>
              </p:ext>
            </p:extLst>
          </p:nvPr>
        </p:nvGraphicFramePr>
        <p:xfrm>
          <a:off x="777240" y="2176272"/>
          <a:ext cx="10634472" cy="2523744"/>
        </p:xfrm>
        <a:graphic>
          <a:graphicData uri="http://schemas.openxmlformats.org/drawingml/2006/table">
            <a:tbl>
              <a:tblPr/>
              <a:tblGrid>
                <a:gridCol w="31089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67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sobe dentro da faixa boa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sai da zona medíocre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Coeficientes |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| ≥ 0,30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33,3%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57,1%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Pearson, reprova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por Kaiser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solução mais parcimoniosa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53,6%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</a:t>
                      </a:r>
                      <a:r>
                        <a:rPr lang="pt-BR" sz="1150" b="1" noProof="0" dirty="0" err="1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cruza os 60%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94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preço.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Decompor uma matriz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fazer análise de componentes principais sobre os POSTOS, não sobre os valores. As cargas se referem a posições relativas. Isso volta a aparecer, com consequência concreta, no slide dos escores.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correlação, as sete variáveis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a Tabela 1 do livro (p. 15) nos dados do projeto — e ela já mostra a estrutura antes de fatorar.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triz_corre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63240" y="1353312"/>
            <a:ext cx="5541264" cy="441655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521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Matriz-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sete componentes, 87.545 setores.  Fonte: figuras/nb04_matriz_correlacao.png, bloco 2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o número que circula é de outra matriz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A correlação citada nos documentos do projeto não é a da matriz que foi fatorada.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0,784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× cor/raça na matriz FATORADA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87.545 setores)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617720" y="1856232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617720" y="1929384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617720" y="251460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par na EDA §9 (par a par, 104.108 setores)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458200" y="1856232"/>
            <a:ext cx="29260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458200" y="192938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0,800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458200" y="251460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limiar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multicolinearidade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(livro, p. 42)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dois números estão certos, e medem conjuntos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da EDA é calculado par a par, cada coeficiente sobre os seus próprios casos completos. O da fatorial é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 só os setores completos nas sete variáveis entram. A diferença vai na mesma direção do viés do sigilo — a base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listwise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perde os setores de melhor situação, e isso comprime a associação entre renda e cor/raça.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par da matriz efetivamente fatorada cruza o limiar de 0,80. A objeção não desaparece — 0,784 continua alto e o bloco socioeconômico continua coeso —, mas o artigo precisa citar o número da matriz que foi fatorada, e dizer qual é qual.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critérios discordam — e o livro (p. 28–32) manda usá-los em conjunto justamente por isso.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Kaiser e Horn não sustentam o segundo fator sem o lixo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 sete variáveis, os dois critérios retêm dois. Retirado o lixo, retêm um.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observados contra os de dados aleatórios de mesmo tamanho.</a:t>
            </a:r>
            <a:endParaRPr lang="pt-BR" sz="1100" noProof="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19782174"/>
              </p:ext>
            </p:extLst>
          </p:nvPr>
        </p:nvGraphicFramePr>
        <p:xfrm>
          <a:off x="777240" y="2176272"/>
          <a:ext cx="10634472" cy="2103120"/>
        </p:xfrm>
        <a:graphic>
          <a:graphicData uri="http://schemas.openxmlformats.org/drawingml/2006/table">
            <a:tbl>
              <a:tblPr/>
              <a:tblGrid>
                <a:gridCol w="4023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459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(7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(6 var.)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3,2997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3,2391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1,0232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1,0486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1,0155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0,9585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0,9575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1,0075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1,0031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Variância acumulada com 2 fatores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70,0%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4531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7"/>
          <p:cNvSpPr/>
          <p:nvPr/>
        </p:nvSpPr>
        <p:spPr>
          <a:xfrm>
            <a:off x="777240" y="45079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sustenta o segundo fator, então.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teórica. A p. 32 do livro admite explicitamente que a decisão final pode ser teórica, e que a pergunta certa é "teoricamente faz mais sentido essas variáveis estarem agrupadas em quantos fatores?". As duas dimensões vêm do IVS-BH 2012. Isso é uma escolha declarada, não um número escondido.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pt-BR" sz="1000" noProof="0" dirty="0"/>
          </a:p>
        </p:txBody>
      </p:sp>
      <p:pic>
        <p:nvPicPr>
          <p:cNvPr id="6" name="Image 0" descr="/Users/pedro/Documents/Iniciacao Cientifica/Projeto_IVS_Censo22/banco_de_dados/eda/fatorial/figuras/nb04_scree_hor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963386"/>
            <a:ext cx="9811512" cy="42062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978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Quantos fatores reter — observado contra o acaso.  Fonte: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/fatorial/figuras/nb04_scree_horn.png, bloco 3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do indicador de lixo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de agosto virou medida — e a análise fatorial propriamente dita a reforça.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tem variância comum com o construto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lhe dava um fator próprio. O eixo principal mostra que aquele fator é ruído dele mesmo.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90195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0,859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do lixo pela ACP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90195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7510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0,052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6032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pelo eixo principal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90195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7510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0,106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6032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SMC — a menor das sete variáveis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355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410712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os dois números são tão diferentes.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ACP põe 1 na diagonal da matriz e distribui TODA a variância de cada variável entre os componentes — inclusive a variância que é só daquela variável. A análise fatorial põe a comunalidade e conta apenas a variância COMPARTILHADA. O fator próprio que o lixo forma na ACP é, quase inteiro, variância específica.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para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o lixo com peso empírico é dar peso a uma dimensão que não é vulnerabilidade. Sem ele, a variância acumulada sobe de 62,1% para 70,0% com MENOS variáveis, e a água sai de comunalidade 0,253 para 0,822 — ela estava baixa porque o lixo havia sequestrado o segundo fator.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Enap discorda de Figueiredo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1 — a rotação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inverte o ônus da prova: ortogonal é o caminho que exige justificativa.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0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"usar rotação ortogonal com dados de Ciências Humanas e Sociais não parece ter nenhum sentido. Nessas áreas, as variáveis quase sempre são correlacionadas. [...] para usar rotação ortogonal, o pesquisador precisaria ter evidências teóricas ou empíricas muito fortes de que os fatores não são correlacionados."</a:t>
            </a:r>
            <a:endParaRPr lang="pt-BR" sz="130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1810512"/>
            <a:ext cx="18288" cy="0"/>
          </a:xfrm>
          <a:prstGeom prst="line">
            <a:avLst/>
          </a:prstGeom>
          <a:noFill/>
          <a:ln w="1905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304495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38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6850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0,521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entre os dois fatores 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4709160" y="36850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4709160" y="37581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4709160" y="43434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do peso, rotação ortogonal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8641080" y="368503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8641080" y="375818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65,8 / 34,2</a:t>
            </a:r>
            <a:endParaRPr lang="pt-BR" sz="3000" noProof="0" dirty="0"/>
          </a:p>
        </p:txBody>
      </p:sp>
      <p:sp>
        <p:nvSpPr>
          <p:cNvPr id="17" name="Text 15"/>
          <p:cNvSpPr/>
          <p:nvPr/>
        </p:nvSpPr>
        <p:spPr>
          <a:xfrm>
            <a:off x="8641080" y="434340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rotação oblíqua</a:t>
            </a:r>
            <a:endParaRPr lang="pt-BR" sz="105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0932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148072"/>
            <a:ext cx="106344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previa que a rotação oblíqua deslocasse os pesos NA DIREÇÃO dos 60/40 da literatura. Ela os deslocou meio ponto no sentido oposto. A convergência com o IVS-BH não depende da escolha de rotação — e isso é bom: significa que a decisão nº 5 não muda os pesos de forma relevante.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2 — a técnica de extração </a:t>
            </a:r>
            <a:r>
              <a:rPr lang="pt-BR" sz="2600" b="1" noProof="0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>
              <a:solidFill>
                <a:srgbClr val="FF0000"/>
              </a:solidFill>
            </a:endParaRPr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regra de Stevens (1992) obriga a testar o que era pressuposto.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ACP e fatoração do eixo principal sobre a mesma matriz, seis componentes.</a:t>
            </a:r>
            <a:endParaRPr lang="pt-BR" sz="1100" noProof="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2088160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fator 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0,754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-0,159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0,648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-0,178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-0,067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646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194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das três condições de convergência falham.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(p. 27) diz que ACP e análise fatorial dão o mesmo com mais de 30 variáveis ou comunalidades acima de 0,60 na maioria; e que abaixo de 20 variáveis, com comunalidades abaixo de 0,4, podem divergir. São 6 variáveis e a comunalidade mínima é 0,380. Divergem — e divergem exatamente onde Stevens previu: nas variáveis que menos compartilham variância com as demais.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Divergência 3 — a regra de comunalidade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0,50 não é corte rígido, e isso resolve um caso pendente.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097280" y="1810512"/>
            <a:ext cx="99943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ts val="1900"/>
              </a:lnSpc>
              <a:buNone/>
            </a:pPr>
            <a:r>
              <a:rPr lang="pt-BR" sz="1350" i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"O critério da comunalidade maior do que 0,5 não deve ser utilizado isoladamente e de maneira muito rígida."</a:t>
            </a:r>
            <a:endParaRPr lang="pt-BR" sz="1350" noProof="0" dirty="0"/>
          </a:p>
        </p:txBody>
      </p:sp>
      <p:sp>
        <p:nvSpPr>
          <p:cNvPr id="8" name="Text 6"/>
          <p:cNvSpPr/>
          <p:nvPr/>
        </p:nvSpPr>
        <p:spPr>
          <a:xfrm>
            <a:off x="1097280" y="2496312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Matos &amp; Rodrigues (2019), p. 58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77724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0,380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comunalidade da razão de moradores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5074920" y="313639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5074920" y="320954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0,532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5074920" y="379476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 dela no fator socioeconômico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43616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4165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fica no índice, e os dois números vão reportados juntos.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livro mantém, no seu próprio exemplo, um item com comunalidade abaixo do corte porque a carga fatorial é alta. É o caso aqui. A razão de moradores é a única sobrevivente do bloco de densidade habitacional, e retirá-la reduziria o índice a cinco componentes.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cargas, nas duas rotações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componentes, sem o indicador de lixo. A estrutura teórica aparece limpa.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mapa_carg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00200" y="1554480"/>
            <a:ext cx="8988552" cy="419709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83387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3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Cargas fatoriais —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Fonte: figuras/nb04_mapa_cargas.png,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dos fatores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Figura 2 do livro (p. 17): os fatores como eixos, cada variável plotada nas suas duas cargas.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plano_fatori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389888"/>
            <a:ext cx="10634472" cy="42336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4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Representação gráfica dos fatores, com e sem o indicador de lixo.  Fonte: figuras/nb04_plano_fatorial.png, bloco 5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produto deste notebook: quanto cada indicador pesa, e com que margem.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do IVS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 proporcional ao quadrado da carga, dentro e entre as dimensões.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dos seis componentes, solução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dois fatores.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nb04_sintese_pesos.csv. O peso da dimensão é a soma dos quadrados das cargas do fator sobre o total.</a:t>
            </a:r>
            <a:endParaRPr lang="pt-BR" sz="950" noProof="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09481895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089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819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22,32%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21,21%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19,09%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17,57%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0,679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12,64%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7,17%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65,0 / 35,0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repartição empírica socioeconômica / saneamento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892040" y="496519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892040" y="503834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/ 40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892040" y="562356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 do IVS-BH 2012 (literatura)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90068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9006840" y="4965192"/>
            <a:ext cx="2377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Convergem.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 de diferença.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pesos são estáveis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Mil reamostragens com reposição respondem com número à crítica de instabilidade da p. 23.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Intervalo de confiança de 95% de cada carga, por </a:t>
            </a:r>
            <a:r>
              <a:rPr lang="pt-BR" sz="110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nb04_bootstrap_cargas.csv. 1.000 reamostragens, semente 42, cada solução alinhada à da amostra completa.</a:t>
            </a:r>
            <a:endParaRPr lang="pt-BR" sz="950" noProof="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21881742"/>
              </p:ext>
            </p:extLst>
          </p:nvPr>
        </p:nvGraphicFramePr>
        <p:xfrm>
          <a:off x="777240" y="2176272"/>
          <a:ext cx="10634472" cy="2560320"/>
        </p:xfrm>
        <a:graphic>
          <a:graphicData uri="http://schemas.openxmlformats.org/drawingml/2006/table">
            <a:tbl>
              <a:tblPr/>
              <a:tblGrid>
                <a:gridCol w="42062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0759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 no fator 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IC 95%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[0,082 ; 0,091]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[0,384 ; 0,400]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[0,519 ; 0,544]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0,0258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[0,866 ; 0,871]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0,915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[0,913 ; 0,917]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[0,830 ; 0,835]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4937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946904"/>
            <a:ext cx="4937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[64,7 ; 65,3]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4937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IC 95% da repartição socioeconômica — 0,59 ponto de amplitude</a:t>
            </a:r>
            <a:endParaRPr lang="pt-BR" sz="1050" noProof="0" dirty="0"/>
          </a:p>
        </p:txBody>
      </p:sp>
      <p:sp>
        <p:nvSpPr>
          <p:cNvPr id="12" name="Text 9"/>
          <p:cNvSpPr/>
          <p:nvPr/>
        </p:nvSpPr>
        <p:spPr>
          <a:xfrm>
            <a:off x="6355080" y="4873752"/>
            <a:ext cx="5029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limita esta análise não é o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87 mil setores a incerteza amostral é desprezível. O que limita é o número pequeno de variáveis — e o livro, escrito para questionários com dezenas de itens, não trata desse problema.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e o escore refinado concordam menos que o previsto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Achado. E a forma como a concordância falha é mais informativa que o número.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Shape 4"/>
          <p:cNvSpPr/>
          <p:nvPr/>
        </p:nvSpPr>
        <p:spPr>
          <a:xfrm>
            <a:off x="777240" y="1856232"/>
            <a:ext cx="31089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0,924</a:t>
            </a:r>
            <a:endParaRPr lang="pt-BR" sz="3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com o escore sobre POSTOS (coerente)</a:t>
            </a:r>
            <a:endParaRPr lang="pt-BR" sz="1050" noProof="0" dirty="0"/>
          </a:p>
        </p:txBody>
      </p:sp>
      <p:sp>
        <p:nvSpPr>
          <p:cNvPr id="9" name="Shape 7"/>
          <p:cNvSpPr/>
          <p:nvPr/>
        </p:nvSpPr>
        <p:spPr>
          <a:xfrm>
            <a:off x="4434840" y="1856232"/>
            <a:ext cx="31089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8"/>
          <p:cNvSpPr/>
          <p:nvPr/>
        </p:nvSpPr>
        <p:spPr>
          <a:xfrm>
            <a:off x="4434840" y="1929384"/>
            <a:ext cx="3108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0,945</a:t>
            </a:r>
            <a:endParaRPr lang="pt-BR" sz="3000" noProof="0" dirty="0"/>
          </a:p>
        </p:txBody>
      </p:sp>
      <p:sp>
        <p:nvSpPr>
          <p:cNvPr id="11" name="Text 9"/>
          <p:cNvSpPr/>
          <p:nvPr/>
        </p:nvSpPr>
        <p:spPr>
          <a:xfrm>
            <a:off x="4434840" y="2514600"/>
            <a:ext cx="3108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escore sobre valores brutos (incoerente)</a:t>
            </a:r>
            <a:endParaRPr lang="pt-BR" sz="1050" noProof="0" dirty="0"/>
          </a:p>
        </p:txBody>
      </p:sp>
      <p:sp>
        <p:nvSpPr>
          <p:cNvPr id="12" name="Shape 10"/>
          <p:cNvSpPr/>
          <p:nvPr/>
        </p:nvSpPr>
        <p:spPr>
          <a:xfrm>
            <a:off x="8092440" y="18562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1"/>
          <p:cNvSpPr/>
          <p:nvPr/>
        </p:nvSpPr>
        <p:spPr>
          <a:xfrm>
            <a:off x="8092440" y="19293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0,950</a:t>
            </a:r>
            <a:endParaRPr lang="pt-BR" sz="3000" noProof="0" dirty="0"/>
          </a:p>
        </p:txBody>
      </p:sp>
      <p:sp>
        <p:nvSpPr>
          <p:cNvPr id="14" name="Text 12"/>
          <p:cNvSpPr/>
          <p:nvPr/>
        </p:nvSpPr>
        <p:spPr>
          <a:xfrm>
            <a:off x="8092440" y="25146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que validaria o índice 0–1</a:t>
            </a:r>
            <a:endParaRPr lang="pt-BR" sz="1050" noProof="0" dirty="0"/>
          </a:p>
        </p:txBody>
      </p:sp>
      <p:sp>
        <p:nvSpPr>
          <p:cNvPr id="15" name="Shape 13"/>
          <p:cNvSpPr/>
          <p:nvPr/>
        </p:nvSpPr>
        <p:spPr>
          <a:xfrm>
            <a:off x="777240" y="3264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31927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mais coerente o escore fica com o modelo, mais se afasta do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0–1 é min-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 valores BRUTOS. O modelo fatorial foi estimado sobre POSTOS, porque a correlação é de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São dois objetos em escalas diferentes, e a diferença entre 0,924 e 0,945 é exatamente o tamanho dessa incoerência.</a:t>
            </a:r>
            <a:endParaRPr lang="pt-BR" sz="12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8231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instabilidade.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bootstrap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mediu a incerteza dos pesos em 0,59 ponto percentual. Mais reamostragem não resolve isto. As saídas são três, e as três são defensáveis: compor o índice sobre postos, estimar a fatorial sobre Pearson, ou declarar a divergência. O que não é defensável é escolher sem saber que se está escolhendo.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funciona?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nenhuma estatística interna à fatorial responde.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Contra os setores de favela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Validação de critério com um marcador externo ao índice: CD_TIPO = 1, do próprio IBGE.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pic>
        <p:nvPicPr>
          <p:cNvPr id="6" name="Image 0" descr="/Users/pedro/Documents/Iniciacao Cientifica/Projeto_IVS_Censo22/banco_de_dados/eda/fatorial/figuras/nb04_roc_fc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240" y="1481328"/>
            <a:ext cx="4160520" cy="416052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0" y="1920240"/>
            <a:ext cx="27432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5"/>
          <p:cNvSpPr/>
          <p:nvPr/>
        </p:nvSpPr>
        <p:spPr>
          <a:xfrm>
            <a:off x="566928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0,813</a:t>
            </a:r>
            <a:endParaRPr lang="pt-BR" sz="3000" noProof="0" dirty="0"/>
          </a:p>
        </p:txBody>
      </p:sp>
      <p:sp>
        <p:nvSpPr>
          <p:cNvPr id="9" name="Text 6"/>
          <p:cNvSpPr/>
          <p:nvPr/>
        </p:nvSpPr>
        <p:spPr>
          <a:xfrm>
            <a:off x="566928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índice 0–1</a:t>
            </a:r>
            <a:endParaRPr lang="pt-BR" sz="1050" noProof="0" dirty="0"/>
          </a:p>
        </p:txBody>
      </p:sp>
      <p:sp>
        <p:nvSpPr>
          <p:cNvPr id="10" name="Shape 7"/>
          <p:cNvSpPr/>
          <p:nvPr/>
        </p:nvSpPr>
        <p:spPr>
          <a:xfrm>
            <a:off x="8778240" y="1920240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1" name="Text 8"/>
          <p:cNvSpPr/>
          <p:nvPr/>
        </p:nvSpPr>
        <p:spPr>
          <a:xfrm>
            <a:off x="8778240" y="1993392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0,862</a:t>
            </a:r>
            <a:endParaRPr lang="pt-BR" sz="3000" noProof="0" dirty="0"/>
          </a:p>
        </p:txBody>
      </p:sp>
      <p:sp>
        <p:nvSpPr>
          <p:cNvPr id="12" name="Text 9"/>
          <p:cNvSpPr/>
          <p:nvPr/>
        </p:nvSpPr>
        <p:spPr>
          <a:xfrm>
            <a:off x="8778240" y="257860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escore refinado</a:t>
            </a:r>
            <a:endParaRPr lang="pt-BR" sz="1050" noProof="0" dirty="0"/>
          </a:p>
        </p:txBody>
      </p:sp>
      <p:sp>
        <p:nvSpPr>
          <p:cNvPr id="13" name="Shape 10"/>
          <p:cNvSpPr/>
          <p:nvPr/>
        </p:nvSpPr>
        <p:spPr>
          <a:xfrm>
            <a:off x="5669280" y="3246120"/>
            <a:ext cx="58521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4" name="Text 11"/>
          <p:cNvSpPr/>
          <p:nvPr/>
        </p:nvSpPr>
        <p:spPr>
          <a:xfrm>
            <a:off x="5669280" y="331927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0,405  contra  0,339</a:t>
            </a:r>
            <a:endParaRPr lang="pt-BR" sz="3000" noProof="0" dirty="0"/>
          </a:p>
        </p:txBody>
      </p:sp>
      <p:sp>
        <p:nvSpPr>
          <p:cNvPr id="15" name="Text 12"/>
          <p:cNvSpPr/>
          <p:nvPr/>
        </p:nvSpPr>
        <p:spPr>
          <a:xfrm>
            <a:off x="5669280" y="3904488"/>
            <a:ext cx="5852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 do índice nos setores de FCU e nos demais</a:t>
            </a:r>
            <a:endParaRPr lang="pt-BR" sz="1050" noProof="0" dirty="0"/>
          </a:p>
        </p:txBody>
      </p:sp>
      <p:sp>
        <p:nvSpPr>
          <p:cNvPr id="16" name="Shape 13"/>
          <p:cNvSpPr/>
          <p:nvPr/>
        </p:nvSpPr>
        <p:spPr>
          <a:xfrm>
            <a:off x="5669280" y="45171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7" name="Text 14"/>
          <p:cNvSpPr/>
          <p:nvPr/>
        </p:nvSpPr>
        <p:spPr>
          <a:xfrm>
            <a:off x="5669280" y="4572000"/>
            <a:ext cx="5852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 teste vale mais.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das seis variáveis do índice foi usada para classificar um setor como favela. A lista é oficial e já foi conferida setor a setor com 100% de concordância. O corte fixado no plano era 0,75.</a:t>
            </a:r>
            <a:endParaRPr lang="pt-BR" sz="1250" noProof="0" dirty="0"/>
          </a:p>
        </p:txBody>
      </p:sp>
      <p:sp>
        <p:nvSpPr>
          <p:cNvPr id="18" name="Text 15"/>
          <p:cNvSpPr/>
          <p:nvPr/>
        </p:nvSpPr>
        <p:spPr>
          <a:xfrm>
            <a:off x="777240" y="57424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b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5 — 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Separação dos setores de Favela e Comunidade Urbana.  Fonte: figuras/nb04_roc_fcu.png, bloco 9 do Notebook 04.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custo de cada escolha, em setores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métrica não é variância explicada. É quantos setores mudam de faixa de risco.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Mudança de classificação em quartis, contra a referência de dois fatores com pesos empíricos.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nb04_cenarios.csv e nb04_contingencia_*.</a:t>
            </a:r>
            <a:r>
              <a:rPr lang="pt-BR" sz="950" i="1" noProof="0" dirty="0" err="1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</a:t>
            </a: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</a:t>
            </a:r>
            <a:endParaRPr lang="pt-BR" sz="950" noProof="0" dirty="0"/>
          </a:p>
        </p:txBody>
      </p:sp>
      <p:graphicFrame>
        <p:nvGraphicFramePr>
          <p:cNvPr id="2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36404703"/>
              </p:ext>
            </p:extLst>
          </p:nvPr>
        </p:nvGraphicFramePr>
        <p:xfrm>
          <a:off x="777240" y="2176272"/>
          <a:ext cx="10634472" cy="1828800"/>
        </p:xfrm>
        <a:graphic>
          <a:graphicData uri="http://schemas.openxmlformats.org/drawingml/2006/table">
            <a:tbl>
              <a:tblPr/>
              <a:tblGrid>
                <a:gridCol w="49377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0116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41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que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dos 87.545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60/40 em vez de 65/35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2.196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0,9993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analfabetismo (política do sigilo)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6.587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0,9948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em vez de dois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7.668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8,8%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2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0,9830</a:t>
                      </a:r>
                      <a:endParaRPr lang="pt-BR" sz="12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1330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18795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nº 1 deixa de ser crítica.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os pesos empíricos pelos 60/40 da literatura move 2,5% dos setores de faixa, com correlação de 0,9993 entre as duas ordenações. É o menor custo dos três cenários — e isso é resultado publicável, não detalhe técnico.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perguntas que sobraram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sem o extremo não muda nada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2ª rodada da EDA recalculou tudo com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renda_media_sem_extremo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A fatorial é anterior a essa coluna.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1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r>
              <a:rPr lang="pt-BR" sz="110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fatorial, trocando só a coluna de renda.</a:t>
            </a:r>
            <a:endParaRPr lang="pt-BR" sz="11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950" i="1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nb04_renda_sem_extremo.csv. Mesmas seis variáveis, mesmo recorte, mesma rotação.</a:t>
            </a:r>
            <a:endParaRPr lang="pt-BR" sz="950" noProof="0" dirty="0"/>
          </a:p>
        </p:txBody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58112094"/>
              </p:ext>
            </p:extLst>
          </p:nvPr>
        </p:nvGraphicFramePr>
        <p:xfrm>
          <a:off x="777240" y="2176272"/>
          <a:ext cx="10634472" cy="201168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3774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3911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</a:t>
                      </a:r>
                      <a:r>
                        <a:rPr lang="pt-BR" sz="110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MSA mínimo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0,7153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-0,00005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socioeconômico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65,038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saneamento (%)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34,962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-0,00036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0" name="Text 7"/>
          <p:cNvSpPr/>
          <p:nvPr/>
        </p:nvSpPr>
        <p:spPr>
          <a:xfrm>
            <a:off x="77724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0,0000</a:t>
            </a:r>
            <a:endParaRPr lang="pt-BR" sz="3000" noProof="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diferença entre as cargas</a:t>
            </a:r>
            <a:endParaRPr lang="pt-BR" sz="1050" noProof="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3" name="Text 10"/>
          <p:cNvSpPr/>
          <p:nvPr/>
        </p:nvSpPr>
        <p:spPr>
          <a:xfrm>
            <a:off x="4617720" y="435254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278</a:t>
            </a:r>
            <a:endParaRPr lang="pt-BR" sz="3000" noProof="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que mudam de faixa, de 87.544</a:t>
            </a:r>
            <a:endParaRPr lang="pt-BR" sz="1050" noProof="0" dirty="0"/>
          </a:p>
        </p:txBody>
      </p:sp>
      <p:sp>
        <p:nvSpPr>
          <p:cNvPr id="15" name="Shape 12"/>
          <p:cNvSpPr/>
          <p:nvPr/>
        </p:nvSpPr>
        <p:spPr>
          <a:xfrm>
            <a:off x="8458200" y="4279392"/>
            <a:ext cx="29260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6" name="Text 13"/>
          <p:cNvSpPr/>
          <p:nvPr/>
        </p:nvSpPr>
        <p:spPr>
          <a:xfrm>
            <a:off x="8458200" y="4352544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0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0,999976</a:t>
            </a:r>
            <a:endParaRPr lang="pt-BR" sz="3000" noProof="0" dirty="0"/>
          </a:p>
        </p:txBody>
      </p:sp>
      <p:sp>
        <p:nvSpPr>
          <p:cNvPr id="17" name="Text 14"/>
          <p:cNvSpPr/>
          <p:nvPr/>
        </p:nvSpPr>
        <p:spPr>
          <a:xfrm>
            <a:off x="8458200" y="49377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entre os dois índices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construto reflexivo ou índice formativo?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objeção conceitual mais séria em aberto. Ela decide se a análise fatorial é o instrumento certo.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Reflexivo — o latente CAUSA os indicadores.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vulnerabilidade existiria como propriedade do território e se manifestaria em renda baixa, analfabetismo, saneamento precário. Os indicadores são intercambiáveis, devem correlacionar-se alto, e retirar um não muda o significado. É o modelo que a análise fatorial pressupõe.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35508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355080" y="1810512"/>
            <a:ext cx="51206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Formativo — os indicadores CONSTITUEM o índice.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Vulnerabilidade É a combinação de privações. Cada indicador é faceta definidora, não precisam correlacionar-se, e retirar um muda o significado. Os pesos viriam de teoria ou de política pública, não da covariância.</a:t>
            </a:r>
            <a:endParaRPr lang="pt-BR" sz="1250" noProof="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3818094"/>
              </p:ext>
            </p:extLst>
          </p:nvPr>
        </p:nvGraphicFramePr>
        <p:xfrm>
          <a:off x="777240" y="3867912"/>
          <a:ext cx="10634472" cy="1920240"/>
        </p:xfrm>
        <a:graphic>
          <a:graphicData uri="http://schemas.openxmlformats.org/drawingml/2006/table">
            <a:tbl>
              <a:tblPr/>
              <a:tblGrid>
                <a:gridCol w="38404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918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0215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Resultado deste trabalho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reflexiva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formativa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com comunalidade 0,052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pertence: retirar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faceta que falta: manter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× cor/raça a 0,784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coeso, evidência do construto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atrapalha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0,783 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provam adequabilidade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se aplicam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65/35 empíricos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saem da estrutura latente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teriam de sair de teoria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saída que os dados sugerem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híbrido — e ele explica uma coisa que estava sem explicação.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Dentro de cada dimensão, o comportamento é reflexivo.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analfabetismo e cor/raça correlacionam-se de 0,63 a 0,78 e claramente manifestam uma mesma posição social do território. Água e esgoto, a 0,41, manifestam infraestrutura de saneamento. Nos dois blocos, os indicadores parecem efeitos de uma causa comum.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777240" y="31729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322783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Entre as duas dimensões, a composição é formativa.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razão para supor um latente único que cause tanto a falta de água quanto o analfabetismo. A correlação entre os fatores,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0,52, é consistente com isso: alta o bastante para justificar a rotação oblíqua, longe o bastante de 1 para não sugerir um fator só.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599432"/>
            <a:ext cx="10634472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consequência, e ela já está medida.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análise fatorial é legítima para obter os pesos DENTRO de cada bloco. A repartição ENTRE blocos — o 65/35 — é decisão formativa, que os dados não têm como arbitrar. É isso que explica por que a escolha entre 65/35 e 60/40 custa apenas 2,5% dos setores: ela nunca foi uma questão empírica.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código, por dentro </a:t>
            </a:r>
            <a:r>
              <a:rPr lang="pt-BR" sz="32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Parte 8 TODA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análise foi construída em Python, linha a linha, e como se faria em R.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puro, e não uma biblioteca pronta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aparece sempre, e a resposta é de engenharia — mas teve um efeito colateral melhor.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declarada.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requirements.txt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tem cinco pacotes. Acrescentar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factor_analyzer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traria conveniência e traria uma dependência a mais para instalar,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justificar numa dissertação — por um ganho de digitação, não de método. Tudo que a análise precisa é álgebra linear que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numpy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já faz.</a:t>
            </a:r>
            <a:endParaRPr lang="pt-BR" sz="1250" noProof="0" dirty="0"/>
          </a:p>
        </p:txBody>
      </p:sp>
      <p:sp>
        <p:nvSpPr>
          <p:cNvPr id="7" name="Shape 5"/>
          <p:cNvSpPr/>
          <p:nvPr/>
        </p:nvSpPr>
        <p:spPr>
          <a:xfrm>
            <a:off x="6446520" y="18013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8" name="Text 6"/>
          <p:cNvSpPr/>
          <p:nvPr/>
        </p:nvSpPr>
        <p:spPr>
          <a:xfrm>
            <a:off x="6446520" y="1856232"/>
            <a:ext cx="52120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que apareceu depois.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escreve a conta à mão precisa saber a conta. Foi escrevendo o KMO que ficou claro que ele se apoia na matriz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; foi escrevendo 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que ficou claro por que existem DUAS matrizes de carga numa solução oblíqua. Nenhuma das duas coisas se aprende chamando uma função.</a:t>
            </a:r>
            <a:endParaRPr lang="pt-BR" sz="12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4005072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 escolha seria outra, e razoável.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pacote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psych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o padrão da área, está em toda a bibliografia — inclusive nos exemplos do livro da Enap, que são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e não é dependência exótica. Os próximos slides mostram a correspondência função a função, e o script completo.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nove passos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passo, a função que o faz aqui e a que o faria em R.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18528898"/>
              </p:ext>
            </p:extLst>
          </p:nvPr>
        </p:nvGraphicFramePr>
        <p:xfrm>
          <a:off x="777240" y="1627632"/>
          <a:ext cx="10634472" cy="4206240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200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5661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31927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Neste projeto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numpy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Em 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correlação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X.corr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=’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’)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cor(X,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method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 e MSA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::KMO(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de Bartlett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cortest.bartlett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smc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Número de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horn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eigen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 ·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fa.parallel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Extração por eixo principal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fatoracao_eixo_principal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fm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= "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normalize = FALSE)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oblíqua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rotacao_promax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(cargas)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stats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promax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(L, m = 4)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20624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 refinados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escores_regressao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A)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::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factor.scores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()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 a correlação bruta entre duas variáveis com o que sobra dela depois de descontar as outras.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71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19888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inversa da matriz de correlação. É dela que saem as correlações parciais — não é óbvio, e é o coração do procedimento.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6334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6151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Raiz da diagonal: o fator de padronização.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9215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parcial =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np.outer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90322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fórmula da correlação parcial sobre a inversa. O sinal negativo não é detalhe: sem ele toda a matriz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anti-imagem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inverte.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54787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(parcial, 0.0)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52958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de uma variável com ela mesma é 1 e inflaria as somas. Zera dos dois lados.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88620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R0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R.copy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7423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np.fill_diagonal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(R0, 0.0)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75030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(R0 ** 2).sum()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503834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(parcial ** 2).sum()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32638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soma_p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30809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KMO global: a fração da associação que NÃO é parcial. Trocando .sum() por .sum(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axis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=0) sai o MSA de cada variável.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extração,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linhas, e a terceira é a que transforma álgebra em interpretação.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6479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665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np.linalg.eigh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6035040" y="2048256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Autovalores e autovetores. O "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" é de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hermitian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a versão para matriz simétrica, mais rápida e mais estável. Matriz de correlação é sempre simétrica.</a:t>
            </a:r>
            <a:endParaRPr lang="pt-BR" sz="105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87578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ordem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np.argsort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)[::-1]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857500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devolve em ordem CRESCENTE e a análise fatorial lê em decrescente. Sem esta linha, o "primeiro fator" seria o menos importante.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3214116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[ordem]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515868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ordem]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4119372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cargas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[:, 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4101084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carga fatorial é o autovetor escalado pela raiz do autovalor. Sem o escalonamento os autovetores têm norma 1 e não se leem como correlação.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2686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np.maximum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[: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], 0))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0857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maximum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corta em zero: autovalor negativo por erro numérico viraria raiz de número negativo.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5266944"/>
            <a:ext cx="48463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cargas</a:t>
            </a:r>
            <a:endParaRPr lang="pt-BR" sz="1000" noProof="0" dirty="0"/>
          </a:p>
        </p:txBody>
      </p:sp>
      <p:sp>
        <p:nvSpPr>
          <p:cNvPr id="18" name="Shape 16"/>
          <p:cNvSpPr/>
          <p:nvPr/>
        </p:nvSpPr>
        <p:spPr>
          <a:xfrm>
            <a:off x="777240" y="56784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733288"/>
            <a:ext cx="10634472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advertência que vale para toda a análise.  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sinal de cada autovetor é ARBITRÁRIO — o LAPACK escolhe um e o oposto seria igualmente válido. Por isso as cargas são viradas na leitura, para que positivo queira dizer "mais vulnerável". Os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guardam o sinal cru.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Girar os eixos sem mudar as distâncias: a variância total não muda, só a repartição entre fatores.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1907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np.eye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00784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Começa sem girar nada.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197510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_ in range(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maxiter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):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23113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6035040" y="221284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com a rotação atual.</a:t>
            </a:r>
            <a:endParaRPr lang="pt-BR" sz="105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4320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np.linalg.svd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6035040" y="2724912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truque do procedimento: a matriz ortogonal mais próxima de uma matriz qualquer é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@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vt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da sua SVD. É o que garante que a rotação continue ortogonal a cada passo.</a:t>
            </a:r>
            <a:endParaRPr lang="pt-BR" sz="105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250692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L.T @ 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** 3 -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6035040" y="323240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do critério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O cubo vem da derivada da soma dos quadrados dos quadrados; o segundo termo subtrai a média por fator.</a:t>
            </a:r>
            <a:endParaRPr lang="pt-BR" sz="105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902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Lam.T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4101084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vt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357116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d_ant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 1 +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break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338828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Para quando o critério deixa de crescer.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869180"/>
            <a:ext cx="4846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return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L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485089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cargas rotacionadas.</a:t>
            </a:r>
            <a:endParaRPr lang="pt-BR" sz="1050" noProof="0" dirty="0"/>
          </a:p>
        </p:txBody>
      </p:sp>
      <p:sp>
        <p:nvSpPr>
          <p:cNvPr id="21" name="Shape 19"/>
          <p:cNvSpPr/>
          <p:nvPr/>
        </p:nvSpPr>
        <p:spPr>
          <a:xfrm>
            <a:off x="777240" y="5234940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5289804"/>
            <a:ext cx="10634472" cy="909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armadilha ao reproduzir em R.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stats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::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aplica normalização de Kaiser POR PADRÃO: divide cada linha pela raiz da comunalidade antes de girar e desfaz depois. É defensável, é o que o SPSS faz — e produz cargas diferentes. Para reproduzir estes números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preciso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(L, normalize = FALSE).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rotação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promax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linha a linha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Parte da </a:t>
            </a:r>
            <a:r>
              <a:rPr lang="pt-BR" sz="1300" i="1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Varimax</a:t>
            </a: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e deixa os eixos se inclinarem. O procedimento é engenhoso.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7373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(cargas)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6035040" y="1719072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partida ortogonal.</a:t>
            </a:r>
            <a:endParaRPr lang="pt-BR" sz="105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31343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alvo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np.sign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np.abs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(V) **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kappa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6035040" y="2295144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Constrói um alvo EXAGERADO: com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kappa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= 4, uma carga de 0,9 vira 0,66 e uma de 0,3 vira 0,008. O contraste entre alto e baixo é ampliado.</a:t>
            </a:r>
            <a:endParaRPr lang="pt-BR" sz="105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939796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*_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np.linalg.lstsq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(V, alvo)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6035040" y="2921508"/>
            <a:ext cx="4599432" cy="5623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Acha por mínimos quadrados a transformação que leva V o mais perto possível do alvo. É aqui que a ortogonalidade se perde — e é isso que se quer.</a:t>
            </a:r>
            <a:endParaRPr lang="pt-BR" sz="105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37353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6035040" y="3717036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Escala as colunas para que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saia com diagonal 1. Sem este passo </a:t>
            </a:r>
            <a:r>
              <a:rPr lang="pt-BR" sz="1050" noProof="0" dirty="0" err="1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Φ</a:t>
            </a: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é covariância entre fatores, não correlação, e a comunalidade vaza.</a:t>
            </a:r>
            <a:endParaRPr lang="pt-BR" sz="105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4073652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np.diag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np.sqrt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))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4649724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V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6035040" y="4631436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PADRÃO: coeficientes de regressão. É dela que saem os pesos.</a:t>
            </a:r>
            <a:endParaRPr lang="pt-BR" sz="105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4937760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np.linalg.inv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(U.T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6035040" y="4919472"/>
            <a:ext cx="4599432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correlação entre os fatores — o objeto que a solução ortogonal não pode produzir.</a:t>
            </a:r>
            <a:endParaRPr lang="pt-BR" sz="105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5276088"/>
            <a:ext cx="4846320" cy="2880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estrutura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padrao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@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6035040" y="5257800"/>
            <a:ext cx="4599432" cy="2240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250"/>
              </a:lnSpc>
              <a:buNone/>
            </a:pPr>
            <a:r>
              <a:rPr lang="pt-BR" sz="1050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de ESTRUTURA: correlações entre variável e fator.</a:t>
            </a:r>
            <a:endParaRPr lang="pt-BR" sz="1050" noProof="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1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e adequabilidade da base.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Pacotes — uma vez só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install.packages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"DBI",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psych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GPArotation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(DBI);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library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Dados: o mesmo banco que o notebook usa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SQLite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(),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banco_de_dados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entrega_orientadora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/Base_ELSI_70Municipios_Censo2022.db")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dbGetQuery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"SELECT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FROM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setores_censitarios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WHERE urbano = 1 AND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Dados_sig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'OK'")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dbDisconnect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-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d$renda_media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sentido único: maior = mais vulnerável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na.omit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pct_agua_inad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pct_esgoto_inad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razao_moradores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pct_analfab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renda_inv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pct_raca_pretpardind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")])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                                # esperado: 87545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Matriz de correlação e adequabilidade</a:t>
            </a:r>
            <a:endParaRPr lang="pt-BR" sz="1000" noProof="0" dirty="0"/>
          </a:p>
        </p:txBody>
      </p:sp>
      <p:sp>
        <p:nvSpPr>
          <p:cNvPr id="25" name="Text 23"/>
          <p:cNvSpPr/>
          <p:nvPr/>
        </p:nvSpPr>
        <p:spPr>
          <a:xfrm>
            <a:off x="777240" y="556321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cor(X,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6" name="Text 24"/>
          <p:cNvSpPr/>
          <p:nvPr/>
        </p:nvSpPr>
        <p:spPr>
          <a:xfrm>
            <a:off x="777240" y="576072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KMO(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global e por variável</a:t>
            </a:r>
            <a:endParaRPr lang="pt-BR" sz="1000" noProof="0" dirty="0"/>
          </a:p>
        </p:txBody>
      </p:sp>
      <p:sp>
        <p:nvSpPr>
          <p:cNvPr id="27" name="Text 25"/>
          <p:cNvSpPr/>
          <p:nvPr/>
        </p:nvSpPr>
        <p:spPr>
          <a:xfrm>
            <a:off x="777240" y="5958230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cortest.bartlett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       # com a ressalva de amostra grande</a:t>
            </a:r>
            <a:endParaRPr lang="pt-BR" sz="1000" noProof="0" dirty="0"/>
          </a:p>
        </p:txBody>
      </p:sp>
      <p:sp>
        <p:nvSpPr>
          <p:cNvPr id="28" name="Text 26"/>
          <p:cNvSpPr/>
          <p:nvPr/>
        </p:nvSpPr>
        <p:spPr>
          <a:xfrm>
            <a:off x="777240" y="6155741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smc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                                 #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multicolinearidade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livro p. 42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2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Número de fatores, extração e rotação.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Quantos fatores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eigen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)$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values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        # critério de Kaiser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fa.parallel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n.iter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50)  # análise paralela de Horn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Extração: as duas técnicas, como manda a regra de Stevens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cbind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paf$loadings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1:2]), 3)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ATENÇÃO: para reproduzir as cargas deste projeto, a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não pode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normalizar — o padrão do </a:t>
            </a:r>
            <a:r>
              <a:rPr lang="pt-BR" sz="1000" noProof="0" dirty="0" err="1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é normalize = TRUE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acp0 &lt;- principal(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varimax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(acp0$loadings[, 1:2], normalize = FALSE)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5. Rotação oblíqua — é a que o livro recomenda (p. 38)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nfactors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2,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pa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rotate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promax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n.obs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nrow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(X))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matriz padrão — é dela que saem os pesos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16818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obl$Structure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# matriz de estrutura</a:t>
            </a:r>
            <a:endParaRPr lang="pt-BR" sz="1000" noProof="0" dirty="0"/>
          </a:p>
        </p:txBody>
      </p:sp>
      <p:sp>
        <p:nvSpPr>
          <p:cNvPr id="24" name="Text 22"/>
          <p:cNvSpPr/>
          <p:nvPr/>
        </p:nvSpPr>
        <p:spPr>
          <a:xfrm>
            <a:off x="777240" y="5365699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obl$Phi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# correlação entre os fatores: esperado ~0,52</a:t>
            </a:r>
            <a:endParaRPr lang="pt-BR" sz="1000" noProof="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 em </a:t>
            </a:r>
            <a:r>
              <a:rPr lang="pt-BR" sz="260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— parte 3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Pesos, escores e as duas figuras que esta apresentação mostrou.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777240" y="181051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6. Pesos: soma dos quadrados das cargas, por fator</a:t>
            </a:r>
            <a:endParaRPr lang="pt-BR" sz="1000" noProof="0" dirty="0"/>
          </a:p>
        </p:txBody>
      </p:sp>
      <p:sp>
        <p:nvSpPr>
          <p:cNvPr id="7" name="Text 5"/>
          <p:cNvSpPr/>
          <p:nvPr/>
        </p:nvSpPr>
        <p:spPr>
          <a:xfrm>
            <a:off x="777240" y="2008022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colSums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1:2]^2)</a:t>
            </a:r>
            <a:endParaRPr lang="pt-BR" sz="1000" noProof="0" dirty="0"/>
          </a:p>
        </p:txBody>
      </p:sp>
      <p:sp>
        <p:nvSpPr>
          <p:cNvPr id="8" name="Text 6"/>
          <p:cNvSpPr/>
          <p:nvPr/>
        </p:nvSpPr>
        <p:spPr>
          <a:xfrm>
            <a:off x="777240" y="220553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round(100 *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/ sum(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), 1)           # a repartição entre as dimensões</a:t>
            </a:r>
            <a:endParaRPr lang="pt-BR" sz="1000" noProof="0" dirty="0"/>
          </a:p>
        </p:txBody>
      </p:sp>
      <p:sp>
        <p:nvSpPr>
          <p:cNvPr id="9" name="Text 7"/>
          <p:cNvSpPr/>
          <p:nvPr/>
        </p:nvSpPr>
        <p:spPr>
          <a:xfrm>
            <a:off x="777240" y="2403043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0" name="Text 8"/>
          <p:cNvSpPr/>
          <p:nvPr/>
        </p:nvSpPr>
        <p:spPr>
          <a:xfrm>
            <a:off x="777240" y="260055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7. Escores refinados (método da regressão, livro p. 25)</a:t>
            </a:r>
            <a:endParaRPr lang="pt-BR" sz="1000" noProof="0" dirty="0"/>
          </a:p>
        </p:txBody>
      </p:sp>
      <p:sp>
        <p:nvSpPr>
          <p:cNvPr id="11" name="Text 9"/>
          <p:cNvSpPr/>
          <p:nvPr/>
        </p:nvSpPr>
        <p:spPr>
          <a:xfrm>
            <a:off x="777240" y="279806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factor.scores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as.matrix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(X),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method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regression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")$scores</a:t>
            </a:r>
            <a:endParaRPr lang="pt-BR" sz="1000" noProof="0" dirty="0"/>
          </a:p>
        </p:txBody>
      </p:sp>
      <p:sp>
        <p:nvSpPr>
          <p:cNvPr id="12" name="Text 10"/>
          <p:cNvSpPr/>
          <p:nvPr/>
        </p:nvSpPr>
        <p:spPr>
          <a:xfrm>
            <a:off x="777240" y="2995574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apply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esc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2, var)                     # ~1 quando as cargas vêm de ACP</a:t>
            </a:r>
            <a:endParaRPr lang="pt-BR" sz="1000" noProof="0" dirty="0"/>
          </a:p>
        </p:txBody>
      </p:sp>
      <p:sp>
        <p:nvSpPr>
          <p:cNvPr id="13" name="Text 11"/>
          <p:cNvSpPr/>
          <p:nvPr/>
        </p:nvSpPr>
        <p:spPr>
          <a:xfrm>
            <a:off x="777240" y="319308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14" name="Text 12"/>
          <p:cNvSpPr/>
          <p:nvPr/>
        </p:nvSpPr>
        <p:spPr>
          <a:xfrm>
            <a:off x="777240" y="3390595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8. O plano dos fatores — a Figura 2 do livro, em cinco linhas</a:t>
            </a:r>
            <a:endParaRPr lang="pt-BR" sz="1000" noProof="0" dirty="0"/>
          </a:p>
        </p:txBody>
      </p:sp>
      <p:sp>
        <p:nvSpPr>
          <p:cNvPr id="15" name="Text 13"/>
          <p:cNvSpPr/>
          <p:nvPr/>
        </p:nvSpPr>
        <p:spPr>
          <a:xfrm>
            <a:off x="777240" y="358810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 &lt;-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acp$loadings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[, 1:2]</a:t>
            </a:r>
            <a:endParaRPr lang="pt-BR" sz="1000" noProof="0" dirty="0"/>
          </a:p>
        </p:txBody>
      </p:sp>
      <p:sp>
        <p:nvSpPr>
          <p:cNvPr id="16" name="Text 14"/>
          <p:cNvSpPr/>
          <p:nvPr/>
        </p:nvSpPr>
        <p:spPr>
          <a:xfrm>
            <a:off x="777240" y="378561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ylim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(-1, 1),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pch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19,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asp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1,</a:t>
            </a:r>
            <a:endParaRPr lang="pt-BR" sz="1000" noProof="0" dirty="0"/>
          </a:p>
        </p:txBody>
      </p:sp>
      <p:sp>
        <p:nvSpPr>
          <p:cNvPr id="17" name="Text 15"/>
          <p:cNvSpPr/>
          <p:nvPr/>
        </p:nvSpPr>
        <p:spPr>
          <a:xfrm>
            <a:off x="777240" y="3983126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1",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ylab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"Fator 2")</a:t>
            </a:r>
            <a:endParaRPr lang="pt-BR" sz="1000" noProof="0" dirty="0"/>
          </a:p>
        </p:txBody>
      </p:sp>
      <p:sp>
        <p:nvSpPr>
          <p:cNvPr id="18" name="Text 16"/>
          <p:cNvSpPr/>
          <p:nvPr/>
        </p:nvSpPr>
        <p:spPr>
          <a:xfrm>
            <a:off x="777240" y="418063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abline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col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"grey60")</a:t>
            </a:r>
            <a:endParaRPr lang="pt-BR" sz="1000" noProof="0" dirty="0"/>
          </a:p>
        </p:txBody>
      </p:sp>
      <p:sp>
        <p:nvSpPr>
          <p:cNvPr id="19" name="Text 17"/>
          <p:cNvSpPr/>
          <p:nvPr/>
        </p:nvSpPr>
        <p:spPr>
          <a:xfrm>
            <a:off x="777240" y="4378147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text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(L[, 1], L[, 2],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labels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rownames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(L),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pos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4,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cex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0.8)</a:t>
            </a:r>
            <a:endParaRPr lang="pt-BR" sz="1000" noProof="0" dirty="0"/>
          </a:p>
        </p:txBody>
      </p:sp>
      <p:sp>
        <p:nvSpPr>
          <p:cNvPr id="20" name="Text 18"/>
          <p:cNvSpPr/>
          <p:nvPr/>
        </p:nvSpPr>
        <p:spPr>
          <a:xfrm>
            <a:off x="777240" y="457565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pt-BR" sz="1000" noProof="0" dirty="0"/>
          </a:p>
        </p:txBody>
      </p:sp>
      <p:sp>
        <p:nvSpPr>
          <p:cNvPr id="21" name="Text 19"/>
          <p:cNvSpPr/>
          <p:nvPr/>
        </p:nvSpPr>
        <p:spPr>
          <a:xfrm>
            <a:off x="777240" y="477316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9. A matriz de correlação como figura</a:t>
            </a:r>
            <a:endParaRPr lang="pt-BR" sz="1000" noProof="0" dirty="0"/>
          </a:p>
        </p:txBody>
      </p:sp>
      <p:sp>
        <p:nvSpPr>
          <p:cNvPr id="22" name="Text 20"/>
          <p:cNvSpPr/>
          <p:nvPr/>
        </p:nvSpPr>
        <p:spPr>
          <a:xfrm>
            <a:off x="777240" y="4970678"/>
            <a:ext cx="10634472" cy="1975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cor.plot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numbers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TRUE,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= "Matriz de correlação de </a:t>
            </a:r>
            <a:r>
              <a:rPr lang="pt-BR" sz="1000" noProof="0" dirty="0" err="1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Spearman</a:t>
            </a:r>
            <a:r>
              <a:rPr lang="pt-BR" sz="1000" noProof="0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")</a:t>
            </a:r>
            <a:endParaRPr lang="pt-BR" sz="1000" noProof="0" dirty="0"/>
          </a:p>
        </p:txBody>
      </p:sp>
      <p:sp>
        <p:nvSpPr>
          <p:cNvPr id="23" name="Text 21"/>
          <p:cNvSpPr/>
          <p:nvPr/>
        </p:nvSpPr>
        <p:spPr>
          <a:xfrm>
            <a:off x="777240" y="52395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ts val="1650"/>
              </a:lnSpc>
              <a:buNone/>
            </a:pP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script inteiro, comentado, está </a:t>
            </a:r>
            <a:r>
              <a:rPr lang="pt-BR" sz="1250" b="1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versionado</a:t>
            </a:r>
            <a:r>
              <a:rPr lang="pt-BR" sz="125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. 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docs/metodologia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/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Codigo_Analise_Fatorial_Comentado.md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traz este código com a explicação linha a linha de cada função em Python ao lado da equivalente em </a:t>
            </a:r>
            <a:r>
              <a:rPr lang="pt-BR" sz="1250" noProof="0" dirty="0" err="1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</a:t>
            </a:r>
            <a:r>
              <a:rPr lang="pt-BR" sz="1250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, e a tabela das cinco diferenças a esperar entre as duas implementações.</a:t>
            </a:r>
            <a:endParaRPr lang="pt-BR" sz="1250" noProof="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>
              <a:buNone/>
            </a:pPr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esperar de diferente entre as duas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pontos. Divergência além destes é problema real, não diferença de linguagem.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6977902"/>
              </p:ext>
            </p:extLst>
          </p:nvPr>
        </p:nvGraphicFramePr>
        <p:xfrm>
          <a:off x="777240" y="1627632"/>
          <a:ext cx="11548872" cy="2743200"/>
        </p:xfrm>
        <a:graphic>
          <a:graphicData uri="http://schemas.openxmlformats.org/drawingml/2006/table">
            <a:tbl>
              <a:tblPr/>
              <a:tblGrid>
                <a:gridCol w="30175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6517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227832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Ponto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Python (aqui)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(</a:t>
                      </a:r>
                      <a:r>
                        <a:rPr lang="pt-BR" sz="1050" b="1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psych</a:t>
                      </a: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)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05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fazer</a:t>
                      </a:r>
                      <a:endParaRPr lang="pt-BR" sz="10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da </a:t>
                      </a: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Varimax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normalização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normalize = TRUE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use normalize = FALSE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Sinal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o LAPACK der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vira para soma positiva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compare valores absolutos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Ordem dos fatores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autovalor decrescente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pode reordenar após girar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confira pelo padrão de cargas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Análise paralela de Horn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 simulações, normal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reamostra</a:t>
                      </a: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os dados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nº de fatores não deve mudar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pandas,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cor(), posto médio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40740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5400" b="1" noProof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pt-BR" sz="5400" noProof="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32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vai para a orientação</a:t>
            </a:r>
            <a:endParaRPr lang="pt-BR" sz="32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4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decisões, cada uma com o custo medido. Nenhuma foi fechada aqui.</a:t>
            </a:r>
            <a:endParaRPr lang="pt-BR" sz="1400" noProof="0" dirty="0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decisões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  O PORQUE DE CADA DECISAO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o que cada opção custa.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6062455"/>
              </p:ext>
            </p:extLst>
          </p:nvPr>
        </p:nvGraphicFramePr>
        <p:xfrm>
          <a:off x="777240" y="1627632"/>
          <a:ext cx="10634472" cy="3968496"/>
        </p:xfrm>
        <a:graphic>
          <a:graphicData uri="http://schemas.openxmlformats.org/drawingml/2006/table">
            <a:tbl>
              <a:tblPr/>
              <a:tblGrid>
                <a:gridCol w="5486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42823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Decisão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pesa de cada lado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 empíricos ou 60/40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Convergem. Custo da troca: 2,5% dos setores mudam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Destino do indicador de lixo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Fora: variância sobe a 70,0% e a água recupera a comunalidade. Dentro: fidelidade literal ao IVS-BH 2012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Política do sigilo no analfabetismo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Manter a variável custa 16.563 setores sem índice. Retirá-la move 7,5% de faixa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fator ou dois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Um é o que Kaiser e Horn indicam e dispensa rotação. Dois preserva a estrutura do IVS-BH. Custo: 8,8%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Rotação ortogonal ou oblíqua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Oblíqua é a recomendada (p. 38) e produz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Φ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. Custo nos pesos: 0,8 ponto percentual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6692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0–1 ou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0–1 é interpretável e comparável. O refinado separa melhor as favelas (0,862 contra 0,813)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pt-BR" sz="1000" noProof="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pt-BR" sz="1000" noProof="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r>
              <a:rPr lang="pt-BR" sz="2600" b="1" noProof="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declarado como limitação </a:t>
            </a:r>
            <a:r>
              <a:rPr lang="pt-BR" sz="2600" b="1" dirty="0">
                <a:solidFill>
                  <a:srgbClr val="FF00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– EXPLICAR SLIDE</a:t>
            </a:r>
            <a:endParaRPr lang="pt-BR" sz="2600" noProof="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pt-BR" sz="1300" i="1" noProof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Nove pontos. Quatro são do método, cinco são dos dados.</a:t>
            </a:r>
            <a:endParaRPr lang="pt-BR" sz="1300" noProof="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lstStyle/>
          <a:p>
            <a:endParaRPr lang="pt-BR" noProof="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9360589"/>
              </p:ext>
            </p:extLst>
          </p:nvPr>
        </p:nvGraphicFramePr>
        <p:xfrm>
          <a:off x="777240" y="1627632"/>
          <a:ext cx="10634472" cy="4023360"/>
        </p:xfrm>
        <a:graphic>
          <a:graphicData uri="http://schemas.openxmlformats.org/drawingml/2006/table">
            <a:tbl>
              <a:tblPr/>
              <a:tblGrid>
                <a:gridCol w="4846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78815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Limitação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00" b="1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ela morde</a:t>
                      </a:r>
                      <a:endParaRPr lang="pt-BR" sz="110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Bartlett vazio nesta escala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adequabilidade se apoia no KMO e nos MSA (livro, p. 43)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ACP sobre matriz de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é ACP de postos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É a causa da divergência entre o índice e o escore refinado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Multicolinearidade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renda × cor/raça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0,784 na matriz fatorada — abaixo do limiar, mas alto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Viés não aleatório do sigilo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16.563 setores perdidos, incidindo nos de melhor situação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Dependência espacial não tratada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fatorial pressupõe unidades independentes; setores vizinhos não são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Falácia ecológica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 cargas descrevem territórios, não pessoas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Padronização min-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max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global e provisória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normalização por município é do Notebook 03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renda_media_sem_extremo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não entrou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Toda a análise usa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, como os </a:t>
                      </a:r>
                      <a:r>
                        <a:rPr lang="pt-BR" sz="1150" noProof="0" dirty="0" err="1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CSVs</a:t>
                      </a: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 de agosto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402336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Reflexivo ou formativo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pt-BR" sz="1150" noProof="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Questão conceitual em aberto sobre a natureza do índice</a:t>
                      </a:r>
                      <a:endParaRPr lang="pt-BR" sz="1150" noProof="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12344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spc="200" kern="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INICIAÇÃO CIENTÍFICA · FIOCRUZ MINAS — IRR</a:t>
            </a:r>
            <a:endParaRPr lang="en-US" sz="1150" dirty="0"/>
          </a:p>
        </p:txBody>
      </p:sp>
      <p:sp>
        <p:nvSpPr>
          <p:cNvPr id="3" name="Shape 1"/>
          <p:cNvSpPr/>
          <p:nvPr/>
        </p:nvSpPr>
        <p:spPr>
          <a:xfrm>
            <a:off x="777240" y="162763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77240" y="178308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Central — 2ª rodada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777240" y="2788920"/>
            <a:ext cx="8595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de Vulnerabilidade da Saúde intraurbano · Censo Demográfico 2022 · 70 municípios do ELSI-Brasil</a:t>
            </a:r>
            <a:endParaRPr lang="en-US" sz="1400" dirty="0"/>
          </a:p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análise, recalculada com a renda sem o valor extremo de Belo Horizonte. As alterações estão marcadas.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77240" y="5623560"/>
            <a:ext cx="10634472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5760720"/>
            <a:ext cx="106344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setembro de 2026  ·  104.108 setores urbanos elegíveis  ·  renda sem o setor 310620005650366</a:t>
            </a:r>
            <a:endParaRPr lang="en-US" sz="110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esta apresentação existe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dos decks anteriores era a EDA inteira — cada um era um recorte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371600"/>
                <a:gridCol w="1188720"/>
                <a:gridCol w="2743200"/>
                <a:gridCol w="13716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de análise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Tabelas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Junho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Agosto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Agora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Morfologia V00048–V00058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caiu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Inadequação de banheiro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na lista de variáveis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predominante · saneamento em faixas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Distribuições, outliers e faltantes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 + 3 figuras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· favelas · envelhecimento · Brasil×ELSI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parcial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entrou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mantém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21208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causa: nenhum script gerava os decks. A lista do que entra vivia na cabeça de quem montava — a mesma causa dos CSVs órfãos. Este deck é gerado por script, e os números são lidos das tabelas em tempo de build.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Levantamento feito arquivo por arquivo sobre os 7 .pptx versionados em docs/Apresentacoes_IVS/.</a:t>
            </a:r>
            <a:endParaRPr lang="en-US" sz="95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mudou nesta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foi recalculada. Um único valor saiu da base — e o efeito dele é mais estreito e mais fundo do que se esperava.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4592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pedido.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Criar uma coluna de renda sem o valor extremo de Belo Horizonte. A coluna nova é `renda_media_sem_extremo`; a `renda_media` original continua na base, sem alteração, ao lado dela.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395728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setor.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310620005650366 — Belo Horizonte, bairro Senhor dos Passos, R$ 170.418,06 por responsável. Maior valor da base, 55,7× a mediana do município, num setor de favela com 186 domicílios e 518 pessoas.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77240" y="3145536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alcance.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todas as células recalculadas, 45 mudaram, em 6 tabelas: correlacao_pearson, descritivas_globais, descritivas_por_regiao, favelas_fcu_comparativo_indicadores, missing_por_municipio, outliers. Nenhuma delas fora da renda e de suas correlações.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4343400"/>
            <a:ext cx="23774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77724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 excluído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342900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2900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342900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no recorte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080760" y="4343400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80760" y="4416552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6080760" y="5001768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células alteradas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732520" y="4343400"/>
            <a:ext cx="26517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732520" y="4416552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−48%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8732520" y="5001768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 curtose da renda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Comparação célula a célula em banco_de_dados/eda/atualizada/comparacao_antes_depois.csv, gerada por scripts/eda_atualizada.py.</a:t>
            </a:r>
            <a:endParaRPr lang="en-US" sz="95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nível quase não se move. A forma da distribuição, sim.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renda, antes e depois da exclusão.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eda/descritivas_globais.csv × eda/atualizada/descritivas_globais.csv.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2560320"/>
                <a:gridCol w="2560320"/>
                <a:gridCol w="237744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Estatística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4.150,66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 (R$)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170.418,06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-14,50%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Curtose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25,66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-48,16%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de setores com 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 setor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617720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de 1 setor em 104.108 quase não move o nível e desmonta a cauda: a curtose cai quase pela metade.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7914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846320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média cai 0,04% e a mediana não muda — tirar um setor em 104 mil não desloca o centro. O que muda é a cauda: o desvio-padrão cai 0,8%, a assimetria 14,5% e a curtose 48,2%. Metade do peso da cauda da renda no recorte inteiro estava naquele único setor.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eda/descritivas_globais.csv (antes) × eda/atualizada/descritivas_globais.csv (depois).</a:t>
            </a:r>
            <a:endParaRPr lang="en-US" sz="9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com a renda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 — e Spearman não muda em casa nenhuma.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de Pearson com a renda.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eda/atualizada/comparacao_antes_depois.csv.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194560"/>
                <a:gridCol w="2194560"/>
                <a:gridCol w="18288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Par com a renda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Antes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Depois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Δ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-0,326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-0,687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Idosos 60+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Crianças 0–4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-0,297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-0,299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-0,249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-0,251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103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ficam mais fortes: o valor extremo achatava a associação linear. Spearman não muda em casa nenhuma — ele já era imune ao caso.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628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617720"/>
            <a:ext cx="10634472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isso importa.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Pearson mede associação linear e é sensível a um ponto extremo: o setor de BH achatava toda a coluna da renda. A matriz de Spearman, que trabalha com postos, é idêntica antes e depois — o caso nunca a afetou. É o argumento empírico a favor de estatística robusta para a renda, já registrado como decisão em aberto.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São 16 células alteradas na matriz — os 8 pares acima, contados nos dois triângulos. Detalhe em eda/atualizada/comparacao_antes_depois.csv.</a:t>
            </a:r>
            <a:endParaRPr lang="en-US" sz="950" dirty="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NÃO mudou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Tão importante quanto o que mudou: a exclusão não vazou para o resto da análise.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5669280"/>
                <a:gridCol w="6035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Bloco da EDA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 após o recálculo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Elegibilidade e 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 — 106.281 elegíveis, 104.108 no recorte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Água, esgoto, lixo, razão de moradores, analfabetismo, cor/raça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 em média, mediana, outliers e faltantes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de Spearman (10 variáveis)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 em todas as 100 células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 — contagens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idênticas: 19.452 no recorte, 19.507 na base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 de saneamento, faixas de gravidade, morfologia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feminina, envelhecimento, habitação precária, banheiro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da água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idêntica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754880"/>
            <a:ext cx="10634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isso foi verificado.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por inspeção visual: o script recalcula as sete tabelas nas duas versões e compara célula a célula. As que não aparecem na lista de alterações têm diferença exatamente zero.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scripts/eda_atualizada.py — a mesma rotina valida que, com a coluna antiga, o recálculo reproduz a EDA publicada.</a:t>
            </a:r>
            <a:endParaRPr lang="en-US" sz="950" dirty="0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desenho do estudo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pergunta, a base e como a pipeline está estruturada.</a:t>
            </a:r>
            <a:endParaRPr lang="en-US" sz="14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e o objeto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77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vulnerabilidade à saúde se distribui DENTRO das cidades brasileiras onde vive a coorte do ELSI-Brasil, e o que essa distribuição revela sobre desigualdade intraurbana?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6492240" y="1645920"/>
            <a:ext cx="5349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objeto: o setor censitário.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menor unidade territorial do Censo. O IVS é um índice INTRAURBANO — compara setores dentro da mesma cidade, não cidades entre si. É dessa escolha que decorrem o recorte urbano, a normalização por município e o desenho ecológico.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77724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104.108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7724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urbanos elegíveis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47472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7472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70</a:t>
            </a:r>
            <a:endParaRPr lang="en-US" sz="3000" dirty="0"/>
          </a:p>
        </p:txBody>
      </p:sp>
      <p:sp>
        <p:nvSpPr>
          <p:cNvPr id="12" name="Text 10"/>
          <p:cNvSpPr/>
          <p:nvPr/>
        </p:nvSpPr>
        <p:spPr>
          <a:xfrm>
            <a:off x="347472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do ELSI-Brasil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17220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17220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3000" dirty="0"/>
          </a:p>
        </p:txBody>
      </p:sp>
      <p:sp>
        <p:nvSpPr>
          <p:cNvPr id="15" name="Text 13"/>
          <p:cNvSpPr/>
          <p:nvPr/>
        </p:nvSpPr>
        <p:spPr>
          <a:xfrm>
            <a:off x="617220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arquivos do Censo 2022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869680" y="379476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0" y="386791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</a:t>
            </a:r>
            <a:endParaRPr lang="en-US" sz="3000" dirty="0"/>
          </a:p>
        </p:txBody>
      </p:sp>
      <p:sp>
        <p:nvSpPr>
          <p:cNvPr id="18" name="Text 16"/>
          <p:cNvSpPr/>
          <p:nvPr/>
        </p:nvSpPr>
        <p:spPr>
          <a:xfrm>
            <a:off x="8869680" y="445312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variáveis na base bruta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777240" y="548640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recorte reúne 61,4% de toda a população favelada do país — conferido contra o dado oficial do IBGE.</a:t>
            </a:r>
            <a:endParaRPr lang="en-US" sz="135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pipeline está estruturada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fonte de verdade para as fórmulas; os notebooks e os scripts leem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55064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7" name="Text 5"/>
          <p:cNvSpPr/>
          <p:nvPr/>
        </p:nvSpPr>
        <p:spPr>
          <a:xfrm>
            <a:off x="777240" y="1655064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490472" y="160020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src/ivs_censo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840480" y="1600200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regra de elegibilidade, lista de variáveis por arquivo e classificação de renda. Nada é redigitado fora daqui.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77240" y="2496312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496312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1490472" y="2441448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01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840480" y="2441448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Lê os 8 arquivos do Censo (2,4 GB), filtra os 70 municípios, une por CD_SETOR e audita a integridade. Base bruta: 109.032 setores.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777240" y="3337560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5" name="Text 13"/>
          <p:cNvSpPr/>
          <p:nvPr/>
        </p:nvSpPr>
        <p:spPr>
          <a:xfrm>
            <a:off x="777240" y="3337560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490472" y="3282696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02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840480" y="3282696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EDA: tipagem e sigilo, elegibilidade, recorte urbano, 7 componentes, blocos descritivos, figuras e matriz de correlação.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777240" y="4178808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19" name="Text 17"/>
          <p:cNvSpPr/>
          <p:nvPr/>
        </p:nvSpPr>
        <p:spPr>
          <a:xfrm>
            <a:off x="777240" y="4178808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490472" y="4123944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3840480" y="4123944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Cálculo nacional, tabelas de auditoria, auditoria de renda, extração dos dados deste deck e o gerador dele.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777240" y="5020056"/>
            <a:ext cx="475488" cy="475488"/>
          </a:xfrm>
          <a:prstGeom prst="ellipse">
            <a:avLst/>
          </a:prstGeom>
          <a:solidFill>
            <a:srgbClr val="1A1A18"/>
          </a:solidFill>
          <a:ln/>
        </p:spPr>
      </p:sp>
      <p:sp>
        <p:nvSpPr>
          <p:cNvPr id="23" name="Text 21"/>
          <p:cNvSpPr/>
          <p:nvPr/>
        </p:nvSpPr>
        <p:spPr>
          <a:xfrm>
            <a:off x="777240" y="5020056"/>
            <a:ext cx="475488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700" dirty="0"/>
          </a:p>
        </p:txBody>
      </p:sp>
      <p:sp>
        <p:nvSpPr>
          <p:cNvPr id="24" name="Text 22"/>
          <p:cNvSpPr/>
          <p:nvPr/>
        </p:nvSpPr>
        <p:spPr>
          <a:xfrm>
            <a:off x="1490472" y="4965192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tests/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3840480" y="4965192"/>
            <a:ext cx="7708392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 testes automatizados. Conferem fórmulas com dados sintéticos e os artefatos já gerados.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Antes de agosto de 2026 as fórmulas existiam em dois lugares e a lista de variáveis em três. Hoje é uma só, verificada por teste.</a:t>
            </a:r>
            <a:endParaRPr lang="en-US" sz="95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entra na análise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Sigilo, elegibilidade e o recorte urbano — as três decisões que definem a base.</a:t>
            </a:r>
            <a:endParaRPr lang="en-US" sz="14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 universo do Censo aos setores analisados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corte é auditável e reversível: a base bruta guarda os 109.032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3017520"/>
                <a:gridCol w="3291840"/>
                <a:gridCol w="1828800"/>
                <a:gridCol w="274320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Etapa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Critério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sai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Universo do Censo 2022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inteiro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468.099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Filtro ELSI-Brasil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109.032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fora da coorte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ZERADO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= 0 (massas d'água)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−1.736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sem população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SIGILOSO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 ou V00001 suprimidos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−1.015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denominador calculável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COLETIVO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= 0 com população &gt; 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 vazia — ver limitações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Elegíveis (Dados_sig = OK)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106.281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SITUACAO = Urbana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2.173 setores rurais elegíveis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exclusão rural, conferida município a município.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municípios perdem mais de 10% dos setores e 7 ficam com menos de 10. Isso afeta a estabilidade das descritivas municipais e consta das limitações.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92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6492240" y="466344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Correção: massas d'água.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1.736 setores sem população apareciam como SIGILOSO porque o sigilo era testado antes da população zero. Ordem invertida — nenhum setor OK mudou.</a:t>
            </a:r>
            <a:endParaRPr lang="en-US" sz="125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do IVS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Fórmulas, distribuições, outliers e dados faltantes.</a:t>
            </a:r>
            <a:endParaRPr lang="en-US" sz="14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— fórmulas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Adaptadas do IVS-BH 2012 ao Censo 2022. Denominador domiciliar padrão: V00001.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2834640"/>
                <a:gridCol w="4114800"/>
                <a:gridCol w="2286000"/>
                <a:gridCol w="1645920"/>
              </a:tblGrid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Denominador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Dimensão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V00112 … V00118 (fonte alternativa)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V00312 … V00316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V00398 … V00402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Saneamento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V00005 + V00006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V00001 + V00002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V00900 + V00901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V06004 (direto)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V01318 + V01320 + V01321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Socioeconômica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Denominador consolidado.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V00001 substituiu V01042, que era contagem de PESSOAS. Nenhuma proporção estoura 1,0.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4617720" y="44714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4617720" y="4526280"/>
            <a:ext cx="347472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Analfabetismo corrigido.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taxa é V00901 / (V00900 + V00901). Antes era V00901/V00900, que é razão, não taxa.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8458200" y="4526280"/>
            <a:ext cx="338328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agregados. Substituídos por proxies declarados.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 mediana lado a lado — a distância entre elas mede a assimetria.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002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em números.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5623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descritivas_globais.csv.</a:t>
            </a:r>
            <a:endParaRPr lang="en-US" sz="9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48840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463040"/>
                <a:gridCol w="1463040"/>
                <a:gridCol w="1463040"/>
                <a:gridCol w="1371600"/>
                <a:gridCol w="1737360"/>
                <a:gridCol w="13716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p75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6,913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-0,22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104.095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140.172,64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104.106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93776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três das sete a mediana é zero: água, esgoto e lixo não têm inadequação medida na maioria dos setores urbanos. Os dois números que abrem as seções seguintes são o n do analfabetismo e a assimetria da renda.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gradiente Norte–Sul aparece em seis das sete.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sete componentes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descritivas_por_regiao.csv.</a:t>
            </a:r>
            <a:endParaRPr lang="en-US" sz="9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1691640"/>
                <a:gridCol w="1691640"/>
                <a:gridCol w="1691640"/>
                <a:gridCol w="1691640"/>
                <a:gridCol w="16916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0,323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3,194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2,771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2,529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2.880,50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3.008,45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4.944,55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4.488,14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4.842,18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0,565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setores: cada setor pesa igual, independentemente de quantos domicílios tem.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padrão esperado, confirmado.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inadequada no Norte é dezesseis vezes a do Sul; o esgoto, oito vezes. A razão de moradores acompanha: 3,19 no Norte contra 2,53 no Sul.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exceções que importam.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analfabetismo tem pico no Nordeste, não no Norte. E o lixo inadequado é MAIOR no Nordeste e no Sudeste que no Norte — indício de que mede porte urbano.</a:t>
            </a:r>
            <a:endParaRPr lang="en-US" sz="125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as sete variáveis se distribuem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Histogramas sobre os setores urbanos elegíveis.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histograma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68296" y="1389888"/>
            <a:ext cx="7452360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banco_de_dados/eda/figuras/histogramas.png — gerada pela célula step8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Distribuição por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Boxplots das sete componentes, região a região.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boxplots_por_regi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15768" y="1389888"/>
            <a:ext cx="6757416" cy="4937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banco_de_dados/eda/figuras/boxplots_por_regiao.png — célula step9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Outliers: a regra do IQR não serve para o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Quando a mediana e o primeiro quartil são zero, o IQR marca como atípico todo setor com qualquer inadequação.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Outliers pela regra do IQR.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outliers.csv.</a:t>
            </a:r>
            <a:endParaRPr lang="en-US" sz="9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371600"/>
                <a:gridCol w="1371600"/>
                <a:gridCol w="1737360"/>
                <a:gridCol w="1463040"/>
                <a:gridCol w="1463040"/>
                <a:gridCol w="16459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Componente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q3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Limite sup.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IQR serve?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21.532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20,68%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20.901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20,08%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0,149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19.124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18,37%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2,479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3,597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3.632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3,49%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4,70%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1.752,475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4.835,825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9.460,850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10.468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10,06%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1,232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Limite superior = q3 + 1,5 × (q3 − q1), a regra de Tukey.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falha.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Água, esgoto e lixo têm cerca de 20% dos setores classificados como outlier. O que a regra está marcando é a forma da distribuição, não uma cauda de casos extremos.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6492240" y="5550408"/>
            <a:ext cx="534924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o IQR funciona.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moradores, analfabetismo, renda e cor/raça têm distribuições com dispersão real — ali a regra identifica extremos de verdade.</a:t>
            </a:r>
            <a:endParaRPr lang="en-US" sz="125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Dados faltantes e o sigilo do IBGE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Seis das sete componentes têm cobertura praticamente total. O problema está concentrado em uma.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iguras/missing_por_municip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17320"/>
            <a:ext cx="3429000" cy="448056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4709160" y="154533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4709160" y="1600200"/>
            <a:ext cx="68122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variável que concentra o problema.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pct_analfab tem 15,9% dos setores sem dado — 16.552 no recorte urbano. As outras seis componentes ficam todas abaixo de 0,05% de ausentes, ou seja, cobertura praticamente total.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4709160" y="35570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4709160" y="3611880"/>
            <a:ext cx="6812280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não é aleatório.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ou seja, nos setores de melhor situação socioeconômica. A tabela seguinte mostra a dependência com o porte do setor, que é a prova do mecanismo.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banco_de_dados/eda/figuras/missing_por_municipio.png — célula step11 do Notebook 02.</a:t>
            </a:r>
            <a:endParaRPr lang="en-US" sz="950" dirty="0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depende do porte do setor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prova de que a supressão não é aleatória — e de que o viés tem direção conhecida.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depende do porte do setor.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28800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auditoria_analfabetismo_v00900_bins.csv.</a:t>
            </a:r>
            <a:endParaRPr lang="en-US" sz="950" dirty="0"/>
          </a:p>
        </p:txBody>
      </p:sp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21408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286000"/>
                <a:gridCol w="274320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Pessoas alfabetizadas no setor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V00901 sigilosa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sigilo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1-10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44,09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11-50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1.619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36,50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51-100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3.279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24,73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101-200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11.061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2.443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201-500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62.736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10.801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17,22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501-1000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27.013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1000+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755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44,09% nos setores menores a 3,33% nos maiores — a supressão não é aleatória.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715000"/>
            <a:ext cx="1063447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isso permite afirmar.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setores excluídos são os de menor analfabetismo, a média observada é um TETO. E como o IBGE reporta os zeros, o valor suprimido é ≥ 1 — o que fecha o intervalo: a média verdadeira está entre 3,14% e 3,64%.</a:t>
            </a:r>
            <a:endParaRPr lang="en-US" sz="1250" dirty="0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de associação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 para dez variáveis, e o que ela decide.</a:t>
            </a:r>
            <a:endParaRPr lang="en-US" sz="1400" dirty="0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Matriz de correlação — agora com dez variáveis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idosos de 60+, menores de 5 anos e chefia feminina entram na matriz.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matriz_correlaca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" y="1444752"/>
            <a:ext cx="11155680" cy="48463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linha preta separa as 7 componentes do IVS das 3 descritivas. Elas não entram no índice — estão na matriz para decidir se deveriam.</a:t>
            </a:r>
            <a:endParaRPr lang="en-US" sz="950" dirty="0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matriz decidiu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 que interessa: alguma das três descritivas merece entrar no índice?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3840480"/>
                <a:gridCol w="1828800"/>
                <a:gridCol w="21031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descritiva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Maior |r| com o IVS-7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|r|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pct_resp_feminino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−0,299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carrega eixo próprio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pct_crianca_0a4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−0,517 com renda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0,383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−0,541 com cor/raça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redundante com o que já existe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a candidata.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|r| de 0,133 contra as sete componentes. Ela mede algo que nenhuma variável do índice captura — e é esse o argumento para promovê-la.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32826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3337560"/>
            <a:ext cx="53492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Idosos e crianças são espelhos.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−0,722 entre si: são os dois lados da mesma estrutura etária. Colocar as duas no índice contaria a mesma coisa duas vezes.</a:t>
            </a:r>
            <a:endParaRPr lang="en-US" sz="1250" dirty="0"/>
          </a:p>
        </p:txBody>
      </p:sp>
      <p:sp>
        <p:nvSpPr>
          <p:cNvPr id="10" name="Text 7"/>
          <p:cNvSpPr/>
          <p:nvPr/>
        </p:nvSpPr>
        <p:spPr>
          <a:xfrm>
            <a:off x="777240" y="502920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Renda, cor/raça e analfabetismo correlacionam-se entre si a −0,81, −0,76 e +0,63. Pesos iguais dariam três votos à mesma dimensão latente sem que isso fosse escolha deliberada.</a:t>
            </a:r>
            <a:endParaRPr lang="en-US" sz="1350" dirty="0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sob auditoria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demandas de agosto convergem aqui, do caso isolado à decisão de escala.</a:t>
            </a:r>
            <a:endParaRPr lang="en-US" sz="1400" dirty="0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caso que abriu o assunto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setor com renda média declarada de R$ 170.418,06 por responsável.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627632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71907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534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CD_SETOR 310620005650366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777240" y="2048256"/>
            <a:ext cx="3154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R$ 170.418,06</a:t>
            </a:r>
            <a:endParaRPr lang="en-US" sz="4200" dirty="0"/>
          </a:p>
        </p:txBody>
      </p:sp>
      <p:sp>
        <p:nvSpPr>
          <p:cNvPr id="9" name="Text 7"/>
          <p:cNvSpPr/>
          <p:nvPr/>
        </p:nvSpPr>
        <p:spPr>
          <a:xfrm>
            <a:off x="777240" y="2871216"/>
            <a:ext cx="51206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Belo Horizonte · bairro Senhor dos Passos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CD_TIPO = 1 — Favela e Comunidade Urbana</a:t>
            </a:r>
            <a:endParaRPr lang="en-US" sz="1300" dirty="0"/>
          </a:p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186 domicílios · 518 pessoas · 31 analfabetos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777240" y="4041648"/>
            <a:ext cx="5120640" cy="0"/>
          </a:xfrm>
          <a:prstGeom prst="line">
            <a:avLst/>
          </a:prstGeom>
          <a:noFill/>
          <a:ln w="9525">
            <a:solidFill>
              <a:srgbClr val="C8C6C0"/>
            </a:solidFill>
            <a:prstDash val="solid"/>
          </a:ln>
        </p:spPr>
        <p:txBody>
          <a:bodyPr/>
          <a:p/>
        </p:txBody>
      </p:sp>
      <p:sp>
        <p:nvSpPr>
          <p:cNvPr id="11" name="Shape 9"/>
          <p:cNvSpPr/>
          <p:nvPr/>
        </p:nvSpPr>
        <p:spPr>
          <a:xfrm rot="21300000">
            <a:off x="649224" y="2066544"/>
            <a:ext cx="3127248" cy="731520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2" name="Shape 10"/>
          <p:cNvSpPr/>
          <p:nvPr/>
        </p:nvSpPr>
        <p:spPr>
          <a:xfrm flipV="1">
            <a:off x="3776472" y="2432304"/>
            <a:ext cx="310896" cy="18288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087368" y="2139696"/>
            <a:ext cx="2331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CV de 5,26 contra 0,78 —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média puxada por poucos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92240" y="159105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6492240" y="164592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não é renda alta.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 mil × 186 domicílios daria R$ 31,7 milhões por mês circulando numa favela de 186 casas. O perfil do setor não sustenta esse valor.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92240" y="3099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/>
          <p:nvPr/>
        </p:nvSpPr>
        <p:spPr>
          <a:xfrm>
            <a:off x="6492240" y="3154680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próprio IBGE responde.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arquivo traz V06005, a variância. Aqui o CV é 5,26 contra mediana nacional de 0,78. Se fosse vírgula fora do lugar, o CV seria da ordem de 526 — a média está sendo puxada por poucas declarações.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banco_de_dados/eda/atualizada/renda_outliers_rastreados.csv — 3.357 setores, um por linha, com identificação completa.</a:t>
            </a:r>
            <a:endParaRPr lang="en-US" sz="950" dirty="0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separamos erro de dado de renda alta de verdade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Duas decisões de método fizeram a classificação funcionar.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 A detecção é por município, não global.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é intraurbano. R$ 20 mil é comum em São Paulo e anômalo em Autazes. Um corte global mede a distância ENTRE cidades, que não é o objeto.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4592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 Extremo suspeito ≠ extremo alto.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levanta suspeita não é o valor, é a INCOERÊNCIA: setor no topo da renda local que também é favela, ou tem analfabetismo e proporção PPI acima da mediana do município.</a:t>
            </a:r>
            <a:endParaRPr lang="en-US" sz="125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520440"/>
          <a:ext cx="10634472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554480"/>
                <a:gridCol w="2377440"/>
                <a:gridCol w="310896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Classe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% da base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mediana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favela?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R$ 10.131,71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 de 65 (32%)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3.292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3,16%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R$ 14.106,20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 de 3.292 (0%)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100.751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96,78%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R$ 2.505,16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3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74920"/>
            <a:ext cx="10634472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coluna da direita não valida a regra: ser favela É um dos testes de incoerência, então nenhuma favela pode cair em EXTREMO. O que a regra ainda não pega é erro em bairro rico — São Paulo, R$ 140.172,64, 45× a mediana local, sai como EXTREMO.</a:t>
            </a:r>
            <a:endParaRPr lang="en-US" sz="1250" dirty="0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duas análises exploratórias,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rodar com e sem os extremos e comparar. O resultado contraria a intuição.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2011680"/>
                <a:gridCol w="2011680"/>
                <a:gridCol w="201168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muda ao remover os 65 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4.185,81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4.178,44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da renda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2.572,39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2.571,16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4.118,57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4.096,07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-0,55%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-1,94%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Pearson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-0,4282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-0,0046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Spearman renda × analfabetismo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-0,0013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Excluir quase não muda a estatística.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correlações se movem no máximo 0,0046; o Spearman fica praticamente imóvel. Se o argumento para excluir fosse o efeito na correlação, ele seria fraco.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160520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transformar muda dez vezes mais.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Passar a renda para log leva a correlação com analfabetismo de −0,42 para −0,59, e com cor/raça de −0,68 para −0,81. Dezessete vezes o efeito da exclusão.</a:t>
            </a:r>
            <a:endParaRPr lang="en-US" sz="1250" dirty="0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a exclusão importa de verdade: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é o insumo do índice — e é ali que um valor ruim destrói tudo.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645920"/>
                <a:gridCol w="3108960"/>
                <a:gridCol w="1463040"/>
                <a:gridCol w="22860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Comprimidos no 1º decil (com)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(sem)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Ganho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Autazes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67,1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Salto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59,0%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35,9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Belém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2.004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92,7%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69,6%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23,1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Gonçalo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2.357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94,0%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79,1%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São José de Ribamar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45,8%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4,0 pp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777240" y="422452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77240" y="4315968"/>
            <a:ext cx="10607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Autazes é o caso didático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777240" y="4681728"/>
            <a:ext cx="10058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 setores, UM valor ruim, e 81% da cidade colapsa no primeiro decil da escala de renda — a variável deixa de discriminar dentro da cidade, que é exatamente o que o índice precisa que ela faça. 23 dos 63 municípios avaliados têm ao menos um suspeito.</a:t>
            </a:r>
            <a:endParaRPr lang="en-US" sz="1300" dirty="0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alta está mesmo nos setores pequenos?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supunha que sim. O valor não depende do tamanho; a suspeita depende.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tamanho_do_seto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93976" y="1444752"/>
            <a:ext cx="8001000" cy="32918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VALOR não depende do tamanho.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nº de domicílios e renda: −0,031. O maior valor da base (R$ 140.172,64, São Paulo) está num setor de 78 domicílios, não num pequeno.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6492240" y="4892040"/>
            <a:ext cx="53492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Mas a SUSPEITA depende, e muito.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0,265% de suspeitos nos setores até 50 domicílios contra 0,045% nos de 201–400: seis vezes mais. O coeficiente de variação cai de 1,11 para 0,90.</a:t>
            </a:r>
            <a:endParaRPr lang="en-US" sz="1250" dirty="0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e Norte: dois fenômenos com o mesmo rótulo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olhar os outliers de renda nessas duas regiões.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9164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463040"/>
                <a:gridCol w="1828800"/>
                <a:gridCol w="1920240"/>
                <a:gridCol w="1463040"/>
                <a:gridCol w="1463040"/>
                <a:gridCol w="182880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 ÷ mediana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Assimetria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Extremos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Suspeitos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5.915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R$ 1.820,99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43,1×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7,03%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19.497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R$ 1.719,20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3,66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6,29%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0,067%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9.490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R$ 3.127,12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2,36%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61.989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R$ 2.730,59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0,042%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7.217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R$ 3.722,28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13,4×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Sudeste tem os extremos absolutos.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maior valor do país está lá: 51,3 vezes a mediana da própria região. Mas a taxa de suspeita é baixa — 0,042%.</a:t>
            </a:r>
            <a:endParaRPr lang="en-US" sz="1250" dirty="0"/>
          </a:p>
        </p:txBody>
      </p:sp>
      <p:sp>
        <p:nvSpPr>
          <p:cNvPr id="8" name="Shape 5"/>
          <p:cNvSpPr/>
          <p:nvPr/>
        </p:nvSpPr>
        <p:spPr>
          <a:xfrm>
            <a:off x="6492240" y="424281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492240" y="4297680"/>
            <a:ext cx="5349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Norte tem 26 vezes a taxa do Sul.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causa é a distribuição tão comprimida na base que qualquer setor de classe média já destoa, e não uma concentração maior de ricos. Assimetria 6,15, a maior do país.</a:t>
            </a:r>
            <a:endParaRPr lang="en-US" sz="1250" dirty="0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distribuição da renda em cada uma das 70 cidades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boxplot ou histograma por cidade, para conferir os valores destoantes.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renda_boxplot_por_cidad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49040" y="1234440"/>
            <a:ext cx="2240280" cy="512064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160020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painéis por região.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Setenta cidades num único boxplot passa do limite de categorias legíveis. Os painéis mantêm as cidades comparáveis dentro da região.</a:t>
            </a:r>
            <a:endParaRPr lang="en-US" sz="1250" dirty="0"/>
          </a:p>
        </p:txBody>
      </p:sp>
      <p:sp>
        <p:nvSpPr>
          <p:cNvPr id="8" name="Text 5"/>
          <p:cNvSpPr/>
          <p:nvPr/>
        </p:nvSpPr>
        <p:spPr>
          <a:xfrm>
            <a:off x="777240" y="3383280"/>
            <a:ext cx="28346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escala logarítmica.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assimetria 3,74, em escala linear 60 das 70 caixas colapsam contra a margem esquerda e nada se distingue.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77240" y="51114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5166360"/>
            <a:ext cx="283464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caixas neutras.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região já está codificada pelo painel. A única cor é o vermelho dos suspeitos.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309360" y="2926080"/>
            <a:ext cx="52120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65 setores suspeitos aparecem em vermelho, cidade a cidade. Belo Horizonte, Belém e Salvador concentram os casos mais graves. A figura em tamanho cheio está em banco_de_dados/eda/figuras/renda_boxplot_por_cidade.png.</a:t>
            </a:r>
            <a:endParaRPr lang="en-US" sz="1300" dirty="0"/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Habitação, banheiro, chefia feminina, envelhecimento, morfologia e saneamento — fora do índice, dentro da análise.</a:t>
            </a:r>
            <a:endParaRPr lang="en-US" sz="1400" dirty="0"/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região a região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Todos no mesmo recorte — o que a versão anterior deste deck não garantia.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7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blocos descritivos,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habitacao_precaria · inadequacao_banheiro · resp_feminino · tipo_domicilio (por_regiao).</a:t>
            </a:r>
            <a:endParaRPr lang="en-US" sz="95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precária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improvisados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exclusivo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banheiro nem sanitário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Chefia feminina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54,24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55,38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49,76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51,29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16,39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23,82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29,01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34,76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Moradia convencional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99,35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98,75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99,02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99,59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010912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Média entre setores, todas no mesmo recorte — o que a versão anterior deste deck não garantia.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549554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Precariedade tem geografias distintas.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Habitação precária (0,65% no total) concentra-se no Centro-Oeste e no Sudeste — é metropolitana, não rural do Norte.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4617720" y="5550408"/>
            <a:ext cx="347472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Banheiro segue o padrão do saneamento.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banheiro exclusivo: 0,23% no total, e a pior situação é no Norte.</a:t>
            </a:r>
            <a:endParaRPr lang="en-US" sz="1250" dirty="0"/>
          </a:p>
        </p:txBody>
      </p:sp>
      <p:sp>
        <p:nvSpPr>
          <p:cNvPr id="13" name="Text 10"/>
          <p:cNvSpPr/>
          <p:nvPr/>
        </p:nvSpPr>
        <p:spPr>
          <a:xfrm>
            <a:off x="8458200" y="5550408"/>
            <a:ext cx="3383280" cy="6492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é maioria.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 das chefias no recorte urbano, com pico no Nordeste.</a:t>
            </a:r>
            <a:endParaRPr lang="en-US" sz="1250" dirty="0"/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 e envelhecimento — os dois blocos que sumiram do deck anterior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Ambos existem como tabela desde junho.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8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Envelhecimento populacional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indicadores_envelhecimento_por_regiao.csv.</a:t>
            </a:r>
            <a:endParaRPr lang="en-US" sz="95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417320"/>
                <a:gridCol w="1417320"/>
                <a:gridCol w="1600200"/>
                <a:gridCol w="1417320"/>
                <a:gridCol w="141732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(milhões)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Menores de 15 anos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21,31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18,56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19,10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17,19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60 anos ou mais (%)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11,99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15,15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13,95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18,13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18,77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de envelhecimento (IEP)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81,7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111,9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dependência (RDI)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42569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= 60+ ÷ menores de 15 × 100, conforme Galvão et al. (Hygeia, 2025).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92,7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IEP — índice de envelhecimento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61188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61188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25,5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61188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RDI — razão de dependência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446520" y="491947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446520" y="499262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16,65%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446520" y="557784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 anos ou mais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9281160" y="4919472"/>
            <a:ext cx="23774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81160" y="4992624"/>
            <a:ext cx="23774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52,81%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9281160" y="5577840"/>
            <a:ext cx="23774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chefia feminina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6400800"/>
            <a:ext cx="981151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Correção registrada: o IEP usava só a faixa de 0 a 4 anos no denominador e dava 299. Com o denominador correto — menores de 15 anos, conforme Galvão et al. — dá 92,7.</a:t>
            </a:r>
            <a:endParaRPr lang="en-US" sz="1200" dirty="0"/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Morfologia urbana: o que NÃO é casa. Percentual sobre domicílios, não sobre setores.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6304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9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Tipo de espécie do domicílio.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1907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morfologia_v00048_v00058_por_regiao.csv.</a:t>
            </a:r>
            <a:endParaRPr lang="en-US" sz="95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11680"/>
          <a:ext cx="10634472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3200400"/>
                <a:gridCol w="1234440"/>
                <a:gridCol w="1051560"/>
                <a:gridCol w="1051560"/>
                <a:gridCol w="1234440"/>
                <a:gridCol w="1051560"/>
                <a:gridCol w="1051560"/>
              </a:tblGrid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Código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Tipo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Total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Casa de vila/condomínio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3,958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6,597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4,635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3,831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3,436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3,794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V00049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28,403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22,554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26,722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31,227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36,915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Cortiço/casa de cômodos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Maloca indígena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permanente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Tenda/barraca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estabelecimento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Abrigo natural/outras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em logradouro público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Estrutura não-residencial degradada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V00058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Veículo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59612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Percentual sobre domicílios (V00001 + V00002), não sobre setores.</a:t>
            </a:r>
            <a:endParaRPr lang="en-US" sz="1100" dirty="0"/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— um eixo que o IVS não media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testar V00199 a V00201 e calcular a proporção sem água encanada.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10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Canalização da água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agua_canalizada_por_regiao.csv.</a:t>
            </a:r>
            <a:endParaRPr lang="en-US" sz="950" dirty="0"/>
          </a:p>
        </p:txBody>
      </p:sp>
      <p:graphicFrame>
        <p:nvGraphicFramePr>
          <p:cNvPr id="3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2103120"/>
                <a:gridCol w="1920240"/>
                <a:gridCol w="1737360"/>
                <a:gridCol w="2286000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Região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de casa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Só no terreno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 chega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canalização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Suprimido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96,27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2,32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3,73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97,98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2,02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98,80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99,67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99,47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270248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 sobre domicílios. "Suprimido" é a parcela que o sigilo tira de V00200 e V00201.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conceito diferente do que já estava no IVS.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pct_agua_inad (V00112–V00118) mede a FONTE: poço, nascente, carro-pipa, rio. A trinca nova mede a ENTREGA. Um domicílio com rede geral pode receber água só no terreno. Spearman entre os dois: 0,459.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6492240" y="4809744"/>
            <a:ext cx="534924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partição fecha, e isso virou auditoria.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+ V00200 + V00201 = V00001 em 100,00% dos 81.270 setores em que as três estão presentes. O teste roda a cada execução da suíte.</a:t>
            </a:r>
            <a:endParaRPr lang="en-US" sz="1250" dirty="0"/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complemento que recupera 21,9% dos setores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quantidade medida por outro caminho, com um vigésimo dos ausentes.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82496"/>
            <a:ext cx="512064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8C2F2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(V00200 + V00201) / V00001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21,9%</a:t>
            </a:r>
            <a:endParaRPr lang="en-US" sz="4400" dirty="0"/>
          </a:p>
        </p:txBody>
      </p:sp>
      <p:sp>
        <p:nvSpPr>
          <p:cNvPr id="9" name="Text 7"/>
          <p:cNvSpPr/>
          <p:nvPr/>
        </p:nvSpPr>
        <p:spPr>
          <a:xfrm>
            <a:off x="77724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setores ficam sem valor. V00200 e V00201 são contagens pequenas — e é a contagem pequena que o IBGE suprime.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46520" y="1682496"/>
            <a:ext cx="5120640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6520" y="1792224"/>
            <a:ext cx="5120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1A1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1 − V00199 / V00001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446520" y="2231136"/>
            <a:ext cx="51206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0,04%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6446520" y="2999232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V00199 é contagem grande — o IBGE quase nunca a sigila. Como a trinca fecha, o complemento devolve o mesmo valor.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777240" y="419709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77240" y="4251960"/>
            <a:ext cx="10634472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ressalva que precisa constar do artigo.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identidade só é VERIFICÁVEL onde as três variáveis estão presentes. Nos setores com V00200 ou V00201 sigilosos, aplicá-la é extrapolação — justificada porque a partição é definida pelo IBGE, mas é suposição, não medição. Registrada no GUIA §6.2.9 e coberta por teste.</a:t>
            </a:r>
            <a:endParaRPr lang="en-US" sz="1250" dirty="0"/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0876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Cobertura integral de saneamento por região.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6479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cobertura_por_regiao.csv.</a:t>
            </a:r>
            <a:endParaRPr lang="en-US" sz="950" dirty="0"/>
          </a:p>
        </p:txBody>
      </p:sp>
      <p:graphicFrame>
        <p:nvGraphicFramePr>
          <p:cNvPr id="3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057400"/>
          <a:ext cx="10634472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1463040"/>
                <a:gridCol w="1463040"/>
                <a:gridCol w="1737360"/>
                <a:gridCol w="146304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 100% 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três juntos (%)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41,5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51,3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4014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em que NENHUM domicílio está na condição inadequada.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77724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77724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72,90%</a:t>
            </a:r>
            <a:endParaRPr lang="en-US" sz="3000" dirty="0"/>
          </a:p>
        </p:txBody>
      </p:sp>
      <p:sp>
        <p:nvSpPr>
          <p:cNvPr id="12" name="Text 9"/>
          <p:cNvSpPr/>
          <p:nvPr/>
        </p:nvSpPr>
        <p:spPr>
          <a:xfrm>
            <a:off x="77724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água 100% adequada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347472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47472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71,40%</a:t>
            </a:r>
            <a:endParaRPr lang="en-US" sz="3000" dirty="0"/>
          </a:p>
        </p:txBody>
      </p:sp>
      <p:sp>
        <p:nvSpPr>
          <p:cNvPr id="15" name="Text 12"/>
          <p:cNvSpPr/>
          <p:nvPr/>
        </p:nvSpPr>
        <p:spPr>
          <a:xfrm>
            <a:off x="347472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esgoto 100% adequado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6172200" y="4507992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617220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61,70%</a:t>
            </a:r>
            <a:endParaRPr lang="en-US" sz="3000" dirty="0"/>
          </a:p>
        </p:txBody>
      </p:sp>
      <p:sp>
        <p:nvSpPr>
          <p:cNvPr id="18" name="Text 15"/>
          <p:cNvSpPr/>
          <p:nvPr/>
        </p:nvSpPr>
        <p:spPr>
          <a:xfrm>
            <a:off x="617220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100% adequado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8869680" y="4507992"/>
            <a:ext cx="2514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869680" y="4581144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41,60%</a:t>
            </a:r>
            <a:endParaRPr lang="en-US" sz="3000" dirty="0"/>
          </a:p>
        </p:txBody>
      </p:sp>
      <p:sp>
        <p:nvSpPr>
          <p:cNvPr id="21" name="Text 18"/>
          <p:cNvSpPr/>
          <p:nvPr/>
        </p:nvSpPr>
        <p:spPr>
          <a:xfrm>
            <a:off x="8869680" y="5166360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três juntos</a:t>
            </a:r>
            <a:endParaRPr lang="en-US" sz="1050" dirty="0"/>
          </a:p>
        </p:txBody>
      </p:sp>
      <p:sp>
        <p:nvSpPr>
          <p:cNvPr id="22" name="Text 19"/>
          <p:cNvSpPr/>
          <p:nvPr/>
        </p:nvSpPr>
        <p:spPr>
          <a:xfrm>
            <a:off x="777240" y="5989320"/>
            <a:ext cx="981151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Só 41,60% dos setores têm os três serviços integralmente adequados. Contando a caçamba de serviço de limpeza como coleta, o lixo sobe de 61,70% para 91,50% — a diferença é o efeito da decisão metodológica sobre V00398.</a:t>
            </a:r>
            <a:endParaRPr lang="en-US" sz="1200" dirty="0"/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basta saber quantos setores têm inadequação: importa quanto.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Gravidade do saneamento em faixas.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elegíveis incluindo rurais (106.281). Fonte: saneamento_categorias_por_regiao.csv.</a:t>
            </a:r>
            <a:endParaRPr lang="en-US" sz="95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2743200"/>
                <a:gridCol w="1335024"/>
                <a:gridCol w="1335024"/>
                <a:gridCol w="1335024"/>
                <a:gridCol w="1335024"/>
                <a:gridCol w="1335024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Serviço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Faixa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Centro-Oeste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Sudeste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Sul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48,9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86,4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30,2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73,8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79,8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25,1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0%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54,1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53,9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63,7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65,5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em 50% ou mais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11,3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10,1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910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65192"/>
            <a:ext cx="1063447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leitura.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Norte, 30,8% dos setores têm metade ou mais dos domicílios com água inadequada — contra 11,8% em situação totalmente adequada. No Sul e no Centro-Oeste a distribuição se inverte por completo.</a:t>
            </a:r>
            <a:endParaRPr lang="en-US" sz="1250" dirty="0"/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e Comunidades Urbanas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oficial, a validação do critério e a comparação com o resto da cidade.</a:t>
            </a:r>
            <a:endParaRPr lang="en-US" sz="1400" dirty="0"/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 oficial localizada e a validação do critério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Demanda: conferir um relatório do IBGE sobre vilas e favelas do Censo 2022.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fonte.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IBGE. Censo Demográfico 2022: Favelas e Comunidades Urbanas — Resultados do universo. Rio de Janeiro, 2024. 171 p. Definição e os quatro critérios transcritos na seção 14.2 do relatório.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6492240" y="1618488"/>
            <a:ext cx="53492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validação.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Dos 109.032 setores da base completa, 19.507 estão na lista oficial — e são exatamente os 19.507 com CD_TIPO = 1. Zero falso positivo, zero omissão. No recorte de análise são 19.452, 18,68% dos 104.108. O campo NM_FCU não serve de critério: diverge em 25 setores, nenhum deles na lista oficial.</a:t>
            </a:r>
            <a:endParaRPr lang="en-US" sz="1250" dirty="0"/>
          </a:p>
        </p:txBody>
      </p:sp>
      <p:graphicFrame>
        <p:nvGraphicFramePr>
          <p:cNvPr id="4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06324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2286000"/>
                <a:gridCol w="14630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(IBGE 2024)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Cobertura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Favelas e Comunidades Urbanas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12.348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5.899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47,8%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Municípios com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População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16.390.815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10.069.994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61,4%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Domicílios em FCU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6.556.998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3.443.687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52,5%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371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892040"/>
            <a:ext cx="1063447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limitação que a fonte revelou — nota 7, página 75.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Além das 12.348 FCU classificadas, o IBGE identificou 2.298 FCU com 21 a 50 domicílios que NÃO receberam setor censitário próprio. Como nosso critério é CD_TIPO = 1, as favelas pequenas são invisíveis na base: a comparação favela × resto da cidade erra nos dois sentidos.</a:t>
            </a:r>
            <a:endParaRPr lang="en-US" sz="1250" dirty="0"/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Quantas vezes o valor médio no setor de favela supera o de fora.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4447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 e restante da cidade, indicador a indicador.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7007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setores urbanos elegíveis (104.108). Fonte: favelas_fcu_comparativo_indicadores.csv.</a:t>
            </a:r>
            <a:endParaRPr lang="en-US" sz="950" dirty="0"/>
          </a:p>
        </p:txBody>
      </p:sp>
      <p:graphicFrame>
        <p:nvGraphicFramePr>
          <p:cNvPr id="4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99339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143000"/>
                <a:gridCol w="1234440"/>
                <a:gridCol w="1325880"/>
                <a:gridCol w="1234440"/>
                <a:gridCol w="1417320"/>
                <a:gridCol w="1508760"/>
                <a:gridCol w="1188720"/>
              </a:tblGrid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nao fcu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 medias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pct_agua_inad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1,773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pct_esgoto_inad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4,144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pct_lixo_inad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0,045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2,903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razao_moradores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2,927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2,917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2,637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1,110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pct_analfab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18904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68652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0,021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2,135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renda_media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1.600,946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1.515,320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84648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4.779,659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3.067,015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pct_raca_pretpardind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0,735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0,743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0,479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1,534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pct_moradia_convencional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19452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84656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pct_apartamento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17139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77866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0,377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pct_pop_0a14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19440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0,222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0,219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0,161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1,379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pct_idoso_60mais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19369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0,105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84454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0,191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0,185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0,572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88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iep_setor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19334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55,159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47,913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83782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153,007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114,815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0,360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747004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de médias abaixo de 1 significa valor MENOR em favela — é o caso da renda, do apartamento e do índice de envelhecimento.</a:t>
            </a:r>
            <a:endParaRPr lang="en-US" sz="1100" dirty="0"/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Linha de base nacional: os mesmos indicadores sobre os 468 mil setores do país.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544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ELSI comparada com o Brasil urbano.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Recorte: Brasil urbano × ELSI-70 urbano. Fonte: nacional/comparativo_brasil_vs_elsi.csv.</a:t>
            </a:r>
            <a:endParaRPr lang="en-US" sz="95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03120"/>
          <a:ext cx="10634472" cy="914400"/>
        </p:xfrm>
        <a:graphic>
          <a:graphicData uri="http://schemas.openxmlformats.org/drawingml/2006/table">
            <a:tbl>
              <a:tblPr/>
              <a:tblGrid>
                <a:gridCol w="4023360"/>
                <a:gridCol w="2468880"/>
                <a:gridCol w="2468880"/>
                <a:gridCol w="192024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Indicador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Brasil urbano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ELSI-70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0,069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0,155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0,080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 inadequado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0,094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0,114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1,21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2,762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2,695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0,98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0,058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0,036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0,62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média (R$)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3.208,881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4.187,409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1,30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Preta, parda ou indígena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0,544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0,551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1,01</a:t>
                      </a:r>
                      <a:endParaRPr lang="en-US" sz="12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777240" y="5157216"/>
            <a:ext cx="1063447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Razão agregada: soma dos numeradores ÷ soma dos denominadores em cada recorte. ATENÇÃO: esta é a ÚNICA tabela do deck que usa a renda COM o extremo de BH (R$ 4.187,41, e não R$ 4.185,81). A linha de base nacional é calculada sobre os 468 mil setores do país, onde o setor também está — excluí-lo só do lado do ELSI quebraria a comparação. Aplicar a exclusão aos dois lados é decisão de método, ainda em aberto.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777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amostra é menos vulnerável que o Brasil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 seis dos sete indicadores o recorte ELSI está melhor. O esgoto é o contraste mais forte: 0,080 contra 0,155 — quase metade.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 rot="21300000">
            <a:off x="9326880" y="4169664"/>
            <a:ext cx="1371600" cy="329184"/>
          </a:xfrm>
          <a:prstGeom prst="ellipse">
            <a:avLst/>
          </a:prstGeom>
          <a:ln w="19050">
            <a:solidFill>
              <a:srgbClr val="8C2F27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 flipV="1">
            <a:off x="10698480" y="4334256"/>
            <a:ext cx="137160" cy="630936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183880" y="3593592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acima de 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492240" y="56418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492240" y="5696712"/>
            <a:ext cx="5349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exceção é o lixo, e ela é diagnóstica.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Única variável em que o ELSI está PIOR (razão 1,21). Reforça a hipótese de que o indicador captura porte urbano — a caçamba é mais comum em cidade grande.</a:t>
            </a:r>
            <a:endParaRPr lang="en-US" sz="1250" dirty="0"/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 e processo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base não permite afirmar, o que foi corrigido e o que vem agora.</a:t>
            </a:r>
            <a:endParaRPr lang="en-US" sz="1400" dirty="0"/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do analfabetismo — limitação aceita e quantificada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Demanda de agosto: aceitar a limitação, e ainda assim medir o tamanho dela.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sigilo incide nos setores RICOS.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supressão de V00901 acontece onde há poucos analfabetos — na melhor situação socioeconômica. Renda mediana de R$ 6.092,84 nos setores sem o dado, contra R$ 2.313,89 nos que têm. E 30,8% de população preta, parda ou indígena contra 60,6%.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6492240" y="1618488"/>
            <a:ext cx="53492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isso a média observada é um TETO.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os excluídos são os de menor analfabetismo, a média sobre os 87.556 setores com dado superestima a amostra completa. E como o IBGE reporta os zeros — 9.268 setores declaram V00901 = 0 — o valor suprimido é ≥ 1, o que fecha o intervalo pelo outro lado.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11880"/>
            <a:ext cx="32004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77724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16.552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77724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sem o dado (15,9%)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343400" y="3611880"/>
            <a:ext cx="32004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4343400" y="3685032"/>
            <a:ext cx="3200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3,14% – 3,64%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4343400" y="4270248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está a média verdadeira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909560" y="3611880"/>
            <a:ext cx="39319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7909560" y="3685032"/>
            <a:ext cx="3931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0,50 p.p.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7909560" y="4270248"/>
            <a:ext cx="3931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largura da faixa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5166360"/>
            <a:ext cx="10634472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Meio ponto percentual de largura — estreito o bastante para nenhuma conclusão do estudo depender de qual ponto se adote. Nenhuma imputação serve: preencher com zero achata o gradiente nas áreas menos vulneráveis; imputar pela mediana municipal transfere aos setores ricos o perfil dos pobres.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777240" y="6144768"/>
            <a:ext cx="990295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completa em docs/relatorios/Relatorio_EDA_Fase3_IVS_ELSI.md, seção 14.1. Decisão registrada no GUIA §6.2.6.</a:t>
            </a:r>
            <a:endParaRPr lang="en-US" sz="950" dirty="0"/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limitações da análise exploratória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registradas na seção 14 do relatório da EDA.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Falácia ecológica.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Todas as medidas são agregadas por setor. Nada aqui autoriza inferência sobre indivíduos (Lima-Costa &amp; Barreto, 2003).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492240" y="1563624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92240" y="1618488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Sigilo seletivo do analfabetismo.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15,9% dos setores sem o dado, concentrados nos setores ricos. Média verdadeira entre 3,14% e 3,64%.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777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77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Favelas pequenas invisíveis.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2.298 FCU de 21 a 50 domicílios não receberam setor próprio. A comparação favela × cidade erra nos dois sentidos.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492240" y="3044952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92240" y="3099816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Municípios pequenos após o filtro urbano.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dos 70 perdem mais de 10% dos setores; 7 ficam com menos de 10.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777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componentes não reprodutíveis.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Anos de estudo, faixas de renda e óbitos cardiovasculares não existem nos agregados por setor.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6492240" y="4581144"/>
            <a:ext cx="53492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é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Nenhuma inferência ou teste de hipótese foi conduzido. As correlações são exploratórias.</a:t>
            </a:r>
            <a:endParaRPr lang="en-US" sz="1250" dirty="0"/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correções desta rodada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maioria apareceu num teste ou numa conferência de números.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45920"/>
          <a:ext cx="10634472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2926080"/>
                <a:gridCol w="374904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que estava errado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Como foi pego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Correção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tabela regional de água somava as duas parcelas sigilosas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teste automatizado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passou a usar o complemento; a massa suprimida virou coluna publicada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 deck trazia banheiro e apartamento de outro recorte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auditoria número a número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os números passaram a ser lidos das tabelas em tempo de build, com o recorte carimbado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"A premissa da demanda 2 não se confirma"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olhar a variável certa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taxa de suspeita é 6× maior em setor pequeno; só o valor não depende do tamanho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GUIA e README diziam que o NB02 não importava o módulo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varredura da documentação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três afirmações obsoletas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Ordenação instável na auditoria do analfabetismo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comparação byte a byte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desempate por nome; a tabela deixou de mudar a cada execução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Numeração de seções colidindo no GUIA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conferência após inserção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renumerado; quatro referências cruzadas corrigidas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777240" y="5120640"/>
            <a:ext cx="1063447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segunda linha é sobre esta apresentação: a primeira versão dela tinha números digitados à mão, e três vieram do recorte errado. Agora o gerador lê os CSVs — nenhum valor é digitado.</a:t>
            </a:r>
            <a:endParaRPr lang="en-US" sz="1300" dirty="0"/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demandas de agosto, uma a uma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777240" y="1024128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4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417320"/>
          <a:ext cx="10634472" cy="914400"/>
        </p:xfrm>
        <a:graphic>
          <a:graphicData uri="http://schemas.openxmlformats.org/drawingml/2006/table">
            <a:tbl>
              <a:tblPr/>
              <a:tblGrid>
                <a:gridCol w="548640"/>
                <a:gridCol w="4572000"/>
                <a:gridCol w="4663440"/>
                <a:gridCol w="146304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Situação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Identificar todos os outliers de renda, com cidade, setor e se é favela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atualizada/renda_outliers_rastreados.csv — 3.357 setores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Duas EDAs, com e sem os outliers, e a comparação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renda_eda_com_vs_sem · renda_correlacao_com_vs_sem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Rastrear rendas exorbitantes em setores pequenos, à mostra na EDA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renda_setores_pequenos.csv · figura renda_tamanho_do_setor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Boxplot ou histograma por cidade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figura renda_boxplot_por_cidade — 70 cidades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Outliers de renda no Sudeste e Norte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renda_extremos_por_regiao.csv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do IBGE sobre vilas e favelas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docs/ — 171 páginas + planilha por setor; validação de 100%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Aceitar a limitação do analfabetismo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Relatório seção 14.1 · GUIA §6.2.6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Focar nas pendências de renda e propor mais estudos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quatro estudos propostos; ver próximos passos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 EDA central reunindo tudo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 apresentação — 12 blocos de tabela e 6 figuras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Ampliar a matriz de correlação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matriz 10×10 · NB02 célula step12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V00199 a V00201 e a proporção sem água encanada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NB02 seção 7h · três CSVs · GUIA §6.2.9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cumprida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Planejar a análise fatorial em Python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plano pronto; execução não iniciada por decisão sua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planejada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estes números são confiáveis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EDA inteira é reexecutável do zero, e o que ela afirma é verificado por teste.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63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testes automatizados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7472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7472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7472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passando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17220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17220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17220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tabelas em eda/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869680" y="1645920"/>
            <a:ext cx="2514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869680" y="1719072"/>
            <a:ext cx="2514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869680" y="2304288"/>
            <a:ext cx="2514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CSVs sem código-fonte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3383280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Fórmulas testadas contra dados sintéticos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4800600" y="3383280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indicador é conferido com valores redondos calculáveis na mão — safe_div, denominador do analfabetismo, complemento da água, classificação de renda.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777240" y="4096512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Artefatos conferidos contra os valores publicados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4800600" y="4096512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Os testes leem os CSVs gerados e verificam contagens exatas: 109.032 setores, 70 municípios, 106.281 elegíveis, 104.108 urbanos, 19.507 de favela.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777240" y="4809744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Refatorações provadas neutras antes de valer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4800600" y="4809744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Ao fazer o Notebook 01 ler do módulo, a base nova foi comparada com a anterior: 67 colunas comuns, zero diferenças, mesmos 109.032 setores.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777240" y="5522976"/>
            <a:ext cx="3840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Este deck é gerado por script</a:t>
            </a:r>
            <a:endParaRPr lang="en-US" sz="1250" dirty="0"/>
          </a:p>
        </p:txBody>
      </p:sp>
      <p:sp>
        <p:nvSpPr>
          <p:cNvPr id="25" name="Text 23"/>
          <p:cNvSpPr/>
          <p:nvPr/>
        </p:nvSpPr>
        <p:spPr>
          <a:xfrm>
            <a:off x="4800600" y="5522976"/>
            <a:ext cx="67482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scripts/eda_central_dados.py lê as tabelas e emite o JSON; o gerador só formata. Nenhum número é digitado, e cada tabela carrega o recorte de origem.</a:t>
            </a:r>
            <a:endParaRPr lang="en-US" sz="1150" dirty="0"/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decisão dos pesos do índice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Submetida a um conselho de cinco análises independentes, com revisão cega entre elas.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5727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Veredito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65376"/>
            <a:ext cx="10424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Adotar 60/40 da literatura, e tratar o peso como análise de sensibilidade — não como decisão central.</a:t>
            </a:r>
            <a:endParaRPr lang="en-US" sz="2200" dirty="0"/>
          </a:p>
        </p:txBody>
      </p:sp>
      <p:sp>
        <p:nvSpPr>
          <p:cNvPr id="8" name="Shape 6"/>
          <p:cNvSpPr/>
          <p:nvPr/>
        </p:nvSpPr>
        <p:spPr>
          <a:xfrm>
            <a:off x="777240" y="2670048"/>
            <a:ext cx="10634472" cy="0"/>
          </a:xfrm>
          <a:prstGeom prst="line">
            <a:avLst/>
          </a:prstGeom>
          <a:noFill/>
          <a:ln w="15875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peso não é a alavanca.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renda, cor/raça e analfabetismo colineares a 0,76–0,81, qualquer esquema razoável produz quase o mesmo ranking.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4617720" y="2880360"/>
            <a:ext cx="34747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esconde a decisão do lixo.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correlações de 0,10 a 0,20, pct_lixo_inad carrega sozinho ou em lugar nenhum — e a escolha do que fazer volta a ser manual.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8458200" y="2880360"/>
            <a:ext cx="33832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 assimétrico de errar.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60/40 é citável e reversível. A fatorial exige imputar 15,9% de faltantes não aleatórios e defender tudo sozinho.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777240" y="4608576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a revisão acrescentou.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normalização min-max por município mexe mais no ranking do que qualquer peso — e ninguém testou. Debater 60/40 sobre uma escala arbitrária por município é otimizar o parâmetro errado.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6492240" y="4663440"/>
            <a:ext cx="53492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próximo passo que fecha a questão.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Calcular o IVS três vezes — 60/40, pesos iguais e 50/50 — e reportar a correlação de Spearman entre os rankings. Acima de 0,95, uma tabela responde a pergunta.</a:t>
            </a:r>
            <a:endParaRPr lang="en-US" sz="1250" dirty="0"/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A1A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685800"/>
            <a:ext cx="1063447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vem agora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777240" y="1728216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5" name="Text 3"/>
          <p:cNvSpPr/>
          <p:nvPr/>
        </p:nvSpPr>
        <p:spPr>
          <a:xfrm>
            <a:off x="777240" y="1728216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417320" y="169164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03</a:t>
            </a:r>
            <a:endParaRPr lang="en-US" sz="1350" dirty="0"/>
          </a:p>
        </p:txBody>
      </p:sp>
      <p:sp>
        <p:nvSpPr>
          <p:cNvPr id="7" name="Text 5"/>
          <p:cNvSpPr/>
          <p:nvPr/>
        </p:nvSpPr>
        <p:spPr>
          <a:xfrm>
            <a:off x="4297680" y="1691640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min-max por município, com a renda invertida e transformada. É a decisão que o conselho apontou como dominante sobre o peso.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777240" y="2569464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2569464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417320" y="2532888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Sensibilidade dos pesos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4297680" y="2532888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 calculado com 60/40, pesos iguais e 50/50; Spearman entre os rankings. Resultado publicável em uma tabela.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77240" y="3410712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3410712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17320" y="3374136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Notebook 04 — fatorial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4297680" y="3374136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Plano pronto: transformar a renda, decidir os 16.552 setores sem analfabetismo, KMO e Bartlett, número de fatores, varimax. Execução aguardando decisão.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77240" y="4251960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251960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417320" y="4215384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Estudos de renda propostos</a:t>
            </a:r>
            <a:endParaRPr lang="en-US" sz="1350" dirty="0"/>
          </a:p>
        </p:txBody>
      </p:sp>
      <p:sp>
        <p:nvSpPr>
          <p:cNvPr id="19" name="Text 17"/>
          <p:cNvSpPr/>
          <p:nvPr/>
        </p:nvSpPr>
        <p:spPr>
          <a:xfrm>
            <a:off x="4297680" y="4215384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relativa à mediana municipal como indicador; desigualdade intraurbana por Gini ou p90/p10; renda × favela sistematizada.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777240" y="5093208"/>
            <a:ext cx="402336" cy="402336"/>
          </a:xfrm>
          <a:prstGeom prst="ellipse">
            <a:avLst/>
          </a:prstGeom>
          <a:solidFill>
            <a:srgbClr val="56534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093208"/>
            <a:ext cx="402336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1417320" y="5056632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Redação das limitações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297680" y="5056632"/>
            <a:ext cx="72511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8D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Falta escrever falácia ecológica, viés de sobrevivência e institucionalizados — que não saem pela classe COLETIVO, vazia na base, e sim porque entram em v0001 sem entrar em V00001. A do analfabetismo e a das favelas já estão prontas.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777240" y="6080760"/>
            <a:ext cx="1063447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89A19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Pedro Dias Soares  ·  Iniciação Científica  ·  Fiocruz Minas — Instituto René Rachou  ·  agosto de 2026</a:t>
            </a:r>
            <a:endParaRPr lang="en-US" sz="1150" dirty="0"/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de renda, por dentro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demanda da orientação, levada até onde ela de fato morde: o município do setor.</a:t>
            </a:r>
            <a:endParaRPr lang="en-US" sz="1400" dirty="0"/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mesmo setor, dois efeitos de tamanhos diferentes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 agregado dos 70 municípios ele quase não aparece. Dentro do município dele, aparece muito.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Efeito de excluir o setor 310620005650366, por recorte.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banco_de_dados/eda/atualizada/extremo_bh_descritivas.csv · variação percentual ao retirar o setor.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2468880"/>
                <a:gridCol w="2651760"/>
                <a:gridCol w="258775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Medida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Belo Horizonte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70 municípios ELSI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quantas vezes maior em BH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-0,69%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18×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Desvio-padrão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-14,34%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Coef. de variação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-13,74%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19×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Máximo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-73,37%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-17,75%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-0,07%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0,00%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73752"/>
            <a:ext cx="365760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R$ 170.418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do setor, por responsável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983480" y="4873752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983480" y="4946904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R$ 3.058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983480" y="5532120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mediana de Belo Horizonte sem ele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9189720" y="4873752"/>
            <a:ext cx="21945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9189720" y="4946904"/>
            <a:ext cx="21945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56×</a:t>
            </a:r>
            <a:endParaRPr lang="en-US" sz="3000" dirty="0"/>
          </a:p>
        </p:txBody>
      </p:sp>
      <p:sp>
        <p:nvSpPr>
          <p:cNvPr id="17" name="Text 14"/>
          <p:cNvSpPr/>
          <p:nvPr/>
        </p:nvSpPr>
        <p:spPr>
          <a:xfrm>
            <a:off x="9189720" y="5532120"/>
            <a:ext cx="21945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razão entre as duas</a:t>
            </a:r>
            <a:endParaRPr lang="en-US" sz="1050" dirty="0"/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consequência que ninguém tinha medido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IVS normaliza a renda por min-max DENTRO de cada município. Um máximo distorcido comprime todo o resto.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777240" y="175564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77240" y="1810512"/>
            <a:ext cx="1063447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isto importa mais do que a descritiva.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índice é intraurbano: cada variável é posta numa escala de 0 a 1 usando o mínimo e o máximo DAQUELE município. Se o máximo de Belo Horizonte é R$ 170 mil e o segundo maior é R$ 45.385,44, todos os outros 5 mil setores são empurrados contra o zero — e deixam de se distinguir entre si.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777240" y="3090672"/>
            <a:ext cx="347472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0,0222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77724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normalizada média em BH, COM o extremo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709160" y="3090672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709160" y="3163824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0,0846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709160" y="3749040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mesma, SEM o extremo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8641080" y="3090672"/>
            <a:ext cx="27432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641080" y="3163824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3,8×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8641080" y="3749040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a escala se abre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777240" y="432511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Setores de Belo Horizonte comprimidos contra o zero.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777240" y="458114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extremo_bh_normalizacao.csv · min-max municipal sobre 5.112 setores.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4873752"/>
          <a:ext cx="10634472" cy="914400"/>
        </p:xfrm>
        <a:graphic>
          <a:graphicData uri="http://schemas.openxmlformats.org/drawingml/2006/table">
            <a:tbl>
              <a:tblPr/>
              <a:tblGrid>
                <a:gridCol w="4389120"/>
                <a:gridCol w="2194560"/>
                <a:gridCol w="2194560"/>
                <a:gridCol w="185623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diferença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Setores abaixo de 0,05 na escala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4.514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2.605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1.909 setores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Amplitude usada na normalização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R$ 169.532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R$ 44.500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−74%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extremo e o que ele faz com a escala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esquerda, a renda de Belo Horizonte. À direita, o efeito na normalização municipal.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atualizada/figuras/extremo_bh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463040"/>
            <a:ext cx="10543032" cy="412394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150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renda por setor em Belo Horizonte e a escala normalizada, com e sem o extremo.  Fonte: eda/atualizada/figuras/extremo_bh.png · scripts/eda_extremo_belo_horizonte.py.</a:t>
            </a:r>
            <a:endParaRPr lang="en-US" sz="1050" dirty="0"/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fatorial ampliada, resultado por resultado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Onze demandas da orientadora, respondidas em cenários novos — sem escolher nada por ela.</a:t>
            </a:r>
            <a:endParaRPr lang="en-US" sz="1400" dirty="0"/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onze demandas, uma por uma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Cada linha aponta o cenário ou o arquivo onde a resposta está — nenhuma foi escolhida aqui.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3017520"/>
                <a:gridCol w="711403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#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Demanda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Onde está a resposta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com a mediana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coluna renda_media_mediana_mun; sensibilidade em renda_imputacao_alternativas.csv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Quadro de indicadores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Quadro_Indicadores.csv / .xlsx / .md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Fatorial sem e com rotação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cargas.csv e pesos.csv — sem rotação, Varimax e promax lado a lado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Útil × inútil na apresentação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MAPA_APRESENTACAO_FINAL.md; correções no deck e no guia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Comparar "não chega" com os outros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 S2; comparacao_nao_chega_banheiro.csv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Juntar "sem banheiro"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 S4; prova V00238 ≤ V00495 em comparacao_nao_chega_banheiro.csv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Canalização e sem banheiro na grade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S2, S3, S4 em cenarios.csv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Fatorial de "tudo isso"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S6 e S7; postos no município em S6_postos_mun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9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Habitação 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S5 e S6; MSA, comunalidade e % de zeros em cargas.csv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o lixo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cenários S1 e S7; lixo_fator_proprio_varimax e lixo_muda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11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Testar as duas rotações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pesos.csv — Varimax e promax (padrão e estrutura) + Φ; figura fa_plano_s6.png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matriz ampliada: como as quatro variáveis novas se encaixam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entre o IVS-7 e água não chega, sem canalização, sem banheiro e moradia não convencional.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_ampliada/figuras/fa_correlacao_ampliad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63040" y="1463040"/>
            <a:ext cx="9262872" cy="405993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66928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1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Correlação de Spearman em S6 (n = 69.458).  Fonte: banco_de_dados/eda/fatorial_ampliada/correlacao_s6.csv · figuras/fa_correlacao_ampliada.png.</a:t>
            </a:r>
            <a:endParaRPr lang="en-US" sz="1050" dirty="0"/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grade de cenários, lado a lado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Ajuste, fatores e o que o índice ganha — ou perde — contra a renda sozinha em AUC.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1627632"/>
          <a:ext cx="10634472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1371600"/>
                <a:gridCol w="1051560"/>
                <a:gridCol w="1920240"/>
                <a:gridCol w="1737360"/>
                <a:gridCol w="1691640"/>
                <a:gridCol w="18105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KMO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Fatores (Kaiser/Horn)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F1 Varimax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índice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renda sozinha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74,00%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0,7870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1/1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65,01%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78.256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0,7803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62,74%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0,8384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0,8889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87.512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0,8051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61,23%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0,8365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75.955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0,7915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66,40%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0,8568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0,8897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87.545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0,7826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74,23%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0,8379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0,8819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69.458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0,8100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4/4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56,45%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0,8472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S7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69.458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0,8133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3/2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56,63%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0,8394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0,8952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plano fatorial de S6 em três rotações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Mesmos dois fatores, três formas de olhar: sem rotação, Varimax e promax (matriz padrão).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pic>
        <p:nvPicPr>
          <p:cNvPr id="6" name="Image 0" descr="/Users/pedro/Documents/Iniciacao Cientifica/Projeto_IVS_Censo22/banco_de_dados/eda/fatorial_ampliada/figuras/fa_plano_s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11274552" cy="416052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77240" y="5715000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Figura 2 — </a:t>
            </a:r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quatro variáveis novas (vermelho) e as sete do IVS-7 (verde), em S6.  Fonte: figuras/fa_plano_s6.png · rótulo de cada eixo sai das cargas (achado NB4-08).</a:t>
            </a:r>
            <a:endParaRPr lang="en-US" sz="1050" dirty="0"/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lixo: fator próprio ou dissolvido?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do cenário — e quase não se move ao tirar um dos 70 municípios por vez.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forma fator próprio na Varimax, por cenário.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banco_de_dados/eda/fatorial_ampliada/cenarios.csv, coluna lixo_fator_proprio_varimax.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7799832"/>
                <a:gridCol w="182880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Descrição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Fator próprio?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(referência, reproduz o NB04)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não chega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S3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sem canalização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S4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sem banheiro (V00495)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S5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não convencional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as quatro ("tudo isso")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882896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956048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0,6995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5541264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MSA do lixo em S0 — o mínimo da grade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709160" y="4882896"/>
            <a:ext cx="38404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709160" y="4956048"/>
            <a:ext cx="3840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 70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709160" y="5541264"/>
            <a:ext cx="3840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rodadas em que tirar 1 município muda se o lixo tem fator próprio (S0)</a:t>
            </a:r>
            <a:endParaRPr lang="en-US" sz="1050" dirty="0"/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estrutura municipal: postos dentro do município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Trocar o valor bruto pelo posto percentil dentro do próprio município muda o resultado.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com cada variável em posto percentil dentro do próprio município.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validacao_fcu.csv, cenários S0_postos_mun, S1_postos_mun e S6_postos_mun.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017520"/>
                <a:gridCol w="3200400"/>
                <a:gridCol w="2953512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Cenário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índice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renda sozinha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quem ganha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0,8528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0,8411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0,8454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0,8651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0,8643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 maior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3986784"/>
            <a:ext cx="347472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059936"/>
            <a:ext cx="3474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de 3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4645152"/>
            <a:ext cx="34747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cenários em que o índice supera a renda sozinha só com postos municipais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800600" y="3986784"/>
            <a:ext cx="36576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800600" y="4059936"/>
            <a:ext cx="3657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±2,12 p.p.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800600" y="464515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maior variação do peso F1 (Varimax) ao tirar 1 dos 70 municípios, em S1 e S6</a:t>
            </a:r>
            <a:endParaRPr lang="en-US" sz="1050" dirty="0"/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para a orientadora decidir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disso foi escolhido aqui — as alternativas estão lado a lado nos CSVs e no Notebook 04b.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727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2763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renda entra no índice final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original, sem o extremo de Belo Horizonte, ou imputada pela mediana municipal — as três rodadas de referência estão em S0_renda_* e S6_renda_*.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67919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rotação e qual repartição reportar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rotação, Varimax ou promax; e, na oblíqua, matriz padrão ou matriz estrutura — pesos.csv traz as quatro, sem apontar qual "aproxima" da literatura.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6758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73075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versão graduada de "sem banheiro"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V00237 (só sanitário ou buraco) exige reextração do NB01; a V00495 usada na grade já é a junção com V00238.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782312"/>
            <a:ext cx="1063447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Manter a moradia não convencional na grade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variância baixa e comunalidade fraca (slide da matriz ampliada), mas mostrada e não excluída.</a:t>
            </a:r>
            <a:endParaRPr lang="en-US" sz="1250" dirty="0"/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77240" y="2331720"/>
            <a:ext cx="10972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+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1920240" y="2331720"/>
            <a:ext cx="94914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NB05: a especificação de referência do IVS final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77240" y="3273552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920240" y="3401568"/>
            <a:ext cx="90342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 especificações testadas por critérios fixados antes de rodar — a orientadora escolhe, o motor mede.</a:t>
            </a:r>
            <a:endParaRPr lang="en-US" sz="1400" dirty="0"/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grade: 324 especificações, 192 elegíveis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critérios fixados antes de rodar (seção 2.2) decidem quem entra na comparação.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27632"/>
            <a:ext cx="24688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007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324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especificações — 3 rendas × 2 lixo × 3 banheiro × 9 pesos × 2 normalizações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29000" y="1627632"/>
            <a:ext cx="246888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429000" y="17007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192 de 324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3429000" y="2286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elegíveis (96 por normalização): KMO, MSA e comunalidade acima do corte, 2 fatores interpretáveis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080760" y="1627632"/>
            <a:ext cx="246888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080760" y="1700784"/>
            <a:ext cx="24688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 de 18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6080760" y="2286000"/>
            <a:ext cx="2468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bases (renda×lixo×banheiro) com ao menos uma especificação elegível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8732520" y="1627632"/>
            <a:ext cx="265176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732520" y="1700784"/>
            <a:ext cx="2651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≥ 0,774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8732520" y="2286000"/>
            <a:ext cx="26517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KMO em toda a grade — MSA sempre ≥ 0,643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777240" y="272491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1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que as demais ficam de fora.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777240" y="298094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banco_de_dados/eda/ivs_especificacoes/especificacoes.csv.</a:t>
            </a:r>
            <a:endParaRPr lang="en-US" sz="9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273552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3474720"/>
                <a:gridCol w="231343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 ou esquema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 crítica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Comunalidade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(água, esgoto, lixo, moradores, analfabetismo, renda, cor/raça)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0,2535 &lt; 0,30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0,2986 &lt; 0,30 (a 0,0014 do corte)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rotação (1 fator), as 36 bases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varia por 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entre 0,0588 e 0,2530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Renda: as três versões, coladas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Original, sem o extremo de Belo Horizonte e mediana municipal — mesmo desenho, resultado quase idêntico.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2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Mesma especificação (sem lixo, banheiro graduado, promax, 60/40, normalização municipal) — só a renda muda.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especificacoes.csv, colunas auc_mun_comum e posto_medio.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3291840"/>
                <a:gridCol w="2039112"/>
                <a:gridCol w="25603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AUC municipal (amostra comum)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médio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38,67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principal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 o extremo de BH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39,00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municipal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39,33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—</a:t>
                      </a:r>
                      <a:endParaRPr lang="en-US" sz="12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3986784"/>
            <a:ext cx="42062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0599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0,0004 p.p.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46451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 diferença entre a maior e a menor AUC municipal, nas três rendas (pontos percentuais)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5257800" y="3986784"/>
            <a:ext cx="42062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5257800" y="4059936"/>
            <a:ext cx="42062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24,5º / 43,0º / 48,5º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5257800" y="46451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posto da leitura principal nos três critérios — estabilidade, AUC municipal, parcimônia</a:t>
            </a:r>
            <a:endParaRPr lang="en-US" sz="1050" dirty="0"/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Rotação e pesos: o critério de estabilidade degenera nos pesos fixos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Sem rotação nunca passa; entre Varimax e promax, quem decide é como o peso entre os dois fatores é medido.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627632"/>
            <a:ext cx="329184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007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de 96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777240" y="2286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elegíveis (normalização municipal) empatam no critério (a) — pesos fixos, amplitude zero por construção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343400" y="1627632"/>
            <a:ext cx="329184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43400" y="1700784"/>
            <a:ext cx="3291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de 8</a:t>
            </a:r>
            <a:endParaRPr lang="en-US" sz="3000" dirty="0"/>
          </a:p>
        </p:txBody>
      </p:sp>
      <p:sp>
        <p:nvSpPr>
          <p:cNvPr id="11" name="Text 9"/>
          <p:cNvSpPr/>
          <p:nvPr/>
        </p:nvSpPr>
        <p:spPr>
          <a:xfrm>
            <a:off x="4343400" y="2286000"/>
            <a:ext cx="3291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8 primeiras posições da leitura principal usam o peso 60/40 da literatura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7909560" y="1627632"/>
            <a:ext cx="350215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909560" y="1700784"/>
            <a:ext cx="350215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3,58–9,13 p.p.</a:t>
            </a:r>
            <a:endParaRPr lang="en-US" sz="3000" dirty="0"/>
          </a:p>
        </p:txBody>
      </p:sp>
      <p:sp>
        <p:nvSpPr>
          <p:cNvPr id="14" name="Text 12"/>
          <p:cNvSpPr/>
          <p:nvPr/>
        </p:nvSpPr>
        <p:spPr>
          <a:xfrm>
            <a:off x="7909560" y="2286000"/>
            <a:ext cx="35021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amplitude do peso de F1 ao tirar 1 dos 70 municípios, métodos que dependem dos dados (IVS-6 sem banheiro)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777240" y="281635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3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Pesos da leitura principal — fator 1 = 60,0%, fator 2 = 40,0% (peso 60/40 da literatura).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" y="307238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pesos.csv.</a:t>
            </a:r>
            <a:endParaRPr lang="en-US" sz="9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3364992"/>
          <a:ext cx="10634472" cy="914400"/>
        </p:xfrm>
        <a:graphic>
          <a:graphicData uri="http://schemas.openxmlformats.org/drawingml/2006/table">
            <a:tbl>
              <a:tblPr/>
              <a:tblGrid>
                <a:gridCol w="6400800"/>
                <a:gridCol w="4233672"/>
              </a:tblGrid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Variável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Peso (%)</a:t>
                      </a:r>
                      <a:endParaRPr lang="en-US" sz="10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Água inadequada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17,32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Esgoto inadequado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7,78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Razão de moradores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7,46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Analfabetismo 15+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17,36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(invertida)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19,28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Cor/raça PPI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15,90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 graduado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14,90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Lixo e banheiro: quatro bases elegíveis, duas não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lixo não reprova sozinho; o banheiro decide quem entra — fora, V00495 ou o graduado da Fase B.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4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seis combinações de lixo × banheiro; elegível = alguma rotação/peso passa nos três cortes.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especificacoes.csv, agregado por renda·lixo·banheiro (renda original).</a:t>
            </a:r>
            <a:endParaRPr lang="en-US" sz="9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846320"/>
                <a:gridCol w="1463040"/>
                <a:gridCol w="1947672"/>
                <a:gridCol w="23774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Base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Lixo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Banheiro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Elegível em alguma rotação?</a:t>
                      </a:r>
                      <a:endParaRPr lang="en-US" sz="10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IVS-6 (sem lixo) + fora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IVS-6 + V00495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V00495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IVS-6 + graduado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graduado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(com lixo) + fora — índice do NB04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fora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V00495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V00495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sim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IVS-7 + graduado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com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graduado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não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 índice acrescenta à renda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Renda sozinha separa mais no agregado; o índice separa mais dentro do estrato de renda do próprio município.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5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contra FCU, na leitura principal — índice, renda sozinha e média de postos, em três recortes.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acrescimo_renda.csv, linha da leitura principal (referencia=True).</a:t>
            </a:r>
            <a:endParaRPr lang="en-US" sz="9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2286000"/>
                <a:gridCol w="2468880"/>
                <a:gridCol w="26791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Recorte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Índice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Renda sozinha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Média de postos</a:t>
                      </a:r>
                      <a:endParaRPr lang="en-US" sz="11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Global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0,8309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0,8900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0,8585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Mediana municipal (31 municípios)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0,8186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0,8618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0,8461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Dentro dos 270 estratos de renda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8C2F27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0,7062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0,5900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0,6855</a:t>
                      </a:r>
                      <a:endParaRPr lang="en-US" sz="11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279392"/>
            <a:ext cx="3566160" cy="0"/>
          </a:xfrm>
          <a:prstGeom prst="line">
            <a:avLst/>
          </a:prstGeom>
          <a:noFill/>
          <a:ln w="12700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352544"/>
            <a:ext cx="3566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−135,5</a:t>
            </a:r>
            <a:endParaRPr lang="en-US" sz="3000" dirty="0"/>
          </a:p>
        </p:txBody>
      </p:sp>
      <p:sp>
        <p:nvSpPr>
          <p:cNvPr id="11" name="Text 8"/>
          <p:cNvSpPr/>
          <p:nvPr/>
        </p:nvSpPr>
        <p:spPr>
          <a:xfrm>
            <a:off x="777240" y="493776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queda de deviance ao somar o índice à renda na logística (z = 17,5)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617720" y="4279392"/>
            <a:ext cx="4114800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4617720" y="4352544"/>
            <a:ext cx="4114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0,8900 → 0,8909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4617720" y="4937760"/>
            <a:ext cx="4114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AUC do modelo logístico, só renda → renda + índice</a:t>
            </a:r>
            <a:endParaRPr lang="en-US" sz="1050" dirty="0"/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referência proposta, e três leituras alternativas dos mesmos critérios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Mesma seção 2.2; muda só como medir "estabilidade" e qual amostra usar — muda a proposta.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77240" y="1627632"/>
            <a:ext cx="106344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Tabela 6 — </a:t>
            </a:r>
            <a:pPr indent="0" marL="0">
              <a:buNone/>
            </a:pPr>
            <a:r>
              <a:rPr lang="en-US" sz="110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especificação de melhor posto médio em cada leitura dos critérios (a), (b) e (c).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777240" y="1883664"/>
            <a:ext cx="10634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Fonte: referencia.csv.</a:t>
            </a:r>
            <a:endParaRPr lang="en-US" sz="9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" y="2176272"/>
          <a:ext cx="10634472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6611112"/>
                <a:gridCol w="16459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Especificação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Posto médio</a:t>
                      </a:r>
                      <a:endParaRPr lang="en-US" sz="90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Leitura principal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 · lixo_sem · banheiro_graduado · promax · 60_40 · municipal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38,67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Amostra própria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original · lixo_sem · banheiro_v00495 · promax · 60_40 · municipal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38,00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Estabilidade por pesos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sem_extremo · lixo_sem · banheiro_fora · promax · comunalidades · municipal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27,83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Normalização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sem_extremo · lixo_sem · banheiro_fora · varimax · 60_40 · global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1A1A18"/>
                          </a:solidFill>
                          <a:latin typeface="Cambria" pitchFamily="34" charset="0"/>
                          <a:ea typeface="Cambria" pitchFamily="34" charset="-122"/>
                          <a:cs typeface="Cambria" pitchFamily="34" charset="-120"/>
                        </a:rPr>
                        <a:t>37,50</a:t>
                      </a:r>
                      <a:endParaRPr lang="en-US" sz="950" dirty="0">
                        <a:latin typeface="Cambria" charset="0"/>
                        <a:ea typeface="Cambria" charset="0"/>
                        <a:cs typeface="Cambria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5875" cap="flat" cmpd="sng" algn="ctr">
                      <a:solidFill>
                        <a:srgbClr val="1A1A1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777240" y="459028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777240" y="4645152"/>
            <a:ext cx="10634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Índice do NB04 (IVS-7 Varimax SS municipal)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0,851 com a proposta; muda de faixa (regra do IVS-BH) 33,0% dos setores.</a:t>
            </a:r>
            <a:endParaRPr lang="en-US" sz="1250" dirty="0"/>
          </a:p>
        </p:txBody>
      </p:sp>
      <p:sp>
        <p:nvSpPr>
          <p:cNvPr id="11" name="Text 8"/>
          <p:cNvSpPr/>
          <p:nvPr/>
        </p:nvSpPr>
        <p:spPr>
          <a:xfrm>
            <a:off x="777240" y="5102352"/>
            <a:ext cx="10634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mesma proposta, com normalização global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0,940 com a proposta; muda de faixa (regra do IVS-BH) 10,2% dos setores.</a:t>
            </a:r>
            <a:endParaRPr lang="en-US" sz="1250" dirty="0"/>
          </a:p>
        </p:txBody>
      </p:sp>
      <p:sp>
        <p:nvSpPr>
          <p:cNvPr id="12" name="Text 9"/>
          <p:cNvSpPr/>
          <p:nvPr/>
        </p:nvSpPr>
        <p:spPr>
          <a:xfrm>
            <a:off x="777240" y="5559552"/>
            <a:ext cx="10634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IVS-6 Varimax SS municipal (sem lixo, sem banheiro)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Spearman 0,995 com a proposta; muda de faixa (regra do IVS-BH) 10,4% dos setores.</a:t>
            </a:r>
            <a:endParaRPr lang="en-US" sz="1250" dirty="0"/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0863072" y="635508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B877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77240" y="384048"/>
            <a:ext cx="1063447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260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fica para a orientadora decidir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777240" y="969264"/>
            <a:ext cx="972007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534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Nada foi escolhido aqui — as alternativas estão lado a lado no Notebook 05 e nos CSVs desta pasta.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777240" y="1426464"/>
            <a:ext cx="10634472" cy="0"/>
          </a:xfrm>
          <a:prstGeom prst="line">
            <a:avLst/>
          </a:prstGeom>
          <a:noFill/>
          <a:ln w="12700">
            <a:solidFill>
              <a:srgbClr val="1A1A1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157276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2763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 renda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três (original, sem extremo, mediana municipal) empatam em AUC municipal até a 4ª casa (diferença real de 0,0004 p.p.) — a escolha é conceitual, não estatística.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77240" y="272491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corte de comunalidade 0,30 é rígido?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banheiro graduado com lixo fica a 0,0014 do corte (0,2986) — a regra da seção 2.2, como escrita, não abre exceção de fronteira.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777240" y="3767328"/>
            <a:ext cx="822960" cy="0"/>
          </a:xfrm>
          <a:prstGeom prst="line">
            <a:avLst/>
          </a:prstGeom>
          <a:noFill/>
          <a:ln w="15875">
            <a:solidFill>
              <a:srgbClr val="8C2F2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77240" y="382219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8C2F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medir "estabilidade" no critério (a)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pela amplitude do peso de F1 (degenera nos pesos fixos, decide pela proposta com 60/40) ou pela amplitude dos pesos das variáveis (muda a proposta para promax·comunalidades).</a:t>
            </a:r>
            <a:endParaRPr lang="en-US" sz="1250" dirty="0"/>
          </a:p>
        </p:txBody>
      </p:sp>
      <p:sp>
        <p:nvSpPr>
          <p:cNvPr id="11" name="Text 9"/>
          <p:cNvSpPr/>
          <p:nvPr/>
        </p:nvSpPr>
        <p:spPr>
          <a:xfrm>
            <a:off x="777240" y="4919472"/>
            <a:ext cx="10634472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50"/>
              </a:lnSpc>
              <a:buNone/>
            </a:pPr>
            <a:r>
              <a:rPr lang="en-US" sz="1250" b="1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Normalização e faixas  </a:t>
            </a:r>
            <a:pPr indent="0" marL="0">
              <a:lnSpc>
                <a:spcPts val="1650"/>
              </a:lnSpc>
              <a:buNone/>
            </a:pPr>
            <a:r>
              <a:rPr lang="en-US" sz="1250" dirty="0">
                <a:solidFill>
                  <a:srgbClr val="1A1A1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municipal ou global — trocar muda de faixa 10,2% dos setores; a regra de faixas usada aqui é a do IVS-BH 2012, com quartis municipais como sensibilidade.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</TotalTime>
  <Words>8569</Words>
  <Application>Microsoft Macintosh PowerPoint</Application>
  <PresentationFormat>Widescreen</PresentationFormat>
  <Paragraphs>768</Paragraphs>
  <Slides>43</Slides>
  <Notes>43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43</vt:i4>
      </vt:variant>
    </vt:vector>
  </HeadingPairs>
  <TitlesOfParts>
    <vt:vector size="47" baseType="lpstr">
      <vt:lpstr>Arial</vt:lpstr>
      <vt:lpstr>Cambria</vt:lpstr>
      <vt:lpstr>Courier New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Análise fatorial e os pesos do IVS — Notebook 04</dc:title>
  <dc:subject>PptxGenJS Presentation</dc:subject>
  <dc:creator>Pedro Dias Soares</dc:creator>
  <cp:lastModifiedBy>Pedro Dias Soares</cp:lastModifiedBy>
  <cp:revision>2</cp:revision>
  <dcterms:created xsi:type="dcterms:W3CDTF">2026-09-17T12:36:58Z</dcterms:created>
  <dcterms:modified xsi:type="dcterms:W3CDTF">2026-09-17T13:15:01Z</dcterms:modified>
</cp:coreProperties>
</file>