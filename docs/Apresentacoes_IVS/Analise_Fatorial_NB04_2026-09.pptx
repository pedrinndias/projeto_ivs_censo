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1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58"/>
    <p:restoredTop sz="94610"/>
  </p:normalViewPr>
  <p:slideViewPr>
    <p:cSldViewPr snapToGrid="0" snapToObjects="1">
      <p:cViewPr>
        <p:scale>
          <a:sx n="152" d="100"/>
          <a:sy n="152" d="100"/>
        </p:scale>
        <p:origin x="44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73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Notebook 04, a última etapa central que faltava. O produto dele não é o IVS — é a estrutura e os pesos. O IVS final é o Notebook 05, depois da normalização por município. Vale abrir dizendo isso, para a expectativa ficar no lugar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desta apresentação não é fechar as decisões. É que elas passam a ser tomadas com número, e o número diz que três delas importam menos do que parecia.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seção é de conferência. Os números são os mesmos de agosto, e o notebook trava se não os reproduzir — é a garantia de que nada se perdeu na reimplementação.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orientadora perguntar por que o Bartlett aparece se não informa: porque é convenção da área e a ausência dele seria notada. O que muda é a frase que o acompanha — em vez de apresentá-lo como prova, ele vem com a ressalva do próprio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justificativa é a não-normalidade já documentada: assimetria de 3,42 na água e 3,74 na renda, curtose de 49,5 na renda. O livro não lista Spearman entre as correlações que discute — ele trata de escalas Likert, não de proporções infladas de zero. É preciso justificar uma escolha que a referência não contempla.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conduzir a leitura por três lugares. Primeiro, o retângulo escuro no canto inferior direito: analfabetismo, renda e cor/raça a 0,63, 0,76 e 0,78 — o bloco socioeconômico. Segundo, água e esgoto a 0,41 — o bloco de saneamento, mais fraco. Terceiro, a linha do lixo, que é a mais clara da matriz inteira: 0,10 com a água e −0,05 com a razão de moradores. O livro diz, na p. 16, que já na exploração inicial dá para ter dicas sobre a variável que não vai se comportar bem. Esta é a 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três resultados que contrariaram o que os documentos do projeto afirmavam. Foi verificado antes de seguir: a origem do 0,811 está em banco_de_dados/eda/correlacao_spearman.csv, calculado par a par. O guia de leitura do livro da Enap precisa de correção nesse ponto.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decisão mais desconfortável do trabalho, e a que mais depende de julgamento. Vale ser explícito com a orientadora: o número de fatores não sai dos dados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Kaiser é o mais fraco aqui: a p. 29 registra que ele funciona melhor entre 20 e 50 variáveis, e com comunalidades acima de 0,7. Temos 6 variáveis e comunalidade mínima de 0,380. E a análise paralela de Horn, que é mais robusta, nem está no livro — está em nota de rodapé em Figueiredo. Vale dizer que estamos usando um critério melhor que o da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para o segundo ponto do painel da direita: ele fica logo ABAIXO da linha do acaso. É a imagem do problema do slide anterior. No painel da esquerda o segundo ponto passa por muito pouco, e o terceiro quase encosta.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evidência ficou mais forte do que era em agosto, e por um motivo técnico que vale explicar: ACP e análise fatorial contam variâncias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uma armadilha aqui: a regra mecânica de comunalidade do artigo de Figueiredo teria excluído a ÁGUA, não o lixo. A comunalidade não é propriedade da variável, é propriedade da solução. A ordem correta é diagnosticar a estrutura, remover o que é externo ao construto, e só então avaliar comunalidades.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vinha seguindo Figueiredo &amp; Silva (2010). O livro da Enap é posterior, mais rigoroso, e contradiz aquele artigo em três pontos que mudam o que o Notebook 04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rotação oblíqua produz uma coisa que a ortogonal não pode produzir por construção: a matriz de correlação entre os fatores. Φ = 0,52, positiva e moderada, é exatamente o que a teoria da vulnerabilidade prevê — territórios pobres têm pior saneamento. Isso vira um parágrafo de validação no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água tem SMC de 0,222: as outras cinco variáveis explicam só 22% da variabilidade dela. É nela que a diferença entre os métodos é maior. Nas de SMC alta — renda 0,735, cor/raça 0,648 — os dois métodos praticamente coincidem. Isso é confirmação de que a implementação está certa, não sinal de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este trabalho, a decisão sobre a razão de moradores estava pendente, entre manter por razão teórica e excluir pela regra. A p. 58 dá respaldo bibliográfico para manter, desde que se reporte carga e comunalidade juntas. Deixa de ser ousadia e vira domínio da bibliografia.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variável carrega acima de 0,40 em dois fatores — a estrutura simples do livro está atendida nas duas rotações. Fator 1 é socioeconômico: renda, analfabetismo, cor/raça e densidade. Fator 2 é saneamento: água e esgoto. É a estrutura do IVS-BH 2012, recuperada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mostrar quando a pergunta for "por que tirar o lixo?". No painel da esquerda ele está sozinho no alto, longe de todo o resto — exatamente o que o livro descreve para o item 7 do exemplo dele: "se encontra espacialmente distante dos dois grupos". No painel da direita, sem ele, as seis variáveis se organizam em dois braços: saneamento subindo pelo eixo vertical, socioeconômico avançando pelo horizontal. Os eixos vão de −1 a 1 de propósito, que são os limites do coeficiente de correlação; encolher os eixos para caber os dados faria carga média parecer carga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 é o resultado. Os três slides seguintes respondem: quais são os pesos, são confiáveis, e o índice que sai deles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a favor dos pesos empíricos está na p. 71 do livro: os itens contribuem de maneira desigual para o fator, e quanto maior a carga maior a contribuição — o que não acontece nas técnicas mais simples de índice, que pressupõem contribuição igual. Pesos iguais dariam três votos à posição social, porque renda, cor/raça e analfabetismo medem em boa parte a mesma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bootstrap não está em nenhuma das duas referências; é extensão do projeto. Ele importa porque o livro acusa os índices por média ponderada de serem instáveis entre amostras. A resposta honesta não era discordar, era medir — e a instabilidade não se materializou.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plano previa Spearman acima de 0,97 aqui. Deu 0,924. Nenhum dos dois valores chega ao piso de 0,90 que obrigaria a adotar o escore refinado como índice oficial — então o índice 0–1 continua viável, mas com a ressalva declarada. Esta é a questão técnica mais aberta que sai do Notebook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KMO, comunalidade e variância explicada dizem se as variáveis se organizam. Nenhuma delas diz se o índice acerta. Para isso é preciso um marcador externo — e o projeto tem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18.901 setores de FCU contra 68.644 demais, dentro do conjunto completo nas seis variáveis. Se a orientadora perguntar por que não são os 19.452 do recorte: a diferença são os setores de favela que caíram na exclusão por lista, quase toda por sigilo do analfabetismo.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deste bloco é mostrar o custo, não escolher. Se a orientadora preferir 60/40 pela comparabilidade com o IVS-BH, agora se sabe exatamente o que isso custa: 2.196 setores mudam de faixa. Antes, a escolha seria feita no escuro.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é a renda sem o extremo, que era dívida da 2ª rodada da EDA. A segunda é conceitual e é a mais séria em aberto no projeto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é clara: trocar a coluna não muda a estrutura, não muda os pesos e quase não muda a classificação. As cargas batem até a quarta casa decimal. É o resultado que se esperava de um setor em 87 mil, mas ele precisava ser medido, porque a renda é a variável de maior carga do índice e o extremo foi grande o bastante para justificar uma rodada inteira da EDA. Fica registrado que a fatorial pode continuar sobre renda_media sem prejuízo, ou migrar sem custo — a decisão deixa de importar.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que não pode passar batido: a decisão sobre o lixo SE INVERTE entre as duas leituras. Sob a leitura reflexiva, comunalidade de 0,052 manda tirar. Sob a formativa, o lixo é a única variável que cobre destino de resíduo, e tirá-la remove uma faceta do que se quer medir. Não é preciosismo terminológico — é a diferença entre dois índices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uma proposta, não um resultado — e precisa de aval. O que falta é literatura: Bollen &amp; Lennox (1991) é a formulação canônica da distinção, e Diamantopoulos &amp; Winklhofer (2001) e Edwards (2011) completam o núcleo. Nenhum está lido no projeto. Valeria também descobrir se o IVS-BH 2012 e o ISU de Passarelli-Araujo declaram a posição deles — provavelmente não declaram, e isso é comum na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seção existe para que a análise seja defensável linha a linha. Álgebra linear escrita à mão precisa disso.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orientadora perguntar se não teria sido mais rápido usar uma biblioteca: teria, e o resultado seria o mesmo. O que se ganhou foi poder responder a qualquer pergunta sobre o método sem dizer "a biblioteca faz". Numa iniciação científica isso vale mais do que as horas economizadas.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dizer em voz alta que a coluna da direita é mais curta — em R, cada passo é uma chamada. O projeto escreveu as nove à mão, em 457 linhas de módulo com 9 testes. O passo 7 tem uma armadilha que aparece daqui a três slides: a varimax do R normaliza por padrão e a nossa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do projeto é 0,783, que na escala de Friel é a faixa "mediano", bem acima do piso de 0,50 de Hair. Se perguntarem o que o KMO mede em uma frase: se duas variáveis continuam associadas depois de descontar todas as outras, elas têm algo próprio entre si e não um fator comum — e é isso que derruba o KMO.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orientadora quiser entender a diferença entre ACP e análise fatorial em uma frase, ela cabe aqui: é o que vai na diagonal da matriz antes de decompor. A ACP põe 1 e usa toda a variância; a análise fatorial põe a comunalidade e usa só a compartilhada. O resto do procedimento é idêntico.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da Varimax é maximizar a variância dos quadrados das cargas dentro de cada fator, o que empurra cada carga para perto de 0 ou de 1 — é assim que se obtém a "estrutura simples" de que o livro fala. A armadilha da normalização é o tipo de coisa que faz alguém achar que errou quando só usou o padrão de outra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checagem que precisa acompanhar: numa solução oblíqua uma carga padrão pode passar de 1 sem ser erro, porque é coeficiente de regressão e não correlação — está na p. 22 do livro. Se passar, testa-se a variância residual da variável; negativa, a solução é inadmissível e sugere fatores demais. No nosso caso a maior carga deu 0,999 e a menor variância residual, 0,144.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rodar este bloco na frente dela se houver computador: KMO(R) devolve o global e os individuais de uma vez, e o resultado tem de bater com 0,787 e 0,715 da solução de seis variáveis. Se bater, está provado que as duas implementações concordam no que importa. na.omit é a exclusão por lista — com use = "pairwise.complete.obs" no cor() seria a versão par a par, que é a que NÃO se quer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bloco do meio é o mais importante deste slide. A varimax do R normaliza por padrão e a nossa não, então rodar principal(rotate = "varimax") dá cargas parecidas mas não idênticas. Para bater número a número é preciso extrair sem rotação e chamar varimax(normalize = FALSE) à parte. Quem não souber disso vai achar que uma das duas implementações está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linhas 8 e 9 reproduzem em R as duas figuras que esta apresentação mostrou. O plot básico do R faz a Figura 2 do livro em cinco linhas — vale mostrar isso, porque desfaz a impressão de que a figura exigiu ferramenta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que transforma a versão em R de curiosidade em ferramenta: ela vira uma segunda opinião sobre os números do projeto. A convergência entre duas implementações independentes é o argumento mais forte disponível quando não há um valor de referência externo para conferir.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estas decisões não era papel do notebook. O papel dele era tirá-las do terreno da opinião.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condução: começar pela 2 e pela 5, que são as que têm evidência mais forte e menos custo político. A 4 é a mais delicada, porque os critérios estatísticos e a teoria apontam para lados diferentes. A 6 é a mais técnica e pode ficar para depois do Notebook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limitação de dados faltantes merece destaque: o livro da Enap não discute dados faltantes em nenhuma das 74 páginas. Os exemplos dele são questionários com resposta completa. É lacuna da referência, não descuido do projeto, e o tratamento adequado exigirá literatura que ainda não temos.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apresentação que reúne a EDA inteira. As anteriores eram recortes: cada deck foi montado em torno da pauta do mês, e o que não estava na pauta caía fora sem aviso.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recomputação foi validada: rodada com a coluna antiga, ela reproduz número a número as tabelas já publicadas. Só depois disso as tabelas novas foram aceitas.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das sete são fortemente assimétricas à direita, com massa concentrada no zero. A razão de moradores é a única aproximadamente simétrica.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global inverte esse retrato: marca 4,61% do Sudeste e só 1,32% do Norte. Dos 3.987 setores marcados pelo critério global, apenas 1.672 coincidem com o municipal.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Apartamento vai de 15,7% no Norte a 36,9% no Sul — é o indicador de morfologia pedido pela orientadora em julho. Cortiço e casa de cômodos concentram-se no Centro-Oeste.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Esgoto inadequado é 4,1 vezes maior em setor de favela; lixo, 2,9 vezes. A razão de moradores difere pouco (1,11), o que é coerente: adensamento domiciliar não é o eixo que separa favela do resto da 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população nacional calculada pela pipeline confere com o número oficial do Censo 2022: 203.080.756.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revisões cegas escolheram independentemente a mesma resposta como a mais forte. A arbitragem final é da orientação.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análise é posterior à 2ª rodada da EDA. A 2ª rodada mediu o efeito do extremo no AGREGADO dos 70 municípios, onde ele é quase nulo. Faltava medir dentro de Belo Horizonte, que é onde o setor está — e faltava a consequência metodológica, que é a mais séria.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leitura é esta: o efeito de um único setor depende inteiramente do recorte em que se olha. Em 104.096 setores ele move a média em 0,04% e por isso a 2ª rodada concluiu, com razão, que o agregado é robusto. Mas dentro de Belo Horizonte ele derruba o desvio-padrão em 14% e o máximo em 73%. A mediana quase não se move nos dois casos, o que é a assinatura de um outlier: ele desloca média e dispersão, não o centro.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da análise, e ele é metodológico, não descritivo. Um único dado provavelmente errado estava achatando a escala de renda de 1.909 setores de Belo Horizonte — que apareciam como se tivessem renda praticamente idêntica quando não têm. Como o IVS classifica território em quatro faixas, achatar a escala de 37% do município tem consequência direta sobre quem seria apontado como vulnerável. Vale dizer também o que NÃO muda: no ranking dos 70 municípios por renda média, Belo Horizonte continua em 7º e nenhum município troca de posição. O agregado é robusto; o intramunicipal não 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painel da esquerda, o extremo nem cabe no quadro: o eixo vai até R$ 30 mil e ele está em R$ 170 mil. No da direita está o argumento inteiro — a distribuição vermelha, com o extremo, é um pico esmagado contra o zero; a verde, sem ele, se espalha e volta a distinguir os setores entre si. É a mesma cidade, medida duas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seção junta o que a Fase 2 rodou (scripts/fatorial_ampliada.py, a grade S0-S7 e as variantes) e o que o Notebook 04b registrou por escrito. Nenhum número aqui é novo: são os mesmos CSVs de banco_de_dados/eda/fatorial_ampliada/, lidos de novo para 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de conferência: onze itens, onze respostas, cada uma com o arquivo exato. Isto substitui qualquer resumo de memória — quem quiser conferir um número abre o CSV citado.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novas se correlacionam mais entre si (bloco inferior direito) do que com o IVS-7 original — esperado, já que medem a mesma dimensão de saneamento por outro ângulo. A exceção é moradia não convencional: comunalidade de 0,018 e correlação baixa com tudo, inclusive com as outras três novas — a variável mais fraca da grade, não excluída aqui (demanda 9 fica para a orientadora decidir).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renda sozinha bate o índice em AUC nos oito cenários — achado NB4-02, sem adjetivo, já registrado no 04b. O KMO sobe de 0,78 (S0) para 0,81 quando entram as quatro novas (S6); Kaiser e Horn discordam em S4 e S7 (kaiser_horn_discordam em cenarios.csv), e a solução usa sempre 2 fatores, como o prompt 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rotação, as quatro novas já aparecem isoladas de analfabetismo/renda/cor-raça, no quadrante de cima. A Varimax e a promax só giram os eixos para alinhar essa separação com F1 e F2 — a nuvem de pontos não muda de posição relativa, só o sistema de referência. Conferido rótulo a rótulo e eixo a eixo antes deste slide: todos legíveis.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Testar o lixo (demanda 10) dá resultado ambíguo por desenho: forma fator próprio em S0 e S5, mas se dissolve nos outros cenários quando entram mais variáveis de saneamento. A sensibilidade por município (S0, S1, S6, em sensibilidade_municipios.csv) mostra que isso quase não depende de qual dos 70 é retirado.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único ponto da grade em que o índice bate a renda sozinha em AUC — e mesmo assim só em 2 dos 3 cenários (S1_postos_mun continua atrás). O outro eixo da robustez, tirar um município por vez sem mudar para posto percentil, quase não move o peso: a maior variação nas 70 rodadas de S1 e S6 juntas é pequena.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decisões de método, nenhuma tomada por este executor — a regra do prompt (seção 0.2) é implementar o padrão que preserva as alternativas e registrar a pergunta, não escolher por ela. As quatro já estão na mensagem redigida na Fase 0 e no estado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seção junta o motor da Fase C (scripts/ivs_especificacoes.py, banco_de_dados/eda/ivs_especificacoes/*.csv) e o Notebook 05 (notebooks/Fase3_EDA_ELSI/05_Calculo_IVS_Final.ipynb). Nenhum número aqui é novo: são os mesmos CSVs, lidos de novo para 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Elegibilidade não é escolha: é a regra da seção 2.2 aplicada às 324 linhas de especificacoes.csv. Kaiser e Horn indicam 1 fator no IVS-6, mas o fator único reprova em toda a grade pela comunalidade — por isso a comparação de referência sempre usa 2 fatores.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da renda quase não move o resultado agregado: a AUC contra FCU, dentro do município, é igual até a 4ª casa decimal nas três versões — a ordem entre elas no ranking de 96 especificações sai de diferenças menores que essa. O critério da seção 2.2 não resolve sozinho qual renda usar: a escolha continua sendo da orientadora.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(a) da seção 2.2 (menor amplitude do peso de F1 ao tirar 1 município) empata trivialmente nos pesos fixos — amplitude zero por construção, não por robustez medida; é por isso que a leitura alternativa "estabilidade pelos pesos das variáveis" (referencia.csv) muda a proposta. Na base com mais variáveis (IVS-7 + V00495) a mesma amplitude sobe para 8,64–21,22 p.p. — mais variáveis, mais sensível a qual município sai. Fator único (sem rotação) nunca chega a este ponto: já caiu na comunalidade.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lixo em si não é o problema: IVS-6 (sem lixo) passa nas três versões de banheiro, e IVS-7 + V00495 (com lixo) também passa — quem reprova o IVS-7 puro é a comunalidade da água (0,2535), não o lixo. O banheiro graduado só reprova quando junto do lixo (IVS-7 + graduado, comunalidade 0,2986 — a 0,0014 do corte de 0,30); sozinho, com o IVS-6, ele passa.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renda bate o índice em AUC no agregado e por município — mas dentro dos estratos de renda do próprio município (mesma faixa, municípios diferentes) o índice separa mais FCU que a renda. Limite: FCU já é critério do IBGE que usa condições de moradia, então há circularidade parcial com as variáveis de saneamento do índice.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muda pouco de faixa em relação a outras leituras plausíveis do mesmo critério (10,2% a 10,4%) e muito mais em relação ao índice hoje em uso no NB04 (33,0%) — a maior parte da diferença vem de trocar renda, lixo e banheiro juntos, não de uma peça isolada.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decisões de método, nenhuma tomada por este executor — a regra do prompt (seção 0.2) é calcular todas as alternativas e registrar a pergunta. A lista completa, com as herdadas do pedido original, está na seção 11 do Notebook 05 e no Relatorio_IVS_Final_NB05.md.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IVS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fatorial dos sete componentes · Censo Demográfico 2022 · 70 municípios do ELSI-Brasil</a:t>
            </a:r>
            <a:endParaRPr lang="pt-BR" sz="1400" noProof="0" dirty="0"/>
          </a:p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estrutura latente dos dados diz sobre quanto cada indicador deve pesar no índice.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setembro de 2026  ·  87.545 setores completos nas sete variáveis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estava em aberto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decisões travavam o cálculo do índice, e nenhuma tinha número para sustentá-la.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43062"/>
              </p:ext>
            </p:extLst>
          </p:nvPr>
        </p:nvGraphicFramePr>
        <p:xfrm>
          <a:off x="777240" y="1627632"/>
          <a:ext cx="10634472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Decisão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ela trava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existia antes deste trabalho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dos pesos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Notebooks 04 e 05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 argumento: renda, cor/raça e analfabetismo são colineares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Destino do indicador de lixo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Composição do índice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Uma ressalva: é a variável menos correlacionada com as demais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Política do sigilo no analfabetismo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 03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constatação de que o sigilo não é aleatório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 fator ou dois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Toda a leitura do índice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teoria do IVS-BH 2012 dizia duas dimensões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2702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43251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quatro continuam sendo decisão da orientação — mas agora cada opção tem o seu custo medido em quantos setores mudam de faixa de risco.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aguenta a análise?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do planejamento, nos termos de Matos &amp; Rodrigues (2019), p. 39–46.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Etapa 1 do livro, conferida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critérios atendidos, dois deles com ressalva a declarar.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adequabilidade da base, sete componentes, correlação de </a:t>
            </a:r>
            <a:r>
              <a:rPr lang="pt-BR" sz="11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/fatorial/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resumo_adequabilidade.csv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Recorte: 87.545 setores completos.</a:t>
            </a:r>
            <a:endParaRPr lang="pt-BR" sz="95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638105"/>
              </p:ext>
            </p:extLst>
          </p:nvPr>
        </p:nvGraphicFramePr>
        <p:xfrm>
          <a:off x="777240" y="2176272"/>
          <a:ext cx="10634472" cy="25450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do livro (p. 44)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Patamar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Tamanho da amostra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100 e ≥ 5 por variável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 · 12.506 : 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atendido com folga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correlação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maioria acima de 0,30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atendido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≥ 0,50; ideal a partir de 0,70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atendido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por variável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≥ 0,50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 0,700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atendido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 de Bartlett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&lt; 0,05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χ² = 235.084 · 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&lt; 0,001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atendido, mas vazio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646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919472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Bartlett não informa nesta escala.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p. 43 adverte que o teste "depende muito do tamanho amostral e tende a rejeitar a hipótese nula para amostras grandes". Com 87 mil setores ele rejeita por construção. A conclusão de adequabilidade se apoia no KMO e nos MSA, que não crescem com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escolha por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o que torna a análise defensável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Pearson, a mesma base reprovaria em dois critérios da Etapa 1.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setores, as duas correlações.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resumo_adequabilidade.csv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A escolha por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foi decidida na §9 do relatório da EDA.</a:t>
            </a:r>
            <a:endParaRPr lang="pt-BR" sz="95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39137"/>
              </p:ext>
            </p:extLst>
          </p:nvPr>
        </p:nvGraphicFramePr>
        <p:xfrm>
          <a:off x="777240" y="2176272"/>
          <a:ext cx="10634472" cy="252374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sobe dentro da faixa boa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da zona medíocre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Coeficientes |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 ≥ 0,30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Pearson, reprova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por Kaiser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solução mais parcimoniosa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acumulada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53,6%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</a:t>
                      </a:r>
                      <a:r>
                        <a:rPr lang="pt-BR" sz="1150" b="1" noProof="0" dirty="0" err="1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cruza os 60%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19472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Decompor uma matriz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fazer análise de componentes principais sobre os POSTOS, não sobre os valores. As cargas se referem a posições relativas. Isso volta a aparecer, com consequência concreta, no slide dos escores.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correlação, as sete variáveis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Tabela 1 do livro (p. 15) nos dados do projeto — e ela já mostra a estrutura antes de fatorar.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atorial/figuras/nb04_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353312"/>
            <a:ext cx="5541264" cy="4416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521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Matriz-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sete componentes, 87.545 setores.  Fonte: figuras/nb04_matriz_correlacao.png, bloco 2 do Notebook 04.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Multicolinearidade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o número que circula é de outra matriz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Achado. A correlação citada nos documentos do projeto não é a da matriz que foi fatorada.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856232"/>
            <a:ext cx="32004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29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0,784</a:t>
            </a:r>
            <a:endParaRPr lang="pt-BR" sz="3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cor/raça na matriz FATORADA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listwise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87.545 setores)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856232"/>
            <a:ext cx="32004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929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0,811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par na EDA §9 (par a par, 104.108 setores)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8458200" y="1856232"/>
            <a:ext cx="29260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458200" y="19293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0,800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845820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limiar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multicolinearidade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(livro, p. 42)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32644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números estão certos, e medem conjuntos diferentes.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 EDA é calculado par a par, cada coeficiente sobre os seus próprios casos completos. O da fatorial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listwise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só os setores completos nas sete variáveis entram. A diferença vai na mesma direção do viés do sigilo — a base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listwise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perde os setores de melhor situação, e isso comprime a associação entre renda e cor/raça.</a:t>
            </a:r>
            <a:endParaRPr lang="pt-BR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782312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 da matriz efetivamente fatorada cruza o limiar de 0,80. A objeção não desaparece — 0,784 continua alto e o bloco socioeconômico continua coeso —, mas o artigo precisa citar o número da matriz que foi fatorada, e dizer qual é qual.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 reter?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discordam — e o livro (p. 28–32) manda usá-los em conjunto justamente por isso.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não sustentam o segundo fator sem o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as sete variáveis, os dois critérios retêm dois. Retirado o lixo, retêm um.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contra os de dados aleatórios de mesmo tamanho.</a:t>
            </a:r>
            <a:endParaRPr lang="pt-BR" sz="11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82174"/>
              </p:ext>
            </p:extLst>
          </p:nvPr>
        </p:nvGraphicFramePr>
        <p:xfrm>
          <a:off x="777240" y="2176272"/>
          <a:ext cx="10634472" cy="21031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 (7 var.)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 (6 var.)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3,2997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3,2391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1,0232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1,0486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1,0119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0,9575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acumulada com 2 fatores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4531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7"/>
          <p:cNvSpPr/>
          <p:nvPr/>
        </p:nvSpPr>
        <p:spPr>
          <a:xfrm>
            <a:off x="777240" y="45079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sustenta o segundo fator, então.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razão teórica. A p. 32 do livro admite explicitamente que a decisão final pode ser teórica, e que a pergunta certa é "teoricamente faz mais sentido essas variáveis estarem agrupadas em quantos fatores?". As duas dimensões vêm do IVS-BH 2012. Isso é uma escolha declarada, não um número escondido.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pic>
        <p:nvPicPr>
          <p:cNvPr id="6" name="Image 0" descr="/Users/pedro/Documents/Iniciacao Cientifica/Projeto_IVS_Censo22/banco_de_dados/eda/fatorial/figuras/nb04_scree_ho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63386"/>
            <a:ext cx="9811512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 reter — observado contra o acaso.  Fonte: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/fatorial/figuras/nb04_scree_horn.png, bloco 3 do Notebook 04.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do indicador de lixo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ressalva de agosto virou medida — e a análise fatorial propriamente dita a reforça.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não tem variância comum com o construto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ACP lhe dava um fator próprio. O eixo principal mostra que aquele fator é ruído dele mesmo.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31089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0,859</a:t>
            </a:r>
            <a:endParaRPr lang="pt-BR" sz="3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comunalidade do lixo pela ACP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4434840" y="1901952"/>
            <a:ext cx="31089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4434840" y="19751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0,052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4434840" y="2560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comunalidade pelo eixo principal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8092440" y="190195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092440" y="1975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0,106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8092440" y="2560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SMC — a menor das sete variáveis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410712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dois números são tão diferentes.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ACP põe 1 na diagonal da matriz e distribui TODA a variância de cada variável entre os componentes — inclusive a variância que é só daquela variável. A análise fatorial põe a comunalidade e conta apenas a variância COMPARTILHADA. O fator próprio que o lixo forma na ACP é, quase inteiro, variância específica.</a:t>
            </a:r>
            <a:endParaRPr lang="pt-BR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9651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consequência para o índice.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o lixo com peso empírico é dar peso a uma dimensão que não é vulnerabilidade. Sem ele, a variância acumulada sobe de 62,1% para 70,0% com MENOS variáveis, e a água sai de comunalidade 0,253 para 0,822 — ela estava baixa porque o lixo havia sequestrado o segundo fator.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Enap discorda de Figueiredo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Divergência 1 — a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inverte o ônus da prova: ortogonal é o caminho que exige justificativa.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097280" y="1810512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i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"usar rotação ortogonal com dados de Ciências Humanas e Sociais não parece ter nenhum sentido. Nessas áreas, as variáveis quase sempre são correlacionadas. [...] para usar rotação ortogonal, o pesquisador precisaria ter evidências teóricas ou empíricas muito fortes de que os fatores não são correlacionados."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1810512"/>
            <a:ext cx="18288" cy="0"/>
          </a:xfrm>
          <a:prstGeom prst="line">
            <a:avLst/>
          </a:prstGeom>
          <a:noFill/>
          <a:ln w="1905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097280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Matos &amp; Rodrigues (2019), p. 38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32918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7581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0,521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dois fatores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4709160" y="368503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4709160" y="37581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65,0 / 35,0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repartição do peso, rotação ortogonal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8641080" y="3685032"/>
            <a:ext cx="27432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8641080" y="3758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65,8 / 34,2</a:t>
            </a:r>
            <a:endParaRPr lang="pt-BR" sz="3000" noProof="0" dirty="0"/>
          </a:p>
        </p:txBody>
      </p:sp>
      <p:sp>
        <p:nvSpPr>
          <p:cNvPr id="17" name="Text 15"/>
          <p:cNvSpPr/>
          <p:nvPr/>
        </p:nvSpPr>
        <p:spPr>
          <a:xfrm>
            <a:off x="8641080" y="4343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mesma, rotação oblíqua</a:t>
            </a:r>
            <a:endParaRPr lang="pt-BR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777240" y="5093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5148072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previa que a rotação oblíqua deslocasse os pesos NA DIREÇÃO dos 60/40 da literatura. Ela os deslocou meio ponto no sentido oposto. A convergência com o IVS-BH não depende da escolha de rotação — e isso é bom: significa que a decisão nº 5 não muda os pesos de forma relevante.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Divergência 2 — a técnica de extração</a:t>
            </a:r>
            <a:endParaRPr lang="pt-BR" sz="2600" noProof="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Stevens (1992) obriga a testar o que era pressuposto.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e fatoração do eixo principal sobre a mesma matriz, seis componentes.</a:t>
            </a:r>
            <a:endParaRPr lang="pt-BR" sz="11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088160"/>
              </p:ext>
            </p:extLst>
          </p:nvPr>
        </p:nvGraphicFramePr>
        <p:xfrm>
          <a:off x="777240" y="2176272"/>
          <a:ext cx="10634472" cy="25603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SMC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ACP fator 2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 principal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0,597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646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919472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das três condições de convergência falham.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(p. 27) diz que ACP e análise fatorial dão o mesmo com mais de 30 variáveis ou comunalidades acima de 0,60 na maioria; e que abaixo de 20 variáveis, com comunalidades abaixo de 0,4, podem divergir. São 6 variáveis e a comunalidade mínima é 0,380. Divergem — e divergem exatamente onde Stevens previu: nas variáveis que menos compartilham variância com as demais.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Divergência 3 — a regra de comunalidade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de 0,50 não é corte rígido, e isso resolve um caso pendente.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097280" y="1810512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i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critério da comunalidade maior do que 0,5 não deve ser utilizado isoladamente e de maneira muito rígida."</a:t>
            </a:r>
            <a:endParaRPr lang="pt-BR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109728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Matos &amp; Rodrigues (2019), p. 58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777240" y="3136392"/>
            <a:ext cx="3657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2095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0,380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comunalidade da razão de moradores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5074920" y="3136392"/>
            <a:ext cx="3657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5074920" y="32095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0,532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507492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dela no fator socioeconômico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436168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41655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fica no índice, e os dois números vão reportados juntos.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mantém, no seu próprio exemplo, um item com comunalidade abaixo do corte porque a carga fatorial é alta. É o caso aqui. A razão de moradores é a única sobrevivente do bloco de densidade habitacional, e retirá-la reduziria o índice a cinco componentes.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cargas, nas duas rotações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componentes, sem o indicador de lixo. A estrutura teórica aparece limpa.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atorial/figuras/nb04_mapa_carg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54480"/>
            <a:ext cx="8988552" cy="4197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338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fatoriais —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Fonte: figuras/nb04_mapa_cargas.png, bloco 5 do Notebook 04.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dos fatores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Figura 2 do livro (p. 17): os fatores como eixos, cada variável plotada nas suas duas cargas.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atorial/figuras/nb04_plano_fato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89888"/>
            <a:ext cx="10634472" cy="4233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7424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gráfica dos fatores, com e sem o indicador de lixo.  Fonte: figuras/nb04_plano_fatorial.png, bloco 5 do Notebook 04.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deste notebook: quanto cada indicador pesa, e com que margem.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IVS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proporcional ao quadrado da carga, dentro e entre as dimensões.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dos seis componentes, solução </a:t>
            </a:r>
            <a:r>
              <a:rPr lang="pt-BR" sz="11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dois fatores.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nb04_sintese_pesos.csv. O peso da dimensão é a soma dos quadrados das cargas do fator sobre o total.</a:t>
            </a:r>
            <a:endParaRPr lang="pt-BR" sz="950" noProof="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81895"/>
              </p:ext>
            </p:extLst>
          </p:nvPr>
        </p:nvGraphicFramePr>
        <p:xfrm>
          <a:off x="777240" y="2176272"/>
          <a:ext cx="10634472" cy="25603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22,32%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21,21%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19,09%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17,57%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12,64%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7,17%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965192"/>
            <a:ext cx="34747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0383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65,0 / 35,0</a:t>
            </a:r>
            <a:endParaRPr lang="pt-BR" sz="3000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5623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repartição empírica socioeconômica / saneamento</a:t>
            </a:r>
            <a:endParaRPr lang="pt-BR" sz="1050" noProof="0" dirty="0"/>
          </a:p>
        </p:txBody>
      </p:sp>
      <p:sp>
        <p:nvSpPr>
          <p:cNvPr id="12" name="Shape 9"/>
          <p:cNvSpPr/>
          <p:nvPr/>
        </p:nvSpPr>
        <p:spPr>
          <a:xfrm>
            <a:off x="4892040" y="4965192"/>
            <a:ext cx="34747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4892040" y="50383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/ 40</a:t>
            </a:r>
            <a:endParaRPr lang="pt-BR" sz="3000" noProof="0" dirty="0"/>
          </a:p>
        </p:txBody>
      </p:sp>
      <p:sp>
        <p:nvSpPr>
          <p:cNvPr id="14" name="Text 11"/>
          <p:cNvSpPr/>
          <p:nvPr/>
        </p:nvSpPr>
        <p:spPr>
          <a:xfrm>
            <a:off x="4892040" y="5623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do IVS-BH 2012 (literatura)</a:t>
            </a:r>
            <a:endParaRPr lang="pt-BR" sz="1050" noProof="0" dirty="0"/>
          </a:p>
        </p:txBody>
      </p:sp>
      <p:sp>
        <p:nvSpPr>
          <p:cNvPr id="15" name="Shape 12"/>
          <p:cNvSpPr/>
          <p:nvPr/>
        </p:nvSpPr>
        <p:spPr>
          <a:xfrm>
            <a:off x="90068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9006840" y="49651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pontos de diferença.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são estáveis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 reamostragens com reposição respondem com número à crítica de instabilidade da p. 23.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 de confiança de 95% de cada carga, por </a:t>
            </a:r>
            <a:r>
              <a:rPr lang="pt-BR" sz="11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nb04_bootstrap_cargas.csv. 1.000 reamostragens, semente 42, cada solução alinhada à da amostra completa.</a:t>
            </a:r>
            <a:endParaRPr lang="pt-BR" sz="950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881742"/>
              </p:ext>
            </p:extLst>
          </p:nvPr>
        </p:nvGraphicFramePr>
        <p:xfrm>
          <a:off x="777240" y="2176272"/>
          <a:ext cx="10634472" cy="25603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no fator 1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IC 95%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[0,082 ; 0,091]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[0,384 ; 0,400]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[0,519 ; 0,544]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[0,866 ; 0,871]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[0,913 ; 0,917]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[0,830 ; 0,835]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73752"/>
            <a:ext cx="49377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9469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[64,7 ; 65,3]</a:t>
            </a:r>
            <a:endParaRPr lang="pt-BR" sz="3000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55321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 95% da repartição socioeconômica — 0,59 ponto de amplitude</a:t>
            </a:r>
            <a:endParaRPr lang="pt-BR" sz="1050" noProof="0" dirty="0"/>
          </a:p>
        </p:txBody>
      </p:sp>
      <p:sp>
        <p:nvSpPr>
          <p:cNvPr id="12" name="Text 9"/>
          <p:cNvSpPr/>
          <p:nvPr/>
        </p:nvSpPr>
        <p:spPr>
          <a:xfrm>
            <a:off x="6355080" y="487375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limita esta análise não é o </a:t>
            </a:r>
            <a:r>
              <a:rPr lang="pt-BR" sz="125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87 mil setores a incerteza amostral é desprezível. O que limita é o número pequeno de variáveis — e o livro, escrito para questionários com dezenas de itens, não trata desse problema.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e o escore refinado concordam menos que o previsto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Achado. E a forma como a concordância falha é mais informativa que o número.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856232"/>
            <a:ext cx="31089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29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0,924</a:t>
            </a:r>
            <a:endParaRPr lang="pt-BR" sz="3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 o escore sobre POSTOS (coerente)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4434840" y="1856232"/>
            <a:ext cx="31089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4434840" y="1929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0,945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4434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escore sobre valores brutos (incoerente)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8092440" y="185623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8092440" y="19293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0,950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8092440" y="2514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que validaria o índice 0–1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32644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coerente o escore fica com o modelo, mais se afasta do índice.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0–1 é min-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valores BRUTOS. O modelo fatorial foi estimado sobre POSTOS, porque a correlação é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São dois objetos em escalas diferentes, e a diferença entre 0,924 e 0,945 é exatamente o tamanho dessa incoerência.</a:t>
            </a:r>
            <a:endParaRPr lang="pt-BR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782312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instabilidade.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mediu a incerteza dos pesos em 0,59 ponto percentual. Mais reamostragem não resolve isto. As saídas são três, e as três são defensáveis: compor o índice sobre postos, estimar a fatorial sobre Pearson, ou declarar a divergência. O que não é defensável é escolher sem saber que se está escolhendo.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funciona?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nenhuma estatística interna à fatorial responde.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 os setores de favela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 critério com um marcador externo ao índice: CD_TIPO = 1, do próprio IBGE.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atorial/figuras/nb04_roc_f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1328"/>
            <a:ext cx="416052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920240"/>
            <a:ext cx="27432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5669280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0,813</a:t>
            </a:r>
            <a:endParaRPr lang="pt-BR" sz="3000" noProof="0" dirty="0"/>
          </a:p>
        </p:txBody>
      </p:sp>
      <p:sp>
        <p:nvSpPr>
          <p:cNvPr id="9" name="Text 6"/>
          <p:cNvSpPr/>
          <p:nvPr/>
        </p:nvSpPr>
        <p:spPr>
          <a:xfrm>
            <a:off x="5669280" y="2578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do índice 0–1</a:t>
            </a:r>
            <a:endParaRPr lang="pt-BR" sz="1050" noProof="0" dirty="0"/>
          </a:p>
        </p:txBody>
      </p:sp>
      <p:sp>
        <p:nvSpPr>
          <p:cNvPr id="10" name="Shape 7"/>
          <p:cNvSpPr/>
          <p:nvPr/>
        </p:nvSpPr>
        <p:spPr>
          <a:xfrm>
            <a:off x="8778240" y="1920240"/>
            <a:ext cx="27432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8778240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0,862</a:t>
            </a:r>
            <a:endParaRPr lang="pt-BR" sz="3000" noProof="0" dirty="0"/>
          </a:p>
        </p:txBody>
      </p:sp>
      <p:sp>
        <p:nvSpPr>
          <p:cNvPr id="12" name="Text 9"/>
          <p:cNvSpPr/>
          <p:nvPr/>
        </p:nvSpPr>
        <p:spPr>
          <a:xfrm>
            <a:off x="8778240" y="2578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do escore refinado</a:t>
            </a:r>
            <a:endParaRPr lang="pt-BR" sz="1050" noProof="0" dirty="0"/>
          </a:p>
        </p:txBody>
      </p:sp>
      <p:sp>
        <p:nvSpPr>
          <p:cNvPr id="13" name="Shape 10"/>
          <p:cNvSpPr/>
          <p:nvPr/>
        </p:nvSpPr>
        <p:spPr>
          <a:xfrm>
            <a:off x="5669280" y="3246120"/>
            <a:ext cx="58521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5669280" y="33192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0,405  contra  0,339</a:t>
            </a:r>
            <a:endParaRPr lang="pt-BR" sz="3000" noProof="0" dirty="0"/>
          </a:p>
        </p:txBody>
      </p:sp>
      <p:sp>
        <p:nvSpPr>
          <p:cNvPr id="15" name="Text 12"/>
          <p:cNvSpPr/>
          <p:nvPr/>
        </p:nvSpPr>
        <p:spPr>
          <a:xfrm>
            <a:off x="5669280" y="39044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do índice nos setores de FCU e nos demais</a:t>
            </a:r>
            <a:endParaRPr lang="pt-BR" sz="1050" noProof="0" dirty="0"/>
          </a:p>
        </p:txBody>
      </p:sp>
      <p:sp>
        <p:nvSpPr>
          <p:cNvPr id="16" name="Shape 13"/>
          <p:cNvSpPr/>
          <p:nvPr/>
        </p:nvSpPr>
        <p:spPr>
          <a:xfrm>
            <a:off x="5669280" y="451713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5669280" y="45720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teste vale mais.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das seis variáveis do índice foi usada para classificar um setor como favela. A lista é oficial e já foi conferida setor a setor com 100% de concordância. O corte fixado no plano era 0,75.</a:t>
            </a:r>
            <a:endParaRPr lang="pt-BR" sz="1250" noProof="0" dirty="0"/>
          </a:p>
        </p:txBody>
      </p:sp>
      <p:sp>
        <p:nvSpPr>
          <p:cNvPr id="18" name="Text 15"/>
          <p:cNvSpPr/>
          <p:nvPr/>
        </p:nvSpPr>
        <p:spPr>
          <a:xfrm>
            <a:off x="777240" y="57424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Separação dos setores de Favela e Comunidade Urbana.  Fonte: figuras/nb04_roc_fcu.png, bloco 9 do Notebook 04.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de cada escolha, em setores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métrica não é variância explicada. É quantos setores mudam de faixa de risco.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 de classificação em quartis, contra a referência de dois fatores com pesos empíricos.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nb04_cenarios.csv e nb04_contingencia_*.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404703"/>
              </p:ext>
            </p:extLst>
          </p:nvPr>
        </p:nvGraphicFramePr>
        <p:xfrm>
          <a:off x="777240" y="2176272"/>
          <a:ext cx="10634472" cy="18288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dos 87.545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60/40 em vez de 65/35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analfabetismo (política do sigilo)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6.587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 fator em vez de dois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7.668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13308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18795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nº 1 deixa de ser crítica.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os pesos empíricos pelos 60/40 da literatura move 2,5% dos setores de faixa, com correlação de 0,9993 entre as duas ordenações. É o menor custo dos três cenários — e isso é resultado publicável, não detalhe técnico.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perguntas que sobraram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sem o extremo não muda nada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2ª rodada da EDA recalculou tudo com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renda_media_sem_extremo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A fatorial é anterior a essa coluna.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fatorial, trocando só a coluna de renda.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nb04_renda_sem_extremo.csv. Mesmas seis variáveis, mesmo recorte, mesma rotação.</a:t>
            </a:r>
            <a:endParaRPr lang="pt-BR" sz="95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12094"/>
              </p:ext>
            </p:extLst>
          </p:nvPr>
        </p:nvGraphicFramePr>
        <p:xfrm>
          <a:off x="777240" y="2176272"/>
          <a:ext cx="10634472" cy="20116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</a:t>
                      </a:r>
                      <a:r>
                        <a:rPr lang="pt-BR" sz="11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-0,00003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-0,00005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socioeconômico (%)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65,038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65,038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saneamento (%)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34,962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34,962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-0,00036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27939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352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0,0000</a:t>
            </a:r>
            <a:endParaRPr lang="pt-BR" sz="3000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diferença entre as cargas</a:t>
            </a:r>
            <a:endParaRPr lang="pt-BR" sz="1050" noProof="0" dirty="0"/>
          </a:p>
        </p:txBody>
      </p:sp>
      <p:sp>
        <p:nvSpPr>
          <p:cNvPr id="12" name="Shape 9"/>
          <p:cNvSpPr/>
          <p:nvPr/>
        </p:nvSpPr>
        <p:spPr>
          <a:xfrm>
            <a:off x="4617720" y="427939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4617720" y="4352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pt-BR" sz="3000" noProof="0" dirty="0"/>
          </a:p>
        </p:txBody>
      </p:sp>
      <p:sp>
        <p:nvSpPr>
          <p:cNvPr id="14" name="Text 11"/>
          <p:cNvSpPr/>
          <p:nvPr/>
        </p:nvSpPr>
        <p:spPr>
          <a:xfrm>
            <a:off x="461772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faixa, de 87.544</a:t>
            </a:r>
            <a:endParaRPr lang="pt-BR" sz="1050" noProof="0" dirty="0"/>
          </a:p>
        </p:txBody>
      </p:sp>
      <p:sp>
        <p:nvSpPr>
          <p:cNvPr id="15" name="Shape 12"/>
          <p:cNvSpPr/>
          <p:nvPr/>
        </p:nvSpPr>
        <p:spPr>
          <a:xfrm>
            <a:off x="8458200" y="4279392"/>
            <a:ext cx="292608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8458200" y="43525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0,999976</a:t>
            </a:r>
            <a:endParaRPr lang="pt-BR" sz="3000" noProof="0" dirty="0"/>
          </a:p>
        </p:txBody>
      </p:sp>
      <p:sp>
        <p:nvSpPr>
          <p:cNvPr id="17" name="Text 14"/>
          <p:cNvSpPr/>
          <p:nvPr/>
        </p:nvSpPr>
        <p:spPr>
          <a:xfrm>
            <a:off x="84582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entre os dois índices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é construto reflexivo ou índice formativo?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objeção conceitual mais séria em aberto. Ela decide se a análise fatorial é o instrumento certo.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Reflexivo — o latente CAUSA os indicadores.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vulnerabilidade existiria como propriedade do território e se manifestaria em renda baixa, analfabetismo, saneamento precário. Os indicadores são intercambiáveis, devem correlacionar-se alto, e retirar um não muda o significado. É o modelo que a análise fatorial pressupõe.</a:t>
            </a:r>
            <a:endParaRPr lang="pt-B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6355080" y="17556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355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Formativo — os indicadores CONSTITUEM o índice.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É a combinação de privações. Cada indicador é faceta definidora, não precisam correlacionar-se, e retirar um muda o significado. Os pesos viriam de teoria ou de política pública, não da covariância.</a:t>
            </a:r>
            <a:endParaRPr lang="pt-BR" sz="125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18094"/>
              </p:ext>
            </p:extLst>
          </p:nvPr>
        </p:nvGraphicFramePr>
        <p:xfrm>
          <a:off x="777240" y="3867912"/>
          <a:ext cx="10634472" cy="1920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deste trabalho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reflexiva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formativa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com comunalidade 0,052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pertence: retirar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faceta que falta: manter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× cor/raça a 0,784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coeso, evidência do construto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multicolinearidade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atrapalha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0,783 e Bartlett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provam adequabilidade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se aplicam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65/35 empíricos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 da estrutura latente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teriam de sair de teoria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saída que os dados sugerem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híbrido — e ele explica uma coisa que estava sem explicação.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 cada dimensão, o comportamento é reflexivo.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analfabetismo e cor/raça correlacionam-se de 0,63 a 0,78 e claramente manifestam uma mesma posição social do território. Água e esgoto, a 0,41, manifestam infraestrutura de saneamento. Nos dois blocos, os indicadores parecem efeitos de uma causa comum.</a:t>
            </a:r>
            <a:endParaRPr lang="pt-B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31729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22783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duas dimensões, a composição é formativa.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razão para supor um latente único que cause tanto a falta de água quanto o analfabetismo. A correlação entre os fatores,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0,52, é consistente com isso: alta o bastante para justificar a rotação oblíqua, longe o bastante de 1 para não sugerir um fator só.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599432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consequência, e ela já está medida.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 fatorial é legítima para obter os pesos DENTRO de cada bloco. A repartição ENTRE blocos — o 65/35 — é decisão formativa, que os dados não têm como arbitrar. É isso que explica por que a escolha entre 65/35 e 60/40 custa apenas 2,5% dos setores: ela nunca foi uma questão empírica.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código, por dentro </a:t>
            </a:r>
            <a:r>
              <a:rPr lang="pt-BR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Parte 8 TODA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análise foi construída em Python, linha a linha, e como se faria em R.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puro, e não uma biblioteca pronta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aparece sempre, e a resposta é de engenharia — mas teve um efeito colateral melhor.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razão declarada.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tem cinco pacotes. Acrescentar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factor_analyzer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traria conveniência e traria uma dependência a mais para instalar,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justificar numa dissertação — por um ganho de digitação, não de método. Tudo que a análise precisa é álgebra linear que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já faz.</a:t>
            </a:r>
            <a:endParaRPr lang="pt-B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6446520" y="18013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6446520" y="1856232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razão que apareceu depois.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escreve a conta à mão precisa saber a conta. Foi escrevendo o KMO que ficou claro que ele se apoia na matriz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anti-imagem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foi escrevendo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ficou claro por que existem DUAS matrizes de carga numa solução oblíqua. Nenhuma das duas coisas se aprende chamando uma função.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005072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</a:t>
            </a:r>
            <a:r>
              <a:rPr lang="pt-BR" sz="125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escolha seria outra, e razoável.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pacote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o padrão da área, está em toda a bibliografia — inclusive nos exemplos do livro da Enap, que são 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 não é dependência exótica. Os próximos slides mostram a correspondência função a função, e o script completo.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caminho, em nove passos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passo, a função que o faz aqui e a que o faria em R.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528898"/>
              </p:ext>
            </p:extLst>
          </p:nvPr>
        </p:nvGraphicFramePr>
        <p:xfrm>
          <a:off x="777240" y="1627632"/>
          <a:ext cx="10634472" cy="42062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Neste projeto (</a:t>
                      </a:r>
                      <a:r>
                        <a:rPr lang="pt-BR" sz="10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numpy</a:t>
                      </a: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</a:t>
                      </a:r>
                      <a:r>
                        <a:rPr lang="pt-BR" sz="10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correlação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X.corr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method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=’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’)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cor(X,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method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"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e MSA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::KMO(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 de Bartlett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cortest.bartlett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Multicolinearidade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smc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smc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Número de fatores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acp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·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eigen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·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fa.parallel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Extração por eixo principal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fatoracao_eixo_principal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fm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"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ortogonal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(cargas)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stats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(L, normalize = FALSE)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oblíqua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rotacao_promax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(cargas)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stats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(L, m = 4)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Escores refinados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escores_regressao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A)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::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factor.scores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()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KMO, linha a linha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 a correlação bruta entre duas variáveis com o que sobra dela depois de descontar as outras.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07108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6035040" y="198882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inversa da matriz de correlação. É dela que saem as correlações parciais — não é óbvio, e é o coração do procedimento.</a:t>
            </a:r>
            <a:endParaRPr lang="pt-B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6035040" y="2615184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Raiz da diagonal: o fator de padronização.</a:t>
            </a:r>
            <a:endParaRPr lang="pt-BR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921508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parcial = -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np.outer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6035040" y="290322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fórmula da correlação parcial sobre a inversa. O sinal negativo não é detalhe: sem ele toda a matriz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anti-imagem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inverte.</a:t>
            </a:r>
            <a:endParaRPr lang="pt-BR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547872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np.fill_diagonal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(parcial, 0.0)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6035040" y="3529584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uma variável com ela mesma é 1 e inflaria as somas. Zera dos dois lados.</a:t>
            </a:r>
            <a:endParaRPr lang="pt-BR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R0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R.copy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174236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np.fill_diagonal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(R0, 0.0)</a:t>
            </a:r>
            <a:endParaRPr lang="pt-B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750308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(R0 ** 2).sum()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5038344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(parcial ** 2).sum()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5326380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035040" y="5308092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KMO global: a fração da associação que NÃO é parcial. Trocando .sum() por .sum(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axis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=0) sai o MSA de cada variável.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extração, linha a linha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linhas, e a terceira é a que transforma álgebra em interpretação.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6479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np.linalg.eigh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6035040" y="2048256"/>
            <a:ext cx="45994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autovetores. O "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é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hermitian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 versão para matriz simétrica, mais rápida e mais estável. Matriz de correlação é sempre simétrica.</a:t>
            </a:r>
            <a:endParaRPr lang="pt-B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8757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ordem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np.argsort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)[::-1]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6035040" y="285750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devolve em ordem CRESCENTE e a análise fatorial lê em decrescente. Sem esta linha, o "primeiro fator" seria o menos importante.</a:t>
            </a:r>
            <a:endParaRPr lang="pt-BR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3214116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[ordem]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51586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[:, ordem]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411937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cargas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[:, :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6035040" y="4101084"/>
            <a:ext cx="45994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carga fatorial é o autovetor escalado pela raiz do autovalor. Sem o escalonamento os autovetores têm norma 1 e não se leem como correlação.</a:t>
            </a:r>
            <a:endParaRPr lang="pt-BR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62686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np.maximum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0))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6035040" y="4608576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corta em zero: autovalor negativo por erro numérico viraria raiz de número negativo.</a:t>
            </a:r>
            <a:endParaRPr lang="pt-BR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526694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cargas</a:t>
            </a:r>
            <a:endParaRPr lang="pt-B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777240" y="56784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5733288"/>
            <a:ext cx="10634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advertência que vale para toda a análise.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sinal de cada autovetor é ARBITRÁRIO — o LAPACK escolhe um e o oposto seria igualmente válido. Por isso as cargas são viradas na leitura, para que positivo queira dizer "mais vulnerável". Os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guardam o sinal cru.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rotação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linha a linha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Girar os eixos sem mudar as distâncias: a variância total não muda, só a repartição entre fatores.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np.eye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6035040" y="1700784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 sem girar nada.</a:t>
            </a:r>
            <a:endParaRPr lang="pt-BR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maxiter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231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L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6035040" y="2212848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cargas com a rotação atual.</a:t>
            </a:r>
            <a:endParaRPr lang="pt-BR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np.linalg.svd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6035040" y="2724912"/>
            <a:ext cx="45994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truque do procedimento: a matriz ortogonal mais próxima de uma matriz qualquer é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@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 sua SVD. É o que garante que a rotação continue ortogonal a cada passo.</a:t>
            </a:r>
            <a:endParaRPr lang="pt-BR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2506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L.T @ 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** 3 -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6035040" y="3232404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do critério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O cubo vem da derivada da soma dos quadrados dos quadrados; o segundo termo subtrai a média por fator.</a:t>
            </a:r>
            <a:endParaRPr lang="pt-BR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5890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Lam.T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/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41010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</a:t>
            </a:r>
            <a:endParaRPr lang="pt-B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3571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d_ant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1 +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break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6035040" y="4338828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quando o critério deixa de crescer.</a:t>
            </a:r>
            <a:endParaRPr lang="pt-BR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48691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035040" y="4850892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cargas rotacionadas.</a:t>
            </a:r>
            <a:endParaRPr lang="pt-BR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777240" y="523494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5289804"/>
            <a:ext cx="1063447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armadilha ao reproduzir em R.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::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aplica normalização de Kaiser POR PADRÃO: divide cada linha pela raiz da comunalidade antes de girar e desfaz depois. É defensável, é o que o SPSS faz — e produz cargas diferentes. Para reproduzir estes números 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preciso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(L, normalize = FALSE).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rotação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linha a linha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da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deixa os eixos se inclinarem. O procedimento é engenhoso.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varimax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(cargas)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6035040" y="1719072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partida ortogonal.</a:t>
            </a:r>
            <a:endParaRPr lang="pt-BR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np.sign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(V) *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np.abs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(V) **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kappa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6035040" y="2295144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Constrói um alvo EXAGERADO: com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kappa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4, uma carga de 0,9 vira 0,66 e uma de 0,3 vira 0,008. O contraste entre alto e baixo é ampliado.</a:t>
            </a:r>
            <a:endParaRPr lang="pt-BR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939796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*_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np.linalg.lstsq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(V, alvo)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6035040" y="2921508"/>
            <a:ext cx="45994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 por mínimos quadrados a transformação que leva V o mais perto possível do alvo. É aqui que a ortogonalidade se perde — e é isso que se quer.</a:t>
            </a:r>
            <a:endParaRPr lang="pt-BR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735324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(U.T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6035040" y="3717036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as colunas para que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saia com diagonal 1. Sem este passo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covariância entre fatores, não correlação, e a comunalidade vaza.</a:t>
            </a:r>
            <a:endParaRPr lang="pt-BR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4073652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pt-B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649724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padrao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V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6035040" y="4631436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PADRÃO: coeficientes de regressão. É dela que saem os pesos.</a:t>
            </a:r>
            <a:endParaRPr lang="pt-BR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(U.T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6035040" y="4919472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os fatores — o objeto que a solução ortogonal não pode produzir.</a:t>
            </a:r>
            <a:endParaRPr lang="pt-BR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5276088"/>
            <a:ext cx="4846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padrao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035040" y="5257800"/>
            <a:ext cx="45994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ESTRUTURA: correlações entre variável e fator.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 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parte 1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adequabilidade da base.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Pacotes — uma vez só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0802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psych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GPArotation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"DBI",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RSQLite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20553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psych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GPArotation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(DBI);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RSQLite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40304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60055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Dados: o mesmo banco que o notebook usa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dbConnect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299557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banco_de_dados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entrega_orientadora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/Base_ELSI_70Municipios_Censo2022.db")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19308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dbGetQuery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"SELECT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pct_agua_inad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pct_esgoto_inad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razao_moradores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339059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pct_analfab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renda_media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pct_raca_pretpardind</a:t>
            </a:r>
            <a:endParaRPr lang="pt-B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58810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FROM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setores_censitarios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78561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WHERE urbano = 1 AND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Dados_sig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'OK'")</a:t>
            </a:r>
            <a:endParaRPr lang="pt-B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398312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dbDisconnect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418063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437814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d$renda_inv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-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d$renda_media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sentido único: maior = mais vulnerável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457565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na.omit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pct_agua_inad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pct_esgoto_inad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razao_moradores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477316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pct_analfab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renda_inv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pct_raca_pretpardind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")])</a:t>
            </a:r>
            <a:endParaRPr lang="pt-BR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497067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                              # esperado: 87545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5168189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777240" y="5365699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Matriz de correlação e adequabilidade</a:t>
            </a:r>
            <a:endParaRPr lang="pt-B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777240" y="5563210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cor(X,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spearman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pt-B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777240" y="5760720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          # global e por variável</a:t>
            </a:r>
            <a:endParaRPr lang="pt-B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777240" y="5958230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cortest.bartlett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       # com a ressalva de amostra grande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777240" y="6155741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          #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multicolinearidade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livro p. 42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 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parte 2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fatores, extração e rotação.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Quantos fatores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0802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)$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# critério de Kaiser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20553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fa.parallel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n.iter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50)  # análise paralela de Horn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40304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60055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Extração: as duas técnicas, como manda a regra de Stevens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principal(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nfactors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varimax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n.obs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299557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paf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nfactors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varimax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n.obs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19308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cbind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acp$loadings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 1:2],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paf$loadings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 1:2]), 3)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339059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58810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ATENÇÃO: para reproduzir as cargas deste projeto, a </a:t>
            </a:r>
            <a:r>
              <a:rPr lang="pt-BR" sz="1000" noProof="0" dirty="0" err="1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Varimax</a:t>
            </a: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não pode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78561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normalizar — o padrão do </a:t>
            </a:r>
            <a:r>
              <a:rPr lang="pt-BR" sz="1000" noProof="0" dirty="0" err="1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é normalize = TRUE</a:t>
            </a:r>
            <a:endParaRPr lang="pt-B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398312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acp0 &lt;- principal(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nfactors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n.obs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418063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varimax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(acp0$loadings[, 1:2], normalize = FALSE)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437814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457565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Rotação oblíqua — é a que o livro recomenda (p. 38)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477316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nfactors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promax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n.obs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  <a:endParaRPr lang="pt-BR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497067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obl$loadings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matriz padrão — é dela que saem os pesos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5168189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obl$Structure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matriz de estrutura</a:t>
            </a:r>
            <a:endParaRPr lang="pt-B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777240" y="5365699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obl$Phi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correlação entre os fatores: esperado ~0,52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 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parte 3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Pesos, escores e as duas figuras que esta apresentação mostrou.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Pesos: soma dos quadrados das cargas, por fator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08022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colSums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acp$loadings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 1:2]^2)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20553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round(100 *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sum(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1)           # a repartição entre as dimensões</a:t>
            </a:r>
            <a:endParaRPr lang="pt-B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403043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60055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 Escores refinados (método da regressão, livro p. 25)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factor.scores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as.matrix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")$scores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2995574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2, var)                     # ~1 quando as cargas vêm de ACP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19308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3390595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8. O plano dos fatores — a Figura 2 do livro, em cinco linhas</a:t>
            </a:r>
            <a:endParaRPr lang="pt-B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58810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&lt;-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acp$loadings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 1:2]</a:t>
            </a:r>
            <a:endParaRPr lang="pt-B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78561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(L[, 1], L[, 2],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xlim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(-1, 1),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ylim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(-1, 1),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pch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19,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1,</a:t>
            </a:r>
            <a:endParaRPr lang="pt-B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3983126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"Fator 1",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"Fator 2")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418063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abline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"grey60")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4378147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(L[, 1], L[, 2],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rownames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(L),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cex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0.8)</a:t>
            </a:r>
            <a:endParaRPr lang="pt-B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457565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477316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9. A matriz de correlação como figura</a:t>
            </a:r>
            <a:endParaRPr lang="pt-BR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4970678"/>
            <a:ext cx="1063447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cor.plot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TRUE,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"Matriz de correlação de </a:t>
            </a:r>
            <a:r>
              <a:rPr lang="pt-BR" sz="1000" noProof="0" dirty="0" err="1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Spearman</a:t>
            </a:r>
            <a:r>
              <a:rPr lang="pt-BR" sz="1000" noProof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523951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script inteiro, comentado, está </a:t>
            </a:r>
            <a:r>
              <a:rPr lang="pt-BR" sz="125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versionado</a:t>
            </a: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docs/metodologia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Codigo_Analise_Fatorial_Comentado.md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traz este código com a explicação linha a linha de cada função em Python ao lado da equivalente 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 a tabela das cinco diferenças a esperar entre as duas implementações.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esperar de diferente entre as duas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pontos. Divergência além destes é problema real, não diferença de linguagem.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977902"/>
              </p:ext>
            </p:extLst>
          </p:nvPr>
        </p:nvGraphicFramePr>
        <p:xfrm>
          <a:off x="777240" y="1627632"/>
          <a:ext cx="11548872" cy="27432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Python (aqui)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</a:t>
                      </a:r>
                      <a:r>
                        <a:rPr lang="pt-BR" sz="10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psych</a:t>
                      </a: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fazer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 da </a:t>
                      </a: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normalização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normalize = TRUE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 normalize = FALSE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Sinal dos fatores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o LAPACK der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vira para soma positiva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compare valores absolutos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Ordem dos fatores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 decrescente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pode reordenar após girar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confira pelo padrão de cargas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 simulações, normal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reamostra</a:t>
                      </a: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os dados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nº de fatores não deve mudar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pandas, posto médio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cor(), posto médio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4074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vai para a orientação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decisões, cada uma com o custo medido. Nenhuma foi fechada aqui.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seis decisões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  O PORQUE DE CADA DECISAO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que cada opção custa.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62455"/>
              </p:ext>
            </p:extLst>
          </p:nvPr>
        </p:nvGraphicFramePr>
        <p:xfrm>
          <a:off x="777240" y="1627632"/>
          <a:ext cx="106344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pesa de cada lado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empíricos ou 60/40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Convergem. Custo da troca: 2,5% dos setores mudam de faixa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Destino do indicador de lixo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Fora: variância sobe a 70,0% e a água recupera a comunalidade. Dentro: fidelidade literal ao IVS-BH 2012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Política do sigilo no analfabetismo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Manter a variável custa 16.563 setores sem índice. Retirá-la move 7,5% de faixa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 fator ou dois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 é o que Kaiser e Horn indicam e dispensa rotação. Dois preserva a estrutura do IVS-BH. Custo: 8,8%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ortogonal ou oblíqua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Oblíqua é a recomendada (p. 38) e produz 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 Custo nos pesos: 0,8 ponto percentual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0–1 ou escore refinado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0–1 é interpretável e comparável. O refinado separa melhor as favelas (0,862 contra 0,813)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declarado como limitação </a:t>
            </a:r>
            <a:r>
              <a:rPr lang="pt-BR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EXPLICAR SLIDE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pontos. Quatro são do método, cinco são dos dados.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0589"/>
              </p:ext>
            </p:extLst>
          </p:nvPr>
        </p:nvGraphicFramePr>
        <p:xfrm>
          <a:off x="777240" y="1627632"/>
          <a:ext cx="10634472" cy="402336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Limitação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ela morde</a:t>
                      </a:r>
                      <a:endParaRPr lang="pt-BR" sz="11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vazio nesta escala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adequabilidade se apoia no KMO e nos MSA (livro, p. 43)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ACP sobre matriz de 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é ACP de postos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É a causa da divergência entre o índice e o escore refinado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Multicolinearidade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renda × cor/raça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 na matriz fatorada — abaixo do limiar, mas alto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Viés não aleatório do sigilo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16.563 setores perdidos, incidindo nos de melhor situação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espacial não tratada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fatorial pressupõe unidades independentes; setores vizinhos não são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Falácia ecológica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cargas descrevem territórios, não pessoas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Padronização min-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global e provisória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normalização por município é do Notebook 03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renda_media_sem_extremo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não entrou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Toda a análise usa 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como os </a:t>
                      </a:r>
                      <a:r>
                        <a:rPr lang="pt-BR" sz="11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CSVs</a:t>
                      </a: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de agosto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Reflexivo ou formativo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Questão conceitual em aberto sobre a natureza do índice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Central — 2ª rodada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 da Saúde intraurbano · Censo Demográfico 2022 · 70 municípios do ELSI-Brasil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análise, recalculada com a renda sem o valor extremo de Belo Horizonte. As alterações estão marcadas.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setembro de 2026  ·  104.108 setores urbanos elegíveis  ·  renda sem o setor 310620005650366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esta apresentação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dos decks anteriores era a EDA inteira — cada um era um recorte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de análise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Tabelas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Junho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Agosto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 V00048–V00058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Inadequação de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na lista de variáveis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predominante · saneamento em faixas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Distribuições, outliers e faltantes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+ 3 figuras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· favelas · envelhecimento · Brasil×ELSI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entrou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mantém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120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causa: nenhum script gerava os decks. A lista do que entra vivia na cabeça de quem montava — a mesma causa dos CSVs órfãos. Este deck é gerado por script, e os números são lidos das tabelas em tempo de build.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Levantamento feito arquivo por arquivo sobre os 7 .pptx versionados em docs/Apresentacoes_IVS/.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nesta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foi recalculada. Um único valor saiu da base — e o efeito dele é mais estreito e mais fundo do que se esperava.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uma coluna de renda sem o valor extremo de Belo Horizonte. A coluna nova é `renda_media_sem_extremo`; a `renda_media` original continua na base, sem alteração, ao lado dela.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310620005650366 — Belo Horizonte, bairro Senhor dos Passos, R$ 170.418,06 por responsável. Maior valor da base, 55,7× a mediana do município, num setor de favela com 186 domicílios e 518 pessoas.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alcance.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todas as células recalculadas, 45 mudaram, em 6 tabelas: correlacao_pearson, descritivas_globais, descritivas_por_regiao, favelas_fcu_comparativo_indicadores, missing_por_municipio, outliers. Nenhuma delas fora da renda e de suas correlações.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23774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 excluído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2900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8076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alteradas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4343400"/>
            <a:ext cx="26517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732520" y="4416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732520" y="5001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curtose da renda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célula a célula em banco_de_dados/eda/atualizada/comparacao_antes_depois.csv, gerada por scripts/eda_atualizada.py.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nível quase não se move. A forma da distribuição, sim.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 da exclusão.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eda/descritivas_globais.csv × eda/atualizada/descritivas_globais.csv.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-17,75%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-14,50%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Curtose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-48,16%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de setores com 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17720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de 1 setor em 104.108 quase não move o nível e desmonta a cauda: a curtose cai quase pela metade.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7914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484632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cai 0,04% e a mediana não muda — tirar um setor em 104 mil não desloca o centro. O que muda é a cauda: o desvio-padrão cai 0,8%, a assimetria 14,5% e a curtose 48,2%. Metade do peso da cauda da renda no recorte inteiro estava naquele único setor.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eda/descritivas_globais.csv (antes) × eda/atualizada/descritivas_globais.csv (depois).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com a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 — e Spearman não muda em casa nenhuma.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de Pearson com a renda.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eda/atualizada/comparacao_antes_depois.csv.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 com a 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Idosos 60+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103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fortes: o valor extremo achatava a associação linear. Spearman não muda em casa nenhuma — ele já era imune ao caso.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628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461772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mede associação linear e é sensível a um ponto extremo: o setor de BH achatava toda a coluna da renda. A matriz de Spearman, que trabalha com postos, é idêntica antes e depois — o caso nunca a afetou. É o argumento empírico a favor de estatística robusta para a renda, já registrado como decisão em aberto.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16 células alteradas na matriz — os 8 pares acima, contados nos dois triângulos. Detalhe em eda/atualizada/comparacao_antes_depois.csv.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mudou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Tão importante quanto o que mudou: a exclusão não vazou para o resto da análise.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da EDA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 após o recálculo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Elegibilidade e 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 — 106.281 elegíveis, 104.108 no recorte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Água, esgoto, lixo, razão de moradores, analfabetismo, cor/raça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 em média, mediana, outliers e faltantes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Spearman (10 variáveis)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 em todas as 100 células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— contagens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idênticas: 19.452 no recorte, 19.507 na base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de saneamento, faixas de gravidade, morfologia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feminina, envelhecimento, habitação precária, banheiro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Canalização da água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777240" y="47548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foi verificado.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por inspeção visual: o script recalcula as sete tabelas nas duas versões e compara célula a célula. As que não aparecem na lista de alterações têm diferença exatamente zero.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scripts/eda_atualizada.py — a mesma rotina valida que, com a coluna antiga, o recálculo reproduz a EDA publicada.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do estudo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pergunta, a base e como a pipeline está estruturada.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e o objeto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vulnerabilidade à saúde se distribui DENTRO das cidades brasileiras onde vive a coorte do ELSI-Brasil, e o que essa distribuição revela sobre desigualdade intraurbana?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objeto: o setor censitário.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unidade territorial do Censo. O IVS é um índice INTRAURBANO — compara setores dentro da mesma cidade, não cidades entre si. É dessa escolha que decorrem o recorte urbano, a normalização por município e o desenho ecológico.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urbanos elegíveis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7472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do ELSI-Brasil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7220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do Censo 2022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86968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na base bruta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recorte reúne 61,4% de toda a população favelada do país — conferido contra o dado oficial do IBGE.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pipeline está estruturada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fonte de verdade para as fórmulas; os notebooks e os scripts leem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55064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655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regra de elegibilidade, lista de variáveis por arquivo e classificação de renda. Nada é redigitado fora daqui.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2496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0472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44144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os 8 arquivos do Censo (2,4 GB), filtra os 70 municípios, une por CD_SETOR e audita a integridade. Base bruta: 109.032 setores.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0472" y="3282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82696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EDA: tipagem e sigilo, elegibilidade, recorte urbano, 7 componentes, blocos descritivos, figuras e matriz de correlação.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78808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04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123944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nacional, tabelas de auditoria, auditoria de renda, extração dos dados deste deck e o gerador dele.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020056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77240" y="5020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90472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96519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testes automatizados. Conferem fórmulas com dados sintéticos e os artefatos já gerados.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agosto de 2026 as fórmulas existiam em dois lugares e a lista de variáveis em três. Hoje é uma só, verificada por teste.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entra na análise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Sigilo, elegibilidade e o recorte urbano — as três decisões que definem a base.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universo do Censo aos setores analisados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corte é auditável e reversível: a base bruta guarda os 109.032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sai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Universo do Censo 2022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inteiro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468.099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Filtro ELSI-Brasil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municípios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fora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= 0 (massas d'água)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−1.736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população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SIGILOSO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ou V00001 suprimidos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denominador calculável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COLETIVO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= 0 com população &gt; 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 vazia — ver limitações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(Dados_sig = OK)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SITUACAO = Urbana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2.173 setores rurais elegíveis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rural, conferida município a município.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municípios perdem mais de 10% dos setores e 7 ficam com menos de 10. Isso afeta a estabilidade das descritivas municipais e consta das limitações.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92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Correção: massas d'água.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1.736 setores sem população apareciam como SIGILOSO porque o sigilo era testado antes da população zero. Ordem invertida — nenhum setor OK mudou.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do IVS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distribuições, outliers e dados faltantes.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— fórmulas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Adaptadas do IVS-BH 2012 ao Censo 2022. Denominador domiciliar padrão: V00001.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881360" cy="234086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… V00118 (fonte alternativa)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… V00316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… V00402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(direto)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consolidado.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V00001 substituiu V01042, que era contagem de PESSOAS. Nenhuma proporção estoura 1,0.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17720" y="44714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61772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corrigido.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é V00901 / (V00900 + V00901). Antes era V00901/V00900, que é razão, não taxa.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não reprodutíveis.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agregados. Substituídos por proxies declarados.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 lado a lado — a distância entre elas mede a assimetria.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descritivas_globais.csv.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179576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37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três das sete a mediana é zero: água, esgoto e lixo não têm inadequação medida na maioria dos setores urbanos. Os dois números que abrem as seções seguintes são o n do analfabetismo e a assimetria da renda.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em seis das sete.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descritivas_por_regiao.csv.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4.488,14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setores: cada setor pesa igual, independentemente de quantos domicílios tem.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esperado, confirmado.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no Norte é dezesseis vezes a do Sul; o esgoto, oito vezes. A razão de moradores acompanha: 3,19 no Norte contra 2,53 no Sul.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que importam.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pico no Nordeste, não no Norte. E o lixo inadequado é MAIOR no Nordeste e no Sudeste que no Norte — indício de que mede porte urbano.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Histogramas sobre os setores urbanos elegíveis.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1389888"/>
            <a:ext cx="745236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banco_de_dados/eda/figuras/histogramas.png — gerada pela célula step8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 das sete componentes, região a região.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boxplots_por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89888"/>
            <a:ext cx="6757416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banco_de_dados/eda/figuras/boxplots_por_regiao.png — célula step9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mediana e o primeiro quartil são zero, o IQR marca como atípico todo setor com qualquer inadequação.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pela regra do IQR.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outliers.csv.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1795760" cy="27797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IQR serve?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18,37%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2,479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3,49%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1.752,475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9.460,850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10.468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10,06%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superior = q3 + 1,5 × (q3 − q1), a regra de Tukey.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falha.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Água, esgoto e lixo têm cerca de 20% dos setores classificados como outlier. O que a regra está marcando é a forma da distribuição, não uma cauda de casos extremos.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funciona.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moradores, analfabetismo, renda e cor/raça têm distribuições com dispersão real — ali a regra identifica extremos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das sete componentes têm cobertura praticamente total. O problema está concentrado em 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figuras/missing_por_municip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3429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54533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709160" y="1600200"/>
            <a:ext cx="6812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que concentra o problema.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pct_analfab tem 15,9% dos setores sem dado — 16.552 no recorte urbano. As outras seis componentes ficam todas abaixo de 0,05% de ausentes, ou seja, cobertura praticamente total.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35570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709160" y="3611880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não é aleatório.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ou seja, nos setores de melhor situação socioeconômica. A tabela seguinte mostra a dependência com o porte do setor, que é a prova do mecanismo.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banco_de_dados/eda/figuras/missing_por_municipio.png — célula step11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depende do porte do setor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de que a supressão não é aleatória — e de que o viés tem direção conhecida.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depende do porte do setor.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auditoria_analfabetismo_v00900_bins.csv.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21408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alfabetizadas no setor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V00901 sigilosa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sigilo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1-10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11-50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51-100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101-200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11.061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201-500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62.736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10.801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501-1000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1000+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755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44,09% nos setores menores a 3,33% nos maiores — a supressão não é aleatória.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10634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permite afirmar.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setores excluídos são os de menor analfabetismo, a média observada é um TETO. E como o IBGE reporta os zeros, o valor suprimido é ≥ 1 — o que fecha o intervalo: a média verdadeira está entre 3,14% e 3,64%.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de associação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ampliada para dez variáveis, e o que ela decide.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— agora com dez variáveis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idosos de 60+, menores de 5 anos e chefia feminina entram na matriz.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44752"/>
            <a:ext cx="1115568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preta separa as 7 componentes do IVS das 3 descritivas. Elas não entram no índice — estão na matriz para decidir se deveriam.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matriz decidiu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interessa: alguma das três descritivas merece entrar no índice?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descritiva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|r| com o IVS-7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|r|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pct_resp_feminino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−0,299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carrega eixo próprio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−0,517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−0,541 com cor/raça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a candidata.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|r| de 0,133 contra as sete componentes. Ela mede algo que nenhuma variável do índice captura — e é esse o argumento para promovê-la.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32826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92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Idosos e crianças são espelhos.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−0,722 entre si: são os dois lados da mesma estrutura etária. Colocar as duas no índice contaria a mesma coisa duas vezes.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correlacionam-se entre si a −0,81, −0,76 e +0,63. Pesos iguais dariam três votos à mesma dimensão latente sem que isso fosse escolha deliberada.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sob auditoria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de agosto convergem aqui, do caso isolado à decisão de escala.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abriu o assunto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com renda média declarada de R$ 170.418,06 por responsável.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CD_SETOR 310620005650366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48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R$ 170.418,06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 · bairro Senhor dos Passos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CD_TIPO = 1 — Favela e Comunidade Urbana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 domicílios · 518 pessoas · 31 analfabetos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041648"/>
            <a:ext cx="5120640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rot="21300000">
            <a:off x="649224" y="2066544"/>
            <a:ext cx="3127248" cy="731520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 flipV="1">
            <a:off x="3776472" y="2432304"/>
            <a:ext cx="310896" cy="18288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087368" y="21396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 5,26 contra 0,78 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média puxada por poucos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renda alta.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 mil × 186 domicílios daria R$ 31,7 milhões por mês circulando numa favela de 186 casas. O perfil do setor não sustenta esse valor.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099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próprio IBGE responde.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traz V06005, a variância. Aqui o CV é 5,26 contra mediana nacional de 0,78. Se fosse vírgula fora do lugar, o CV seria da ordem de 526 — a média está sendo puxada por poucas declarações.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banco_de_dados/eda/atualizada/renda_outliers_rastreados.csv — 3.357 setores, um por linha, com identificação completa.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separamos erro de dado de renda alta de verdade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decisões de método fizeram a classificação funcionar.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detecção é por município, não global.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é intraurbano. R$ 20 mil é comum em São Paulo e anômalo em Autazes. Um corte global mede a distância ENTRE cidades, que não é o objeto.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Extremo suspeito ≠ extremo alto.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levanta suspeita não é o valor, é a INCOERÊNCIA: setor no topo da renda local que também é favela, ou tem analfabetismo e proporção PPI acima da mediana do município.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0440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favela?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R$ 10.131,71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de 65 (32%)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R$ 14.106,20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3.292 (0%)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100.751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96,78%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R$ 2.505,16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749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coluna da direita não valida a regra: ser favela É um dos testes de incoerência, então nenhuma favela pode cair em EXTREMO. O que a regra ainda não pega é erro em bairro rico — São Paulo, R$ 140.172,64, 45× a mediana local, sai como EXTREMO.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análises exploratórias, lado a lado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rodar com e sem os extremos e comparar. O resultado contraria a intuição.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muda ao remover os 65 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4.178,44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2.571,16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4.096,07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-1,94%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-0,4282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quase não muda a estatística.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se movem no máximo 0,0046; o Spearman fica praticamente imóvel. Se o argumento para excluir fosse o efeito na correlação, ele seria fraco.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transformar muda dez vezes mais.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Passar a renda para log leva a correlação com analfabetismo de −0,42 para −0,59, e com cor/raça de −0,68 para −0,81. Dezessete vezes o efeito da exclusão.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exclusão importa de verdade: a escala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é o insumo do índice — e é ali que um valor ruim destrói tudo.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271016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Comprimidos no 1º decil (com)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Ganho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22452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431596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é o caso didático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6817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setores, UM valor ruim, e 81% da cidade colapsa no primeiro decil da escala de renda — a variável deixa de discriminar dentro da cidade, que é exatamente o que o índice precisa que ela faça. 23 dos 63 municípios avaliados têm ao menos um suspeito.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alta está mesmo nos setores pequenos?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supunha que sim. O valor não depende do tamanho; a suspeita depende.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renda_tamanho_do_se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1444752"/>
            <a:ext cx="80010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não depende do tamanho.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entre nº de domicílios e renda: −0,031. O maior valor da base (R$ 140.172,64, São Paulo) está num setor de 78 domicílios, não num pequeno.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a SUSPEITA depende, e muito.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0,265% de suspeitos nos setores até 50 domicílios contra 0,045% nos de 201–400: seis vezes mais. O coeficiente de variação cai de 1,11 para 0,90.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e Norte: dois fenômenos com o mesmo rótulo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olhar os outliers de renda nessas duas regiões.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 ÷ 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tem os extremos absolutos.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valor do país está lá: 51,3 vezes a mediana da própria região. Mas a taxa de suspeita é baixa — 0,042%.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4242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92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Norte tem 26 vezes a taxa do Sul.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é a distribuição tão comprimida na base que qualquer setor de classe média já destoa, e não uma concentração maior de ricos. Assimetria 6,15, a maior do país.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da renda em cada uma das 70 cidades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boxplot ou histograma por cidade, para conferir os valores destoantes.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renda_boxplot_por_c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34440"/>
            <a:ext cx="224028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6002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painéis por região.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cidades num único boxplot passa do limite de categorias legíveis. Os painéis mantêm as cidades comparáveis dentro da região.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escala logarítmica.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assimetria 3,74, em escala linear 60 das 70 caixas colapsam contra a margem esquerda e nada se distingue.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5111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5166360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caixas neutras.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região já está codificada pelo painel. A única cor é o vermelho dos suspeitos.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29260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65 setores suspeitos aparecem em vermelho, cidade a cidade. Belo Horizonte, Belém e Salvador concentram os casos mais graves. A figura em tamanho cheio está em banco_de_dados/eda/figuras/renda_boxplot_por_cidade.png.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Habitação, banheiro, chefia feminina, envelhecimento, morfologia e saneamento — fora do índice, dentro da análise.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região a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no mesmo recorte — o que a versão anterior deste deck não garantia.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habitacao_precaria · inadequacao_banheiro · resp_feminino · tipo_domicilio (por_regiao).</a:t>
            </a:r>
            <a:endParaRPr lang="en-US" sz="9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improvisados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exclusivo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setores, todas no mesmo recorte — o que a versão anterior deste deck não garantia.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Precariedade tem geografias distintas.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(0,65% no total) concentra-se no Centro-Oeste e no Sudeste — é metropolitana, não rural do Norte.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1772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segue o padrão do saneamento.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exclusivo: 0,23% no total, e a pior situação é no Norte.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58200" y="5550408"/>
            <a:ext cx="3383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maioria.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 das chefias no recorte urbano, com pico no Nordeste.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e envelhecimento — os dois blocos que sumiram do deck anterior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existem como tabela desde junho.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 populacional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indicadores_envelhecimento_por_regiao.csv.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(milhões)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Menores de 15 anos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 anos ou mais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(IEP)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(RDI)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2569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= 60+ ÷ menores de 15 × 100, conforme Galvão et al. (Hygeia, 2025).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— índice de envelhecimento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1188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1188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 — razão de dependência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44652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16,65%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anos ou mais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81160" y="4919472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9281160" y="4992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28116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registrada: o IEP usava só a faixa de 0 a 4 anos no denominador e dava 299. Com o denominador correto — menores de 15 anos, conforme Galvão et al. — dá 92,7.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 urbana: o que NÃO é casa. Percentual sobre domicílios, não sobre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9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morfologia_v00048_v00058_por_regiao.csv.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3,794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Cortiço/casa de cômodos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Maloca indígena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permanente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Tenda/barraca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estabelecimento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Abrigo natural/outras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em logradouro público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não-residencial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Veículo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5961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sobre domicílios (V00001 + V00002), não sobre setores.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— um eixo que o IVS não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testar V00199 a V00201 e calcular a proporção sem água encanada.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10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agua_canalizada_por_regiao.csv.</a:t>
            </a:r>
            <a:endParaRPr lang="en-US" sz="9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casa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no terreno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chega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canalização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Suprimido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27024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 sobre domicílios. "Suprimido" é a parcela que o sigilo tira de V00200 e V00201.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conceito diferente do que já estava no IVS.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pct_agua_inad (V00112–V00118) mede a FONTE: poço, nascente, carro-pipa, rio. A trinca nova mede a ENTREGA. Um domicílio com rede geral pode receber água só no terreno. Spearman entre os dois: 0,459.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partição fecha, e isso virou auditoria.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+ V00200 + V00201 = V00001 em 100,00% dos 81.270 setores em que as três estão presentes. O teste roda a cada execução da suíte.</a:t>
            </a:r>
            <a:endParaRPr lang="en-US" sz="12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complemento que recupera 21,9% dos setores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quantidade medida por outro caminho, com um vigésimo dos ausentes.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82496"/>
            <a:ext cx="512064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(V00200 + V00201) / V00001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setores ficam sem valor. V00200 e V00201 são contagens pequenas — e é a contagem pequena que o IBGE suprime.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682496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4652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V00199 / V00001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é contagem grande — o IBGE quase nunca a sigila. Como a trinca fecha, o complemento devolve o mesmo valor.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ressalva que precisa constar do artigo.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identidade só é VERIFICÁVEL onde as três variáveis estão presentes. Nos setores com V00200 ou V00201 sigilosos, aplicá-la é extrapolação — justificada porque a partição é definida pelo IBGE, mas é suposição, não medição. Registrada no GUIA §6.2.9 e coberta por teste.</a:t>
            </a:r>
            <a:endParaRPr lang="en-US" sz="12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11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cobertura_por_regiao.csv.</a:t>
            </a:r>
            <a:endParaRPr lang="en-US" sz="9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124712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 100% 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três juntos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14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72,90%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100% adequada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47472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47472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100% adequado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7220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7220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100% adequado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69680" y="4507992"/>
            <a:ext cx="25146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86968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41,60%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86968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juntos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598932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41,60% dos setores têm os três serviços integralmente adequados. Contando a caçamba de serviço de limpeza como coleta, o lixo sobe de 61,70% para 91,50% — a diferença é o efeito da decisão metodológica sobre V00398.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basta saber quantos setores têm inadequação: importa quanto.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12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saneamento_categorias_por_regiao.csv.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9651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30,8% dos setores têm metade ou mais dos domicílios com água inadequada — contra 11,8% em situação totalmente adequada. No Sul e no Centro-Oeste a distribuição se inverte por completo.</a:t>
            </a:r>
            <a:endParaRPr lang="en-US" sz="12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oficial, a validação do critério e a comparação com o resto da cidade.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 localizada e a validação do critério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conferir um relatório do IBGE sobre vilas e favelas do Censo 2022.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IBGE. Censo Demográfico 2022: Favelas e Comunidades Urbanas — Resultados do universo. Rio de Janeiro, 2024. 171 p. Definição e os quatro critérios transcritos na seção 14.2 do relatório.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109.032 setores da base completa, 19.507 estão na lista oficial — e são exatamente os 19.507 com CD_TIPO = 1. Zero falso positivo, zero omissão. No recorte de análise são 19.452, 18,68% dos 104.108. O campo NM_FCU não serve de critério: diverge em 25 setores, nenhum deles na lista oficial.</a:t>
            </a:r>
            <a:endParaRPr lang="en-US" sz="12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632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(IBGE 2024)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12.348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16.390.815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10.069.994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6.556.998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3.443.687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371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89204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limitação que a fonte revelou — nota 7, página 75.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das 12.348 FCU classificadas, o IBGE identificou 2.298 FCU com 21 a 50 domicílios que NÃO receberam setor censitário próprio. Como nosso critério é CD_TIPO = 1, as favelas pequenas são invisíveis na base: a comparação favela × resto da cidade erra nos dois sentidos.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vezes o valor médio no setor de favela supera o de fora.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13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favelas_fcu_comparativo_indicadores.csv.</a:t>
            </a:r>
            <a:endParaRPr lang="en-US" sz="9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93392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 medias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68652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1.600,946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4.779,659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17139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77866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iep_setor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55,159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83782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7470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médias abaixo de 1 significa valor MENOR em favela — é o caso da renda, do apartamento e do índice de envelhecimento.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nacional: os mesmos indicadores sobre os 468 mil setores do país.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14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Brasil urbano × ELSI-70 urbano. Fonte: nacional/comparativo_brasil_vs_elsi.csv.</a:t>
            </a:r>
            <a:endParaRPr lang="en-US" sz="9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agregada: soma dos numeradores ÷ soma dos denominadores em cada recorte. ATENÇÃO: esta é a ÚNICA tabela do deck que usa a renda COM o extremo de BH (R$ 4.187,41, e não R$ 4.185,81). A linha de base nacional é calculada sobre os 468 mil setores do país, onde o setor também está — excluí-lo só do lado do ELSI quebraria a comparação. Aplicar a exclusão aos dois lados é decisão de método, ainda em aberto.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é menos vulnerável que o Brasil urbano.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seis dos sete indicadores o recorte ELSI está melhor. O esgoto é o contraste mais forte: 0,080 contra 0,155 — quase metade.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 rot="21300000">
            <a:off x="9326880" y="4169664"/>
            <a:ext cx="1371600" cy="329184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 flipV="1">
            <a:off x="10698480" y="4334256"/>
            <a:ext cx="137160" cy="630936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183880" y="3593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acima de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exceção é o lixo, e ela é diagnóstica.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variável em que o ELSI está PIOR (razão 1,21). Reforça a hipótese de que o indicador captura porte urbano — a caçamba é mais comum em cidade grande.</a:t>
            </a:r>
            <a:endParaRPr lang="en-US" sz="12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processo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base não permite afirmar, o que foi corrigido e o que vem agora.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— limitação aceita e quantificada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aceitar a limitação, e ainda assim medir o tamanho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incide nos setores RICOS.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na melhor situação socioeconômica. Renda mediana de R$ 6.092,84 nos setores sem o dado, contra R$ 2.313,89 nos que têm. E 30,8% de população preta, parda ou indígena contra 60,6%.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a média observada é um TETO.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excluídos são os de menor analfabetismo, a média sobre os 87.556 setores com dado superestima a amostra completa. E como o IBGE reporta os zeros — 9.268 setores declaram V00901 = 0 — o valor suprimido é ≥ 1, o que fecha o intervalo pelo outro lado.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32004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sem o dado (15,9%)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2004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4340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3,14% – 3,64%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340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média verdadeira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3611880"/>
            <a:ext cx="39319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909560" y="3685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 p.p.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90956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largura da faixa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ponto percentual de largura — estreito o bastante para nenhuma conclusão do estudo depender de qual ponto se adote. Nenhuma imputação serve: preencher com zero achata o gradiente nas áreas menos vulneráveis; imputar pela mediana municipal transfere aos setores ricos o perfil dos pobres.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completa em docs/relatorios/Relatorio_EDA_Fase3_IVS_ELSI.md, seção 14.1. Decisão registrada no GUIA §6.2.6.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limitações da análise exploratória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registradas na seção 14 do relatório da EDA.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Falácia ecológica.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medidas são agregadas por setor. Nada aqui autoriza inferência sobre indivíduos (Lima-Costa &amp; Barreto, 2003).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 seletivo do analfabetismo.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15,9% dos setores sem o dado, concentrados nos setores ricos. Média verdadeira entre 3,14% e 3,64%.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pequenas invisíveis.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2.298 FCU de 21 a 50 domicílios não receberam setor próprio. A comparação favela × cidade erra nos dois sentidos.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92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pequenos após o filtro urbano.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perdem mais de 10% dos setores; 7 ficam com menos de 10.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componentes não reprodutíveis.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 por setor.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é descritiva.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inferência ou teste de hipótese foi conduzido. As correlações são exploratórias.</a:t>
            </a:r>
            <a:endParaRPr lang="en-US" sz="12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correções desta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apareceu num teste ou numa conferência de números.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estava errado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foi pego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tabela regional de água somava as duas parcelas sigilosas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 automatizado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passou a usar o complemento; a massa suprimida virou coluna publicada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trazia banheiro e apartamento de outro recorte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auditoria número a número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números passaram a ser lidos das tabelas em tempo de build, com o recorte carimbado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"A premissa da demanda 2 não se confirma"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olhar a variável certa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taxa de suspeita é 6× maior em setor pequeno; só o valor não depende do tamanho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GUIA e README diziam que o NB02 não importava o módulo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varredura da documentação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três afirmações obsoletas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Ordenação instável na auditoria do analfabetismo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byte a byte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desempate por nome; a tabela deixou de mudar a cada execução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Numeração de seções colidindo no GUIA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conferência após inserção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renumerado; quatro referências cruzadas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2064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segunda linha é sobre esta apresentação: a primeira versão dela tinha números digitados à mão, e três vieram do recorte errado. Agora o gerador lê os CSVs — nenhum valor é digitado.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agosto, uma a uma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Identificar todos os outliers de renda, com cidade, setor e se é favela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atualizada/renda_outliers_rastreados.csv — 3.357 setores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Duas EDAs, com e sem os outliers, e a comparação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renda_eda_com_vs_sem · renda_correlacao_com_vs_sem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Rastrear rendas exorbitantes em setores pequenos, à mostra na EDA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renda_setores_pequenos.csv · figura renda_tamanho_do_setor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Boxplot ou histograma por cidade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figura renda_boxplot_por_cidade — 70 cidades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 de renda no Sudeste e Norte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renda_extremos_por_regiao.csv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do IBGE sobre vilas e favelas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 — 171 páginas + planilha por setor; validação de 100%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Aceitar a limitação do analfabetismo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seção 14.1 · GUIA §6.2.6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Focar nas pendências de renda e propor mais estudos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quatro estudos propostos; ver próximos passos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EDA central reunindo tudo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apresentação — 12 blocos de tabela e 6 figuras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Ampliar a matriz de correlação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10×10 · NB02 célula step12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V00199 a V00201 e a proporção sem água encanada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NB02 seção 7h · três CSVs · GUIA §6.2.9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Planejar a análise fatorial em Python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pronto; execução não iniciada por decisão sua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estes números são confiáveis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é reexecutável do zero, e o que ela afirma é verificado por teste.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7472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passando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7220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em eda/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86968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CSVs sem código-fonte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testadas contra dados sintéticos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conferido com valores redondos calculáveis na mão — safe_div, denominador do analfabetismo, complemento da água, classificação de renda.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 conferidos contra os valores publicados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4096512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testes leem os CSVs gerados e verificam contagens exatas: 109.032 setores, 70 municípios, 106.281 elegíveis, 104.108 urbanos, 19.507 de favela.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8097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Refatorações provadas neutras antes de valer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4809744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fazer o Notebook 01 ler do módulo, a base nova foi comparada com a anterior: 67 colunas comuns, zero diferenças, mesmos 109.032 setores.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5522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deck é gerado por script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5522976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scripts/eda_central_dados.py lê as tabelas e emite o JSON; o gerador só formata. Nenhum número é digitado, e cada tabela carrega o recorte de origem.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dos pesos do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Submetida a um conselho de cinco análises independentes, com revisão cega entre elas.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 60/40 da literatura, e tratar o peso como análise de sensibilidade — não como decisão central.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não é a alavanca.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renda, cor/raça e analfabetismo colineares a 0,76–0,81, qualquer esquema razoável produz quase o mesmo ranking.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 esconde a decisão do lixo.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correlações de 0,10 a 0,20, pct_lixo_inad carrega sozinho ou em lugar nenhum — e a escolha do que fazer volta a ser manual.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58200" y="28803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assimétrico de errar.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60/40 é citável e reversível. A fatorial exige imputar 15,9% de faltantes não aleatórios e defender tudo sozinho.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revisão acrescentou.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mexe mais no ranking do que qualquer peso — e ninguém testou. Debater 60/40 sobre uma escala arbitrária por município é otimizar o parâmetro errado.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próximo passo que fecha a questão.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IVS três vezes — 60/40, pesos iguais e 50/50 — e reportar a correlação de Spearman entre os rankings. Acima de 0,95, uma tabela responde a pergunta.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agora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min-max por município, com a renda invertida e transformada. É a decisão que o conselho apontou como dominante sobre o peso.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32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dos pesos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calculado com 60/40, pesos iguais e 50/50; Spearman entre os rankings. Resultado publicável em uma tabela.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 — fatorial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3374136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pronto: transformar a renda, decidir os 16.552 setores sem analfabetismo, KMO e Bartlett, número de fatores, varimax. Execução aguardando decisão.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de renda propostos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4215384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relativa à mediana municipal como indicador; desigualdade intraurbana por Gini ou p90/p10; renda × favela sistematizada.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93208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das limitações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056632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escrever falácia ecológica, viés de sobrevivência e institucionalizados — que não saem pela classe COLETIVO, vazia na base, e sim porque entram em v0001 sem entrar em V00001. A do analfabetismo e a das favelas já estão prontas.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Iniciação Científica  ·  Fiocruz Minas — Instituto René Rachou  ·  agosto de 2026</a:t>
            </a:r>
            <a:endParaRPr lang="en-US" sz="11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extremo de renda, por dentro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da orientação, levada até onde ela de fato morde: o município do setor.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setor, dois efeitos de tamanhos diferentes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agregado dos 70 municípios ele quase não aparece. Dentro do município dele, aparece muito.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 excluir o setor 310620005650366, por recorte.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banco_de_dados/eda/atualizada/extremo_bh_descritivas.csv · variação percentual ao retirar o setor.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municípios ELSI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vezes maior em BH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18×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-14,34%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19×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Coef. de variação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-13,74%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19×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-73,37%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-17,75%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73752"/>
            <a:ext cx="36576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9469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R$ 170.418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5532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do setor, por responsável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4873752"/>
            <a:ext cx="3657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83480" y="49469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R$ 3.058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983480" y="5532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Belo Horizonte sem ele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89720" y="4873752"/>
            <a:ext cx="21945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189720" y="49469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56×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89720" y="5532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razão entre as duas</a:t>
            </a:r>
            <a:endParaRPr lang="en-US" sz="10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consequência que ninguém tinha medido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normaliza a renda por min-max DENTRO de cada município. Um máximo distorcido comprime todo o resto.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7556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isto importa mais do que a descritiva.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é intraurbano: cada variável é posta numa escala de 0 a 1 usando o mínimo e o máximo DAQUELE município. Se o máximo de Belo Horizonte é R$ 170 mil e o segundo maior é R$ 45.385,44, todos os outros 5 mil setores são empurrados contra o zero — e deixam de se distinguir entre 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34747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31638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0,0222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normalizada média em BH, COM o extremo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347472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09160" y="31638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0,0846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mesma, SEM o extremo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41080" y="3090672"/>
            <a:ext cx="27432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41080" y="3163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a escala se abre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3251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de Belo Horizonte comprimidos contra o zero.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8114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extremo_bh_normalizacao.csv · min-max municipal sobre 5.112 setores.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73752"/>
          <a:ext cx="10634472" cy="91440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o extremo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abaixo de 0,05 na escala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4.514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1.909 setores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usada na normalização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R$ 169.532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R$ 44.500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−74%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extremo e o que ele faz com a escala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renda de Belo Horizonte. À direita, o efeito na normalização municipal.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atualizada/figuras/extremo_b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3032" cy="4123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7150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por setor em Belo Horizonte e a escala normalizada, com e sem o extremo.  Fonte: eda/atualizada/figuras/extremo_bh.png · scripts/eda_extremo_belo_horizonte.py.</a:t>
            </a:r>
            <a:endParaRPr lang="en-US" sz="10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 ampliada, resultado por resultado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Onze demandas da orientadora, respondidas em cenários novos — sem escolher nada por ela.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onze demandas, uma por uma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aponta o cenário ou o arquivo onde a resposta está — nenhuma foi escolhida aqui.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27632"/>
          <a:ext cx="10634472" cy="9144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 a resposta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a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renda_media_mediana_mun; sensibilidade em renda_imputacao_alternativas.csv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Quadro_Indicadores.csv / .xlsx / .md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e com 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cargas.csv e pesos.csv — sem rotação, Varimax e promax lado a lado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Útil × inútil na apresentação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MAPA_APRESENTACAO_FINAL.md; correções no deck e no guia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 com os outros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 S2; comparacao_nao_chega_banheiro.csv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 S4; prova V00238 ≤ V00495 em comparacao_nao_chega_banheiro.csv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Canalização e sem banheiro na grade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S2, S3, S4 em cenarios.csv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"tudo isso"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S6 e S7; postos no município em S6_postos_mun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S5 e S6; MSA, comunalidade e % de zeros em cargas.csv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o 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S1 e S7; lixo_fator_proprio_varimax e lixo_muda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pesos.csv — Varimax e promax (padrão e estrutura) + Φ; figura fa_plano_s6.png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66832" y="601364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ampliada: como as quatro variáveis novas se encaixam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entre o IVS-7 e água não chega, sem canalização, sem banheiro e moradia não convencional.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fatorial_ampliada/figuras/fa_correlacao_ampli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470" y="-109727"/>
            <a:ext cx="4360032" cy="292607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75101AE-A4A3-060A-328B-E6FCA6548A2B}"/>
              </a:ext>
            </a:extLst>
          </p:cNvPr>
          <p:cNvSpPr txBox="1"/>
          <p:nvPr/>
        </p:nvSpPr>
        <p:spPr>
          <a:xfrm>
            <a:off x="8641907" y="1582573"/>
            <a:ext cx="29409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Retirar “Água não chega”</a:t>
            </a:r>
          </a:p>
          <a:p>
            <a:endParaRPr lang="pt-BR" dirty="0"/>
          </a:p>
          <a:p>
            <a:r>
              <a:rPr lang="pt-BR" dirty="0"/>
              <a:t>Retirar “</a:t>
            </a:r>
            <a:r>
              <a:rPr lang="pt-BR" dirty="0" err="1"/>
              <a:t>Domicilios</a:t>
            </a:r>
            <a:r>
              <a:rPr lang="pt-BR" dirty="0"/>
              <a:t> chefiados </a:t>
            </a:r>
          </a:p>
          <a:p>
            <a:r>
              <a:rPr lang="pt-BR" dirty="0"/>
              <a:t>por mulheres”</a:t>
            </a:r>
          </a:p>
          <a:p>
            <a:endParaRPr lang="pt-BR" dirty="0"/>
          </a:p>
          <a:p>
            <a:r>
              <a:rPr lang="pt-BR" dirty="0" err="1"/>
              <a:t>Adcionar</a:t>
            </a:r>
            <a:r>
              <a:rPr lang="pt-BR" dirty="0"/>
              <a:t> “</a:t>
            </a:r>
            <a:r>
              <a:rPr lang="pt-BR" dirty="0" err="1"/>
              <a:t>idoso”e</a:t>
            </a:r>
            <a:r>
              <a:rPr lang="pt-BR" dirty="0"/>
              <a:t> “criança”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A8923AD4-0FED-75B6-6239-62D3AA330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38169"/>
              </p:ext>
            </p:extLst>
          </p:nvPr>
        </p:nvGraphicFramePr>
        <p:xfrm>
          <a:off x="0" y="3224726"/>
          <a:ext cx="1179576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 de cenários, lado a lado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Ajuste, fatores e o que o índice ganha — ou perde — contra a renda sozinha em AUC.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27632"/>
          <a:ext cx="10634472" cy="345643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(Kaiser/Horn)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Varimax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renda sozinha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2/2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1/1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3/3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62,74%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3/3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61,23%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3/2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66,40%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2/2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4/4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3/2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56,63%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fatorial de S6 em três rotações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dois fatores, três formas de olhar: sem rotação, Varimax e promax (matriz padrão).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Users/pedro/Documents/Iniciacao Cientifica/Projeto_IVS_Censo22/banco_de_dados/eda/fatorial_ampliada/figuras/fa_plano_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11274552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7150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variáveis novas (vermelho) e as sete do IVS-7 (verde), em S6.  Fonte: figuras/fa_plano_s6.png · rótulo de cada eixo sai das cargas (achado NB4-08).</a:t>
            </a:r>
            <a:endParaRPr lang="en-US" sz="10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lixo: fator próprio ou dissolvido?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cenário — e quase não se move ao tirar um dos 70 municípios por vez.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forma fator próprio na Varimax, por cenário.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banco_de_dados/eda/fatorial_ampliada/cenarios.csv, coluna lixo_fator_proprio_varimax.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 próprio?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82896"/>
            <a:ext cx="347472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9560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0,6995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5541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do lixo em S0 — o mínimo da grade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4882896"/>
            <a:ext cx="38404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709160" y="4956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70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09160" y="5541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em que tirar 1 município muda se o lixo tem fator próprio (S0)</a:t>
            </a:r>
            <a:endParaRPr lang="en-US" sz="10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municipal: postos dentro do município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o valor bruto pelo posto percentil dentro do próprio município muda o resultado.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com cada variável em posto percentil dentro do próprio município.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validacao_fcu.csv, cenários S0_postos_mun, S1_postos_mun e S6_postos_mun.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índice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renda sozinha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ganha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maior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maior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maior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3986784"/>
            <a:ext cx="347472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0599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4645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em que o índice supera a renda sozinha só com postos municipais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3986784"/>
            <a:ext cx="3657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00600" y="4059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±2,12 p.p.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800600" y="4645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variação do peso F1 (Varimax) ao tirar 1 dos 70 municípios, em S1 e S6</a:t>
            </a:r>
            <a:endParaRPr lang="en-US" sz="10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para a orientadora decidir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foi escolhido aqui — as alternativas estão lado a lado nos CSVs e no Notebook 04b.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renda entra no índice final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original, sem o extremo de Belo Horizonte, ou imputada pela mediana municipal — as três rodadas de referência estão em S0_renda_* e S6_renda_*.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 e qual repartição reportar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rotação, Varimax ou promax; e, na oblíqua, matriz padrão ou matriz estrutura — pesos.csv traz as quatro, sem apontar qual "aproxima" da literatura.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7588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373075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graduada de "sem banheiro"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V00237 (só sanitário ou buraco) exige reextração do NB01; a V00495 usada na grade já é a junção com V00238.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78231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a moradia não convencional na grade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variância baixa e comunalidade fraca (slide da matriz ampliada), mas mostrada e não excluída.</a:t>
            </a:r>
            <a:endParaRPr lang="en-US" sz="12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NB05: a especificação de referência do IVS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 especificações testadas por critérios fixados antes de rodar — a orientadora escolhe, o motor mede.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grade: 324 especificações, 192 elegíveis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critérios fixados antes de rodar (seção 2.2) decidem quem entra na comparação.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24688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especificações — 3 rendas × 2 lixo × 3 banheiro × 9 pesos × 2 normalizações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627632"/>
            <a:ext cx="246888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29000" y="1700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de 324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elegíveis (96 por normalização): KMO, MSA e comunalidade acima do corte, 2 fatores interpretáveis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27632"/>
            <a:ext cx="246888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080760" y="1700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de 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(renda×lixo×banheiro) com ao menos uma especificação elegível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162763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732520" y="1700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0,774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3252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em toda a grade — MSA sempre ≥ 0,643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27249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as demais ficam de fora.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banco_de_dados/eda/ivs_especificacoes/especificacoes.csv.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273552"/>
          <a:ext cx="10634472" cy="914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ou esquema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crítica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(água, esgoto, lixo, moradores, analfabetismo, renda, cor/raça)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0,2535 &lt; 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0,2986 &lt; 0,30 (a 0,0014 do corte)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 (1 fator), as 36 bases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 por 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 0,0588 e 0,2530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as três versões, coladas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Original, sem o extremo de Belo Horizonte e mediana municipal — mesmo desenho, resultado quase idêntico.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especificação (sem lixo, banheiro graduado, promax, 60/40, normalização municipal) — só a renda muda.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especificacoes.csv, colunas auc_mun_comum e posto_medio.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(amostra comum)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médio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principal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 de BH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municipal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39,33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3986784"/>
            <a:ext cx="42062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0,0004 p.p.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46451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diferença entre a maior e a menor AUC municipal, nas três rendas (pontos percentuais)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57800" y="3986784"/>
            <a:ext cx="42062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257800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24,5º / 43,0º / 48,5º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257800" y="46451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 da leitura principal nos três critérios — estabilidade, AUC municipal, parcimônia</a:t>
            </a:r>
            <a:endParaRPr lang="en-US" sz="10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Rotação e pesos: o critério de estabilidade degenera nos pesos fixos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rotação nunca passa; entre Varimax e promax, quem decide é como o peso entre os dois fatores é medido.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32918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de 96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elegíveis (normalização municipal) empatam no critério (a) — pesos fixos, amplitude zero por construção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2918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43400" y="1700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 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4340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8 primeiras posições da leitura principal usam o peso 60/40 da literatura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627632"/>
            <a:ext cx="350215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909560" y="170078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3,58–9,13 p.p.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909560" y="2286000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 do peso de F1 ao tirar 1 dos 70 municípios, métodos que dependem dos dados (IVS-6 sem banheiro)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8163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da leitura principal — fator 1 = 60,0%, fator 2 = 40,0% (peso 60/40 da literatura).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07238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pesos.csv.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364992"/>
          <a:ext cx="10634472" cy="91440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e banheiro: quatro bases elegíveis, duas não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não reprova sozinho; o banheiro decide quem entra — fora, V00495 ou o graduado da Fase 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seis combinações de lixo × banheiro; elegível = alguma rotação/peso passa nos três cortes.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especificacoes.csv, agregado por renda·lixo·banheiro (renda original).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em alguma rotação?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(sem lixo) + fora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+ V00495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+ graduado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(com lixo) + fora — índice do NB04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V00495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graduado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índice acrescenta à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sozinha separa mais no agregado; o índice separa mais dentro do estrato de renda do próprio município.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FCU, na leitura principal — índice, renda sozinha e média de postos, em três recortes.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acrescimo_renda.csv, linha da leitura principal (referencia=True).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sozinha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de postos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municipal (31 municípios)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dos 270 estratos de 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279392"/>
            <a:ext cx="35661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3525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−135,5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4937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 de deviance ao somar o índice à renda na logística (z = 17,5)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4279392"/>
            <a:ext cx="41148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617720" y="435254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0,8900 → 0,8909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617720" y="4937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do modelo logístico, só renda → renda + índice</a:t>
            </a:r>
            <a:endParaRPr lang="en-US" sz="10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referência proposta, e três leituras alternativas dos mesmos critérios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seção 2.2; muda só como medir "estabilidade" e qual amostra usar — muda a proposta.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especificação de melhor posto médio em cada leitura dos critérios (a), (b) e (c).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referencia.csv.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Especificação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médio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principal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lixo_sem · banheiro_graduado · promax · 60_40 · municipal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Amostra própria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lixo_sem · banheiro_v00495 · promax · 60_40 · municipal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Estabilidade por pesos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 · lixo_sem · banheiro_fora · promax · comunalidades · municipal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 · lixo_sem · banheiro_fora · varimax · 60_40 ·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59028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7240" y="4645152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do NB04 (IVS-7 Varimax SS municipal)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0,851 com a proposta; muda de faixa (regra do IVS-BH) 33,0% dos setores.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5102352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proposta, com normalização global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0,940 com a proposta; muda de faixa (regra do IVS-BH) 10,2% dos setores.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5559552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IVS-6 Varimax SS municipal (sem lixo, sem banheiro)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0,995 com a proposta; muda de faixa (regra do IVS-BH) 10,4% dos setores.</a:t>
            </a:r>
            <a:endParaRPr lang="en-US" sz="12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para a orientadora decidir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foi escolhido aqui — as alternativas estão lado a lado no Notebook 05 e nos CSVs desta pasta.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renda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(original, sem extremo, mediana municipal) empatam em AUC municipal até a 4ª casa (diferença real de 0,0004 p.p.) — a escolha é conceitual, não estatística.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de comunalidade 0,30 é rígido?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banheiro graduado com lixo fica a 0,0014 do corte (0,2986) — a regra da seção 2.2, como escrita, não abre exceção de fronteira.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767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medir "estabilidade" no critério (a)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amplitude do peso de F1 (degenera nos pesos fixos, decide pela proposta com 60/40) ou pela amplitude dos pesos das variáveis (muda a proposta para promax·comunalidades).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9194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e faixas  </a:t>
            </a: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ou global — trocar muda de faixa 10,2% dos setores; a regra de faixas usada aqui é a do IVS-BH 2012, com quartis municipais como sensibilidade.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5865</TotalTime>
  <Words>20670</Words>
  <Application>Microsoft Macintosh PowerPoint</Application>
  <PresentationFormat>Widescreen</PresentationFormat>
  <Paragraphs>2763</Paragraphs>
  <Slides>114</Slides>
  <Notes>114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114</vt:i4>
      </vt:variant>
    </vt:vector>
  </HeadingPairs>
  <TitlesOfParts>
    <vt:vector size="119" baseType="lpstr">
      <vt:lpstr>Arial</vt:lpstr>
      <vt:lpstr>Cambria</vt:lpstr>
      <vt:lpstr>Courier New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fatorial e os pesos do IVS — Notebook 04</dc:title>
  <dc:subject>PptxGenJS Presentation</dc:subject>
  <dc:creator>Pedro Dias Soares</dc:creator>
  <cp:lastModifiedBy>Pedro Dias Soares</cp:lastModifiedBy>
  <cp:revision>3</cp:revision>
  <dcterms:created xsi:type="dcterms:W3CDTF">2026-09-17T12:36:58Z</dcterms:created>
  <dcterms:modified xsi:type="dcterms:W3CDTF">2026-10-13T18:18:52Z</dcterms:modified>
</cp:coreProperties>
</file>