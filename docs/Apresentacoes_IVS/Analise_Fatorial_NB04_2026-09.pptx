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4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  <p:sldMasterId id="2147483649" r:id="rId101"/>
    <p:sldMasterId id="2147483649" r:id="rId106"/>
  </p:sldMasterIdLst>
  <p:notesMasterIdLst>
    <p:notesMasterId r:id="rId4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  <p:sldId id="321" r:id="rId72"/>
    <p:sldId id="322" r:id="rId73"/>
    <p:sldId id="323" r:id="rId74"/>
    <p:sldId id="324" r:id="rId75"/>
    <p:sldId id="325" r:id="rId76"/>
    <p:sldId id="326" r:id="rId77"/>
    <p:sldId id="327" r:id="rId78"/>
    <p:sldId id="328" r:id="rId79"/>
    <p:sldId id="329" r:id="rId80"/>
    <p:sldId id="330" r:id="rId81"/>
    <p:sldId id="331" r:id="rId82"/>
    <p:sldId id="332" r:id="rId83"/>
    <p:sldId id="333" r:id="rId84"/>
    <p:sldId id="334" r:id="rId85"/>
    <p:sldId id="335" r:id="rId86"/>
    <p:sldId id="336" r:id="rId87"/>
    <p:sldId id="337" r:id="rId88"/>
    <p:sldId id="338" r:id="rId89"/>
    <p:sldId id="339" r:id="rId90"/>
    <p:sldId id="340" r:id="rId91"/>
    <p:sldId id="341" r:id="rId92"/>
    <p:sldId id="342" r:id="rId93"/>
    <p:sldId id="343" r:id="rId94"/>
    <p:sldId id="344" r:id="rId95"/>
    <p:sldId id="345" r:id="rId96"/>
    <p:sldId id="346" r:id="rId97"/>
    <p:sldId id="347" r:id="rId98"/>
    <p:sldId id="348" r:id="rId99"/>
    <p:sldId id="349" r:id="rId100"/>
    <p:sldId id="350" r:id="rId102"/>
    <p:sldId id="351" r:id="rId103"/>
    <p:sldId id="352" r:id="rId104"/>
    <p:sldId id="353" r:id="rId105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3942"/>
    <p:restoredTop sz="94610"/>
  </p:normalViewPr>
  <p:slideViewPr>
    <p:cSldViewPr snapToGrid="0" snapToObjects="1">
      <p:cViewPr varScale="1">
        <p:scale>
          <a:sx n="156" d="100"/>
          <a:sy n="156" d="100"/>
        </p:scale>
        <p:origin x="184" y="4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notesMaster" Target="notesMasters/notesMaster1.xml"/><Relationship Id="rId46" Type="http://schemas.openxmlformats.org/officeDocument/2006/relationships/presProps" Target="presProps.xml"/><Relationship Id="rId47" Type="http://schemas.openxmlformats.org/officeDocument/2006/relationships/viewProps" Target="viewProps.xml"/><Relationship Id="rId48" Type="http://schemas.openxmlformats.org/officeDocument/2006/relationships/theme" Target="theme/theme1.xml"/><Relationship Id="rId49" Type="http://schemas.openxmlformats.org/officeDocument/2006/relationships/tableStyles" Target="tableStyles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Relationship Id="rId71" Type="http://schemas.openxmlformats.org/officeDocument/2006/relationships/slide" Target="slides/slide65.xml"/><Relationship Id="rId72" Type="http://schemas.openxmlformats.org/officeDocument/2006/relationships/slide" Target="slides/slide66.xml"/><Relationship Id="rId73" Type="http://schemas.openxmlformats.org/officeDocument/2006/relationships/slide" Target="slides/slide67.xml"/><Relationship Id="rId74" Type="http://schemas.openxmlformats.org/officeDocument/2006/relationships/slide" Target="slides/slide68.xml"/><Relationship Id="rId75" Type="http://schemas.openxmlformats.org/officeDocument/2006/relationships/slide" Target="slides/slide69.xml"/><Relationship Id="rId76" Type="http://schemas.openxmlformats.org/officeDocument/2006/relationships/slide" Target="slides/slide70.xml"/><Relationship Id="rId77" Type="http://schemas.openxmlformats.org/officeDocument/2006/relationships/slide" Target="slides/slide71.xml"/><Relationship Id="rId78" Type="http://schemas.openxmlformats.org/officeDocument/2006/relationships/slide" Target="slides/slide72.xml"/><Relationship Id="rId79" Type="http://schemas.openxmlformats.org/officeDocument/2006/relationships/slide" Target="slides/slide73.xml"/><Relationship Id="rId80" Type="http://schemas.openxmlformats.org/officeDocument/2006/relationships/slide" Target="slides/slide74.xml"/><Relationship Id="rId81" Type="http://schemas.openxmlformats.org/officeDocument/2006/relationships/slide" Target="slides/slide75.xml"/><Relationship Id="rId82" Type="http://schemas.openxmlformats.org/officeDocument/2006/relationships/slide" Target="slides/slide76.xml"/><Relationship Id="rId83" Type="http://schemas.openxmlformats.org/officeDocument/2006/relationships/slide" Target="slides/slide77.xml"/><Relationship Id="rId84" Type="http://schemas.openxmlformats.org/officeDocument/2006/relationships/slide" Target="slides/slide78.xml"/><Relationship Id="rId85" Type="http://schemas.openxmlformats.org/officeDocument/2006/relationships/slide" Target="slides/slide79.xml"/><Relationship Id="rId86" Type="http://schemas.openxmlformats.org/officeDocument/2006/relationships/slide" Target="slides/slide80.xml"/><Relationship Id="rId87" Type="http://schemas.openxmlformats.org/officeDocument/2006/relationships/slide" Target="slides/slide81.xml"/><Relationship Id="rId88" Type="http://schemas.openxmlformats.org/officeDocument/2006/relationships/slide" Target="slides/slide82.xml"/><Relationship Id="rId89" Type="http://schemas.openxmlformats.org/officeDocument/2006/relationships/slide" Target="slides/slide83.xml"/><Relationship Id="rId90" Type="http://schemas.openxmlformats.org/officeDocument/2006/relationships/slide" Target="slides/slide84.xml"/><Relationship Id="rId91" Type="http://schemas.openxmlformats.org/officeDocument/2006/relationships/slide" Target="slides/slide85.xml"/><Relationship Id="rId92" Type="http://schemas.openxmlformats.org/officeDocument/2006/relationships/slide" Target="slides/slide86.xml"/><Relationship Id="rId93" Type="http://schemas.openxmlformats.org/officeDocument/2006/relationships/slide" Target="slides/slide87.xml"/><Relationship Id="rId94" Type="http://schemas.openxmlformats.org/officeDocument/2006/relationships/slide" Target="slides/slide88.xml"/><Relationship Id="rId95" Type="http://schemas.openxmlformats.org/officeDocument/2006/relationships/slide" Target="slides/slide89.xml"/><Relationship Id="rId96" Type="http://schemas.openxmlformats.org/officeDocument/2006/relationships/slide" Target="slides/slide90.xml"/><Relationship Id="rId97" Type="http://schemas.openxmlformats.org/officeDocument/2006/relationships/slide" Target="slides/slide91.xml"/><Relationship Id="rId98" Type="http://schemas.openxmlformats.org/officeDocument/2006/relationships/slide" Target="slides/slide92.xml"/><Relationship Id="rId99" Type="http://schemas.openxmlformats.org/officeDocument/2006/relationships/slide" Target="slides/slide93.xml"/><Relationship Id="rId100" Type="http://schemas.openxmlformats.org/officeDocument/2006/relationships/slide" Target="slides/slide94.xml"/><Relationship Id="rId101" Type="http://schemas.openxmlformats.org/officeDocument/2006/relationships/slideMaster" Target="slideMasters/slideMaster2.xml"/><Relationship Id="rId102" Type="http://schemas.openxmlformats.org/officeDocument/2006/relationships/slide" Target="slides/slide95.xml"/><Relationship Id="rId103" Type="http://schemas.openxmlformats.org/officeDocument/2006/relationships/slide" Target="slides/slide96.xml"/><Relationship Id="rId104" Type="http://schemas.openxmlformats.org/officeDocument/2006/relationships/slide" Target="slides/slide97.xml"/><Relationship Id="rId105" Type="http://schemas.openxmlformats.org/officeDocument/2006/relationships/slide" Target="slides/slide98.xml"/><Relationship Id="rId106" Type="http://schemas.openxmlformats.org/officeDocument/2006/relationships/slideMaster" Target="slideMasters/slideMaster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19173024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_rels/notesSlide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_rels/notesSlide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3.xml"/></Relationships>
</file>

<file path=ppt/notesSlides/_rels/notesSlide6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4.xml"/></Relationships>
</file>

<file path=ppt/notesSlides/_rels/notesSlide6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5.xml"/></Relationships>
</file>

<file path=ppt/notesSlides/_rels/notesSlide6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6.xml"/></Relationships>
</file>

<file path=ppt/notesSlides/_rels/notesSlide6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7.xml"/></Relationships>
</file>

<file path=ppt/notesSlides/_rels/notesSlide6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8.xml"/></Relationships>
</file>

<file path=ppt/notesSlides/_rels/notesSlide6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9.xml"/></Relationships>
</file>

<file path=ppt/notesSlides/_rels/notesSlide7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0.xml"/></Relationships>
</file>

<file path=ppt/notesSlides/_rels/notesSlide7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1.xml"/></Relationships>
</file>

<file path=ppt/notesSlides/_rels/notesSlide7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2.xml"/></Relationships>
</file>

<file path=ppt/notesSlides/_rels/notesSlide7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3.xml"/></Relationships>
</file>

<file path=ppt/notesSlides/_rels/notesSlide7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4.xml"/></Relationships>
</file>

<file path=ppt/notesSlides/_rels/notesSlide7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5.xml"/></Relationships>
</file>

<file path=ppt/notesSlides/_rels/notesSlide7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6.xml"/></Relationships>
</file>

<file path=ppt/notesSlides/_rels/notesSlide7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7.xml"/></Relationships>
</file>

<file path=ppt/notesSlides/_rels/notesSlide7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8.xml"/></Relationships>
</file>

<file path=ppt/notesSlides/_rels/notesSlide7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9.xml"/></Relationships>
</file>

<file path=ppt/notesSlides/_rels/notesSlide8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0.xml"/></Relationships>
</file>

<file path=ppt/notesSlides/_rels/notesSlide8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1.xml"/></Relationships>
</file>

<file path=ppt/notesSlides/_rels/notesSlide8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2.xml"/></Relationships>
</file>

<file path=ppt/notesSlides/_rels/notesSlide8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3.xml"/></Relationships>
</file>

<file path=ppt/notesSlides/_rels/notesSlide8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4.xml"/></Relationships>
</file>

<file path=ppt/notesSlides/_rels/notesSlide8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5.xml"/></Relationships>
</file>

<file path=ppt/notesSlides/_rels/notesSlide8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6.xml"/></Relationships>
</file>

<file path=ppt/notesSlides/_rels/notesSlide8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7.xml"/></Relationships>
</file>

<file path=ppt/notesSlides/_rels/notesSlide8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8.xml"/></Relationships>
</file>

<file path=ppt/notesSlides/_rels/notesSlide8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9.xml"/></Relationships>
</file>

<file path=ppt/notesSlides/_rels/notesSlide9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0.xml"/></Relationships>
</file>

<file path=ppt/notesSlides/_rels/notesSlide9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1.xml"/></Relationships>
</file>

<file path=ppt/notesSlides/_rels/notesSlide9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2.xml"/></Relationships>
</file>

<file path=ppt/notesSlides/_rels/notesSlide9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3.xml"/></Relationships>
</file>

<file path=ppt/notesSlides/_rels/notesSlide9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4.xml"/></Relationships>
</file>

<file path=ppt/notesSlides/_rels/notesSlide9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5.xml"/></Relationships>
</file>

<file path=ppt/notesSlides/_rels/notesSlide9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6.xml"/></Relationships>
</file>

<file path=ppt/notesSlides/_rels/notesSlide9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7.xml"/></Relationships>
</file>

<file path=ppt/notesSlides/_rels/notesSlide9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8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Este é o Notebook 04, a última etapa central que faltava. O produto dele não é o IVS — é a estrutura e os pesos. O IVS final é o Notebook 05, depois da normalização por município. Vale abrir dizendo isso, para a expectativa ficar no lugar certo.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ponto desta apresentação não é fechar as decisões. É que elas passam a ser tomadas com número, e o número diz que três delas importam menos do que parecia.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Esta seção é de conferência. Os números são os mesmos de agosto, e o notebook trava se não os reproduzir — é a garantia de que nada se perdeu na reimplementação.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 a orientadora perguntar por que o Bartlett aparece se não informa: porque é convenção da área e a ausência dele seria notada. O que muda é a frase que o acompanha — em vez de apresentá-lo como prova, ele vem com a ressalva do próprio livro.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justificativa é a não-normalidade já documentada: assimetria de 3,42 na água e 3,74 na renda, curtose de 49,5 na renda. O livro não lista Spearman entre as correlações que discute — ele trata de escalas Likert, não de proporções infladas de zero. É preciso justificar uma escolha que a referência não contempla.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Vale conduzir a leitura por três lugares. Primeiro, o retângulo escuro no canto inferior direito: analfabetismo, renda e cor/raça a 0,63, 0,76 e 0,78 — o bloco socioeconômico. Segundo, água e esgoto a 0,41 — o bloco de saneamento, mais fraco. Terceiro, a linha do lixo, que é a mais clara da matriz inteira: 0,10 com a água e −0,05 com a razão de moradores. O livro diz, na p. 16, que já na exploração inicial dá para ter dicas sobre a variável que não vai se comportar bem. Esta é a dica.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Este é um dos três resultados que contrariaram o que os documentos do projeto afirmavam. Foi verificado antes de seguir: a origem do 0,811 está em banco_de_dados/eda/correlacao_spearman.csv, calculado par a par. O guia de leitura do livro da Enap precisa de correção nesse ponto.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Esta é a decisão mais desconfortável do trabalho, e a que mais depende de julgamento. Vale ser explícito com a orientadora: o número de fatores não sai dos dados sozinho.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critério de Kaiser é o mais fraco aqui: a p. 29 registra que ele funciona melhor entre 20 e 50 variáveis, e com comunalidades acima de 0,7. Temos 6 variáveis e comunalidade mínima de 0,380. E a análise paralela de Horn, que é mais robusta, nem está no livro — está em nota de rodapé em Figueiredo. Vale dizer que estamos usando um critério melhor que o da referência.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Apontar para o segundo ponto do painel da direita: ele fica logo ABAIXO da linha do acaso. É a imagem do problema do slide anterior. No painel da esquerda o segundo ponto passa por muito pouco, e o terceiro quase encosta.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Aqui a evidência ficou mais forte do que era em agosto, e por um motivo técnico que vale explicar: ACP e análise fatorial contam variâncias diferentes.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Cuidado com uma armadilha aqui: a regra mecânica de comunalidade do artigo de Figueiredo teria excluído a ÁGUA, não o lixo. A comunalidade não é propriedade da variável, é propriedade da solução. A ordem correta é diagnosticar a estrutura, remover o que é externo ao construto, e só então avaliar comunalidades.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projeto vinha seguindo Figueiredo &amp; Silva (2010). O livro da Enap é posterior, mais rigoroso, e contradiz aquele artigo em três pontos que mudam o que o Notebook 04 faz.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rotação oblíqua produz uma coisa que a ortogonal não pode produzir por construção: a matriz de correlação entre os fatores. Φ = 0,52, positiva e moderada, é exatamente o que a teoria da vulnerabilidade prevê — territórios pobres têm pior saneamento. Isso vira um parágrafo de validação no artigo.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água tem SMC de 0,222: as outras cinco variáveis explicam só 22% da variabilidade dela. É nela que a diferença entre os métodos é maior. Nas de SMC alta — renda 0,735, cor/raça 0,648 — os dois métodos praticamente coincidem. Isso é confirmação de que a implementação está certa, não sinal de problema.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Até este trabalho, a decisão sobre a razão de moradores estava pendente, entre manter por razão teórica e excluir pela regra. A p. 58 dá respaldo bibliográfico para manter, desde que se reporte carga e comunalidade juntas. Deixa de ser ousadia e vira domínio da bibliografia.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Nenhuma variável carrega acima de 0,40 em dois fatores — a estrutura simples do livro está atendida nas duas rotações. Fator 1 é socioeconômico: renda, analfabetismo, cor/raça e densidade. Fator 2 é saneamento: água e esgoto. É a estrutura do IVS-BH 2012, recuperada dos dados.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Este é o slide para mostrar quando a pergunta for "por que tirar o lixo?". No painel da esquerda ele está sozinho no alto, longe de todo o resto — exatamente o que o livro descreve para o item 7 do exemplo dele: "se encontra espacialmente distante dos dois grupos". No painel da direita, sem ele, as seis variáveis se organizam em dois braços: saneamento subindo pelo eixo vertical, socioeconômico avançando pelo horizontal. Os eixos vão de −1 a 1 de propósito, que são os limites do coeficiente de correlação; encolher os eixos para caber os dados faria carga média parecer carga alta.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partir daqui é o resultado. Os três slides seguintes respondem: quais são os pesos, são confiáveis, e o índice que sai deles funciona.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argumento a favor dos pesos empíricos está na p. 71 do livro: os itens contribuem de maneira desigual para o fator, e quanto maior a carga maior a contribuição — o que não acontece nas técnicas mais simples de índice, que pressupõem contribuição igual. Pesos iguais dariam três votos à posição social, porque renda, cor/raça e analfabetismo medem em boa parte a mesma coisa.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bootstrap não está em nenhuma das duas referências; é extensão do projeto. Ele importa porque o livro acusa os índices por média ponderada de serem instáveis entre amostras. A resposta honesta não era discordar, era medir — e a instabilidade não se materializou.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plano previa Spearman acima de 0,97 aqui. Deu 0,924. Nenhum dos dois valores chega ao piso de 0,90 que obrigaria a adotar o escore refinado como índice oficial — então o índice 0–1 continua viável, mas com a ressalva declarada. Esta é a questão técnica mais aberta que sai do Notebook 04.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KMO, comunalidade e variância explicada dizem se as variáveis se organizam. Nenhuma delas diz se o índice acerta. Para isso é preciso um marcador externo — e o projeto tem um.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18.901 setores de FCU contra 68.644 demais, dentro do conjunto completo nas seis variáveis. Se a orientadora perguntar por que não são os 19.452 do recorte: a diferença são os setores de favela que caíram na exclusão por lista, quase toda por sigilo do analfabetismo.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objetivo deste bloco é mostrar o custo, não escolher. Se a orientadora preferir 60/40 pela comparabilidade com o IVS-BH, agora se sabe exatamente o que isso custa: 2.196 setores mudam de faixa. Antes, a escolha seria feita no escuro.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primeira é a renda sem o extremo, que era dívida da 2ª rodada da EDA. A segunda é conceitual e é a mais séria em aberto no projeto inteiro.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resposta é clara: trocar a coluna não muda a estrutura, não muda os pesos e quase não muda a classificação. As cargas batem até a quarta casa decimal. É o resultado que se esperava de um setor em 87 mil, mas ele precisava ser medido, porque a renda é a variável de maior carga do índice e o extremo foi grande o bastante para justificar uma rodada inteira da EDA. Fica registrado que a fatorial pode continuar sobre renda_media sem prejuízo, ou migrar sem custo — a decisão deixa de importar.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ponto que não pode passar batido: a decisão sobre o lixo SE INVERTE entre as duas leituras. Sob a leitura reflexiva, comunalidade de 0,052 manda tirar. Sob a formativa, o lixo é a única variável que cobre destino de resíduo, e tirá-la remove uma faceta do que se quer medir. Não é preciosismo terminológico — é a diferença entre dois índices diferentes.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Esta é uma proposta, não um resultado — e precisa de aval. O que falta é literatura: Bollen &amp; Lennox (1991) é a formulação canônica da distinção, e Diamantopoulos &amp; Winklhofer (2001) e Edwards (2011) completam o núcleo. Nenhum está lido no projeto. Valeria também descobrir se o IVS-BH 2012 e o ISU de Passarelli-Araujo declaram a posição deles — provavelmente não declaram, e isso é comum na área.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Esta seção existe para que a análise seja defensável linha a linha. Álgebra linear escrita à mão precisa disso.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 a orientadora perguntar se não teria sido mais rápido usar uma biblioteca: teria, e o resultado seria o mesmo. O que se ganhou foi poder responder a qualquer pergunta sobre o método sem dizer "a biblioteca faz". Numa iniciação científica isso vale mais do que as horas economizadas.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Vale dizer em voz alta que a coluna da direita é mais curta — em R, cada passo é uma chamada. O projeto escreveu as nove à mão, em 457 linhas de módulo com 9 testes. O passo 7 tem uma armadilha que aparece daqui a três slides: a varimax do R normaliza por padrão e a nossa não.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resultado do projeto é 0,783, que na escala de Friel é a faixa "mediano", bem acima do piso de 0,50 de Hair. Se perguntarem o que o KMO mede em uma frase: se duas variáveis continuam associadas depois de descontar todas as outras, elas têm algo próprio entre si e não um fator comum — e é isso que derruba o KMO.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 a orientadora quiser entender a diferença entre ACP e análise fatorial em uma frase, ela cabe aqui: é o que vai na diagonal da matriz antes de decompor. A ACP põe 1 e usa toda a variância; a análise fatorial põe a comunalidade e usa só a compartilhada. O resto do procedimento é idêntico.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critério da Varimax é maximizar a variância dos quadrados das cargas dentro de cada fator, o que empurra cada carga para perto de 0 ou de 1 — é assim que se obtém a "estrutura simples" de que o livro fala. A armadilha da normalização é o tipo de coisa que faz alguém achar que errou quando só usou o padrão de outra ferramenta.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checagem que precisa acompanhar: numa solução oblíqua uma carga padrão pode passar de 1 sem ser erro, porque é coeficiente de regressão e não correlação — está na p. 22 do livro. Se passar, testa-se a variância residual da variável; negativa, a solução é inadmissível e sugere fatores demais. No nosso caso a maior carga deu 0,999 e a menor variância residual, 0,144.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Vale rodar este bloco na frente dela se houver computador: KMO(R) devolve o global e os individuais de uma vez, e o resultado tem de bater com 0,787 e 0,715 da solução de seis variáveis. Se bater, está provado que as duas implementações concordam no que importa. na.omit é a exclusão por lista — com use = "pairwise.complete.obs" no cor() seria a versão par a par, que é a que NÃO se quer aqui.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bloco do meio é o mais importante deste slide. A varimax do R normaliza por padrão e a nossa não, então rodar principal(rotate = "varimax") dá cargas parecidas mas não idênticas. Para bater número a número é preciso extrair sem rotação e chamar varimax(normalize = FALSE) à parte. Quem não souber disso vai achar que uma das duas implementações está errada.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 linhas 8 e 9 reproduzem em R as duas figuras que esta apresentação mostrou. O plot básico do R faz a Figura 2 do livro em cinco linhas — vale mostrar isso, porque desfaz a impressão de que a figura exigiu ferramenta especial.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Este slide é o que transforma a versão em R de curiosidade em ferramenta: ela vira uma segunda opinião sobre os números do projeto. A convergência entre duas implementações independentes é o argumento mais forte disponível quando não há um valor de referência externo para conferir.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Fechar estas decisões não era papel do notebook. O papel dele era tirá-las do terreno da opinião.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Sugestão de condução: começar pela 2 e pela 5, que são as que têm evidência mais forte e menos custo político. A 4 é a mais delicada, porque os critérios estatísticos e a teoria apontam para lados diferentes. A 6 é a mais técnica e pode ficar para depois do Notebook 03.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limitação de dados faltantes merece destaque: o livro da Enap não discute dados faltantes em nenhuma das 74 páginas. Os exemplos dele são questionários com resposta completa. É lacuna da referência, não descuido do projeto, e o tratamento adequado exigirá literatura que ainda não temos.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Primeira apresentação que reúne a EDA inteira. As anteriores eram recortes: cada deck foi montado em torno da pauta do mês, e o que não estava na pauta caía fora sem aviso.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recomputação foi validada: rodada com a coluna antiga, ela reproduz número a número as tabelas já publicadas. Só depois disso as tabelas novas foram aceitas.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Cinco das sete são fortemente assimétricas à direita, com massa concentrada no zero. A razão de moradores é a única aproximadamente simétrica.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critério global inverte esse retrato: marca 4,61% do Sudeste e só 1,32% do Norte. Dos 3.987 setores marcados pelo critério global, apenas 1.672 coincidem com o municipal.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Apartamento vai de 15,7% no Norte a 36,9% no Sul — é o indicador de morfologia pedido pela orientadora em julho. Cortiço e casa de cômodos concentram-se no Centro-Oeste.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Esgoto inadequado é 4,1 vezes maior em setor de favela; lixo, 2,9 vezes. A razão de moradores difere pouco (1,11), o que é coerente: adensamento domiciliar não é o eixo que separa favela do resto da cidade.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população nacional calculada pela pipeline confere com o número oficial do Censo 2022: 203.080.756.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 cinco revisões cegas escolheram independentemente a mesma resposta como a mais forte. A arbitragem final é da orientação.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Esta análise é posterior à 2ª rodada da EDA. A 2ª rodada mediu o efeito do extremo no AGREGADO dos 70 municípios, onde ele é quase nulo. Faltava medir dentro de Belo Horizonte, que é onde o setor está — e faltava a consequência metodológica, que é a mais séria.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leitura é esta: o efeito de um único setor depende inteiramente do recorte em que se olha. Em 104.096 setores ele move a média em 0,04% e por isso a 2ª rodada concluiu, com razão, que o agregado é robusto. Mas dentro de Belo Horizonte ele derruba o desvio-padrão em 14% e o máximo em 73%. A mediana quase não se move nos dois casos, o que é a assinatura de um outlier: ele desloca média e dispersão, não o centro.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Este é o achado da análise, e ele é metodológico, não descritivo. Um único dado provavelmente errado estava achatando a escala de renda de 1.909 setores de Belo Horizonte — que apareciam como se tivessem renda praticamente idêntica quando não têm. Como o IVS classifica território em quatro faixas, achatar a escala de 37% do município tem consequência direta sobre quem seria apontado como vulnerável. Vale dizer também o que NÃO muda: no ranking dos 70 municípios por renda média, Belo Horizonte continua em 7º e nenhum município troca de posição. O agregado é robusto; o intramunicipal não era.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 painel da esquerda, o extremo nem cabe no quadro: o eixo vai até R$ 30 mil e ele está em R$ 170 mil. No da direita está o argumento inteiro — a distribuição vermelha, com o extremo, é um pico esmagado contra o zero; a verde, sem ele, se espalha e volta a distinguir os setores entre si. É a mesma cidade, medida duas vezes.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theme" Target="../theme/theme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3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4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5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4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5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6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8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9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0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1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2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3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4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5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6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8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image" Target="../media/eda-image-1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59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image" Target="../media/eda-image-1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60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1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image" Target="../media/eda-image-1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62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3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4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image" Target="../media/eda-image-2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65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6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7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8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9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0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1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image" Target="../media/eda-image-2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72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3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image" Target="../media/eda-image-3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74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5.xm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6.xm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7.xml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8.xml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9.xml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0.xml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1.xml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2.xml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3.xml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4.xml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5.xml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6.xml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7.xml"/></Relationships>
</file>

<file path=ppt/slides/_rels/slide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8.xml"/></Relationships>
</file>

<file path=ppt/slides/_rels/slide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9.xml"/></Relationships>
</file>

<file path=ppt/slides/_rels/slide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0.xml"/></Relationships>
</file>

<file path=ppt/slides/_rels/slide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1.xml"/></Relationships>
</file>

<file path=ppt/slides/_rels/slide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2.xml"/></Relationships>
</file>

<file path=ppt/slides/_rels/slide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3.xml"/></Relationships>
</file>

<file path=ppt/slides/_rels/slide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4.xml"/></Relationships>
</file>

<file path=ppt/slides/_rels/slide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5.xml"/></Relationships>
</file>

<file path=ppt/slides/_rels/slide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6.xml"/></Relationships>
</file>

<file path=ppt/slides/_rels/slide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7.xml"/></Relationships>
</file>

<file path=ppt/slides/_rels/slide98.xml.rels><?xml version='1.0' encoding='UTF-8' standalone='yes'?>
<Relationships xmlns="http://schemas.openxmlformats.org/package/2006/relationships"><Relationship Id="rId1" Type="http://schemas.openxmlformats.org/officeDocument/2006/relationships/image" Target="../media/eda-image-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9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1234440"/>
            <a:ext cx="106344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150" kern="0" spc="200" noProof="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INICIAÇÃO CIENTÍFICA · FIOCRUZ MINAS — IRR</a:t>
            </a:r>
            <a:endParaRPr lang="pt-BR" sz="1150" noProof="0" dirty="0"/>
          </a:p>
        </p:txBody>
      </p:sp>
      <p:sp>
        <p:nvSpPr>
          <p:cNvPr id="3" name="Shape 1"/>
          <p:cNvSpPr/>
          <p:nvPr/>
        </p:nvSpPr>
        <p:spPr>
          <a:xfrm>
            <a:off x="777240" y="1627632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4" name="Text 2"/>
          <p:cNvSpPr/>
          <p:nvPr/>
        </p:nvSpPr>
        <p:spPr>
          <a:xfrm>
            <a:off x="777240" y="1783080"/>
            <a:ext cx="106344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4000" b="1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Os pesos do IVS</a:t>
            </a:r>
            <a:endParaRPr lang="pt-BR" sz="4000" noProof="0" dirty="0"/>
          </a:p>
        </p:txBody>
      </p:sp>
      <p:sp>
        <p:nvSpPr>
          <p:cNvPr id="5" name="Text 3"/>
          <p:cNvSpPr/>
          <p:nvPr/>
        </p:nvSpPr>
        <p:spPr>
          <a:xfrm>
            <a:off x="777240" y="2788920"/>
            <a:ext cx="8595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2000"/>
              </a:lnSpc>
              <a:buNone/>
            </a:pPr>
            <a:r>
              <a:rPr lang="pt-BR" sz="1400" noProof="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Análise fatorial dos sete componentes · Censo Demográfico 2022 · 70 municípios do ELSI-Brasil</a:t>
            </a:r>
            <a:endParaRPr lang="pt-BR" sz="1400" noProof="0" dirty="0"/>
          </a:p>
          <a:p>
            <a:pPr marL="0" indent="0">
              <a:lnSpc>
                <a:spcPts val="2000"/>
              </a:lnSpc>
              <a:buNone/>
            </a:pPr>
            <a:r>
              <a:rPr lang="pt-BR" sz="1400" noProof="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a estrutura latente dos dados diz sobre quanto cada indicador deve pesar no índice.</a:t>
            </a:r>
            <a:endParaRPr lang="pt-BR" sz="1400" noProof="0" dirty="0"/>
          </a:p>
        </p:txBody>
      </p:sp>
      <p:sp>
        <p:nvSpPr>
          <p:cNvPr id="6" name="Shape 4"/>
          <p:cNvSpPr/>
          <p:nvPr/>
        </p:nvSpPr>
        <p:spPr>
          <a:xfrm>
            <a:off x="777240" y="5623560"/>
            <a:ext cx="10634472" cy="0"/>
          </a:xfrm>
          <a:prstGeom prst="line">
            <a:avLst/>
          </a:prstGeom>
          <a:noFill/>
          <a:ln w="9525">
            <a:solidFill>
              <a:srgbClr val="C8C6C0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7" name="Text 5"/>
          <p:cNvSpPr/>
          <p:nvPr/>
        </p:nvSpPr>
        <p:spPr>
          <a:xfrm>
            <a:off x="777240" y="5760720"/>
            <a:ext cx="106344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100" noProof="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Pedro Dias Soares  ·  setembro de 2026  ·  87.545 setores completos nas sete variáveis</a:t>
            </a:r>
            <a:endParaRPr lang="pt-BR" sz="1100" noProof="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pt-BR" sz="1000" noProof="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pt-BR" sz="1000" noProof="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pt-BR" sz="2600" b="1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estava em aberto</a:t>
            </a:r>
            <a:endParaRPr lang="pt-BR" sz="2600" noProof="0" dirty="0"/>
          </a:p>
        </p:txBody>
      </p:sp>
      <p:sp>
        <p:nvSpPr>
          <p:cNvPr id="4" name="Text 2"/>
          <p:cNvSpPr/>
          <p:nvPr/>
        </p:nvSpPr>
        <p:spPr>
          <a:xfrm>
            <a:off x="777240" y="969264"/>
            <a:ext cx="97200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300" i="1" noProof="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Quatro decisões travavam o cálculo do índice, e nenhuma tinha número para sustentá-la.</a:t>
            </a:r>
            <a:endParaRPr lang="pt-BR" sz="1300" noProof="0" dirty="0"/>
          </a:p>
        </p:txBody>
      </p:sp>
      <p:sp>
        <p:nvSpPr>
          <p:cNvPr id="5" name="Shape 3"/>
          <p:cNvSpPr/>
          <p:nvPr/>
        </p:nvSpPr>
        <p:spPr>
          <a:xfrm>
            <a:off x="777240" y="1426464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05943062"/>
              </p:ext>
            </p:extLst>
          </p:nvPr>
        </p:nvGraphicFramePr>
        <p:xfrm>
          <a:off x="777240" y="1627632"/>
          <a:ext cx="10634472" cy="2377440"/>
        </p:xfrm>
        <a:graphic>
          <a:graphicData uri="http://schemas.openxmlformats.org/drawingml/2006/table">
            <a:tbl>
              <a:tblPr/>
              <a:tblGrid>
                <a:gridCol w="32918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59943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7548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b="1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Decisão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b="1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O que ela trava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b="1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O que existia antes deste trabalho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20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Critério dos pesos</a:t>
                      </a:r>
                      <a:endParaRPr lang="pt-BR" sz="120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20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Notebooks 04 e 05</a:t>
                      </a:r>
                      <a:endParaRPr lang="pt-BR" sz="120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20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Um argumento: renda, cor/raça e analfabetismo são colineares</a:t>
                      </a:r>
                      <a:endParaRPr lang="pt-BR" sz="120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20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Destino do indicador de lixo</a:t>
                      </a:r>
                      <a:endParaRPr lang="pt-BR" sz="120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20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Composição do índice</a:t>
                      </a:r>
                      <a:endParaRPr lang="pt-BR" sz="120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20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Uma ressalva: é a variável menos correlacionada com as demais</a:t>
                      </a:r>
                      <a:endParaRPr lang="pt-BR" sz="120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20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Política do sigilo no analfabetismo</a:t>
                      </a:r>
                      <a:endParaRPr lang="pt-BR" sz="120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20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Notebook 03</a:t>
                      </a:r>
                      <a:endParaRPr lang="pt-BR" sz="120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20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 constatação de que o sigilo não é aleatório</a:t>
                      </a:r>
                      <a:endParaRPr lang="pt-BR" sz="120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20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Um fator ou dois</a:t>
                      </a:r>
                      <a:endParaRPr lang="pt-BR" sz="120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20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Toda a leitura do índice</a:t>
                      </a:r>
                      <a:endParaRPr lang="pt-BR" sz="120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20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 teoria do IVS-BH 2012 dizia duas dimensões</a:t>
                      </a:r>
                      <a:endParaRPr lang="pt-BR" sz="120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777240" y="4270248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8" name="Text 5"/>
          <p:cNvSpPr/>
          <p:nvPr/>
        </p:nvSpPr>
        <p:spPr>
          <a:xfrm>
            <a:off x="777240" y="4325112"/>
            <a:ext cx="106344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650"/>
              </a:lnSpc>
              <a:buNone/>
            </a:pPr>
            <a:r>
              <a:rPr lang="pt-BR" sz="1250" b="1" noProof="0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mudou.  </a:t>
            </a:r>
            <a:r>
              <a:rPr lang="pt-BR" sz="1250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Todas as quatro continuam sendo decisão da orientação — mas agora cada opção tem o seu custo medido em quantos setores mudam de faixa de risco.</a:t>
            </a:r>
            <a:endParaRPr lang="pt-BR" sz="1250" noProof="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pt-BR" sz="1000" noProof="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pt-BR" sz="1000" noProof="0" dirty="0"/>
          </a:p>
        </p:txBody>
      </p:sp>
      <p:sp>
        <p:nvSpPr>
          <p:cNvPr id="3" name="Text 1"/>
          <p:cNvSpPr/>
          <p:nvPr/>
        </p:nvSpPr>
        <p:spPr>
          <a:xfrm>
            <a:off x="777240" y="2331720"/>
            <a:ext cx="1097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5400" b="1" noProof="0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pt-BR" sz="5400" noProof="0" dirty="0"/>
          </a:p>
        </p:txBody>
      </p:sp>
      <p:sp>
        <p:nvSpPr>
          <p:cNvPr id="4" name="Text 2"/>
          <p:cNvSpPr/>
          <p:nvPr/>
        </p:nvSpPr>
        <p:spPr>
          <a:xfrm>
            <a:off x="1920240" y="2331720"/>
            <a:ext cx="94914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3200" b="1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base aguenta a análise?</a:t>
            </a:r>
            <a:endParaRPr lang="pt-BR" sz="3200" noProof="0" dirty="0"/>
          </a:p>
        </p:txBody>
      </p:sp>
      <p:sp>
        <p:nvSpPr>
          <p:cNvPr id="5" name="Shape 3"/>
          <p:cNvSpPr/>
          <p:nvPr/>
        </p:nvSpPr>
        <p:spPr>
          <a:xfrm>
            <a:off x="777240" y="3273552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6" name="Text 4"/>
          <p:cNvSpPr/>
          <p:nvPr/>
        </p:nvSpPr>
        <p:spPr>
          <a:xfrm>
            <a:off x="1920240" y="3401568"/>
            <a:ext cx="90342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400" i="1" noProof="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Etapa 1 do planejamento, nos termos de Matos &amp; Rodrigues (2019), p. 39–46.</a:t>
            </a:r>
            <a:endParaRPr lang="pt-BR" sz="1400" noProof="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pt-BR" sz="1000" noProof="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pt-BR" sz="1000" noProof="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pt-BR" sz="2600" b="1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Etapa 1 do livro, conferida</a:t>
            </a:r>
            <a:endParaRPr lang="pt-BR" sz="2600" noProof="0" dirty="0"/>
          </a:p>
        </p:txBody>
      </p:sp>
      <p:sp>
        <p:nvSpPr>
          <p:cNvPr id="4" name="Text 2"/>
          <p:cNvSpPr/>
          <p:nvPr/>
        </p:nvSpPr>
        <p:spPr>
          <a:xfrm>
            <a:off x="777240" y="969264"/>
            <a:ext cx="97200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300" i="1" noProof="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Todos os critérios atendidos, dois deles com ressalva a declarar.</a:t>
            </a:r>
            <a:endParaRPr lang="pt-BR" sz="1300" noProof="0" dirty="0"/>
          </a:p>
        </p:txBody>
      </p:sp>
      <p:sp>
        <p:nvSpPr>
          <p:cNvPr id="5" name="Shape 3"/>
          <p:cNvSpPr/>
          <p:nvPr/>
        </p:nvSpPr>
        <p:spPr>
          <a:xfrm>
            <a:off x="777240" y="1426464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6" name="Text 4"/>
          <p:cNvSpPr/>
          <p:nvPr/>
        </p:nvSpPr>
        <p:spPr>
          <a:xfrm>
            <a:off x="777240" y="1627632"/>
            <a:ext cx="106344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100" b="1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Tabela 1 — </a:t>
            </a:r>
            <a:r>
              <a:rPr lang="pt-BR" sz="1100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Critérios de adequabilidade da base, sete componentes, correlação de </a:t>
            </a:r>
            <a:r>
              <a:rPr lang="pt-BR" sz="1100" noProof="0" dirty="0" err="1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Spearman</a:t>
            </a:r>
            <a:r>
              <a:rPr lang="pt-BR" sz="1100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.</a:t>
            </a:r>
            <a:endParaRPr lang="pt-BR" sz="1100" noProof="0" dirty="0"/>
          </a:p>
        </p:txBody>
      </p:sp>
      <p:sp>
        <p:nvSpPr>
          <p:cNvPr id="7" name="Text 5"/>
          <p:cNvSpPr/>
          <p:nvPr/>
        </p:nvSpPr>
        <p:spPr>
          <a:xfrm>
            <a:off x="777240" y="1883664"/>
            <a:ext cx="10634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950" i="1" noProof="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Fonte: </a:t>
            </a:r>
            <a:r>
              <a:rPr lang="pt-BR" sz="950" i="1" noProof="0" dirty="0" err="1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banco_de_dados</a:t>
            </a:r>
            <a:r>
              <a:rPr lang="pt-BR" sz="950" i="1" noProof="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/</a:t>
            </a:r>
            <a:r>
              <a:rPr lang="pt-BR" sz="950" i="1" noProof="0" dirty="0" err="1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eda</a:t>
            </a:r>
            <a:r>
              <a:rPr lang="pt-BR" sz="950" i="1" noProof="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/fatorial/</a:t>
            </a:r>
            <a:r>
              <a:rPr lang="pt-BR" sz="950" i="1" noProof="0" dirty="0" err="1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resumo_adequabilidade.csv</a:t>
            </a:r>
            <a:r>
              <a:rPr lang="pt-BR" sz="950" i="1" noProof="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. Recorte: 87.545 setores completos.</a:t>
            </a:r>
            <a:endParaRPr lang="pt-BR" sz="950" noProof="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62638105"/>
              </p:ext>
            </p:extLst>
          </p:nvPr>
        </p:nvGraphicFramePr>
        <p:xfrm>
          <a:off x="777240" y="2176272"/>
          <a:ext cx="10634472" cy="2545080"/>
        </p:xfrm>
        <a:graphic>
          <a:graphicData uri="http://schemas.openxmlformats.org/drawingml/2006/table">
            <a:tbl>
              <a:tblPr/>
              <a:tblGrid>
                <a:gridCol w="38404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8346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688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9047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2062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00" b="1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Critério do livro (p. 44)</a:t>
                      </a:r>
                      <a:endParaRPr lang="pt-BR" sz="110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00" b="1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Patamar</a:t>
                      </a:r>
                      <a:endParaRPr lang="pt-BR" sz="110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00" b="1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Resultado</a:t>
                      </a:r>
                      <a:endParaRPr lang="pt-BR" sz="110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00" b="1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Situação</a:t>
                      </a:r>
                      <a:endParaRPr lang="pt-BR" sz="110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Tamanho da amostra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&gt; 100 e ≥ 5 por variável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87.545 · 12.506 : 1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atendido com folga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Matriz de correlação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maioria acima de 0,30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57,1%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atendido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KMO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≥ 0,50; ideal a partir de 0,70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0,783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atendido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MSA por variável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≥ 0,50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mínimo 0,700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atendido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Teste de Bartlett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 err="1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</a:t>
                      </a: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 &lt; 0,05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χ² = 235.084 · </a:t>
                      </a:r>
                      <a:r>
                        <a:rPr lang="pt-BR" sz="1150" noProof="0" dirty="0" err="1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</a:t>
                      </a: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 &lt; 0,001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b="1" noProof="0" dirty="0">
                          <a:solidFill>
                            <a:srgbClr val="8C2F27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atendido, mas vazio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777240" y="4864608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10" name="Text 7"/>
          <p:cNvSpPr/>
          <p:nvPr/>
        </p:nvSpPr>
        <p:spPr>
          <a:xfrm>
            <a:off x="777240" y="4919472"/>
            <a:ext cx="106344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650"/>
              </a:lnSpc>
              <a:buNone/>
            </a:pPr>
            <a:r>
              <a:rPr lang="pt-BR" sz="1250" b="1" noProof="0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Bartlett não informa nesta escala.  </a:t>
            </a:r>
            <a:r>
              <a:rPr lang="pt-BR" sz="1250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p. 43 adverte que o teste "depende muito do tamanho amostral e tende a rejeitar a hipótese nula para amostras grandes". Com 87 mil setores ele rejeita por construção. A conclusão de adequabilidade se apoia no KMO e nos MSA, que não crescem com o </a:t>
            </a:r>
            <a:r>
              <a:rPr lang="pt-BR" sz="1250" noProof="0" dirty="0" err="1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</a:t>
            </a:r>
            <a:r>
              <a:rPr lang="pt-BR" sz="1250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.</a:t>
            </a:r>
            <a:endParaRPr lang="pt-BR" sz="1250" noProof="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pt-BR" sz="1000" noProof="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pt-BR" sz="1000" noProof="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pt-BR" sz="2600" b="1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escolha por </a:t>
            </a:r>
            <a:r>
              <a:rPr lang="pt-BR" sz="2600" b="1" noProof="0" dirty="0" err="1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Spearman</a:t>
            </a:r>
            <a:r>
              <a:rPr lang="pt-BR" sz="2600" b="1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é o que torna a análise defensável</a:t>
            </a:r>
            <a:endParaRPr lang="pt-BR" sz="2600" noProof="0" dirty="0"/>
          </a:p>
        </p:txBody>
      </p:sp>
      <p:sp>
        <p:nvSpPr>
          <p:cNvPr id="4" name="Text 2"/>
          <p:cNvSpPr/>
          <p:nvPr/>
        </p:nvSpPr>
        <p:spPr>
          <a:xfrm>
            <a:off x="777240" y="969264"/>
            <a:ext cx="97200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300" i="1" noProof="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 Pearson, a mesma base reprovaria em dois critérios da Etapa 1.</a:t>
            </a:r>
            <a:endParaRPr lang="pt-BR" sz="1300" noProof="0" dirty="0"/>
          </a:p>
        </p:txBody>
      </p:sp>
      <p:sp>
        <p:nvSpPr>
          <p:cNvPr id="5" name="Shape 3"/>
          <p:cNvSpPr/>
          <p:nvPr/>
        </p:nvSpPr>
        <p:spPr>
          <a:xfrm>
            <a:off x="777240" y="1426464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6" name="Text 4"/>
          <p:cNvSpPr/>
          <p:nvPr/>
        </p:nvSpPr>
        <p:spPr>
          <a:xfrm>
            <a:off x="777240" y="1627632"/>
            <a:ext cx="106344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100" b="1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Tabela 2 — </a:t>
            </a:r>
            <a:r>
              <a:rPr lang="pt-BR" sz="1100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Os mesmos setores, as duas correlações.</a:t>
            </a:r>
            <a:endParaRPr lang="pt-BR" sz="1100" noProof="0" dirty="0"/>
          </a:p>
        </p:txBody>
      </p:sp>
      <p:sp>
        <p:nvSpPr>
          <p:cNvPr id="7" name="Text 5"/>
          <p:cNvSpPr/>
          <p:nvPr/>
        </p:nvSpPr>
        <p:spPr>
          <a:xfrm>
            <a:off x="777240" y="1883664"/>
            <a:ext cx="10634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950" i="1" noProof="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Fonte: </a:t>
            </a:r>
            <a:r>
              <a:rPr lang="pt-BR" sz="950" i="1" noProof="0" dirty="0" err="1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resumo_adequabilidade.csv</a:t>
            </a:r>
            <a:r>
              <a:rPr lang="pt-BR" sz="950" i="1" noProof="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. A escolha por </a:t>
            </a:r>
            <a:r>
              <a:rPr lang="pt-BR" sz="950" i="1" noProof="0" dirty="0" err="1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Spearman</a:t>
            </a:r>
            <a:r>
              <a:rPr lang="pt-BR" sz="950" i="1" noProof="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foi decidida na §9 do relatório da EDA.</a:t>
            </a:r>
            <a:endParaRPr lang="pt-BR" sz="950" noProof="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86039137"/>
              </p:ext>
            </p:extLst>
          </p:nvPr>
        </p:nvGraphicFramePr>
        <p:xfrm>
          <a:off x="777240" y="2176272"/>
          <a:ext cx="10634472" cy="2523744"/>
        </p:xfrm>
        <a:graphic>
          <a:graphicData uri="http://schemas.openxmlformats.org/drawingml/2006/table">
            <a:tbl>
              <a:tblPr/>
              <a:tblGrid>
                <a:gridCol w="31089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86791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2062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00" b="1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Critério</a:t>
                      </a:r>
                      <a:endParaRPr lang="pt-BR" sz="110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00" b="1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Pearson</a:t>
                      </a:r>
                      <a:endParaRPr lang="pt-BR" sz="110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00" b="1" noProof="0" dirty="0" err="1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Spearman</a:t>
                      </a:r>
                      <a:endParaRPr lang="pt-BR" sz="110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00" b="1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Leitura</a:t>
                      </a:r>
                      <a:endParaRPr lang="pt-BR" sz="110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KMO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0,732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0,783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sobe dentro da faixa boa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MSA mínimo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0,542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0,700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sai da zona medíocre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Coeficientes |</a:t>
                      </a:r>
                      <a:r>
                        <a:rPr lang="pt-BR" sz="1150" noProof="0" dirty="0" err="1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</a:t>
                      </a: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| ≥ 0,30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33,3%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57,1%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b="1" noProof="0" dirty="0">
                          <a:solidFill>
                            <a:srgbClr val="8C2F27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com Pearson, reprova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Fatores por Kaiser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solução mais parcimoniosa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Variância acumulada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53,6%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62,1%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b="1" noProof="0" dirty="0">
                          <a:solidFill>
                            <a:srgbClr val="8C2F27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só </a:t>
                      </a:r>
                      <a:r>
                        <a:rPr lang="pt-BR" sz="1150" b="1" noProof="0" dirty="0" err="1">
                          <a:solidFill>
                            <a:srgbClr val="8C2F27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Spearman</a:t>
                      </a:r>
                      <a:r>
                        <a:rPr lang="pt-BR" sz="1150" b="1" noProof="0" dirty="0">
                          <a:solidFill>
                            <a:srgbClr val="8C2F27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 cruza os 60%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777240" y="4919472"/>
            <a:ext cx="106344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650"/>
              </a:lnSpc>
              <a:buNone/>
            </a:pPr>
            <a:r>
              <a:rPr lang="pt-BR" sz="1250" b="1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preço.  </a:t>
            </a:r>
            <a:r>
              <a:rPr lang="pt-BR" sz="1250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Decompor uma matriz de </a:t>
            </a:r>
            <a:r>
              <a:rPr lang="pt-BR" sz="1250" noProof="0" dirty="0" err="1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Spearman</a:t>
            </a:r>
            <a:r>
              <a:rPr lang="pt-BR" sz="1250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é fazer análise de componentes principais sobre os POSTOS, não sobre os valores. As cargas se referem a posições relativas. Isso volta a aparecer, com consequência concreta, no slide dos escores.</a:t>
            </a:r>
            <a:endParaRPr lang="pt-BR" sz="1250" noProof="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pt-BR" sz="1000" noProof="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pt-BR" sz="1000" noProof="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pt-BR" sz="2600" b="1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matriz de correlação, as sete variáveis</a:t>
            </a:r>
            <a:endParaRPr lang="pt-BR" sz="2600" noProof="0" dirty="0"/>
          </a:p>
        </p:txBody>
      </p:sp>
      <p:sp>
        <p:nvSpPr>
          <p:cNvPr id="4" name="Text 2"/>
          <p:cNvSpPr/>
          <p:nvPr/>
        </p:nvSpPr>
        <p:spPr>
          <a:xfrm>
            <a:off x="777240" y="969264"/>
            <a:ext cx="97200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300" i="1" noProof="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É a Tabela 1 do livro (p. 15) nos dados do projeto — e ela já mostra a estrutura antes de fatorar.</a:t>
            </a:r>
            <a:endParaRPr lang="pt-BR" sz="1300" noProof="0" dirty="0"/>
          </a:p>
        </p:txBody>
      </p:sp>
      <p:sp>
        <p:nvSpPr>
          <p:cNvPr id="5" name="Shape 3"/>
          <p:cNvSpPr/>
          <p:nvPr/>
        </p:nvSpPr>
        <p:spPr>
          <a:xfrm>
            <a:off x="777240" y="1426464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pic>
        <p:nvPicPr>
          <p:cNvPr id="6" name="Image 0" descr="/Users/pedro/Documents/Iniciacao Cientifica/Projeto_IVS_Censo22/banco_de_dados/eda/fatorial/figuras/nb04_matriz_correlaca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63240" y="1353312"/>
            <a:ext cx="5541264" cy="4416552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777240" y="5852160"/>
            <a:ext cx="106344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050" b="1" noProof="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Figura 1 — </a:t>
            </a:r>
            <a:r>
              <a:rPr lang="pt-BR" sz="1050" noProof="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Matriz-</a:t>
            </a:r>
            <a:r>
              <a:rPr lang="pt-BR" sz="1050" noProof="0" dirty="0" err="1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</a:t>
            </a:r>
            <a:r>
              <a:rPr lang="pt-BR" sz="1050" noProof="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de </a:t>
            </a:r>
            <a:r>
              <a:rPr lang="pt-BR" sz="1050" noProof="0" dirty="0" err="1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Spearman</a:t>
            </a:r>
            <a:r>
              <a:rPr lang="pt-BR" sz="1050" noProof="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, sete componentes, 87.545 setores.  Fonte: figuras/nb04_matriz_correlacao.png, bloco 2 do Notebook 04.</a:t>
            </a:r>
            <a:endParaRPr lang="pt-BR" sz="1050" noProof="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pt-BR" sz="1000" noProof="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</a:t>
            </a:r>
            <a:endParaRPr lang="pt-BR" sz="1000" noProof="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pt-BR" sz="2600" b="1" noProof="0" dirty="0" err="1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Multicolinearidade</a:t>
            </a:r>
            <a:r>
              <a:rPr lang="pt-BR" sz="2600" b="1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: o número que circula é de outra matriz</a:t>
            </a:r>
            <a:endParaRPr lang="pt-BR" sz="2600" noProof="0" dirty="0"/>
          </a:p>
        </p:txBody>
      </p:sp>
      <p:sp>
        <p:nvSpPr>
          <p:cNvPr id="4" name="Text 2"/>
          <p:cNvSpPr/>
          <p:nvPr/>
        </p:nvSpPr>
        <p:spPr>
          <a:xfrm>
            <a:off x="777240" y="969264"/>
            <a:ext cx="97200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300" i="1" noProof="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Achado. A correlação citada nos documentos do projeto não é a da matriz que foi fatorada.</a:t>
            </a:r>
            <a:endParaRPr lang="pt-BR" sz="1300" noProof="0" dirty="0"/>
          </a:p>
        </p:txBody>
      </p:sp>
      <p:sp>
        <p:nvSpPr>
          <p:cNvPr id="5" name="Shape 3"/>
          <p:cNvSpPr/>
          <p:nvPr/>
        </p:nvSpPr>
        <p:spPr>
          <a:xfrm>
            <a:off x="777240" y="1426464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6" name="Shape 4"/>
          <p:cNvSpPr/>
          <p:nvPr/>
        </p:nvSpPr>
        <p:spPr>
          <a:xfrm>
            <a:off x="777240" y="1856232"/>
            <a:ext cx="3200400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7" name="Text 5"/>
          <p:cNvSpPr/>
          <p:nvPr/>
        </p:nvSpPr>
        <p:spPr>
          <a:xfrm>
            <a:off x="777240" y="1929384"/>
            <a:ext cx="3200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3000" b="1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0,784</a:t>
            </a:r>
            <a:endParaRPr lang="pt-BR" sz="3000" noProof="0" dirty="0"/>
          </a:p>
        </p:txBody>
      </p:sp>
      <p:sp>
        <p:nvSpPr>
          <p:cNvPr id="8" name="Text 6"/>
          <p:cNvSpPr/>
          <p:nvPr/>
        </p:nvSpPr>
        <p:spPr>
          <a:xfrm>
            <a:off x="777240" y="2514600"/>
            <a:ext cx="3200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050" noProof="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renda × cor/raça na matriz FATORADA (</a:t>
            </a:r>
            <a:r>
              <a:rPr lang="pt-BR" sz="1050" noProof="0" dirty="0" err="1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listwise</a:t>
            </a:r>
            <a:r>
              <a:rPr lang="pt-BR" sz="1050" noProof="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, 87.545 setores)</a:t>
            </a:r>
            <a:endParaRPr lang="pt-BR" sz="1050" noProof="0" dirty="0"/>
          </a:p>
        </p:txBody>
      </p:sp>
      <p:sp>
        <p:nvSpPr>
          <p:cNvPr id="9" name="Shape 7"/>
          <p:cNvSpPr/>
          <p:nvPr/>
        </p:nvSpPr>
        <p:spPr>
          <a:xfrm>
            <a:off x="4617720" y="1856232"/>
            <a:ext cx="3200400" cy="0"/>
          </a:xfrm>
          <a:prstGeom prst="line">
            <a:avLst/>
          </a:prstGeom>
          <a:noFill/>
          <a:ln w="12700">
            <a:solidFill>
              <a:srgbClr val="8C2F27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10" name="Text 8"/>
          <p:cNvSpPr/>
          <p:nvPr/>
        </p:nvSpPr>
        <p:spPr>
          <a:xfrm>
            <a:off x="4617720" y="1929384"/>
            <a:ext cx="3200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3000" b="1" noProof="0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0,811</a:t>
            </a:r>
            <a:endParaRPr lang="pt-BR" sz="3000" noProof="0" dirty="0"/>
          </a:p>
        </p:txBody>
      </p:sp>
      <p:sp>
        <p:nvSpPr>
          <p:cNvPr id="11" name="Text 9"/>
          <p:cNvSpPr/>
          <p:nvPr/>
        </p:nvSpPr>
        <p:spPr>
          <a:xfrm>
            <a:off x="4617720" y="2514600"/>
            <a:ext cx="3200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050" noProof="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mesmo par na EDA §9 (par a par, 104.108 setores)</a:t>
            </a:r>
            <a:endParaRPr lang="pt-BR" sz="1050" noProof="0" dirty="0"/>
          </a:p>
        </p:txBody>
      </p:sp>
      <p:sp>
        <p:nvSpPr>
          <p:cNvPr id="12" name="Shape 10"/>
          <p:cNvSpPr/>
          <p:nvPr/>
        </p:nvSpPr>
        <p:spPr>
          <a:xfrm>
            <a:off x="8458200" y="1856232"/>
            <a:ext cx="2926080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13" name="Text 11"/>
          <p:cNvSpPr/>
          <p:nvPr/>
        </p:nvSpPr>
        <p:spPr>
          <a:xfrm>
            <a:off x="8458200" y="1929384"/>
            <a:ext cx="2926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3000" b="1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0,800</a:t>
            </a:r>
            <a:endParaRPr lang="pt-BR" sz="3000" noProof="0" dirty="0"/>
          </a:p>
        </p:txBody>
      </p:sp>
      <p:sp>
        <p:nvSpPr>
          <p:cNvPr id="14" name="Text 12"/>
          <p:cNvSpPr/>
          <p:nvPr/>
        </p:nvSpPr>
        <p:spPr>
          <a:xfrm>
            <a:off x="8458200" y="2514600"/>
            <a:ext cx="2926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050" noProof="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limiar de </a:t>
            </a:r>
            <a:r>
              <a:rPr lang="pt-BR" sz="1050" noProof="0" dirty="0" err="1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multicolinearidade</a:t>
            </a:r>
            <a:r>
              <a:rPr lang="pt-BR" sz="1050" noProof="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(livro, p. 42)</a:t>
            </a:r>
            <a:endParaRPr lang="pt-BR" sz="1050" noProof="0" dirty="0"/>
          </a:p>
        </p:txBody>
      </p:sp>
      <p:sp>
        <p:nvSpPr>
          <p:cNvPr id="15" name="Shape 13"/>
          <p:cNvSpPr/>
          <p:nvPr/>
        </p:nvSpPr>
        <p:spPr>
          <a:xfrm>
            <a:off x="777240" y="3264408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16" name="Text 14"/>
          <p:cNvSpPr/>
          <p:nvPr/>
        </p:nvSpPr>
        <p:spPr>
          <a:xfrm>
            <a:off x="777240" y="3319272"/>
            <a:ext cx="10634472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650"/>
              </a:lnSpc>
              <a:buNone/>
            </a:pPr>
            <a:r>
              <a:rPr lang="pt-BR" sz="1250" b="1" noProof="0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Os dois números estão certos, e medem conjuntos diferentes.  </a:t>
            </a:r>
            <a:r>
              <a:rPr lang="pt-BR" sz="1250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da EDA é calculado par a par, cada coeficiente sobre os seus próprios casos completos. O da fatorial é </a:t>
            </a:r>
            <a:r>
              <a:rPr lang="pt-BR" sz="1250" noProof="0" dirty="0" err="1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listwise</a:t>
            </a:r>
            <a:r>
              <a:rPr lang="pt-BR" sz="1250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: só os setores completos nas sete variáveis entram. A diferença vai na mesma direção do viés do sigilo — a base </a:t>
            </a:r>
            <a:r>
              <a:rPr lang="pt-BR" sz="1250" noProof="0" dirty="0" err="1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listwise</a:t>
            </a:r>
            <a:r>
              <a:rPr lang="pt-BR" sz="1250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perde os setores de melhor situação, e isso comprime a associação entre renda e cor/raça.</a:t>
            </a:r>
            <a:endParaRPr lang="pt-BR" sz="1250" noProof="0" dirty="0"/>
          </a:p>
        </p:txBody>
      </p:sp>
      <p:sp>
        <p:nvSpPr>
          <p:cNvPr id="17" name="Text 15"/>
          <p:cNvSpPr/>
          <p:nvPr/>
        </p:nvSpPr>
        <p:spPr>
          <a:xfrm>
            <a:off x="777240" y="4782312"/>
            <a:ext cx="1063447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650"/>
              </a:lnSpc>
              <a:buNone/>
            </a:pPr>
            <a:r>
              <a:rPr lang="pt-BR" sz="1250" b="1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muda.  </a:t>
            </a:r>
            <a:r>
              <a:rPr lang="pt-BR" sz="1250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Nenhum par da matriz efetivamente fatorada cruza o limiar de 0,80. A objeção não desaparece — 0,784 continua alto e o bloco socioeconômico continua coeso —, mas o artigo precisa citar o número da matriz que foi fatorada, e dizer qual é qual.</a:t>
            </a:r>
            <a:endParaRPr lang="pt-BR" sz="1250" noProof="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pt-BR" sz="1000" noProof="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</a:t>
            </a:r>
            <a:endParaRPr lang="pt-BR" sz="1000" noProof="0" dirty="0"/>
          </a:p>
        </p:txBody>
      </p:sp>
      <p:sp>
        <p:nvSpPr>
          <p:cNvPr id="3" name="Text 1"/>
          <p:cNvSpPr/>
          <p:nvPr/>
        </p:nvSpPr>
        <p:spPr>
          <a:xfrm>
            <a:off x="777240" y="2331720"/>
            <a:ext cx="1097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5400" b="1" noProof="0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pt-BR" sz="5400" noProof="0" dirty="0"/>
          </a:p>
        </p:txBody>
      </p:sp>
      <p:sp>
        <p:nvSpPr>
          <p:cNvPr id="4" name="Text 2"/>
          <p:cNvSpPr/>
          <p:nvPr/>
        </p:nvSpPr>
        <p:spPr>
          <a:xfrm>
            <a:off x="1920240" y="2331720"/>
            <a:ext cx="94914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3200" b="1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Quantos fatores reter?</a:t>
            </a:r>
            <a:endParaRPr lang="pt-BR" sz="3200" noProof="0" dirty="0"/>
          </a:p>
        </p:txBody>
      </p:sp>
      <p:sp>
        <p:nvSpPr>
          <p:cNvPr id="5" name="Shape 3"/>
          <p:cNvSpPr/>
          <p:nvPr/>
        </p:nvSpPr>
        <p:spPr>
          <a:xfrm>
            <a:off x="777240" y="3273552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6" name="Text 4"/>
          <p:cNvSpPr/>
          <p:nvPr/>
        </p:nvSpPr>
        <p:spPr>
          <a:xfrm>
            <a:off x="1920240" y="3401568"/>
            <a:ext cx="90342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400" i="1" noProof="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Os critérios discordam — e o livro (p. 28–32) manda usá-los em conjunto justamente por isso.</a:t>
            </a:r>
            <a:endParaRPr lang="pt-BR" sz="1400" noProof="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pt-BR" sz="1000" noProof="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</a:t>
            </a:r>
            <a:endParaRPr lang="pt-BR" sz="1000" noProof="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pt-BR" sz="2600" b="1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Kaiser e Horn não sustentam o segundo fator sem o lixo</a:t>
            </a:r>
            <a:endParaRPr lang="pt-BR" sz="2600" noProof="0" dirty="0"/>
          </a:p>
        </p:txBody>
      </p:sp>
      <p:sp>
        <p:nvSpPr>
          <p:cNvPr id="4" name="Text 2"/>
          <p:cNvSpPr/>
          <p:nvPr/>
        </p:nvSpPr>
        <p:spPr>
          <a:xfrm>
            <a:off x="777240" y="969264"/>
            <a:ext cx="97200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300" i="1" noProof="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 as sete variáveis, os dois critérios retêm dois. Retirado o lixo, retêm um.</a:t>
            </a:r>
            <a:endParaRPr lang="pt-BR" sz="1300" noProof="0" dirty="0"/>
          </a:p>
        </p:txBody>
      </p:sp>
      <p:sp>
        <p:nvSpPr>
          <p:cNvPr id="5" name="Shape 3"/>
          <p:cNvSpPr/>
          <p:nvPr/>
        </p:nvSpPr>
        <p:spPr>
          <a:xfrm>
            <a:off x="777240" y="1426464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6" name="Text 4"/>
          <p:cNvSpPr/>
          <p:nvPr/>
        </p:nvSpPr>
        <p:spPr>
          <a:xfrm>
            <a:off x="777240" y="1627632"/>
            <a:ext cx="106344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100" b="1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Tabela 3 — </a:t>
            </a:r>
            <a:r>
              <a:rPr lang="pt-BR" sz="1100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Autovalores observados contra os de dados aleatórios de mesmo tamanho.</a:t>
            </a:r>
            <a:endParaRPr lang="pt-BR" sz="1100" noProof="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19782174"/>
              </p:ext>
            </p:extLst>
          </p:nvPr>
        </p:nvGraphicFramePr>
        <p:xfrm>
          <a:off x="777240" y="2176272"/>
          <a:ext cx="10634472" cy="2103120"/>
        </p:xfrm>
        <a:graphic>
          <a:graphicData uri="http://schemas.openxmlformats.org/drawingml/2006/table">
            <a:tbl>
              <a:tblPr/>
              <a:tblGrid>
                <a:gridCol w="4023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459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94183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42062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00" b="1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Componente</a:t>
                      </a:r>
                      <a:endParaRPr lang="pt-BR" sz="110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00" b="1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Autovalor (7 var.)</a:t>
                      </a:r>
                      <a:endParaRPr lang="pt-BR" sz="110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00" b="1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Horn</a:t>
                      </a:r>
                      <a:endParaRPr lang="pt-BR" sz="110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00" b="1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Autovalor (6 var.)</a:t>
                      </a:r>
                      <a:endParaRPr lang="pt-BR" sz="110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00" b="1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Horn</a:t>
                      </a:r>
                      <a:endParaRPr lang="pt-BR" sz="110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3,2997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1,0259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3,2391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1,0232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b="1" noProof="0" dirty="0">
                          <a:solidFill>
                            <a:srgbClr val="8C2F27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1,0486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1,0155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b="1" noProof="0" dirty="0">
                          <a:solidFill>
                            <a:srgbClr val="8C2F27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0,9585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1,0119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0,9575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1,0075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0,7048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1,0031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Variância acumulada com 2 fatores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62,1%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70,0%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777240" y="4453128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8" name="Text 7"/>
          <p:cNvSpPr/>
          <p:nvPr/>
        </p:nvSpPr>
        <p:spPr>
          <a:xfrm>
            <a:off x="777240" y="4507992"/>
            <a:ext cx="1063447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650"/>
              </a:lnSpc>
              <a:buNone/>
            </a:pPr>
            <a:r>
              <a:rPr lang="pt-BR" sz="1250" b="1" noProof="0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sustenta o segundo fator, então.  </a:t>
            </a:r>
            <a:r>
              <a:rPr lang="pt-BR" sz="1250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razão teórica. A p. 32 do livro admite explicitamente que a decisão final pode ser teórica, e que a pergunta certa é "teoricamente faz mais sentido essas variáveis estarem agrupadas em quantos fatores?". As duas dimensões vêm do IVS-BH 2012. Isso é uma escolha declarada, não um número escondido.</a:t>
            </a:r>
            <a:endParaRPr lang="pt-BR" sz="1250" noProof="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pt-BR" sz="1000" noProof="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</a:t>
            </a:r>
            <a:endParaRPr lang="pt-BR" sz="1000" noProof="0" dirty="0"/>
          </a:p>
        </p:txBody>
      </p:sp>
      <p:pic>
        <p:nvPicPr>
          <p:cNvPr id="6" name="Image 0" descr="/Users/pedro/Documents/Iniciacao Cientifica/Projeto_IVS_Censo22/banco_de_dados/eda/fatorial/figuras/nb04_scree_hor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88720" y="963386"/>
            <a:ext cx="9811512" cy="420624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777240" y="5897880"/>
            <a:ext cx="106344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050" b="1" noProof="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Figura 2 — </a:t>
            </a:r>
            <a:r>
              <a:rPr lang="pt-BR" sz="1050" noProof="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Quantos fatores reter — observado contra o acaso.  Fonte: </a:t>
            </a:r>
            <a:r>
              <a:rPr lang="pt-BR" sz="1050" noProof="0" dirty="0" err="1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banco_de_dados</a:t>
            </a:r>
            <a:r>
              <a:rPr lang="pt-BR" sz="1050" noProof="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/</a:t>
            </a:r>
            <a:r>
              <a:rPr lang="pt-BR" sz="1050" noProof="0" dirty="0" err="1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eda</a:t>
            </a:r>
            <a:r>
              <a:rPr lang="pt-BR" sz="1050" noProof="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/fatorial/figuras/nb04_scree_horn.png, bloco 3 do Notebook 04.</a:t>
            </a:r>
            <a:endParaRPr lang="pt-BR" sz="1050" noProof="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pt-BR" sz="1000" noProof="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11</a:t>
            </a:r>
            <a:endParaRPr lang="pt-BR" sz="1000" noProof="0" dirty="0"/>
          </a:p>
        </p:txBody>
      </p:sp>
      <p:sp>
        <p:nvSpPr>
          <p:cNvPr id="3" name="Text 1"/>
          <p:cNvSpPr/>
          <p:nvPr/>
        </p:nvSpPr>
        <p:spPr>
          <a:xfrm>
            <a:off x="777240" y="2331720"/>
            <a:ext cx="1097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5400" b="1" noProof="0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pt-BR" sz="5400" noProof="0" dirty="0"/>
          </a:p>
        </p:txBody>
      </p:sp>
      <p:sp>
        <p:nvSpPr>
          <p:cNvPr id="4" name="Text 2"/>
          <p:cNvSpPr/>
          <p:nvPr/>
        </p:nvSpPr>
        <p:spPr>
          <a:xfrm>
            <a:off x="1920240" y="2331720"/>
            <a:ext cx="94914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3200" b="1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caso do indicador de lixo</a:t>
            </a:r>
            <a:endParaRPr lang="pt-BR" sz="3200" noProof="0" dirty="0"/>
          </a:p>
        </p:txBody>
      </p:sp>
      <p:sp>
        <p:nvSpPr>
          <p:cNvPr id="5" name="Shape 3"/>
          <p:cNvSpPr/>
          <p:nvPr/>
        </p:nvSpPr>
        <p:spPr>
          <a:xfrm>
            <a:off x="777240" y="3273552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6" name="Text 4"/>
          <p:cNvSpPr/>
          <p:nvPr/>
        </p:nvSpPr>
        <p:spPr>
          <a:xfrm>
            <a:off x="1920240" y="3401568"/>
            <a:ext cx="90342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400" i="1" noProof="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ressalva de agosto virou medida — e a análise fatorial propriamente dita a reforça.</a:t>
            </a:r>
            <a:endParaRPr lang="pt-BR" sz="1400" noProof="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pt-BR" sz="1000" noProof="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12</a:t>
            </a:r>
            <a:endParaRPr lang="pt-BR" sz="1000" noProof="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pt-BR" sz="2600" b="1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lixo não tem variância comum com o construto</a:t>
            </a:r>
            <a:endParaRPr lang="pt-BR" sz="2600" noProof="0" dirty="0"/>
          </a:p>
        </p:txBody>
      </p:sp>
      <p:sp>
        <p:nvSpPr>
          <p:cNvPr id="4" name="Text 2"/>
          <p:cNvSpPr/>
          <p:nvPr/>
        </p:nvSpPr>
        <p:spPr>
          <a:xfrm>
            <a:off x="777240" y="969264"/>
            <a:ext cx="97200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300" i="1" noProof="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ACP lhe dava um fator próprio. O eixo principal mostra que aquele fator é ruído dele mesmo.</a:t>
            </a:r>
            <a:endParaRPr lang="pt-BR" sz="1300" noProof="0" dirty="0"/>
          </a:p>
        </p:txBody>
      </p:sp>
      <p:sp>
        <p:nvSpPr>
          <p:cNvPr id="5" name="Shape 3"/>
          <p:cNvSpPr/>
          <p:nvPr/>
        </p:nvSpPr>
        <p:spPr>
          <a:xfrm>
            <a:off x="777240" y="1426464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6" name="Shape 4"/>
          <p:cNvSpPr/>
          <p:nvPr/>
        </p:nvSpPr>
        <p:spPr>
          <a:xfrm>
            <a:off x="777240" y="1901952"/>
            <a:ext cx="3108960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7" name="Text 5"/>
          <p:cNvSpPr/>
          <p:nvPr/>
        </p:nvSpPr>
        <p:spPr>
          <a:xfrm>
            <a:off x="777240" y="1975104"/>
            <a:ext cx="3108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3000" b="1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0,859</a:t>
            </a:r>
            <a:endParaRPr lang="pt-BR" sz="3000" noProof="0" dirty="0"/>
          </a:p>
        </p:txBody>
      </p:sp>
      <p:sp>
        <p:nvSpPr>
          <p:cNvPr id="8" name="Text 6"/>
          <p:cNvSpPr/>
          <p:nvPr/>
        </p:nvSpPr>
        <p:spPr>
          <a:xfrm>
            <a:off x="777240" y="2560320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050" noProof="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comunalidade do lixo pela ACP</a:t>
            </a:r>
            <a:endParaRPr lang="pt-BR" sz="1050" noProof="0" dirty="0"/>
          </a:p>
        </p:txBody>
      </p:sp>
      <p:sp>
        <p:nvSpPr>
          <p:cNvPr id="9" name="Shape 7"/>
          <p:cNvSpPr/>
          <p:nvPr/>
        </p:nvSpPr>
        <p:spPr>
          <a:xfrm>
            <a:off x="4434840" y="1901952"/>
            <a:ext cx="3108960" cy="0"/>
          </a:xfrm>
          <a:prstGeom prst="line">
            <a:avLst/>
          </a:prstGeom>
          <a:noFill/>
          <a:ln w="12700">
            <a:solidFill>
              <a:srgbClr val="8C2F27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10" name="Text 8"/>
          <p:cNvSpPr/>
          <p:nvPr/>
        </p:nvSpPr>
        <p:spPr>
          <a:xfrm>
            <a:off x="4434840" y="1975104"/>
            <a:ext cx="3108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3000" b="1" noProof="0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0,052</a:t>
            </a:r>
            <a:endParaRPr lang="pt-BR" sz="3000" noProof="0" dirty="0"/>
          </a:p>
        </p:txBody>
      </p:sp>
      <p:sp>
        <p:nvSpPr>
          <p:cNvPr id="11" name="Text 9"/>
          <p:cNvSpPr/>
          <p:nvPr/>
        </p:nvSpPr>
        <p:spPr>
          <a:xfrm>
            <a:off x="4434840" y="2560320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050" noProof="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comunalidade pelo eixo principal</a:t>
            </a:r>
            <a:endParaRPr lang="pt-BR" sz="1050" noProof="0" dirty="0"/>
          </a:p>
        </p:txBody>
      </p:sp>
      <p:sp>
        <p:nvSpPr>
          <p:cNvPr id="12" name="Shape 10"/>
          <p:cNvSpPr/>
          <p:nvPr/>
        </p:nvSpPr>
        <p:spPr>
          <a:xfrm>
            <a:off x="8092440" y="1901952"/>
            <a:ext cx="3291840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13" name="Text 11"/>
          <p:cNvSpPr/>
          <p:nvPr/>
        </p:nvSpPr>
        <p:spPr>
          <a:xfrm>
            <a:off x="8092440" y="1975104"/>
            <a:ext cx="3291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3000" b="1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0,106</a:t>
            </a:r>
            <a:endParaRPr lang="pt-BR" sz="3000" noProof="0" dirty="0"/>
          </a:p>
        </p:txBody>
      </p:sp>
      <p:sp>
        <p:nvSpPr>
          <p:cNvPr id="14" name="Text 12"/>
          <p:cNvSpPr/>
          <p:nvPr/>
        </p:nvSpPr>
        <p:spPr>
          <a:xfrm>
            <a:off x="8092440" y="2560320"/>
            <a:ext cx="3291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050" noProof="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SMC — a menor das sete variáveis</a:t>
            </a:r>
            <a:endParaRPr lang="pt-BR" sz="1050" noProof="0" dirty="0"/>
          </a:p>
        </p:txBody>
      </p:sp>
      <p:sp>
        <p:nvSpPr>
          <p:cNvPr id="15" name="Shape 13"/>
          <p:cNvSpPr/>
          <p:nvPr/>
        </p:nvSpPr>
        <p:spPr>
          <a:xfrm>
            <a:off x="777240" y="3355848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16" name="Text 14"/>
          <p:cNvSpPr/>
          <p:nvPr/>
        </p:nvSpPr>
        <p:spPr>
          <a:xfrm>
            <a:off x="777240" y="3410712"/>
            <a:ext cx="1063447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650"/>
              </a:lnSpc>
              <a:buNone/>
            </a:pPr>
            <a:r>
              <a:rPr lang="pt-BR" sz="1250" b="1" noProof="0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Por que os dois números são tão diferentes.  </a:t>
            </a:r>
            <a:r>
              <a:rPr lang="pt-BR" sz="1250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ACP põe 1 na diagonal da matriz e distribui TODA a variância de cada variável entre os componentes — inclusive a variância que é só daquela variável. A análise fatorial põe a comunalidade e conta apenas a variância COMPARTILHADA. O fator próprio que o lixo forma na ACP é, quase inteiro, variância específica.</a:t>
            </a:r>
            <a:endParaRPr lang="pt-BR" sz="1250" noProof="0" dirty="0"/>
          </a:p>
        </p:txBody>
      </p:sp>
      <p:sp>
        <p:nvSpPr>
          <p:cNvPr id="17" name="Text 15"/>
          <p:cNvSpPr/>
          <p:nvPr/>
        </p:nvSpPr>
        <p:spPr>
          <a:xfrm>
            <a:off x="777240" y="4965192"/>
            <a:ext cx="1063447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650"/>
              </a:lnSpc>
              <a:buNone/>
            </a:pPr>
            <a:r>
              <a:rPr lang="pt-BR" sz="1250" b="1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consequência para o índice.  </a:t>
            </a:r>
            <a:r>
              <a:rPr lang="pt-BR" sz="1250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Manter o lixo com peso empírico é dar peso a uma dimensão que não é vulnerabilidade. Sem ele, a variância acumulada sobe de 62,1% para 70,0% com MENOS variáveis, e a água sai de comunalidade 0,253 para 0,822 — ela estava baixa porque o lixo havia sequestrado o segundo fator.</a:t>
            </a:r>
            <a:endParaRPr lang="pt-BR" sz="1250" noProof="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pt-BR" sz="1000" noProof="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13</a:t>
            </a:r>
            <a:endParaRPr lang="pt-BR" sz="1000" noProof="0" dirty="0"/>
          </a:p>
        </p:txBody>
      </p:sp>
      <p:sp>
        <p:nvSpPr>
          <p:cNvPr id="3" name="Text 1"/>
          <p:cNvSpPr/>
          <p:nvPr/>
        </p:nvSpPr>
        <p:spPr>
          <a:xfrm>
            <a:off x="777240" y="2331720"/>
            <a:ext cx="1097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5400" b="1" noProof="0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pt-BR" sz="5400" noProof="0" dirty="0"/>
          </a:p>
        </p:txBody>
      </p:sp>
      <p:sp>
        <p:nvSpPr>
          <p:cNvPr id="4" name="Text 2"/>
          <p:cNvSpPr/>
          <p:nvPr/>
        </p:nvSpPr>
        <p:spPr>
          <a:xfrm>
            <a:off x="1920240" y="2331720"/>
            <a:ext cx="94914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3200" b="1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Onde a Enap discorda de Figueiredo</a:t>
            </a:r>
            <a:endParaRPr lang="pt-BR" sz="3200" noProof="0" dirty="0"/>
          </a:p>
        </p:txBody>
      </p:sp>
      <p:sp>
        <p:nvSpPr>
          <p:cNvPr id="5" name="Shape 3"/>
          <p:cNvSpPr/>
          <p:nvPr/>
        </p:nvSpPr>
        <p:spPr>
          <a:xfrm>
            <a:off x="777240" y="3273552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pt-BR" sz="1000" noProof="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14</a:t>
            </a:r>
            <a:endParaRPr lang="pt-BR" sz="1000" noProof="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pt-BR" sz="2600" b="1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Divergência 1 — a rotação</a:t>
            </a:r>
            <a:endParaRPr lang="pt-BR" sz="2600" noProof="0" dirty="0"/>
          </a:p>
        </p:txBody>
      </p:sp>
      <p:sp>
        <p:nvSpPr>
          <p:cNvPr id="4" name="Text 2"/>
          <p:cNvSpPr/>
          <p:nvPr/>
        </p:nvSpPr>
        <p:spPr>
          <a:xfrm>
            <a:off x="777240" y="969264"/>
            <a:ext cx="97200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300" i="1" noProof="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livro inverte o ônus da prova: ortogonal é o caminho que exige justificativa.</a:t>
            </a:r>
            <a:endParaRPr lang="pt-BR" sz="1300" noProof="0" dirty="0"/>
          </a:p>
        </p:txBody>
      </p:sp>
      <p:sp>
        <p:nvSpPr>
          <p:cNvPr id="5" name="Shape 3"/>
          <p:cNvSpPr/>
          <p:nvPr/>
        </p:nvSpPr>
        <p:spPr>
          <a:xfrm>
            <a:off x="777240" y="1426464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6" name="Text 4"/>
          <p:cNvSpPr/>
          <p:nvPr/>
        </p:nvSpPr>
        <p:spPr>
          <a:xfrm>
            <a:off x="1097280" y="1810512"/>
            <a:ext cx="999439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900"/>
              </a:lnSpc>
              <a:buNone/>
            </a:pPr>
            <a:r>
              <a:rPr lang="pt-BR" sz="1300" i="1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"usar rotação ortogonal com dados de Ciências Humanas e Sociais não parece ter nenhum sentido. Nessas áreas, as variáveis quase sempre são correlacionadas. [...] para usar rotação ortogonal, o pesquisador precisaria ter evidências teóricas ou empíricas muito fortes de que os fatores não são correlacionados."</a:t>
            </a:r>
            <a:endParaRPr lang="pt-BR" sz="1300" noProof="0" dirty="0"/>
          </a:p>
        </p:txBody>
      </p:sp>
      <p:sp>
        <p:nvSpPr>
          <p:cNvPr id="7" name="Shape 5"/>
          <p:cNvSpPr/>
          <p:nvPr/>
        </p:nvSpPr>
        <p:spPr>
          <a:xfrm>
            <a:off x="777240" y="1810512"/>
            <a:ext cx="18288" cy="0"/>
          </a:xfrm>
          <a:prstGeom prst="line">
            <a:avLst/>
          </a:prstGeom>
          <a:noFill/>
          <a:ln w="19050">
            <a:solidFill>
              <a:srgbClr val="8C2F27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8" name="Text 6"/>
          <p:cNvSpPr/>
          <p:nvPr/>
        </p:nvSpPr>
        <p:spPr>
          <a:xfrm>
            <a:off x="1097280" y="3044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050" noProof="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Matos &amp; Rodrigues (2019), p. 38</a:t>
            </a:r>
            <a:endParaRPr lang="pt-BR" sz="1050" noProof="0" dirty="0"/>
          </a:p>
        </p:txBody>
      </p:sp>
      <p:sp>
        <p:nvSpPr>
          <p:cNvPr id="9" name="Shape 7"/>
          <p:cNvSpPr/>
          <p:nvPr/>
        </p:nvSpPr>
        <p:spPr>
          <a:xfrm>
            <a:off x="777240" y="3685032"/>
            <a:ext cx="3291840" cy="0"/>
          </a:xfrm>
          <a:prstGeom prst="line">
            <a:avLst/>
          </a:prstGeom>
          <a:noFill/>
          <a:ln w="12700">
            <a:solidFill>
              <a:srgbClr val="8C2F27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10" name="Text 8"/>
          <p:cNvSpPr/>
          <p:nvPr/>
        </p:nvSpPr>
        <p:spPr>
          <a:xfrm>
            <a:off x="777240" y="3758184"/>
            <a:ext cx="3291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3000" b="1" noProof="0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0,521</a:t>
            </a:r>
            <a:endParaRPr lang="pt-BR" sz="3000" noProof="0" dirty="0"/>
          </a:p>
        </p:txBody>
      </p:sp>
      <p:sp>
        <p:nvSpPr>
          <p:cNvPr id="11" name="Text 9"/>
          <p:cNvSpPr/>
          <p:nvPr/>
        </p:nvSpPr>
        <p:spPr>
          <a:xfrm>
            <a:off x="777240" y="4343400"/>
            <a:ext cx="3291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050" noProof="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correlação entre os dois fatores (</a:t>
            </a:r>
            <a:r>
              <a:rPr lang="pt-BR" sz="1050" noProof="0" dirty="0" err="1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Φ</a:t>
            </a:r>
            <a:r>
              <a:rPr lang="pt-BR" sz="1050" noProof="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)</a:t>
            </a:r>
            <a:endParaRPr lang="pt-BR" sz="1050" noProof="0" dirty="0"/>
          </a:p>
        </p:txBody>
      </p:sp>
      <p:sp>
        <p:nvSpPr>
          <p:cNvPr id="12" name="Shape 10"/>
          <p:cNvSpPr/>
          <p:nvPr/>
        </p:nvSpPr>
        <p:spPr>
          <a:xfrm>
            <a:off x="4709160" y="3685032"/>
            <a:ext cx="3291840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13" name="Text 11"/>
          <p:cNvSpPr/>
          <p:nvPr/>
        </p:nvSpPr>
        <p:spPr>
          <a:xfrm>
            <a:off x="4709160" y="3758184"/>
            <a:ext cx="3291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3000" b="1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65,0 / 35,0</a:t>
            </a:r>
            <a:endParaRPr lang="pt-BR" sz="3000" noProof="0" dirty="0"/>
          </a:p>
        </p:txBody>
      </p:sp>
      <p:sp>
        <p:nvSpPr>
          <p:cNvPr id="14" name="Text 12"/>
          <p:cNvSpPr/>
          <p:nvPr/>
        </p:nvSpPr>
        <p:spPr>
          <a:xfrm>
            <a:off x="4709160" y="4343400"/>
            <a:ext cx="3291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050" noProof="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repartição do peso, rotação ortogonal</a:t>
            </a:r>
            <a:endParaRPr lang="pt-BR" sz="1050" noProof="0" dirty="0"/>
          </a:p>
        </p:txBody>
      </p:sp>
      <p:sp>
        <p:nvSpPr>
          <p:cNvPr id="15" name="Shape 13"/>
          <p:cNvSpPr/>
          <p:nvPr/>
        </p:nvSpPr>
        <p:spPr>
          <a:xfrm>
            <a:off x="8641080" y="3685032"/>
            <a:ext cx="2743200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16" name="Text 14"/>
          <p:cNvSpPr/>
          <p:nvPr/>
        </p:nvSpPr>
        <p:spPr>
          <a:xfrm>
            <a:off x="8641080" y="3758184"/>
            <a:ext cx="2743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3000" b="1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65,8 / 34,2</a:t>
            </a:r>
            <a:endParaRPr lang="pt-BR" sz="3000" noProof="0" dirty="0"/>
          </a:p>
        </p:txBody>
      </p:sp>
      <p:sp>
        <p:nvSpPr>
          <p:cNvPr id="17" name="Text 15"/>
          <p:cNvSpPr/>
          <p:nvPr/>
        </p:nvSpPr>
        <p:spPr>
          <a:xfrm>
            <a:off x="8641080" y="4343400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050" noProof="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mesma, rotação oblíqua</a:t>
            </a:r>
            <a:endParaRPr lang="pt-BR" sz="1050" noProof="0" dirty="0"/>
          </a:p>
        </p:txBody>
      </p:sp>
      <p:sp>
        <p:nvSpPr>
          <p:cNvPr id="18" name="Shape 16"/>
          <p:cNvSpPr/>
          <p:nvPr/>
        </p:nvSpPr>
        <p:spPr>
          <a:xfrm>
            <a:off x="777240" y="5093208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19" name="Text 17"/>
          <p:cNvSpPr/>
          <p:nvPr/>
        </p:nvSpPr>
        <p:spPr>
          <a:xfrm>
            <a:off x="777240" y="5148072"/>
            <a:ext cx="106344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650"/>
              </a:lnSpc>
              <a:buNone/>
            </a:pPr>
            <a:r>
              <a:rPr lang="pt-BR" sz="1250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plano previa que a rotação oblíqua deslocasse os pesos NA DIREÇÃO dos 60/40 da literatura. Ela os deslocou meio ponto no sentido oposto. A convergência com o IVS-BH não depende da escolha de rotação — e isso é bom: significa que a decisão nº 5 não muda os pesos de forma relevante.</a:t>
            </a:r>
            <a:endParaRPr lang="pt-BR" sz="1250" noProof="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pt-BR" sz="1000" noProof="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15</a:t>
            </a:r>
            <a:endParaRPr lang="pt-BR" sz="1000" noProof="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pt-BR" sz="2600" b="1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Divergência 2 — a técnica de extração </a:t>
            </a:r>
            <a:r>
              <a:rPr lang="pt-BR" sz="2600" b="1" noProof="0" dirty="0">
                <a:solidFill>
                  <a:srgbClr val="FF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– EXPLICAR SLIDE</a:t>
            </a:r>
            <a:endParaRPr lang="pt-BR" sz="2600" noProof="0" dirty="0">
              <a:solidFill>
                <a:srgbClr val="FF0000"/>
              </a:solidFill>
            </a:endParaRPr>
          </a:p>
        </p:txBody>
      </p:sp>
      <p:sp>
        <p:nvSpPr>
          <p:cNvPr id="4" name="Text 2"/>
          <p:cNvSpPr/>
          <p:nvPr/>
        </p:nvSpPr>
        <p:spPr>
          <a:xfrm>
            <a:off x="777240" y="969264"/>
            <a:ext cx="97200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300" i="1" noProof="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regra de Stevens (1992) obriga a testar o que era pressuposto.</a:t>
            </a:r>
            <a:endParaRPr lang="pt-BR" sz="1300" noProof="0" dirty="0"/>
          </a:p>
        </p:txBody>
      </p:sp>
      <p:sp>
        <p:nvSpPr>
          <p:cNvPr id="5" name="Shape 3"/>
          <p:cNvSpPr/>
          <p:nvPr/>
        </p:nvSpPr>
        <p:spPr>
          <a:xfrm>
            <a:off x="777240" y="1426464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6" name="Text 4"/>
          <p:cNvSpPr/>
          <p:nvPr/>
        </p:nvSpPr>
        <p:spPr>
          <a:xfrm>
            <a:off x="777240" y="1627632"/>
            <a:ext cx="106344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100" b="1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Tabela 4 — </a:t>
            </a:r>
            <a:r>
              <a:rPr lang="pt-BR" sz="1100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ACP e fatoração do eixo principal sobre a mesma matriz, seis componentes.</a:t>
            </a:r>
            <a:endParaRPr lang="pt-BR" sz="1100" noProof="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62088160"/>
              </p:ext>
            </p:extLst>
          </p:nvPr>
        </p:nvGraphicFramePr>
        <p:xfrm>
          <a:off x="777240" y="2176272"/>
          <a:ext cx="10634472" cy="2560320"/>
        </p:xfrm>
        <a:graphic>
          <a:graphicData uri="http://schemas.openxmlformats.org/drawingml/2006/table">
            <a:tbl>
              <a:tblPr/>
              <a:tblGrid>
                <a:gridCol w="38404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544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58191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00" b="1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Variável</a:t>
                      </a:r>
                      <a:endParaRPr lang="pt-BR" sz="110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00" b="1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SMC</a:t>
                      </a:r>
                      <a:endParaRPr lang="pt-BR" sz="110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00" b="1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ACP fator 2</a:t>
                      </a:r>
                      <a:endParaRPr lang="pt-BR" sz="110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00" b="1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Eixo principal</a:t>
                      </a:r>
                      <a:endParaRPr lang="pt-BR" sz="110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00" b="1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Diferença</a:t>
                      </a:r>
                      <a:endParaRPr lang="pt-BR" sz="110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Água inadequada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0,222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0,754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0,513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b="1" noProof="0" dirty="0">
                          <a:solidFill>
                            <a:srgbClr val="8C2F27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0,241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Esgoto inadequado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0,317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0,413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0,315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0,099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Razão de moradores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0,233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0,023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0,086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0,062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Analfabetismo 15+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0,597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-0,299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-0,159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0,140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Renda (invertida)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0,735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-0,312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-0,293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0,019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Cor/raça PPI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0,648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-0,178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-0,067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0,111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777240" y="4864608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10" name="Text 7"/>
          <p:cNvSpPr/>
          <p:nvPr/>
        </p:nvSpPr>
        <p:spPr>
          <a:xfrm>
            <a:off x="777240" y="4919472"/>
            <a:ext cx="10634472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650"/>
              </a:lnSpc>
              <a:buNone/>
            </a:pPr>
            <a:r>
              <a:rPr lang="pt-BR" sz="1250" b="1" noProof="0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Duas das três condições de convergência falham.  </a:t>
            </a:r>
            <a:r>
              <a:rPr lang="pt-BR" sz="1250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livro (p. 27) diz que ACP e análise fatorial dão o mesmo com mais de 30 variáveis ou comunalidades acima de 0,60 na maioria; e que abaixo de 20 variáveis, com comunalidades abaixo de 0,4, podem divergir. São 6 variáveis e a comunalidade mínima é 0,380. Divergem — e divergem exatamente onde Stevens previu: nas variáveis que menos compartilham variância com as demais.</a:t>
            </a:r>
            <a:endParaRPr lang="pt-BR" sz="1250" noProof="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pt-BR" sz="1000" noProof="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16</a:t>
            </a:r>
            <a:endParaRPr lang="pt-BR" sz="1000" noProof="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r>
              <a:rPr lang="pt-BR" sz="2600" b="1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Divergência 3 — a regra de comunalidade </a:t>
            </a:r>
            <a:r>
              <a:rPr lang="pt-BR" sz="2600" b="1" dirty="0">
                <a:solidFill>
                  <a:srgbClr val="FF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– EXPLICAR SLIDE</a:t>
            </a:r>
            <a:endParaRPr lang="pt-BR" sz="2600" noProof="0" dirty="0"/>
          </a:p>
        </p:txBody>
      </p:sp>
      <p:sp>
        <p:nvSpPr>
          <p:cNvPr id="4" name="Text 2"/>
          <p:cNvSpPr/>
          <p:nvPr/>
        </p:nvSpPr>
        <p:spPr>
          <a:xfrm>
            <a:off x="777240" y="969264"/>
            <a:ext cx="97200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300" i="1" noProof="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corte de 0,50 não é corte rígido, e isso resolve um caso pendente.</a:t>
            </a:r>
            <a:endParaRPr lang="pt-BR" sz="1300" noProof="0" dirty="0"/>
          </a:p>
        </p:txBody>
      </p:sp>
      <p:sp>
        <p:nvSpPr>
          <p:cNvPr id="5" name="Shape 3"/>
          <p:cNvSpPr/>
          <p:nvPr/>
        </p:nvSpPr>
        <p:spPr>
          <a:xfrm>
            <a:off x="777240" y="1426464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6" name="Text 4"/>
          <p:cNvSpPr/>
          <p:nvPr/>
        </p:nvSpPr>
        <p:spPr>
          <a:xfrm>
            <a:off x="1097280" y="1810512"/>
            <a:ext cx="99943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900"/>
              </a:lnSpc>
              <a:buNone/>
            </a:pPr>
            <a:r>
              <a:rPr lang="pt-BR" sz="1350" i="1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"O critério da comunalidade maior do que 0,5 não deve ser utilizado isoladamente e de maneira muito rígida."</a:t>
            </a:r>
            <a:endParaRPr lang="pt-BR" sz="1350" noProof="0" dirty="0"/>
          </a:p>
        </p:txBody>
      </p:sp>
      <p:sp>
        <p:nvSpPr>
          <p:cNvPr id="8" name="Text 6"/>
          <p:cNvSpPr/>
          <p:nvPr/>
        </p:nvSpPr>
        <p:spPr>
          <a:xfrm>
            <a:off x="1097280" y="249631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050" noProof="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Matos &amp; Rodrigues (2019), p. 58</a:t>
            </a:r>
            <a:endParaRPr lang="pt-BR" sz="1050" noProof="0" dirty="0"/>
          </a:p>
        </p:txBody>
      </p:sp>
      <p:sp>
        <p:nvSpPr>
          <p:cNvPr id="9" name="Shape 7"/>
          <p:cNvSpPr/>
          <p:nvPr/>
        </p:nvSpPr>
        <p:spPr>
          <a:xfrm>
            <a:off x="777240" y="3136392"/>
            <a:ext cx="3657600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10" name="Text 8"/>
          <p:cNvSpPr/>
          <p:nvPr/>
        </p:nvSpPr>
        <p:spPr>
          <a:xfrm>
            <a:off x="777240" y="3209544"/>
            <a:ext cx="3657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3000" b="1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0,380</a:t>
            </a:r>
            <a:endParaRPr lang="pt-BR" sz="3000" noProof="0" dirty="0"/>
          </a:p>
        </p:txBody>
      </p:sp>
      <p:sp>
        <p:nvSpPr>
          <p:cNvPr id="11" name="Text 9"/>
          <p:cNvSpPr/>
          <p:nvPr/>
        </p:nvSpPr>
        <p:spPr>
          <a:xfrm>
            <a:off x="777240" y="3794760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050" noProof="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comunalidade da razão de moradores</a:t>
            </a:r>
            <a:endParaRPr lang="pt-BR" sz="1050" noProof="0" dirty="0"/>
          </a:p>
        </p:txBody>
      </p:sp>
      <p:sp>
        <p:nvSpPr>
          <p:cNvPr id="12" name="Shape 10"/>
          <p:cNvSpPr/>
          <p:nvPr/>
        </p:nvSpPr>
        <p:spPr>
          <a:xfrm>
            <a:off x="5074920" y="3136392"/>
            <a:ext cx="3657600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13" name="Text 11"/>
          <p:cNvSpPr/>
          <p:nvPr/>
        </p:nvSpPr>
        <p:spPr>
          <a:xfrm>
            <a:off x="5074920" y="3209544"/>
            <a:ext cx="3657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3000" b="1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0,532</a:t>
            </a:r>
            <a:endParaRPr lang="pt-BR" sz="3000" noProof="0" dirty="0"/>
          </a:p>
        </p:txBody>
      </p:sp>
      <p:sp>
        <p:nvSpPr>
          <p:cNvPr id="14" name="Text 12"/>
          <p:cNvSpPr/>
          <p:nvPr/>
        </p:nvSpPr>
        <p:spPr>
          <a:xfrm>
            <a:off x="5074920" y="3794760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050" noProof="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carga dela no fator socioeconômico</a:t>
            </a:r>
            <a:endParaRPr lang="pt-BR" sz="1050" noProof="0" dirty="0"/>
          </a:p>
        </p:txBody>
      </p:sp>
      <p:sp>
        <p:nvSpPr>
          <p:cNvPr id="15" name="Shape 13"/>
          <p:cNvSpPr/>
          <p:nvPr/>
        </p:nvSpPr>
        <p:spPr>
          <a:xfrm>
            <a:off x="777240" y="4361688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16" name="Text 14"/>
          <p:cNvSpPr/>
          <p:nvPr/>
        </p:nvSpPr>
        <p:spPr>
          <a:xfrm>
            <a:off x="777240" y="4416552"/>
            <a:ext cx="1063447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650"/>
              </a:lnSpc>
              <a:buNone/>
            </a:pPr>
            <a:r>
              <a:rPr lang="pt-BR" sz="1250" b="1" noProof="0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variável fica no índice, e os dois números vão reportados juntos.  </a:t>
            </a:r>
            <a:r>
              <a:rPr lang="pt-BR" sz="1250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livro mantém, no seu próprio exemplo, um item com comunalidade abaixo do corte porque a carga fatorial é alta. É o caso aqui. A razão de moradores é a única sobrevivente do bloco de densidade habitacional, e retirá-la reduziria o índice a cinco componentes.</a:t>
            </a:r>
            <a:endParaRPr lang="pt-BR" sz="1250" noProof="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pt-BR" sz="1000" noProof="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17</a:t>
            </a:r>
            <a:endParaRPr lang="pt-BR" sz="1000" noProof="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r>
              <a:rPr lang="pt-BR" sz="2600" b="1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As cargas, nas duas rotações </a:t>
            </a:r>
            <a:r>
              <a:rPr lang="pt-BR" sz="2600" b="1" dirty="0">
                <a:solidFill>
                  <a:srgbClr val="FF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– EXPLICAR SLIDE</a:t>
            </a:r>
            <a:endParaRPr lang="pt-BR" sz="2600" noProof="0" dirty="0"/>
          </a:p>
        </p:txBody>
      </p:sp>
      <p:sp>
        <p:nvSpPr>
          <p:cNvPr id="4" name="Text 2"/>
          <p:cNvSpPr/>
          <p:nvPr/>
        </p:nvSpPr>
        <p:spPr>
          <a:xfrm>
            <a:off x="777240" y="969264"/>
            <a:ext cx="97200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300" i="1" noProof="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Seis componentes, sem o indicador de lixo. A estrutura teórica aparece limpa.</a:t>
            </a:r>
            <a:endParaRPr lang="pt-BR" sz="1300" noProof="0" dirty="0"/>
          </a:p>
        </p:txBody>
      </p:sp>
      <p:sp>
        <p:nvSpPr>
          <p:cNvPr id="5" name="Shape 3"/>
          <p:cNvSpPr/>
          <p:nvPr/>
        </p:nvSpPr>
        <p:spPr>
          <a:xfrm>
            <a:off x="777240" y="1426464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pic>
        <p:nvPicPr>
          <p:cNvPr id="6" name="Image 0" descr="/Users/pedro/Documents/Iniciacao Cientifica/Projeto_IVS_Censo22/banco_de_dados/eda/fatorial/figuras/nb04_mapa_carga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00200" y="1554480"/>
            <a:ext cx="8988552" cy="419709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777240" y="5833872"/>
            <a:ext cx="106344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050" b="1" noProof="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Figura 3 — </a:t>
            </a:r>
            <a:r>
              <a:rPr lang="pt-BR" sz="1050" noProof="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Cargas fatoriais — </a:t>
            </a:r>
            <a:r>
              <a:rPr lang="pt-BR" sz="1050" noProof="0" dirty="0" err="1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Varimax</a:t>
            </a:r>
            <a:r>
              <a:rPr lang="pt-BR" sz="1050" noProof="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e </a:t>
            </a:r>
            <a:r>
              <a:rPr lang="pt-BR" sz="1050" noProof="0" dirty="0" err="1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promax</a:t>
            </a:r>
            <a:r>
              <a:rPr lang="pt-BR" sz="1050" noProof="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.  Fonte: figuras/nb04_mapa_cargas.png, bloco 5 do Notebook 04.</a:t>
            </a:r>
            <a:endParaRPr lang="pt-BR" sz="1050" noProof="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pt-BR" sz="1000" noProof="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18</a:t>
            </a:r>
            <a:endParaRPr lang="pt-BR" sz="1000" noProof="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pt-BR" sz="2600" b="1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plano dos fatores</a:t>
            </a:r>
            <a:endParaRPr lang="pt-BR" sz="2600" noProof="0" dirty="0"/>
          </a:p>
        </p:txBody>
      </p:sp>
      <p:sp>
        <p:nvSpPr>
          <p:cNvPr id="4" name="Text 2"/>
          <p:cNvSpPr/>
          <p:nvPr/>
        </p:nvSpPr>
        <p:spPr>
          <a:xfrm>
            <a:off x="777240" y="969264"/>
            <a:ext cx="97200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300" i="1" noProof="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Figura 2 do livro (p. 17): os fatores como eixos, cada variável plotada nas suas duas cargas.</a:t>
            </a:r>
            <a:endParaRPr lang="pt-BR" sz="1300" noProof="0" dirty="0"/>
          </a:p>
        </p:txBody>
      </p:sp>
      <p:sp>
        <p:nvSpPr>
          <p:cNvPr id="5" name="Shape 3"/>
          <p:cNvSpPr/>
          <p:nvPr/>
        </p:nvSpPr>
        <p:spPr>
          <a:xfrm>
            <a:off x="777240" y="1426464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pic>
        <p:nvPicPr>
          <p:cNvPr id="6" name="Image 0" descr="/Users/pedro/Documents/Iniciacao Cientifica/Projeto_IVS_Censo22/banco_de_dados/eda/fatorial/figuras/nb04_plano_fatori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1389888"/>
            <a:ext cx="10634472" cy="4233672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777240" y="5742432"/>
            <a:ext cx="106344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050" b="1" noProof="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Figura 4 — </a:t>
            </a:r>
            <a:r>
              <a:rPr lang="pt-BR" sz="1050" noProof="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Representação gráfica dos fatores, com e sem o indicador de lixo.  Fonte: figuras/nb04_plano_fatorial.png, bloco 5 do Notebook 04.</a:t>
            </a:r>
            <a:endParaRPr lang="pt-BR" sz="1050" noProof="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pt-BR" sz="1000" noProof="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19</a:t>
            </a:r>
            <a:endParaRPr lang="pt-BR" sz="1000" noProof="0" dirty="0"/>
          </a:p>
        </p:txBody>
      </p:sp>
      <p:sp>
        <p:nvSpPr>
          <p:cNvPr id="3" name="Text 1"/>
          <p:cNvSpPr/>
          <p:nvPr/>
        </p:nvSpPr>
        <p:spPr>
          <a:xfrm>
            <a:off x="777240" y="2331720"/>
            <a:ext cx="1097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5400" b="1" noProof="0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pt-BR" sz="5400" noProof="0" dirty="0"/>
          </a:p>
        </p:txBody>
      </p:sp>
      <p:sp>
        <p:nvSpPr>
          <p:cNvPr id="4" name="Text 2"/>
          <p:cNvSpPr/>
          <p:nvPr/>
        </p:nvSpPr>
        <p:spPr>
          <a:xfrm>
            <a:off x="1920240" y="2331720"/>
            <a:ext cx="94914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3200" b="1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Os pesos</a:t>
            </a:r>
            <a:endParaRPr lang="pt-BR" sz="3200" noProof="0" dirty="0"/>
          </a:p>
        </p:txBody>
      </p:sp>
      <p:sp>
        <p:nvSpPr>
          <p:cNvPr id="5" name="Shape 3"/>
          <p:cNvSpPr/>
          <p:nvPr/>
        </p:nvSpPr>
        <p:spPr>
          <a:xfrm>
            <a:off x="777240" y="3273552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6" name="Text 4"/>
          <p:cNvSpPr/>
          <p:nvPr/>
        </p:nvSpPr>
        <p:spPr>
          <a:xfrm>
            <a:off x="1920240" y="3401568"/>
            <a:ext cx="90342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400" i="1" noProof="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produto deste notebook: quanto cada indicador pesa, e com que margem.</a:t>
            </a:r>
            <a:endParaRPr lang="pt-BR" sz="1400" noProof="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pt-BR" sz="1000" noProof="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</a:t>
            </a:r>
            <a:endParaRPr lang="pt-BR" sz="1000" noProof="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r>
              <a:rPr lang="pt-BR" sz="2600" b="1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Os pesos do IVS </a:t>
            </a:r>
            <a:r>
              <a:rPr lang="pt-BR" sz="2600" b="1" dirty="0">
                <a:solidFill>
                  <a:srgbClr val="FF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– EXPLICAR SLIDE</a:t>
            </a:r>
            <a:endParaRPr lang="pt-BR" sz="2600" noProof="0" dirty="0"/>
          </a:p>
        </p:txBody>
      </p:sp>
      <p:sp>
        <p:nvSpPr>
          <p:cNvPr id="4" name="Text 2"/>
          <p:cNvSpPr/>
          <p:nvPr/>
        </p:nvSpPr>
        <p:spPr>
          <a:xfrm>
            <a:off x="777240" y="969264"/>
            <a:ext cx="97200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300" i="1" noProof="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Peso proporcional ao quadrado da carga, dentro e entre as dimensões.</a:t>
            </a:r>
            <a:endParaRPr lang="pt-BR" sz="1300" noProof="0" dirty="0"/>
          </a:p>
        </p:txBody>
      </p:sp>
      <p:sp>
        <p:nvSpPr>
          <p:cNvPr id="5" name="Shape 3"/>
          <p:cNvSpPr/>
          <p:nvPr/>
        </p:nvSpPr>
        <p:spPr>
          <a:xfrm>
            <a:off x="777240" y="1426464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6" name="Text 4"/>
          <p:cNvSpPr/>
          <p:nvPr/>
        </p:nvSpPr>
        <p:spPr>
          <a:xfrm>
            <a:off x="777240" y="1627632"/>
            <a:ext cx="106344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100" b="1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Tabela 5 — </a:t>
            </a:r>
            <a:r>
              <a:rPr lang="pt-BR" sz="1100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Pesos dos seis componentes, solução </a:t>
            </a:r>
            <a:r>
              <a:rPr lang="pt-BR" sz="1100" noProof="0" dirty="0" err="1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Varimax</a:t>
            </a:r>
            <a:r>
              <a:rPr lang="pt-BR" sz="1100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de dois fatores.</a:t>
            </a:r>
            <a:endParaRPr lang="pt-BR" sz="1100" noProof="0" dirty="0"/>
          </a:p>
        </p:txBody>
      </p:sp>
      <p:sp>
        <p:nvSpPr>
          <p:cNvPr id="7" name="Text 5"/>
          <p:cNvSpPr/>
          <p:nvPr/>
        </p:nvSpPr>
        <p:spPr>
          <a:xfrm>
            <a:off x="777240" y="1883664"/>
            <a:ext cx="10634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950" i="1" noProof="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Fonte: nb04_sintese_pesos.csv. O peso da dimensão é a soma dos quadrados das cargas do fator sobre o total.</a:t>
            </a:r>
            <a:endParaRPr lang="pt-BR" sz="950" noProof="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09481895"/>
              </p:ext>
            </p:extLst>
          </p:nvPr>
        </p:nvGraphicFramePr>
        <p:xfrm>
          <a:off x="777240" y="2176272"/>
          <a:ext cx="10634472" cy="2560320"/>
        </p:xfrm>
        <a:graphic>
          <a:graphicData uri="http://schemas.openxmlformats.org/drawingml/2006/table">
            <a:tbl>
              <a:tblPr/>
              <a:tblGrid>
                <a:gridCol w="42062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1089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373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58191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00" b="1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Variável</a:t>
                      </a:r>
                      <a:endParaRPr lang="pt-BR" sz="110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00" b="1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Dimensão</a:t>
                      </a:r>
                      <a:endParaRPr lang="pt-BR" sz="110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00" b="1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Carga</a:t>
                      </a:r>
                      <a:endParaRPr lang="pt-BR" sz="110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00" b="1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Peso</a:t>
                      </a:r>
                      <a:endParaRPr lang="pt-BR" sz="110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Água inadequada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Saneamento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0,903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22,32%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Renda (invertida)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Socioeconômica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0,915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21,21%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Analfabetismo 15+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Socioeconômica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0,868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19,09%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Cor/raça PPI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Socioeconômica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0,833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17,57%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Esgoto inadequado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Saneamento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0,679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12,64%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Razão de moradores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Socioeconômica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0,532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7,17%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777240" y="4965192"/>
            <a:ext cx="3474720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10" name="Text 7"/>
          <p:cNvSpPr/>
          <p:nvPr/>
        </p:nvSpPr>
        <p:spPr>
          <a:xfrm>
            <a:off x="777240" y="5038344"/>
            <a:ext cx="3474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3000" b="1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65,0 / 35,0</a:t>
            </a:r>
            <a:endParaRPr lang="pt-BR" sz="3000" noProof="0" dirty="0"/>
          </a:p>
        </p:txBody>
      </p:sp>
      <p:sp>
        <p:nvSpPr>
          <p:cNvPr id="11" name="Text 8"/>
          <p:cNvSpPr/>
          <p:nvPr/>
        </p:nvSpPr>
        <p:spPr>
          <a:xfrm>
            <a:off x="777240" y="5623560"/>
            <a:ext cx="3474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050" noProof="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repartição empírica socioeconômica / saneamento</a:t>
            </a:r>
            <a:endParaRPr lang="pt-BR" sz="1050" noProof="0" dirty="0"/>
          </a:p>
        </p:txBody>
      </p:sp>
      <p:sp>
        <p:nvSpPr>
          <p:cNvPr id="12" name="Shape 9"/>
          <p:cNvSpPr/>
          <p:nvPr/>
        </p:nvSpPr>
        <p:spPr>
          <a:xfrm>
            <a:off x="4892040" y="4965192"/>
            <a:ext cx="3474720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13" name="Text 10"/>
          <p:cNvSpPr/>
          <p:nvPr/>
        </p:nvSpPr>
        <p:spPr>
          <a:xfrm>
            <a:off x="4892040" y="5038344"/>
            <a:ext cx="3474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3000" b="1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60 / 40</a:t>
            </a:r>
            <a:endParaRPr lang="pt-BR" sz="3000" noProof="0" dirty="0"/>
          </a:p>
        </p:txBody>
      </p:sp>
      <p:sp>
        <p:nvSpPr>
          <p:cNvPr id="14" name="Text 11"/>
          <p:cNvSpPr/>
          <p:nvPr/>
        </p:nvSpPr>
        <p:spPr>
          <a:xfrm>
            <a:off x="4892040" y="5623560"/>
            <a:ext cx="3474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050" noProof="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referência do IVS-BH 2012 (literatura)</a:t>
            </a:r>
            <a:endParaRPr lang="pt-BR" sz="1050" noProof="0" dirty="0"/>
          </a:p>
        </p:txBody>
      </p:sp>
      <p:sp>
        <p:nvSpPr>
          <p:cNvPr id="15" name="Shape 12"/>
          <p:cNvSpPr/>
          <p:nvPr/>
        </p:nvSpPr>
        <p:spPr>
          <a:xfrm>
            <a:off x="9006840" y="4910328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16" name="Text 13"/>
          <p:cNvSpPr/>
          <p:nvPr/>
        </p:nvSpPr>
        <p:spPr>
          <a:xfrm>
            <a:off x="9006840" y="4965192"/>
            <a:ext cx="23774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650"/>
              </a:lnSpc>
              <a:buNone/>
            </a:pPr>
            <a:r>
              <a:rPr lang="pt-BR" sz="1250" b="1" noProof="0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Convergem.  </a:t>
            </a:r>
            <a:r>
              <a:rPr lang="pt-BR" sz="1250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Cinco pontos de diferença.</a:t>
            </a:r>
            <a:endParaRPr lang="pt-BR" sz="1250" noProof="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pt-BR" sz="1000" noProof="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21</a:t>
            </a:r>
            <a:endParaRPr lang="pt-BR" sz="1000" noProof="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r>
              <a:rPr lang="pt-BR" sz="2600" b="1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Os pesos são estáveis </a:t>
            </a:r>
            <a:r>
              <a:rPr lang="pt-BR" sz="2600" b="1" dirty="0">
                <a:solidFill>
                  <a:srgbClr val="FF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– EXPLICAR SLIDE</a:t>
            </a:r>
            <a:endParaRPr lang="pt-BR" sz="2600" noProof="0" dirty="0"/>
          </a:p>
        </p:txBody>
      </p:sp>
      <p:sp>
        <p:nvSpPr>
          <p:cNvPr id="4" name="Text 2"/>
          <p:cNvSpPr/>
          <p:nvPr/>
        </p:nvSpPr>
        <p:spPr>
          <a:xfrm>
            <a:off x="777240" y="969264"/>
            <a:ext cx="97200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300" i="1" noProof="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Mil reamostragens com reposição respondem com número à crítica de instabilidade da p. 23.</a:t>
            </a:r>
            <a:endParaRPr lang="pt-BR" sz="1300" noProof="0" dirty="0"/>
          </a:p>
        </p:txBody>
      </p:sp>
      <p:sp>
        <p:nvSpPr>
          <p:cNvPr id="5" name="Shape 3"/>
          <p:cNvSpPr/>
          <p:nvPr/>
        </p:nvSpPr>
        <p:spPr>
          <a:xfrm>
            <a:off x="777240" y="1426464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6" name="Text 4"/>
          <p:cNvSpPr/>
          <p:nvPr/>
        </p:nvSpPr>
        <p:spPr>
          <a:xfrm>
            <a:off x="777240" y="1627632"/>
            <a:ext cx="106344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100" b="1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Tabela 6 — </a:t>
            </a:r>
            <a:r>
              <a:rPr lang="pt-BR" sz="1100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Intervalo de confiança de 95% de cada carga, por </a:t>
            </a:r>
            <a:r>
              <a:rPr lang="pt-BR" sz="1100" noProof="0" dirty="0" err="1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bootstrap</a:t>
            </a:r>
            <a:r>
              <a:rPr lang="pt-BR" sz="1100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.</a:t>
            </a:r>
            <a:endParaRPr lang="pt-BR" sz="1100" noProof="0" dirty="0"/>
          </a:p>
        </p:txBody>
      </p:sp>
      <p:sp>
        <p:nvSpPr>
          <p:cNvPr id="7" name="Text 5"/>
          <p:cNvSpPr/>
          <p:nvPr/>
        </p:nvSpPr>
        <p:spPr>
          <a:xfrm>
            <a:off x="777240" y="1883664"/>
            <a:ext cx="10634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950" i="1" noProof="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Fonte: nb04_bootstrap_cargas.csv. 1.000 reamostragens, semente 42, cada solução alinhada à da amostra completa.</a:t>
            </a:r>
            <a:endParaRPr lang="pt-BR" sz="950" noProof="0" dirty="0"/>
          </a:p>
        </p:txBody>
      </p:sp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21881742"/>
              </p:ext>
            </p:extLst>
          </p:nvPr>
        </p:nvGraphicFramePr>
        <p:xfrm>
          <a:off x="777240" y="2176272"/>
          <a:ext cx="10634472" cy="2560320"/>
        </p:xfrm>
        <a:graphic>
          <a:graphicData uri="http://schemas.openxmlformats.org/drawingml/2006/table">
            <a:tbl>
              <a:tblPr/>
              <a:tblGrid>
                <a:gridCol w="42062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30759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00" b="1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Variável</a:t>
                      </a:r>
                      <a:endParaRPr lang="pt-BR" sz="110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00" b="1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Carga no fator 1</a:t>
                      </a:r>
                      <a:endParaRPr lang="pt-BR" sz="110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00" b="1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IC 95%</a:t>
                      </a:r>
                      <a:endParaRPr lang="pt-BR" sz="110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00" b="1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Amplitude</a:t>
                      </a:r>
                      <a:endParaRPr lang="pt-BR" sz="110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Água inadequada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0,087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[0,082 ; 0,091]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0,0083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Esgoto inadequado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0,392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[0,384 ; 0,400]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0,0162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Razão de moradores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0,532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[0,519 ; 0,544]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0,0258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Analfabetismo 15+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0,868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[0,866 ; 0,871]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0,0046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Renda (invertida)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0,915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[0,913 ; 0,917]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0,0038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Cor/raça PPI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0,833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[0,830 ; 0,835]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0,0051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777240" y="4873752"/>
            <a:ext cx="4937760" cy="0"/>
          </a:xfrm>
          <a:prstGeom prst="line">
            <a:avLst/>
          </a:prstGeom>
          <a:noFill/>
          <a:ln w="12700">
            <a:solidFill>
              <a:srgbClr val="8C2F27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10" name="Text 7"/>
          <p:cNvSpPr/>
          <p:nvPr/>
        </p:nvSpPr>
        <p:spPr>
          <a:xfrm>
            <a:off x="777240" y="4946904"/>
            <a:ext cx="4937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3000" b="1" noProof="0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[64,7 ; 65,3]</a:t>
            </a:r>
            <a:endParaRPr lang="pt-BR" sz="3000" noProof="0" dirty="0"/>
          </a:p>
        </p:txBody>
      </p:sp>
      <p:sp>
        <p:nvSpPr>
          <p:cNvPr id="11" name="Text 8"/>
          <p:cNvSpPr/>
          <p:nvPr/>
        </p:nvSpPr>
        <p:spPr>
          <a:xfrm>
            <a:off x="777240" y="5532120"/>
            <a:ext cx="4937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050" noProof="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IC 95% da repartição socioeconômica — 0,59 ponto de amplitude</a:t>
            </a:r>
            <a:endParaRPr lang="pt-BR" sz="1050" noProof="0" dirty="0"/>
          </a:p>
        </p:txBody>
      </p:sp>
      <p:sp>
        <p:nvSpPr>
          <p:cNvPr id="12" name="Text 9"/>
          <p:cNvSpPr/>
          <p:nvPr/>
        </p:nvSpPr>
        <p:spPr>
          <a:xfrm>
            <a:off x="6355080" y="4873752"/>
            <a:ext cx="50292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650"/>
              </a:lnSpc>
              <a:buNone/>
            </a:pPr>
            <a:r>
              <a:rPr lang="pt-BR" sz="1250" b="1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limita esta análise não é o </a:t>
            </a:r>
            <a:r>
              <a:rPr lang="pt-BR" sz="1250" b="1" noProof="0" dirty="0" err="1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</a:t>
            </a:r>
            <a:r>
              <a:rPr lang="pt-BR" sz="1250" b="1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.  </a:t>
            </a:r>
            <a:r>
              <a:rPr lang="pt-BR" sz="1250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 87 mil setores a incerteza amostral é desprezível. O que limita é o número pequeno de variáveis — e o livro, escrito para questionários com dezenas de itens, não trata desse problema.</a:t>
            </a:r>
            <a:endParaRPr lang="pt-BR" sz="1250" noProof="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pt-BR" sz="1000" noProof="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22</a:t>
            </a:r>
            <a:endParaRPr lang="pt-BR" sz="1000" noProof="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r>
              <a:rPr lang="pt-BR" sz="2600" b="1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índice e o escore refinado concordam menos que o previsto </a:t>
            </a:r>
            <a:r>
              <a:rPr lang="pt-BR" sz="2600" b="1" dirty="0">
                <a:solidFill>
                  <a:srgbClr val="FF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– EXPLICAR SLIDE</a:t>
            </a:r>
            <a:endParaRPr lang="pt-BR" sz="2600" noProof="0" dirty="0"/>
          </a:p>
        </p:txBody>
      </p:sp>
      <p:sp>
        <p:nvSpPr>
          <p:cNvPr id="4" name="Text 2"/>
          <p:cNvSpPr/>
          <p:nvPr/>
        </p:nvSpPr>
        <p:spPr>
          <a:xfrm>
            <a:off x="777240" y="969264"/>
            <a:ext cx="97200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300" i="1" noProof="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Achado. E a forma como a concordância falha é mais informativa que o número.</a:t>
            </a:r>
            <a:endParaRPr lang="pt-BR" sz="1300" noProof="0" dirty="0"/>
          </a:p>
        </p:txBody>
      </p:sp>
      <p:sp>
        <p:nvSpPr>
          <p:cNvPr id="5" name="Shape 3"/>
          <p:cNvSpPr/>
          <p:nvPr/>
        </p:nvSpPr>
        <p:spPr>
          <a:xfrm>
            <a:off x="777240" y="1426464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6" name="Shape 4"/>
          <p:cNvSpPr/>
          <p:nvPr/>
        </p:nvSpPr>
        <p:spPr>
          <a:xfrm>
            <a:off x="777240" y="1856232"/>
            <a:ext cx="3108960" cy="0"/>
          </a:xfrm>
          <a:prstGeom prst="line">
            <a:avLst/>
          </a:prstGeom>
          <a:noFill/>
          <a:ln w="12700">
            <a:solidFill>
              <a:srgbClr val="8C2F27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7" name="Text 5"/>
          <p:cNvSpPr/>
          <p:nvPr/>
        </p:nvSpPr>
        <p:spPr>
          <a:xfrm>
            <a:off x="777240" y="1929384"/>
            <a:ext cx="3108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3000" b="1" noProof="0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0,924</a:t>
            </a:r>
            <a:endParaRPr lang="pt-BR" sz="3000" noProof="0" dirty="0"/>
          </a:p>
        </p:txBody>
      </p:sp>
      <p:sp>
        <p:nvSpPr>
          <p:cNvPr id="8" name="Text 6"/>
          <p:cNvSpPr/>
          <p:nvPr/>
        </p:nvSpPr>
        <p:spPr>
          <a:xfrm>
            <a:off x="777240" y="2514600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050" noProof="0" dirty="0" err="1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Spearman</a:t>
            </a:r>
            <a:r>
              <a:rPr lang="pt-BR" sz="1050" noProof="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com o escore sobre POSTOS (coerente)</a:t>
            </a:r>
            <a:endParaRPr lang="pt-BR" sz="1050" noProof="0" dirty="0"/>
          </a:p>
        </p:txBody>
      </p:sp>
      <p:sp>
        <p:nvSpPr>
          <p:cNvPr id="9" name="Shape 7"/>
          <p:cNvSpPr/>
          <p:nvPr/>
        </p:nvSpPr>
        <p:spPr>
          <a:xfrm>
            <a:off x="4434840" y="1856232"/>
            <a:ext cx="3108960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10" name="Text 8"/>
          <p:cNvSpPr/>
          <p:nvPr/>
        </p:nvSpPr>
        <p:spPr>
          <a:xfrm>
            <a:off x="4434840" y="1929384"/>
            <a:ext cx="3108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3000" b="1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0,945</a:t>
            </a:r>
            <a:endParaRPr lang="pt-BR" sz="3000" noProof="0" dirty="0"/>
          </a:p>
        </p:txBody>
      </p:sp>
      <p:sp>
        <p:nvSpPr>
          <p:cNvPr id="11" name="Text 9"/>
          <p:cNvSpPr/>
          <p:nvPr/>
        </p:nvSpPr>
        <p:spPr>
          <a:xfrm>
            <a:off x="4434840" y="2514600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050" noProof="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 o escore sobre valores brutos (incoerente)</a:t>
            </a:r>
            <a:endParaRPr lang="pt-BR" sz="1050" noProof="0" dirty="0"/>
          </a:p>
        </p:txBody>
      </p:sp>
      <p:sp>
        <p:nvSpPr>
          <p:cNvPr id="12" name="Shape 10"/>
          <p:cNvSpPr/>
          <p:nvPr/>
        </p:nvSpPr>
        <p:spPr>
          <a:xfrm>
            <a:off x="8092440" y="1856232"/>
            <a:ext cx="3291840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13" name="Text 11"/>
          <p:cNvSpPr/>
          <p:nvPr/>
        </p:nvSpPr>
        <p:spPr>
          <a:xfrm>
            <a:off x="8092440" y="1929384"/>
            <a:ext cx="3291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3000" b="1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0,950</a:t>
            </a:r>
            <a:endParaRPr lang="pt-BR" sz="3000" noProof="0" dirty="0"/>
          </a:p>
        </p:txBody>
      </p:sp>
      <p:sp>
        <p:nvSpPr>
          <p:cNvPr id="14" name="Text 12"/>
          <p:cNvSpPr/>
          <p:nvPr/>
        </p:nvSpPr>
        <p:spPr>
          <a:xfrm>
            <a:off x="8092440" y="2514600"/>
            <a:ext cx="3291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050" noProof="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corte que validaria o índice 0–1</a:t>
            </a:r>
            <a:endParaRPr lang="pt-BR" sz="1050" noProof="0" dirty="0"/>
          </a:p>
        </p:txBody>
      </p:sp>
      <p:sp>
        <p:nvSpPr>
          <p:cNvPr id="15" name="Shape 13"/>
          <p:cNvSpPr/>
          <p:nvPr/>
        </p:nvSpPr>
        <p:spPr>
          <a:xfrm>
            <a:off x="777240" y="3264408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16" name="Text 14"/>
          <p:cNvSpPr/>
          <p:nvPr/>
        </p:nvSpPr>
        <p:spPr>
          <a:xfrm>
            <a:off x="777240" y="3319272"/>
            <a:ext cx="10634472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650"/>
              </a:lnSpc>
              <a:buNone/>
            </a:pPr>
            <a:r>
              <a:rPr lang="pt-BR" sz="1250" b="1" noProof="0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Quanto mais coerente o escore fica com o modelo, mais se afasta do índice.  </a:t>
            </a:r>
            <a:r>
              <a:rPr lang="pt-BR" sz="1250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índice 0–1 é min-</a:t>
            </a:r>
            <a:r>
              <a:rPr lang="pt-BR" sz="1250" noProof="0" dirty="0" err="1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max</a:t>
            </a:r>
            <a:r>
              <a:rPr lang="pt-BR" sz="1250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de valores BRUTOS. O modelo fatorial foi estimado sobre POSTOS, porque a correlação é de </a:t>
            </a:r>
            <a:r>
              <a:rPr lang="pt-BR" sz="1250" noProof="0" dirty="0" err="1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Spearman</a:t>
            </a:r>
            <a:r>
              <a:rPr lang="pt-BR" sz="1250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. São dois objetos em escalas diferentes, e a diferença entre 0,924 e 0,945 é exatamente o tamanho dessa incoerência.</a:t>
            </a:r>
            <a:endParaRPr lang="pt-BR" sz="1250" noProof="0" dirty="0"/>
          </a:p>
        </p:txBody>
      </p:sp>
      <p:sp>
        <p:nvSpPr>
          <p:cNvPr id="17" name="Text 15"/>
          <p:cNvSpPr/>
          <p:nvPr/>
        </p:nvSpPr>
        <p:spPr>
          <a:xfrm>
            <a:off x="777240" y="4782312"/>
            <a:ext cx="1063447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650"/>
              </a:lnSpc>
              <a:buNone/>
            </a:pPr>
            <a:r>
              <a:rPr lang="pt-BR" sz="1250" b="1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Não é instabilidade.  </a:t>
            </a:r>
            <a:r>
              <a:rPr lang="pt-BR" sz="1250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</a:t>
            </a:r>
            <a:r>
              <a:rPr lang="pt-BR" sz="1250" noProof="0" dirty="0" err="1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bootstrap</a:t>
            </a:r>
            <a:r>
              <a:rPr lang="pt-BR" sz="1250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mediu a incerteza dos pesos em 0,59 ponto percentual. Mais reamostragem não resolve isto. As saídas são três, e as três são defensáveis: compor o índice sobre postos, estimar a fatorial sobre Pearson, ou declarar a divergência. O que não é defensável é escolher sem saber que se está escolhendo.</a:t>
            </a:r>
            <a:endParaRPr lang="pt-BR" sz="1250" noProof="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pt-BR" sz="1000" noProof="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23</a:t>
            </a:r>
            <a:endParaRPr lang="pt-BR" sz="1000" noProof="0" dirty="0"/>
          </a:p>
        </p:txBody>
      </p:sp>
      <p:sp>
        <p:nvSpPr>
          <p:cNvPr id="3" name="Text 1"/>
          <p:cNvSpPr/>
          <p:nvPr/>
        </p:nvSpPr>
        <p:spPr>
          <a:xfrm>
            <a:off x="777240" y="2331720"/>
            <a:ext cx="1097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5400" b="1" noProof="0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pt-BR" sz="5400" noProof="0" dirty="0"/>
          </a:p>
        </p:txBody>
      </p:sp>
      <p:sp>
        <p:nvSpPr>
          <p:cNvPr id="4" name="Text 2"/>
          <p:cNvSpPr/>
          <p:nvPr/>
        </p:nvSpPr>
        <p:spPr>
          <a:xfrm>
            <a:off x="1920240" y="2331720"/>
            <a:ext cx="94914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3200" b="1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índice funciona?</a:t>
            </a:r>
            <a:endParaRPr lang="pt-BR" sz="3200" noProof="0" dirty="0"/>
          </a:p>
        </p:txBody>
      </p:sp>
      <p:sp>
        <p:nvSpPr>
          <p:cNvPr id="5" name="Shape 3"/>
          <p:cNvSpPr/>
          <p:nvPr/>
        </p:nvSpPr>
        <p:spPr>
          <a:xfrm>
            <a:off x="777240" y="3273552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6" name="Text 4"/>
          <p:cNvSpPr/>
          <p:nvPr/>
        </p:nvSpPr>
        <p:spPr>
          <a:xfrm>
            <a:off x="1920240" y="3401568"/>
            <a:ext cx="90342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400" i="1" noProof="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pergunta que nenhuma estatística interna à fatorial responde.</a:t>
            </a:r>
            <a:endParaRPr lang="pt-BR" sz="1400" noProof="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pt-BR" sz="1000" noProof="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24</a:t>
            </a:r>
            <a:endParaRPr lang="pt-BR" sz="1000" noProof="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r>
              <a:rPr lang="pt-BR" sz="2600" b="1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Contra os setores de favela </a:t>
            </a:r>
            <a:r>
              <a:rPr lang="pt-BR" sz="2600" b="1" dirty="0">
                <a:solidFill>
                  <a:srgbClr val="FF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– EXPLICAR SLIDE</a:t>
            </a:r>
            <a:endParaRPr lang="pt-BR" sz="2600" noProof="0" dirty="0"/>
          </a:p>
        </p:txBody>
      </p:sp>
      <p:sp>
        <p:nvSpPr>
          <p:cNvPr id="4" name="Text 2"/>
          <p:cNvSpPr/>
          <p:nvPr/>
        </p:nvSpPr>
        <p:spPr>
          <a:xfrm>
            <a:off x="777240" y="969264"/>
            <a:ext cx="97200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300" i="1" noProof="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Validação de critério com um marcador externo ao índice: CD_TIPO = 1, do próprio IBGE.</a:t>
            </a:r>
            <a:endParaRPr lang="pt-BR" sz="1300" noProof="0" dirty="0"/>
          </a:p>
        </p:txBody>
      </p:sp>
      <p:sp>
        <p:nvSpPr>
          <p:cNvPr id="5" name="Shape 3"/>
          <p:cNvSpPr/>
          <p:nvPr/>
        </p:nvSpPr>
        <p:spPr>
          <a:xfrm>
            <a:off x="777240" y="1426464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pic>
        <p:nvPicPr>
          <p:cNvPr id="6" name="Image 0" descr="/Users/pedro/Documents/Iniciacao Cientifica/Projeto_IVS_Censo22/banco_de_dados/eda/fatorial/figuras/nb04_roc_fcu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1481328"/>
            <a:ext cx="4160520" cy="416052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0" y="1920240"/>
            <a:ext cx="2743200" cy="0"/>
          </a:xfrm>
          <a:prstGeom prst="line">
            <a:avLst/>
          </a:prstGeom>
          <a:noFill/>
          <a:ln w="12700">
            <a:solidFill>
              <a:srgbClr val="8C2F27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8" name="Text 5"/>
          <p:cNvSpPr/>
          <p:nvPr/>
        </p:nvSpPr>
        <p:spPr>
          <a:xfrm>
            <a:off x="5669280" y="1993392"/>
            <a:ext cx="2743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3000" b="1" noProof="0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0,813</a:t>
            </a:r>
            <a:endParaRPr lang="pt-BR" sz="3000" noProof="0" dirty="0"/>
          </a:p>
        </p:txBody>
      </p:sp>
      <p:sp>
        <p:nvSpPr>
          <p:cNvPr id="9" name="Text 6"/>
          <p:cNvSpPr/>
          <p:nvPr/>
        </p:nvSpPr>
        <p:spPr>
          <a:xfrm>
            <a:off x="5669280" y="2578608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050" noProof="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AUC do índice 0–1</a:t>
            </a:r>
            <a:endParaRPr lang="pt-BR" sz="1050" noProof="0" dirty="0"/>
          </a:p>
        </p:txBody>
      </p:sp>
      <p:sp>
        <p:nvSpPr>
          <p:cNvPr id="10" name="Shape 7"/>
          <p:cNvSpPr/>
          <p:nvPr/>
        </p:nvSpPr>
        <p:spPr>
          <a:xfrm>
            <a:off x="8778240" y="1920240"/>
            <a:ext cx="2743200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11" name="Text 8"/>
          <p:cNvSpPr/>
          <p:nvPr/>
        </p:nvSpPr>
        <p:spPr>
          <a:xfrm>
            <a:off x="8778240" y="1993392"/>
            <a:ext cx="2743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3000" b="1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0,862</a:t>
            </a:r>
            <a:endParaRPr lang="pt-BR" sz="3000" noProof="0" dirty="0"/>
          </a:p>
        </p:txBody>
      </p:sp>
      <p:sp>
        <p:nvSpPr>
          <p:cNvPr id="12" name="Text 9"/>
          <p:cNvSpPr/>
          <p:nvPr/>
        </p:nvSpPr>
        <p:spPr>
          <a:xfrm>
            <a:off x="8778240" y="2578608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050" noProof="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AUC do escore refinado</a:t>
            </a:r>
            <a:endParaRPr lang="pt-BR" sz="1050" noProof="0" dirty="0"/>
          </a:p>
        </p:txBody>
      </p:sp>
      <p:sp>
        <p:nvSpPr>
          <p:cNvPr id="13" name="Shape 10"/>
          <p:cNvSpPr/>
          <p:nvPr/>
        </p:nvSpPr>
        <p:spPr>
          <a:xfrm>
            <a:off x="5669280" y="3246120"/>
            <a:ext cx="5852160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14" name="Text 11"/>
          <p:cNvSpPr/>
          <p:nvPr/>
        </p:nvSpPr>
        <p:spPr>
          <a:xfrm>
            <a:off x="5669280" y="3319272"/>
            <a:ext cx="5852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3000" b="1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0,405  contra  0,339</a:t>
            </a:r>
            <a:endParaRPr lang="pt-BR" sz="3000" noProof="0" dirty="0"/>
          </a:p>
        </p:txBody>
      </p:sp>
      <p:sp>
        <p:nvSpPr>
          <p:cNvPr id="15" name="Text 12"/>
          <p:cNvSpPr/>
          <p:nvPr/>
        </p:nvSpPr>
        <p:spPr>
          <a:xfrm>
            <a:off x="5669280" y="3904488"/>
            <a:ext cx="5852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050" noProof="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mediana do índice nos setores de FCU e nos demais</a:t>
            </a:r>
            <a:endParaRPr lang="pt-BR" sz="1050" noProof="0" dirty="0"/>
          </a:p>
        </p:txBody>
      </p:sp>
      <p:sp>
        <p:nvSpPr>
          <p:cNvPr id="16" name="Shape 13"/>
          <p:cNvSpPr/>
          <p:nvPr/>
        </p:nvSpPr>
        <p:spPr>
          <a:xfrm>
            <a:off x="5669280" y="4517136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17" name="Text 14"/>
          <p:cNvSpPr/>
          <p:nvPr/>
        </p:nvSpPr>
        <p:spPr>
          <a:xfrm>
            <a:off x="5669280" y="4572000"/>
            <a:ext cx="58521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650"/>
              </a:lnSpc>
              <a:buNone/>
            </a:pPr>
            <a:r>
              <a:rPr lang="pt-BR" sz="1250" b="1" noProof="0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Por que este teste vale mais.  </a:t>
            </a:r>
            <a:r>
              <a:rPr lang="pt-BR" sz="1250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Nenhuma das seis variáveis do índice foi usada para classificar um setor como favela. A lista é oficial e já foi conferida setor a setor com 100% de concordância. O corte fixado no plano era 0,75.</a:t>
            </a:r>
            <a:endParaRPr lang="pt-BR" sz="1250" noProof="0" dirty="0"/>
          </a:p>
        </p:txBody>
      </p:sp>
      <p:sp>
        <p:nvSpPr>
          <p:cNvPr id="18" name="Text 15"/>
          <p:cNvSpPr/>
          <p:nvPr/>
        </p:nvSpPr>
        <p:spPr>
          <a:xfrm>
            <a:off x="777240" y="5742432"/>
            <a:ext cx="106344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050" b="1" noProof="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Figura 5 — </a:t>
            </a:r>
            <a:r>
              <a:rPr lang="pt-BR" sz="1050" noProof="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Separação dos setores de Favela e Comunidade Urbana.  Fonte: figuras/nb04_roc_fcu.png, bloco 9 do Notebook 04.</a:t>
            </a:r>
            <a:endParaRPr lang="pt-BR" sz="1050" noProof="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pt-BR" sz="1000" noProof="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25</a:t>
            </a:r>
            <a:endParaRPr lang="pt-BR" sz="1000" noProof="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r>
              <a:rPr lang="pt-BR" sz="2600" b="1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custo de cada escolha, em setores </a:t>
            </a:r>
            <a:r>
              <a:rPr lang="pt-BR" sz="2600" b="1" dirty="0">
                <a:solidFill>
                  <a:srgbClr val="FF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– EXPLICAR SLIDE</a:t>
            </a:r>
            <a:endParaRPr lang="pt-BR" sz="2600" noProof="0" dirty="0"/>
          </a:p>
        </p:txBody>
      </p:sp>
      <p:sp>
        <p:nvSpPr>
          <p:cNvPr id="4" name="Text 2"/>
          <p:cNvSpPr/>
          <p:nvPr/>
        </p:nvSpPr>
        <p:spPr>
          <a:xfrm>
            <a:off x="777240" y="969264"/>
            <a:ext cx="97200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300" i="1" noProof="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métrica não é variância explicada. É quantos setores mudam de faixa de risco.</a:t>
            </a:r>
            <a:endParaRPr lang="pt-BR" sz="1300" noProof="0" dirty="0"/>
          </a:p>
        </p:txBody>
      </p:sp>
      <p:sp>
        <p:nvSpPr>
          <p:cNvPr id="5" name="Shape 3"/>
          <p:cNvSpPr/>
          <p:nvPr/>
        </p:nvSpPr>
        <p:spPr>
          <a:xfrm>
            <a:off x="777240" y="1426464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6" name="Text 4"/>
          <p:cNvSpPr/>
          <p:nvPr/>
        </p:nvSpPr>
        <p:spPr>
          <a:xfrm>
            <a:off x="777240" y="1627632"/>
            <a:ext cx="106344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100" b="1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Tabela 7 — </a:t>
            </a:r>
            <a:r>
              <a:rPr lang="pt-BR" sz="1100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Mudança de classificação em quartis, contra a referência de dois fatores com pesos empíricos.</a:t>
            </a:r>
            <a:endParaRPr lang="pt-BR" sz="1100" noProof="0" dirty="0"/>
          </a:p>
        </p:txBody>
      </p:sp>
      <p:sp>
        <p:nvSpPr>
          <p:cNvPr id="7" name="Text 5"/>
          <p:cNvSpPr/>
          <p:nvPr/>
        </p:nvSpPr>
        <p:spPr>
          <a:xfrm>
            <a:off x="777240" y="1883664"/>
            <a:ext cx="10634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950" i="1" noProof="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Fonte: nb04_cenarios.csv e nb04_contingencia_*.</a:t>
            </a:r>
            <a:r>
              <a:rPr lang="pt-BR" sz="950" i="1" noProof="0" dirty="0" err="1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csv</a:t>
            </a:r>
            <a:r>
              <a:rPr lang="pt-BR" sz="950" i="1" noProof="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.</a:t>
            </a:r>
            <a:endParaRPr lang="pt-BR" sz="950" noProof="0" dirty="0"/>
          </a:p>
        </p:txBody>
      </p:sp>
      <p:graphicFrame>
        <p:nvGraphicFramePr>
          <p:cNvPr id="2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36404703"/>
              </p:ext>
            </p:extLst>
          </p:nvPr>
        </p:nvGraphicFramePr>
        <p:xfrm>
          <a:off x="777240" y="2176272"/>
          <a:ext cx="10634472" cy="1828800"/>
        </p:xfrm>
        <a:graphic>
          <a:graphicData uri="http://schemas.openxmlformats.org/drawingml/2006/table">
            <a:tbl>
              <a:tblPr/>
              <a:tblGrid>
                <a:gridCol w="49377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4183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b="1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Cenário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b="1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Setores que mudam de faixa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b="1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% dos 87.545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b="1" noProof="0" dirty="0" err="1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Spearman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20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Pesos 60/40 em vez de 65/35</a:t>
                      </a:r>
                      <a:endParaRPr lang="pt-BR" sz="120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20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2.196</a:t>
                      </a:r>
                      <a:endParaRPr lang="pt-BR" sz="120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20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2,5%</a:t>
                      </a:r>
                      <a:endParaRPr lang="pt-BR" sz="120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20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0,9993</a:t>
                      </a:r>
                      <a:endParaRPr lang="pt-BR" sz="120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20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Sem o analfabetismo (política do sigilo)</a:t>
                      </a:r>
                      <a:endParaRPr lang="pt-BR" sz="120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20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6.587</a:t>
                      </a:r>
                      <a:endParaRPr lang="pt-BR" sz="120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20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7,5%</a:t>
                      </a:r>
                      <a:endParaRPr lang="pt-BR" sz="120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20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0,9948</a:t>
                      </a:r>
                      <a:endParaRPr lang="pt-BR" sz="120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20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Um fator em vez de dois</a:t>
                      </a:r>
                      <a:endParaRPr lang="pt-BR" sz="120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20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7.668</a:t>
                      </a:r>
                      <a:endParaRPr lang="pt-BR" sz="120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20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8,8%</a:t>
                      </a:r>
                      <a:endParaRPr lang="pt-BR" sz="120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20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0,9830</a:t>
                      </a:r>
                      <a:endParaRPr lang="pt-BR" sz="120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777240" y="4133088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10" name="Text 7"/>
          <p:cNvSpPr/>
          <p:nvPr/>
        </p:nvSpPr>
        <p:spPr>
          <a:xfrm>
            <a:off x="777240" y="4187952"/>
            <a:ext cx="1063447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650"/>
              </a:lnSpc>
              <a:buNone/>
            </a:pPr>
            <a:r>
              <a:rPr lang="pt-BR" sz="1250" b="1" noProof="0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decisão nº 1 deixa de ser crítica.  </a:t>
            </a:r>
            <a:r>
              <a:rPr lang="pt-BR" sz="1250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Trocar os pesos empíricos pelos 60/40 da literatura move 2,5% dos setores de faixa, com correlação de 0,9993 entre as duas ordenações. É o menor custo dos três cenários — e isso é resultado publicável, não detalhe técnico.</a:t>
            </a:r>
            <a:endParaRPr lang="pt-BR" sz="1250" noProof="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pt-BR" sz="1000" noProof="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26</a:t>
            </a:r>
            <a:endParaRPr lang="pt-BR" sz="1000" noProof="0" dirty="0"/>
          </a:p>
        </p:txBody>
      </p:sp>
      <p:sp>
        <p:nvSpPr>
          <p:cNvPr id="3" name="Text 1"/>
          <p:cNvSpPr/>
          <p:nvPr/>
        </p:nvSpPr>
        <p:spPr>
          <a:xfrm>
            <a:off x="777240" y="2331720"/>
            <a:ext cx="1097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5400" b="1" noProof="0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</a:t>
            </a:r>
            <a:endParaRPr lang="pt-BR" sz="5400" noProof="0" dirty="0"/>
          </a:p>
        </p:txBody>
      </p:sp>
      <p:sp>
        <p:nvSpPr>
          <p:cNvPr id="4" name="Text 2"/>
          <p:cNvSpPr/>
          <p:nvPr/>
        </p:nvSpPr>
        <p:spPr>
          <a:xfrm>
            <a:off x="1920240" y="2331720"/>
            <a:ext cx="94914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3200" b="1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Duas perguntas que sobraram</a:t>
            </a:r>
            <a:endParaRPr lang="pt-BR" sz="3200" noProof="0" dirty="0"/>
          </a:p>
        </p:txBody>
      </p:sp>
      <p:sp>
        <p:nvSpPr>
          <p:cNvPr id="5" name="Shape 3"/>
          <p:cNvSpPr/>
          <p:nvPr/>
        </p:nvSpPr>
        <p:spPr>
          <a:xfrm>
            <a:off x="777240" y="3273552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pt-BR" sz="1000" noProof="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27</a:t>
            </a:r>
            <a:endParaRPr lang="pt-BR" sz="1000" noProof="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r>
              <a:rPr lang="pt-BR" sz="2600" b="1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renda sem o extremo não muda nada </a:t>
            </a:r>
            <a:r>
              <a:rPr lang="pt-BR" sz="2600" b="1" dirty="0">
                <a:solidFill>
                  <a:srgbClr val="FF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– EXPLICAR SLIDE</a:t>
            </a:r>
            <a:endParaRPr lang="pt-BR" sz="2600" noProof="0" dirty="0"/>
          </a:p>
        </p:txBody>
      </p:sp>
      <p:sp>
        <p:nvSpPr>
          <p:cNvPr id="4" name="Text 2"/>
          <p:cNvSpPr/>
          <p:nvPr/>
        </p:nvSpPr>
        <p:spPr>
          <a:xfrm>
            <a:off x="777240" y="969264"/>
            <a:ext cx="97200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300" i="1" noProof="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2ª rodada da EDA recalculou tudo com </a:t>
            </a:r>
            <a:r>
              <a:rPr lang="pt-BR" sz="1300" i="1" noProof="0" dirty="0" err="1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renda_media_sem_extremo</a:t>
            </a:r>
            <a:r>
              <a:rPr lang="pt-BR" sz="1300" i="1" noProof="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. A fatorial é anterior a essa coluna.</a:t>
            </a:r>
            <a:endParaRPr lang="pt-BR" sz="1300" noProof="0" dirty="0"/>
          </a:p>
        </p:txBody>
      </p:sp>
      <p:sp>
        <p:nvSpPr>
          <p:cNvPr id="5" name="Shape 3"/>
          <p:cNvSpPr/>
          <p:nvPr/>
        </p:nvSpPr>
        <p:spPr>
          <a:xfrm>
            <a:off x="777240" y="1426464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6" name="Text 4"/>
          <p:cNvSpPr/>
          <p:nvPr/>
        </p:nvSpPr>
        <p:spPr>
          <a:xfrm>
            <a:off x="777240" y="1627632"/>
            <a:ext cx="106344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100" b="1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Tabela 8 — </a:t>
            </a:r>
            <a:r>
              <a:rPr lang="pt-BR" sz="1100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mesma fatorial, trocando só a coluna de renda.</a:t>
            </a:r>
            <a:endParaRPr lang="pt-BR" sz="1100" noProof="0" dirty="0"/>
          </a:p>
        </p:txBody>
      </p:sp>
      <p:sp>
        <p:nvSpPr>
          <p:cNvPr id="7" name="Text 5"/>
          <p:cNvSpPr/>
          <p:nvPr/>
        </p:nvSpPr>
        <p:spPr>
          <a:xfrm>
            <a:off x="777240" y="1883664"/>
            <a:ext cx="10634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950" i="1" noProof="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Fonte: nb04_renda_sem_extremo.csv. Mesmas seis variáveis, mesmo recorte, mesma rotação.</a:t>
            </a:r>
            <a:endParaRPr lang="pt-BR" sz="950" noProof="0" dirty="0"/>
          </a:p>
        </p:txBody>
      </p:sp>
      <p:graphicFrame>
        <p:nvGraphicFramePr>
          <p:cNvPr id="2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58112094"/>
              </p:ext>
            </p:extLst>
          </p:nvPr>
        </p:nvGraphicFramePr>
        <p:xfrm>
          <a:off x="777240" y="2176272"/>
          <a:ext cx="10634472" cy="2011680"/>
        </p:xfrm>
        <a:graphic>
          <a:graphicData uri="http://schemas.openxmlformats.org/drawingml/2006/table">
            <a:tbl>
              <a:tblPr/>
              <a:tblGrid>
                <a:gridCol w="38404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03911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0233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00" b="1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Medida</a:t>
                      </a:r>
                      <a:endParaRPr lang="pt-BR" sz="110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00" b="1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com </a:t>
                      </a:r>
                      <a:r>
                        <a:rPr lang="pt-BR" sz="1100" b="1" noProof="0" dirty="0" err="1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renda_media</a:t>
                      </a:r>
                      <a:endParaRPr lang="pt-BR" sz="110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00" b="1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sem o extremo</a:t>
                      </a:r>
                      <a:endParaRPr lang="pt-BR" sz="110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00" b="1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diferença</a:t>
                      </a:r>
                      <a:endParaRPr lang="pt-BR" sz="110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KMO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0,7870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0,7870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-0,00003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MSA mínimo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0,7153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0,7153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-0,00005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peso socioeconômico (%)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65,038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65,038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0,00036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peso saneamento (%)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34,962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34,962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-0,00036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777240" y="4279392"/>
            <a:ext cx="3291840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10" name="Text 7"/>
          <p:cNvSpPr/>
          <p:nvPr/>
        </p:nvSpPr>
        <p:spPr>
          <a:xfrm>
            <a:off x="777240" y="4352544"/>
            <a:ext cx="3291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3000" b="1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0,0000</a:t>
            </a:r>
            <a:endParaRPr lang="pt-BR" sz="3000" noProof="0" dirty="0"/>
          </a:p>
        </p:txBody>
      </p:sp>
      <p:sp>
        <p:nvSpPr>
          <p:cNvPr id="11" name="Text 8"/>
          <p:cNvSpPr/>
          <p:nvPr/>
        </p:nvSpPr>
        <p:spPr>
          <a:xfrm>
            <a:off x="777240" y="4937760"/>
            <a:ext cx="3291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050" noProof="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maior diferença entre as cargas</a:t>
            </a:r>
            <a:endParaRPr lang="pt-BR" sz="1050" noProof="0" dirty="0"/>
          </a:p>
        </p:txBody>
      </p:sp>
      <p:sp>
        <p:nvSpPr>
          <p:cNvPr id="12" name="Shape 9"/>
          <p:cNvSpPr/>
          <p:nvPr/>
        </p:nvSpPr>
        <p:spPr>
          <a:xfrm>
            <a:off x="4617720" y="4279392"/>
            <a:ext cx="3291840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13" name="Text 10"/>
          <p:cNvSpPr/>
          <p:nvPr/>
        </p:nvSpPr>
        <p:spPr>
          <a:xfrm>
            <a:off x="4617720" y="4352544"/>
            <a:ext cx="3291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3000" b="1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278</a:t>
            </a:r>
            <a:endParaRPr lang="pt-BR" sz="3000" noProof="0" dirty="0"/>
          </a:p>
        </p:txBody>
      </p:sp>
      <p:sp>
        <p:nvSpPr>
          <p:cNvPr id="14" name="Text 11"/>
          <p:cNvSpPr/>
          <p:nvPr/>
        </p:nvSpPr>
        <p:spPr>
          <a:xfrm>
            <a:off x="4617720" y="4937760"/>
            <a:ext cx="3291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050" noProof="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setores que mudam de faixa, de 87.544</a:t>
            </a:r>
            <a:endParaRPr lang="pt-BR" sz="1050" noProof="0" dirty="0"/>
          </a:p>
        </p:txBody>
      </p:sp>
      <p:sp>
        <p:nvSpPr>
          <p:cNvPr id="15" name="Shape 12"/>
          <p:cNvSpPr/>
          <p:nvPr/>
        </p:nvSpPr>
        <p:spPr>
          <a:xfrm>
            <a:off x="8458200" y="4279392"/>
            <a:ext cx="2926080" cy="0"/>
          </a:xfrm>
          <a:prstGeom prst="line">
            <a:avLst/>
          </a:prstGeom>
          <a:noFill/>
          <a:ln w="12700">
            <a:solidFill>
              <a:srgbClr val="8C2F27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16" name="Text 13"/>
          <p:cNvSpPr/>
          <p:nvPr/>
        </p:nvSpPr>
        <p:spPr>
          <a:xfrm>
            <a:off x="8458200" y="4352544"/>
            <a:ext cx="2926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3000" b="1" noProof="0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0,999976</a:t>
            </a:r>
            <a:endParaRPr lang="pt-BR" sz="3000" noProof="0" dirty="0"/>
          </a:p>
        </p:txBody>
      </p:sp>
      <p:sp>
        <p:nvSpPr>
          <p:cNvPr id="17" name="Text 14"/>
          <p:cNvSpPr/>
          <p:nvPr/>
        </p:nvSpPr>
        <p:spPr>
          <a:xfrm>
            <a:off x="8458200" y="4937760"/>
            <a:ext cx="2926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050" noProof="0" dirty="0" err="1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Spearman</a:t>
            </a:r>
            <a:r>
              <a:rPr lang="pt-BR" sz="1050" noProof="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entre os dois índices</a:t>
            </a:r>
            <a:endParaRPr lang="pt-BR" sz="1050" noProof="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pt-BR" sz="1000" noProof="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28</a:t>
            </a:r>
            <a:endParaRPr lang="pt-BR" sz="1000" noProof="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pt-BR" sz="2600" b="1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IVS é construto reflexivo ou índice formativo?</a:t>
            </a:r>
            <a:endParaRPr lang="pt-BR" sz="2600" noProof="0" dirty="0"/>
          </a:p>
        </p:txBody>
      </p:sp>
      <p:sp>
        <p:nvSpPr>
          <p:cNvPr id="4" name="Text 2"/>
          <p:cNvSpPr/>
          <p:nvPr/>
        </p:nvSpPr>
        <p:spPr>
          <a:xfrm>
            <a:off x="777240" y="969264"/>
            <a:ext cx="97200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300" i="1" noProof="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objeção conceitual mais séria em aberto. Ela decide se a análise fatorial é o instrumento certo.</a:t>
            </a:r>
            <a:endParaRPr lang="pt-BR" sz="1300" noProof="0" dirty="0"/>
          </a:p>
        </p:txBody>
      </p:sp>
      <p:sp>
        <p:nvSpPr>
          <p:cNvPr id="5" name="Shape 3"/>
          <p:cNvSpPr/>
          <p:nvPr/>
        </p:nvSpPr>
        <p:spPr>
          <a:xfrm>
            <a:off x="777240" y="1426464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6" name="Text 4"/>
          <p:cNvSpPr/>
          <p:nvPr/>
        </p:nvSpPr>
        <p:spPr>
          <a:xfrm>
            <a:off x="777240" y="1810512"/>
            <a:ext cx="51206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650"/>
              </a:lnSpc>
              <a:buNone/>
            </a:pPr>
            <a:r>
              <a:rPr lang="pt-BR" sz="1250" b="1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Reflexivo — o latente CAUSA os indicadores.  </a:t>
            </a:r>
            <a:r>
              <a:rPr lang="pt-BR" sz="1250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vulnerabilidade existiria como propriedade do território e se manifestaria em renda baixa, analfabetismo, saneamento precário. Os indicadores são intercambiáveis, devem correlacionar-se alto, e retirar um não muda o significado. É o modelo que a análise fatorial pressupõe.</a:t>
            </a:r>
            <a:endParaRPr lang="pt-BR" sz="1250" noProof="0" dirty="0"/>
          </a:p>
        </p:txBody>
      </p:sp>
      <p:sp>
        <p:nvSpPr>
          <p:cNvPr id="7" name="Shape 5"/>
          <p:cNvSpPr/>
          <p:nvPr/>
        </p:nvSpPr>
        <p:spPr>
          <a:xfrm>
            <a:off x="6355080" y="1755648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8" name="Text 6"/>
          <p:cNvSpPr/>
          <p:nvPr/>
        </p:nvSpPr>
        <p:spPr>
          <a:xfrm>
            <a:off x="6355080" y="1810512"/>
            <a:ext cx="51206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650"/>
              </a:lnSpc>
              <a:buNone/>
            </a:pPr>
            <a:r>
              <a:rPr lang="pt-BR" sz="1250" b="1" noProof="0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Formativo — os indicadores CONSTITUEM o índice.  </a:t>
            </a:r>
            <a:r>
              <a:rPr lang="pt-BR" sz="1250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Vulnerabilidade É a combinação de privações. Cada indicador é faceta definidora, não precisam correlacionar-se, e retirar um muda o significado. Os pesos viriam de teoria ou de política pública, não da covariância.</a:t>
            </a:r>
            <a:endParaRPr lang="pt-BR" sz="1250" noProof="0" dirty="0"/>
          </a:p>
        </p:txBody>
      </p:sp>
      <p:graphicFrame>
        <p:nvGraphicFramePr>
          <p:cNvPr id="2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93818094"/>
              </p:ext>
            </p:extLst>
          </p:nvPr>
        </p:nvGraphicFramePr>
        <p:xfrm>
          <a:off x="777240" y="3867912"/>
          <a:ext cx="10634472" cy="1920240"/>
        </p:xfrm>
        <a:graphic>
          <a:graphicData uri="http://schemas.openxmlformats.org/drawingml/2006/table">
            <a:tbl>
              <a:tblPr/>
              <a:tblGrid>
                <a:gridCol w="38404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291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50215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050" b="1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Resultado deste trabalho</a:t>
                      </a:r>
                      <a:endParaRPr lang="pt-BR" sz="10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050" b="1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Leitura reflexiva</a:t>
                      </a:r>
                      <a:endParaRPr lang="pt-BR" sz="10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050" b="1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Leitura formativa</a:t>
                      </a:r>
                      <a:endParaRPr lang="pt-BR" sz="10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0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Lixo com comunalidade 0,052</a:t>
                      </a:r>
                      <a:endParaRPr lang="pt-BR" sz="110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0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não pertence: retirar</a:t>
                      </a:r>
                      <a:endParaRPr lang="pt-BR" sz="110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00" b="1" noProof="0" dirty="0">
                          <a:solidFill>
                            <a:srgbClr val="8C2F27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faceta que falta: manter</a:t>
                      </a:r>
                      <a:endParaRPr lang="pt-BR" sz="110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0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Renda × cor/raça a 0,784</a:t>
                      </a:r>
                      <a:endParaRPr lang="pt-BR" sz="110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0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bloco coeso, evidência do construto</a:t>
                      </a:r>
                      <a:endParaRPr lang="pt-BR" sz="110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00" noProof="0" dirty="0" err="1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multicolinearidade</a:t>
                      </a:r>
                      <a:r>
                        <a:rPr lang="pt-BR" sz="110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, atrapalha</a:t>
                      </a:r>
                      <a:endParaRPr lang="pt-BR" sz="110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0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KMO 0,783 e Bartlett</a:t>
                      </a:r>
                      <a:endParaRPr lang="pt-BR" sz="110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0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provam adequabilidade</a:t>
                      </a:r>
                      <a:endParaRPr lang="pt-BR" sz="110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00" b="1" noProof="0" dirty="0">
                          <a:solidFill>
                            <a:srgbClr val="8C2F27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não se aplicam</a:t>
                      </a:r>
                      <a:endParaRPr lang="pt-BR" sz="110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0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Pesos 65/35 empíricos</a:t>
                      </a:r>
                      <a:endParaRPr lang="pt-BR" sz="110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0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saem da estrutura latente</a:t>
                      </a:r>
                      <a:endParaRPr lang="pt-BR" sz="110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0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teriam de sair de teoria</a:t>
                      </a:r>
                      <a:endParaRPr lang="pt-BR" sz="110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pt-BR" sz="1000" noProof="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29</a:t>
            </a:r>
            <a:endParaRPr lang="pt-BR" sz="1000" noProof="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pt-BR" sz="2600" b="1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saída que os dados sugerem</a:t>
            </a:r>
            <a:endParaRPr lang="pt-BR" sz="2600" noProof="0" dirty="0"/>
          </a:p>
        </p:txBody>
      </p:sp>
      <p:sp>
        <p:nvSpPr>
          <p:cNvPr id="4" name="Text 2"/>
          <p:cNvSpPr/>
          <p:nvPr/>
        </p:nvSpPr>
        <p:spPr>
          <a:xfrm>
            <a:off x="777240" y="969264"/>
            <a:ext cx="97200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300" i="1" noProof="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Um híbrido — e ele explica uma coisa que estava sem explicação.</a:t>
            </a:r>
            <a:endParaRPr lang="pt-BR" sz="1300" noProof="0" dirty="0"/>
          </a:p>
        </p:txBody>
      </p:sp>
      <p:sp>
        <p:nvSpPr>
          <p:cNvPr id="5" name="Shape 3"/>
          <p:cNvSpPr/>
          <p:nvPr/>
        </p:nvSpPr>
        <p:spPr>
          <a:xfrm>
            <a:off x="777240" y="1426464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6" name="Text 4"/>
          <p:cNvSpPr/>
          <p:nvPr/>
        </p:nvSpPr>
        <p:spPr>
          <a:xfrm>
            <a:off x="777240" y="1856232"/>
            <a:ext cx="1063447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650"/>
              </a:lnSpc>
              <a:buNone/>
            </a:pPr>
            <a:r>
              <a:rPr lang="pt-BR" sz="1250" b="1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Dentro de cada dimensão, o comportamento é reflexivo.  </a:t>
            </a:r>
            <a:r>
              <a:rPr lang="pt-BR" sz="1250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Renda, analfabetismo e cor/raça correlacionam-se de 0,63 a 0,78 e claramente manifestam uma mesma posição social do território. Água e esgoto, a 0,41, manifestam infraestrutura de saneamento. Nos dois blocos, os indicadores parecem efeitos de uma causa comum.</a:t>
            </a:r>
            <a:endParaRPr lang="pt-BR" sz="1250" noProof="0" dirty="0"/>
          </a:p>
        </p:txBody>
      </p:sp>
      <p:sp>
        <p:nvSpPr>
          <p:cNvPr id="7" name="Shape 5"/>
          <p:cNvSpPr/>
          <p:nvPr/>
        </p:nvSpPr>
        <p:spPr>
          <a:xfrm>
            <a:off x="777240" y="3172968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8" name="Text 6"/>
          <p:cNvSpPr/>
          <p:nvPr/>
        </p:nvSpPr>
        <p:spPr>
          <a:xfrm>
            <a:off x="777240" y="3227832"/>
            <a:ext cx="1063447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650"/>
              </a:lnSpc>
              <a:buNone/>
            </a:pPr>
            <a:r>
              <a:rPr lang="pt-BR" sz="1250" b="1" noProof="0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Entre as duas dimensões, a composição é formativa.  </a:t>
            </a:r>
            <a:r>
              <a:rPr lang="pt-BR" sz="1250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Não há razão para supor um latente único que cause tanto a falta de água quanto o analfabetismo. A correlação entre os fatores, </a:t>
            </a:r>
            <a:r>
              <a:rPr lang="pt-BR" sz="1250" noProof="0" dirty="0" err="1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Φ</a:t>
            </a:r>
            <a:r>
              <a:rPr lang="pt-BR" sz="1250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= 0,52, é consistente com isso: alta o bastante para justificar a rotação oblíqua, longe o bastante de 1 para não sugerir um fator só.</a:t>
            </a:r>
            <a:endParaRPr lang="pt-BR" sz="1250" noProof="0" dirty="0"/>
          </a:p>
        </p:txBody>
      </p:sp>
      <p:sp>
        <p:nvSpPr>
          <p:cNvPr id="9" name="Text 7"/>
          <p:cNvSpPr/>
          <p:nvPr/>
        </p:nvSpPr>
        <p:spPr>
          <a:xfrm>
            <a:off x="777240" y="4599432"/>
            <a:ext cx="10634472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650"/>
              </a:lnSpc>
              <a:buNone/>
            </a:pPr>
            <a:r>
              <a:rPr lang="pt-BR" sz="1250" b="1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consequência, e ela já está medida.  </a:t>
            </a:r>
            <a:r>
              <a:rPr lang="pt-BR" sz="1250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análise fatorial é legítima para obter os pesos DENTRO de cada bloco. A repartição ENTRE blocos — o 65/35 — é decisão formativa, que os dados não têm como arbitrar. É isso que explica por que a escolha entre 65/35 e 60/40 custa apenas 2,5% dos setores: ela nunca foi uma questão empírica.</a:t>
            </a:r>
            <a:endParaRPr lang="pt-BR" sz="1250" noProof="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pt-BR" sz="1000" noProof="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30</a:t>
            </a:r>
            <a:endParaRPr lang="pt-BR" sz="1000" noProof="0" dirty="0"/>
          </a:p>
        </p:txBody>
      </p:sp>
      <p:sp>
        <p:nvSpPr>
          <p:cNvPr id="3" name="Text 1"/>
          <p:cNvSpPr/>
          <p:nvPr/>
        </p:nvSpPr>
        <p:spPr>
          <a:xfrm>
            <a:off x="777240" y="2331720"/>
            <a:ext cx="1097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5400" b="1" noProof="0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</a:t>
            </a:r>
            <a:endParaRPr lang="pt-BR" sz="5400" noProof="0" dirty="0"/>
          </a:p>
        </p:txBody>
      </p:sp>
      <p:sp>
        <p:nvSpPr>
          <p:cNvPr id="4" name="Text 2"/>
          <p:cNvSpPr/>
          <p:nvPr/>
        </p:nvSpPr>
        <p:spPr>
          <a:xfrm>
            <a:off x="1920240" y="2331720"/>
            <a:ext cx="94914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pt-BR" sz="3200" b="1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código, por dentro </a:t>
            </a:r>
            <a:r>
              <a:rPr lang="pt-BR" sz="3200" b="1" dirty="0">
                <a:solidFill>
                  <a:srgbClr val="FF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– EXPLICAR Parte 8 TODA</a:t>
            </a:r>
            <a:endParaRPr lang="pt-BR" sz="3200" noProof="0" dirty="0"/>
          </a:p>
        </p:txBody>
      </p:sp>
      <p:sp>
        <p:nvSpPr>
          <p:cNvPr id="5" name="Shape 3"/>
          <p:cNvSpPr/>
          <p:nvPr/>
        </p:nvSpPr>
        <p:spPr>
          <a:xfrm>
            <a:off x="777240" y="3273552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6" name="Text 4"/>
          <p:cNvSpPr/>
          <p:nvPr/>
        </p:nvSpPr>
        <p:spPr>
          <a:xfrm>
            <a:off x="1920240" y="3401568"/>
            <a:ext cx="90342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400" i="1" noProof="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a análise foi construída em Python, linha a linha, e como se faria em R.</a:t>
            </a:r>
            <a:endParaRPr lang="pt-BR" sz="1400" noProof="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pt-BR" sz="1000" noProof="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31</a:t>
            </a:r>
            <a:endParaRPr lang="pt-BR" sz="1000" noProof="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r>
              <a:rPr lang="pt-BR" sz="2600" b="1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Por que </a:t>
            </a:r>
            <a:r>
              <a:rPr lang="pt-BR" sz="2600" b="1" noProof="0" dirty="0" err="1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numpy</a:t>
            </a:r>
            <a:r>
              <a:rPr lang="pt-BR" sz="2600" b="1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puro, e não uma biblioteca pronta </a:t>
            </a:r>
            <a:r>
              <a:rPr lang="pt-BR" sz="2600" b="1" dirty="0">
                <a:solidFill>
                  <a:srgbClr val="FF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– EXPLICAR SLIDE</a:t>
            </a:r>
            <a:endParaRPr lang="pt-BR" sz="2600" noProof="0" dirty="0"/>
          </a:p>
        </p:txBody>
      </p:sp>
      <p:sp>
        <p:nvSpPr>
          <p:cNvPr id="4" name="Text 2"/>
          <p:cNvSpPr/>
          <p:nvPr/>
        </p:nvSpPr>
        <p:spPr>
          <a:xfrm>
            <a:off x="777240" y="969264"/>
            <a:ext cx="97200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300" i="1" noProof="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pergunta aparece sempre, e a resposta é de engenharia — mas teve um efeito colateral melhor.</a:t>
            </a:r>
            <a:endParaRPr lang="pt-BR" sz="1300" noProof="0" dirty="0"/>
          </a:p>
        </p:txBody>
      </p:sp>
      <p:sp>
        <p:nvSpPr>
          <p:cNvPr id="5" name="Shape 3"/>
          <p:cNvSpPr/>
          <p:nvPr/>
        </p:nvSpPr>
        <p:spPr>
          <a:xfrm>
            <a:off x="777240" y="1426464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6" name="Text 4"/>
          <p:cNvSpPr/>
          <p:nvPr/>
        </p:nvSpPr>
        <p:spPr>
          <a:xfrm>
            <a:off x="777240" y="1856232"/>
            <a:ext cx="52120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650"/>
              </a:lnSpc>
              <a:buNone/>
            </a:pPr>
            <a:r>
              <a:rPr lang="pt-BR" sz="1250" b="1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razão declarada.  </a:t>
            </a:r>
            <a:r>
              <a:rPr lang="pt-BR" sz="1250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</a:t>
            </a:r>
            <a:r>
              <a:rPr lang="pt-BR" sz="1250" noProof="0" dirty="0" err="1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requirements.txt</a:t>
            </a:r>
            <a:r>
              <a:rPr lang="pt-BR" sz="1250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tem cinco pacotes. Acrescentar </a:t>
            </a:r>
            <a:r>
              <a:rPr lang="pt-BR" sz="1250" noProof="0" dirty="0" err="1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factor_analyzer</a:t>
            </a:r>
            <a:r>
              <a:rPr lang="pt-BR" sz="1250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traria conveniência e traria uma dependência a mais para instalar, </a:t>
            </a:r>
            <a:r>
              <a:rPr lang="pt-BR" sz="1250" noProof="0" dirty="0" err="1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versionar</a:t>
            </a:r>
            <a:r>
              <a:rPr lang="pt-BR" sz="1250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e justificar numa dissertação — por um ganho de digitação, não de método. Tudo que a análise precisa é álgebra linear que o </a:t>
            </a:r>
            <a:r>
              <a:rPr lang="pt-BR" sz="1250" noProof="0" dirty="0" err="1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numpy</a:t>
            </a:r>
            <a:r>
              <a:rPr lang="pt-BR" sz="1250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já faz.</a:t>
            </a:r>
            <a:endParaRPr lang="pt-BR" sz="1250" noProof="0" dirty="0"/>
          </a:p>
        </p:txBody>
      </p:sp>
      <p:sp>
        <p:nvSpPr>
          <p:cNvPr id="7" name="Shape 5"/>
          <p:cNvSpPr/>
          <p:nvPr/>
        </p:nvSpPr>
        <p:spPr>
          <a:xfrm>
            <a:off x="6446520" y="1801368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8" name="Text 6"/>
          <p:cNvSpPr/>
          <p:nvPr/>
        </p:nvSpPr>
        <p:spPr>
          <a:xfrm>
            <a:off x="6446520" y="1856232"/>
            <a:ext cx="52120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650"/>
              </a:lnSpc>
              <a:buNone/>
            </a:pPr>
            <a:r>
              <a:rPr lang="pt-BR" sz="1250" b="1" noProof="0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razão que apareceu depois.  </a:t>
            </a:r>
            <a:r>
              <a:rPr lang="pt-BR" sz="1250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Quem escreve a conta à mão precisa saber a conta. Foi escrevendo o KMO que ficou claro que ele se apoia na matriz </a:t>
            </a:r>
            <a:r>
              <a:rPr lang="pt-BR" sz="1250" noProof="0" dirty="0" err="1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anti-imagem</a:t>
            </a:r>
            <a:r>
              <a:rPr lang="pt-BR" sz="1250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; foi escrevendo o </a:t>
            </a:r>
            <a:r>
              <a:rPr lang="pt-BR" sz="1250" noProof="0" dirty="0" err="1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promax</a:t>
            </a:r>
            <a:r>
              <a:rPr lang="pt-BR" sz="1250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que ficou claro por que existem DUAS matrizes de carga numa solução oblíqua. Nenhuma das duas coisas se aprende chamando uma função.</a:t>
            </a:r>
            <a:endParaRPr lang="pt-BR" sz="1250" noProof="0" dirty="0"/>
          </a:p>
        </p:txBody>
      </p:sp>
      <p:sp>
        <p:nvSpPr>
          <p:cNvPr id="9" name="Text 7"/>
          <p:cNvSpPr/>
          <p:nvPr/>
        </p:nvSpPr>
        <p:spPr>
          <a:xfrm>
            <a:off x="777240" y="4005072"/>
            <a:ext cx="1063447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650"/>
              </a:lnSpc>
              <a:buNone/>
            </a:pPr>
            <a:r>
              <a:rPr lang="pt-BR" sz="1250" b="1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Em </a:t>
            </a:r>
            <a:r>
              <a:rPr lang="pt-BR" sz="1250" b="1" noProof="0" dirty="0" err="1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</a:t>
            </a:r>
            <a:r>
              <a:rPr lang="pt-BR" sz="1250" b="1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a escolha seria outra, e razoável.  </a:t>
            </a:r>
            <a:r>
              <a:rPr lang="pt-BR" sz="1250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pacote </a:t>
            </a:r>
            <a:r>
              <a:rPr lang="pt-BR" sz="1250" noProof="0" dirty="0" err="1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psych</a:t>
            </a:r>
            <a:r>
              <a:rPr lang="pt-BR" sz="1250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é o padrão da área, está em toda a bibliografia — inclusive nos exemplos do livro da Enap, que são em </a:t>
            </a:r>
            <a:r>
              <a:rPr lang="pt-BR" sz="1250" noProof="0" dirty="0" err="1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</a:t>
            </a:r>
            <a:r>
              <a:rPr lang="pt-BR" sz="1250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— e não é dependência exótica. Os próximos slides mostram a correspondência função a função, e o script completo.</a:t>
            </a:r>
            <a:endParaRPr lang="pt-BR" sz="1250" noProof="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pt-BR" sz="1000" noProof="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32</a:t>
            </a:r>
            <a:endParaRPr lang="pt-BR" sz="1000" noProof="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r>
              <a:rPr lang="pt-BR" sz="2600" b="1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caminho, em nove passos </a:t>
            </a:r>
            <a:r>
              <a:rPr lang="pt-BR" sz="2600" b="1" dirty="0">
                <a:solidFill>
                  <a:srgbClr val="FF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– EXPLICAR SLIDE</a:t>
            </a:r>
            <a:endParaRPr lang="pt-BR" sz="2600" noProof="0" dirty="0"/>
          </a:p>
        </p:txBody>
      </p:sp>
      <p:sp>
        <p:nvSpPr>
          <p:cNvPr id="4" name="Text 2"/>
          <p:cNvSpPr/>
          <p:nvPr/>
        </p:nvSpPr>
        <p:spPr>
          <a:xfrm>
            <a:off x="777240" y="969264"/>
            <a:ext cx="97200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300" i="1" noProof="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Cada passo, a função que o faz aqui e a que o faria em R.</a:t>
            </a:r>
            <a:endParaRPr lang="pt-BR" sz="1300" noProof="0" dirty="0"/>
          </a:p>
        </p:txBody>
      </p:sp>
      <p:sp>
        <p:nvSpPr>
          <p:cNvPr id="5" name="Shape 3"/>
          <p:cNvSpPr/>
          <p:nvPr/>
        </p:nvSpPr>
        <p:spPr>
          <a:xfrm>
            <a:off x="777240" y="1426464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graphicFrame>
        <p:nvGraphicFramePr>
          <p:cNvPr id="3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18528898"/>
              </p:ext>
            </p:extLst>
          </p:nvPr>
        </p:nvGraphicFramePr>
        <p:xfrm>
          <a:off x="777240" y="1627632"/>
          <a:ext cx="10634472" cy="4206240"/>
        </p:xfrm>
        <a:graphic>
          <a:graphicData uri="http://schemas.openxmlformats.org/drawingml/2006/table">
            <a:tbl>
              <a:tblPr/>
              <a:tblGrid>
                <a:gridCol w="5486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200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5661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31927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2062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050" b="1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#</a:t>
                      </a:r>
                      <a:endParaRPr lang="pt-BR" sz="10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050" b="1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Passo</a:t>
                      </a:r>
                      <a:endParaRPr lang="pt-BR" sz="10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050" b="1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Neste projeto (</a:t>
                      </a:r>
                      <a:r>
                        <a:rPr lang="pt-BR" sz="1050" b="1" noProof="0" dirty="0" err="1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numpy</a:t>
                      </a:r>
                      <a:r>
                        <a:rPr lang="pt-BR" sz="1050" b="1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)</a:t>
                      </a:r>
                      <a:endParaRPr lang="pt-BR" sz="10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050" b="1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Em </a:t>
                      </a:r>
                      <a:r>
                        <a:rPr lang="pt-BR" sz="1050" b="1" noProof="0" dirty="0" err="1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</a:t>
                      </a:r>
                      <a:endParaRPr lang="pt-BR" sz="10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0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</a:t>
                      </a:r>
                      <a:endParaRPr lang="pt-BR" sz="110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0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Matriz de correlação</a:t>
                      </a:r>
                      <a:endParaRPr lang="pt-BR" sz="110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00" noProof="0" dirty="0" err="1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X.corr</a:t>
                      </a:r>
                      <a:r>
                        <a:rPr lang="pt-BR" sz="110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(</a:t>
                      </a:r>
                      <a:r>
                        <a:rPr lang="pt-BR" sz="1100" noProof="0" dirty="0" err="1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method</a:t>
                      </a:r>
                      <a:r>
                        <a:rPr lang="pt-BR" sz="110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=’</a:t>
                      </a:r>
                      <a:r>
                        <a:rPr lang="pt-BR" sz="1100" noProof="0" dirty="0" err="1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spearman</a:t>
                      </a:r>
                      <a:r>
                        <a:rPr lang="pt-BR" sz="110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’)</a:t>
                      </a:r>
                      <a:endParaRPr lang="pt-BR" sz="110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0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cor(X, </a:t>
                      </a:r>
                      <a:r>
                        <a:rPr lang="pt-BR" sz="1100" noProof="0" dirty="0" err="1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method</a:t>
                      </a:r>
                      <a:r>
                        <a:rPr lang="pt-BR" sz="110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 = "</a:t>
                      </a:r>
                      <a:r>
                        <a:rPr lang="pt-BR" sz="1100" noProof="0" dirty="0" err="1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spearman</a:t>
                      </a:r>
                      <a:r>
                        <a:rPr lang="pt-BR" sz="110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")</a:t>
                      </a:r>
                      <a:endParaRPr lang="pt-BR" sz="110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0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</a:t>
                      </a:r>
                      <a:endParaRPr lang="pt-BR" sz="110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0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KMO e MSA</a:t>
                      </a:r>
                      <a:endParaRPr lang="pt-BR" sz="110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00" noProof="0" dirty="0" err="1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kmo</a:t>
                      </a:r>
                      <a:r>
                        <a:rPr lang="pt-BR" sz="110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(</a:t>
                      </a:r>
                      <a:r>
                        <a:rPr lang="pt-BR" sz="1100" noProof="0" dirty="0" err="1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</a:t>
                      </a:r>
                      <a:r>
                        <a:rPr lang="pt-BR" sz="110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)</a:t>
                      </a:r>
                      <a:endParaRPr lang="pt-BR" sz="110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00" noProof="0" dirty="0" err="1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psych</a:t>
                      </a:r>
                      <a:r>
                        <a:rPr lang="pt-BR" sz="110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::KMO(</a:t>
                      </a:r>
                      <a:r>
                        <a:rPr lang="pt-BR" sz="1100" noProof="0" dirty="0" err="1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</a:t>
                      </a:r>
                      <a:r>
                        <a:rPr lang="pt-BR" sz="110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)</a:t>
                      </a:r>
                      <a:endParaRPr lang="pt-BR" sz="110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0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</a:t>
                      </a:r>
                      <a:endParaRPr lang="pt-BR" sz="110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0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Teste de Bartlett</a:t>
                      </a:r>
                      <a:endParaRPr lang="pt-BR" sz="110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00" noProof="0" dirty="0" err="1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bartlett</a:t>
                      </a:r>
                      <a:r>
                        <a:rPr lang="pt-BR" sz="110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(</a:t>
                      </a:r>
                      <a:r>
                        <a:rPr lang="pt-BR" sz="1100" noProof="0" dirty="0" err="1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</a:t>
                      </a:r>
                      <a:r>
                        <a:rPr lang="pt-BR" sz="110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, </a:t>
                      </a:r>
                      <a:r>
                        <a:rPr lang="pt-BR" sz="1100" noProof="0" dirty="0" err="1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n</a:t>
                      </a:r>
                      <a:r>
                        <a:rPr lang="pt-BR" sz="110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)</a:t>
                      </a:r>
                      <a:endParaRPr lang="pt-BR" sz="110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00" noProof="0" dirty="0" err="1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psych</a:t>
                      </a:r>
                      <a:r>
                        <a:rPr lang="pt-BR" sz="110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::</a:t>
                      </a:r>
                      <a:r>
                        <a:rPr lang="pt-BR" sz="1100" noProof="0" dirty="0" err="1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cortest.bartlett</a:t>
                      </a:r>
                      <a:r>
                        <a:rPr lang="pt-BR" sz="110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(</a:t>
                      </a:r>
                      <a:r>
                        <a:rPr lang="pt-BR" sz="1100" noProof="0" dirty="0" err="1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</a:t>
                      </a:r>
                      <a:r>
                        <a:rPr lang="pt-BR" sz="110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, </a:t>
                      </a:r>
                      <a:r>
                        <a:rPr lang="pt-BR" sz="1100" noProof="0" dirty="0" err="1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n</a:t>
                      </a:r>
                      <a:r>
                        <a:rPr lang="pt-BR" sz="110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)</a:t>
                      </a:r>
                      <a:endParaRPr lang="pt-BR" sz="110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0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</a:t>
                      </a:r>
                      <a:endParaRPr lang="pt-BR" sz="110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00" noProof="0" dirty="0" err="1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Multicolinearidade</a:t>
                      </a:r>
                      <a:endParaRPr lang="pt-BR" sz="110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00" noProof="0" dirty="0" err="1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smc</a:t>
                      </a:r>
                      <a:r>
                        <a:rPr lang="pt-BR" sz="110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(</a:t>
                      </a:r>
                      <a:r>
                        <a:rPr lang="pt-BR" sz="1100" noProof="0" dirty="0" err="1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</a:t>
                      </a:r>
                      <a:r>
                        <a:rPr lang="pt-BR" sz="110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)</a:t>
                      </a:r>
                      <a:endParaRPr lang="pt-BR" sz="110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00" noProof="0" dirty="0" err="1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psych</a:t>
                      </a:r>
                      <a:r>
                        <a:rPr lang="pt-BR" sz="110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::</a:t>
                      </a:r>
                      <a:r>
                        <a:rPr lang="pt-BR" sz="1100" noProof="0" dirty="0" err="1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smc</a:t>
                      </a:r>
                      <a:r>
                        <a:rPr lang="pt-BR" sz="110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(</a:t>
                      </a:r>
                      <a:r>
                        <a:rPr lang="pt-BR" sz="1100" noProof="0" dirty="0" err="1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</a:t>
                      </a:r>
                      <a:r>
                        <a:rPr lang="pt-BR" sz="110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)</a:t>
                      </a:r>
                      <a:endParaRPr lang="pt-BR" sz="110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0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</a:t>
                      </a:r>
                      <a:endParaRPr lang="pt-BR" sz="110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0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Número de fatores</a:t>
                      </a:r>
                      <a:endParaRPr lang="pt-BR" sz="110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00" noProof="0" dirty="0" err="1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acp</a:t>
                      </a:r>
                      <a:r>
                        <a:rPr lang="pt-BR" sz="110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(</a:t>
                      </a:r>
                      <a:r>
                        <a:rPr lang="pt-BR" sz="1100" noProof="0" dirty="0" err="1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</a:t>
                      </a:r>
                      <a:r>
                        <a:rPr lang="pt-BR" sz="110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, </a:t>
                      </a:r>
                      <a:r>
                        <a:rPr lang="pt-BR" sz="1100" noProof="0" dirty="0" err="1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k</a:t>
                      </a:r>
                      <a:r>
                        <a:rPr lang="pt-BR" sz="110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) · </a:t>
                      </a:r>
                      <a:r>
                        <a:rPr lang="pt-BR" sz="1100" noProof="0" dirty="0" err="1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horn</a:t>
                      </a:r>
                      <a:r>
                        <a:rPr lang="pt-BR" sz="110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(</a:t>
                      </a:r>
                      <a:r>
                        <a:rPr lang="pt-BR" sz="1100" noProof="0" dirty="0" err="1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n</a:t>
                      </a:r>
                      <a:r>
                        <a:rPr lang="pt-BR" sz="110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, </a:t>
                      </a:r>
                      <a:r>
                        <a:rPr lang="pt-BR" sz="1100" noProof="0" dirty="0" err="1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</a:t>
                      </a:r>
                      <a:r>
                        <a:rPr lang="pt-BR" sz="110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)</a:t>
                      </a:r>
                      <a:endParaRPr lang="pt-BR" sz="110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00" noProof="0" dirty="0" err="1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eigen</a:t>
                      </a:r>
                      <a:r>
                        <a:rPr lang="pt-BR" sz="110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(</a:t>
                      </a:r>
                      <a:r>
                        <a:rPr lang="pt-BR" sz="1100" noProof="0" dirty="0" err="1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</a:t>
                      </a:r>
                      <a:r>
                        <a:rPr lang="pt-BR" sz="110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) · </a:t>
                      </a:r>
                      <a:r>
                        <a:rPr lang="pt-BR" sz="1100" noProof="0" dirty="0" err="1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psych</a:t>
                      </a:r>
                      <a:r>
                        <a:rPr lang="pt-BR" sz="110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::</a:t>
                      </a:r>
                      <a:r>
                        <a:rPr lang="pt-BR" sz="1100" noProof="0" dirty="0" err="1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fa.parallel</a:t>
                      </a:r>
                      <a:r>
                        <a:rPr lang="pt-BR" sz="110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()</a:t>
                      </a:r>
                      <a:endParaRPr lang="pt-BR" sz="110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0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</a:t>
                      </a:r>
                      <a:endParaRPr lang="pt-BR" sz="110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0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Extração por eixo principal</a:t>
                      </a:r>
                      <a:endParaRPr lang="pt-BR" sz="110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00" noProof="0" dirty="0" err="1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fatoracao_eixo_principal</a:t>
                      </a:r>
                      <a:r>
                        <a:rPr lang="pt-BR" sz="110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(</a:t>
                      </a:r>
                      <a:r>
                        <a:rPr lang="pt-BR" sz="1100" noProof="0" dirty="0" err="1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</a:t>
                      </a:r>
                      <a:r>
                        <a:rPr lang="pt-BR" sz="110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, </a:t>
                      </a:r>
                      <a:r>
                        <a:rPr lang="pt-BR" sz="1100" noProof="0" dirty="0" err="1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k</a:t>
                      </a:r>
                      <a:r>
                        <a:rPr lang="pt-BR" sz="110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)</a:t>
                      </a:r>
                      <a:endParaRPr lang="pt-BR" sz="110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00" noProof="0" dirty="0" err="1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psych</a:t>
                      </a:r>
                      <a:r>
                        <a:rPr lang="pt-BR" sz="110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::</a:t>
                      </a:r>
                      <a:r>
                        <a:rPr lang="pt-BR" sz="1100" noProof="0" dirty="0" err="1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fa</a:t>
                      </a:r>
                      <a:r>
                        <a:rPr lang="pt-BR" sz="110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(</a:t>
                      </a:r>
                      <a:r>
                        <a:rPr lang="pt-BR" sz="1100" noProof="0" dirty="0" err="1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</a:t>
                      </a:r>
                      <a:r>
                        <a:rPr lang="pt-BR" sz="110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, </a:t>
                      </a:r>
                      <a:r>
                        <a:rPr lang="pt-BR" sz="1100" noProof="0" dirty="0" err="1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fm</a:t>
                      </a:r>
                      <a:r>
                        <a:rPr lang="pt-BR" sz="110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 = "</a:t>
                      </a:r>
                      <a:r>
                        <a:rPr lang="pt-BR" sz="1100" noProof="0" dirty="0" err="1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pa</a:t>
                      </a:r>
                      <a:r>
                        <a:rPr lang="pt-BR" sz="110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")</a:t>
                      </a:r>
                      <a:endParaRPr lang="pt-BR" sz="110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0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7</a:t>
                      </a:r>
                      <a:endParaRPr lang="pt-BR" sz="110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0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Rotação ortogonal</a:t>
                      </a:r>
                      <a:endParaRPr lang="pt-BR" sz="110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00" noProof="0" dirty="0" err="1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varimax</a:t>
                      </a:r>
                      <a:r>
                        <a:rPr lang="pt-BR" sz="110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(cargas)</a:t>
                      </a:r>
                      <a:endParaRPr lang="pt-BR" sz="110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00" noProof="0" dirty="0" err="1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stats</a:t>
                      </a:r>
                      <a:r>
                        <a:rPr lang="pt-BR" sz="110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::</a:t>
                      </a:r>
                      <a:r>
                        <a:rPr lang="pt-BR" sz="1100" noProof="0" dirty="0" err="1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varimax</a:t>
                      </a:r>
                      <a:r>
                        <a:rPr lang="pt-BR" sz="110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(L, normalize = FALSE)</a:t>
                      </a:r>
                      <a:endParaRPr lang="pt-BR" sz="110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0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8</a:t>
                      </a:r>
                      <a:endParaRPr lang="pt-BR" sz="110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0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Rotação oblíqua</a:t>
                      </a:r>
                      <a:endParaRPr lang="pt-BR" sz="110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00" noProof="0" dirty="0" err="1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rotacao_promax</a:t>
                      </a:r>
                      <a:r>
                        <a:rPr lang="pt-BR" sz="110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(cargas)</a:t>
                      </a:r>
                      <a:endParaRPr lang="pt-BR" sz="110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00" noProof="0" dirty="0" err="1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stats</a:t>
                      </a:r>
                      <a:r>
                        <a:rPr lang="pt-BR" sz="110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::</a:t>
                      </a:r>
                      <a:r>
                        <a:rPr lang="pt-BR" sz="1100" noProof="0" dirty="0" err="1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promax</a:t>
                      </a:r>
                      <a:r>
                        <a:rPr lang="pt-BR" sz="110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(L, m = 4)</a:t>
                      </a:r>
                      <a:endParaRPr lang="pt-BR" sz="110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0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9</a:t>
                      </a:r>
                      <a:endParaRPr lang="pt-BR" sz="110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0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Escores refinados</a:t>
                      </a:r>
                      <a:endParaRPr lang="pt-BR" sz="110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00" noProof="0" dirty="0" err="1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escores_regressao</a:t>
                      </a:r>
                      <a:r>
                        <a:rPr lang="pt-BR" sz="110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(</a:t>
                      </a:r>
                      <a:r>
                        <a:rPr lang="pt-BR" sz="1100" noProof="0" dirty="0" err="1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</a:t>
                      </a:r>
                      <a:r>
                        <a:rPr lang="pt-BR" sz="110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, A)</a:t>
                      </a:r>
                      <a:endParaRPr lang="pt-BR" sz="110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00" noProof="0" dirty="0" err="1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psych</a:t>
                      </a:r>
                      <a:r>
                        <a:rPr lang="pt-BR" sz="110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::</a:t>
                      </a:r>
                      <a:r>
                        <a:rPr lang="pt-BR" sz="1100" noProof="0" dirty="0" err="1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factor.scores</a:t>
                      </a:r>
                      <a:r>
                        <a:rPr lang="pt-BR" sz="110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()</a:t>
                      </a:r>
                      <a:endParaRPr lang="pt-BR" sz="110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pt-BR" sz="1000" noProof="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33</a:t>
            </a:r>
            <a:endParaRPr lang="pt-BR" sz="1000" noProof="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r>
              <a:rPr lang="pt-BR" sz="2600" b="1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KMO, linha a linha </a:t>
            </a:r>
            <a:r>
              <a:rPr lang="pt-BR" sz="2600" b="1" dirty="0">
                <a:solidFill>
                  <a:srgbClr val="FF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– EXPLICAR SLIDE</a:t>
            </a:r>
            <a:endParaRPr lang="pt-BR" sz="2600" noProof="0" dirty="0"/>
          </a:p>
        </p:txBody>
      </p:sp>
      <p:sp>
        <p:nvSpPr>
          <p:cNvPr id="4" name="Text 2"/>
          <p:cNvSpPr/>
          <p:nvPr/>
        </p:nvSpPr>
        <p:spPr>
          <a:xfrm>
            <a:off x="777240" y="969264"/>
            <a:ext cx="97200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300" i="1" noProof="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Compara a correlação bruta entre duas variáveis com o que sobra dela depois de descontar as outras.</a:t>
            </a:r>
            <a:endParaRPr lang="pt-BR" sz="1300" noProof="0" dirty="0"/>
          </a:p>
        </p:txBody>
      </p:sp>
      <p:sp>
        <p:nvSpPr>
          <p:cNvPr id="5" name="Shape 3"/>
          <p:cNvSpPr/>
          <p:nvPr/>
        </p:nvSpPr>
        <p:spPr>
          <a:xfrm>
            <a:off x="777240" y="1426464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6" name="Text 4"/>
          <p:cNvSpPr/>
          <p:nvPr/>
        </p:nvSpPr>
        <p:spPr>
          <a:xfrm>
            <a:off x="777240" y="1719072"/>
            <a:ext cx="4846320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kmo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):</a:t>
            </a:r>
            <a:endParaRPr lang="pt-BR" sz="1000" noProof="0" dirty="0"/>
          </a:p>
        </p:txBody>
      </p:sp>
      <p:sp>
        <p:nvSpPr>
          <p:cNvPr id="7" name="Text 5"/>
          <p:cNvSpPr/>
          <p:nvPr/>
        </p:nvSpPr>
        <p:spPr>
          <a:xfrm>
            <a:off x="777240" y="2007108"/>
            <a:ext cx="4846320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Rinv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 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np.linalg.inv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pt-BR" sz="1000" noProof="0" dirty="0"/>
          </a:p>
        </p:txBody>
      </p:sp>
      <p:sp>
        <p:nvSpPr>
          <p:cNvPr id="8" name="Text 6"/>
          <p:cNvSpPr/>
          <p:nvPr/>
        </p:nvSpPr>
        <p:spPr>
          <a:xfrm>
            <a:off x="6035040" y="1988820"/>
            <a:ext cx="4599432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250"/>
              </a:lnSpc>
              <a:buNone/>
            </a:pPr>
            <a:r>
              <a:rPr lang="pt-BR" sz="1050" noProof="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inversa da matriz de correlação. É dela que saem as correlações parciais — não é óbvio, e é o coração do procedimento.</a:t>
            </a:r>
            <a:endParaRPr lang="pt-BR" sz="1050" noProof="0" dirty="0"/>
          </a:p>
        </p:txBody>
      </p:sp>
      <p:sp>
        <p:nvSpPr>
          <p:cNvPr id="9" name="Text 7"/>
          <p:cNvSpPr/>
          <p:nvPr/>
        </p:nvSpPr>
        <p:spPr>
          <a:xfrm>
            <a:off x="777240" y="2633472"/>
            <a:ext cx="4846320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 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np.sqrt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np.diag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Rinv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))</a:t>
            </a:r>
            <a:endParaRPr lang="pt-BR" sz="1000" noProof="0" dirty="0"/>
          </a:p>
        </p:txBody>
      </p:sp>
      <p:sp>
        <p:nvSpPr>
          <p:cNvPr id="10" name="Text 8"/>
          <p:cNvSpPr/>
          <p:nvPr/>
        </p:nvSpPr>
        <p:spPr>
          <a:xfrm>
            <a:off x="6035040" y="2615184"/>
            <a:ext cx="4599432" cy="2240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250"/>
              </a:lnSpc>
              <a:buNone/>
            </a:pPr>
            <a:r>
              <a:rPr lang="pt-BR" sz="1050" noProof="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Raiz da diagonal: o fator de padronização.</a:t>
            </a:r>
            <a:endParaRPr lang="pt-BR" sz="1050" noProof="0" dirty="0"/>
          </a:p>
        </p:txBody>
      </p:sp>
      <p:sp>
        <p:nvSpPr>
          <p:cNvPr id="11" name="Text 9"/>
          <p:cNvSpPr/>
          <p:nvPr/>
        </p:nvSpPr>
        <p:spPr>
          <a:xfrm>
            <a:off x="777240" y="2921508"/>
            <a:ext cx="4846320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parcial = -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Rinv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/ 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np.outer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pt-BR" sz="1000" noProof="0" dirty="0"/>
          </a:p>
        </p:txBody>
      </p:sp>
      <p:sp>
        <p:nvSpPr>
          <p:cNvPr id="12" name="Text 10"/>
          <p:cNvSpPr/>
          <p:nvPr/>
        </p:nvSpPr>
        <p:spPr>
          <a:xfrm>
            <a:off x="6035040" y="2903220"/>
            <a:ext cx="4599432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250"/>
              </a:lnSpc>
              <a:buNone/>
            </a:pPr>
            <a:r>
              <a:rPr lang="pt-BR" sz="1050" noProof="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fórmula da correlação parcial sobre a inversa. O sinal negativo não é detalhe: sem ele toda a matriz </a:t>
            </a:r>
            <a:r>
              <a:rPr lang="pt-BR" sz="1050" noProof="0" dirty="0" err="1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anti-imagem</a:t>
            </a:r>
            <a:r>
              <a:rPr lang="pt-BR" sz="1050" noProof="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inverte.</a:t>
            </a:r>
            <a:endParaRPr lang="pt-BR" sz="1050" noProof="0" dirty="0"/>
          </a:p>
        </p:txBody>
      </p:sp>
      <p:sp>
        <p:nvSpPr>
          <p:cNvPr id="13" name="Text 11"/>
          <p:cNvSpPr/>
          <p:nvPr/>
        </p:nvSpPr>
        <p:spPr>
          <a:xfrm>
            <a:off x="777240" y="3547872"/>
            <a:ext cx="4846320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np.fill_diagonal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(parcial, 0.0)</a:t>
            </a:r>
            <a:endParaRPr lang="pt-BR" sz="1000" noProof="0" dirty="0"/>
          </a:p>
        </p:txBody>
      </p:sp>
      <p:sp>
        <p:nvSpPr>
          <p:cNvPr id="14" name="Text 12"/>
          <p:cNvSpPr/>
          <p:nvPr/>
        </p:nvSpPr>
        <p:spPr>
          <a:xfrm>
            <a:off x="6035040" y="3529584"/>
            <a:ext cx="4599432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250"/>
              </a:lnSpc>
              <a:buNone/>
            </a:pPr>
            <a:r>
              <a:rPr lang="pt-BR" sz="1050" noProof="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correlação de uma variável com ela mesma é 1 e inflaria as somas. Zera dos dois lados.</a:t>
            </a:r>
            <a:endParaRPr lang="pt-BR" sz="1050" noProof="0" dirty="0"/>
          </a:p>
        </p:txBody>
      </p:sp>
      <p:sp>
        <p:nvSpPr>
          <p:cNvPr id="15" name="Text 13"/>
          <p:cNvSpPr/>
          <p:nvPr/>
        </p:nvSpPr>
        <p:spPr>
          <a:xfrm>
            <a:off x="777240" y="3886200"/>
            <a:ext cx="4846320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R0 = 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R.copy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()</a:t>
            </a:r>
            <a:endParaRPr lang="pt-BR" sz="1000" noProof="0" dirty="0"/>
          </a:p>
        </p:txBody>
      </p:sp>
      <p:sp>
        <p:nvSpPr>
          <p:cNvPr id="16" name="Text 14"/>
          <p:cNvSpPr/>
          <p:nvPr/>
        </p:nvSpPr>
        <p:spPr>
          <a:xfrm>
            <a:off x="777240" y="4174236"/>
            <a:ext cx="4846320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np.fill_diagonal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(R0, 0.0)</a:t>
            </a:r>
            <a:endParaRPr lang="pt-BR" sz="1000" noProof="0" dirty="0"/>
          </a:p>
        </p:txBody>
      </p:sp>
      <p:sp>
        <p:nvSpPr>
          <p:cNvPr id="17" name="Text 15"/>
          <p:cNvSpPr/>
          <p:nvPr/>
        </p:nvSpPr>
        <p:spPr>
          <a:xfrm>
            <a:off x="777240" y="4750308"/>
            <a:ext cx="4846320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soma_r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 (R0 ** 2).sum()</a:t>
            </a:r>
            <a:endParaRPr lang="pt-BR" sz="1000" noProof="0" dirty="0"/>
          </a:p>
        </p:txBody>
      </p:sp>
      <p:sp>
        <p:nvSpPr>
          <p:cNvPr id="18" name="Text 16"/>
          <p:cNvSpPr/>
          <p:nvPr/>
        </p:nvSpPr>
        <p:spPr>
          <a:xfrm>
            <a:off x="777240" y="5038344"/>
            <a:ext cx="4846320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soma_p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 (parcial ** 2).sum()</a:t>
            </a:r>
            <a:endParaRPr lang="pt-BR" sz="1000" noProof="0" dirty="0"/>
          </a:p>
        </p:txBody>
      </p:sp>
      <p:sp>
        <p:nvSpPr>
          <p:cNvPr id="19" name="Text 17"/>
          <p:cNvSpPr/>
          <p:nvPr/>
        </p:nvSpPr>
        <p:spPr>
          <a:xfrm>
            <a:off x="777240" y="5326380"/>
            <a:ext cx="4846320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return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soma_r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/ (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soma_r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+ 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soma_p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pt-BR" sz="1000" noProof="0" dirty="0"/>
          </a:p>
        </p:txBody>
      </p:sp>
      <p:sp>
        <p:nvSpPr>
          <p:cNvPr id="20" name="Text 18"/>
          <p:cNvSpPr/>
          <p:nvPr/>
        </p:nvSpPr>
        <p:spPr>
          <a:xfrm>
            <a:off x="6035040" y="5308092"/>
            <a:ext cx="4599432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250"/>
              </a:lnSpc>
              <a:buNone/>
            </a:pPr>
            <a:r>
              <a:rPr lang="pt-BR" sz="1050" noProof="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KMO global: a fração da associação que NÃO é parcial. Trocando .sum() por .sum(</a:t>
            </a:r>
            <a:r>
              <a:rPr lang="pt-BR" sz="1050" noProof="0" dirty="0" err="1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axis</a:t>
            </a:r>
            <a:r>
              <a:rPr lang="pt-BR" sz="1050" noProof="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=0) sai o MSA de cada variável.</a:t>
            </a:r>
            <a:endParaRPr lang="pt-BR" sz="1050" noProof="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pt-BR" sz="1000" noProof="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34</a:t>
            </a:r>
            <a:endParaRPr lang="pt-BR" sz="1000" noProof="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r>
              <a:rPr lang="pt-BR" sz="2600" b="1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extração, linha a linha </a:t>
            </a:r>
            <a:r>
              <a:rPr lang="pt-BR" sz="2600" b="1" dirty="0">
                <a:solidFill>
                  <a:srgbClr val="FF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– EXPLICAR SLIDE</a:t>
            </a:r>
            <a:endParaRPr lang="pt-BR" sz="2600" noProof="0" dirty="0"/>
          </a:p>
        </p:txBody>
      </p:sp>
      <p:sp>
        <p:nvSpPr>
          <p:cNvPr id="4" name="Text 2"/>
          <p:cNvSpPr/>
          <p:nvPr/>
        </p:nvSpPr>
        <p:spPr>
          <a:xfrm>
            <a:off x="777240" y="969264"/>
            <a:ext cx="97200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300" i="1" noProof="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Quatro linhas, e a terceira é a que transforma álgebra em interpretação.</a:t>
            </a:r>
            <a:endParaRPr lang="pt-BR" sz="1300" noProof="0" dirty="0"/>
          </a:p>
        </p:txBody>
      </p:sp>
      <p:sp>
        <p:nvSpPr>
          <p:cNvPr id="5" name="Shape 3"/>
          <p:cNvSpPr/>
          <p:nvPr/>
        </p:nvSpPr>
        <p:spPr>
          <a:xfrm>
            <a:off x="777240" y="1426464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6" name="Text 4"/>
          <p:cNvSpPr/>
          <p:nvPr/>
        </p:nvSpPr>
        <p:spPr>
          <a:xfrm>
            <a:off x="777240" y="1764792"/>
            <a:ext cx="484632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acp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):</a:t>
            </a:r>
            <a:endParaRPr lang="pt-BR" sz="1000" noProof="0" dirty="0"/>
          </a:p>
        </p:txBody>
      </p:sp>
      <p:sp>
        <p:nvSpPr>
          <p:cNvPr id="7" name="Text 5"/>
          <p:cNvSpPr/>
          <p:nvPr/>
        </p:nvSpPr>
        <p:spPr>
          <a:xfrm>
            <a:off x="777240" y="2066544"/>
            <a:ext cx="484632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vec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 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np.linalg.eigh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pt-BR" sz="1000" noProof="0" dirty="0"/>
          </a:p>
        </p:txBody>
      </p:sp>
      <p:sp>
        <p:nvSpPr>
          <p:cNvPr id="8" name="Text 6"/>
          <p:cNvSpPr/>
          <p:nvPr/>
        </p:nvSpPr>
        <p:spPr>
          <a:xfrm>
            <a:off x="6035040" y="2048256"/>
            <a:ext cx="4599432" cy="5623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250"/>
              </a:lnSpc>
              <a:buNone/>
            </a:pPr>
            <a:r>
              <a:rPr lang="pt-BR" sz="1050" noProof="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Autovalores e autovetores. O "</a:t>
            </a:r>
            <a:r>
              <a:rPr lang="pt-BR" sz="1050" noProof="0" dirty="0" err="1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</a:t>
            </a:r>
            <a:r>
              <a:rPr lang="pt-BR" sz="1050" noProof="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" é de </a:t>
            </a:r>
            <a:r>
              <a:rPr lang="pt-BR" sz="1050" noProof="0" dirty="0" err="1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hermitian</a:t>
            </a:r>
            <a:r>
              <a:rPr lang="pt-BR" sz="1050" noProof="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— a versão para matriz simétrica, mais rápida e mais estável. Matriz de correlação é sempre simétrica.</a:t>
            </a:r>
            <a:endParaRPr lang="pt-BR" sz="1050" noProof="0" dirty="0"/>
          </a:p>
        </p:txBody>
      </p:sp>
      <p:sp>
        <p:nvSpPr>
          <p:cNvPr id="9" name="Text 7"/>
          <p:cNvSpPr/>
          <p:nvPr/>
        </p:nvSpPr>
        <p:spPr>
          <a:xfrm>
            <a:off x="777240" y="2875788"/>
            <a:ext cx="484632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ordem = 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np.argsort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)[::-1]</a:t>
            </a:r>
            <a:endParaRPr lang="pt-BR" sz="1000" noProof="0" dirty="0"/>
          </a:p>
        </p:txBody>
      </p:sp>
      <p:sp>
        <p:nvSpPr>
          <p:cNvPr id="10" name="Text 8"/>
          <p:cNvSpPr/>
          <p:nvPr/>
        </p:nvSpPr>
        <p:spPr>
          <a:xfrm>
            <a:off x="6035040" y="2857500"/>
            <a:ext cx="4599432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250"/>
              </a:lnSpc>
              <a:buNone/>
            </a:pPr>
            <a:r>
              <a:rPr lang="pt-BR" sz="1050" noProof="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</a:t>
            </a:r>
            <a:r>
              <a:rPr lang="pt-BR" sz="1050" noProof="0" dirty="0" err="1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eigh</a:t>
            </a:r>
            <a:r>
              <a:rPr lang="pt-BR" sz="1050" noProof="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devolve em ordem CRESCENTE e a análise fatorial lê em decrescente. Sem esta linha, o "primeiro fator" seria o menos importante.</a:t>
            </a:r>
            <a:endParaRPr lang="pt-BR" sz="1050" noProof="0" dirty="0"/>
          </a:p>
        </p:txBody>
      </p:sp>
      <p:sp>
        <p:nvSpPr>
          <p:cNvPr id="11" name="Text 9"/>
          <p:cNvSpPr/>
          <p:nvPr/>
        </p:nvSpPr>
        <p:spPr>
          <a:xfrm>
            <a:off x="777240" y="3214116"/>
            <a:ext cx="484632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 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[ordem]</a:t>
            </a:r>
            <a:endParaRPr lang="pt-BR" sz="1000" noProof="0" dirty="0"/>
          </a:p>
        </p:txBody>
      </p:sp>
      <p:sp>
        <p:nvSpPr>
          <p:cNvPr id="12" name="Text 10"/>
          <p:cNvSpPr/>
          <p:nvPr/>
        </p:nvSpPr>
        <p:spPr>
          <a:xfrm>
            <a:off x="777240" y="3515868"/>
            <a:ext cx="484632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vec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 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vec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[:, ordem]</a:t>
            </a:r>
            <a:endParaRPr lang="pt-BR" sz="1000" noProof="0" dirty="0"/>
          </a:p>
        </p:txBody>
      </p:sp>
      <p:sp>
        <p:nvSpPr>
          <p:cNvPr id="13" name="Text 11"/>
          <p:cNvSpPr/>
          <p:nvPr/>
        </p:nvSpPr>
        <p:spPr>
          <a:xfrm>
            <a:off x="777240" y="4119372"/>
            <a:ext cx="484632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cargas = 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vec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[:, :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 * 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np.sqrt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endParaRPr lang="pt-BR" sz="1000" noProof="0" dirty="0"/>
          </a:p>
        </p:txBody>
      </p:sp>
      <p:sp>
        <p:nvSpPr>
          <p:cNvPr id="14" name="Text 12"/>
          <p:cNvSpPr/>
          <p:nvPr/>
        </p:nvSpPr>
        <p:spPr>
          <a:xfrm>
            <a:off x="6035040" y="4101084"/>
            <a:ext cx="4599432" cy="5623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250"/>
              </a:lnSpc>
              <a:buNone/>
            </a:pPr>
            <a:r>
              <a:rPr lang="pt-BR" sz="1050" noProof="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carga fatorial é o autovetor escalado pela raiz do autovalor. Sem o escalonamento os autovetores têm norma 1 e não se leem como correlação.</a:t>
            </a:r>
            <a:endParaRPr lang="pt-BR" sz="1050" noProof="0" dirty="0"/>
          </a:p>
        </p:txBody>
      </p:sp>
      <p:sp>
        <p:nvSpPr>
          <p:cNvPr id="15" name="Text 13"/>
          <p:cNvSpPr/>
          <p:nvPr/>
        </p:nvSpPr>
        <p:spPr>
          <a:xfrm>
            <a:off x="777240" y="4626864"/>
            <a:ext cx="484632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np.maximum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[: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], 0))</a:t>
            </a:r>
            <a:endParaRPr lang="pt-BR" sz="1000" noProof="0" dirty="0"/>
          </a:p>
        </p:txBody>
      </p:sp>
      <p:sp>
        <p:nvSpPr>
          <p:cNvPr id="16" name="Text 14"/>
          <p:cNvSpPr/>
          <p:nvPr/>
        </p:nvSpPr>
        <p:spPr>
          <a:xfrm>
            <a:off x="6035040" y="4608576"/>
            <a:ext cx="4599432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250"/>
              </a:lnSpc>
              <a:buNone/>
            </a:pPr>
            <a:r>
              <a:rPr lang="pt-BR" sz="1050" noProof="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</a:t>
            </a:r>
            <a:r>
              <a:rPr lang="pt-BR" sz="1050" noProof="0" dirty="0" err="1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maximum</a:t>
            </a:r>
            <a:r>
              <a:rPr lang="pt-BR" sz="1050" noProof="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corta em zero: autovalor negativo por erro numérico viraria raiz de número negativo.</a:t>
            </a:r>
            <a:endParaRPr lang="pt-BR" sz="1050" noProof="0" dirty="0"/>
          </a:p>
        </p:txBody>
      </p:sp>
      <p:sp>
        <p:nvSpPr>
          <p:cNvPr id="17" name="Text 15"/>
          <p:cNvSpPr/>
          <p:nvPr/>
        </p:nvSpPr>
        <p:spPr>
          <a:xfrm>
            <a:off x="777240" y="5266944"/>
            <a:ext cx="484632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return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cargas</a:t>
            </a:r>
            <a:endParaRPr lang="pt-BR" sz="1000" noProof="0" dirty="0"/>
          </a:p>
        </p:txBody>
      </p:sp>
      <p:sp>
        <p:nvSpPr>
          <p:cNvPr id="18" name="Shape 16"/>
          <p:cNvSpPr/>
          <p:nvPr/>
        </p:nvSpPr>
        <p:spPr>
          <a:xfrm>
            <a:off x="777240" y="5678424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19" name="Text 17"/>
          <p:cNvSpPr/>
          <p:nvPr/>
        </p:nvSpPr>
        <p:spPr>
          <a:xfrm>
            <a:off x="777240" y="5733288"/>
            <a:ext cx="10634472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650"/>
              </a:lnSpc>
              <a:buNone/>
            </a:pPr>
            <a:r>
              <a:rPr lang="pt-BR" sz="1250" b="1" noProof="0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Uma advertência que vale para toda a análise.  </a:t>
            </a:r>
            <a:r>
              <a:rPr lang="pt-BR" sz="1250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sinal de cada autovetor é ARBITRÁRIO — o LAPACK escolhe um e o oposto seria igualmente válido. Por isso as cargas são viradas na leitura, para que positivo queira dizer "mais vulnerável". Os </a:t>
            </a:r>
            <a:r>
              <a:rPr lang="pt-BR" sz="1250" noProof="0" dirty="0" err="1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CSVs</a:t>
            </a:r>
            <a:r>
              <a:rPr lang="pt-BR" sz="1250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guardam o sinal cru.</a:t>
            </a:r>
            <a:endParaRPr lang="pt-BR" sz="1250" noProof="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pt-BR" sz="1000" noProof="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35</a:t>
            </a:r>
            <a:endParaRPr lang="pt-BR" sz="1000" noProof="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r>
              <a:rPr lang="pt-BR" sz="2600" b="1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rotação </a:t>
            </a:r>
            <a:r>
              <a:rPr lang="pt-BR" sz="2600" b="1" noProof="0" dirty="0" err="1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Varimax</a:t>
            </a:r>
            <a:r>
              <a:rPr lang="pt-BR" sz="2600" b="1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, linha a linha </a:t>
            </a:r>
            <a:r>
              <a:rPr lang="pt-BR" sz="2600" b="1" dirty="0">
                <a:solidFill>
                  <a:srgbClr val="FF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– EXPLICAR SLIDE</a:t>
            </a:r>
            <a:endParaRPr lang="pt-BR" sz="2600" noProof="0" dirty="0"/>
          </a:p>
        </p:txBody>
      </p:sp>
      <p:sp>
        <p:nvSpPr>
          <p:cNvPr id="4" name="Text 2"/>
          <p:cNvSpPr/>
          <p:nvPr/>
        </p:nvSpPr>
        <p:spPr>
          <a:xfrm>
            <a:off x="777240" y="969264"/>
            <a:ext cx="97200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300" i="1" noProof="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Girar os eixos sem mudar as distâncias: a variância total não muda, só a repartição entre fatores.</a:t>
            </a:r>
            <a:endParaRPr lang="pt-BR" sz="1300" noProof="0" dirty="0"/>
          </a:p>
        </p:txBody>
      </p:sp>
      <p:sp>
        <p:nvSpPr>
          <p:cNvPr id="5" name="Shape 3"/>
          <p:cNvSpPr/>
          <p:nvPr/>
        </p:nvSpPr>
        <p:spPr>
          <a:xfrm>
            <a:off x="777240" y="1426464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6" name="Text 4"/>
          <p:cNvSpPr/>
          <p:nvPr/>
        </p:nvSpPr>
        <p:spPr>
          <a:xfrm>
            <a:off x="777240" y="1719072"/>
            <a:ext cx="4846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 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np.eye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pt-BR" sz="1000" noProof="0" dirty="0"/>
          </a:p>
        </p:txBody>
      </p:sp>
      <p:sp>
        <p:nvSpPr>
          <p:cNvPr id="7" name="Text 5"/>
          <p:cNvSpPr/>
          <p:nvPr/>
        </p:nvSpPr>
        <p:spPr>
          <a:xfrm>
            <a:off x="6035040" y="1700784"/>
            <a:ext cx="4599432" cy="2240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250"/>
              </a:lnSpc>
              <a:buNone/>
            </a:pPr>
            <a:r>
              <a:rPr lang="pt-BR" sz="1050" noProof="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Começa sem girar nada.</a:t>
            </a:r>
            <a:endParaRPr lang="pt-BR" sz="1050" noProof="0" dirty="0"/>
          </a:p>
        </p:txBody>
      </p:sp>
      <p:sp>
        <p:nvSpPr>
          <p:cNvPr id="8" name="Text 6"/>
          <p:cNvSpPr/>
          <p:nvPr/>
        </p:nvSpPr>
        <p:spPr>
          <a:xfrm>
            <a:off x="777240" y="1975104"/>
            <a:ext cx="4846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 _ in range(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maxiter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):</a:t>
            </a:r>
            <a:endParaRPr lang="pt-BR" sz="1000" noProof="0" dirty="0"/>
          </a:p>
        </p:txBody>
      </p:sp>
      <p:sp>
        <p:nvSpPr>
          <p:cNvPr id="9" name="Text 7"/>
          <p:cNvSpPr/>
          <p:nvPr/>
        </p:nvSpPr>
        <p:spPr>
          <a:xfrm>
            <a:off x="777240" y="2231136"/>
            <a:ext cx="4846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Lam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 L @ 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</a:t>
            </a:r>
            <a:endParaRPr lang="pt-BR" sz="1000" noProof="0" dirty="0"/>
          </a:p>
        </p:txBody>
      </p:sp>
      <p:sp>
        <p:nvSpPr>
          <p:cNvPr id="10" name="Text 8"/>
          <p:cNvSpPr/>
          <p:nvPr/>
        </p:nvSpPr>
        <p:spPr>
          <a:xfrm>
            <a:off x="6035040" y="2212848"/>
            <a:ext cx="4599432" cy="2240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250"/>
              </a:lnSpc>
              <a:buNone/>
            </a:pPr>
            <a:r>
              <a:rPr lang="pt-BR" sz="1050" noProof="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As cargas com a rotação atual.</a:t>
            </a:r>
            <a:endParaRPr lang="pt-BR" sz="1050" noProof="0" dirty="0"/>
          </a:p>
        </p:txBody>
      </p:sp>
      <p:sp>
        <p:nvSpPr>
          <p:cNvPr id="11" name="Text 9"/>
          <p:cNvSpPr/>
          <p:nvPr/>
        </p:nvSpPr>
        <p:spPr>
          <a:xfrm>
            <a:off x="777240" y="2743200"/>
            <a:ext cx="4846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vt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 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np.linalg.svd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endParaRPr lang="pt-BR" sz="1000" noProof="0" dirty="0"/>
          </a:p>
        </p:txBody>
      </p:sp>
      <p:sp>
        <p:nvSpPr>
          <p:cNvPr id="12" name="Text 10"/>
          <p:cNvSpPr/>
          <p:nvPr/>
        </p:nvSpPr>
        <p:spPr>
          <a:xfrm>
            <a:off x="6035040" y="2724912"/>
            <a:ext cx="4599432" cy="5623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250"/>
              </a:lnSpc>
              <a:buNone/>
            </a:pPr>
            <a:r>
              <a:rPr lang="pt-BR" sz="1050" noProof="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truque do procedimento: a matriz ortogonal mais próxima de uma matriz qualquer é </a:t>
            </a:r>
            <a:r>
              <a:rPr lang="pt-BR" sz="1050" noProof="0" dirty="0" err="1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</a:t>
            </a:r>
            <a:r>
              <a:rPr lang="pt-BR" sz="1050" noProof="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@ </a:t>
            </a:r>
            <a:r>
              <a:rPr lang="pt-BR" sz="1050" noProof="0" dirty="0" err="1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vt</a:t>
            </a:r>
            <a:r>
              <a:rPr lang="pt-BR" sz="1050" noProof="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da sua SVD. É o que garante que a rotação continue ortogonal a cada passo.</a:t>
            </a:r>
            <a:endParaRPr lang="pt-BR" sz="1050" noProof="0" dirty="0"/>
          </a:p>
        </p:txBody>
      </p:sp>
      <p:sp>
        <p:nvSpPr>
          <p:cNvPr id="13" name="Text 11"/>
          <p:cNvSpPr/>
          <p:nvPr/>
        </p:nvSpPr>
        <p:spPr>
          <a:xfrm>
            <a:off x="777240" y="3250692"/>
            <a:ext cx="4846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L.T @ (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Lam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** 3 - 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Lam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@</a:t>
            </a:r>
            <a:endParaRPr lang="pt-BR" sz="1000" noProof="0" dirty="0"/>
          </a:p>
        </p:txBody>
      </p:sp>
      <p:sp>
        <p:nvSpPr>
          <p:cNvPr id="14" name="Text 12"/>
          <p:cNvSpPr/>
          <p:nvPr/>
        </p:nvSpPr>
        <p:spPr>
          <a:xfrm>
            <a:off x="6035040" y="3232404"/>
            <a:ext cx="4599432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250"/>
              </a:lnSpc>
              <a:buNone/>
            </a:pPr>
            <a:r>
              <a:rPr lang="pt-BR" sz="1050" noProof="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gradiente do critério </a:t>
            </a:r>
            <a:r>
              <a:rPr lang="pt-BR" sz="1050" noProof="0" dirty="0" err="1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Varimax</a:t>
            </a:r>
            <a:r>
              <a:rPr lang="pt-BR" sz="1050" noProof="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. O cubo vem da derivada da soma dos quadrados dos quadrados; o segundo termo subtrai a média por fator.</a:t>
            </a:r>
            <a:endParaRPr lang="pt-BR" sz="1050" noProof="0" dirty="0"/>
          </a:p>
        </p:txBody>
      </p:sp>
      <p:sp>
        <p:nvSpPr>
          <p:cNvPr id="15" name="Text 13"/>
          <p:cNvSpPr/>
          <p:nvPr/>
        </p:nvSpPr>
        <p:spPr>
          <a:xfrm>
            <a:off x="777240" y="3589020"/>
            <a:ext cx="4846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np.diag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np.diag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Lam.T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@ 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Lam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)) / 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))</a:t>
            </a:r>
            <a:endParaRPr lang="pt-BR" sz="1000" noProof="0" dirty="0"/>
          </a:p>
        </p:txBody>
      </p:sp>
      <p:sp>
        <p:nvSpPr>
          <p:cNvPr id="16" name="Text 14"/>
          <p:cNvSpPr/>
          <p:nvPr/>
        </p:nvSpPr>
        <p:spPr>
          <a:xfrm>
            <a:off x="777240" y="4101084"/>
            <a:ext cx="4846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 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@ 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vt</a:t>
            </a:r>
            <a:endParaRPr lang="pt-BR" sz="1000" noProof="0" dirty="0"/>
          </a:p>
        </p:txBody>
      </p:sp>
      <p:sp>
        <p:nvSpPr>
          <p:cNvPr id="17" name="Text 15"/>
          <p:cNvSpPr/>
          <p:nvPr/>
        </p:nvSpPr>
        <p:spPr>
          <a:xfrm>
            <a:off x="777240" y="4357116"/>
            <a:ext cx="4846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/ 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d_ant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&lt; 1 + 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tol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break</a:t>
            </a:r>
            <a:endParaRPr lang="pt-BR" sz="1000" noProof="0" dirty="0"/>
          </a:p>
        </p:txBody>
      </p:sp>
      <p:sp>
        <p:nvSpPr>
          <p:cNvPr id="18" name="Text 16"/>
          <p:cNvSpPr/>
          <p:nvPr/>
        </p:nvSpPr>
        <p:spPr>
          <a:xfrm>
            <a:off x="6035040" y="4338828"/>
            <a:ext cx="4599432" cy="2240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250"/>
              </a:lnSpc>
              <a:buNone/>
            </a:pPr>
            <a:r>
              <a:rPr lang="pt-BR" sz="1050" noProof="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Para quando o critério deixa de crescer.</a:t>
            </a:r>
            <a:endParaRPr lang="pt-BR" sz="1050" noProof="0" dirty="0"/>
          </a:p>
        </p:txBody>
      </p:sp>
      <p:sp>
        <p:nvSpPr>
          <p:cNvPr id="19" name="Text 17"/>
          <p:cNvSpPr/>
          <p:nvPr/>
        </p:nvSpPr>
        <p:spPr>
          <a:xfrm>
            <a:off x="777240" y="4869180"/>
            <a:ext cx="4846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return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L @ 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</a:t>
            </a:r>
            <a:endParaRPr lang="pt-BR" sz="1000" noProof="0" dirty="0"/>
          </a:p>
        </p:txBody>
      </p:sp>
      <p:sp>
        <p:nvSpPr>
          <p:cNvPr id="20" name="Text 18"/>
          <p:cNvSpPr/>
          <p:nvPr/>
        </p:nvSpPr>
        <p:spPr>
          <a:xfrm>
            <a:off x="6035040" y="4850892"/>
            <a:ext cx="4599432" cy="2240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250"/>
              </a:lnSpc>
              <a:buNone/>
            </a:pPr>
            <a:r>
              <a:rPr lang="pt-BR" sz="1050" noProof="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As cargas rotacionadas.</a:t>
            </a:r>
            <a:endParaRPr lang="pt-BR" sz="1050" noProof="0" dirty="0"/>
          </a:p>
        </p:txBody>
      </p:sp>
      <p:sp>
        <p:nvSpPr>
          <p:cNvPr id="21" name="Shape 19"/>
          <p:cNvSpPr/>
          <p:nvPr/>
        </p:nvSpPr>
        <p:spPr>
          <a:xfrm>
            <a:off x="777240" y="5234940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22" name="Text 20"/>
          <p:cNvSpPr/>
          <p:nvPr/>
        </p:nvSpPr>
        <p:spPr>
          <a:xfrm>
            <a:off x="777240" y="5289804"/>
            <a:ext cx="10634472" cy="9098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650"/>
              </a:lnSpc>
              <a:buNone/>
            </a:pPr>
            <a:r>
              <a:rPr lang="pt-BR" sz="1250" b="1" noProof="0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armadilha ao reproduzir em R.  </a:t>
            </a:r>
            <a:r>
              <a:rPr lang="pt-BR" sz="1250" noProof="0" dirty="0" err="1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stats</a:t>
            </a:r>
            <a:r>
              <a:rPr lang="pt-BR" sz="1250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::</a:t>
            </a:r>
            <a:r>
              <a:rPr lang="pt-BR" sz="1250" noProof="0" dirty="0" err="1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varimax</a:t>
            </a:r>
            <a:r>
              <a:rPr lang="pt-BR" sz="1250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aplica normalização de Kaiser POR PADRÃO: divide cada linha pela raiz da comunalidade antes de girar e desfaz depois. É defensável, é o que o SPSS faz — e produz cargas diferentes. Para reproduzir estes números em </a:t>
            </a:r>
            <a:r>
              <a:rPr lang="pt-BR" sz="1250" noProof="0" dirty="0" err="1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</a:t>
            </a:r>
            <a:r>
              <a:rPr lang="pt-BR" sz="1250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é preciso </a:t>
            </a:r>
            <a:r>
              <a:rPr lang="pt-BR" sz="1250" noProof="0" dirty="0" err="1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varimax</a:t>
            </a:r>
            <a:r>
              <a:rPr lang="pt-BR" sz="1250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(L, normalize = FALSE).</a:t>
            </a:r>
            <a:endParaRPr lang="pt-BR" sz="1250" noProof="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pt-BR" sz="1000" noProof="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36</a:t>
            </a:r>
            <a:endParaRPr lang="pt-BR" sz="1000" noProof="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r>
              <a:rPr lang="pt-BR" sz="2600" b="1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rotação </a:t>
            </a:r>
            <a:r>
              <a:rPr lang="pt-BR" sz="2600" b="1" noProof="0" dirty="0" err="1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promax</a:t>
            </a:r>
            <a:r>
              <a:rPr lang="pt-BR" sz="2600" b="1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, linha a linha </a:t>
            </a:r>
            <a:r>
              <a:rPr lang="pt-BR" sz="2600" b="1" dirty="0">
                <a:solidFill>
                  <a:srgbClr val="FF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– EXPLICAR SLIDE</a:t>
            </a:r>
            <a:endParaRPr lang="pt-BR" sz="2600" noProof="0" dirty="0"/>
          </a:p>
        </p:txBody>
      </p:sp>
      <p:sp>
        <p:nvSpPr>
          <p:cNvPr id="4" name="Text 2"/>
          <p:cNvSpPr/>
          <p:nvPr/>
        </p:nvSpPr>
        <p:spPr>
          <a:xfrm>
            <a:off x="777240" y="969264"/>
            <a:ext cx="97200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300" i="1" noProof="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Parte da </a:t>
            </a:r>
            <a:r>
              <a:rPr lang="pt-BR" sz="1300" i="1" noProof="0" dirty="0" err="1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Varimax</a:t>
            </a:r>
            <a:r>
              <a:rPr lang="pt-BR" sz="1300" i="1" noProof="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e deixa os eixos se inclinarem. O procedimento é engenhoso.</a:t>
            </a:r>
            <a:endParaRPr lang="pt-BR" sz="1300" noProof="0" dirty="0"/>
          </a:p>
        </p:txBody>
      </p:sp>
      <p:sp>
        <p:nvSpPr>
          <p:cNvPr id="5" name="Shape 3"/>
          <p:cNvSpPr/>
          <p:nvPr/>
        </p:nvSpPr>
        <p:spPr>
          <a:xfrm>
            <a:off x="777240" y="1426464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6" name="Text 4"/>
          <p:cNvSpPr/>
          <p:nvPr/>
        </p:nvSpPr>
        <p:spPr>
          <a:xfrm>
            <a:off x="777240" y="1737360"/>
            <a:ext cx="4846320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 = 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varimax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(cargas)</a:t>
            </a:r>
            <a:endParaRPr lang="pt-BR" sz="1000" noProof="0" dirty="0"/>
          </a:p>
        </p:txBody>
      </p:sp>
      <p:sp>
        <p:nvSpPr>
          <p:cNvPr id="7" name="Text 5"/>
          <p:cNvSpPr/>
          <p:nvPr/>
        </p:nvSpPr>
        <p:spPr>
          <a:xfrm>
            <a:off x="6035040" y="1719072"/>
            <a:ext cx="4599432" cy="2240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250"/>
              </a:lnSpc>
              <a:buNone/>
            </a:pPr>
            <a:r>
              <a:rPr lang="pt-BR" sz="1050" noProof="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Ponto de partida ortogonal.</a:t>
            </a:r>
            <a:endParaRPr lang="pt-BR" sz="1050" noProof="0" dirty="0"/>
          </a:p>
        </p:txBody>
      </p:sp>
      <p:sp>
        <p:nvSpPr>
          <p:cNvPr id="8" name="Text 6"/>
          <p:cNvSpPr/>
          <p:nvPr/>
        </p:nvSpPr>
        <p:spPr>
          <a:xfrm>
            <a:off x="777240" y="2313432"/>
            <a:ext cx="4846320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alvo = 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np.sign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(V) * 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np.abs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(V) ** 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kappa</a:t>
            </a:r>
            <a:endParaRPr lang="pt-BR" sz="1000" noProof="0" dirty="0"/>
          </a:p>
        </p:txBody>
      </p:sp>
      <p:sp>
        <p:nvSpPr>
          <p:cNvPr id="9" name="Text 7"/>
          <p:cNvSpPr/>
          <p:nvPr/>
        </p:nvSpPr>
        <p:spPr>
          <a:xfrm>
            <a:off x="6035040" y="2295144"/>
            <a:ext cx="4599432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250"/>
              </a:lnSpc>
              <a:buNone/>
            </a:pPr>
            <a:r>
              <a:rPr lang="pt-BR" sz="1050" noProof="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Constrói um alvo EXAGERADO: com </a:t>
            </a:r>
            <a:r>
              <a:rPr lang="pt-BR" sz="1050" noProof="0" dirty="0" err="1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kappa</a:t>
            </a:r>
            <a:r>
              <a:rPr lang="pt-BR" sz="1050" noProof="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= 4, uma carga de 0,9 vira 0,66 e uma de 0,3 vira 0,008. O contraste entre alto e baixo é ampliado.</a:t>
            </a:r>
            <a:endParaRPr lang="pt-BR" sz="1050" noProof="0" dirty="0"/>
          </a:p>
        </p:txBody>
      </p:sp>
      <p:sp>
        <p:nvSpPr>
          <p:cNvPr id="10" name="Text 8"/>
          <p:cNvSpPr/>
          <p:nvPr/>
        </p:nvSpPr>
        <p:spPr>
          <a:xfrm>
            <a:off x="777240" y="2939796"/>
            <a:ext cx="4846320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*_ = 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np.linalg.lstsq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(V, alvo)</a:t>
            </a:r>
            <a:endParaRPr lang="pt-BR" sz="1000" noProof="0" dirty="0"/>
          </a:p>
        </p:txBody>
      </p:sp>
      <p:sp>
        <p:nvSpPr>
          <p:cNvPr id="11" name="Text 9"/>
          <p:cNvSpPr/>
          <p:nvPr/>
        </p:nvSpPr>
        <p:spPr>
          <a:xfrm>
            <a:off x="6035040" y="2921508"/>
            <a:ext cx="4599432" cy="5623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250"/>
              </a:lnSpc>
              <a:buNone/>
            </a:pPr>
            <a:r>
              <a:rPr lang="pt-BR" sz="1050" noProof="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Acha por mínimos quadrados a transformação que leva V o mais perto possível do alvo. É aqui que a ortogonalidade se perde — e é isso que se quer.</a:t>
            </a:r>
            <a:endParaRPr lang="pt-BR" sz="1050" noProof="0" dirty="0"/>
          </a:p>
        </p:txBody>
      </p:sp>
      <p:sp>
        <p:nvSpPr>
          <p:cNvPr id="12" name="Text 10"/>
          <p:cNvSpPr/>
          <p:nvPr/>
        </p:nvSpPr>
        <p:spPr>
          <a:xfrm>
            <a:off x="777240" y="3735324"/>
            <a:ext cx="4846320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 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np.diag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np.linalg.inv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(U.T @ 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))</a:t>
            </a:r>
            <a:endParaRPr lang="pt-BR" sz="1000" noProof="0" dirty="0"/>
          </a:p>
        </p:txBody>
      </p:sp>
      <p:sp>
        <p:nvSpPr>
          <p:cNvPr id="13" name="Text 11"/>
          <p:cNvSpPr/>
          <p:nvPr/>
        </p:nvSpPr>
        <p:spPr>
          <a:xfrm>
            <a:off x="6035040" y="3717036"/>
            <a:ext cx="4599432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250"/>
              </a:lnSpc>
              <a:buNone/>
            </a:pPr>
            <a:r>
              <a:rPr lang="pt-BR" sz="1050" noProof="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Escala as colunas para que </a:t>
            </a:r>
            <a:r>
              <a:rPr lang="pt-BR" sz="1050" noProof="0" dirty="0" err="1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Φ</a:t>
            </a:r>
            <a:r>
              <a:rPr lang="pt-BR" sz="1050" noProof="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saia com diagonal 1. Sem este passo </a:t>
            </a:r>
            <a:r>
              <a:rPr lang="pt-BR" sz="1050" noProof="0" dirty="0" err="1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Φ</a:t>
            </a:r>
            <a:r>
              <a:rPr lang="pt-BR" sz="1050" noProof="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é covariância entre fatores, não correlação, e a comunalidade vaza.</a:t>
            </a:r>
            <a:endParaRPr lang="pt-BR" sz="1050" noProof="0" dirty="0"/>
          </a:p>
        </p:txBody>
      </p:sp>
      <p:sp>
        <p:nvSpPr>
          <p:cNvPr id="14" name="Text 12"/>
          <p:cNvSpPr/>
          <p:nvPr/>
        </p:nvSpPr>
        <p:spPr>
          <a:xfrm>
            <a:off x="777240" y="4073652"/>
            <a:ext cx="4846320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 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@ 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np.diag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np.sqrt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))</a:t>
            </a:r>
            <a:endParaRPr lang="pt-BR" sz="1000" noProof="0" dirty="0"/>
          </a:p>
        </p:txBody>
      </p:sp>
      <p:sp>
        <p:nvSpPr>
          <p:cNvPr id="15" name="Text 13"/>
          <p:cNvSpPr/>
          <p:nvPr/>
        </p:nvSpPr>
        <p:spPr>
          <a:xfrm>
            <a:off x="777240" y="4649724"/>
            <a:ext cx="4846320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padrao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 V @ 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</a:t>
            </a:r>
            <a:endParaRPr lang="pt-BR" sz="1000" noProof="0" dirty="0"/>
          </a:p>
        </p:txBody>
      </p:sp>
      <p:sp>
        <p:nvSpPr>
          <p:cNvPr id="16" name="Text 14"/>
          <p:cNvSpPr/>
          <p:nvPr/>
        </p:nvSpPr>
        <p:spPr>
          <a:xfrm>
            <a:off x="6035040" y="4631436"/>
            <a:ext cx="4599432" cy="2240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250"/>
              </a:lnSpc>
              <a:buNone/>
            </a:pPr>
            <a:r>
              <a:rPr lang="pt-BR" sz="1050" noProof="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matriz PADRÃO: coeficientes de regressão. É dela que saem os pesos.</a:t>
            </a:r>
            <a:endParaRPr lang="pt-BR" sz="1050" noProof="0" dirty="0"/>
          </a:p>
        </p:txBody>
      </p:sp>
      <p:sp>
        <p:nvSpPr>
          <p:cNvPr id="17" name="Text 15"/>
          <p:cNvSpPr/>
          <p:nvPr/>
        </p:nvSpPr>
        <p:spPr>
          <a:xfrm>
            <a:off x="777240" y="4937760"/>
            <a:ext cx="4846320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phi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 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np.linalg.inv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(U.T @ 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pt-BR" sz="1000" noProof="0" dirty="0"/>
          </a:p>
        </p:txBody>
      </p:sp>
      <p:sp>
        <p:nvSpPr>
          <p:cNvPr id="18" name="Text 16"/>
          <p:cNvSpPr/>
          <p:nvPr/>
        </p:nvSpPr>
        <p:spPr>
          <a:xfrm>
            <a:off x="6035040" y="4919472"/>
            <a:ext cx="4599432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250"/>
              </a:lnSpc>
              <a:buNone/>
            </a:pPr>
            <a:r>
              <a:rPr lang="pt-BR" sz="1050" noProof="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correlação entre os fatores — o objeto que a solução ortogonal não pode produzir.</a:t>
            </a:r>
            <a:endParaRPr lang="pt-BR" sz="1050" noProof="0" dirty="0"/>
          </a:p>
        </p:txBody>
      </p:sp>
      <p:sp>
        <p:nvSpPr>
          <p:cNvPr id="19" name="Text 17"/>
          <p:cNvSpPr/>
          <p:nvPr/>
        </p:nvSpPr>
        <p:spPr>
          <a:xfrm>
            <a:off x="777240" y="5276088"/>
            <a:ext cx="4846320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estrutura = 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padrao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@ 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phi</a:t>
            </a:r>
            <a:endParaRPr lang="pt-BR" sz="1000" noProof="0" dirty="0"/>
          </a:p>
        </p:txBody>
      </p:sp>
      <p:sp>
        <p:nvSpPr>
          <p:cNvPr id="20" name="Text 18"/>
          <p:cNvSpPr/>
          <p:nvPr/>
        </p:nvSpPr>
        <p:spPr>
          <a:xfrm>
            <a:off x="6035040" y="5257800"/>
            <a:ext cx="4599432" cy="2240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250"/>
              </a:lnSpc>
              <a:buNone/>
            </a:pPr>
            <a:r>
              <a:rPr lang="pt-BR" sz="1050" noProof="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matriz de ESTRUTURA: correlações entre variável e fator.</a:t>
            </a:r>
            <a:endParaRPr lang="pt-BR" sz="1050" noProof="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pt-BR" sz="1000" noProof="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37</a:t>
            </a:r>
            <a:endParaRPr lang="pt-BR" sz="1000" noProof="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r>
              <a:rPr lang="pt-BR" sz="2600" b="1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mesma análise em </a:t>
            </a:r>
            <a:r>
              <a:rPr lang="pt-BR" sz="2600" b="1" noProof="0" dirty="0" err="1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</a:t>
            </a:r>
            <a:r>
              <a:rPr lang="pt-BR" sz="2600" b="1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— parte 1 </a:t>
            </a:r>
            <a:r>
              <a:rPr lang="pt-BR" sz="2600" b="1" dirty="0">
                <a:solidFill>
                  <a:srgbClr val="FF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– EXPLICAR SLIDE</a:t>
            </a:r>
            <a:endParaRPr lang="pt-BR" sz="2600" noProof="0" dirty="0"/>
          </a:p>
        </p:txBody>
      </p:sp>
      <p:sp>
        <p:nvSpPr>
          <p:cNvPr id="4" name="Text 2"/>
          <p:cNvSpPr/>
          <p:nvPr/>
        </p:nvSpPr>
        <p:spPr>
          <a:xfrm>
            <a:off x="777240" y="969264"/>
            <a:ext cx="97200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300" i="1" noProof="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Dados e adequabilidade da base.</a:t>
            </a:r>
            <a:endParaRPr lang="pt-BR" sz="1300" noProof="0" dirty="0"/>
          </a:p>
        </p:txBody>
      </p:sp>
      <p:sp>
        <p:nvSpPr>
          <p:cNvPr id="5" name="Shape 3"/>
          <p:cNvSpPr/>
          <p:nvPr/>
        </p:nvSpPr>
        <p:spPr>
          <a:xfrm>
            <a:off x="777240" y="1426464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6" name="Text 4"/>
          <p:cNvSpPr/>
          <p:nvPr/>
        </p:nvSpPr>
        <p:spPr>
          <a:xfrm>
            <a:off x="777240" y="1810512"/>
            <a:ext cx="10634472" cy="1975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BR" sz="1000" noProof="0" dirty="0">
                <a:solidFill>
                  <a:srgbClr val="8C2F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Pacotes — uma vez só</a:t>
            </a:r>
            <a:endParaRPr lang="pt-BR" sz="1000" noProof="0" dirty="0"/>
          </a:p>
        </p:txBody>
      </p:sp>
      <p:sp>
        <p:nvSpPr>
          <p:cNvPr id="7" name="Text 5"/>
          <p:cNvSpPr/>
          <p:nvPr/>
        </p:nvSpPr>
        <p:spPr>
          <a:xfrm>
            <a:off x="777240" y="2008022"/>
            <a:ext cx="10634472" cy="1975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install.packages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("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psych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", "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GPArotation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", "DBI", "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RSQLite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"))</a:t>
            </a:r>
            <a:endParaRPr lang="pt-BR" sz="1000" noProof="0" dirty="0"/>
          </a:p>
        </p:txBody>
      </p:sp>
      <p:sp>
        <p:nvSpPr>
          <p:cNvPr id="8" name="Text 6"/>
          <p:cNvSpPr/>
          <p:nvPr/>
        </p:nvSpPr>
        <p:spPr>
          <a:xfrm>
            <a:off x="777240" y="2205533"/>
            <a:ext cx="10634472" cy="1975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library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psych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); 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library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GPArotation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); 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library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(DBI); 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library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RSQLite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pt-BR" sz="1000" noProof="0" dirty="0"/>
          </a:p>
        </p:txBody>
      </p:sp>
      <p:sp>
        <p:nvSpPr>
          <p:cNvPr id="9" name="Text 7"/>
          <p:cNvSpPr/>
          <p:nvPr/>
        </p:nvSpPr>
        <p:spPr>
          <a:xfrm>
            <a:off x="777240" y="2403043"/>
            <a:ext cx="10634472" cy="1975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pt-BR" sz="1000" noProof="0" dirty="0"/>
          </a:p>
        </p:txBody>
      </p:sp>
      <p:sp>
        <p:nvSpPr>
          <p:cNvPr id="10" name="Text 8"/>
          <p:cNvSpPr/>
          <p:nvPr/>
        </p:nvSpPr>
        <p:spPr>
          <a:xfrm>
            <a:off x="777240" y="2600554"/>
            <a:ext cx="10634472" cy="1975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BR" sz="1000" noProof="0" dirty="0">
                <a:solidFill>
                  <a:srgbClr val="8C2F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1. Dados: o mesmo banco que o notebook usa</a:t>
            </a:r>
            <a:endParaRPr lang="pt-BR" sz="1000" noProof="0" dirty="0"/>
          </a:p>
        </p:txBody>
      </p:sp>
      <p:sp>
        <p:nvSpPr>
          <p:cNvPr id="11" name="Text 9"/>
          <p:cNvSpPr/>
          <p:nvPr/>
        </p:nvSpPr>
        <p:spPr>
          <a:xfrm>
            <a:off x="777240" y="2798064"/>
            <a:ext cx="10634472" cy="1975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&lt;- 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dbConnect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SQLite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(),</a:t>
            </a:r>
            <a:endParaRPr lang="pt-BR" sz="1000" noProof="0" dirty="0"/>
          </a:p>
        </p:txBody>
      </p:sp>
      <p:sp>
        <p:nvSpPr>
          <p:cNvPr id="12" name="Text 10"/>
          <p:cNvSpPr/>
          <p:nvPr/>
        </p:nvSpPr>
        <p:spPr>
          <a:xfrm>
            <a:off x="777240" y="2995574"/>
            <a:ext cx="10634472" cy="1975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banco_de_dados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entrega_orientadora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/Base_ELSI_70Municipios_Censo2022.db")</a:t>
            </a:r>
            <a:endParaRPr lang="pt-BR" sz="1000" noProof="0" dirty="0"/>
          </a:p>
        </p:txBody>
      </p:sp>
      <p:sp>
        <p:nvSpPr>
          <p:cNvPr id="13" name="Text 11"/>
          <p:cNvSpPr/>
          <p:nvPr/>
        </p:nvSpPr>
        <p:spPr>
          <a:xfrm>
            <a:off x="777240" y="3193085"/>
            <a:ext cx="10634472" cy="1975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&lt;- 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dbGetQuery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"SELECT 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pct_agua_inad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pct_esgoto_inad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razao_moradores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pt-BR" sz="1000" noProof="0" dirty="0"/>
          </a:p>
        </p:txBody>
      </p:sp>
      <p:sp>
        <p:nvSpPr>
          <p:cNvPr id="14" name="Text 12"/>
          <p:cNvSpPr/>
          <p:nvPr/>
        </p:nvSpPr>
        <p:spPr>
          <a:xfrm>
            <a:off x="777240" y="3390595"/>
            <a:ext cx="10634472" cy="1975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      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pct_analfab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renda_media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pct_raca_pretpardind</a:t>
            </a:r>
            <a:endParaRPr lang="pt-BR" sz="1000" noProof="0" dirty="0"/>
          </a:p>
        </p:txBody>
      </p:sp>
      <p:sp>
        <p:nvSpPr>
          <p:cNvPr id="15" name="Text 13"/>
          <p:cNvSpPr/>
          <p:nvPr/>
        </p:nvSpPr>
        <p:spPr>
          <a:xfrm>
            <a:off x="777240" y="3588106"/>
            <a:ext cx="10634472" cy="1975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FROM 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setores_censitarios</a:t>
            </a:r>
            <a:endParaRPr lang="pt-BR" sz="1000" noProof="0" dirty="0"/>
          </a:p>
        </p:txBody>
      </p:sp>
      <p:sp>
        <p:nvSpPr>
          <p:cNvPr id="16" name="Text 14"/>
          <p:cNvSpPr/>
          <p:nvPr/>
        </p:nvSpPr>
        <p:spPr>
          <a:xfrm>
            <a:off x="777240" y="3785616"/>
            <a:ext cx="10634472" cy="1975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WHERE urbano = 1 AND 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Dados_sig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 'OK'")</a:t>
            </a:r>
            <a:endParaRPr lang="pt-BR" sz="1000" noProof="0" dirty="0"/>
          </a:p>
        </p:txBody>
      </p:sp>
      <p:sp>
        <p:nvSpPr>
          <p:cNvPr id="17" name="Text 15"/>
          <p:cNvSpPr/>
          <p:nvPr/>
        </p:nvSpPr>
        <p:spPr>
          <a:xfrm>
            <a:off x="777240" y="3983126"/>
            <a:ext cx="10634472" cy="1975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dbDisconnect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pt-BR" sz="1000" noProof="0" dirty="0"/>
          </a:p>
        </p:txBody>
      </p:sp>
      <p:sp>
        <p:nvSpPr>
          <p:cNvPr id="18" name="Text 16"/>
          <p:cNvSpPr/>
          <p:nvPr/>
        </p:nvSpPr>
        <p:spPr>
          <a:xfrm>
            <a:off x="777240" y="4180637"/>
            <a:ext cx="10634472" cy="1975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pt-BR" sz="1000" noProof="0" dirty="0"/>
          </a:p>
        </p:txBody>
      </p:sp>
      <p:sp>
        <p:nvSpPr>
          <p:cNvPr id="19" name="Text 17"/>
          <p:cNvSpPr/>
          <p:nvPr/>
        </p:nvSpPr>
        <p:spPr>
          <a:xfrm>
            <a:off x="777240" y="4378147"/>
            <a:ext cx="10634472" cy="1975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d$renda_inv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&lt;- -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d$renda_media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# sentido único: maior = mais vulnerável</a:t>
            </a:r>
            <a:endParaRPr lang="pt-BR" sz="1000" noProof="0" dirty="0"/>
          </a:p>
        </p:txBody>
      </p:sp>
      <p:sp>
        <p:nvSpPr>
          <p:cNvPr id="20" name="Text 18"/>
          <p:cNvSpPr/>
          <p:nvPr/>
        </p:nvSpPr>
        <p:spPr>
          <a:xfrm>
            <a:off x="777240" y="4575658"/>
            <a:ext cx="10634472" cy="1975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 &lt;- 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na.omit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[, 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("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pct_agua_inad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", "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pct_esgoto_inad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", "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razao_moradores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",</a:t>
            </a:r>
            <a:endParaRPr lang="pt-BR" sz="1000" noProof="0" dirty="0"/>
          </a:p>
        </p:txBody>
      </p:sp>
      <p:sp>
        <p:nvSpPr>
          <p:cNvPr id="21" name="Text 19"/>
          <p:cNvSpPr/>
          <p:nvPr/>
        </p:nvSpPr>
        <p:spPr>
          <a:xfrm>
            <a:off x="777240" y="4773168"/>
            <a:ext cx="10634472" cy="1975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"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pct_analfab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", "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renda_inv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", "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pct_raca_pretpardind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")])</a:t>
            </a:r>
            <a:endParaRPr lang="pt-BR" sz="1000" noProof="0" dirty="0"/>
          </a:p>
        </p:txBody>
      </p:sp>
      <p:sp>
        <p:nvSpPr>
          <p:cNvPr id="22" name="Text 20"/>
          <p:cNvSpPr/>
          <p:nvPr/>
        </p:nvSpPr>
        <p:spPr>
          <a:xfrm>
            <a:off x="777240" y="4970678"/>
            <a:ext cx="10634472" cy="1975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nrow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(X)                                # esperado: 87545</a:t>
            </a:r>
            <a:endParaRPr lang="pt-BR" sz="1000" noProof="0" dirty="0"/>
          </a:p>
        </p:txBody>
      </p:sp>
      <p:sp>
        <p:nvSpPr>
          <p:cNvPr id="23" name="Text 21"/>
          <p:cNvSpPr/>
          <p:nvPr/>
        </p:nvSpPr>
        <p:spPr>
          <a:xfrm>
            <a:off x="777240" y="5168189"/>
            <a:ext cx="10634472" cy="1975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pt-BR" sz="1000" noProof="0" dirty="0"/>
          </a:p>
        </p:txBody>
      </p:sp>
      <p:sp>
        <p:nvSpPr>
          <p:cNvPr id="24" name="Text 22"/>
          <p:cNvSpPr/>
          <p:nvPr/>
        </p:nvSpPr>
        <p:spPr>
          <a:xfrm>
            <a:off x="777240" y="5365699"/>
            <a:ext cx="10634472" cy="1975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BR" sz="1000" noProof="0" dirty="0">
                <a:solidFill>
                  <a:srgbClr val="8C2F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2. Matriz de correlação e adequabilidade</a:t>
            </a:r>
            <a:endParaRPr lang="pt-BR" sz="1000" noProof="0" dirty="0"/>
          </a:p>
        </p:txBody>
      </p:sp>
      <p:sp>
        <p:nvSpPr>
          <p:cNvPr id="25" name="Text 23"/>
          <p:cNvSpPr/>
          <p:nvPr/>
        </p:nvSpPr>
        <p:spPr>
          <a:xfrm>
            <a:off x="777240" y="5563210"/>
            <a:ext cx="10634472" cy="1975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&lt;- cor(X, 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method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 "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spearman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")</a:t>
            </a:r>
            <a:endParaRPr lang="pt-BR" sz="1000" noProof="0" dirty="0"/>
          </a:p>
        </p:txBody>
      </p:sp>
      <p:sp>
        <p:nvSpPr>
          <p:cNvPr id="26" name="Text 24"/>
          <p:cNvSpPr/>
          <p:nvPr/>
        </p:nvSpPr>
        <p:spPr>
          <a:xfrm>
            <a:off x="777240" y="5760720"/>
            <a:ext cx="10634472" cy="1975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KMO(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                                 # global e por variável</a:t>
            </a:r>
            <a:endParaRPr lang="pt-BR" sz="1000" noProof="0" dirty="0"/>
          </a:p>
        </p:txBody>
      </p:sp>
      <p:sp>
        <p:nvSpPr>
          <p:cNvPr id="27" name="Text 25"/>
          <p:cNvSpPr/>
          <p:nvPr/>
        </p:nvSpPr>
        <p:spPr>
          <a:xfrm>
            <a:off x="777240" y="5958230"/>
            <a:ext cx="10634472" cy="1975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cortest.bartlett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 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nrow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(X))       # com a ressalva de amostra grande</a:t>
            </a:r>
            <a:endParaRPr lang="pt-BR" sz="1000" noProof="0" dirty="0"/>
          </a:p>
        </p:txBody>
      </p:sp>
      <p:sp>
        <p:nvSpPr>
          <p:cNvPr id="28" name="Text 26"/>
          <p:cNvSpPr/>
          <p:nvPr/>
        </p:nvSpPr>
        <p:spPr>
          <a:xfrm>
            <a:off x="777240" y="6155741"/>
            <a:ext cx="10634472" cy="1975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smc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                                 # 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multicolinearidade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livro p. 42</a:t>
            </a:r>
            <a:endParaRPr lang="pt-BR" sz="1000" noProof="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pt-BR" sz="1000" noProof="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38</a:t>
            </a:r>
            <a:endParaRPr lang="pt-BR" sz="1000" noProof="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r>
              <a:rPr lang="pt-BR" sz="2600" b="1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mesma análise em </a:t>
            </a:r>
            <a:r>
              <a:rPr lang="pt-BR" sz="2600" b="1" noProof="0" dirty="0" err="1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</a:t>
            </a:r>
            <a:r>
              <a:rPr lang="pt-BR" sz="2600" b="1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— parte 2</a:t>
            </a:r>
            <a:r>
              <a:rPr lang="pt-BR" sz="2600" b="1" dirty="0">
                <a:solidFill>
                  <a:srgbClr val="FF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– EXPLICAR SLIDE</a:t>
            </a:r>
            <a:endParaRPr lang="pt-BR" sz="2600" noProof="0" dirty="0"/>
          </a:p>
        </p:txBody>
      </p:sp>
      <p:sp>
        <p:nvSpPr>
          <p:cNvPr id="4" name="Text 2"/>
          <p:cNvSpPr/>
          <p:nvPr/>
        </p:nvSpPr>
        <p:spPr>
          <a:xfrm>
            <a:off x="777240" y="969264"/>
            <a:ext cx="97200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300" i="1" noProof="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Número de fatores, extração e rotação.</a:t>
            </a:r>
            <a:endParaRPr lang="pt-BR" sz="1300" noProof="0" dirty="0"/>
          </a:p>
        </p:txBody>
      </p:sp>
      <p:sp>
        <p:nvSpPr>
          <p:cNvPr id="5" name="Shape 3"/>
          <p:cNvSpPr/>
          <p:nvPr/>
        </p:nvSpPr>
        <p:spPr>
          <a:xfrm>
            <a:off x="777240" y="1426464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6" name="Text 4"/>
          <p:cNvSpPr/>
          <p:nvPr/>
        </p:nvSpPr>
        <p:spPr>
          <a:xfrm>
            <a:off x="777240" y="1810512"/>
            <a:ext cx="10634472" cy="1975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BR" sz="1000" noProof="0" dirty="0">
                <a:solidFill>
                  <a:srgbClr val="8C2F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3. Quantos fatores</a:t>
            </a:r>
            <a:endParaRPr lang="pt-BR" sz="1000" noProof="0" dirty="0"/>
          </a:p>
        </p:txBody>
      </p:sp>
      <p:sp>
        <p:nvSpPr>
          <p:cNvPr id="7" name="Text 5"/>
          <p:cNvSpPr/>
          <p:nvPr/>
        </p:nvSpPr>
        <p:spPr>
          <a:xfrm>
            <a:off x="777240" y="2008022"/>
            <a:ext cx="10634472" cy="1975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eigen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)$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values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             # critério de Kaiser</a:t>
            </a:r>
            <a:endParaRPr lang="pt-BR" sz="1000" noProof="0" dirty="0"/>
          </a:p>
        </p:txBody>
      </p:sp>
      <p:sp>
        <p:nvSpPr>
          <p:cNvPr id="8" name="Text 6"/>
          <p:cNvSpPr/>
          <p:nvPr/>
        </p:nvSpPr>
        <p:spPr>
          <a:xfrm>
            <a:off x="777240" y="2205533"/>
            <a:ext cx="10634472" cy="1975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fa.parallel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(X, 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fm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 "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", 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 "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", 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n.iter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 50)  # análise paralela de Horn</a:t>
            </a:r>
            <a:endParaRPr lang="pt-BR" sz="1000" noProof="0" dirty="0"/>
          </a:p>
        </p:txBody>
      </p:sp>
      <p:sp>
        <p:nvSpPr>
          <p:cNvPr id="9" name="Text 7"/>
          <p:cNvSpPr/>
          <p:nvPr/>
        </p:nvSpPr>
        <p:spPr>
          <a:xfrm>
            <a:off x="777240" y="2403043"/>
            <a:ext cx="10634472" cy="1975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pt-BR" sz="1000" noProof="0" dirty="0"/>
          </a:p>
        </p:txBody>
      </p:sp>
      <p:sp>
        <p:nvSpPr>
          <p:cNvPr id="10" name="Text 8"/>
          <p:cNvSpPr/>
          <p:nvPr/>
        </p:nvSpPr>
        <p:spPr>
          <a:xfrm>
            <a:off x="777240" y="2600554"/>
            <a:ext cx="10634472" cy="1975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BR" sz="1000" noProof="0" dirty="0">
                <a:solidFill>
                  <a:srgbClr val="8C2F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4. Extração: as duas técnicas, como manda a regra de Stevens</a:t>
            </a:r>
            <a:endParaRPr lang="pt-BR" sz="1000" noProof="0" dirty="0"/>
          </a:p>
        </p:txBody>
      </p:sp>
      <p:sp>
        <p:nvSpPr>
          <p:cNvPr id="11" name="Text 9"/>
          <p:cNvSpPr/>
          <p:nvPr/>
        </p:nvSpPr>
        <p:spPr>
          <a:xfrm>
            <a:off x="777240" y="2798064"/>
            <a:ext cx="10634472" cy="1975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acp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&lt;- principal(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nfactors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 2, 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rotate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 "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varimax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", 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n.obs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 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nrow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(X))</a:t>
            </a:r>
            <a:endParaRPr lang="pt-BR" sz="1000" noProof="0" dirty="0"/>
          </a:p>
        </p:txBody>
      </p:sp>
      <p:sp>
        <p:nvSpPr>
          <p:cNvPr id="12" name="Text 10"/>
          <p:cNvSpPr/>
          <p:nvPr/>
        </p:nvSpPr>
        <p:spPr>
          <a:xfrm>
            <a:off x="777240" y="2995574"/>
            <a:ext cx="10634472" cy="1975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paf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&lt;- 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nfactors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 2, 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fm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 "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", 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rotate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 "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varimax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", 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n.obs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 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nrow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(X))</a:t>
            </a:r>
            <a:endParaRPr lang="pt-BR" sz="1000" noProof="0" dirty="0"/>
          </a:p>
        </p:txBody>
      </p:sp>
      <p:sp>
        <p:nvSpPr>
          <p:cNvPr id="13" name="Text 11"/>
          <p:cNvSpPr/>
          <p:nvPr/>
        </p:nvSpPr>
        <p:spPr>
          <a:xfrm>
            <a:off x="777240" y="3193085"/>
            <a:ext cx="10634472" cy="1975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round(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cbind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acp$loadings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[, 1:2], 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paf$loadings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[, 1:2]), 3)</a:t>
            </a:r>
            <a:endParaRPr lang="pt-BR" sz="1000" noProof="0" dirty="0"/>
          </a:p>
        </p:txBody>
      </p:sp>
      <p:sp>
        <p:nvSpPr>
          <p:cNvPr id="14" name="Text 12"/>
          <p:cNvSpPr/>
          <p:nvPr/>
        </p:nvSpPr>
        <p:spPr>
          <a:xfrm>
            <a:off x="777240" y="3390595"/>
            <a:ext cx="10634472" cy="1975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pt-BR" sz="1000" noProof="0" dirty="0"/>
          </a:p>
        </p:txBody>
      </p:sp>
      <p:sp>
        <p:nvSpPr>
          <p:cNvPr id="15" name="Text 13"/>
          <p:cNvSpPr/>
          <p:nvPr/>
        </p:nvSpPr>
        <p:spPr>
          <a:xfrm>
            <a:off x="777240" y="3588106"/>
            <a:ext cx="10634472" cy="1975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BR" sz="1000" noProof="0" dirty="0">
                <a:solidFill>
                  <a:srgbClr val="8C2F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ATENÇÃO: para reproduzir as cargas deste projeto, a </a:t>
            </a:r>
            <a:r>
              <a:rPr lang="pt-BR" sz="1000" noProof="0" dirty="0" err="1">
                <a:solidFill>
                  <a:srgbClr val="8C2F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Varimax</a:t>
            </a:r>
            <a:r>
              <a:rPr lang="pt-BR" sz="1000" noProof="0" dirty="0">
                <a:solidFill>
                  <a:srgbClr val="8C2F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não pode</a:t>
            </a:r>
            <a:endParaRPr lang="pt-BR" sz="1000" noProof="0" dirty="0"/>
          </a:p>
        </p:txBody>
      </p:sp>
      <p:sp>
        <p:nvSpPr>
          <p:cNvPr id="16" name="Text 14"/>
          <p:cNvSpPr/>
          <p:nvPr/>
        </p:nvSpPr>
        <p:spPr>
          <a:xfrm>
            <a:off x="777240" y="3785616"/>
            <a:ext cx="10634472" cy="1975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BR" sz="1000" noProof="0" dirty="0">
                <a:solidFill>
                  <a:srgbClr val="8C2F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         normalizar — o padrão do </a:t>
            </a:r>
            <a:r>
              <a:rPr lang="pt-BR" sz="1000" noProof="0" dirty="0" err="1">
                <a:solidFill>
                  <a:srgbClr val="8C2F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</a:t>
            </a:r>
            <a:r>
              <a:rPr lang="pt-BR" sz="1000" noProof="0" dirty="0">
                <a:solidFill>
                  <a:srgbClr val="8C2F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é normalize = TRUE</a:t>
            </a:r>
            <a:endParaRPr lang="pt-BR" sz="1000" noProof="0" dirty="0"/>
          </a:p>
        </p:txBody>
      </p:sp>
      <p:sp>
        <p:nvSpPr>
          <p:cNvPr id="17" name="Text 15"/>
          <p:cNvSpPr/>
          <p:nvPr/>
        </p:nvSpPr>
        <p:spPr>
          <a:xfrm>
            <a:off x="777240" y="3983126"/>
            <a:ext cx="10634472" cy="1975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acp0 &lt;- principal(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nfactors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 2, 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rotate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 "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none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", 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n.obs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 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nrow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(X))</a:t>
            </a:r>
            <a:endParaRPr lang="pt-BR" sz="1000" noProof="0" dirty="0"/>
          </a:p>
        </p:txBody>
      </p:sp>
      <p:sp>
        <p:nvSpPr>
          <p:cNvPr id="18" name="Text 16"/>
          <p:cNvSpPr/>
          <p:nvPr/>
        </p:nvSpPr>
        <p:spPr>
          <a:xfrm>
            <a:off x="777240" y="4180637"/>
            <a:ext cx="10634472" cy="1975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varimax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(acp0$loadings[, 1:2], normalize = FALSE)</a:t>
            </a:r>
            <a:endParaRPr lang="pt-BR" sz="1000" noProof="0" dirty="0"/>
          </a:p>
        </p:txBody>
      </p:sp>
      <p:sp>
        <p:nvSpPr>
          <p:cNvPr id="19" name="Text 17"/>
          <p:cNvSpPr/>
          <p:nvPr/>
        </p:nvSpPr>
        <p:spPr>
          <a:xfrm>
            <a:off x="777240" y="4378147"/>
            <a:ext cx="10634472" cy="1975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pt-BR" sz="1000" noProof="0" dirty="0"/>
          </a:p>
        </p:txBody>
      </p:sp>
      <p:sp>
        <p:nvSpPr>
          <p:cNvPr id="20" name="Text 18"/>
          <p:cNvSpPr/>
          <p:nvPr/>
        </p:nvSpPr>
        <p:spPr>
          <a:xfrm>
            <a:off x="777240" y="4575658"/>
            <a:ext cx="10634472" cy="1975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BR" sz="1000" noProof="0" dirty="0">
                <a:solidFill>
                  <a:srgbClr val="8C2F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5. Rotação oblíqua — é a que o livro recomenda (p. 38)</a:t>
            </a:r>
            <a:endParaRPr lang="pt-BR" sz="1000" noProof="0" dirty="0"/>
          </a:p>
        </p:txBody>
      </p:sp>
      <p:sp>
        <p:nvSpPr>
          <p:cNvPr id="21" name="Text 19"/>
          <p:cNvSpPr/>
          <p:nvPr/>
        </p:nvSpPr>
        <p:spPr>
          <a:xfrm>
            <a:off x="777240" y="4773168"/>
            <a:ext cx="10634472" cy="1975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obl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&lt;- 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nfactors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 2, 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fm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 "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", 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rotate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 "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promax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", 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n.obs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 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nrow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(X))</a:t>
            </a:r>
            <a:endParaRPr lang="pt-BR" sz="1000" noProof="0" dirty="0"/>
          </a:p>
        </p:txBody>
      </p:sp>
      <p:sp>
        <p:nvSpPr>
          <p:cNvPr id="22" name="Text 20"/>
          <p:cNvSpPr/>
          <p:nvPr/>
        </p:nvSpPr>
        <p:spPr>
          <a:xfrm>
            <a:off x="777240" y="4970678"/>
            <a:ext cx="10634472" cy="1975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obl$loadings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# matriz padrão — é dela que saem os pesos</a:t>
            </a:r>
            <a:endParaRPr lang="pt-BR" sz="1000" noProof="0" dirty="0"/>
          </a:p>
        </p:txBody>
      </p:sp>
      <p:sp>
        <p:nvSpPr>
          <p:cNvPr id="23" name="Text 21"/>
          <p:cNvSpPr/>
          <p:nvPr/>
        </p:nvSpPr>
        <p:spPr>
          <a:xfrm>
            <a:off x="777240" y="5168189"/>
            <a:ext cx="10634472" cy="1975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obl$Structure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# matriz de estrutura</a:t>
            </a:r>
            <a:endParaRPr lang="pt-BR" sz="1000" noProof="0" dirty="0"/>
          </a:p>
        </p:txBody>
      </p:sp>
      <p:sp>
        <p:nvSpPr>
          <p:cNvPr id="24" name="Text 22"/>
          <p:cNvSpPr/>
          <p:nvPr/>
        </p:nvSpPr>
        <p:spPr>
          <a:xfrm>
            <a:off x="777240" y="5365699"/>
            <a:ext cx="10634472" cy="1975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obl$Phi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# correlação entre os fatores: esperado ~0,52</a:t>
            </a:r>
            <a:endParaRPr lang="pt-BR" sz="1000" noProof="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pt-BR" sz="1000" noProof="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39</a:t>
            </a:r>
            <a:endParaRPr lang="pt-BR" sz="1000" noProof="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r>
              <a:rPr lang="pt-BR" sz="2600" b="1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mesma análise em </a:t>
            </a:r>
            <a:r>
              <a:rPr lang="pt-BR" sz="2600" b="1" noProof="0" dirty="0" err="1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</a:t>
            </a:r>
            <a:r>
              <a:rPr lang="pt-BR" sz="2600" b="1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— parte 3 </a:t>
            </a:r>
            <a:r>
              <a:rPr lang="pt-BR" sz="2600" b="1" dirty="0">
                <a:solidFill>
                  <a:srgbClr val="FF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– EXPLICAR SLIDE</a:t>
            </a:r>
            <a:endParaRPr lang="pt-BR" sz="2600" noProof="0" dirty="0"/>
          </a:p>
        </p:txBody>
      </p:sp>
      <p:sp>
        <p:nvSpPr>
          <p:cNvPr id="4" name="Text 2"/>
          <p:cNvSpPr/>
          <p:nvPr/>
        </p:nvSpPr>
        <p:spPr>
          <a:xfrm>
            <a:off x="777240" y="969264"/>
            <a:ext cx="97200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300" i="1" noProof="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Pesos, escores e as duas figuras que esta apresentação mostrou.</a:t>
            </a:r>
            <a:endParaRPr lang="pt-BR" sz="1300" noProof="0" dirty="0"/>
          </a:p>
        </p:txBody>
      </p:sp>
      <p:sp>
        <p:nvSpPr>
          <p:cNvPr id="5" name="Shape 3"/>
          <p:cNvSpPr/>
          <p:nvPr/>
        </p:nvSpPr>
        <p:spPr>
          <a:xfrm>
            <a:off x="777240" y="1426464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6" name="Text 4"/>
          <p:cNvSpPr/>
          <p:nvPr/>
        </p:nvSpPr>
        <p:spPr>
          <a:xfrm>
            <a:off x="777240" y="1810512"/>
            <a:ext cx="10634472" cy="1975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BR" sz="1000" noProof="0" dirty="0">
                <a:solidFill>
                  <a:srgbClr val="8C2F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6. Pesos: soma dos quadrados das cargas, por fator</a:t>
            </a:r>
            <a:endParaRPr lang="pt-BR" sz="1000" noProof="0" dirty="0"/>
          </a:p>
        </p:txBody>
      </p:sp>
      <p:sp>
        <p:nvSpPr>
          <p:cNvPr id="7" name="Text 5"/>
          <p:cNvSpPr/>
          <p:nvPr/>
        </p:nvSpPr>
        <p:spPr>
          <a:xfrm>
            <a:off x="777240" y="2008022"/>
            <a:ext cx="10634472" cy="1975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ss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&lt;- 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colSums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acp$loadings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[, 1:2]^2)</a:t>
            </a:r>
            <a:endParaRPr lang="pt-BR" sz="1000" noProof="0" dirty="0"/>
          </a:p>
        </p:txBody>
      </p:sp>
      <p:sp>
        <p:nvSpPr>
          <p:cNvPr id="8" name="Text 6"/>
          <p:cNvSpPr/>
          <p:nvPr/>
        </p:nvSpPr>
        <p:spPr>
          <a:xfrm>
            <a:off x="777240" y="2205533"/>
            <a:ext cx="10634472" cy="1975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round(100 * 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ss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/ sum(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ss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), 1)           # a repartição entre as dimensões</a:t>
            </a:r>
            <a:endParaRPr lang="pt-BR" sz="1000" noProof="0" dirty="0"/>
          </a:p>
        </p:txBody>
      </p:sp>
      <p:sp>
        <p:nvSpPr>
          <p:cNvPr id="9" name="Text 7"/>
          <p:cNvSpPr/>
          <p:nvPr/>
        </p:nvSpPr>
        <p:spPr>
          <a:xfrm>
            <a:off x="777240" y="2403043"/>
            <a:ext cx="10634472" cy="1975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pt-BR" sz="1000" noProof="0" dirty="0"/>
          </a:p>
        </p:txBody>
      </p:sp>
      <p:sp>
        <p:nvSpPr>
          <p:cNvPr id="10" name="Text 8"/>
          <p:cNvSpPr/>
          <p:nvPr/>
        </p:nvSpPr>
        <p:spPr>
          <a:xfrm>
            <a:off x="777240" y="2600554"/>
            <a:ext cx="10634472" cy="1975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BR" sz="1000" noProof="0" dirty="0">
                <a:solidFill>
                  <a:srgbClr val="8C2F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7. Escores refinados (método da regressão, livro p. 25)</a:t>
            </a:r>
            <a:endParaRPr lang="pt-BR" sz="1000" noProof="0" dirty="0"/>
          </a:p>
        </p:txBody>
      </p:sp>
      <p:sp>
        <p:nvSpPr>
          <p:cNvPr id="11" name="Text 9"/>
          <p:cNvSpPr/>
          <p:nvPr/>
        </p:nvSpPr>
        <p:spPr>
          <a:xfrm>
            <a:off x="777240" y="2798064"/>
            <a:ext cx="10634472" cy="1975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esc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&lt;- 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factor.scores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as.matrix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(X), 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acp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method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 "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regression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")$scores</a:t>
            </a:r>
            <a:endParaRPr lang="pt-BR" sz="1000" noProof="0" dirty="0"/>
          </a:p>
        </p:txBody>
      </p:sp>
      <p:sp>
        <p:nvSpPr>
          <p:cNvPr id="12" name="Text 10"/>
          <p:cNvSpPr/>
          <p:nvPr/>
        </p:nvSpPr>
        <p:spPr>
          <a:xfrm>
            <a:off x="777240" y="2995574"/>
            <a:ext cx="10634472" cy="1975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apply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esc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2, var)                     # ~1 quando as cargas vêm de ACP</a:t>
            </a:r>
            <a:endParaRPr lang="pt-BR" sz="1000" noProof="0" dirty="0"/>
          </a:p>
        </p:txBody>
      </p:sp>
      <p:sp>
        <p:nvSpPr>
          <p:cNvPr id="13" name="Text 11"/>
          <p:cNvSpPr/>
          <p:nvPr/>
        </p:nvSpPr>
        <p:spPr>
          <a:xfrm>
            <a:off x="777240" y="3193085"/>
            <a:ext cx="10634472" cy="1975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pt-BR" sz="1000" noProof="0" dirty="0"/>
          </a:p>
        </p:txBody>
      </p:sp>
      <p:sp>
        <p:nvSpPr>
          <p:cNvPr id="14" name="Text 12"/>
          <p:cNvSpPr/>
          <p:nvPr/>
        </p:nvSpPr>
        <p:spPr>
          <a:xfrm>
            <a:off x="777240" y="3390595"/>
            <a:ext cx="10634472" cy="1975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BR" sz="1000" noProof="0" dirty="0">
                <a:solidFill>
                  <a:srgbClr val="8C2F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8. O plano dos fatores — a Figura 2 do livro, em cinco linhas</a:t>
            </a:r>
            <a:endParaRPr lang="pt-BR" sz="1000" noProof="0" dirty="0"/>
          </a:p>
        </p:txBody>
      </p:sp>
      <p:sp>
        <p:nvSpPr>
          <p:cNvPr id="15" name="Text 13"/>
          <p:cNvSpPr/>
          <p:nvPr/>
        </p:nvSpPr>
        <p:spPr>
          <a:xfrm>
            <a:off x="777240" y="3588106"/>
            <a:ext cx="10634472" cy="1975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 &lt;- 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acp$loadings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[, 1:2]</a:t>
            </a:r>
            <a:endParaRPr lang="pt-BR" sz="1000" noProof="0" dirty="0"/>
          </a:p>
        </p:txBody>
      </p:sp>
      <p:sp>
        <p:nvSpPr>
          <p:cNvPr id="16" name="Text 14"/>
          <p:cNvSpPr/>
          <p:nvPr/>
        </p:nvSpPr>
        <p:spPr>
          <a:xfrm>
            <a:off x="777240" y="3785616"/>
            <a:ext cx="10634472" cy="1975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plot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(L[, 1], L[, 2], 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xlim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 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(-1, 1), 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ylim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 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(-1, 1), 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pch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 19, 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asp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 1,</a:t>
            </a:r>
            <a:endParaRPr lang="pt-BR" sz="1000" noProof="0" dirty="0"/>
          </a:p>
        </p:txBody>
      </p:sp>
      <p:sp>
        <p:nvSpPr>
          <p:cNvPr id="17" name="Text 15"/>
          <p:cNvSpPr/>
          <p:nvPr/>
        </p:nvSpPr>
        <p:spPr>
          <a:xfrm>
            <a:off x="777240" y="3983126"/>
            <a:ext cx="10634472" cy="1975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xlab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 "Fator 1", 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ylab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 "Fator 2")</a:t>
            </a:r>
            <a:endParaRPr lang="pt-BR" sz="1000" noProof="0" dirty="0"/>
          </a:p>
        </p:txBody>
      </p:sp>
      <p:sp>
        <p:nvSpPr>
          <p:cNvPr id="18" name="Text 16"/>
          <p:cNvSpPr/>
          <p:nvPr/>
        </p:nvSpPr>
        <p:spPr>
          <a:xfrm>
            <a:off x="777240" y="4180637"/>
            <a:ext cx="10634472" cy="1975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abline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 0, 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 0, 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col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 "grey60")</a:t>
            </a:r>
            <a:endParaRPr lang="pt-BR" sz="1000" noProof="0" dirty="0"/>
          </a:p>
        </p:txBody>
      </p:sp>
      <p:sp>
        <p:nvSpPr>
          <p:cNvPr id="19" name="Text 17"/>
          <p:cNvSpPr/>
          <p:nvPr/>
        </p:nvSpPr>
        <p:spPr>
          <a:xfrm>
            <a:off x="777240" y="4378147"/>
            <a:ext cx="10634472" cy="1975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text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(L[, 1], L[, 2], 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labels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 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rownames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(L), 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pos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 4, 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cex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 0.8)</a:t>
            </a:r>
            <a:endParaRPr lang="pt-BR" sz="1000" noProof="0" dirty="0"/>
          </a:p>
        </p:txBody>
      </p:sp>
      <p:sp>
        <p:nvSpPr>
          <p:cNvPr id="20" name="Text 18"/>
          <p:cNvSpPr/>
          <p:nvPr/>
        </p:nvSpPr>
        <p:spPr>
          <a:xfrm>
            <a:off x="777240" y="4575658"/>
            <a:ext cx="10634472" cy="1975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pt-BR" sz="1000" noProof="0" dirty="0"/>
          </a:p>
        </p:txBody>
      </p:sp>
      <p:sp>
        <p:nvSpPr>
          <p:cNvPr id="21" name="Text 19"/>
          <p:cNvSpPr/>
          <p:nvPr/>
        </p:nvSpPr>
        <p:spPr>
          <a:xfrm>
            <a:off x="777240" y="4773168"/>
            <a:ext cx="10634472" cy="1975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BR" sz="1000" noProof="0" dirty="0">
                <a:solidFill>
                  <a:srgbClr val="8C2F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9. A matriz de correlação como figura</a:t>
            </a:r>
            <a:endParaRPr lang="pt-BR" sz="1000" noProof="0" dirty="0"/>
          </a:p>
        </p:txBody>
      </p:sp>
      <p:sp>
        <p:nvSpPr>
          <p:cNvPr id="22" name="Text 20"/>
          <p:cNvSpPr/>
          <p:nvPr/>
        </p:nvSpPr>
        <p:spPr>
          <a:xfrm>
            <a:off x="777240" y="4970678"/>
            <a:ext cx="10634472" cy="1975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cor.plot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numbers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 TRUE, 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main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 "Matriz de correlação de 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Spearman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")</a:t>
            </a:r>
            <a:endParaRPr lang="pt-BR" sz="1000" noProof="0" dirty="0"/>
          </a:p>
        </p:txBody>
      </p:sp>
      <p:sp>
        <p:nvSpPr>
          <p:cNvPr id="23" name="Text 21"/>
          <p:cNvSpPr/>
          <p:nvPr/>
        </p:nvSpPr>
        <p:spPr>
          <a:xfrm>
            <a:off x="777240" y="5239512"/>
            <a:ext cx="1063447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650"/>
              </a:lnSpc>
              <a:buNone/>
            </a:pPr>
            <a:r>
              <a:rPr lang="pt-BR" sz="1250" b="1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script inteiro, comentado, está </a:t>
            </a:r>
            <a:r>
              <a:rPr lang="pt-BR" sz="1250" b="1" noProof="0" dirty="0" err="1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versionado</a:t>
            </a:r>
            <a:r>
              <a:rPr lang="pt-BR" sz="1250" b="1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.  </a:t>
            </a:r>
            <a:r>
              <a:rPr lang="pt-BR" sz="1250" noProof="0" dirty="0" err="1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docs/metodologia</a:t>
            </a:r>
            <a:r>
              <a:rPr lang="pt-BR" sz="1250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/</a:t>
            </a:r>
            <a:r>
              <a:rPr lang="pt-BR" sz="1250" noProof="0" dirty="0" err="1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Codigo_Analise_Fatorial_Comentado.md</a:t>
            </a:r>
            <a:r>
              <a:rPr lang="pt-BR" sz="1250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traz este código com a explicação linha a linha de cada função em Python ao lado da equivalente em </a:t>
            </a:r>
            <a:r>
              <a:rPr lang="pt-BR" sz="1250" noProof="0" dirty="0" err="1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</a:t>
            </a:r>
            <a:r>
              <a:rPr lang="pt-BR" sz="1250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, e a tabela das cinco diferenças a esperar entre as duas implementações.</a:t>
            </a:r>
            <a:endParaRPr lang="pt-BR" sz="1250" noProof="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pt-BR" sz="1000" noProof="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40</a:t>
            </a:r>
            <a:endParaRPr lang="pt-BR" sz="1000" noProof="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pt-BR" sz="2600" b="1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esperar de diferente entre as duas</a:t>
            </a:r>
            <a:endParaRPr lang="pt-BR" sz="2600" noProof="0" dirty="0"/>
          </a:p>
        </p:txBody>
      </p:sp>
      <p:sp>
        <p:nvSpPr>
          <p:cNvPr id="4" name="Text 2"/>
          <p:cNvSpPr/>
          <p:nvPr/>
        </p:nvSpPr>
        <p:spPr>
          <a:xfrm>
            <a:off x="777240" y="969264"/>
            <a:ext cx="97200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300" i="1" noProof="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Cinco pontos. Divergência além destes é problema real, não diferença de linguagem.</a:t>
            </a:r>
            <a:endParaRPr lang="pt-BR" sz="1300" noProof="0" dirty="0"/>
          </a:p>
        </p:txBody>
      </p:sp>
      <p:sp>
        <p:nvSpPr>
          <p:cNvPr id="5" name="Shape 3"/>
          <p:cNvSpPr/>
          <p:nvPr/>
        </p:nvSpPr>
        <p:spPr>
          <a:xfrm>
            <a:off x="777240" y="1426464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graphicFrame>
        <p:nvGraphicFramePr>
          <p:cNvPr id="4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06977902"/>
              </p:ext>
            </p:extLst>
          </p:nvPr>
        </p:nvGraphicFramePr>
        <p:xfrm>
          <a:off x="777240" y="1627632"/>
          <a:ext cx="11548872" cy="2743200"/>
        </p:xfrm>
        <a:graphic>
          <a:graphicData uri="http://schemas.openxmlformats.org/drawingml/2006/table">
            <a:tbl>
              <a:tblPr/>
              <a:tblGrid>
                <a:gridCol w="30175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6517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6517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22783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050" b="1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Ponto</a:t>
                      </a:r>
                      <a:endParaRPr lang="pt-BR" sz="10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050" b="1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Python (aqui)</a:t>
                      </a:r>
                      <a:endParaRPr lang="pt-BR" sz="10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050" b="1" noProof="0" dirty="0" err="1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</a:t>
                      </a:r>
                      <a:r>
                        <a:rPr lang="pt-BR" sz="1050" b="1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 (</a:t>
                      </a:r>
                      <a:r>
                        <a:rPr lang="pt-BR" sz="1050" b="1" noProof="0" dirty="0" err="1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psych</a:t>
                      </a:r>
                      <a:r>
                        <a:rPr lang="pt-BR" sz="1050" b="1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)</a:t>
                      </a:r>
                      <a:endParaRPr lang="pt-BR" sz="10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050" b="1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O que fazer</a:t>
                      </a:r>
                      <a:endParaRPr lang="pt-BR" sz="10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0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Normalização da </a:t>
                      </a:r>
                      <a:r>
                        <a:rPr lang="pt-BR" sz="1100" noProof="0" dirty="0" err="1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Varimax</a:t>
                      </a:r>
                      <a:endParaRPr lang="pt-BR" sz="110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0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sem normalização</a:t>
                      </a:r>
                      <a:endParaRPr lang="pt-BR" sz="110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0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normalize = TRUE</a:t>
                      </a:r>
                      <a:endParaRPr lang="pt-BR" sz="110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00" b="1" noProof="0" dirty="0">
                          <a:solidFill>
                            <a:srgbClr val="8C2F27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use normalize = FALSE</a:t>
                      </a:r>
                      <a:endParaRPr lang="pt-BR" sz="110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0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Sinal dos fatores</a:t>
                      </a:r>
                      <a:endParaRPr lang="pt-BR" sz="110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0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o que o LAPACK der</a:t>
                      </a:r>
                      <a:endParaRPr lang="pt-BR" sz="110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0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vira para soma positiva</a:t>
                      </a:r>
                      <a:endParaRPr lang="pt-BR" sz="110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0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compare valores absolutos</a:t>
                      </a:r>
                      <a:endParaRPr lang="pt-BR" sz="110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0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Ordem dos fatores</a:t>
                      </a:r>
                      <a:endParaRPr lang="pt-BR" sz="110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0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autovalor decrescente</a:t>
                      </a:r>
                      <a:endParaRPr lang="pt-BR" sz="110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0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pode reordenar após girar</a:t>
                      </a:r>
                      <a:endParaRPr lang="pt-BR" sz="110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0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confira pelo padrão de cargas</a:t>
                      </a:r>
                      <a:endParaRPr lang="pt-BR" sz="110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0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Análise paralela de Horn</a:t>
                      </a:r>
                      <a:endParaRPr lang="pt-BR" sz="110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0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50 simulações, normal</a:t>
                      </a:r>
                      <a:endParaRPr lang="pt-BR" sz="110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00" noProof="0" dirty="0" err="1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reamostra</a:t>
                      </a:r>
                      <a:r>
                        <a:rPr lang="pt-BR" sz="110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 os dados</a:t>
                      </a:r>
                      <a:endParaRPr lang="pt-BR" sz="110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0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o nº de fatores não deve mudar</a:t>
                      </a:r>
                      <a:endParaRPr lang="pt-BR" sz="110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00" noProof="0" dirty="0" err="1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Spearman</a:t>
                      </a:r>
                      <a:endParaRPr lang="pt-BR" sz="110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0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pandas, posto médio</a:t>
                      </a:r>
                      <a:endParaRPr lang="pt-BR" sz="110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0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cor(), posto médio</a:t>
                      </a:r>
                      <a:endParaRPr lang="pt-BR" sz="110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0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idênticos</a:t>
                      </a:r>
                      <a:endParaRPr lang="pt-BR" sz="110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777240" y="4407408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pt-BR" sz="1000" noProof="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41</a:t>
            </a:r>
            <a:endParaRPr lang="pt-BR" sz="1000" noProof="0" dirty="0"/>
          </a:p>
        </p:txBody>
      </p:sp>
      <p:sp>
        <p:nvSpPr>
          <p:cNvPr id="3" name="Text 1"/>
          <p:cNvSpPr/>
          <p:nvPr/>
        </p:nvSpPr>
        <p:spPr>
          <a:xfrm>
            <a:off x="777240" y="2331720"/>
            <a:ext cx="1097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5400" b="1" noProof="0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</a:t>
            </a:r>
            <a:endParaRPr lang="pt-BR" sz="5400" noProof="0" dirty="0"/>
          </a:p>
        </p:txBody>
      </p:sp>
      <p:sp>
        <p:nvSpPr>
          <p:cNvPr id="4" name="Text 2"/>
          <p:cNvSpPr/>
          <p:nvPr/>
        </p:nvSpPr>
        <p:spPr>
          <a:xfrm>
            <a:off x="1920240" y="2331720"/>
            <a:ext cx="94914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3200" b="1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vai para a orientação</a:t>
            </a:r>
            <a:endParaRPr lang="pt-BR" sz="3200" noProof="0" dirty="0"/>
          </a:p>
        </p:txBody>
      </p:sp>
      <p:sp>
        <p:nvSpPr>
          <p:cNvPr id="5" name="Shape 3"/>
          <p:cNvSpPr/>
          <p:nvPr/>
        </p:nvSpPr>
        <p:spPr>
          <a:xfrm>
            <a:off x="777240" y="3273552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6" name="Text 4"/>
          <p:cNvSpPr/>
          <p:nvPr/>
        </p:nvSpPr>
        <p:spPr>
          <a:xfrm>
            <a:off x="1920240" y="3401568"/>
            <a:ext cx="90342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400" i="1" noProof="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Seis decisões, cada uma com o custo medido. Nenhuma foi fechada aqui.</a:t>
            </a:r>
            <a:endParaRPr lang="pt-BR" sz="1400" noProof="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pt-BR" sz="1000" noProof="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42</a:t>
            </a:r>
            <a:endParaRPr lang="pt-BR" sz="1000" noProof="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r>
              <a:rPr lang="pt-BR" sz="2600" b="1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As seis decisões </a:t>
            </a:r>
            <a:r>
              <a:rPr lang="pt-BR" sz="2600" b="1" dirty="0">
                <a:solidFill>
                  <a:srgbClr val="FF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– EXPLICAR SLIDE  O PORQUE DE CADA DECISAO</a:t>
            </a:r>
            <a:endParaRPr lang="pt-BR" sz="2600" noProof="0" dirty="0"/>
          </a:p>
        </p:txBody>
      </p:sp>
      <p:sp>
        <p:nvSpPr>
          <p:cNvPr id="4" name="Text 2"/>
          <p:cNvSpPr/>
          <p:nvPr/>
        </p:nvSpPr>
        <p:spPr>
          <a:xfrm>
            <a:off x="777240" y="969264"/>
            <a:ext cx="97200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300" i="1" noProof="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 o que cada opção custa.</a:t>
            </a:r>
            <a:endParaRPr lang="pt-BR" sz="1300" noProof="0" dirty="0"/>
          </a:p>
        </p:txBody>
      </p:sp>
      <p:sp>
        <p:nvSpPr>
          <p:cNvPr id="5" name="Shape 3"/>
          <p:cNvSpPr/>
          <p:nvPr/>
        </p:nvSpPr>
        <p:spPr>
          <a:xfrm>
            <a:off x="777240" y="1426464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graphicFrame>
        <p:nvGraphicFramePr>
          <p:cNvPr id="4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6062455"/>
              </p:ext>
            </p:extLst>
          </p:nvPr>
        </p:nvGraphicFramePr>
        <p:xfrm>
          <a:off x="777240" y="1627632"/>
          <a:ext cx="10634472" cy="3968496"/>
        </p:xfrm>
        <a:graphic>
          <a:graphicData uri="http://schemas.openxmlformats.org/drawingml/2006/table">
            <a:tbl>
              <a:tblPr/>
              <a:tblGrid>
                <a:gridCol w="5486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657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42823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00" b="1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#</a:t>
                      </a:r>
                      <a:endParaRPr lang="pt-BR" sz="110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00" b="1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Decisão</a:t>
                      </a:r>
                      <a:endParaRPr lang="pt-BR" sz="110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00" b="1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O que pesa de cada lado</a:t>
                      </a:r>
                      <a:endParaRPr lang="pt-BR" sz="110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Pesos empíricos ou 60/40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Convergem. Custo da troca: 2,5% dos setores mudam de faixa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Destino do indicador de lixo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Fora: variância sobe a 70,0% e a água recupera a comunalidade. Dentro: fidelidade literal ao IVS-BH 2012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Política do sigilo no analfabetismo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Manter a variável custa 16.563 setores sem índice. Retirá-la move 7,5% de faixa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Um fator ou dois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Um é o que Kaiser e Horn indicam e dispensa rotação. Dois preserva a estrutura do IVS-BH. Custo: 8,8%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Rotação ortogonal ou oblíqua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Oblíqua é a recomendada (p. 38) e produz </a:t>
                      </a:r>
                      <a:r>
                        <a:rPr lang="pt-BR" sz="1150" noProof="0" dirty="0" err="1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Φ</a:t>
                      </a: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. Custo nos pesos: 0,8 ponto percentual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Índice 0–1 ou escore refinado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O 0–1 é interpretável e comparável. O refinado separa melhor as favelas (0,862 contra 0,813)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pt-BR" sz="1000" noProof="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43</a:t>
            </a:r>
            <a:endParaRPr lang="pt-BR" sz="1000" noProof="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r>
              <a:rPr lang="pt-BR" sz="2600" b="1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fica declarado como limitação </a:t>
            </a:r>
            <a:r>
              <a:rPr lang="pt-BR" sz="2600" b="1" dirty="0">
                <a:solidFill>
                  <a:srgbClr val="FF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– EXPLICAR SLIDE</a:t>
            </a:r>
            <a:endParaRPr lang="pt-BR" sz="2600" noProof="0" dirty="0"/>
          </a:p>
        </p:txBody>
      </p:sp>
      <p:sp>
        <p:nvSpPr>
          <p:cNvPr id="4" name="Text 2"/>
          <p:cNvSpPr/>
          <p:nvPr/>
        </p:nvSpPr>
        <p:spPr>
          <a:xfrm>
            <a:off x="777240" y="969264"/>
            <a:ext cx="97200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300" i="1" noProof="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Nove pontos. Quatro são do método, cinco são dos dados.</a:t>
            </a:r>
            <a:endParaRPr lang="pt-BR" sz="1300" noProof="0" dirty="0"/>
          </a:p>
        </p:txBody>
      </p:sp>
      <p:sp>
        <p:nvSpPr>
          <p:cNvPr id="5" name="Shape 3"/>
          <p:cNvSpPr/>
          <p:nvPr/>
        </p:nvSpPr>
        <p:spPr>
          <a:xfrm>
            <a:off x="777240" y="1426464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graphicFrame>
        <p:nvGraphicFramePr>
          <p:cNvPr id="4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9360589"/>
              </p:ext>
            </p:extLst>
          </p:nvPr>
        </p:nvGraphicFramePr>
        <p:xfrm>
          <a:off x="777240" y="1627632"/>
          <a:ext cx="10634472" cy="4023360"/>
        </p:xfrm>
        <a:graphic>
          <a:graphicData uri="http://schemas.openxmlformats.org/drawingml/2006/table">
            <a:tbl>
              <a:tblPr/>
              <a:tblGrid>
                <a:gridCol w="48463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78815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0233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00" b="1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Limitação</a:t>
                      </a:r>
                      <a:endParaRPr lang="pt-BR" sz="110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00" b="1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Onde ela morde</a:t>
                      </a:r>
                      <a:endParaRPr lang="pt-BR" sz="110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Bartlett vazio nesta escala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 adequabilidade se apoia no KMO e nos MSA (livro, p. 43)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ACP sobre matriz de </a:t>
                      </a:r>
                      <a:r>
                        <a:rPr lang="pt-BR" sz="1150" noProof="0" dirty="0" err="1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Spearman</a:t>
                      </a: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 é ACP de postos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É a causa da divergência entre o índice e o escore refinado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 err="1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Multicolinearidade</a:t>
                      </a: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 renda × cor/raça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0,784 na matriz fatorada — abaixo do limiar, mas alto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Viés não aleatório do sigilo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16.563 setores perdidos, incidindo nos de melhor situação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Dependência espacial não tratada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 fatorial pressupõe unidades independentes; setores vizinhos não são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Falácia ecológica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As cargas descrevem territórios, não pessoas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Padronização min-</a:t>
                      </a:r>
                      <a:r>
                        <a:rPr lang="pt-BR" sz="1150" noProof="0" dirty="0" err="1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max</a:t>
                      </a: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 global e provisória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 normalização por município é do Notebook 03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 err="1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renda_media_sem_extremo</a:t>
                      </a: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 não entrou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Toda a análise usa </a:t>
                      </a:r>
                      <a:r>
                        <a:rPr lang="pt-BR" sz="1150" noProof="0" dirty="0" err="1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renda_media</a:t>
                      </a: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, como os </a:t>
                      </a:r>
                      <a:r>
                        <a:rPr lang="pt-BR" sz="1150" noProof="0" dirty="0" err="1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CSVs</a:t>
                      </a: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 de agosto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Reflexivo ou formativo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Questão conceitual em aberto sobre a natureza do índice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1234440"/>
            <a:ext cx="106344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spc="200" kern="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INICIAÇÃO CIENTÍFICA · FIOCRUZ MINAS — IRR</a:t>
            </a:r>
            <a:endParaRPr lang="en-US" sz="1150" dirty="0"/>
          </a:p>
        </p:txBody>
      </p:sp>
      <p:sp>
        <p:nvSpPr>
          <p:cNvPr id="3" name="Shape 1"/>
          <p:cNvSpPr/>
          <p:nvPr/>
        </p:nvSpPr>
        <p:spPr>
          <a:xfrm>
            <a:off x="777240" y="1627632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77240" y="1783080"/>
            <a:ext cx="106344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EDA Central — 2ª rodada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777240" y="2788920"/>
            <a:ext cx="8595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Índice de Vulnerabilidade da Saúde intraurbano · Censo Demográfico 2022 · 70 municípios do ELSI-Brasil</a:t>
            </a:r>
            <a:endParaRPr lang="en-US" sz="14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mesma análise, recalculada com a renda sem o valor extremo de Belo Horizonte. As alterações estão marcadas.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777240" y="5623560"/>
            <a:ext cx="10634472" cy="0"/>
          </a:xfrm>
          <a:prstGeom prst="line">
            <a:avLst/>
          </a:prstGeom>
          <a:noFill/>
          <a:ln w="9525">
            <a:solidFill>
              <a:srgbClr val="C8C6C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77240" y="5760720"/>
            <a:ext cx="106344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Pedro Dias Soares  ·  setembro de 2026  ·  104.108 setores urbanos elegíveis  ·  renda sem o setor 310620005650366</a:t>
            </a:r>
            <a:endParaRPr lang="en-US" sz="110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Por que esta apresentação existe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777240" y="969264"/>
            <a:ext cx="97200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Nenhum dos decks anteriores era a EDA inteira — cada um era um recorte dela.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777240" y="1426464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1691640"/>
          <a:ext cx="10634472" cy="914400"/>
        </p:xfrm>
        <a:graphic>
          <a:graphicData uri="http://schemas.openxmlformats.org/drawingml/2006/table">
            <a:tbl>
              <a:tblPr/>
              <a:tblGrid>
                <a:gridCol w="4206240"/>
                <a:gridCol w="1371600"/>
                <a:gridCol w="1188720"/>
                <a:gridCol w="2743200"/>
                <a:gridCol w="1371600"/>
              </a:tblGrid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Bloco de análise</a:t>
                      </a:r>
                      <a:endParaRPr lang="en-US" sz="11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Tabelas</a:t>
                      </a:r>
                      <a:endParaRPr lang="en-US" sz="11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Junho</a:t>
                      </a:r>
                      <a:endParaRPr lang="en-US" sz="11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Agosto</a:t>
                      </a:r>
                      <a:endParaRPr lang="en-US" sz="11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Agora</a:t>
                      </a:r>
                      <a:endParaRPr lang="en-US" sz="11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Chefia feminina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sim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8C2F27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caiu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entra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Habitação precária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sim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8C2F27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caiu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entra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Morfologia V00048–V00058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sim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8C2F27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caiu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entra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Inadequação de banheiro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sim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só na lista de variáveis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entra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Moradia predominante · saneamento em faixas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não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não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entra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Distribuições, outliers e faltantes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 + 3 figuras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sim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parcial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entra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Cobertura · favelas · envelhecimento · Brasil×ELSI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13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parcial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entrou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mantém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777240" y="5212080"/>
            <a:ext cx="1063447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causa: nenhum script gerava os decks. A lista do que entra vivia na cabeça de quem montava — a mesma causa dos CSVs órfãos. Este deck é gerado por script, e os números são lidos das tabelas em tempo de build.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Levantamento feito arquivo por arquivo sobre os 7 .pptx versionados em docs/Apresentacoes_IVS/.</a:t>
            </a:r>
            <a:endParaRPr lang="en-US" sz="95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mudou nesta rodada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777240" y="969264"/>
            <a:ext cx="97200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EDA inteira foi recalculada. Um único valor saiu da base — e o efeito dele é mais estreito e mais fundo do que se esperava.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777240" y="1426464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77240" y="1591056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77240" y="1645920"/>
            <a:ext cx="106344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pedido.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Criar uma coluna de renda sem o valor extremo de Belo Horizonte. A coluna nova é `renda_media_sem_extremo`; a `renda_media` original continua na base, sem alteração, ao lado dela.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777240" y="2395728"/>
            <a:ext cx="106344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setor.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310620005650366 — Belo Horizonte, bairro Senhor dos Passos, R$ 170.418,06 por responsável. Maior valor da base, 55,7× a mediana do município, num setor de favela com 186 domicílios e 518 pessoas.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777240" y="3145536"/>
            <a:ext cx="106344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alcance.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 todas as células recalculadas, 45 mudaram, em 6 tabelas: correlacao_pearson, descritivas_globais, descritivas_por_regiao, favelas_fcu_comparativo_indicadores, missing_por_municipio, outliers. Nenhuma delas fora da renda e de suas correlações.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777240" y="4343400"/>
            <a:ext cx="2377440" cy="0"/>
          </a:xfrm>
          <a:prstGeom prst="line">
            <a:avLst/>
          </a:prstGeom>
          <a:noFill/>
          <a:ln w="12700">
            <a:solidFill>
              <a:srgbClr val="8C2F2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77240" y="4416552"/>
            <a:ext cx="2377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3000" dirty="0"/>
          </a:p>
        </p:txBody>
      </p:sp>
      <p:sp>
        <p:nvSpPr>
          <p:cNvPr id="12" name="Text 10"/>
          <p:cNvSpPr/>
          <p:nvPr/>
        </p:nvSpPr>
        <p:spPr>
          <a:xfrm>
            <a:off x="777240" y="5001768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setor excluído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3429000" y="4343400"/>
            <a:ext cx="2377440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429000" y="4416552"/>
            <a:ext cx="2377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104.108</a:t>
            </a:r>
            <a:endParaRPr lang="en-US" sz="3000" dirty="0"/>
          </a:p>
        </p:txBody>
      </p:sp>
      <p:sp>
        <p:nvSpPr>
          <p:cNvPr id="15" name="Text 13"/>
          <p:cNvSpPr/>
          <p:nvPr/>
        </p:nvSpPr>
        <p:spPr>
          <a:xfrm>
            <a:off x="3429000" y="5001768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setores no recorte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6080760" y="4343400"/>
            <a:ext cx="2377440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080760" y="4416552"/>
            <a:ext cx="2377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45</a:t>
            </a:r>
            <a:endParaRPr lang="en-US" sz="3000" dirty="0"/>
          </a:p>
        </p:txBody>
      </p:sp>
      <p:sp>
        <p:nvSpPr>
          <p:cNvPr id="18" name="Text 16"/>
          <p:cNvSpPr/>
          <p:nvPr/>
        </p:nvSpPr>
        <p:spPr>
          <a:xfrm>
            <a:off x="6080760" y="5001768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células alteradas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8732520" y="4343400"/>
            <a:ext cx="2651760" cy="0"/>
          </a:xfrm>
          <a:prstGeom prst="line">
            <a:avLst/>
          </a:prstGeom>
          <a:noFill/>
          <a:ln w="12700">
            <a:solidFill>
              <a:srgbClr val="8C2F2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732520" y="4416552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−48%</a:t>
            </a:r>
            <a:endParaRPr lang="en-US" sz="3000" dirty="0"/>
          </a:p>
        </p:txBody>
      </p:sp>
      <p:sp>
        <p:nvSpPr>
          <p:cNvPr id="21" name="Text 19"/>
          <p:cNvSpPr/>
          <p:nvPr/>
        </p:nvSpPr>
        <p:spPr>
          <a:xfrm>
            <a:off x="8732520" y="5001768"/>
            <a:ext cx="2651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na curtose da renda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Comparação célula a célula em banco_de_dados/eda/atualizada/comparacao_antes_depois.csv, gerada por scripts/eda_atualizada.py.</a:t>
            </a:r>
            <a:endParaRPr lang="en-US" sz="950"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renda, antes e depois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777240" y="969264"/>
            <a:ext cx="97200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nível quase não se move. A forma da distribuição, sim.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777240" y="1426464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77240" y="1600200"/>
            <a:ext cx="106344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Tabela 1 — </a:t>
            </a:r>
            <a:pPr indent="0" marL="0">
              <a:buNone/>
            </a:pPr>
            <a:r>
              <a:rPr lang="en-US" sz="110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renda, antes e depois da exclusão.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777240" y="1856232"/>
            <a:ext cx="10634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Recorte: setores urbanos elegíveis (104.108). Fonte: eda/descritivas_globais.csv × eda/atualizada/descritivas_globais.csv.</a:t>
            </a:r>
            <a:endParaRPr lang="en-US" sz="95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2148840"/>
          <a:ext cx="10634472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2560320"/>
                <a:gridCol w="2560320"/>
                <a:gridCol w="2377440"/>
              </a:tblGrid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Estatística</a:t>
                      </a:r>
                      <a:endParaRPr lang="en-US" sz="11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Antes</a:t>
                      </a:r>
                      <a:endParaRPr lang="en-US" sz="11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Depois</a:t>
                      </a:r>
                      <a:endParaRPr lang="en-US" sz="11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Variação</a:t>
                      </a:r>
                      <a:endParaRPr lang="en-US" sz="11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Média (R$)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4.187,41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4.185,81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-0,04%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Mediana (R$)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2.572,39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2.572,39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0,00%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Desvio-padrão (R$)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4.150,66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4.118,57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-0,77%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Máximo (R$)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170.418,06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140.172,64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-17,75%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Assimetria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3,74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3,20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-14,50%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Curtose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49,49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25,66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-48,16%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n de setores com renda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104.096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104.095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−1 setor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777240" y="4617720"/>
            <a:ext cx="106344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exclusão de 1 setor em 104.108 quase não move o nível e desmonta a cauda: a curtose cai quase pela metade.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777240" y="4791456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777240" y="4846320"/>
            <a:ext cx="106344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leitura.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média cai 0,04% e a mediana não muda — tirar um setor em 104 mil não desloca o centro. O que muda é a cauda: o desvio-padrão cai 0,8%, a assimetria 14,5% e a curtose 48,2%. Metade do peso da cauda da renda no recorte inteiro estava naquele único setor.</a:t>
            </a:r>
            <a:endParaRPr lang="en-US" sz="1250" dirty="0"/>
          </a:p>
        </p:txBody>
      </p:sp>
      <p:sp>
        <p:nvSpPr>
          <p:cNvPr id="12" name="Text 9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eda/descritivas_globais.csv (antes) × eda/atualizada/descritivas_globais.csv (depois).</a:t>
            </a:r>
            <a:endParaRPr lang="en-US" sz="950" dirty="0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As correlações com a renda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777240" y="969264"/>
            <a:ext cx="97200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Todas ficam mais fortes — e Spearman não muda em casa nenhuma.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777240" y="1426464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77240" y="1600200"/>
            <a:ext cx="106344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Tabela 2 — </a:t>
            </a:r>
            <a:pPr indent="0" marL="0">
              <a:buNone/>
            </a:pPr>
            <a:r>
              <a:rPr lang="en-US" sz="110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As correlações de Pearson com a renda.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777240" y="1856232"/>
            <a:ext cx="10634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Recorte: setores urbanos elegíveis (104.108). Fonte: eda/atualizada/comparacao_antes_depois.csv.</a:t>
            </a:r>
            <a:endParaRPr lang="en-US" sz="9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2148840"/>
          <a:ext cx="10634472" cy="914400"/>
        </p:xfrm>
        <a:graphic>
          <a:graphicData uri="http://schemas.openxmlformats.org/drawingml/2006/table">
            <a:tbl>
              <a:tblPr/>
              <a:tblGrid>
                <a:gridCol w="4023360"/>
                <a:gridCol w="2194560"/>
                <a:gridCol w="2194560"/>
                <a:gridCol w="1828800"/>
              </a:tblGrid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Par com a renda</a:t>
                      </a:r>
                      <a:endParaRPr lang="en-US" sz="11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Antes</a:t>
                      </a:r>
                      <a:endParaRPr lang="en-US" sz="11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Depois</a:t>
                      </a:r>
                      <a:endParaRPr lang="en-US" sz="11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Δ</a:t>
                      </a:r>
                      <a:endParaRPr lang="en-US" sz="11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Esgoto inadequado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-0,216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-0,218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-0,002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Lixo inadequado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-0,086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-0,087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-0,001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Razão de moradores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-0,323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-0,326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-0,003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Analfabetismo 15+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-0,418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-0,424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-0,006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Preta, parda ou indígena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-0,682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-0,687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-0,005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Idosos 60+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0,377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0,380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0,003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Crianças 0–4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-0,297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-0,299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-0,002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Chefia feminina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-0,249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-0,251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-0,002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777240" y="4910328"/>
            <a:ext cx="106344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Todas ficam mais fortes: o valor extremo achatava a associação linear. Spearman não muda em casa nenhuma — ele já era imune ao caso.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777240" y="4562856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777240" y="4617720"/>
            <a:ext cx="1063447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Por que isso importa.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Pearson mede associação linear e é sensível a um ponto extremo: o setor de BH achatava toda a coluna da renda. A matriz de Spearman, que trabalha com postos, é idêntica antes e depois — o caso nunca a afetou. É o argumento empírico a favor de estatística robusta para a renda, já registrado como decisão em aberto.</a:t>
            </a:r>
            <a:endParaRPr lang="en-US" sz="1250" dirty="0"/>
          </a:p>
        </p:txBody>
      </p:sp>
      <p:sp>
        <p:nvSpPr>
          <p:cNvPr id="12" name="Text 9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São 16 células alteradas na matriz — os 8 pares acima, contados nos dois triângulos. Detalhe em eda/atualizada/comparacao_antes_depois.csv.</a:t>
            </a:r>
            <a:endParaRPr lang="en-US" sz="950" dirty="0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NÃO mudou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777240" y="969264"/>
            <a:ext cx="97200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Tão importante quanto o que mudou: a exclusão não vazou para o resto da análise.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777240" y="1426464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1691640"/>
          <a:ext cx="10634472" cy="914400"/>
        </p:xfrm>
        <a:graphic>
          <a:graphicData uri="http://schemas.openxmlformats.org/drawingml/2006/table">
            <a:tbl>
              <a:tblPr/>
              <a:tblGrid>
                <a:gridCol w="5669280"/>
                <a:gridCol w="603504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Bloco da EDA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Situação após o recálculo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Elegibilidade e recorte urbano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idêntico — 106.281 elegíveis, 104.108 no recorte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Água, esgoto, lixo, razão de moradores, analfabetismo, cor/raça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idênticos em média, mediana, outliers e faltantes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Matriz de Spearman (10 variáveis)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idêntica em todas as 100 células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Favelas e Comunidades Urbanas — contagens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idênticas: 19.452 no recorte, 19.507 na base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Cobertura de saneamento, faixas de gravidade, morfologia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idênticos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Chefia feminina, envelhecimento, habitação precária, banheiro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idênticos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Canalização da água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idêntica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777240" y="4754880"/>
            <a:ext cx="106344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isso foi verificado.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Não por inspeção visual: o script recalcula as sete tabelas nas duas versões e compara célula a célula. As que não aparecem na lista de alterações têm diferença exatamente zero.</a:t>
            </a:r>
            <a:endParaRPr lang="en-US" sz="1250" dirty="0"/>
          </a:p>
        </p:txBody>
      </p:sp>
      <p:sp>
        <p:nvSpPr>
          <p:cNvPr id="8" name="Text 5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scripts/eda_atualizada.py — a mesma rotina valida que, com a coluna antiga, o recálculo reproduz a EDA publicada.</a:t>
            </a:r>
            <a:endParaRPr lang="en-US" sz="950" dirty="0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2331720"/>
            <a:ext cx="1097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5400" dirty="0"/>
          </a:p>
        </p:txBody>
      </p:sp>
      <p:sp>
        <p:nvSpPr>
          <p:cNvPr id="4" name="Text 2"/>
          <p:cNvSpPr/>
          <p:nvPr/>
        </p:nvSpPr>
        <p:spPr>
          <a:xfrm>
            <a:off x="1920240" y="2331720"/>
            <a:ext cx="94914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desenho do estudo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777240" y="3273552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920240" y="3401568"/>
            <a:ext cx="90342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pergunta, a base e como a pipeline está estruturada.</a:t>
            </a:r>
            <a:endParaRPr lang="en-US" sz="1400" dirty="0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pergunta e o objeto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1024128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" y="1645920"/>
            <a:ext cx="53492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pergunta.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a vulnerabilidade à saúde se distribui DENTRO das cidades brasileiras onde vive a coorte do ELSI-Brasil, e o que essa distribuição revela sobre desigualdade intraurbana?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6492240" y="1645920"/>
            <a:ext cx="53492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objeto: o setor censitário.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menor unidade territorial do Censo. O IVS é um índice INTRAURBANO — compara setores dentro da mesma cidade, não cidades entre si. É dessa escolha que decorrem o recorte urbano, a normalização por município e o desenho ecológico.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777240" y="3794760"/>
            <a:ext cx="2514600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77240" y="3867912"/>
            <a:ext cx="2514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104.108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777240" y="4453128"/>
            <a:ext cx="2514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setores urbanos elegíveis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3474720" y="3794760"/>
            <a:ext cx="2514600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474720" y="3867912"/>
            <a:ext cx="2514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70</a:t>
            </a:r>
            <a:endParaRPr lang="en-US" sz="3000" dirty="0"/>
          </a:p>
        </p:txBody>
      </p:sp>
      <p:sp>
        <p:nvSpPr>
          <p:cNvPr id="12" name="Text 10"/>
          <p:cNvSpPr/>
          <p:nvPr/>
        </p:nvSpPr>
        <p:spPr>
          <a:xfrm>
            <a:off x="3474720" y="4453128"/>
            <a:ext cx="2514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municípios do ELSI-Brasil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6172200" y="3794760"/>
            <a:ext cx="2514600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172200" y="3867912"/>
            <a:ext cx="2514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</a:t>
            </a:r>
            <a:endParaRPr lang="en-US" sz="3000" dirty="0"/>
          </a:p>
        </p:txBody>
      </p:sp>
      <p:sp>
        <p:nvSpPr>
          <p:cNvPr id="15" name="Text 13"/>
          <p:cNvSpPr/>
          <p:nvPr/>
        </p:nvSpPr>
        <p:spPr>
          <a:xfrm>
            <a:off x="6172200" y="4453128"/>
            <a:ext cx="2514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arquivos do Censo 2022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8869680" y="3794760"/>
            <a:ext cx="2514600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869680" y="3867912"/>
            <a:ext cx="2514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73</a:t>
            </a:r>
            <a:endParaRPr lang="en-US" sz="3000" dirty="0"/>
          </a:p>
        </p:txBody>
      </p:sp>
      <p:sp>
        <p:nvSpPr>
          <p:cNvPr id="18" name="Text 16"/>
          <p:cNvSpPr/>
          <p:nvPr/>
        </p:nvSpPr>
        <p:spPr>
          <a:xfrm>
            <a:off x="8869680" y="4453128"/>
            <a:ext cx="2514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variáveis na base bruta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777240" y="5486400"/>
            <a:ext cx="1063447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recorte reúne 61,4% de toda a população favelada do país — conferido contra o dado oficial do IBGE.</a:t>
            </a:r>
            <a:endParaRPr lang="en-US" sz="1350" dirty="0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a pipeline está estruturada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777240" y="969264"/>
            <a:ext cx="97200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Uma fonte de verdade para as fórmulas; os notebooks e os scripts leem dela.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777240" y="1426464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77240" y="1655064"/>
            <a:ext cx="475488" cy="475488"/>
          </a:xfrm>
          <a:prstGeom prst="ellipse">
            <a:avLst/>
          </a:prstGeom>
          <a:solidFill>
            <a:srgbClr val="1A1A18"/>
          </a:solidFill>
          <a:ln/>
        </p:spPr>
      </p:sp>
      <p:sp>
        <p:nvSpPr>
          <p:cNvPr id="7" name="Text 5"/>
          <p:cNvSpPr/>
          <p:nvPr/>
        </p:nvSpPr>
        <p:spPr>
          <a:xfrm>
            <a:off x="777240" y="1655064"/>
            <a:ext cx="47548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1490472" y="160020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src/ivs_censo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3840480" y="1600200"/>
            <a:ext cx="770839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Fórmulas, regra de elegibilidade, lista de variáveis por arquivo e classificação de renda. Nada é redigitado fora daqui.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777240" y="2496312"/>
            <a:ext cx="475488" cy="475488"/>
          </a:xfrm>
          <a:prstGeom prst="ellipse">
            <a:avLst/>
          </a:prstGeom>
          <a:solidFill>
            <a:srgbClr val="1A1A18"/>
          </a:solidFill>
          <a:ln/>
        </p:spPr>
      </p:sp>
      <p:sp>
        <p:nvSpPr>
          <p:cNvPr id="11" name="Text 9"/>
          <p:cNvSpPr/>
          <p:nvPr/>
        </p:nvSpPr>
        <p:spPr>
          <a:xfrm>
            <a:off x="777240" y="2496312"/>
            <a:ext cx="47548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1490472" y="2441448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Notebook 01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3840480" y="2441448"/>
            <a:ext cx="770839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Lê os 8 arquivos do Censo (2,4 GB), filtra os 70 municípios, une por CD_SETOR e audita a integridade. Base bruta: 109.032 setores.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777240" y="3337560"/>
            <a:ext cx="475488" cy="475488"/>
          </a:xfrm>
          <a:prstGeom prst="ellipse">
            <a:avLst/>
          </a:prstGeom>
          <a:solidFill>
            <a:srgbClr val="1A1A18"/>
          </a:solidFill>
          <a:ln/>
        </p:spPr>
      </p:sp>
      <p:sp>
        <p:nvSpPr>
          <p:cNvPr id="15" name="Text 13"/>
          <p:cNvSpPr/>
          <p:nvPr/>
        </p:nvSpPr>
        <p:spPr>
          <a:xfrm>
            <a:off x="777240" y="3337560"/>
            <a:ext cx="47548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1490472" y="3282696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Notebook 02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3840480" y="3282696"/>
            <a:ext cx="770839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EDA: tipagem e sigilo, elegibilidade, recorte urbano, 7 componentes, blocos descritivos, figuras e matriz de correlação.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777240" y="4178808"/>
            <a:ext cx="475488" cy="475488"/>
          </a:xfrm>
          <a:prstGeom prst="ellipse">
            <a:avLst/>
          </a:prstGeom>
          <a:solidFill>
            <a:srgbClr val="1A1A18"/>
          </a:solidFill>
          <a:ln/>
        </p:spPr>
      </p:sp>
      <p:sp>
        <p:nvSpPr>
          <p:cNvPr id="19" name="Text 17"/>
          <p:cNvSpPr/>
          <p:nvPr/>
        </p:nvSpPr>
        <p:spPr>
          <a:xfrm>
            <a:off x="777240" y="4178808"/>
            <a:ext cx="47548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700" dirty="0"/>
          </a:p>
        </p:txBody>
      </p:sp>
      <p:sp>
        <p:nvSpPr>
          <p:cNvPr id="20" name="Text 18"/>
          <p:cNvSpPr/>
          <p:nvPr/>
        </p:nvSpPr>
        <p:spPr>
          <a:xfrm>
            <a:off x="1490472" y="4123944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scripts/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3840480" y="4123944"/>
            <a:ext cx="770839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Cálculo nacional, tabelas de auditoria, auditoria de renda, extração dos dados deste deck e o gerador dele.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777240" y="5020056"/>
            <a:ext cx="475488" cy="475488"/>
          </a:xfrm>
          <a:prstGeom prst="ellipse">
            <a:avLst/>
          </a:prstGeom>
          <a:solidFill>
            <a:srgbClr val="1A1A18"/>
          </a:solidFill>
          <a:ln/>
        </p:spPr>
      </p:sp>
      <p:sp>
        <p:nvSpPr>
          <p:cNvPr id="23" name="Text 21"/>
          <p:cNvSpPr/>
          <p:nvPr/>
        </p:nvSpPr>
        <p:spPr>
          <a:xfrm>
            <a:off x="777240" y="5020056"/>
            <a:ext cx="47548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700" dirty="0"/>
          </a:p>
        </p:txBody>
      </p:sp>
      <p:sp>
        <p:nvSpPr>
          <p:cNvPr id="24" name="Text 22"/>
          <p:cNvSpPr/>
          <p:nvPr/>
        </p:nvSpPr>
        <p:spPr>
          <a:xfrm>
            <a:off x="1490472" y="4965192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tests/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3840480" y="4965192"/>
            <a:ext cx="770839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63 testes automatizados. Conferem fórmulas com dados sintéticos e os artefatos já gerados.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Antes de agosto de 2026 as fórmulas existiam em dois lugares e a lista de variáveis em três. Hoje é uma só, verificada por teste.</a:t>
            </a:r>
            <a:endParaRPr lang="en-US" sz="950" dirty="0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2331720"/>
            <a:ext cx="1097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5400" dirty="0"/>
          </a:p>
        </p:txBody>
      </p:sp>
      <p:sp>
        <p:nvSpPr>
          <p:cNvPr id="4" name="Text 2"/>
          <p:cNvSpPr/>
          <p:nvPr/>
        </p:nvSpPr>
        <p:spPr>
          <a:xfrm>
            <a:off x="1920240" y="2331720"/>
            <a:ext cx="94914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Quem entra na análise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777240" y="3273552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920240" y="3401568"/>
            <a:ext cx="90342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Sigilo, elegibilidade e o recorte urbano — as três decisões que definem a base.</a:t>
            </a:r>
            <a:endParaRPr lang="en-US" sz="1400" dirty="0"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11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 universo do Censo aos setores analisados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777240" y="969264"/>
            <a:ext cx="97200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Cada corte é auditável e reversível: a base bruta guarda os 109.032 setores.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777240" y="1426464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1645920"/>
          <a:ext cx="10634472" cy="914400"/>
        </p:xfrm>
        <a:graphic>
          <a:graphicData uri="http://schemas.openxmlformats.org/drawingml/2006/table">
            <a:tbl>
              <a:tblPr/>
              <a:tblGrid>
                <a:gridCol w="3017520"/>
                <a:gridCol w="3291840"/>
                <a:gridCol w="1828800"/>
                <a:gridCol w="2743200"/>
              </a:tblGrid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Etapa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Critério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Setores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O que sai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Universo do Censo 2022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Brasil inteiro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468.099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—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Filtro ELSI-Brasil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70 municípios da coorte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109.032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municípios fora da coorte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ZERADO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v0001 = 0 (massas d'água)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−1.736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setores sem população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SIGILOSO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v0001 ou V00001 suprimidos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−1.015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sem denominador calculável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COLETIVO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V00001 = 0 com população &gt; 0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classe vazia — ver limitações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Elegíveis (Dados_sig = OK)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106.281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Recorte urbano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SITUACAO = Urbana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104.108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2.173 setores rurais elegíveis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777240" y="4608576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77240" y="4663440"/>
            <a:ext cx="5349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exclusão rural, conferida município a município.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29 dos 70 municípios perdem mais de 10% dos setores e 7 ficam com menos de 10. Isso afeta a estabilidade das descritivas municipais e consta das limitações.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6492240" y="4608576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492240" y="4663440"/>
            <a:ext cx="5349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Correção: massas d'água.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1.736 setores sem população apareciam como SIGILOSO porque o sigilo era testado antes da população zero. Ordem invertida — nenhum setor OK mudou.</a:t>
            </a:r>
            <a:endParaRPr lang="en-US" sz="1250" dirty="0"/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12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2331720"/>
            <a:ext cx="1097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5400" dirty="0"/>
          </a:p>
        </p:txBody>
      </p:sp>
      <p:sp>
        <p:nvSpPr>
          <p:cNvPr id="4" name="Text 2"/>
          <p:cNvSpPr/>
          <p:nvPr/>
        </p:nvSpPr>
        <p:spPr>
          <a:xfrm>
            <a:off x="1920240" y="2331720"/>
            <a:ext cx="94914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As sete componentes do IVS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777240" y="3273552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920240" y="3401568"/>
            <a:ext cx="90342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Fórmulas, distribuições, outliers e dados faltantes.</a:t>
            </a:r>
            <a:endParaRPr lang="en-US" sz="1400" dirty="0"/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13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As sete componentes — fórmulas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777240" y="969264"/>
            <a:ext cx="97200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Adaptadas do IVS-BH 2012 ao Censo 2022. Denominador domiciliar padrão: V00001.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777240" y="1426464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1645920"/>
          <a:ext cx="10634472" cy="914400"/>
        </p:xfrm>
        <a:graphic>
          <a:graphicData uri="http://schemas.openxmlformats.org/drawingml/2006/table">
            <a:tbl>
              <a:tblPr/>
              <a:tblGrid>
                <a:gridCol w="2834640"/>
                <a:gridCol w="4114800"/>
                <a:gridCol w="2286000"/>
                <a:gridCol w="1645920"/>
              </a:tblGrid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Componente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Numerador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Denominador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Dimensão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pct_agua_inad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V00112 … V00118 (fonte alternativa)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V00001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Saneamento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pct_esgoto_inad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V00312 … V00316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V00001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Saneamento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pct_lixo_inad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V00398 … V00402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V00001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Saneamento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razao_moradores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V00005 + V00006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V00001 + V00002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Socioeconômica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pct_analfab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V00901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V00900 + V00901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Socioeconômica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renda_media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V06004 (direto)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—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Socioeconômica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pct_raca_pretpardind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V01318 + V01320 + V01321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v0001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Socioeconômica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777240" y="4526280"/>
            <a:ext cx="347472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Denominador consolidado.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V00001 substituiu V01042, que era contagem de PESSOAS. Nenhuma proporção estoura 1,0.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4617720" y="4471416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4617720" y="4526280"/>
            <a:ext cx="347472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Analfabetismo corrigido.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taxa é V00901 / (V00900 + V00901). Antes era V00901/V00900, que é razão, não taxa.</a:t>
            </a:r>
            <a:endParaRPr lang="en-US" sz="1250" dirty="0"/>
          </a:p>
        </p:txBody>
      </p:sp>
      <p:sp>
        <p:nvSpPr>
          <p:cNvPr id="10" name="Text 7"/>
          <p:cNvSpPr/>
          <p:nvPr/>
        </p:nvSpPr>
        <p:spPr>
          <a:xfrm>
            <a:off x="8458200" y="4526280"/>
            <a:ext cx="338328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Três não reprodutíveis.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Anos de estudo, faixas de renda e óbitos cardiovasculares não existem nos agregados. Substituídos por proxies declarados.</a:t>
            </a:r>
            <a:endParaRPr lang="en-US" sz="1250" dirty="0"/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14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As sete componentes em números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777240" y="969264"/>
            <a:ext cx="97200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Média e mediana lado a lado — a distância entre elas mede a assimetria.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777240" y="1426464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77240" y="1600200"/>
            <a:ext cx="106344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Tabela 3 — </a:t>
            </a:r>
            <a:pPr indent="0" marL="0">
              <a:buNone/>
            </a:pPr>
            <a:r>
              <a:rPr lang="en-US" sz="110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As sete componentes em números.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777240" y="1856232"/>
            <a:ext cx="10634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Recorte: setores urbanos elegíveis (104.108). Fonte: descritivas_globais.csv.</a:t>
            </a:r>
            <a:endParaRPr lang="en-US" sz="95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2148840"/>
          <a:ext cx="10634472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1463040"/>
                <a:gridCol w="1463040"/>
                <a:gridCol w="1463040"/>
                <a:gridCol w="1371600"/>
                <a:gridCol w="1737360"/>
                <a:gridCol w="1371600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Componente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n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Média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Mediana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p75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Máx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Assim.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Água inadequada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104.108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0,070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0,000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0,012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1,000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3,42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Esgoto inadequado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104.107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0,082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0,000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0,018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1,000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2,98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Lixo inadequado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104.108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0,116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0,000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0,059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1,000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2,38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Razão de moradores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104.108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2,691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2,713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2,926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6,913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-0,22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Analfabetismo 15+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87.556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0,036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0,027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0,050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0,726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2,34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Renda média (R$)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104.095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4.185,81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2.572,39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4.835,82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140.172,64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3,20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Preta, parda ou indígena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104.106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0,527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0,572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0,704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1,000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-0,39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777240" y="4937760"/>
            <a:ext cx="1063447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Em três das sete a mediana é zero: água, esgoto e lixo não têm inadequação medida na maioria dos setores urbanos. Os dois números que abrem as seções seguintes são o n do analfabetismo e a assimetria da renda.</a:t>
            </a:r>
            <a:endParaRPr lang="en-US" sz="1250" dirty="0"/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15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As sete componentes por região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777240" y="969264"/>
            <a:ext cx="97200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gradiente Norte–Sul aparece em seis das sete.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777240" y="1426464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77240" y="1554480"/>
            <a:ext cx="106344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Tabela 4 — </a:t>
            </a:r>
            <a:pPr indent="0" marL="0">
              <a:buNone/>
            </a:pPr>
            <a:r>
              <a:rPr lang="en-US" sz="110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As sete componentes por região.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777240" y="1810512"/>
            <a:ext cx="10634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Recorte: setores urbanos elegíveis (104.108). Fonte: descritivas_por_regiao.csv.</a:t>
            </a:r>
            <a:endParaRPr lang="en-US" sz="95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2103120"/>
          <a:ext cx="10634472" cy="914400"/>
        </p:xfrm>
        <a:graphic>
          <a:graphicData uri="http://schemas.openxmlformats.org/drawingml/2006/table">
            <a:tbl>
              <a:tblPr/>
              <a:tblGrid>
                <a:gridCol w="3108960"/>
                <a:gridCol w="1691640"/>
                <a:gridCol w="1691640"/>
                <a:gridCol w="1691640"/>
                <a:gridCol w="1691640"/>
                <a:gridCol w="1691640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Componente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Norte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Nordeste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Centro-Oeste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Sudeste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Sul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Água inadequada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0,323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0,118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0,055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0,038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0,020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Esgoto inadequado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0,238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0,162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0,075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0,049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0,029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Lixo inadequado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0,098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0,154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0,091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0,111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0,102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Razão de moradores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3,194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2,771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2,762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2,626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2,529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Analfabetismo 15+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0,033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0,062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0,031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0,030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0,021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Renda média (R$)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2.880,50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3.008,45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4.944,55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4.488,14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4.842,18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Preta, parda ou indígena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0,748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0,713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0,565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0,474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0,246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777240" y="5157216"/>
            <a:ext cx="106344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Média entre setores: cada setor pesa igual, independentemente de quantos domicílios tem.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777240" y="5696712"/>
            <a:ext cx="5349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padrão esperado, confirmado.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Água inadequada no Norte é dezesseis vezes a do Sul; o esgoto, oito vezes. A razão de moradores acompanha: 3,19 no Norte contra 2,53 no Sul.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>
            <a:off x="6492240" y="5641848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6492240" y="5696712"/>
            <a:ext cx="5349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Duas exceções que importam.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analfabetismo tem pico no Nordeste, não no Norte. E o lixo inadequado é MAIOR no Nordeste e no Sudeste que no Norte — indício de que mede porte urbano.</a:t>
            </a:r>
            <a:endParaRPr lang="en-US" sz="1250" dirty="0"/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16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as sete variáveis se distribuem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777240" y="969264"/>
            <a:ext cx="97200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Histogramas sobre os setores urbanos elegíveis.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777240" y="1426464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pic>
        <p:nvPicPr>
          <p:cNvPr id="6" name="Image 0" descr="/Users/pedro/Documents/Iniciacao Cientifica/Projeto_IVS_Censo22/banco_de_dados/eda/atualizada/figuras/histograma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368296" y="1389888"/>
            <a:ext cx="7452360" cy="493776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banco_de_dados/eda/figuras/histogramas.png — gerada pela célula step8 do Notebook 02.</a:t>
            </a:r>
            <a:endParaRPr lang="en-US" sz="950" dirty="0"/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17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Distribuição por região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777240" y="969264"/>
            <a:ext cx="97200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Boxplots das sete componentes, região a região.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777240" y="1426464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pic>
        <p:nvPicPr>
          <p:cNvPr id="6" name="Image 0" descr="/Users/pedro/Documents/Iniciacao Cientifica/Projeto_IVS_Censo22/banco_de_dados/eda/atualizada/figuras/boxplots_por_regia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15768" y="1389888"/>
            <a:ext cx="6757416" cy="493776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banco_de_dados/eda/figuras/boxplots_por_regiao.png — célula step9 do Notebook 02.</a:t>
            </a:r>
            <a:endParaRPr lang="en-US" sz="950" dirty="0"/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18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Outliers: a regra do IQR não serve para o saneamento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777240" y="969264"/>
            <a:ext cx="97200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Quando a mediana e o primeiro quartil são zero, o IQR marca como atípico todo setor com qualquer inadequação.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777240" y="1426464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77240" y="1554480"/>
            <a:ext cx="106344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Tabela 5 — </a:t>
            </a:r>
            <a:pPr indent="0" marL="0">
              <a:buNone/>
            </a:pPr>
            <a:r>
              <a:rPr lang="en-US" sz="110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Outliers pela regra do IQR.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777240" y="1810512"/>
            <a:ext cx="10634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Recorte: setores urbanos elegíveis (104.108). Fonte: outliers.csv.</a:t>
            </a:r>
            <a:endParaRPr lang="en-US" sz="95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2103120"/>
          <a:ext cx="10634472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1371600"/>
                <a:gridCol w="1371600"/>
                <a:gridCol w="1737360"/>
                <a:gridCol w="1463040"/>
                <a:gridCol w="1463040"/>
                <a:gridCol w="1645920"/>
              </a:tblGrid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Componente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q1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q3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Limite sup.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Outliers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% da base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IQR serve?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Água inadequada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0,000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0,012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0,030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21.532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20,68%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não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Esgoto inadequado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0,000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0,018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0,045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20.901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20,08%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não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Lixo inadequado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0,000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0,059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0,149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19.124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18,37%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não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Razão de moradores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2,479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2,926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3,597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3.632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3,49%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sim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Analfabetismo 15+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0,013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0,050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0,106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4.114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4,70%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sim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Renda média (R$)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1.752,475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4.835,825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9.460,850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10.468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10,06%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sim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Preta, parda ou indígena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0,353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0,704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1,232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0,00%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sim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777240" y="5010912"/>
            <a:ext cx="106344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Limite superior = q3 + 1,5 × (q3 − q1), a regra de Tukey.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777240" y="5495544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777240" y="5550408"/>
            <a:ext cx="5349240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Onde o IQR falha.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Água, esgoto e lixo têm cerca de 20% dos setores classificados como outlier. O que a regra está marcando é a forma da distribuição, não uma cauda de casos extremos.</a:t>
            </a:r>
            <a:endParaRPr lang="en-US" sz="1250" dirty="0"/>
          </a:p>
        </p:txBody>
      </p:sp>
      <p:sp>
        <p:nvSpPr>
          <p:cNvPr id="12" name="Text 9"/>
          <p:cNvSpPr/>
          <p:nvPr/>
        </p:nvSpPr>
        <p:spPr>
          <a:xfrm>
            <a:off x="6492240" y="5550408"/>
            <a:ext cx="5349240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Onde o IQR funciona.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Razão de moradores, analfabetismo, renda e cor/raça têm distribuições com dispersão real — ali a regra identifica extremos de verdade.</a:t>
            </a:r>
            <a:endParaRPr lang="en-US" sz="1250" dirty="0"/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19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Dados faltantes e o sigilo do IBGE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777240" y="969264"/>
            <a:ext cx="97200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Seis das sete componentes têm cobertura praticamente total. O problema está concentrado em uma.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777240" y="1426464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pic>
        <p:nvPicPr>
          <p:cNvPr id="6" name="Image 0" descr="/Users/pedro/Documents/Iniciacao Cientifica/Projeto_IVS_Censo22/banco_de_dados/eda/figuras/missing_por_municipi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1417320"/>
            <a:ext cx="3429000" cy="448056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4709160" y="1545336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4709160" y="1600200"/>
            <a:ext cx="68122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variável que concentra o problema.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pct_analfab tem 15,9% dos setores sem dado — 16.552 no recorte urbano. As outras seis componentes ficam todas abaixo de 0,05% de ausentes, ou seja, cobertura praticamente total.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4709160" y="3557016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4709160" y="3611880"/>
            <a:ext cx="6812280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 não é aleatório.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supressão de V00901 acontece onde há poucos analfabetos — ou seja, nos setores de melhor situação socioeconômica. A tabela seguinte mostra a dependência com o porte do setor, que é a prova do mecanismo.</a:t>
            </a:r>
            <a:endParaRPr lang="en-US" sz="1250" dirty="0"/>
          </a:p>
        </p:txBody>
      </p:sp>
      <p:sp>
        <p:nvSpPr>
          <p:cNvPr id="11" name="Text 8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banco_de_dados/eda/figuras/missing_por_municipio.png — célula step11 do Notebook 02.</a:t>
            </a:r>
            <a:endParaRPr lang="en-US" sz="950" dirty="0"/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sigilo depende do porte do setor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777240" y="969264"/>
            <a:ext cx="97200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prova de que a supressão não é aleatória — e de que o viés tem direção conhecida.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777240" y="1426464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77240" y="1572768"/>
            <a:ext cx="106344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Tabela 6 — </a:t>
            </a:r>
            <a:pPr indent="0" marL="0">
              <a:buNone/>
            </a:pPr>
            <a:r>
              <a:rPr lang="en-US" sz="110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sigilo do analfabetismo depende do porte do setor.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777240" y="1828800"/>
            <a:ext cx="10634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Recorte: elegíveis incluindo rurais (106.281). Fonte: auditoria_analfabetismo_v00900_bins.csv.</a:t>
            </a:r>
            <a:endParaRPr lang="en-US" sz="95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2121408"/>
          <a:ext cx="10634472" cy="914400"/>
        </p:xfrm>
        <a:graphic>
          <a:graphicData uri="http://schemas.openxmlformats.org/drawingml/2006/table">
            <a:tbl>
              <a:tblPr/>
              <a:tblGrid>
                <a:gridCol w="4023360"/>
                <a:gridCol w="2286000"/>
                <a:gridCol w="2743200"/>
                <a:gridCol w="1828800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Pessoas alfabetizadas no setor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Setores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Com V00901 sigilosa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% sigilo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1-10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93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41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44,09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11-50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1.619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591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36,50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51-100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3.279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811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24,73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101-200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11.061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2.443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22,09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201-500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62.736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10.801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17,22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501-1000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27.013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2.051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7,59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1000+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480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16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3,33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777240" y="5175504"/>
            <a:ext cx="106344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 44,09% nos setores menores a 3,33% nos maiores — a supressão não é aleatória.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777240" y="5715000"/>
            <a:ext cx="1063447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isso permite afirmar.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os setores excluídos são os de menor analfabetismo, a média observada é um TETO. E como o IBGE reporta os zeros, o valor suprimido é ≥ 1 — o que fecha o intervalo: a média verdadeira está entre 3,14% e 3,64%.</a:t>
            </a:r>
            <a:endParaRPr lang="en-US" sz="1250" dirty="0"/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21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2331720"/>
            <a:ext cx="1097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5400" dirty="0"/>
          </a:p>
        </p:txBody>
      </p:sp>
      <p:sp>
        <p:nvSpPr>
          <p:cNvPr id="4" name="Text 2"/>
          <p:cNvSpPr/>
          <p:nvPr/>
        </p:nvSpPr>
        <p:spPr>
          <a:xfrm>
            <a:off x="1920240" y="2331720"/>
            <a:ext cx="94914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estrutura de associação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777240" y="3273552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920240" y="3401568"/>
            <a:ext cx="90342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matriz ampliada para dez variáveis, e o que ela decide.</a:t>
            </a:r>
            <a:endParaRPr lang="en-US" sz="1400" dirty="0"/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22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Matriz de correlação — agora com dez variáveis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777240" y="969264"/>
            <a:ext cx="97200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Demanda de agosto: idosos de 60+, menores de 5 anos e chefia feminina entram na matriz.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777240" y="1426464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pic>
        <p:nvPicPr>
          <p:cNvPr id="6" name="Image 0" descr="/Users/pedro/Documents/Iniciacao Cientifica/Projeto_IVS_Censo22/banco_de_dados/eda/atualizada/figuras/matriz_correlaca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21208" y="1444752"/>
            <a:ext cx="11155680" cy="484632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linha preta separa as 7 componentes do IVS das 3 descritivas. Elas não entram no índice — estão na matriz para decidir se deveriam.</a:t>
            </a:r>
            <a:endParaRPr lang="en-US" sz="950" dirty="0"/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23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a matriz decidiu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777240" y="969264"/>
            <a:ext cx="97200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pergunta que interessa: alguma das três descritivas merece entrar no índice?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777240" y="1426464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graphicFrame>
        <p:nvGraphicFramePr>
          <p:cNvPr id="2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1691640"/>
          <a:ext cx="10634472" cy="914400"/>
        </p:xfrm>
        <a:graphic>
          <a:graphicData uri="http://schemas.openxmlformats.org/drawingml/2006/table">
            <a:tbl>
              <a:tblPr/>
              <a:tblGrid>
                <a:gridCol w="3108960"/>
                <a:gridCol w="3840480"/>
                <a:gridCol w="1828800"/>
                <a:gridCol w="210312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Variável descritiva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Maior |r| com o IVS-7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Média |r|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Leitura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pct_resp_feminino</a:t>
                      </a:r>
                      <a:endParaRPr lang="en-US" sz="13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−0,299 com renda</a:t>
                      </a:r>
                      <a:endParaRPr lang="en-US" sz="13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0,133</a:t>
                      </a:r>
                      <a:endParaRPr lang="en-US" sz="13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carrega eixo próprio</a:t>
                      </a:r>
                      <a:endParaRPr lang="en-US" sz="13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pct_crianca_0a4</a:t>
                      </a:r>
                      <a:endParaRPr lang="en-US" sz="13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−0,517 com renda</a:t>
                      </a:r>
                      <a:endParaRPr lang="en-US" sz="13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0,383</a:t>
                      </a:r>
                      <a:endParaRPr lang="en-US" sz="13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redundante com o que já existe</a:t>
                      </a:r>
                      <a:endParaRPr lang="en-US" sz="13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pct_idoso_60mais</a:t>
                      </a:r>
                      <a:endParaRPr lang="en-US" sz="13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−0,541 com cor/raça</a:t>
                      </a:r>
                      <a:endParaRPr lang="en-US" sz="13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0,392</a:t>
                      </a:r>
                      <a:endParaRPr lang="en-US" sz="13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redundante com o que já existe</a:t>
                      </a:r>
                      <a:endParaRPr lang="en-US" sz="13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777240" y="3337560"/>
            <a:ext cx="53492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Chefia feminina é a candidata.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Média |r| de 0,133 contra as sete componentes. Ela mede algo que nenhuma variável do índice captura — e é esse o argumento para promovê-la.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6492240" y="3282696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6492240" y="3337560"/>
            <a:ext cx="53492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Idosos e crianças são espelhos.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Correlação de −0,722 entre si: são os dois lados da mesma estrutura etária. Colocar as duas no índice contaria a mesma coisa duas vezes.</a:t>
            </a:r>
            <a:endParaRPr lang="en-US" sz="1250" dirty="0"/>
          </a:p>
        </p:txBody>
      </p:sp>
      <p:sp>
        <p:nvSpPr>
          <p:cNvPr id="10" name="Text 7"/>
          <p:cNvSpPr/>
          <p:nvPr/>
        </p:nvSpPr>
        <p:spPr>
          <a:xfrm>
            <a:off x="777240" y="5029200"/>
            <a:ext cx="1063447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Renda, cor/raça e analfabetismo correlacionam-se entre si a −0,81, −0,76 e +0,63. Pesos iguais dariam três votos à mesma dimensão latente sem que isso fosse escolha deliberada.</a:t>
            </a:r>
            <a:endParaRPr lang="en-US" sz="1350" dirty="0"/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24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2331720"/>
            <a:ext cx="1097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5400" dirty="0"/>
          </a:p>
        </p:txBody>
      </p:sp>
      <p:sp>
        <p:nvSpPr>
          <p:cNvPr id="4" name="Text 2"/>
          <p:cNvSpPr/>
          <p:nvPr/>
        </p:nvSpPr>
        <p:spPr>
          <a:xfrm>
            <a:off x="1920240" y="2331720"/>
            <a:ext cx="94914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renda sob auditoria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777240" y="3273552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920240" y="3401568"/>
            <a:ext cx="90342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Cinco demandas de agosto convergem aqui, do caso isolado à decisão de escala.</a:t>
            </a:r>
            <a:endParaRPr lang="en-US" sz="1400" dirty="0"/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25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caso que abriu o assunto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777240" y="969264"/>
            <a:ext cx="97200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Um setor com renda média declarada de R$ 170.418,06 por responsável.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777240" y="1426464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777240" y="1627632"/>
            <a:ext cx="5120640" cy="0"/>
          </a:xfrm>
          <a:prstGeom prst="line">
            <a:avLst/>
          </a:prstGeom>
          <a:noFill/>
          <a:ln w="15875">
            <a:solidFill>
              <a:srgbClr val="1A1A18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77240" y="1719072"/>
            <a:ext cx="5120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534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CD_SETOR 310620005650366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777240" y="2048256"/>
            <a:ext cx="3154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R$ 170.418,06</a:t>
            </a:r>
            <a:endParaRPr lang="en-US" sz="4200" dirty="0"/>
          </a:p>
        </p:txBody>
      </p:sp>
      <p:sp>
        <p:nvSpPr>
          <p:cNvPr id="9" name="Text 7"/>
          <p:cNvSpPr/>
          <p:nvPr/>
        </p:nvSpPr>
        <p:spPr>
          <a:xfrm>
            <a:off x="777240" y="2871216"/>
            <a:ext cx="51206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Belo Horizonte · bairro Senhor dos Passos</a:t>
            </a:r>
            <a:endParaRPr lang="en-US" sz="13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30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CD_TIPO = 1 — Favela e Comunidade Urbana</a:t>
            </a:r>
            <a:endParaRPr lang="en-US" sz="13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186 domicílios · 518 pessoas · 31 analfabetos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777240" y="4041648"/>
            <a:ext cx="5120640" cy="0"/>
          </a:xfrm>
          <a:prstGeom prst="line">
            <a:avLst/>
          </a:prstGeom>
          <a:noFill/>
          <a:ln w="9525">
            <a:solidFill>
              <a:srgbClr val="C8C6C0"/>
            </a:solidFill>
            <a:prstDash val="solid"/>
          </a:ln>
        </p:spPr>
        <p:txBody>
          <a:bodyPr/>
          <a:p/>
        </p:txBody>
      </p:sp>
      <p:sp>
        <p:nvSpPr>
          <p:cNvPr id="11" name="Shape 9"/>
          <p:cNvSpPr/>
          <p:nvPr/>
        </p:nvSpPr>
        <p:spPr>
          <a:xfrm rot="21300000">
            <a:off x="649224" y="2066544"/>
            <a:ext cx="3127248" cy="731520"/>
          </a:xfrm>
          <a:prstGeom prst="ellipse">
            <a:avLst/>
          </a:prstGeom>
          <a:ln w="19050">
            <a:solidFill>
              <a:srgbClr val="8C2F27"/>
            </a:solidFill>
            <a:prstDash val="solid"/>
          </a:ln>
        </p:spPr>
        <p:txBody>
          <a:bodyPr/>
          <a:p/>
        </p:txBody>
      </p:sp>
      <p:sp>
        <p:nvSpPr>
          <p:cNvPr id="12" name="Shape 10"/>
          <p:cNvSpPr/>
          <p:nvPr/>
        </p:nvSpPr>
        <p:spPr>
          <a:xfrm flipV="1">
            <a:off x="3776472" y="2432304"/>
            <a:ext cx="310896" cy="182880"/>
          </a:xfrm>
          <a:prstGeom prst="line">
            <a:avLst/>
          </a:prstGeom>
          <a:noFill/>
          <a:ln w="12700">
            <a:solidFill>
              <a:srgbClr val="8C2F27"/>
            </a:solidFill>
            <a:prstDash val="solid"/>
          </a:ln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4087368" y="2139696"/>
            <a:ext cx="2331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CV de 5,26 contra 0,78 —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uma média puxada por poucos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492240" y="1591056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6492240" y="1645920"/>
            <a:ext cx="5349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Por que não é renda alta.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R$ 170 mil × 186 domicílios daria R$ 31,7 milhões por mês circulando numa favela de 186 casas. O perfil do setor não sustenta esse valor.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6492240" y="3099816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6492240" y="3154680"/>
            <a:ext cx="5349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o próprio IBGE responde.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arquivo traz V06005, a variância. Aqui o CV é 5,26 contra mediana nacional de 0,78. Se fosse vírgula fora do lugar, o CV seria da ordem de 526 — a média está sendo puxada por poucas declarações.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banco_de_dados/eda/atualizada/renda_outliers_rastreados.csv — 3.357 setores, um por linha, com identificação completa.</a:t>
            </a:r>
            <a:endParaRPr lang="en-US" sz="950" dirty="0"/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26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separamos erro de dado de renda alta de verdade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777240" y="969264"/>
            <a:ext cx="97200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Duas decisões de método fizeram a classificação funcionar.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777240" y="1426464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77240" y="1645920"/>
            <a:ext cx="534924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 A detecção é por município, não global.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IVS é intraurbano. R$ 20 mil é comum em São Paulo e anômalo em Autazes. Um corte global mede a distância ENTRE cidades, que não é o objeto.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6492240" y="1645920"/>
            <a:ext cx="534924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2. Extremo suspeito ≠ extremo alto.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levanta suspeita não é o valor, é a INCOERÊNCIA: setor no topo da renda local que também é favela, ou tem analfabetismo e proporção PPI acima da mediana do município.</a:t>
            </a:r>
            <a:endParaRPr lang="en-US" sz="1250" dirty="0"/>
          </a:p>
        </p:txBody>
      </p:sp>
      <p:graphicFrame>
        <p:nvGraphicFramePr>
          <p:cNvPr id="2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3520440"/>
          <a:ext cx="10634472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1645920"/>
                <a:gridCol w="1554480"/>
                <a:gridCol w="2377440"/>
                <a:gridCol w="310896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Classe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Setores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% da base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Renda mediana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São favela?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8C2F27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SUSPEITO</a:t>
                      </a:r>
                      <a:endParaRPr lang="en-US" sz="13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65</a:t>
                      </a:r>
                      <a:endParaRPr lang="en-US" sz="13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0,06%</a:t>
                      </a:r>
                      <a:endParaRPr lang="en-US" sz="13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R$ 10.131,71</a:t>
                      </a:r>
                      <a:endParaRPr lang="en-US" sz="13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8C2F27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21 de 65 (32%)</a:t>
                      </a:r>
                      <a:endParaRPr lang="en-US" sz="13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EXTREMO</a:t>
                      </a:r>
                      <a:endParaRPr lang="en-US" sz="13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3.292</a:t>
                      </a:r>
                      <a:endParaRPr lang="en-US" sz="13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3,16%</a:t>
                      </a:r>
                      <a:endParaRPr lang="en-US" sz="13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R$ 14.106,20</a:t>
                      </a:r>
                      <a:endParaRPr lang="en-US" sz="13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 de 3.292 (0%)</a:t>
                      </a:r>
                      <a:endParaRPr lang="en-US" sz="13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NORMAL</a:t>
                      </a:r>
                      <a:endParaRPr lang="en-US" sz="13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100.751</a:t>
                      </a:r>
                      <a:endParaRPr lang="en-US" sz="13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96,78%</a:t>
                      </a:r>
                      <a:endParaRPr lang="en-US" sz="13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R$ 2.505,16</a:t>
                      </a:r>
                      <a:endParaRPr lang="en-US" sz="13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—</a:t>
                      </a:r>
                      <a:endParaRPr lang="en-US" sz="13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777240" y="5074920"/>
            <a:ext cx="1063447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coluna da direita não valida a regra: ser favela É um dos testes de incoerência, então nenhuma favela pode cair em EXTREMO. O que a regra ainda não pega é erro em bairro rico — São Paulo, R$ 140.172,64, 45× a mediana local, sai como EXTREMO.</a:t>
            </a:r>
            <a:endParaRPr lang="en-US" sz="1250" dirty="0"/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27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As duas análises exploratórias, lado a lado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777240" y="969264"/>
            <a:ext cx="97200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Demanda: rodar com e sem os extremos e comparar. O resultado contraria a intuição.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777240" y="1426464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graphicFrame>
        <p:nvGraphicFramePr>
          <p:cNvPr id="2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1645920"/>
          <a:ext cx="10634472" cy="914400"/>
        </p:xfrm>
        <a:graphic>
          <a:graphicData uri="http://schemas.openxmlformats.org/drawingml/2006/table">
            <a:tbl>
              <a:tblPr/>
              <a:tblGrid>
                <a:gridCol w="4846320"/>
                <a:gridCol w="2011680"/>
                <a:gridCol w="2011680"/>
                <a:gridCol w="2011680"/>
              </a:tblGrid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O que muda ao remover os 65 suspeitos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Com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Sem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Variação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Média da renda (R$)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4.185,81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4.178,44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-0,18%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Mediana da renda (R$)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2.572,39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2.571,16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-0,05%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Desvio-padrão (R$)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4.118,57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4.096,07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-0,55%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Assimetria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3,20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3,14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-1,94%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Pearson renda × analfabetismo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-0,4236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-0,4282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-0,0046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Spearman renda × analfabetismo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-0,7567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-0,7580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-0,0013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777240" y="4160520"/>
            <a:ext cx="53492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Excluir quase não muda a estatística.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As correlações se movem no máximo 0,0046; o Spearman fica praticamente imóvel. Se o argumento para excluir fosse o efeito na correlação, ele seria fraco.</a:t>
            </a:r>
            <a:endParaRPr lang="en-US" sz="1250" dirty="0"/>
          </a:p>
        </p:txBody>
      </p:sp>
      <p:sp>
        <p:nvSpPr>
          <p:cNvPr id="8" name="Text 5"/>
          <p:cNvSpPr/>
          <p:nvPr/>
        </p:nvSpPr>
        <p:spPr>
          <a:xfrm>
            <a:off x="6492240" y="4160520"/>
            <a:ext cx="53492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Mas transformar muda dez vezes mais.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Passar a renda para log leva a correlação com analfabetismo de −0,42 para −0,59, e com cor/raça de −0,68 para −0,81. Dezessete vezes o efeito da exclusão.</a:t>
            </a:r>
            <a:endParaRPr lang="en-US" sz="1250" dirty="0"/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28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Onde a exclusão importa de verdade: a escala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777240" y="969264"/>
            <a:ext cx="97200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normalização min-max por município é o insumo do índice — e é ali que um valor ruim destrói tudo.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777240" y="1426464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graphicFrame>
        <p:nvGraphicFramePr>
          <p:cNvPr id="2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1691640"/>
          <a:ext cx="10634472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1463040"/>
                <a:gridCol w="1645920"/>
                <a:gridCol w="3108960"/>
                <a:gridCol w="1463040"/>
                <a:gridCol w="2286000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Município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Setores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Suspeitos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Comprimidos no 1º decil (com)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(sem)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Ganho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Autazes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43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81,4%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14,3%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67,1 pp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Salto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196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94,9%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59,0%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35,9 pp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Belém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2.004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92,7%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69,6%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23,1 pp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São Gonçalo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2.357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94,0%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79,1%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14,9 pp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São José de Ribamar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580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49,8%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45,8%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4,0 pp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777240" y="4224528"/>
            <a:ext cx="10634472" cy="0"/>
          </a:xfrm>
          <a:prstGeom prst="line">
            <a:avLst/>
          </a:prstGeom>
          <a:noFill/>
          <a:ln w="15875">
            <a:solidFill>
              <a:srgbClr val="1A1A18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77240" y="4315968"/>
            <a:ext cx="10607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Autazes é o caso didático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777240" y="4681728"/>
            <a:ext cx="10058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43 setores, UM valor ruim, e 81% da cidade colapsa no primeiro decil da escala de renda — a variável deixa de discriminar dentro da cidade, que é exatamente o que o índice precisa que ela faça. 23 dos 63 municípios avaliados têm ao menos um suspeito.</a:t>
            </a:r>
            <a:endParaRPr lang="en-US" sz="1300" dirty="0"/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29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Renda alta está mesmo nos setores pequenos?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777240" y="969264"/>
            <a:ext cx="97200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demanda supunha que sim. O valor não depende do tamanho; a suspeita depende.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777240" y="1426464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pic>
        <p:nvPicPr>
          <p:cNvPr id="6" name="Image 0" descr="/Users/pedro/Documents/Iniciacao Cientifica/Projeto_IVS_Censo22/banco_de_dados/eda/atualizada/figuras/renda_tamanho_do_seto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93976" y="1444752"/>
            <a:ext cx="8001000" cy="329184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777240" y="4892040"/>
            <a:ext cx="5349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VALOR não depende do tamanho.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Spearman entre nº de domicílios e renda: −0,031. O maior valor da base (R$ 140.172,64, São Paulo) está num setor de 78 domicílios, não num pequeno.</a:t>
            </a:r>
            <a:endParaRPr lang="en-US" sz="1250" dirty="0"/>
          </a:p>
        </p:txBody>
      </p:sp>
      <p:sp>
        <p:nvSpPr>
          <p:cNvPr id="8" name="Text 5"/>
          <p:cNvSpPr/>
          <p:nvPr/>
        </p:nvSpPr>
        <p:spPr>
          <a:xfrm>
            <a:off x="6492240" y="4892040"/>
            <a:ext cx="5349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Mas a SUSPEITA depende, e muito.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0,265% de suspeitos nos setores até 50 domicílios contra 0,045% nos de 201–400: seis vezes mais. O coeficiente de variação cai de 1,11 para 0,90.</a:t>
            </a:r>
            <a:endParaRPr lang="en-US" sz="1250" dirty="0"/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30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Sudeste e Norte: dois fenômenos com o mesmo rótulo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777240" y="969264"/>
            <a:ext cx="97200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Demanda: olhar os outliers de renda nessas duas regiões.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777240" y="1426464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graphicFrame>
        <p:nvGraphicFramePr>
          <p:cNvPr id="3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1691640"/>
          <a:ext cx="10634472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1463040"/>
                <a:gridCol w="1828800"/>
                <a:gridCol w="1920240"/>
                <a:gridCol w="1463040"/>
                <a:gridCol w="1463040"/>
                <a:gridCol w="1828800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Região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Setores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Mediana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Máx ÷ mediana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Assimetria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Extremos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Suspeitos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Norte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5.915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R$ 1.820,99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43,1×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6,15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7,03%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8C2F27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0,372%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Nordeste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19.497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R$ 1.719,20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39,1×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3,66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6,29%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0,067%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Centro-Oeste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9.490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R$ 3.127,12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15,1×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2,27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2,36%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0,032%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Sudeste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61.989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R$ 2.730,59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8C2F27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51,3×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3,18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2,18%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0,042%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Sul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7.217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R$ 3.722,28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13,4×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2,65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1,05%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0,014%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777240" y="4297680"/>
            <a:ext cx="534924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Sudeste tem os extremos absolutos.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maior valor do país está lá: 51,3 vezes a mediana da própria região. Mas a taxa de suspeita é baixa — 0,042%.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6492240" y="4242816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6492240" y="4297680"/>
            <a:ext cx="534924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Norte tem 26 vezes a taxa do Sul.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causa é a distribuição tão comprimida na base que qualquer setor de classe média já destoa, e não uma concentração maior de ricos. Assimetria 6,15, a maior do país.</a:t>
            </a:r>
            <a:endParaRPr lang="en-US" sz="1250" dirty="0"/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31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distribuição da renda em cada uma das 70 cidades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777240" y="969264"/>
            <a:ext cx="97200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Demanda: boxplot ou histograma por cidade, para conferir os valores destoantes.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777240" y="1426464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pic>
        <p:nvPicPr>
          <p:cNvPr id="6" name="Image 0" descr="/Users/pedro/Documents/Iniciacao Cientifica/Projeto_IVS_Censo22/banco_de_dados/eda/atualizada/figuras/renda_boxplot_por_cidad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749040" y="1234440"/>
            <a:ext cx="2240280" cy="512064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777240" y="1600200"/>
            <a:ext cx="283464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Por que painéis por região.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Setenta cidades num único boxplot passa do limite de categorias legíveis. Os painéis mantêm as cidades comparáveis dentro da região.</a:t>
            </a:r>
            <a:endParaRPr lang="en-US" sz="1250" dirty="0"/>
          </a:p>
        </p:txBody>
      </p:sp>
      <p:sp>
        <p:nvSpPr>
          <p:cNvPr id="8" name="Text 5"/>
          <p:cNvSpPr/>
          <p:nvPr/>
        </p:nvSpPr>
        <p:spPr>
          <a:xfrm>
            <a:off x="777240" y="3383280"/>
            <a:ext cx="283464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Por que escala logarítmica.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 assimetria 3,74, em escala linear 60 das 70 caixas colapsam contra a margem esquerda e nada se distingue.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777240" y="5111496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77240" y="5166360"/>
            <a:ext cx="2834640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Por que caixas neutras.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região já está codificada pelo painel. A única cor é o vermelho dos suspeitos.</a:t>
            </a:r>
            <a:endParaRPr lang="en-US" sz="1250" dirty="0"/>
          </a:p>
        </p:txBody>
      </p:sp>
      <p:sp>
        <p:nvSpPr>
          <p:cNvPr id="11" name="Text 8"/>
          <p:cNvSpPr/>
          <p:nvPr/>
        </p:nvSpPr>
        <p:spPr>
          <a:xfrm>
            <a:off x="6309360" y="2926080"/>
            <a:ext cx="521208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Os 65 setores suspeitos aparecem em vermelho, cidade a cidade. Belo Horizonte, Belém e Salvador concentram os casos mais graves. A figura em tamanho cheio está em banco_de_dados/eda/figuras/renda_boxplot_por_cidade.png.</a:t>
            </a:r>
            <a:endParaRPr lang="en-US" sz="1300" dirty="0"/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32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2331720"/>
            <a:ext cx="1097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5400" dirty="0"/>
          </a:p>
        </p:txBody>
      </p:sp>
      <p:sp>
        <p:nvSpPr>
          <p:cNvPr id="4" name="Text 2"/>
          <p:cNvSpPr/>
          <p:nvPr/>
        </p:nvSpPr>
        <p:spPr>
          <a:xfrm>
            <a:off x="1920240" y="2331720"/>
            <a:ext cx="94914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Os blocos descritivos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777240" y="3273552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920240" y="3401568"/>
            <a:ext cx="90342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Habitação, banheiro, chefia feminina, envelhecimento, morfologia e saneamento — fora do índice, dentro da análise.</a:t>
            </a:r>
            <a:endParaRPr lang="en-US" sz="1400" dirty="0"/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33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Os blocos descritivos, região a região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777240" y="969264"/>
            <a:ext cx="97200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Todos no mesmo recorte — o que a versão anterior deste deck não garantia.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777240" y="1426464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77240" y="1554480"/>
            <a:ext cx="106344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Tabela 7 — </a:t>
            </a:r>
            <a:pPr indent="0" marL="0">
              <a:buNone/>
            </a:pPr>
            <a:r>
              <a:rPr lang="en-US" sz="110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Os blocos descritivos, por região.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777240" y="1810512"/>
            <a:ext cx="10634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Recorte: setores urbanos elegíveis (104.108). Fonte: habitacao_precaria · inadequacao_banheiro · resp_feminino · tipo_domicilio (por_regiao).</a:t>
            </a:r>
            <a:endParaRPr lang="en-US" sz="950" dirty="0"/>
          </a:p>
        </p:txBody>
      </p:sp>
      <p:graphicFrame>
        <p:nvGraphicFramePr>
          <p:cNvPr id="3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2103120"/>
          <a:ext cx="10634472" cy="914400"/>
        </p:xfrm>
        <a:graphic>
          <a:graphicData uri="http://schemas.openxmlformats.org/drawingml/2006/table">
            <a:tbl>
              <a:tblPr/>
              <a:tblGrid>
                <a:gridCol w="3840480"/>
                <a:gridCol w="1417320"/>
                <a:gridCol w="1417320"/>
                <a:gridCol w="1600200"/>
                <a:gridCol w="1417320"/>
                <a:gridCol w="1417320"/>
              </a:tblGrid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Indicador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Norte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Nordeste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Centro-Oeste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Sudeste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Sul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Habitação precária (%)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0,63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0,41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1,01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0,74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0,12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Domicílios improvisados (%)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0,04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0,06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0,05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0,09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0,01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Sem banheiro exclusivo (%)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1,13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0,62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0,07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0,09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0,16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Sem banheiro nem sanitário (%)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0,07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0,05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0,01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Chefia feminina (%)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54,24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55,38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49,76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52,51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51,29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Apartamento (%)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16,39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23,82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29,01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34,76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39,02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Moradia convencional (%)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99,05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99,35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98,75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99,02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99,59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777240" y="5010912"/>
            <a:ext cx="106344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Média entre setores, todas no mesmo recorte — o que a versão anterior deste deck não garantia.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777240" y="5495544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777240" y="5550408"/>
            <a:ext cx="3474720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Precariedade tem geografias distintas.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Habitação precária (0,65% no total) concentra-se no Centro-Oeste e no Sudeste — é metropolitana, não rural do Norte.</a:t>
            </a:r>
            <a:endParaRPr lang="en-US" sz="1250" dirty="0"/>
          </a:p>
        </p:txBody>
      </p:sp>
      <p:sp>
        <p:nvSpPr>
          <p:cNvPr id="12" name="Text 9"/>
          <p:cNvSpPr/>
          <p:nvPr/>
        </p:nvSpPr>
        <p:spPr>
          <a:xfrm>
            <a:off x="4617720" y="5550408"/>
            <a:ext cx="3474720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Banheiro segue o padrão do saneamento.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Sem banheiro exclusivo: 0,23% no total, e a pior situação é no Norte.</a:t>
            </a:r>
            <a:endParaRPr lang="en-US" sz="1250" dirty="0"/>
          </a:p>
        </p:txBody>
      </p:sp>
      <p:sp>
        <p:nvSpPr>
          <p:cNvPr id="13" name="Text 10"/>
          <p:cNvSpPr/>
          <p:nvPr/>
        </p:nvSpPr>
        <p:spPr>
          <a:xfrm>
            <a:off x="8458200" y="5550408"/>
            <a:ext cx="3383280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Chefia feminina é maioria.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52,81% das chefias no recorte urbano, com pico no Nordeste.</a:t>
            </a:r>
            <a:endParaRPr lang="en-US" sz="1250" dirty="0"/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34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Chefia feminina e envelhecimento — os dois blocos que sumiram do deck anterior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777240" y="969264"/>
            <a:ext cx="97200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Ambos existem como tabela desde junho.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777240" y="1426464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77240" y="1554480"/>
            <a:ext cx="106344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Tabela 8 — </a:t>
            </a:r>
            <a:pPr indent="0" marL="0">
              <a:buNone/>
            </a:pPr>
            <a:r>
              <a:rPr lang="en-US" sz="110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Envelhecimento populacional por região.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777240" y="1810512"/>
            <a:ext cx="10634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Recorte: setores urbanos elegíveis (104.108). Fonte: indicadores_envelhecimento_por_regiao.csv.</a:t>
            </a:r>
            <a:endParaRPr lang="en-US" sz="950" dirty="0"/>
          </a:p>
        </p:txBody>
      </p:sp>
      <p:graphicFrame>
        <p:nvGraphicFramePr>
          <p:cNvPr id="3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2103120"/>
          <a:ext cx="10634472" cy="914400"/>
        </p:xfrm>
        <a:graphic>
          <a:graphicData uri="http://schemas.openxmlformats.org/drawingml/2006/table">
            <a:tbl>
              <a:tblPr/>
              <a:tblGrid>
                <a:gridCol w="3840480"/>
                <a:gridCol w="1417320"/>
                <a:gridCol w="1417320"/>
                <a:gridCol w="1600200"/>
                <a:gridCol w="1417320"/>
                <a:gridCol w="1417320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Indicador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Norte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Nordeste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Centro-Oeste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Sudeste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Sul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População (milhões)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3,9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11,1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5,5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27,7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3,9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Menores de 15 anos (%)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21,31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18,56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19,10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17,19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16,77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60 anos ou mais (%)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11,99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15,15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13,95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18,13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18,77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Índice de envelhecimento (IEP)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56,3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81,7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73,0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105,5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111,9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Razão de dependência (RDI)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18,0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22,9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20,8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28,0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29,1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777240" y="4425696"/>
            <a:ext cx="106344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IEP = 60+ ÷ menores de 15 × 100, conforme Galvão et al. (Hygeia, 2025).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777240" y="4919472"/>
            <a:ext cx="2651760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777240" y="4992624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92,7</a:t>
            </a:r>
            <a:endParaRPr lang="en-US" sz="3000" dirty="0"/>
          </a:p>
        </p:txBody>
      </p:sp>
      <p:sp>
        <p:nvSpPr>
          <p:cNvPr id="12" name="Text 9"/>
          <p:cNvSpPr/>
          <p:nvPr/>
        </p:nvSpPr>
        <p:spPr>
          <a:xfrm>
            <a:off x="777240" y="5577840"/>
            <a:ext cx="2651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IEP — índice de envelhecimento</a:t>
            </a:r>
            <a:endParaRPr lang="en-US" sz="1050" dirty="0"/>
          </a:p>
        </p:txBody>
      </p:sp>
      <p:sp>
        <p:nvSpPr>
          <p:cNvPr id="13" name="Shape 10"/>
          <p:cNvSpPr/>
          <p:nvPr/>
        </p:nvSpPr>
        <p:spPr>
          <a:xfrm>
            <a:off x="3611880" y="4919472"/>
            <a:ext cx="2651760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3611880" y="4992624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25,5</a:t>
            </a:r>
            <a:endParaRPr lang="en-US" sz="3000" dirty="0"/>
          </a:p>
        </p:txBody>
      </p:sp>
      <p:sp>
        <p:nvSpPr>
          <p:cNvPr id="15" name="Text 12"/>
          <p:cNvSpPr/>
          <p:nvPr/>
        </p:nvSpPr>
        <p:spPr>
          <a:xfrm>
            <a:off x="3611880" y="5577840"/>
            <a:ext cx="2651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RDI — razão de dependência</a:t>
            </a:r>
            <a:endParaRPr lang="en-US" sz="1050" dirty="0"/>
          </a:p>
        </p:txBody>
      </p:sp>
      <p:sp>
        <p:nvSpPr>
          <p:cNvPr id="16" name="Shape 13"/>
          <p:cNvSpPr/>
          <p:nvPr/>
        </p:nvSpPr>
        <p:spPr>
          <a:xfrm>
            <a:off x="6446520" y="4919472"/>
            <a:ext cx="2651760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6446520" y="4992624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16,65%</a:t>
            </a:r>
            <a:endParaRPr lang="en-US" sz="3000" dirty="0"/>
          </a:p>
        </p:txBody>
      </p:sp>
      <p:sp>
        <p:nvSpPr>
          <p:cNvPr id="18" name="Text 15"/>
          <p:cNvSpPr/>
          <p:nvPr/>
        </p:nvSpPr>
        <p:spPr>
          <a:xfrm>
            <a:off x="6446520" y="5577840"/>
            <a:ext cx="2651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60 anos ou mais</a:t>
            </a:r>
            <a:endParaRPr lang="en-US" sz="1050" dirty="0"/>
          </a:p>
        </p:txBody>
      </p:sp>
      <p:sp>
        <p:nvSpPr>
          <p:cNvPr id="19" name="Shape 16"/>
          <p:cNvSpPr/>
          <p:nvPr/>
        </p:nvSpPr>
        <p:spPr>
          <a:xfrm>
            <a:off x="9281160" y="4919472"/>
            <a:ext cx="2377440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9281160" y="4992624"/>
            <a:ext cx="2377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52,81%</a:t>
            </a:r>
            <a:endParaRPr lang="en-US" sz="3000" dirty="0"/>
          </a:p>
        </p:txBody>
      </p:sp>
      <p:sp>
        <p:nvSpPr>
          <p:cNvPr id="21" name="Text 18"/>
          <p:cNvSpPr/>
          <p:nvPr/>
        </p:nvSpPr>
        <p:spPr>
          <a:xfrm>
            <a:off x="9281160" y="5577840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chefia feminina</a:t>
            </a:r>
            <a:endParaRPr lang="en-US" sz="1050" dirty="0"/>
          </a:p>
        </p:txBody>
      </p:sp>
      <p:sp>
        <p:nvSpPr>
          <p:cNvPr id="22" name="Text 19"/>
          <p:cNvSpPr/>
          <p:nvPr/>
        </p:nvSpPr>
        <p:spPr>
          <a:xfrm>
            <a:off x="777240" y="6400800"/>
            <a:ext cx="981151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Correção registrada: o IEP usava só a faixa de 0 a 4 anos no denominador e dava 299. Com o denominador correto — menores de 15 anos, conforme Galvão et al. — dá 92,7.</a:t>
            </a:r>
            <a:endParaRPr lang="en-US" sz="1200" dirty="0"/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35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Tipo de espécie do domicílio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777240" y="969264"/>
            <a:ext cx="97200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Morfologia urbana: o que NÃO é casa. Percentual sobre domicílios, não sobre setores.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777240" y="1426464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77240" y="1463040"/>
            <a:ext cx="106344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Tabela 9 — </a:t>
            </a:r>
            <a:pPr indent="0" marL="0">
              <a:buNone/>
            </a:pPr>
            <a:r>
              <a:rPr lang="en-US" sz="110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Tipo de espécie do domicílio.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777240" y="1719072"/>
            <a:ext cx="10634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Recorte: elegíveis incluindo rurais (106.281). Fonte: morfologia_v00048_v00058_por_regiao.csv.</a:t>
            </a:r>
            <a:endParaRPr lang="en-US" sz="950" dirty="0"/>
          </a:p>
        </p:txBody>
      </p:sp>
      <p:graphicFrame>
        <p:nvGraphicFramePr>
          <p:cNvPr id="3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2011680"/>
          <a:ext cx="10634472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3200400"/>
                <a:gridCol w="1234440"/>
                <a:gridCol w="1051560"/>
                <a:gridCol w="1051560"/>
                <a:gridCol w="1234440"/>
                <a:gridCol w="1051560"/>
                <a:gridCol w="1051560"/>
              </a:tblGrid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Código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Tipo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Total (%)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Norte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Nordeste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Centro-Oeste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Sudeste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Sul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V00048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Casa de vila/condomínio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3,958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6,597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4,635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3,831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3,436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3,794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V00049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Apartamento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28,403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15,654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22,554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26,722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31,227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36,915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V00050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Cortiço/casa de cômodos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0,534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0,584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0,337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0,903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0,595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0,104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V00051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Maloca indígena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0,000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0,000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0,000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0,000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0,000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0,000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V00052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Estrutura permanente degradada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0,036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0,027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0,012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0,055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0,047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0,009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V00053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Tenda/barraca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0,019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0,008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0,022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0,024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0,020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0,004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V00054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Dentro de estabelecimento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0,007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0,005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0,006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0,009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0,007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0,002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V00055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Abrigo natural/outras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0,014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0,009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0,009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0,007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0,020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0,002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V00056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Estrutura em logradouro público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0,009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0,011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0,007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0,002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0,011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0,003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V00057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Estrutura não-residencial degradada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0,013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0,000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0,003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0,003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0,022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0,000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V00058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Veículo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0,000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0,000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0,000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0,000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0,000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0,001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777240" y="5596128"/>
            <a:ext cx="106344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Percentual sobre domicílios (V00001 + V00002), não sobre setores.</a:t>
            </a:r>
            <a:endParaRPr lang="en-US" sz="1100" dirty="0"/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36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Canalização da água — um eixo que o IVS não media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777240" y="969264"/>
            <a:ext cx="97200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Demanda: testar V00199 a V00201 e calcular a proporção sem água encanada.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777240" y="1426464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77240" y="1508760"/>
            <a:ext cx="106344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Tabela 10 — </a:t>
            </a:r>
            <a:pPr indent="0" marL="0">
              <a:buNone/>
            </a:pPr>
            <a:r>
              <a:rPr lang="en-US" sz="110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Canalização da água por região.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777240" y="1764792"/>
            <a:ext cx="10634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Recorte: setores urbanos elegíveis (104.108). Fonte: agua_canalizada_por_regiao.csv.</a:t>
            </a:r>
            <a:endParaRPr lang="en-US" sz="950" dirty="0"/>
          </a:p>
        </p:txBody>
      </p:sp>
      <p:graphicFrame>
        <p:nvGraphicFramePr>
          <p:cNvPr id="3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2057400"/>
          <a:ext cx="10634472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2103120"/>
                <a:gridCol w="1920240"/>
                <a:gridCol w="1737360"/>
                <a:gridCol w="2286000"/>
                <a:gridCol w="1737360"/>
              </a:tblGrid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Região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Dentro de casa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Só no terreno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Não chega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Sem canalização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Suprimido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Norte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96,27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2,32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1,11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3,73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0,30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Nordeste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97,98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1,26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0,49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2,02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0,27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Sudeste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98,80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0,72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0,35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1,20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0,13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Sul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99,67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0,12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0,12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0,33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0,09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Centro-Oeste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99,47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0,29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0,11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0,53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0,13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777240" y="4270248"/>
            <a:ext cx="106344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Razão agregada sobre domicílios. "Suprimido" é a parcela que o sigilo tira de V00200 e V00201.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777240" y="4809744"/>
            <a:ext cx="5349240" cy="1389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É conceito diferente do que já estava no IVS.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pct_agua_inad (V00112–V00118) mede a FONTE: poço, nascente, carro-pipa, rio. A trinca nova mede a ENTREGA. Um domicílio com rede geral pode receber água só no terreno. Spearman entre os dois: 0,459.</a:t>
            </a:r>
            <a:endParaRPr lang="en-US" sz="1250" dirty="0"/>
          </a:p>
        </p:txBody>
      </p:sp>
      <p:sp>
        <p:nvSpPr>
          <p:cNvPr id="11" name="Text 8"/>
          <p:cNvSpPr/>
          <p:nvPr/>
        </p:nvSpPr>
        <p:spPr>
          <a:xfrm>
            <a:off x="6492240" y="4809744"/>
            <a:ext cx="5349240" cy="1389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partição fecha, e isso virou auditoria.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V00199 + V00200 + V00201 = V00001 em 100,00% dos 81.270 setores em que as três estão presentes. O teste roda a cada execução da suíte.</a:t>
            </a:r>
            <a:endParaRPr lang="en-US" sz="1250" dirty="0"/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37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complemento que recupera 21,9% dos setores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777240" y="969264"/>
            <a:ext cx="97200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mesma quantidade medida por outro caminho, com um vigésimo dos ausentes.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777240" y="1426464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77240" y="1682496"/>
            <a:ext cx="512064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77240" y="1792224"/>
            <a:ext cx="5120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8C2F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(V00200 + V00201) / V00001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777240" y="2231136"/>
            <a:ext cx="5120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21,9%</a:t>
            </a:r>
            <a:endParaRPr lang="en-US" sz="4400" dirty="0"/>
          </a:p>
        </p:txBody>
      </p:sp>
      <p:sp>
        <p:nvSpPr>
          <p:cNvPr id="9" name="Text 7"/>
          <p:cNvSpPr/>
          <p:nvPr/>
        </p:nvSpPr>
        <p:spPr>
          <a:xfrm>
            <a:off x="777240" y="2999232"/>
            <a:ext cx="4937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dos setores ficam sem valor. V00200 e V00201 são contagens pequenas — e é a contagem pequena que o IBGE suprime.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446520" y="1682496"/>
            <a:ext cx="5120640" cy="0"/>
          </a:xfrm>
          <a:prstGeom prst="line">
            <a:avLst/>
          </a:prstGeom>
          <a:noFill/>
          <a:ln w="15875">
            <a:solidFill>
              <a:srgbClr val="1A1A1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46520" y="1792224"/>
            <a:ext cx="5120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1 − V00199 / V00001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6446520" y="2231136"/>
            <a:ext cx="5120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0,04%</a:t>
            </a:r>
            <a:endParaRPr lang="en-US" sz="4400" dirty="0"/>
          </a:p>
        </p:txBody>
      </p:sp>
      <p:sp>
        <p:nvSpPr>
          <p:cNvPr id="13" name="Text 11"/>
          <p:cNvSpPr/>
          <p:nvPr/>
        </p:nvSpPr>
        <p:spPr>
          <a:xfrm>
            <a:off x="6446520" y="2999232"/>
            <a:ext cx="4937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V00199 é contagem grande — o IBGE quase nunca a sigila. Como a trinca fecha, o complemento devolve o mesmo valor.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777240" y="4197096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77240" y="4251960"/>
            <a:ext cx="1063447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ressalva que precisa constar do artigo.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identidade só é VERIFICÁVEL onde as três variáveis estão presentes. Nos setores com V00200 ou V00201 sigilosos, aplicá-la é extrapolação — justificada porque a partição é definida pelo IBGE, mas é suposição, não medição. Registrada no GUIA §6.2.9 e coberta por teste.</a:t>
            </a:r>
            <a:endParaRPr lang="en-US" sz="1250" dirty="0"/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38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Cobertura integral de saneamento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777240" y="969264"/>
            <a:ext cx="97200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Setores em que NENHUM domicílio está na condição inadequada.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777240" y="1426464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77240" y="1508760"/>
            <a:ext cx="106344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Tabela 11 — </a:t>
            </a:r>
            <a:pPr indent="0" marL="0">
              <a:buNone/>
            </a:pPr>
            <a:r>
              <a:rPr lang="en-US" sz="110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Cobertura integral de saneamento por região.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777240" y="1764792"/>
            <a:ext cx="10634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Recorte: elegíveis incluindo rurais (106.281). Fonte: cobertura_por_regiao.csv.</a:t>
            </a:r>
            <a:endParaRPr lang="en-US" sz="950" dirty="0"/>
          </a:p>
        </p:txBody>
      </p:sp>
      <p:graphicFrame>
        <p:nvGraphicFramePr>
          <p:cNvPr id="3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2057400"/>
          <a:ext cx="10634472" cy="914400"/>
        </p:xfrm>
        <a:graphic>
          <a:graphicData uri="http://schemas.openxmlformats.org/drawingml/2006/table">
            <a:tbl>
              <a:tblPr/>
              <a:tblGrid>
                <a:gridCol w="3657600"/>
                <a:gridCol w="1463040"/>
                <a:gridCol w="1463040"/>
                <a:gridCol w="1737360"/>
                <a:gridCol w="1463040"/>
                <a:gridCol w="1463040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Serviço 100% adequado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Norte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Nordeste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Centro-Oeste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Sudeste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Sul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Água (%)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11,8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48,9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66,2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86,4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84,7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Esgoto (%)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30,2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52,1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73,8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79,8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84,3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Lixo (%)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54,1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53,9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66,6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63,7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65,5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Os três juntos (%)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4,4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16,2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41,5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52,3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51,3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777240" y="4014216"/>
            <a:ext cx="106344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Setores em que NENHUM domicílio está na condição inadequada.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777240" y="4507992"/>
            <a:ext cx="2514600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777240" y="4581144"/>
            <a:ext cx="2514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72,90%</a:t>
            </a:r>
            <a:endParaRPr lang="en-US" sz="3000" dirty="0"/>
          </a:p>
        </p:txBody>
      </p:sp>
      <p:sp>
        <p:nvSpPr>
          <p:cNvPr id="12" name="Text 9"/>
          <p:cNvSpPr/>
          <p:nvPr/>
        </p:nvSpPr>
        <p:spPr>
          <a:xfrm>
            <a:off x="777240" y="5166360"/>
            <a:ext cx="2514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água 100% adequada</a:t>
            </a:r>
            <a:endParaRPr lang="en-US" sz="1050" dirty="0"/>
          </a:p>
        </p:txBody>
      </p:sp>
      <p:sp>
        <p:nvSpPr>
          <p:cNvPr id="13" name="Shape 10"/>
          <p:cNvSpPr/>
          <p:nvPr/>
        </p:nvSpPr>
        <p:spPr>
          <a:xfrm>
            <a:off x="3474720" y="4507992"/>
            <a:ext cx="2514600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3474720" y="4581144"/>
            <a:ext cx="2514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71,40%</a:t>
            </a:r>
            <a:endParaRPr lang="en-US" sz="3000" dirty="0"/>
          </a:p>
        </p:txBody>
      </p:sp>
      <p:sp>
        <p:nvSpPr>
          <p:cNvPr id="15" name="Text 12"/>
          <p:cNvSpPr/>
          <p:nvPr/>
        </p:nvSpPr>
        <p:spPr>
          <a:xfrm>
            <a:off x="3474720" y="5166360"/>
            <a:ext cx="2514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esgoto 100% adequado</a:t>
            </a:r>
            <a:endParaRPr lang="en-US" sz="1050" dirty="0"/>
          </a:p>
        </p:txBody>
      </p:sp>
      <p:sp>
        <p:nvSpPr>
          <p:cNvPr id="16" name="Shape 13"/>
          <p:cNvSpPr/>
          <p:nvPr/>
        </p:nvSpPr>
        <p:spPr>
          <a:xfrm>
            <a:off x="6172200" y="4507992"/>
            <a:ext cx="2514600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6172200" y="4581144"/>
            <a:ext cx="2514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61,70%</a:t>
            </a:r>
            <a:endParaRPr lang="en-US" sz="3000" dirty="0"/>
          </a:p>
        </p:txBody>
      </p:sp>
      <p:sp>
        <p:nvSpPr>
          <p:cNvPr id="18" name="Text 15"/>
          <p:cNvSpPr/>
          <p:nvPr/>
        </p:nvSpPr>
        <p:spPr>
          <a:xfrm>
            <a:off x="6172200" y="5166360"/>
            <a:ext cx="2514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lixo 100% adequado</a:t>
            </a:r>
            <a:endParaRPr lang="en-US" sz="1050" dirty="0"/>
          </a:p>
        </p:txBody>
      </p:sp>
      <p:sp>
        <p:nvSpPr>
          <p:cNvPr id="19" name="Shape 16"/>
          <p:cNvSpPr/>
          <p:nvPr/>
        </p:nvSpPr>
        <p:spPr>
          <a:xfrm>
            <a:off x="8869680" y="4507992"/>
            <a:ext cx="2514600" cy="0"/>
          </a:xfrm>
          <a:prstGeom prst="line">
            <a:avLst/>
          </a:prstGeom>
          <a:noFill/>
          <a:ln w="12700">
            <a:solidFill>
              <a:srgbClr val="8C2F27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8869680" y="4581144"/>
            <a:ext cx="2514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41,60%</a:t>
            </a:r>
            <a:endParaRPr lang="en-US" sz="3000" dirty="0"/>
          </a:p>
        </p:txBody>
      </p:sp>
      <p:sp>
        <p:nvSpPr>
          <p:cNvPr id="21" name="Text 18"/>
          <p:cNvSpPr/>
          <p:nvPr/>
        </p:nvSpPr>
        <p:spPr>
          <a:xfrm>
            <a:off x="8869680" y="5166360"/>
            <a:ext cx="2514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os três juntos</a:t>
            </a:r>
            <a:endParaRPr lang="en-US" sz="1050" dirty="0"/>
          </a:p>
        </p:txBody>
      </p:sp>
      <p:sp>
        <p:nvSpPr>
          <p:cNvPr id="22" name="Text 19"/>
          <p:cNvSpPr/>
          <p:nvPr/>
        </p:nvSpPr>
        <p:spPr>
          <a:xfrm>
            <a:off x="777240" y="5989320"/>
            <a:ext cx="9811512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Só 41,60% dos setores têm os três serviços integralmente adequados. Contando a caçamba de serviço de limpeza como coleta, o lixo sobe de 61,70% para 91,50% — a diferença é o efeito da decisão metodológica sobre V00398.</a:t>
            </a:r>
            <a:endParaRPr lang="en-US" sz="1200" dirty="0"/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39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Gravidade do saneamento em faixas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777240" y="969264"/>
            <a:ext cx="97200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Não basta saber quantos setores têm inadequação: importa quanto.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777240" y="1426464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77240" y="1554480"/>
            <a:ext cx="106344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Tabela 12 — </a:t>
            </a:r>
            <a:pPr indent="0" marL="0">
              <a:buNone/>
            </a:pPr>
            <a:r>
              <a:rPr lang="en-US" sz="110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Gravidade do saneamento em faixas.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777240" y="1810512"/>
            <a:ext cx="10634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Recorte: elegíveis incluindo rurais (106.281). Fonte: saneamento_categorias_por_regiao.csv.</a:t>
            </a:r>
            <a:endParaRPr lang="en-US" sz="950" dirty="0"/>
          </a:p>
        </p:txBody>
      </p:sp>
      <p:graphicFrame>
        <p:nvGraphicFramePr>
          <p:cNvPr id="4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2103120"/>
          <a:ext cx="10634472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2743200"/>
                <a:gridCol w="1335024"/>
                <a:gridCol w="1335024"/>
                <a:gridCol w="1335024"/>
                <a:gridCol w="1335024"/>
                <a:gridCol w="1335024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Serviço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Faixa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Norte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Nordeste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Centro-Oeste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Sudeste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Sul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Água inadequada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setores em 0%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11,8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48,9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66,2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86,4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84,7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setores em 50% ou mais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30,8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9,5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7,7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4,1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2,8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Esgoto inadequado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setores em 0%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30,2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52,1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73,8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79,8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84,3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setores em 50% ou mais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25,1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16,5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9,1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4,4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3,1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Lixo inadequado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setores em 0%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54,1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53,9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66,6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63,7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65,5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setores em 50% ou mais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11,6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15,0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11,3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10,1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10,1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777240" y="4910328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77240" y="4965192"/>
            <a:ext cx="1063447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leitura.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Norte, 30,8% dos setores têm metade ou mais dos domicílios com água inadequada — contra 11,8% em situação totalmente adequada. No Sul e no Centro-Oeste a distribuição se inverte por completo.</a:t>
            </a:r>
            <a:endParaRPr lang="en-US" sz="1250" dirty="0"/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40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2331720"/>
            <a:ext cx="1097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</a:t>
            </a:r>
            <a:endParaRPr lang="en-US" sz="5400" dirty="0"/>
          </a:p>
        </p:txBody>
      </p:sp>
      <p:sp>
        <p:nvSpPr>
          <p:cNvPr id="4" name="Text 2"/>
          <p:cNvSpPr/>
          <p:nvPr/>
        </p:nvSpPr>
        <p:spPr>
          <a:xfrm>
            <a:off x="1920240" y="2331720"/>
            <a:ext cx="94914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Favelas e Comunidades Urbanas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777240" y="3273552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920240" y="3401568"/>
            <a:ext cx="90342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fonte oficial, a validação do critério e a comparação com o resto da cidade.</a:t>
            </a:r>
            <a:endParaRPr lang="en-US" sz="1400" dirty="0"/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41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fonte oficial localizada e a validação do critério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777240" y="969264"/>
            <a:ext cx="97200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Demanda: conferir um relatório do IBGE sobre vilas e favelas do Censo 2022.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777240" y="1426464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77240" y="1618488"/>
            <a:ext cx="534924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fonte.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IBGE. Censo Demográfico 2022: Favelas e Comunidades Urbanas — Resultados do universo. Rio de Janeiro, 2024. 171 p. Definição e os quatro critérios transcritos na seção 14.2 do relatório.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6492240" y="1618488"/>
            <a:ext cx="534924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validação.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Dos 109.032 setores da base completa, 19.507 estão na lista oficial — e são exatamente os 19.507 com CD_TIPO = 1. Zero falso positivo, zero omissão. No recorte de análise são 19.452, 18,68% dos 104.108. O campo NM_FCU não serve de critério: diverge em 25 setores, nenhum deles na lista oficial.</a:t>
            </a:r>
            <a:endParaRPr lang="en-US" sz="1250" dirty="0"/>
          </a:p>
        </p:txBody>
      </p:sp>
      <p:graphicFrame>
        <p:nvGraphicFramePr>
          <p:cNvPr id="4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3063240"/>
          <a:ext cx="10634472" cy="914400"/>
        </p:xfrm>
        <a:graphic>
          <a:graphicData uri="http://schemas.openxmlformats.org/drawingml/2006/table">
            <a:tbl>
              <a:tblPr/>
              <a:tblGrid>
                <a:gridCol w="4206240"/>
                <a:gridCol w="2926080"/>
                <a:gridCol w="2286000"/>
                <a:gridCol w="1463040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Brasil (IBGE 2024)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ELSI-70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Cobertura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Favelas e Comunidades Urbanas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12.348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5.899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47,8%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Municípios com FCU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656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42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6,4%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População em FCU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16.390.815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10.069.994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61,4%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Domicílios em FCU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6.556.998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3.443.687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52,5%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777240" y="4837176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77240" y="4892040"/>
            <a:ext cx="10634472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limitação que a fonte revelou — nota 7, página 75.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Além das 12.348 FCU classificadas, o IBGE identificou 2.298 FCU com 21 a 50 domicílios que NÃO receberam setor censitário próprio. Como nosso critério é CD_TIPO = 1, as favelas pequenas são invisíveis na base: a comparação favela × resto da cidade erra nos dois sentidos.</a:t>
            </a:r>
            <a:endParaRPr lang="en-US" sz="1250" dirty="0"/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42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Favela e restante da cidade, indicador a indicador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777240" y="969264"/>
            <a:ext cx="97200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Quantas vezes o valor médio no setor de favela supera o de fora.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777240" y="1426464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77240" y="1444752"/>
            <a:ext cx="106344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Tabela 13 — </a:t>
            </a:r>
            <a:pPr indent="0" marL="0">
              <a:buNone/>
            </a:pPr>
            <a:r>
              <a:rPr lang="en-US" sz="110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Favela e restante da cidade, indicador a indicador.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777240" y="1700784"/>
            <a:ext cx="10634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Recorte: setores urbanos elegíveis (104.108). Fonte: favelas_fcu_comparativo_indicadores.csv.</a:t>
            </a:r>
            <a:endParaRPr lang="en-US" sz="950" dirty="0"/>
          </a:p>
        </p:txBody>
      </p:sp>
      <p:graphicFrame>
        <p:nvGraphicFramePr>
          <p:cNvPr id="4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1993392"/>
          <a:ext cx="10634472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1143000"/>
                <a:gridCol w="1234440"/>
                <a:gridCol w="1325880"/>
                <a:gridCol w="1234440"/>
                <a:gridCol w="1417320"/>
                <a:gridCol w="1508760"/>
                <a:gridCol w="1188720"/>
              </a:tblGrid>
              <a:tr h="2788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variavel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n fcu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media fcu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mediana fcu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n nao fcu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media nao fcu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mediana nao fcu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razao medias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88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pct_agua_inad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19452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0,108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0,000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84656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0,061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0,000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1,773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788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pct_esgoto_inad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19452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0,214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0,032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84655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0,052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0,000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4,144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788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pct_lixo_inad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19452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0,248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0,045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84656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0,085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0,000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2,903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788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razao_moradores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19452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2,927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2,917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84656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2,637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2,669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1,110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788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pct_analfab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18904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0,062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0,055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68652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0,029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0,021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2,135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788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renda_media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19447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1.600,946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1.515,320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84648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4.779,659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3.067,015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0,335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788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pct_raca_pretpardind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19452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0,735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0,743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84654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0,479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0,510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1,534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788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pct_moradia_convencional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19452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0,984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1,000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84656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0,993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1,000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0,991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788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pct_apartamento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17139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0,033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0,000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77866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0,377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0,119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0,087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788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pct_pop_0a14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19440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0,222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0,219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84410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0,161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0,161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1,379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788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pct_idoso_60mais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19369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0,109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0,105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84454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0,191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0,185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0,572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788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iep_setor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19334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55,159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47,913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83782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153,007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114,815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0,360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777240" y="5747004"/>
            <a:ext cx="106344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Razão de médias abaixo de 1 significa valor MENOR em favela — é o caso da renda, do apartamento e do índice de envelhecimento.</a:t>
            </a:r>
            <a:endParaRPr lang="en-US" sz="1100" dirty="0"/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43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amostra ELSI comparada com o Brasil urbano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777240" y="969264"/>
            <a:ext cx="97200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Linha de base nacional: os mesmos indicadores sobre os 468 mil setores do país.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777240" y="1426464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77240" y="1554480"/>
            <a:ext cx="106344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Tabela 14 — </a:t>
            </a:r>
            <a:pPr indent="0" marL="0">
              <a:buNone/>
            </a:pPr>
            <a:r>
              <a:rPr lang="en-US" sz="110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amostra ELSI comparada com o Brasil urbano.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777240" y="1810512"/>
            <a:ext cx="10634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Recorte: Brasil urbano × ELSI-70 urbano. Fonte: nacional/comparativo_brasil_vs_elsi.csv.</a:t>
            </a:r>
            <a:endParaRPr lang="en-US" sz="950" dirty="0"/>
          </a:p>
        </p:txBody>
      </p:sp>
      <p:graphicFrame>
        <p:nvGraphicFramePr>
          <p:cNvPr id="4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2103120"/>
          <a:ext cx="10634472" cy="914400"/>
        </p:xfrm>
        <a:graphic>
          <a:graphicData uri="http://schemas.openxmlformats.org/drawingml/2006/table">
            <a:tbl>
              <a:tblPr/>
              <a:tblGrid>
                <a:gridCol w="4023360"/>
                <a:gridCol w="2468880"/>
                <a:gridCol w="2468880"/>
                <a:gridCol w="1920240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Indicador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Brasil urbano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ELSI-70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Razão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Água inadequada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0,083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0,069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0,83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Esgoto inadequado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0,155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0,080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0,52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Lixo inadequado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0,094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0,114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1,21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Razão de moradores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2,762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2,695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0,98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Analfabetismo 15+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0,058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0,036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0,62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Renda média (R$)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3.208,881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4.187,409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1,30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Preta, parda ou indígena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0,544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0,551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1,01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777240" y="5157216"/>
            <a:ext cx="106344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Razão agregada: soma dos numeradores ÷ soma dos denominadores em cada recorte. ATENÇÃO: esta é a ÚNICA tabela do deck que usa a renda COM o extremo de BH (R$ 4.187,41, e não R$ 4.185,81). A linha de base nacional é calculada sobre os 468 mil setores do país, onde o setor também está — excluí-lo só do lado do ELSI quebraria a comparação. Aplicar a exclusão aos dois lados é decisão de método, ainda em aberto.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777240" y="5696712"/>
            <a:ext cx="5349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amostra é menos vulnerável que o Brasil urbano.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Em seis dos sete indicadores o recorte ELSI está melhor. O esgoto é o contraste mais forte: 0,080 contra 0,155 — quase metade.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 rot="21300000">
            <a:off x="9326880" y="4169664"/>
            <a:ext cx="1371600" cy="329184"/>
          </a:xfrm>
          <a:prstGeom prst="ellipse">
            <a:avLst/>
          </a:prstGeom>
          <a:ln w="19050">
            <a:solidFill>
              <a:srgbClr val="8C2F27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 flipV="1">
            <a:off x="10698480" y="4334256"/>
            <a:ext cx="137160" cy="630936"/>
          </a:xfrm>
          <a:prstGeom prst="line">
            <a:avLst/>
          </a:prstGeom>
          <a:noFill/>
          <a:ln w="12700">
            <a:solidFill>
              <a:srgbClr val="8C2F27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183880" y="3593592"/>
            <a:ext cx="2194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única acima de 1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6492240" y="5641848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6492240" y="5696712"/>
            <a:ext cx="5349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exceção é o lixo, e ela é diagnóstica.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Única variável em que o ELSI está PIOR (razão 1,21). Reforça a hipótese de que o indicador captura porte urbano — a caçamba é mais comum em cidade grande.</a:t>
            </a:r>
            <a:endParaRPr lang="en-US" sz="1250" dirty="0"/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44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2331720"/>
            <a:ext cx="1097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</a:t>
            </a:r>
            <a:endParaRPr lang="en-US" sz="5400" dirty="0"/>
          </a:p>
        </p:txBody>
      </p:sp>
      <p:sp>
        <p:nvSpPr>
          <p:cNvPr id="4" name="Text 2"/>
          <p:cNvSpPr/>
          <p:nvPr/>
        </p:nvSpPr>
        <p:spPr>
          <a:xfrm>
            <a:off x="1920240" y="2331720"/>
            <a:ext cx="94914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Limitações e processo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777240" y="3273552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920240" y="3401568"/>
            <a:ext cx="90342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a base não permite afirmar, o que foi corrigido e o que vem agora.</a:t>
            </a:r>
            <a:endParaRPr lang="en-US" sz="1400" dirty="0"/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45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sigilo do analfabetismo — limitação aceita e quantificada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777240" y="969264"/>
            <a:ext cx="97200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Demanda de agosto: aceitar a limitação, e ainda assim medir o tamanho dela.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777240" y="1426464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777240" y="1563624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77240" y="1618488"/>
            <a:ext cx="53492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sigilo incide nos setores RICOS.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supressão de V00901 acontece onde há poucos analfabetos — na melhor situação socioeconômica. Renda mediana de R$ 6.092,84 nos setores sem o dado, contra R$ 2.313,89 nos que têm. E 30,8% de população preta, parda ou indígena contra 60,6%.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6492240" y="1618488"/>
            <a:ext cx="53492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Por isso a média observada é um TETO.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os excluídos são os de menor analfabetismo, a média sobre os 87.556 setores com dado superestima a amostra completa. E como o IBGE reporta os zeros — 9.268 setores declaram V00901 = 0 — o valor suprimido é ≥ 1, o que fecha o intervalo pelo outro lado.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777240" y="3611880"/>
            <a:ext cx="3200400" cy="0"/>
          </a:xfrm>
          <a:prstGeom prst="line">
            <a:avLst/>
          </a:prstGeom>
          <a:noFill/>
          <a:ln w="12700">
            <a:solidFill>
              <a:srgbClr val="8C2F2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777240" y="3685032"/>
            <a:ext cx="3200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16.552</a:t>
            </a:r>
            <a:endParaRPr lang="en-US" sz="3000" dirty="0"/>
          </a:p>
        </p:txBody>
      </p:sp>
      <p:sp>
        <p:nvSpPr>
          <p:cNvPr id="11" name="Text 9"/>
          <p:cNvSpPr/>
          <p:nvPr/>
        </p:nvSpPr>
        <p:spPr>
          <a:xfrm>
            <a:off x="777240" y="4270248"/>
            <a:ext cx="3200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setores sem o dado (15,9%)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4343400" y="3611880"/>
            <a:ext cx="3200400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4343400" y="3685032"/>
            <a:ext cx="3200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3,14% – 3,64%</a:t>
            </a:r>
            <a:endParaRPr lang="en-US" sz="3000" dirty="0"/>
          </a:p>
        </p:txBody>
      </p:sp>
      <p:sp>
        <p:nvSpPr>
          <p:cNvPr id="14" name="Text 12"/>
          <p:cNvSpPr/>
          <p:nvPr/>
        </p:nvSpPr>
        <p:spPr>
          <a:xfrm>
            <a:off x="4343400" y="4270248"/>
            <a:ext cx="3200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onde está a média verdadeira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7909560" y="3611880"/>
            <a:ext cx="3931920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7909560" y="3685032"/>
            <a:ext cx="3931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0,50 p.p.</a:t>
            </a:r>
            <a:endParaRPr lang="en-US" sz="3000" dirty="0"/>
          </a:p>
        </p:txBody>
      </p:sp>
      <p:sp>
        <p:nvSpPr>
          <p:cNvPr id="17" name="Text 15"/>
          <p:cNvSpPr/>
          <p:nvPr/>
        </p:nvSpPr>
        <p:spPr>
          <a:xfrm>
            <a:off x="7909560" y="4270248"/>
            <a:ext cx="3931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largura da faixa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777240" y="5166360"/>
            <a:ext cx="1063447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Meio ponto percentual de largura — estreito o bastante para nenhuma conclusão do estudo depender de qual ponto se adote. Nenhuma imputação serve: preencher com zero achata o gradiente nas áreas menos vulneráveis; imputar pela mediana municipal transfere aos setores ricos o perfil dos pobres.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Redação completa em docs/relatorios/Relatorio_EDA_Fase3_IVS_ELSI.md, seção 14.1. Decisão registrada no GUIA §6.2.6.</a:t>
            </a:r>
            <a:endParaRPr lang="en-US" sz="950" dirty="0"/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46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As limitações da análise exploratória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777240" y="969264"/>
            <a:ext cx="97200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Todas registradas na seção 14 do relatório da EDA.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777240" y="1426464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77240" y="1563624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77240" y="1618488"/>
            <a:ext cx="5349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Falácia ecológica.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Todas as medidas são agregadas por setor. Nada aqui autoriza inferência sobre indivíduos (Lima-Costa &amp; Barreto, 2003).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6492240" y="1563624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92240" y="1618488"/>
            <a:ext cx="5349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Sigilo seletivo do analfabetismo.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15,9% dos setores sem o dado, concentrados nos setores ricos. Média verdadeira entre 3,14% e 3,64%.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777240" y="3044952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77240" y="3099816"/>
            <a:ext cx="5349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Favelas pequenas invisíveis.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2.298 FCU de 21 a 50 domicílios não receberam setor próprio. A comparação favela × cidade erra nos dois sentidos.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6492240" y="3044952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92240" y="3099816"/>
            <a:ext cx="5349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Municípios pequenos após o filtro urbano.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29 dos 70 perdem mais de 10% dos setores; 7 ficam com menos de 10.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777240" y="4581144"/>
            <a:ext cx="5349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Três componentes não reprodutíveis.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Anos de estudo, faixas de renda e óbitos cardiovasculares não existem nos agregados por setor.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6492240" y="4581144"/>
            <a:ext cx="5349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EDA é descritiva.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Nenhuma inferência ou teste de hipótese foi conduzido. As correlações são exploratórias.</a:t>
            </a:r>
            <a:endParaRPr lang="en-US" sz="1250" dirty="0"/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47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As correções desta rodada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777240" y="969264"/>
            <a:ext cx="97200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maioria apareceu num teste ou numa conferência de números.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777240" y="1426464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graphicFrame>
        <p:nvGraphicFramePr>
          <p:cNvPr id="4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1645920"/>
          <a:ext cx="10634472" cy="914400"/>
        </p:xfrm>
        <a:graphic>
          <a:graphicData uri="http://schemas.openxmlformats.org/drawingml/2006/table">
            <a:tbl>
              <a:tblPr/>
              <a:tblGrid>
                <a:gridCol w="4206240"/>
                <a:gridCol w="2926080"/>
                <a:gridCol w="3749040"/>
              </a:tblGrid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O que estava errado</a:t>
                      </a:r>
                      <a:endParaRPr lang="en-US" sz="11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Como foi pego</a:t>
                      </a:r>
                      <a:endParaRPr lang="en-US" sz="11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Correção</a:t>
                      </a:r>
                      <a:endParaRPr lang="en-US" sz="11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 tabela regional de água somava as duas parcelas sigilosas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teste automatizado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passou a usar o complemento; a massa suprimida virou coluna publicada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O deck trazia banheiro e apartamento de outro recorte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auditoria número a número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os números passaram a ser lidos das tabelas em tempo de build, com o recorte carimbado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"A premissa da demanda 2 não se confirma"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olhar a variável certa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 taxa de suspeita é 6× maior em setor pequeno; só o valor não depende do tamanho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GUIA e README diziam que o NB02 não importava o módulo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varredura da documentação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três afirmações obsoletas corrigidas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Ordenação instável na auditoria do analfabetismo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comparação byte a byte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desempate por nome; a tabela deixou de mudar a cada execução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Numeração de seções colidindo no GUIA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conferência após inserção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renumerado; quatro referências cruzadas corrigidas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777240" y="5120640"/>
            <a:ext cx="1063447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segunda linha é sobre esta apresentação: a primeira versão dela tinha números digitados à mão, e três vieram do recorte errado. Agora o gerador lê os CSVs — nenhum valor é digitado.</a:t>
            </a:r>
            <a:endParaRPr lang="en-US" sz="1300" dirty="0"/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48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As demandas de agosto, uma a uma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1024128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graphicFrame>
        <p:nvGraphicFramePr>
          <p:cNvPr id="4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1417320"/>
          <a:ext cx="10634472" cy="914400"/>
        </p:xfrm>
        <a:graphic>
          <a:graphicData uri="http://schemas.openxmlformats.org/drawingml/2006/table">
            <a:tbl>
              <a:tblPr/>
              <a:tblGrid>
                <a:gridCol w="548640"/>
                <a:gridCol w="4572000"/>
                <a:gridCol w="4663440"/>
                <a:gridCol w="1463040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#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Demanda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Onde está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Situação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Identificar todos os outliers de renda, com cidade, setor e se é favela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atualizada/renda_outliers_rastreados.csv — 3.357 setores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cumprida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1.1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Duas EDAs, com e sem os outliers, e a comparação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renda_eda_com_vs_sem · renda_correlacao_com_vs_sem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cumprida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Rastrear rendas exorbitantes em setores pequenos, à mostra na EDA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renda_setores_pequenos.csv · figura renda_tamanho_do_setor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cumprida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Boxplot ou histograma por cidade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figura renda_boxplot_por_cidade — 70 cidades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cumprida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Outliers de renda no Sudeste e Norte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renda_extremos_por_regiao.csv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cumprida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Relatório do IBGE sobre vilas e favelas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docs/ — 171 páginas + planilha por setor; validação de 100%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cumprida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Aceitar a limitação do analfabetismo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Relatório seção 14.1 · GUIA §6.2.6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cumprida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7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Focar nas pendências de renda e propor mais estudos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quatro estudos propostos; ver próximos passos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cumprida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8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 EDA central reunindo tudo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esta apresentação — 12 blocos de tabela e 6 figuras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cumprida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9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Ampliar a matriz de correlação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matriz 10×10 · NB02 célula step12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cumprida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10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Testar V00199 a V00201 e a proporção sem água encanada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NB02 seção 7h · três CSVs · GUIA §6.2.9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cumprida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11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Planejar a análise fatorial em Python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plano pronto; execução não iniciada por decisão sua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8C2F27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planejada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49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Por que estes números são confiáveis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777240" y="969264"/>
            <a:ext cx="97200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EDA inteira é reexecutável do zero, e o que ela afirma é verificado por teste.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777240" y="1426464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77240" y="1645920"/>
            <a:ext cx="2514600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77240" y="1719072"/>
            <a:ext cx="2514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63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777240" y="2304288"/>
            <a:ext cx="2514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testes automatizados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3474720" y="1645920"/>
            <a:ext cx="2514600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474720" y="1719072"/>
            <a:ext cx="2514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100%</a:t>
            </a:r>
            <a:endParaRPr lang="en-US" sz="3000" dirty="0"/>
          </a:p>
        </p:txBody>
      </p:sp>
      <p:sp>
        <p:nvSpPr>
          <p:cNvPr id="11" name="Text 9"/>
          <p:cNvSpPr/>
          <p:nvPr/>
        </p:nvSpPr>
        <p:spPr>
          <a:xfrm>
            <a:off x="3474720" y="2304288"/>
            <a:ext cx="2514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passando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6172200" y="1645920"/>
            <a:ext cx="2514600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172200" y="1719072"/>
            <a:ext cx="2514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61</a:t>
            </a:r>
            <a:endParaRPr lang="en-US" sz="3000" dirty="0"/>
          </a:p>
        </p:txBody>
      </p:sp>
      <p:sp>
        <p:nvSpPr>
          <p:cNvPr id="14" name="Text 12"/>
          <p:cNvSpPr/>
          <p:nvPr/>
        </p:nvSpPr>
        <p:spPr>
          <a:xfrm>
            <a:off x="6172200" y="2304288"/>
            <a:ext cx="2514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tabelas em eda/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8869680" y="1645920"/>
            <a:ext cx="2514600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869680" y="1719072"/>
            <a:ext cx="2514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</a:t>
            </a:r>
            <a:endParaRPr lang="en-US" sz="3000" dirty="0"/>
          </a:p>
        </p:txBody>
      </p:sp>
      <p:sp>
        <p:nvSpPr>
          <p:cNvPr id="17" name="Text 15"/>
          <p:cNvSpPr/>
          <p:nvPr/>
        </p:nvSpPr>
        <p:spPr>
          <a:xfrm>
            <a:off x="8869680" y="2304288"/>
            <a:ext cx="2514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CSVs sem código-fonte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777240" y="3383280"/>
            <a:ext cx="3840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Fórmulas testadas contra dados sintéticos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4800600" y="3383280"/>
            <a:ext cx="67482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Cada indicador é conferido com valores redondos calculáveis na mão — safe_div, denominador do analfabetismo, complemento da água, classificação de renda.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777240" y="4096512"/>
            <a:ext cx="3840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Artefatos conferidos contra os valores publicados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4800600" y="4096512"/>
            <a:ext cx="67482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Os testes leem os CSVs gerados e verificam contagens exatas: 109.032 setores, 70 municípios, 106.281 elegíveis, 104.108 urbanos, 19.507 de favela.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777240" y="4809744"/>
            <a:ext cx="3840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Refatorações provadas neutras antes de valer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4800600" y="4809744"/>
            <a:ext cx="67482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Ao fazer o Notebook 01 ler do módulo, a base nova foi comparada com a anterior: 67 colunas comuns, zero diferenças, mesmos 109.032 setores.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777240" y="5522976"/>
            <a:ext cx="3840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Este deck é gerado por script</a:t>
            </a:r>
            <a:endParaRPr lang="en-US" sz="1250" dirty="0"/>
          </a:p>
        </p:txBody>
      </p:sp>
      <p:sp>
        <p:nvSpPr>
          <p:cNvPr id="25" name="Text 23"/>
          <p:cNvSpPr/>
          <p:nvPr/>
        </p:nvSpPr>
        <p:spPr>
          <a:xfrm>
            <a:off x="4800600" y="5522976"/>
            <a:ext cx="67482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scripts/eda_central_dados.py lê as tabelas e emite o JSON; o gerador só formata. Nenhum número é digitado, e cada tabela carrega o recorte de origem.</a:t>
            </a:r>
            <a:endParaRPr lang="en-US" sz="1150" dirty="0"/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50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decisão dos pesos do índice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777240" y="969264"/>
            <a:ext cx="97200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Submetida a um conselho de cinco análises independentes, com revisão cega entre elas.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777240" y="1426464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77240" y="15727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Veredito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777240" y="1865376"/>
            <a:ext cx="10424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Adotar 60/40 da literatura, e tratar o peso como análise de sensibilidade — não como decisão central.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777240" y="2670048"/>
            <a:ext cx="10634472" cy="0"/>
          </a:xfrm>
          <a:prstGeom prst="line">
            <a:avLst/>
          </a:prstGeom>
          <a:noFill/>
          <a:ln w="15875">
            <a:solidFill>
              <a:srgbClr val="1A1A1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77240" y="2880360"/>
            <a:ext cx="34747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peso não é a alavanca.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 renda, cor/raça e analfabetismo colineares a 0,76–0,81, qualquer esquema razoável produz quase o mesmo ranking.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4617720" y="2880360"/>
            <a:ext cx="34747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fatorial esconde a decisão do lixo.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 correlações de 0,10 a 0,20, pct_lixo_inad carrega sozinho ou em lugar nenhum — e a escolha do que fazer volta a ser manual.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8458200" y="2880360"/>
            <a:ext cx="33832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Custo assimétrico de errar.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60/40 é citável e reversível. A fatorial exige imputar 15,9% de faltantes não aleatórios e defender tudo sozinho.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777240" y="4608576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77240" y="4663440"/>
            <a:ext cx="534924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a revisão acrescentou.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normalização min-max por município mexe mais no ranking do que qualquer peso — e ninguém testou. Debater 60/40 sobre uma escala arbitrária por município é otimizar o parâmetro errado.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6492240" y="4663440"/>
            <a:ext cx="534924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próximo passo que fecha a questão.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Calcular o IVS três vezes — 60/40, pesos iguais e 50/50 — e reportar a correlação de Spearman entre os rankings. Acima de 0,95, uma tabela responde a pergunta.</a:t>
            </a:r>
            <a:endParaRPr lang="en-US" sz="1250" dirty="0"/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1A1A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51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685800"/>
            <a:ext cx="1063447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vem agora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777240" y="1728216"/>
            <a:ext cx="402336" cy="402336"/>
          </a:xfrm>
          <a:prstGeom prst="ellipse">
            <a:avLst/>
          </a:prstGeom>
          <a:solidFill>
            <a:srgbClr val="56534C"/>
          </a:solidFill>
          <a:ln/>
        </p:spPr>
      </p:sp>
      <p:sp>
        <p:nvSpPr>
          <p:cNvPr id="5" name="Text 3"/>
          <p:cNvSpPr/>
          <p:nvPr/>
        </p:nvSpPr>
        <p:spPr>
          <a:xfrm>
            <a:off x="777240" y="1728216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1417320" y="169164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Notebook 03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4297680" y="1691640"/>
            <a:ext cx="72511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8D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Normalização min-max por município, com a renda invertida e transformada. É a decisão que o conselho apontou como dominante sobre o peso.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777240" y="2569464"/>
            <a:ext cx="402336" cy="402336"/>
          </a:xfrm>
          <a:prstGeom prst="ellipse">
            <a:avLst/>
          </a:prstGeom>
          <a:solidFill>
            <a:srgbClr val="56534C"/>
          </a:solidFill>
          <a:ln/>
        </p:spPr>
      </p:sp>
      <p:sp>
        <p:nvSpPr>
          <p:cNvPr id="9" name="Text 7"/>
          <p:cNvSpPr/>
          <p:nvPr/>
        </p:nvSpPr>
        <p:spPr>
          <a:xfrm>
            <a:off x="777240" y="2569464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1417320" y="2532888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Sensibilidade dos pesos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4297680" y="2532888"/>
            <a:ext cx="72511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8D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IVS calculado com 60/40, pesos iguais e 50/50; Spearman entre os rankings. Resultado publicável em uma tabela.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777240" y="3410712"/>
            <a:ext cx="402336" cy="402336"/>
          </a:xfrm>
          <a:prstGeom prst="ellipse">
            <a:avLst/>
          </a:prstGeom>
          <a:solidFill>
            <a:srgbClr val="56534C"/>
          </a:solidFill>
          <a:ln/>
        </p:spPr>
      </p:sp>
      <p:sp>
        <p:nvSpPr>
          <p:cNvPr id="13" name="Text 11"/>
          <p:cNvSpPr/>
          <p:nvPr/>
        </p:nvSpPr>
        <p:spPr>
          <a:xfrm>
            <a:off x="777240" y="3410712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1417320" y="3374136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Notebook 04 — fatorial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4297680" y="3374136"/>
            <a:ext cx="72511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8D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Plano pronto: transformar a renda, decidir os 16.552 setores sem analfabetismo, KMO e Bartlett, número de fatores, varimax. Execução aguardando decisão.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777240" y="4251960"/>
            <a:ext cx="402336" cy="402336"/>
          </a:xfrm>
          <a:prstGeom prst="ellipse">
            <a:avLst/>
          </a:prstGeom>
          <a:solidFill>
            <a:srgbClr val="56534C"/>
          </a:solidFill>
          <a:ln/>
        </p:spPr>
      </p:sp>
      <p:sp>
        <p:nvSpPr>
          <p:cNvPr id="17" name="Text 15"/>
          <p:cNvSpPr/>
          <p:nvPr/>
        </p:nvSpPr>
        <p:spPr>
          <a:xfrm>
            <a:off x="777240" y="4251960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417320" y="4215384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Estudos de renda propostos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4297680" y="4215384"/>
            <a:ext cx="72511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8D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Renda relativa à mediana municipal como indicador; desigualdade intraurbana por Gini ou p90/p10; renda × favela sistematizada.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777240" y="5093208"/>
            <a:ext cx="402336" cy="402336"/>
          </a:xfrm>
          <a:prstGeom prst="ellipse">
            <a:avLst/>
          </a:prstGeom>
          <a:solidFill>
            <a:srgbClr val="56534C"/>
          </a:solidFill>
          <a:ln/>
        </p:spPr>
      </p:sp>
      <p:sp>
        <p:nvSpPr>
          <p:cNvPr id="21" name="Text 19"/>
          <p:cNvSpPr/>
          <p:nvPr/>
        </p:nvSpPr>
        <p:spPr>
          <a:xfrm>
            <a:off x="777240" y="5093208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1417320" y="5056632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Redação das limitações</a:t>
            </a:r>
            <a:endParaRPr lang="en-US" sz="1350" dirty="0"/>
          </a:p>
        </p:txBody>
      </p:sp>
      <p:sp>
        <p:nvSpPr>
          <p:cNvPr id="23" name="Text 21"/>
          <p:cNvSpPr/>
          <p:nvPr/>
        </p:nvSpPr>
        <p:spPr>
          <a:xfrm>
            <a:off x="4297680" y="5056632"/>
            <a:ext cx="72511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8D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Falta escrever falácia ecológica, viés de sobrevivência e institucionalizados — que não saem pela classe COLETIVO, vazia na base, e sim porque entram em v0001 sem entrar em V00001. A do analfabetismo e a das favelas já estão prontas.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777240" y="6080760"/>
            <a:ext cx="1063447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9A19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Pedro Dias Soares  ·  Iniciação Científica  ·  Fiocruz Minas — Instituto René Rachou  ·  agosto de 2026</a:t>
            </a:r>
            <a:endParaRPr lang="en-US" sz="1150" dirty="0"/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2331720"/>
            <a:ext cx="1097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</a:t>
            </a:r>
            <a:endParaRPr lang="en-US" sz="5400" dirty="0"/>
          </a:p>
        </p:txBody>
      </p:sp>
      <p:sp>
        <p:nvSpPr>
          <p:cNvPr id="3" name="Text 1"/>
          <p:cNvSpPr/>
          <p:nvPr/>
        </p:nvSpPr>
        <p:spPr>
          <a:xfrm>
            <a:off x="1920240" y="2331720"/>
            <a:ext cx="94914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extremo de renda, por dentro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777240" y="3273552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920240" y="3401568"/>
            <a:ext cx="90342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demanda da orientação, levada até onde ela de fato morde: o município do setor.</a:t>
            </a:r>
            <a:endParaRPr lang="en-US" sz="1400" dirty="0"/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mesmo setor, dois efeitos de tamanhos diferentes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777240" y="969264"/>
            <a:ext cx="97200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agregado dos 70 municípios ele quase não aparece. Dentro do município dele, aparece muito.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777240" y="1426464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77240" y="1627632"/>
            <a:ext cx="106344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Tabela 1 — </a:t>
            </a:r>
            <a:pPr indent="0" marL="0">
              <a:buNone/>
            </a:pPr>
            <a:r>
              <a:rPr lang="en-US" sz="110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Efeito de excluir o setor 310620005650366, por recorte.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777240" y="1883664"/>
            <a:ext cx="10634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Fonte: banco_de_dados/eda/atualizada/extremo_bh_descritivas.csv · variação percentual ao retirar o setor.</a:t>
            </a:r>
            <a:endParaRPr lang="en-US" sz="95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2176272"/>
          <a:ext cx="10634472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2468880"/>
                <a:gridCol w="2651760"/>
                <a:gridCol w="2587752"/>
              </a:tblGrid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Medida</a:t>
                      </a:r>
                      <a:endParaRPr lang="en-US" sz="11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Belo Horizonte</a:t>
                      </a:r>
                      <a:endParaRPr lang="en-US" sz="11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70 municípios ELSI</a:t>
                      </a:r>
                      <a:endParaRPr lang="en-US" sz="11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quantas vezes maior em BH</a:t>
                      </a:r>
                      <a:endParaRPr lang="en-US" sz="11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Média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-0,69%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-0,04%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18×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Desvio-padrão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8C2F27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-14,34%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-0,77%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19×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Coef. de variação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8C2F27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-13,74%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-0,74%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19×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Máximo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-73,37%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-17,75%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—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Mediana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-0,07%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0,00%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—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777240" y="4873752"/>
            <a:ext cx="3657600" cy="0"/>
          </a:xfrm>
          <a:prstGeom prst="line">
            <a:avLst/>
          </a:prstGeom>
          <a:noFill/>
          <a:ln w="12700">
            <a:solidFill>
              <a:srgbClr val="8C2F27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77240" y="4946904"/>
            <a:ext cx="3657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R$ 170.418</a:t>
            </a:r>
            <a:endParaRPr lang="en-US" sz="3000" dirty="0"/>
          </a:p>
        </p:txBody>
      </p:sp>
      <p:sp>
        <p:nvSpPr>
          <p:cNvPr id="11" name="Text 8"/>
          <p:cNvSpPr/>
          <p:nvPr/>
        </p:nvSpPr>
        <p:spPr>
          <a:xfrm>
            <a:off x="777240" y="5532120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renda do setor, por responsável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4983480" y="4873752"/>
            <a:ext cx="3657600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4983480" y="4946904"/>
            <a:ext cx="3657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R$ 3.058</a:t>
            </a:r>
            <a:endParaRPr lang="en-US" sz="3000" dirty="0"/>
          </a:p>
        </p:txBody>
      </p:sp>
      <p:sp>
        <p:nvSpPr>
          <p:cNvPr id="14" name="Text 11"/>
          <p:cNvSpPr/>
          <p:nvPr/>
        </p:nvSpPr>
        <p:spPr>
          <a:xfrm>
            <a:off x="4983480" y="5532120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mediana de Belo Horizonte sem ele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9189720" y="4873752"/>
            <a:ext cx="2194560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9189720" y="4946904"/>
            <a:ext cx="2194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56×</a:t>
            </a:r>
            <a:endParaRPr lang="en-US" sz="3000" dirty="0"/>
          </a:p>
        </p:txBody>
      </p:sp>
      <p:sp>
        <p:nvSpPr>
          <p:cNvPr id="17" name="Text 14"/>
          <p:cNvSpPr/>
          <p:nvPr/>
        </p:nvSpPr>
        <p:spPr>
          <a:xfrm>
            <a:off x="9189720" y="5532120"/>
            <a:ext cx="2194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razão entre as duas</a:t>
            </a:r>
            <a:endParaRPr lang="en-US" sz="1050" dirty="0"/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consequência que ninguém tinha medido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777240" y="969264"/>
            <a:ext cx="97200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IVS normaliza a renda por min-max DENTRO de cada município. Um máximo distorcido comprime todo o resto.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777240" y="1426464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777240" y="1755648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77240" y="1810512"/>
            <a:ext cx="1063447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Por que isto importa mais do que a descritiva.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índice é intraurbano: cada variável é posta numa escala de 0 a 1 usando o mínimo e o máximo DAQUELE município. Se o máximo de Belo Horizonte é R$ 170 mil e o segundo maior é R$ 45.385,44, todos os outros 5 mil setores são empurrados contra o zero — e deixam de se distinguir entre si.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777240" y="3090672"/>
            <a:ext cx="3474720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77240" y="3163824"/>
            <a:ext cx="3474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0,0222</a:t>
            </a:r>
            <a:endParaRPr lang="en-US" sz="3000" dirty="0"/>
          </a:p>
        </p:txBody>
      </p:sp>
      <p:sp>
        <p:nvSpPr>
          <p:cNvPr id="10" name="Text 8"/>
          <p:cNvSpPr/>
          <p:nvPr/>
        </p:nvSpPr>
        <p:spPr>
          <a:xfrm>
            <a:off x="777240" y="3749040"/>
            <a:ext cx="3474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renda normalizada média em BH, COM o extremo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709160" y="3090672"/>
            <a:ext cx="3474720" cy="0"/>
          </a:xfrm>
          <a:prstGeom prst="line">
            <a:avLst/>
          </a:prstGeom>
          <a:noFill/>
          <a:ln w="12700">
            <a:solidFill>
              <a:srgbClr val="8C2F27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709160" y="3163824"/>
            <a:ext cx="3474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0,0846</a:t>
            </a:r>
            <a:endParaRPr lang="en-US" sz="3000" dirty="0"/>
          </a:p>
        </p:txBody>
      </p:sp>
      <p:sp>
        <p:nvSpPr>
          <p:cNvPr id="13" name="Text 11"/>
          <p:cNvSpPr/>
          <p:nvPr/>
        </p:nvSpPr>
        <p:spPr>
          <a:xfrm>
            <a:off x="4709160" y="3749040"/>
            <a:ext cx="3474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mesma, SEM o extremo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8641080" y="3090672"/>
            <a:ext cx="2743200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641080" y="3163824"/>
            <a:ext cx="2743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3,8×</a:t>
            </a:r>
            <a:endParaRPr lang="en-US" sz="3000" dirty="0"/>
          </a:p>
        </p:txBody>
      </p:sp>
      <p:sp>
        <p:nvSpPr>
          <p:cNvPr id="16" name="Text 14"/>
          <p:cNvSpPr/>
          <p:nvPr/>
        </p:nvSpPr>
        <p:spPr>
          <a:xfrm>
            <a:off x="8641080" y="3749040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quanto a escala se abre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777240" y="4325112"/>
            <a:ext cx="106344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Tabela 2 — </a:t>
            </a:r>
            <a:pPr indent="0" marL="0">
              <a:buNone/>
            </a:pPr>
            <a:r>
              <a:rPr lang="en-US" sz="110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Setores de Belo Horizonte comprimidos contra o zero.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777240" y="4581144"/>
            <a:ext cx="10634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Fonte: extremo_bh_normalizacao.csv · min-max municipal sobre 5.112 setores.</a:t>
            </a:r>
            <a:endParaRPr lang="en-US" sz="95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4873752"/>
          <a:ext cx="10634472" cy="914400"/>
        </p:xfrm>
        <a:graphic>
          <a:graphicData uri="http://schemas.openxmlformats.org/drawingml/2006/table">
            <a:tbl>
              <a:tblPr/>
              <a:tblGrid>
                <a:gridCol w="4389120"/>
                <a:gridCol w="2194560"/>
                <a:gridCol w="2194560"/>
                <a:gridCol w="1856232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Com o extremo</a:t>
                      </a:r>
                      <a:endParaRPr lang="en-US" sz="11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Sem o extremo</a:t>
                      </a:r>
                      <a:endParaRPr lang="en-US" sz="11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diferença</a:t>
                      </a:r>
                      <a:endParaRPr lang="en-US" sz="11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Setores abaixo de 0,05 na escala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4.514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2.605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8C2F27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1.909 setores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Amplitude usada na normalização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R$ 169.532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R$ 44.500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−74%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extremo e o que ele faz com a escala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777240" y="969264"/>
            <a:ext cx="97200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À esquerda, a renda de Belo Horizonte. À direita, o efeito na normalização municipal.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777240" y="1426464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pic>
        <p:nvPicPr>
          <p:cNvPr id="6" name="Image 0" descr="/Users/pedro/Documents/Iniciacao Cientifica/Projeto_IVS_Censo22/banco_de_dados/eda/atualizada/figuras/extremo_bh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1463040"/>
            <a:ext cx="10543032" cy="4123944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777240" y="5715000"/>
            <a:ext cx="106344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Figura 1 — </a:t>
            </a:r>
            <a:pPr indent="0" marL="0">
              <a:buNone/>
            </a:pPr>
            <a:r>
              <a:rPr lang="en-US" sz="105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renda por setor em Belo Horizonte e a escala normalizada, com e sem o extremo.  Fonte: eda/atualizada/figuras/extremo_bh.png · scripts/eda_extremo_belo_horizonte.py.</a:t>
            </a:r>
            <a:endParaRPr 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4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21</TotalTime>
  <Words>8569</Words>
  <Application>Microsoft Macintosh PowerPoint</Application>
  <PresentationFormat>Widescreen</PresentationFormat>
  <Paragraphs>768</Paragraphs>
  <Slides>43</Slides>
  <Notes>43</Notes>
  <HiddenSlides>0</HiddenSlides>
  <MMClips>0</MMClips>
  <ScaleCrop>false</ScaleCrop>
  <HeadingPairs>
    <vt:vector size="6" baseType="variant">
      <vt:variant>
        <vt:lpstr>Fontes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43</vt:i4>
      </vt:variant>
    </vt:vector>
  </HeadingPairs>
  <TitlesOfParts>
    <vt:vector size="47" baseType="lpstr">
      <vt:lpstr>Arial</vt:lpstr>
      <vt:lpstr>Cambria</vt:lpstr>
      <vt:lpstr>Courier New</vt:lpstr>
      <vt:lpstr>Office Theme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Análise fatorial e os pesos do IVS — Notebook 04</dc:title>
  <dc:subject>PptxGenJS Presentation</dc:subject>
  <dc:creator>Pedro Dias Soares</dc:creator>
  <cp:lastModifiedBy>Pedro Dias Soares</cp:lastModifiedBy>
  <cp:revision>2</cp:revision>
  <dcterms:created xsi:type="dcterms:W3CDTF">2026-09-17T12:36:58Z</dcterms:created>
  <dcterms:modified xsi:type="dcterms:W3CDTF">2026-09-17T13:15:01Z</dcterms:modified>
</cp:coreProperties>
</file>