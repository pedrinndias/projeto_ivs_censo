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Notebook 04, a última etapa central que faltava. O produto dele não é o IVS — é a estrutura e os pesos. O IVS final é o Notebook 05, depois da normalização por município. Vale abrir dizendo isso, para a expectativa ficar no lugar 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desta apresentação não é fechar as decisões. É que elas passam a ser tomadas com número, e o número diz que três delas importam menos do que parecia.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de conferência. Os números são os mesmos de agosto, e o notebook trava se não os reproduzir — é a garantia de que nada se perdeu na reimplementação.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por que o Bartlett aparece se não informa: porque é convenção da área e a ausência dele seria notada. O que muda é a frase que o acompanha — em vez de apresentá-lo como prova, ele vem com a ressalva do próprio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é a não-normalidade já documentada: assimetria de 3,42 na água e 3,74 na renda, curtose de 49,5 na renda. O livro não lista Spearman entre as correlações que discute — ele trata de escalas Likert, não de proporções infladas de zero. É preciso justificar uma escolha que a referência não contempla.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um dos três resultados que contrariaram o que os documentos do projeto afirmavam. Foi verificado antes de seguir: a origem do 0,811 está em banco_de_dados/eda/correlacao_spearman.csv, calculado par a par. O guia de leitura do livro da Enap precisa de correção nesse ponto.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decisão mais desconfortável do trabalho, e a que mais depende de julgamento. Vale ser explícito com a orientadora: o número de fatores não sai dos dados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Kaiser é o mais fraco aqui: a p. 29 registra que ele funciona melhor entre 20 e 50 variáveis, e com comunalidades acima de 0,7. Temos 6 variáveis e comunalidade mínima de 0,380. E a análise paralela de Horn, que é mais robusta, nem está no livro — está em nota de rodapé em Figueiredo. Vale dizer que estamos usando um critério melhor que o da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Apontar para o segundo ponto do painel da direita: ele fica logo ABAIXO da linha do acaso. É a imagem do problema do slide anterior. No painel da esquerda o segundo ponto passa por muito pouco, e o terceiro quase encosta.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evidência ficou mais forte do que era em agosto, e por um motivo técnico que vale explicar: ACP e análise fatorial contam variâncias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uma armadilha aqui: a regra mecânica de comunalidade do artigo de Figueiredo teria excluído a ÁGUA, não o lixo. A comunalidade não é propriedade da variável, é propriedade da solução. A ordem correta é diagnosticar a estrutura, remover o que é externo ao construto, e só então avaliar comunalidades.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vinha seguindo Figueiredo &amp; Silva (2010). O livro da Enap é posterior, mais rigoroso, e contradiz aquele artigo em três pontos que mudam o que o Notebook 04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rotação oblíqua produz uma coisa que a ortogonal não pode produzir por construção: a matriz de correlação entre os fatores. Φ = 0,52, positiva e moderada, é exatamente o que a teoria da vulnerabilidade prevê — territórios pobres têm pior saneamento. Isso vira um parágrafo de validação no artigo.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água tem SMC de 0,222: as outras cinco variáveis explicam só 22% da variabilidade dela. É nela que a diferença entre os métodos é maior. Nas de SMC alta — renda 0,735, cor/raça 0,648 — os dois métodos praticamente coincidem. Isso é confirmação de que a implementação está certa, não sinal de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este trabalho, a decisão sobre a razão de moradores estava pendente, entre manter por razão teórica e excluir pela regra. A p. 58 dá respaldo bibliográfico para manter, desde que se reporte carga e comunalidade juntas. Deixa de ser ousadia e vira domínio da bibliografia.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variável carrega acima de 0,40 em dois fatores — a estrutura simples do livro está atendida nas duas rotações. Fator 1 é socioeconômico: renda, analfabetismo, cor/raça e densidade. Fator 2 é saneamento: água e esgoto. É a estrutura do IVS-BH 2012, recuperada dos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 é o resultado. Os três slides seguintes respondem: quais são os pesos, são confiáveis, e o índice que sai deles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 favor dos pesos empíricos está na p. 71 do livro: os itens contribuem de maneira desigual para o fator, e quanto maior a carga maior a contribuição — o que não acontece nas técnicas mais simples de índice, que pressupõem contribuição igual. Pesos iguais dariam três votos à posição social, porque renda, cor/raça e analfabetismo medem em boa parte a mesma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bootstrap não está em nenhuma das duas referências; é extensão do projeto. Ele importa porque o livro acusa os índices por média ponderada de serem instáveis entre amostras. A resposta honesta não era discordar, era medir — e a instabilidade não se materializou.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previa Spearman acima de 0,97 aqui. Deu 0,924. Nenhum dos dois valores chega ao piso de 0,90 que obrigaria a adotar o escore refinado como índice oficial — então o índice 0–1 continua viável, mas com a ressalva declarada. Esta é a questão técnica mais aberta que sai do Notebook 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KMO, comunalidade e variância explicada dizem se as variáveis se organizam. Nenhuma delas diz se o índice acerta. Para isso é preciso um marcador externo — e o projeto tem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18.901 setores de FCU contra 68.644 demais, dentro do conjunto completo nas seis variáveis. Se a orientadora perguntar por que não são os 19.452 do recorte: a diferença são os setores de favela que caíram na exclusão por lista, quase toda por sigilo do analfabetismo.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deste bloco é mostrar o custo, não escolher. Se a orientadora preferir 60/40 pela comparabilidade com o IVS-BH, agora se sabe exatamente o que isso custa: 2.196 setores mudam de faixa. Antes, a escolha seria feita no escuro.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estas decisões não era papel do notebook. O papel dele era tirá-las do terreno da opinião.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condução: começar pela 2 e pela 5, que são as que têm evidência mais forte e menos custo político. A 4 é a mais delicada, porque os critérios estatísticos e a teoria apontam para lados diferentes. A 6 é a mais técnica e pode ficar para depois do Notebook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de dados faltantes merece destaque: o livro da Enap não discute dados faltantes em nenhuma das 74 páginas. Os exemplos dele são questionários com resposta completa. É lacuna da referência, não descuido do projeto, e o tratamento adequado exigirá literatura que ainda não temos.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lembrando que o produto aqui são os pesos, não o índice. E que a ordem entre o Notebook 03 e o 04 não é indiferente: foi medida, e fatorar sobre os indicadores brutos é a opção adotada.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fatorial dos sete componentes · Censo Demográfico 2022 · 70 municípios do ELSI-Brasil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estrutura latente dos dados diz sobre quanto cada indicador deve pesar no índice.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87.545 setores completos nas sete variáveis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estava em aberto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travavam o cálculo do índice, e nenhuma tinha número para sustentá-la.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4599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ela trava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existia antes deste trabalho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dos pesos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Notebooks 04 e 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argumento: renda, cor/raça e analfabetismo são colineares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Composição do índice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Uma ressalva: é a variável menos correlacionada com as demais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 03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constatação de que o sigilo não é aleatório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leitura do índice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teoria do IVS-BH 2012 dizia duas dimensões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702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25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quatro continuam sendo decisão da orientação — mas agora cada opção tem o seu custo medido em quantos setores mudam de faixa de risco.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aguenta a análise?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do planejamento, nos termos de Matos &amp; Rodrigues (2019), p. 39–46.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Etapa 1 do livro, conferida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critérios atendidos, dois deles com ressalva a declarar.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adequabilidade da base, sete componentes, correlação de Spearman.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banco_de_dados/eda/fatorial/resumo_adequabilidade.csv. Recorte: 87.545 setores completos.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834640"/>
                <a:gridCol w="2468880"/>
                <a:gridCol w="14904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 livro (p. 44)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Patamar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Tamanho da amostra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 100 e ≥ 5 por variável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 · 12.506 : 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 com folga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maioria acima de 0,30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0,50; ideal a partir de 0,70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por variável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mínimo 0,700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 &lt; 0,05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χ² = 235.084 · p &lt; 0,001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atendido, mas vazio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Bartlett não informa nesta escala.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p. 43 adverte que o teste "depende muito do tamanho amostral e tende a rejeitar a hipótese nula para amostras grandes". Com 87 mil setores ele rejeita por construção. A conclusão de adequabilidade se apoia no KMO e nos MSA, que não crescem com o 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escolha por Spearman é o que torna a análise defensável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Pearson, a mesma base reprovaria em dois critérios da Etapa 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setores, as duas correlações.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resumo_adequabilidade.csv. A escolha por Spearman foi decidida na §9 do relatório da EDA.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1828800"/>
                <a:gridCol w="386791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sobe dentro da faixa boa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sai da zona medíocre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Coeficientes |r| ≥ 0,30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Pearson, reprova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por Kaiser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solução mais parcimoniosa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Spearman cruza os 60%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preço.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uma matriz de Spearman é fazer análise de componentes principais sobre os POSTOS, não sobre os valores. As cargas se referem a posições relativas. Isso volta a aparecer, com consequência concreta, no slide dos escores.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Multicolinearidade: o número que circula é de outra matriz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A correlação citada nos documentos do projeto não é a da matriz que foi fatorada.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56232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× cor/raça na matriz FATORADA (listwise, 87.545 setores)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856232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par na EDA §9 (par a par, 104.108 setores)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458200" y="1856232"/>
            <a:ext cx="29260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58200" y="19293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58200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limiar de multicolinearidade (livro, p. 42)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números estão certos, e medem conjuntos diferentes.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 EDA é calculado par a par, cada coeficiente sobre os seus próprios casos completos. O da fatorial é listwise: só os setores completos nas sete variáveis entram. A diferença vai na mesma direção do viés do sigilo — a base listwise perde os setores de melhor situação, e isso comprime a associação entre renda e cor/raça.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 da matriz efetivamente fatorada cruza o limiar de 0,80. A objeção não desaparece — 0,784 continua alto e o bloco socioeconômico continua coeso —, mas o artigo precisa citar o número da matriz que foi fatorada, e dizer qual é qual.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critérios discordam — e o livro (p. 28–32) manda usá-los em conjunto justamente por isso.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Kaiser e Horn não sustentam o segundo fator sem o lixo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 sete variáveis, os dois critérios retêm dois. Retirado o lixo, retêm um.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observados contra os de dados aleatórios de mesmo tamanho.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nb04_autovalores.csv. Análise paralela de Horn (1965), 50 simulações, semente 42.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1645920"/>
                <a:gridCol w="2011680"/>
                <a:gridCol w="94183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(7 var.)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(6 var.)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3,2997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3,2391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 com 2 fatores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4531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5079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sustenta o segundo fator, então.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teórica. A p. 32 do livro admite explicitamente que a decisão final pode ser teórica, e que a pergunta certa é "teoricamente faz mais sentido essas variáveis estarem agrupadas em quantos fatores?". As duas dimensões vêm do IVS-BH 2012. Isso é uma escolha declarada, não um número escondido.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cotovelo, nas duas soluções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 observado contra o que dados sem estrutura nenhuma produziriam.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/figuras/nb04_scree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600200"/>
            <a:ext cx="9811512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978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 — observado contra o acaso.  Fonte: banco_de_dados/eda/fatorial/figuras/nb04_scree_horn.png, bloco 3 do Notebook 04.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do indicador de lixo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de agosto virou medida — e a análise fatorial propriamente dita a reforça.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tem variância comum com o construto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lhe dava um fator próprio. O eixo principal mostra que aquele fator é ruído dele mesmo.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0195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do lixo pela ACP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90195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348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pelo eixo principal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90195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9751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0,106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092440" y="25603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SMC — a menor das sete variáveis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355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10712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os dois números são tão diferentes.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põe 1 na diagonal da matriz e distribui TODA a variância de cada variável entre os componentes — inclusive a variância que é só daquela variável. A análise fatorial põe a comunalidade e conta apenas a variância COMPARTILHADA. O fator próprio que o lixo forma na ACP é, quase inteiro, variância específica.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para o índice.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o lixo com peso empírico é dar peso a uma dimensão que não é vulnerabilidade. Sem ele, a variância acumulada sobe de 62,1% para 70,0% com MENOS variáveis, e a água sai de comunalidade 0,253 para 0,822 — ela estava baixa porque o lixo havia sequestrado o segundo fator.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Enap discorda de Figueiredo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pontos, e nos três o livro dá razão ao que os dados já indicavam.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1 — a rotação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inverte o ônus da prova: ortogonal é o caminho que exige justificativa.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810512"/>
            <a:ext cx="9994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"usar rotação ortogonal com dados de Ciências Humanas e Sociais não parece ter nenhum sentido. Nessas áreas, as variáveis quase sempre são correlacionadas. [...] para usar rotação ortogonal, o pesquisador precisaria ter evidências teóricas ou empíricas muito fortes de que os fatores não são correlacionados."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044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38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6850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entre os dois fatores (Φ)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6850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do peso, rotação ortogonal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41080" y="368503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108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65,8 / 34,2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641080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rotação oblíqua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50932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1480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previa que a rotação oblíqua deslocasse os pesos NA DIREÇÃO dos 60/40 da literatura. Ela os deslocou meio ponto no sentido oposto. A convergência com o IVS-BH não depende da escolha de rotação — e isso é bom: significa que a decisão nº 5 não muda os pesos de forma relevante.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2 — a técnica de extração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de Stevens (1992) obriga a testar o que era pressuposto.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ACP e fatoração do eixo principal sobre a mesma matriz, seis componentes.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nb04_extracao_comparada.csv. A divergência se concentra nas variáveis de SMC baixa.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828800"/>
                <a:gridCol w="1828800"/>
                <a:gridCol w="15819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fator 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Eixo principal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194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das três condições de convergência falham.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(p. 27) diz que ACP e análise fatorial dão o mesmo com mais de 30 variáveis ou comunalidades acima de 0,60 na maioria; e que abaixo de 20 variáveis, com comunalidades abaixo de 0,4, podem divergir. São 6 variáveis e a comunalidade mínima é 0,380. Divergem — e divergem exatamente onde Stevens previu: nas variáveis que menos compartilham variância com as demais.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3 — a regra de comunalidade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0,50 não é corte rígido, e isso resolve um caso pendente.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810512"/>
            <a:ext cx="9994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 critério da comunalidade maior do que 0,5 não deve ser utilizado isoladamente e de maneira muito rígida."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496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58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da razão de moradores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7492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0,532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07492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dela no fator socioeconômico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3616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4165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fica no índice, e os dois números vão reportados juntos.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mantém, no seu próprio exemplo, um item com comunalidade abaixo do corte porque a carga fatorial é alta. É o caso aqui. A razão de moradores é a única sobrevivente do bloco de densidade habitacional, e retirá-la reduziria o índice a cinco componentes.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cargas, nas duas rotações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componentes, sem o indicador de lixo. A estrutura teórica aparece limpa.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/figuras/nb04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554480"/>
            <a:ext cx="8988552" cy="41970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3387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Cargas fatoriais — Varimax e promax.  Fonte: figuras/nb04_mapa_cargas.png, bloco 5 do Notebook 04.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produto deste notebook: quanto cada indicador pesa, e com que margem.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proporcional ao quadrado da carga, dentro e entre as dimensões.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dos seis componentes, solução Varimax de dois fatores.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nb04_sintese_pesos.csv. O peso da dimensão é a soma dos quadrados das cargas do fator sobre o total.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108960"/>
                <a:gridCol w="1737360"/>
                <a:gridCol w="15819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22,32%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21,21%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19,09%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empírica socioeconômica / saneamento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8920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920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/ 40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8920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 do IVS-BH 2012 (literatura)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068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06840" y="496519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 de diferença.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são estáveis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 reamostragens com reposição respondem com número à crítica de instabilidade da p. 23.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 de confiança de 95% de cada carga, por bootstrap.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nb04_bootstrap_cargas.csv. 1.000 reamostragens, semente 42, cada solução alinhada à da amostra completa.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  <a:gridCol w="2743200"/>
                <a:gridCol w="1307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no fator 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IC 95%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[0,082 ; 0,091]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[0,384 ; 0,400]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[0,519 ; 0,545]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[0,866 ; 0,871]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[0,913 ; 0,917]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[0,830 ; 0,835]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4937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469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[64,7 ; 65,3]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 95% da repartição socioeconômica — 0,59 ponto de amplitude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355080" y="487375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limita esta análise não é o n.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87 mil setores a incerteza amostral é desprezível. O que limita é o número pequeno de variáveis — e o livro, escrito para questionários com dezenas de itens, não trata desse problema.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e o escore refinado concordam menos que o previsto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E a forma como a concordância falha é mais informativa que o número.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5623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0,924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com o escore sobre POSTOS (coerente)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185623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escore sobre valores brutos (incoerente)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8562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9293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0,950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092440" y="2514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que validaria o índice 0–1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mais coerente o escore fica com o modelo, mais se afasta do índice.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0–1 é min-max de valores BRUTOS. O modelo fatorial foi estimado sobre POSTOS, porque a correlação é de Spearman. São dois objetos em escalas diferentes, e a diferença entre 0,924 e 0,945 é exatamente o tamanho dessa incoerência.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instabilidade.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bootstrap mediu a incerteza dos pesos em 0,59 ponto percentual. Mais reamostragem não resolve isto. As saídas são três, e as três são defensáveis: compor o índice sobre postos, estimar a fatorial sobre Pearson, ou declarar a divergência. O que não é defensável é escolher sem saber que se está escolhendo.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funciona?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nenhuma estatística interna à fatorial responde.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 os setores de favela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de critério com um marcador externo ao índice: CD_TIPO = 1, do próprio IBGE.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/figuras/nb04_roc_f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81328"/>
            <a:ext cx="41605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920240"/>
            <a:ext cx="27432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índice 0–1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778240" y="1920240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7824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77824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escore refinado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669280" y="3246120"/>
            <a:ext cx="58521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0" y="331927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0,405  contra  0,339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5669280" y="3904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do índice nos setores de FCU e nos demais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0" y="45171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0" y="4572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teste vale mais.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das seis variáveis do índice foi usada para classificar um setor como favela. A lista é oficial e já foi conferida setor a setor com 100% de concordância. O corte fixado no plano era 0,75.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3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Separação dos setores de Favela e Comunidade Urbana.  Fonte: figuras/nb04_roc_fcu.png, bloco 9 do Notebook 04.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cada escolha, em setores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métrica não é variância explicada. É quantos setores mudam de faixa de risco.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de classificação em quartis, contra a referência de dois fatores com pesos empíricos.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nb04_cenarios.csv e nb04_contingencia_*.csv.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2743200"/>
                <a:gridCol w="2011680"/>
                <a:gridCol w="9418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que mudam de 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dos 87.545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60/40 em vez de 65/35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analfabetismo (política do sigilo)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6.587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em vez de dois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7.668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1330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1879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nº 1 deixa de ser crítica.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os pesos empíricos pelos 60/40 da literatura move 2,5% dos setores de faixa, com correlação de 0,9993 entre as duas ordenações. É o menor custo dos três cenários — e isso é resultado publicável, não detalhe técnico.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vai para a orientação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decisões, cada uma com o custo medido. Nenhuma foi fechada aqui.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decisões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que cada opção custa.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657600"/>
                <a:gridCol w="6428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pesa de cada lado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empíricos ou 60/40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Convergem. Custo da troca: 2,5% dos setores mudam de 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Fora: variância sobe a 70,0% e a água recupera a comunalidade. Dentro: fidelidade literal ao IVS-BH 2012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Manter a variável custa 16.563 setores sem índice. Retirá-la move 7,5% de 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é o que Kaiser e Horn indicam e dispensa rotação. Dois preserva a estrutura do IVS-BH. Custo: 8,8%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 ou oblíqua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Oblíqua é a recomendada (p. 38) e produz Φ. Custo nos pesos: 0,8 ponto percentual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0–1 ou escore refinado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0–1 é interpretável e comparável. O refinado separa melhor as favelas (0,862 contra 0,813)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declarado como limitação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pontos. Quatro são do método, cinco são dos dados.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5788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ela morde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vazio nesta escala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adequabilidade se apoia no KMO e nos MSA (livro, p. 43)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sobre matriz de Spearman é ACP de postos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É a causa da divergência entre o índice e o escore refinado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 renda × cor/raça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 na matriz fatorada — abaixo do limiar, mas alto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Viés não aleatório do sigilo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16.563 setores perdidos, incidindo nos de melhor situação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espacial não tratada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fatorial pressupõe unidades independentes; setores vizinhos não 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Falácia ecológica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cargas descrevem territórios, não pessoas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Padronização min-max global e provisória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normalização por município é do Notebook 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 não entrou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análise usa renda_media, como os CSVs de agosto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Reflexivo ou formativo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Questão conceitual em aberto sobre a natureza do índice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depois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Notebook 04 entrega estrutura e pesos. O índice ainda não está calculado.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5623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min-max por município. A fatorial roda ANTES dela, e isso está medido: normalizar primeiro derruba o KMO de 0,783 para 0,720.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90779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05.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final, com os pesos desta apresentação, e a categorização em quatro faixas de risco.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95935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Geoprocessamento.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Mapas temáticos no QGIS, e o I de Moran dos escores — que dará a medida da dependência espacial que esta análise ignora.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50109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Artigo.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seção de método está escrita: cada decisão tem a página que a sustenta e o número que a mede.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580644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94360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Iniciação Científica  ·  Fiocruz Minas — Instituto René Rachou  ·  setembro de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fatorial e os pesos do IVS — Notebook 04</dc:title>
  <dc:subject>PptxGenJS Presentation</dc:subject>
  <dc:creator>Pedro Dias Soares</dc:creator>
  <cp:lastModifiedBy>Pedro Dias Soares</cp:lastModifiedBy>
  <cp:revision>1</cp:revision>
  <dcterms:created xsi:type="dcterms:W3CDTF">2026-09-17T12:09:52Z</dcterms:created>
  <dcterms:modified xsi:type="dcterms:W3CDTF">2026-09-17T12:09:52Z</dcterms:modified>
</cp:coreProperties>
</file>