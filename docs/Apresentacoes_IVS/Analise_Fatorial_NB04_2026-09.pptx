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99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01"/>
    <p:sldMasterId id="2147483649" r:id="rId106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2"/>
    <p:sldId id="351" r:id="rId103"/>
    <p:sldId id="352" r:id="rId104"/>
    <p:sldId id="353" r:id="rId105"/>
    <p:sldId id="354" r:id="rId107"/>
    <p:sldId id="355" r:id="rId108"/>
    <p:sldId id="356" r:id="rId109"/>
    <p:sldId id="357" r:id="rId110"/>
    <p:sldId id="358" r:id="rId111"/>
    <p:sldId id="359" r:id="rId112"/>
    <p:sldId id="360" r:id="rId113"/>
    <p:sldId id="361" r:id="rId114"/>
    <p:sldId id="362" r:id="rId115"/>
    <p:sldId id="363" r:id="rId116"/>
    <p:sldId id="364" r:id="rId117"/>
    <p:sldId id="365" r:id="rId118"/>
    <p:sldId id="366" r:id="rId119"/>
    <p:sldId id="367" r:id="rId120"/>
    <p:sldId id="368" r:id="rId121"/>
    <p:sldId id="369" r:id="rId1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Master" Target="slideMasters/slideMaster2.xml"/><Relationship Id="rId107" Type="http://schemas.openxmlformats.org/officeDocument/2006/relationships/slide" Target="slides/slide99.xml"/><Relationship Id="rId108" Type="http://schemas.openxmlformats.org/officeDocument/2006/relationships/slide" Target="slides/slide100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Relationship Id="rId117" Type="http://schemas.openxmlformats.org/officeDocument/2006/relationships/slide" Target="slides/slide109.xml"/><Relationship Id="rId118" Type="http://schemas.openxmlformats.org/officeDocument/2006/relationships/slide" Target="slides/slide110.xml"/><Relationship Id="rId119" Type="http://schemas.openxmlformats.org/officeDocument/2006/relationships/slide" Target="slides/slide111.xml"/><Relationship Id="rId120" Type="http://schemas.openxmlformats.org/officeDocument/2006/relationships/slide" Target="slides/slide112.xml"/><Relationship Id="rId121" Type="http://schemas.openxmlformats.org/officeDocument/2006/relationships/slide" Target="slides/slide113.xml"/><Relationship Id="rId122" Type="http://schemas.openxmlformats.org/officeDocument/2006/relationships/slide" Target="slides/slide1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análise é posterior à 2ª rodada da EDA. A 2ª rodada mediu o efeito do extremo no AGREGADO dos 70 municípios, onde ele é quase nulo. Faltava medir dentro de Belo Horizonte, que é onde o setor está — e faltava a consequência metodológica, que é a mais séria.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leitura é esta: o efeito de um único setor depende inteiramente do recorte em que se olha. Em 104.096 setores ele move a média em 0,04% e por isso a 2ª rodada concluiu, com razão, que o agregado é robusto. Mas dentro de Belo Horizonte ele derruba o desvio-padrão em 14% e o máximo em 73%. A mediana quase não se move nos dois casos, o que é a assinatura de um outlier: ele desloca média e dispersão, não 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da análise, e ele é metodológico, não descritivo. Um único dado provavelmente errado estava achatando a escala de renda de 1.909 setores de Belo Horizonte — que apareciam como se tivessem renda praticamente idêntica quando não têm. Como o IVS classifica território em quatro faixas, achatar a escala de 37% do município tem consequência direta sobre quem seria apontado como vulnerável. Vale dizer também o que NÃO muda: no ranking dos 70 municípios por renda média, Belo Horizonte continua em 7º e nenhum município troca de posição. O agregado é robusto; o intramunicipal não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painel da esquerda, o extremo nem cabe no quadro: o eixo vai até R$ 30 mil e ele está em R$ 170 mil. No da direita está o argumento inteiro — a distribuição vermelha, com o extremo, é um pico esmagado contra o zero; a verde, sem ele, se espalha e volta a distinguir os setores entre si. É a mesma cidade, medida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junta o que a Fase 2 rodou (scripts/fatorial_ampliada.py, a grade S0-S7 e as variantes) e o que o Notebook 04b registrou por escrito. Nenhum número aqui é novo: são os mesmos CSVs de banco_de_dados/eda/fatorial_ampliada/, lidos de novo para 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de conferência: onze itens, onze respostas, cada uma com o arquivo exato. Isto substitui qualquer resumo de memória — quem quiser conferir um número abre o CSV citado.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novas se correlacionam mais entre si (bloco inferior direito) do que com o IVS-7 original — esperado, já que medem a mesma dimensão de saneamento por outro ângulo. A exceção é moradia não convencional: comunalidade de 0,018 e correlação baixa com tudo, inclusive com as outras três novas — a variável mais fraca da grade, não excluída aqui (demanda 9 fica para a orientadora decidir).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renda sozinha bate o índice em AUC nos oito cenários — achado NB4-02, sem adjetivo, já registrado no 04b. O KMO sobe de 0,78 (S0) para 0,81 quando entram as quatro novas (S6); Kaiser e Horn discordam em S4 e S7 (kaiser_horn_discordam em cenarios.csv), e a solução usa sempre 2 fatores, como o prompt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rotação, as quatro novas já aparecem isoladas de analfabetismo/renda/cor-raça, no quadrante de cima. A Varimax e a promax só giram os eixos para alinhar essa separação com F1 e F2 — a nuvem de pontos não muda de posição relativa, só o sistema de referência. Conferido rótulo a rótulo e eixo a eixo antes deste slide: todos legíveis.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Testar o lixo (demanda 10) dá resultado ambíguo por desenho: forma fator próprio em S0 e S5, mas se dissolve nos outros cenários quando entram mais variáveis de saneamento. A sensibilidade por município (S0, S1, S6, em sensibilidade_municipios.csv) mostra que isso quase não depende de qual dos 70 é retirado.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único ponto da grade em que o índice bate a renda sozinha em AUC — e mesmo assim só em 2 dos 3 cenários (S1_postos_mun continua atrás). O outro eixo da robustez, tirar um município por vez sem mudar para posto percentil, quase não move o peso: a maior variação nas 70 rodadas de S1 e S6 juntas é pequena.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de método, nenhuma tomada por este executor — a regra do prompt (seção 0.2) é implementar o padrão que preserva as alternativas e registrar a pergunta, não escolher por ela. As quatro já estão na mensagem redigida na Fase 0 e no estado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junta o motor da Fase C (scripts/ivs_especificacoes.py, banco_de_dados/eda/ivs_especificacoes/*.csv) e o Notebook 05 (notebooks/Fase3_EDA_ELSI/05_Calculo_IVS_Final.ipynb). Nenhum número aqui é novo: são os mesmos CSVs, lidos de novo para 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Elegibilidade não é escolha: é a regra da seção 2.2 aplicada às 324 linhas de especificacoes.csv. Kaiser e Horn indicam 1 fator no IVS-6, mas o fator único reprova em toda a grade pela comunalidade — por isso a comparação de referência sempre usa 2 fatores.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escolha da renda quase não move o resultado agregado: a AUC contra FCU, dentro do município, é igual até a 4ª casa decimal nas três versões — a ordem entre elas no ranking de 96 especificações sai de diferenças menores que essa. O critério da seção 2.2 não resolve sozinho qual renda usar: a escolha continua sendo da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(a) da seção 2.2 (menor amplitude do peso de F1 ao tirar 1 município) empata trivialmente nos pesos fixos — amplitude zero por construção, não por robustez medida; é por isso que a leitura alternativa "estabilidade pelos pesos das variáveis" (referencia.csv) muda a proposta. Na base com mais variáveis (IVS-7 + V00495) a mesma amplitude sobe para 8,64–21,22 p.p. — mais variáveis, mais sensível a qual município sai. Fator único (sem rotação) nunca chega a este ponto: já caiu na comunalidade.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lixo em si não é o problema: IVS-6 (sem lixo) passa nas três versões de banheiro, e IVS-7 + V00495 (com lixo) também passa — quem reprova o IVS-7 puro é a comunalidade da água (0,2535), não o lixo. O banheiro graduado só reprova quando junto do lixo (IVS-7 + graduado, comunalidade 0,2986 — a 0,0014 do corte de 0,30); sozinho, com o IVS-6, ele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renda bate o índice em AUC no agregado e por município — mas dentro dos estratos de renda do próprio município (mesma faixa, municípios diferentes) o índice separa mais FCU que a renda. Limite: FCU já é critério do IBGE que usa condições de moradia, então há circularidade parcial com as variáveis de saneamento do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muda pouco de faixa em relação a outras leituras plausíveis do mesmo critério (10,2% a 10,4%) e muito mais em relação ao índice hoje em uso no NB04 (33,0%) — a maior parte da diferença vem de trocar renda, lixo e banheiro juntos, não de uma peça isolada.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de método, nenhuma tomada por este executor — a regra do prompt (seção 0.2) é calcular todas as alternativas e registrar a pergunta. A lista completa, com as herdadas do pedido original, está na seção 11 do Notebook 05 e no Relatorio_IVS_Final_NB05.md.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docs/metodologia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banco_de_dados/eda/atualizada/renda_outliers_rastreados.csv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atualizada/renda_outliers_rastreados.csv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de renda, por dentro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da orientação, levada até onde ela de fato morde: o município do setor.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setor, dois efeitos de tamanhos diferentes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agregado dos 70 municípios ele quase não aparece. Dentro do município dele, aparece muito.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excluir o setor 310620005650366, por recorte.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banco_de_dados/eda/atualizada/extremo_bh_descritivas.csv · variação percentual ao retirar o setor.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2651760"/>
                <a:gridCol w="25877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ELSI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vezes maior em BH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-14,34%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Coef. de variação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-13,74%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-73,37%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3657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do setor, por responsável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487375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R$ 3.058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98348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Belo Horizonte sem ele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4873752"/>
            <a:ext cx="21945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946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56×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89720" y="5532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entre as duas</a:t>
            </a:r>
            <a:endParaRPr lang="en-US" sz="10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que ninguém tinha medido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normaliza a renda por min-max DENTRO de cada município. Um máximo distorcido comprime todo o resto.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isto importa mais do que a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é intraurbano: cada variável é posta numa escala de 0 a 1 usando o mínimo e o máximo DAQUELE município. Se o máximo de Belo Horizonte é R$ 170 mil e o segundo maior é R$ 45.385,44, todos os outros 5 mil setores são empurrados contra o zero — e deixam de se distinguir entre 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9067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0,0222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normalizada média em BH, COM o extremo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090672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0,0846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SEM o extremo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41080" y="309067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641080" y="3749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a escala se abre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251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de Belo Horizonte comprimidos contra o zero.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811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extremo_bh_normalizacao.csv · min-max municipal sobre 5.112 setores.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73752"/>
          <a:ext cx="106344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194560"/>
                <a:gridCol w="2194560"/>
                <a:gridCol w="1856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abaixo de 0,05 na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4.514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1.909 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usada na normalização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R$ 169.532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R$ 44.500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e o que ele faz com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renda de Belo Horizonte. À direita, o efeito na normalização municipal.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extremo_b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43032" cy="4123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por setor em Belo Horizonte e a escala normalizada, com e sem o extremo.  Fonte: eda/atualizada/figuras/extremo_bh.png · scripts/eda_extremo_belo_horizonte.py.</a:t>
            </a:r>
            <a:endParaRPr lang="en-US" sz="10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ampliada, resultado por resultado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Onze demandas da orientadora, respondidas em cenários novos — sem escolher nada por ela.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onze demandas, uma por uma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aponta o cenário ou o arquivo onde a resposta está — nenhuma foi escolhida aqui.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7114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 a resposta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com a mediana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coluna renda_media_mediana_mun; sensibilidade em renda_imputacao_alternativas.csv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 de 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Quadro_Indicadores.csv / .xlsx / .md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sem e com 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cargas.csv e pesos.csv — sem rotação, Varimax e promax lado a lado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Útil × inútil na apresentação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MAPA_APRESENTACAO_FINAL.md; correções no deck e no guia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Comparar "não chega" com os outros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S2;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Juntar "sem banheiro"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S4; prova V00238 ≤ V00495 em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e sem banheiro na grade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S2, S3, S4 em cenarios.csv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de "tudo isso"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S6 e S7; postos no município em S6_postos_mun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S5 e S6; MSA, comunalidade e % de zeros em cargas.csv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o lixo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S1 e S7; lixo_fator_proprio_varimax e lixo_muda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as duas rotações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pesos.csv — Varimax e promax (padrão e estrutura) + Φ; figura fa_plano_s6.png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ampliada: como as quatro variáveis novas se encaixam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o IVS-7 e água não chega, sem canalização, sem banheiro e moradia não convencional.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correlacao_ampli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463040"/>
            <a:ext cx="9262872" cy="4059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6692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em S6 (n = 69.458).  Fonte: banco_de_dados/eda/fatorial_ampliada/correlacao_s6.csv · figuras/fa_correlacao_ampliada.png.</a:t>
            </a:r>
            <a:endParaRPr lang="en-US" sz="10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grade de cenários,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Ajuste, fatores e o que o índice ganha — ou perde — contra a renda sozinha em AUC.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371600"/>
                <a:gridCol w="1051560"/>
                <a:gridCol w="1920240"/>
                <a:gridCol w="1737360"/>
                <a:gridCol w="1691640"/>
                <a:gridCol w="1810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(Kaiser/Horn)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F1 Varimax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1/1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78.256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62,74%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87.512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0,8365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66,40%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0,8897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4/4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56,45%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56,63%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fatorial de S6 em três rotações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Mesmos dois fatores, três formas de olhar: sem rotação, Varimax e promax (matriz padrão).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plano_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11274552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quatro variáveis novas (vermelho) e as sete do IVS-7 (verde), em S6.  Fonte: figuras/fa_plano_s6.png · rótulo de cada eixo sai das cargas (achado NB4-08).</a:t>
            </a:r>
            <a:endParaRPr lang="en-US" sz="10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lixo: fator próprio ou dissolvido?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cenário — e quase não se move ao tirar um dos 70 municípios por vez.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forma fator próprio na Varimax, por cenário.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banco_de_dados/eda/fatorial_ampliada/cenarios.csv, coluna lixo_fator_proprio_varimax.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799832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 próprio?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(referência, reproduz o NB04)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chega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canalização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banheiro (V00495)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as quatro ("tudo isso")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82896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5604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0,6995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4126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MSA do lixo em S0 — o mínimo da grade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09160" y="4882896"/>
            <a:ext cx="38404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49560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70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709160" y="55412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rodadas em que tirar 1 município muda se o lixo tem fator próprio (S0)</a:t>
            </a:r>
            <a:endParaRPr lang="en-US" sz="10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municipal: postos dentro do município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valor bruto pelo posto percentil dentro do próprio município muda o resultado.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com cada variável em posto percentil dentro do próprio município.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validacao_fcu.csv, cenários S0_postos_mun, S1_postos_mun e S6_postos_mun.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  <a:gridCol w="2953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ganha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986784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0599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6451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cenários em que o índice supera a renda sozinha só com postos municipais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00600" y="3986784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0600" y="40599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±2,12 p.p.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800600" y="4645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variação do peso F1 (Varimax) ao tirar 1 dos 70 municípios, em S1 e S6</a:t>
            </a:r>
            <a:endParaRPr lang="en-US" sz="10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para a orientadora decidir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disso foi escolhido aqui — as alternativas estão lado a lado nos CSVs e no Notebook 04b.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727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2763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renda entra no índice final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original, sem o extremo de Belo Horizonte, ou imputada pela mediana municipal — as três rodadas de referência estão em S0_renda_* e S6_renda_*.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67919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rotação e qual repartição reportar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rotação, Varimax ou promax; e, na oblíqua, matriz padrão ou matriz estrutura — pesos.csv traz as quatro, sem apontar qual "aproxima" da literatura.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758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3075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graduada de "sem banheiro"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V00237 (só sanitário ou buraco) exige reextração do NB01; a V00495 usada na grade já é a junção com V00238.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a moradia não convencional na grade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variância baixa e comunalidade fraca (slide da matriz ampliada), mas mostrada e não excluída.</a:t>
            </a:r>
            <a:endParaRPr lang="en-US" sz="12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NB05: a especificação de referência do IVS final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 especificações testadas por critérios fixados antes de rodar — a orientadora escolhe, o motor mede.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grade: 324 especificações, 192 elegíveis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critérios fixados antes de rodar (seção 2.2) decidem quem entra na comparação.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24688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especificações — 3 rendas × 2 lixo × 3 banheiro × 9 pesos × 2 normalizações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1627632"/>
            <a:ext cx="24688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 de 324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elegíveis (96 por normalização): KMO, MSA e comunalidade acima do corte, 2 fatores interpretáveis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627632"/>
            <a:ext cx="24688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de 18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8076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 (renda×lixo×banheiro) com ao menos uma especificação elegível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32520" y="162763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32520" y="1700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0,774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732520" y="22860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em toda a grade — MSA sempre ≥ 0,643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27249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as demais ficam de fora.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29809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banco_de_dados/eda/ivs_especificacoes/especificacoes.csv.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27355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47472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 ou esquema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crítica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(água, esgoto, lixo, moradores, analfabetismo, renda, cor/raça)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0,2535 &lt; 0,30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0,2986 &lt; 0,30 (a 0,0014 do corte)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rotação (1 fator), as 36 bases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 por 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 0,0588 e 0,2530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as três versões, coladas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Original, sem o extremo de Belo Horizonte e mediana municipal — mesmo desenho, resultado quase idêntico.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especificação (sem lixo, banheiro graduado, promax, 60/40, normalização municipal) — só a renda muda.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especificacoes.csv, colunas auc_mun_comum e posto_medio.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039112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(amostra comum)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médio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38,67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principal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 de BH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municipal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986784"/>
            <a:ext cx="42062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0,0004 p.p.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6451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diferença entre a maior e a menor AUC municipal, nas três rendas (pontos percentuais)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3986784"/>
            <a:ext cx="42062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5780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24,5º / 43,0º / 48,5º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257800" y="46451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posto da leitura principal nos três critérios — estabilidade, AUC municipal, parcimônia</a:t>
            </a:r>
            <a:endParaRPr lang="en-US" sz="10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Rotação e pesos: o critério de estabilidade degenera nos pesos fixos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rotação nunca passa; entre Varimax e promax, quem decide é como o peso entre os dois fatores é medido.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007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de 96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elegíveis (normalização municipal) empatam no critério (a) — pesos fixos, amplitude zero por construção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6276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7007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de 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4340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8 primeiras posições da leitura principal usam o peso 60/40 da literatura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627632"/>
            <a:ext cx="350215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1700784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3,58–9,13 p.p.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909560" y="228600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amplitude do peso de F1 ao tirar 1 dos 70 municípios, métodos que dependem dos dados (IVS-6 sem banheiro)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28163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da leitura principal — fator 1 = 60,0%, fator 2 = 40,0% (peso 60/40 da literatura).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0723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pesos.csv.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364992"/>
          <a:ext cx="106344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2336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19,28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e banheiro: quatro bases elegíveis, duas não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reprova sozinho; o banheiro decide quem entra — fora, V00495 ou o graduado da Fase 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combinações de lixo × banheiro; elegível = alguma rotação/peso passa nos três cortes.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especificacoes.csv, agregado por renda·lixo·banheiro (renda original).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463040"/>
                <a:gridCol w="1947672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em alguma rotação?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(sem lixo) + 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+ 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+ 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(com lixo) + fora — índice do NB04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índice acrescenta à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sozinha separa mais no agregado; o índice separa mais dentro do estrato de renda do próprio município.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contra FCU, na leitura principal — índice, renda sozinha e média de postos, em três recortes.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acrescimo_renda.csv, linha da leitura principal (referencia=True).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46888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sozinha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de postos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Global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0,8585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municipal (31 municípios)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dos 270 estratos de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0,6855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5661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3525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−135,5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queda de deviance ao somar o índice à renda na logística (z = 17,5)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41148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435254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0,8900 → 0,8909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modelo logístico, só renda → renda + índice</a:t>
            </a:r>
            <a:endParaRPr lang="en-US" sz="10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referência proposta, e três leituras alternativas dos mesmos critérios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seção 2.2; muda só como medir "estabilidade" e qual amostra usar — muda a proposta.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especificação de melhor posto médio em cada leitura dos critérios (a), (b) e (c).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referencia.csv.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611112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Especificação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médio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principal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 · lixo_sem · banheiro_graduado · promax · 60_40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38,67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Amostra própria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 · lixo_sem · banheiro_v00495 · promax · 60_40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38,00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Estabilidade por pesos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sem_extremo · lixo_sem · banheiro_fora · promax · comunalidades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27,83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sem_extremo · lixo_sem · banheiro_fora · varimax · 60_40 ·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5902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6451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do NB04 (IVS-7 Varimax SS municipal)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0,851 com a proposta; muda de faixa (regra do IVS-BH) 33,0% dos setores.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51023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proposta, com normalização global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0,940 com a proposta; muda de faixa (regra do IVS-BH) 10,2% dos setores.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55595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IVS-6 Varimax SS municipal (sem lixo, sem banheiro)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0,995 com a proposta; muda de faixa (regra do IVS-BH) 10,4% dos setores.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para a orientadora decidir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foi escolhido aqui — as alternativas estão lado a lado no Notebook 05 e nos CSVs desta pasta.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727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2763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renda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(original, sem extremo, mediana municipal) empatam em AUC municipal até a 4ª casa (diferença real de 0,0004 p.p.) — a escolha é conceitual, não estatística.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7249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comunalidade 0,30 é rígido?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banheiro graduado com lixo fica a 0,0014 do corte (0,2986) — a regra da seção 2.2, como escrita, não abre exceção de fronteira.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67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2219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"estabilidade" no critério (a)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amplitude do peso de F1 (degenera nos pesos fixos, decide pela proposta com 60/40) ou pela amplitude dos pesos das variáveis (muda a proposta para promax·comunalidades).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91947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e faixas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municipal ou global — trocar muda de faixa 10,2% dos setores; a regra de faixas usada aqui é a do IVS-BH 2012, com quartis municipais como sensibilidade.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