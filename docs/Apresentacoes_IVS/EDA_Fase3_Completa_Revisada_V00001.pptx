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EXPLORATÓRIA DE DADOS  ·  FASE 3  ·  REVISÃO V00001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Índice de Vulnerabilidade à Saúde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intraurbano — Censo 2022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3429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municípios da amostra ELSI-Brasil  ·  unidade de análise: setor censitário  ·  base recalculada com denominador V00001 (padrão IVS-BH 2012)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43434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253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480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109.032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5212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extraídos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43434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253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4480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106.281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91840" y="5212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OK (97,5%)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43434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253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4480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080760" y="5212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· 22 UFs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69680" y="43434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253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4480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869680" y="5212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· 2 dimensões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Dias Soares  ·  Iniciação Científica  ·  Fiocruz Minas — IRR  ·  junho/2026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ESTE ESTUDO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Vulnerabilidade à saúde dentro das cidades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ecológico, ao nível do setor censitário — a menor unidade territorial do IBGE.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86400" cy="4114800"/>
          </a:xfrm>
          <a:prstGeom prst="roundRect">
            <a:avLst>
              <a:gd name="adj" fmla="val 1556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BUSCAMOS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um IVS intraurbano para os 70 municípios do ELSI-Brasil com dados do Censo 2022 — inexistente até hoje (estudos anteriores usaram o Censo 2010).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 desigualdades dentro de cada cidade (centro × periferia), não entre países ou estados.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EDA caracteriza a base e testa pressupostos antes da análise fatorial e do cálculo do índice.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 (H1): setores periféricos têm IVS mais alto que áreas centrais — padrão centro-periferia da literatura.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440680" cy="4114800"/>
          </a:xfrm>
          <a:prstGeom prst="roundRect">
            <a:avLst>
              <a:gd name="adj" fmla="val 1556"/>
            </a:avLst>
          </a:prstGeom>
          <a:solidFill>
            <a:srgbClr val="0E3A4F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874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DESENHO (PICOS)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37960" y="22402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08A3C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40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220370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censitários dos 70 municípios ELSI (Censo 2022)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37960" y="29169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08A3C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916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40880" y="2880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de saneamento e socioeconômicas por setor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3593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08A3C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593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355701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do IVS entre setores e entre municípios/regiões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7960" y="42702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08A3C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270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40880" y="42336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contínuo (0–1), depois categorizado em 4 faixas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494690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08A3C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4946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40880" y="4910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Ecológico, com dados agregados por setor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Referências: SMS-BH (2013) · Passarelli-Araujo (2023) · Caiaffa et al. (2021) · Buss &amp; Pellegrini Filho (2007)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pPr algn="l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Contexto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8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MUDANÇA CENTRAL DESTA VERSÃO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Denominador domiciliar: V01042 → V00001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32120" cy="4114800"/>
          </a:xfrm>
          <a:prstGeom prst="roundRect">
            <a:avLst>
              <a:gd name="adj" fmla="val 1556"/>
            </a:avLst>
          </a:prstGeom>
          <a:solidFill>
            <a:srgbClr val="12455C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TROCAMOS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983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V01042 (arquivo Parentesco) é uma contagem de PESSOAS responsáveis — não de domicílios. Usá-lo como denominador de proporções domiciliares é conceitualmente incorreto.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V00001 = Domicílios Particulares Permanentes Ocupados: é o equivalente no Censo 2022 do V002 (Dom_part_p) do Censo 2010, denominador-padrão do IVS-BH 2012.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da orientadora, consolidada em 22/05/2026.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394960" cy="4114800"/>
          </a:xfrm>
          <a:prstGeom prst="roundRect">
            <a:avLst>
              <a:gd name="adj" fmla="val 1556"/>
            </a:avLst>
          </a:prstGeom>
          <a:solidFill>
            <a:srgbClr val="12455C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PROVA EMPÍRICA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1488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proporções de saneamento &gt; 1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583680" y="28803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V00001, nenhuma proporção ultrapassa 1,0 (diagnostico_proporcoes_fora_intervalo.csv) — o numerador (classes de domicílio) particiona exatamente o total V00001.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V01042 surgiam proporções espúrias e a razão de moradores chegava a 0,17 (menos de 1 morador por 'domicílio') — fisicamente impossível.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confirma a escolha do IVS-BH, não apenas a corrige.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pPr algn="l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Revisão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MUDOU EM RELAÇÃO À VERSÃO ANTERIOR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Três correções metodológicas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uma altera números do relatório — todas ancoradas no padrão IVS-BH 2012.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51760" cy="310896"/>
          </a:xfrm>
          <a:prstGeom prst="roundRect">
            <a:avLst>
              <a:gd name="adj" fmla="val 47059"/>
            </a:avLst>
          </a:prstGeom>
          <a:solidFill>
            <a:srgbClr val="B5523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8308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ANTES  ·  V01042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1783080"/>
            <a:ext cx="2651760" cy="310896"/>
          </a:xfrm>
          <a:prstGeom prst="roundRect">
            <a:avLst>
              <a:gd name="adj" fmla="val 47059"/>
            </a:avLst>
          </a:prstGeom>
          <a:solidFill>
            <a:srgbClr val="3BA39B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78308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AGORA  ·  V00001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258568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Denominador de água/esgoto/lixo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478024"/>
            <a:ext cx="2651760" cy="329184"/>
          </a:xfrm>
          <a:prstGeom prst="roundRect">
            <a:avLst>
              <a:gd name="adj" fmla="val 19444"/>
            </a:avLst>
          </a:prstGeom>
          <a:solidFill>
            <a:srgbClr val="FBECE7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478024"/>
            <a:ext cx="2432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V01042 (responsáveis)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2478024"/>
            <a:ext cx="2651760" cy="329184"/>
          </a:xfrm>
          <a:prstGeom prst="roundRect">
            <a:avLst>
              <a:gd name="adj" fmla="val 19444"/>
            </a:avLst>
          </a:prstGeom>
          <a:solidFill>
            <a:srgbClr val="E8F4F1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2478024"/>
            <a:ext cx="2432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V00001 (domic. perm. ocupados)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990088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Taxa de analfabetismo (15+)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209544"/>
            <a:ext cx="2651760" cy="329184"/>
          </a:xfrm>
          <a:prstGeom prst="roundRect">
            <a:avLst>
              <a:gd name="adj" fmla="val 19444"/>
            </a:avLst>
          </a:prstGeom>
          <a:solidFill>
            <a:srgbClr val="FBECE7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209544"/>
            <a:ext cx="2432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V00901 / V00900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29000" y="3209544"/>
            <a:ext cx="2651760" cy="329184"/>
          </a:xfrm>
          <a:prstGeom prst="roundRect">
            <a:avLst>
              <a:gd name="adj" fmla="val 19444"/>
            </a:avLst>
          </a:prstGeom>
          <a:solidFill>
            <a:srgbClr val="E8F4F1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38728" y="3209544"/>
            <a:ext cx="2432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V00901 / (V00900 + V00901)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721608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Razão de moradores (densidade)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941064"/>
            <a:ext cx="2651760" cy="329184"/>
          </a:xfrm>
          <a:prstGeom prst="roundRect">
            <a:avLst>
              <a:gd name="adj" fmla="val 19444"/>
            </a:avLst>
          </a:prstGeom>
          <a:solidFill>
            <a:srgbClr val="FBECE7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3941064"/>
            <a:ext cx="2432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(V00005+V00006) / V01042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29000" y="3941064"/>
            <a:ext cx="2651760" cy="329184"/>
          </a:xfrm>
          <a:prstGeom prst="roundRect">
            <a:avLst>
              <a:gd name="adj" fmla="val 19444"/>
            </a:avLst>
          </a:prstGeom>
          <a:solidFill>
            <a:srgbClr val="E8F4F1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38728" y="3941064"/>
            <a:ext cx="2432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(V00005+V00006) / (V00001+V00002)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1783080"/>
            <a:ext cx="5349240" cy="4069080"/>
          </a:xfrm>
          <a:prstGeom prst="roundRect">
            <a:avLst>
              <a:gd name="adj" fmla="val 1573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1965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EFEITO NOS NÚMEROS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9400" y="233172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de moradores: mínimo 0,17 → 1,00 (piso fisicamente correto).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Analfabetismo: máximo 1,00 → 0,84; assimetria +4,69 → +2,98; curtose +44,1 → +17,7. A fórmula antiga gerava 10 setores com taxa &gt; 1 (máx 5,33).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Extremos de analfabetismo por município caem: Arara/PB 45% → 31,1%; Jaqueira/PE 33% → 24,9%.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29400" y="4343400"/>
            <a:ext cx="4846320" cy="1371600"/>
          </a:xfrm>
          <a:prstGeom prst="roundRect">
            <a:avLst>
              <a:gd name="adj" fmla="val 4667"/>
            </a:avLst>
          </a:prstGeom>
          <a:solidFill>
            <a:srgbClr val="EDF3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4434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Água, esgoto, lixo, renda e raça/cor quase NÃO mudaram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12280" y="480060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há ~1 responsável por domicílio, V01042 ≈ V00001 — por isso a maior parte das descritivas e TODAS as correlações se mantiveram. A revisão não desmonta a EDA: refina os dois pontos onde o denominador errado distorcia.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pPr algn="l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Mudanças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OPERACIONALIZAÇÃO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indicadores em 2 dimensões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Direção ↑ valor = ↑ vulnerabilidade em todas, exceto o rendimento (invertido no índice).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201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840480"/>
                <a:gridCol w="370332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Dimensão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Indicador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Numerador (Censo 2022)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Denominador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Saneamento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 inadequada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V00112 … V00118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Saneamento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Esgoto inadequado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V00312 … V00316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Saneamento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Lixo inadequado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V00398 … V00402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Socioeconôm.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 moradores (densidade)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V00005 + V00006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V00001 + V00002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Socioeconôm.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Analfabetismo (15+)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V00901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V00900 + V00901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Socioeconôm.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Rendimento médio (invertido)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V06004 (uso direto)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Socioeconôm.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Raça/cor — pretos, pardos, indígenas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V01318 + V01320 + V01321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074920"/>
            <a:ext cx="11201400" cy="1143000"/>
          </a:xfrm>
          <a:prstGeom prst="roundRect">
            <a:avLst>
              <a:gd name="adj" fmla="val 5600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166360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Adaptações ao Censo 2022:  </a:t>
            </a:r>
            <a:pPr indent="0" marL="0"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de instrução não saíram nos agregados → usa-se a taxa de analfabetismo; faixas de renda indisponíveis → rendimento médio (V06004) invertido; mortalidade cardiovascular sem causa no IBGE → buscar DATASUS/SIM no futuro. O V01042 segue extraído apenas para auditar setores 100% coletivos.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pPr algn="l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Variáveis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UNIVERSO E ELEGIBILIDADE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109 mil setores a 106 mil aptos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Dados_sig (padrão IVS-BH) aplicada antes de qualquer cálculo.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2F6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20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109.032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5786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dos 70 municípios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0128" y="17830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2F6F8"/>
          </a:solidFill>
          <a:ln w="19050">
            <a:solidFill>
              <a:srgbClr val="3BA3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0128" y="1920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106.281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47288" y="25786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— entram na análise (97,48%)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17336" y="17830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2F6F8"/>
          </a:solidFill>
          <a:ln w="19050">
            <a:solidFill>
              <a:srgbClr val="E08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17336" y="1920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8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2.751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54496" y="25786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SIGILOSO — v0001 ou V00001 sigilosos (2,52%)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24544" y="17830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2F6F8"/>
          </a:solidFill>
          <a:ln w="19050">
            <a:solidFill>
              <a:srgbClr val="5C6B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24544" y="1920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061704" y="25786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COLETIVO  ·  0  ZERADO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429000"/>
            <a:ext cx="5486400" cy="2423160"/>
          </a:xfrm>
          <a:prstGeom prst="roundRect">
            <a:avLst>
              <a:gd name="adj" fmla="val 2642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566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REGRAS Dados_sig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39319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SIGILOSO — v0001 ou V00001 sigilosos (NaN). [antes a regra citava também V01042]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COLETIVO — V00001 = 0 com população &gt; 0 (asilos, presídios).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ZERADO — v0001 = 0 (setor sem população).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— caso contrário; participa das análises.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429000"/>
            <a:ext cx="5440680" cy="2423160"/>
          </a:xfrm>
          <a:prstGeom prst="roundRect">
            <a:avLst>
              <a:gd name="adj" fmla="val 2642"/>
            </a:avLst>
          </a:prstGeom>
          <a:solidFill>
            <a:srgbClr val="0E3A4F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566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0 COLETIVO?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92240" y="39319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setor dos 70 municípios tem V00001 = 0 com população &gt; 0. Os setores tipicamente coletivos chegam com V00001 sigiloso e caem em SIGILOSO (avaliado antes). Item a confirmar com a orientadora: garantir que nenhum setor 100% coletivo entre como OK indevidamente.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pPr algn="l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Elegibilidade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TABELA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Descritivas globais dos 7 indicadores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OK dos 70 municípios. Valores das proporções em fração (0–1); renda em R$.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20140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1143000"/>
                <a:gridCol w="1097280"/>
                <a:gridCol w="1097280"/>
                <a:gridCol w="1005840"/>
                <a:gridCol w="1005840"/>
                <a:gridCol w="1005840"/>
                <a:gridCol w="1188720"/>
                <a:gridCol w="12344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Indicador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Média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Mediana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DP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P25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P75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Assim.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Curt.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 inadequada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+8,47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Esgoto inadequado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+6,54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Lixo inadequado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 moradores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Analfabetismo (15+)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+17,67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média (R$)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+49,94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Raça/cor (PPI)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892040"/>
            <a:ext cx="11201400" cy="1325880"/>
          </a:xfrm>
          <a:prstGeom prst="roundRect">
            <a:avLst>
              <a:gd name="adj" fmla="val 4828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983480"/>
            <a:ext cx="10789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ler: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5 proporções têm forte assimetria positiva e mediana = 0 (massa em zero) → no artigo, reportar mediana e IQR, não média e DP. </a:t>
            </a:r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mais assimétrica (média R$ 4.141 ≫ mediana R$ 2.546; curtose +49,9). </a:t>
            </a:r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Analfabetismo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B5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n menor (89.527) por sigilo (15,8%) e — após a correção — máximo 0,84 e curtose +17,7 (era +44,1). </a:t>
            </a:r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Raça/cor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única com assimetria negativa e bem distribuída em [0,1].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pPr algn="l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Tabela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DISTRIBUIÇÕES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 de cada variável (histogramas)</a:t>
            </a:r>
            <a:endParaRPr lang="en-US" sz="2700" dirty="0"/>
          </a:p>
        </p:txBody>
      </p:sp>
      <p:pic>
        <p:nvPicPr>
          <p:cNvPr id="4" name="Image 0" descr="D:/Iniciação Cientifica/Projeto_IVS_Censo22/.claude/worktrees/hopeful-mclean-e9914e/banco_de_dados/eda/figuras/histogram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720840" cy="44439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554480"/>
            <a:ext cx="4251960" cy="4526280"/>
          </a:xfrm>
          <a:prstGeom prst="roundRect">
            <a:avLst>
              <a:gd name="adj" fmla="val 1505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OS HISTOGRAMAS MOSTRAM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680960" y="2057400"/>
            <a:ext cx="3840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Água, esgoto e lixo são zero-infladas: a maioria dos setores tem 0% de inadequação, com uma cauda longa até 100% (os 'bolsões').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Coexistem dois regimes: a 'norma urbana' próxima de zero e os bolsões de precariedade próximos de um — daí CV &gt; 200%.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de moradores é a única aproximadamente simétrica (média ≈ mediana ≈ 2,7; piso em 1,0 após a correção).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tem cauda direita longuíssima (setores nobres das capitais).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Raça/cor (PPI) é espalhada por [0,1] — informativa em todo o intervalo.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pPr algn="l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Histogramas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DESIGUALDADE REGIONAL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Distribuições por região (boxplots)</a:t>
            </a:r>
            <a:endParaRPr lang="en-US" sz="2700" dirty="0"/>
          </a:p>
        </p:txBody>
      </p:sp>
      <p:pic>
        <p:nvPicPr>
          <p:cNvPr id="4" name="Image 0" descr="D:/Iniciação Cientifica/Projeto_IVS_Censo22/.claude/worktrees/hopeful-mclean-e9914e/banco_de_dados/eda/figuras/boxplots_por_regi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053328" cy="44165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554480"/>
            <a:ext cx="4937760" cy="4526280"/>
          </a:xfrm>
          <a:prstGeom prst="roundRect">
            <a:avLst>
              <a:gd name="adj" fmla="val 1414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9516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LEITURA POR REGIÃO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995160" y="205740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 concentra o pior saneamento: água inadequada com mediana ~20% e caixa deslocada para cima; também a maior densidade (mediana 3,2 moradores).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 e Sudeste têm medianas de saneamento coladas em zero — a inadequação aparece só como outliers (cauda).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cresce de forma clara Norte/Nordeste → Sul; raça/cor (PPI) faz o caminho inverso.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caixas curtas + muitos pontos acima confirmam a natureza zero-inflada (ver slide de outliers).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pPr algn="l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Boxplots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GRADIENTE REGIONAL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Saneamento inadequado — média por região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Médias (não medianas) para enxergar a intensidade dos bolsões.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65836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55448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Região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Água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Esgoto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Lixo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Nordeste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Centro-Oeste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Sudeste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1783080"/>
            <a:ext cx="4389120" cy="4160520"/>
          </a:xfrm>
          <a:prstGeom prst="roundRect">
            <a:avLst>
              <a:gd name="adj" fmla="val 1538"/>
            </a:avLst>
          </a:prstGeom>
          <a:solidFill>
            <a:srgbClr val="0E3A4F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4380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INTERPRETAÇÃO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543800" y="228600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de vulnerabilidade Norte → Sul é nítido em água e esgoto: a inadequação de água no Norte (35,6%) é ~10× a do Sul (3,5%).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Lixo é o componente mais uniforme entre regiões (11–16%) — sugere capturar uma dimensão distinta (cobertura municipal de coleta).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gradiente replica o padrão centro-periferia descrito por Passarelli-Araujo (2023) e justifica a abordagem intraurbana.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pPr algn="l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Gradiente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PERFIL REGIONAL COMPLETO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Medianas das 7 variáveis por região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Negrito = pior desempenho regional no indicador.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201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25880"/>
                <a:gridCol w="1325880"/>
                <a:gridCol w="1234440"/>
                <a:gridCol w="1280160"/>
                <a:gridCol w="1371600"/>
                <a:gridCol w="1463040"/>
                <a:gridCol w="13716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Região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Água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Esgoto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Lixo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Razão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Analfab.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Renda (R$)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PPI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5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5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5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5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Nordeste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5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5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Centro-Oeste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Sudeste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892040"/>
            <a:ext cx="11201400" cy="1325880"/>
          </a:xfrm>
          <a:prstGeom prst="roundRect">
            <a:avLst>
              <a:gd name="adj" fmla="val 4828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98348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 e Nordeste concentram a precariedade: Norte lidera água, esgoto e densidade; Nordeste tem a pior renda (R$ 1.693) e o pior analfabetismo (5,3%).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 é o oposto: melhor renda (R$ 3.686), saneamento ~nulo nas medianas, menor analfabetismo (1,7%) e PPI de 22,2% — contra 77,4% no Norte (gradiente de 55 p.p.).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pPr algn="l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Regional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HETEROGENEIDADE MUNICIPAL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extremos — onde a vulnerabilidade se concentra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Medianas por município (n entre 19 e 5.264 setores).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97480" cy="3840480"/>
          </a:xfrm>
          <a:prstGeom prst="roundRect">
            <a:avLst>
              <a:gd name="adj" fmla="val 2373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2697480" cy="54864"/>
          </a:xfrm>
          <a:prstGeom prst="rect">
            <a:avLst/>
          </a:prstGeom>
          <a:solidFill>
            <a:srgbClr val="B5523A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93852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55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PIOR SANEAMENTO (água)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67512" y="2560320"/>
            <a:ext cx="239572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Portel/PA — 99,0%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Placas/PA — 97,1%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Autazes/AM — 96,4%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Coroaci/MG — 95,7%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00984" y="1783080"/>
            <a:ext cx="2697480" cy="3840480"/>
          </a:xfrm>
          <a:prstGeom prst="roundRect">
            <a:avLst>
              <a:gd name="adj" fmla="val 2373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00984" y="1783080"/>
            <a:ext cx="2697480" cy="54864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11" name="Text 9"/>
          <p:cNvSpPr/>
          <p:nvPr/>
        </p:nvSpPr>
        <p:spPr>
          <a:xfrm>
            <a:off x="3465576" y="193852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8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MAIOR ANALFABETISMO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65576" y="2560320"/>
            <a:ext cx="239572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Arara/PB — 31,1%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Jaqueira/PE — 24,9%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 Preta/PE — 24,2%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R. Doca Bezerra/MA — 23,9%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99048" y="1783080"/>
            <a:ext cx="2697480" cy="3840480"/>
          </a:xfrm>
          <a:prstGeom prst="roundRect">
            <a:avLst>
              <a:gd name="adj" fmla="val 2373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9048" y="1783080"/>
            <a:ext cx="269748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93852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RENDA — EXTREMOS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63640" y="2560320"/>
            <a:ext cx="239572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Caetano do Sul/SP — R$ 5.292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Curitiba/PR — R$ 4.115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Portel/PA — R$ 1.022 (5,18× menor)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897112" y="1783080"/>
            <a:ext cx="2697480" cy="3840480"/>
          </a:xfrm>
          <a:prstGeom prst="roundRect">
            <a:avLst>
              <a:gd name="adj" fmla="val 2373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97112" y="1783080"/>
            <a:ext cx="2697480" cy="54864"/>
          </a:xfrm>
          <a:prstGeom prst="rect">
            <a:avLst/>
          </a:prstGeom>
          <a:solidFill>
            <a:srgbClr val="12536B"/>
          </a:solidFill>
          <a:ln/>
        </p:spPr>
      </p:sp>
      <p:sp>
        <p:nvSpPr>
          <p:cNvPr id="19" name="Text 17"/>
          <p:cNvSpPr/>
          <p:nvPr/>
        </p:nvSpPr>
        <p:spPr>
          <a:xfrm>
            <a:off x="9061704" y="193852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53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MAIOR % PRETOS/PARDOS/IND.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061704" y="2560320"/>
            <a:ext cx="239572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Autazes/AM — 92,9%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Salvador/BA — 88,9%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Rosário/MA — 88,1%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Portel/PA — 87,8%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5760720"/>
            <a:ext cx="11201400" cy="502920"/>
          </a:xfrm>
          <a:prstGeom prst="roundRect">
            <a:avLst>
              <a:gd name="adj" fmla="val 12727"/>
            </a:avLst>
          </a:prstGeom>
          <a:solidFill>
            <a:srgbClr val="FBECE7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77900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Salto/SP aparece no top-5 de lixo inadequado (96,4%) — atípico para o interior paulista; pode indicar erro de classificação categórica (ex.: 'caçamba de serviço' contada como inadequada). Validar no dicionário do IBGE.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pPr algn="l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Municípios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OUTLIERS (REGRA IQR)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20% de 'outliers' não são erros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fora de [Q1 − 1,5·IQR ; Q3 + 1,5·IQR].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5943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91640"/>
                <a:gridCol w="11430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Variável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 outliers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%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 inadequada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Esgoto inadequado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Lixo inadequado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média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Analfabetismo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 moradores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Raça/cor (PPI)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783080"/>
            <a:ext cx="5029200" cy="4160520"/>
          </a:xfrm>
          <a:prstGeom prst="roundRect">
            <a:avLst>
              <a:gd name="adj" fmla="val 1538"/>
            </a:avLst>
          </a:prstGeom>
          <a:solidFill>
            <a:srgbClr val="0E3A4F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372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LEITURA CRÍTICA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03720" y="228600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água/esgoto/lixo, P25 = mediana = 0; o IQR colapsa e qualquer valor moderado vira 'outlier'. É artefato da distribuição zero-inflada, não erro de dado.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'outliers' são justamente os bolsões de vulnerabilidade — o objeto do estudo. NÃO devem ser removidos (Tukey, 1977).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Recomendação: nessas variáveis, reportar o percentil 95 em vez da regra IQR (coluna iqr_nao_informativo em outliers.csv).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e razão: outliers reais (cauda de altíssima renda; possíveis setores coletivos) — preservar e inspecionar.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pPr algn="l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Outliers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DADOS FALTANTES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Sigilo concentrado no analfabetismo</a:t>
            </a:r>
            <a:endParaRPr lang="en-US" sz="2700" dirty="0"/>
          </a:p>
        </p:txBody>
      </p:sp>
      <p:pic>
        <p:nvPicPr>
          <p:cNvPr id="4" name="Image 0" descr="D:/Iniciação Cientifica/Projeto_IVS_Censo22/.claude/worktrees/hopeful-mclean-e9914e/banco_de_dados/eda/figuras/missing_por_municip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3456432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251960" y="1463040"/>
            <a:ext cx="7452360" cy="4526280"/>
          </a:xfrm>
          <a:prstGeom prst="roundRect">
            <a:avLst>
              <a:gd name="adj" fmla="val 1414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80560" y="162763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O MAPA DE CALOR REVELA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480560" y="2011680"/>
            <a:ext cx="7040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15,76% dos setores OK têm o analfabetismo (V00901) sigilado pelo IBGE; as outras 6 variáveis estão ~completas (cobertura ≥ 99,98%).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sigilo é sistemático, não aleatório: concentra-se nas grandes capitais — São Caetano do Sul 29,7%, Porto Alegre 27,5%, Curitiba 23,1%, BH 22,5%, Rio 20,0%, São Paulo 19,7%.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o IBGE suprime contagens muito pequenas; em setores urbanos centrais o número absoluto de analfabetos cai abaixo do limite.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municípios pequenos têm zero faltante em todas as variáveis (Arara, Portel, Água Preta, …).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480560" y="4526280"/>
            <a:ext cx="7040880" cy="1325880"/>
          </a:xfrm>
          <a:prstGeom prst="roundRect">
            <a:avLst>
              <a:gd name="adj" fmla="val 4828"/>
            </a:avLst>
          </a:prstGeom>
          <a:solidFill>
            <a:srgbClr val="FBECE7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4617720"/>
            <a:ext cx="6675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metodológico:  </a:t>
            </a:r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sigilo introduz viés contra grandes cidades. Excluir setores por listwise descartaria ~17 mil setores das capitais. Decisão atual: manter NaN (transparente), não imputar zero — imputar zero subestimaria o analfabetismo onde ele é baixo. Imputação por mediana municipal fica como opção para o índice final.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pPr algn="l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Missing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 DE ASSOCIAÇÃO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Matriz de correlação — Pearson e Spearman</a:t>
            </a:r>
            <a:endParaRPr lang="en-US" sz="2700" dirty="0"/>
          </a:p>
        </p:txBody>
      </p:sp>
      <p:pic>
        <p:nvPicPr>
          <p:cNvPr id="4" name="Image 0" descr="D:/Iniciação Cientifica/Projeto_IVS_Censo22/.claude/worktrees/hopeful-mclean-e9914e/banco_de_dados/eda/figuras/matriz_correl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7315200" cy="31455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600200"/>
            <a:ext cx="3703320" cy="4480560"/>
          </a:xfrm>
          <a:prstGeom prst="roundRect">
            <a:avLst>
              <a:gd name="adj" fmla="val 1728"/>
            </a:avLst>
          </a:prstGeom>
          <a:solidFill>
            <a:srgbClr val="0E3A4F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0" y="1737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PARES-CHAVE (SPEARMAN)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0" y="21031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−0,81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8116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× raça/cor (PPI)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0" y="257860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−0,75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281160" y="2578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analfabetismo × renda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0" y="3054096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+0,63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281160" y="30540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analfabetismo × raça/cor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229600" y="352958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+0,45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281160" y="35295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esgoto × analfabetismo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229600" y="400507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+0,45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281160" y="40050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 × esgoto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229600" y="448056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−0,04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281160" y="4480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lixo × razão (quase nula)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4983480"/>
            <a:ext cx="7315200" cy="1234440"/>
          </a:xfrm>
          <a:prstGeom prst="roundRect">
            <a:avLst>
              <a:gd name="adj" fmla="val 5185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5074920"/>
            <a:ext cx="6903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Spearman?  </a:t>
            </a:r>
            <a:pPr indent="0" marL="0"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variáveis são fortemente assimétricas (não-normais); a correlação de postos é mais robusta que Pearson para subsidiar a análise fatorial (Matos &amp; Rodrigues, 2019). As correlações ficaram idênticas às da versão V01042 — a revisão de denominador não alterou a estrutura de associação.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pPr algn="l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Correlações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 LATENTE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Dois fatores plausíveis para o IVS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de correlação antecipa a análise fatorial do próximo notebook.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86400" cy="2743200"/>
          </a:xfrm>
          <a:prstGeom prst="roundRect">
            <a:avLst>
              <a:gd name="adj" fmla="val 2333"/>
            </a:avLst>
          </a:prstGeom>
          <a:solidFill>
            <a:srgbClr val="EAF3F1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109728" cy="2743200"/>
          </a:xfrm>
          <a:prstGeom prst="rect">
            <a:avLst/>
          </a:prstGeom>
          <a:solidFill>
            <a:srgbClr val="3BA39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38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53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FATOR 1 — SOCIOECONÔMICO (dominante)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(invertida), analfabetismo, raça/cor (PPI) e razão de moradores.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Triângulo mais forte: renda × PPI (−0,81), renda × analfab (−0,75), analfab × PPI (+0,63).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 raça/cor como proxy de vulnerabilidade estrutural (Caiaffa, 2021; Buss &amp; Pellegrini, 2007).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440680" cy="2743200"/>
          </a:xfrm>
          <a:prstGeom prst="roundRect">
            <a:avLst>
              <a:gd name="adj" fmla="val 2333"/>
            </a:avLst>
          </a:prstGeom>
          <a:solidFill>
            <a:srgbClr val="EDF3F6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83080"/>
            <a:ext cx="109728" cy="2743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38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FATOR 2 — SANEAMENTO (secundário)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233172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Água, esgoto e lixo — bloco coerente, mas com correlações internas modestas (0,15–0,45).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Lixo é o componente mais autônomo (correlações &lt; 0,21): traz informação distinta.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esperado menor que o Fator 1 — coerente com a divisão ~60/40 do IVS-BH.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754880"/>
            <a:ext cx="11201400" cy="1417320"/>
          </a:xfrm>
          <a:prstGeom prst="roundRect">
            <a:avLst>
              <a:gd name="adj" fmla="val 4516"/>
            </a:avLst>
          </a:prstGeom>
          <a:solidFill>
            <a:srgbClr val="0E3A4F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864608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 </a:t>
            </a:r>
            <a:pPr indent="0" marL="0">
              <a:buNone/>
            </a:pPr>
            <a:r>
              <a:rPr lang="en-US" sz="120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a análise fatorial / ACP sobre a matriz de Spearman, verificando KMO e o teste de esfericidade de Bartlett antes da rotação; decidir entre 1 ou 2 fatores e extrair os pesos. Critério dos pesos a definir: empíricos (fatorial) ou guiados pela literatura (~60% socioeconômico / 40% saneamento, IVS-BH 2012).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pPr algn="l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Fatorial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RASTREABILIDADE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decisão ancorada na literatura</a:t>
            </a:r>
            <a:endParaRPr lang="en-US" sz="27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2014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983480"/>
                <a:gridCol w="25603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Decisão metodológica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Justificativa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Referência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Denominador V00001 (não V01042)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 ao V002 do Censo 2010, denominador-padrão de domicílios; valida-se empiricamente (0 proporções &gt; 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SMS-BH (2013)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analfabetismo /(V00900+V00901)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Denominador = total de pessoas 15+; mantém a taxa em [0,1]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Definição IBGE / Censo 2022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 e IQR (não média/DP)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Distribuições assimétricas e zero-infladas; média é puxada pelos bolsões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Tukey (1977)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Preservar outliers de saneamento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São os bolsões de vulnerabilidade — objeto do estudo, não ruído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Tukey (1977)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Correlação de Spearman p/ fatorial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Robusta à não-normalidade das variáveis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Matos &amp; Rodrigues (2019)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Normalização da renda por município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desigualdade intraurbana (centro-periferia); global comprime a variação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Passarelli-Araujo (2023)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Raça/cor como proxy de vulnerabilidade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Determinante social estrutural; correlação −0,81 com renda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Caiaffa (2021); Buss &amp; Pellegrini (2007)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Pesos ~60% socioec. / 40% saneamento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 de 2 dimensões herdada do índice de referência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SMS-BH (2013)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pPr algn="l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Literatura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LIMITAÇÕES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vigiar antes do índice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83080"/>
            <a:ext cx="91440" cy="128016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9019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Sigilo no analfabetismo (15,8%)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22402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do IBGE; concentra-se em grandes cidades → viés. Mitigar com mediana municipal.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783080"/>
            <a:ext cx="91440" cy="1280160"/>
          </a:xfrm>
          <a:prstGeom prst="rect">
            <a:avLst/>
          </a:prstGeom>
          <a:solidFill>
            <a:srgbClr val="B5523A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9019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Variáveis de esgoto a confirmar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28232" y="22402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V00312–V00316 (adotado) vs V00249–V00253: numerador pendente de validação no dicionário oficial.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20040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200400"/>
            <a:ext cx="91440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33192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Renda ainda em escala global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8952" y="36576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por município fica para o Notebook 03 (cálculo do índice).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320040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200400"/>
            <a:ext cx="91440" cy="128016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33192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Salto/SP atípico em lixo (96,4%)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28232" y="36576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Possível erro de classificação categórica — checar.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61772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617720"/>
            <a:ext cx="91440" cy="1280160"/>
          </a:xfrm>
          <a:prstGeom prst="rect">
            <a:avLst/>
          </a:prstGeom>
          <a:solidFill>
            <a:srgbClr val="5C6B73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" y="4736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Falácia ecológica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8952" y="50749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Inerente ao desenho; associações no nível do setor não valem para indivíduos. Declarar na discussão.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461772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4617720"/>
            <a:ext cx="91440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428232" y="4736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Regra COLETIVO inativa (0 setores)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28232" y="50749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que nenhum setor 100% coletivo entra como OK indevidamente.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pPr algn="l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Limitações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ROTEIRO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 EDA ao IVS final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2148840" cy="3291840"/>
          </a:xfrm>
          <a:prstGeom prst="roundRect">
            <a:avLst>
              <a:gd name="adj" fmla="val 2979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121408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1214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" y="2880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Padronização por município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7512" y="361188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min-max das 7 variáveis (renda invertida), por município — não global.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70632" y="1920240"/>
            <a:ext cx="2148840" cy="3291840"/>
          </a:xfrm>
          <a:prstGeom prst="roundRect">
            <a:avLst>
              <a:gd name="adj" fmla="val 2979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47872" y="2121408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21214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35224" y="2880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fatorial / ACP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35224" y="361188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Spearman; KMO + Bartlett; 1 ou 2 fatores; extrair os pesos.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38344" y="1920240"/>
            <a:ext cx="2148840" cy="3291840"/>
          </a:xfrm>
          <a:prstGeom prst="roundRect">
            <a:avLst>
              <a:gd name="adj" fmla="val 2979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15584" y="2121408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815584" y="21214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02936" y="2880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Cálculo do IVS + faixas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02936" y="361188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ponderada; categorizar em 4 faixas (Baixo/Médio/Elevado/Muito Elevado).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06056" y="1920240"/>
            <a:ext cx="2148840" cy="3291840"/>
          </a:xfrm>
          <a:prstGeom prst="roundRect">
            <a:avLst>
              <a:gd name="adj" fmla="val 2979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83296" y="2121408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083296" y="21214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70648" y="2880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Geoprocessamento (QGIS)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70648" y="361188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com a malha de setores; mapas temáticos por município.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73768" y="1920240"/>
            <a:ext cx="2148840" cy="3291840"/>
          </a:xfrm>
          <a:prstGeom prst="roundRect">
            <a:avLst>
              <a:gd name="adj" fmla="val 2979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51008" y="2121408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10351008" y="21214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738360" y="2880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Artigo científico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738360" y="361188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1 e Figura 1 já prontas; preencher resultados e discussão (STROBE).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55778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mensuráveis já entregues: filtro ELSI aplicado · base auditada · EDA completa e revisada (V00001). Próximo marco: Notebook 03.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pPr algn="l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Próximos passos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bibliográfica das decisões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111556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SMS-BH. Índice de Vulnerabilidade da Saúde 2012. Belo Horizonte: Secretaria Municipal de Saúde, 2013.</a:t>
            </a:r>
            <a:endParaRPr lang="en-US" sz="125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PASSARELLI-ARAUJO, H. Mapeando as disparidades socioeconômicas de saúde urbana: estudo comparativo entre seis capitais brasileiras. Rev. Bras. Est. Pop., v. 40, 2023.</a:t>
            </a:r>
            <a:endParaRPr lang="en-US" sz="125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CAIAFFA, W. T. et al. Saúde urbana, cidades e a interseção de sistemas. Rio de Janeiro: Fiocruz, 2021.</a:t>
            </a:r>
            <a:endParaRPr lang="en-US" sz="125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BUSS, P. M.; PELLEGRINI FILHO, A. A saúde e seus determinantes sociais. Physis, v. 17, n. 1, p. 77–93, 2007.</a:t>
            </a:r>
            <a:endParaRPr lang="en-US" sz="125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MATOS, D. A. S.; RODRIGUES, E. C. Análise fatorial. Brasília: Enap, 2019.</a:t>
            </a:r>
            <a:endParaRPr lang="en-US" sz="125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TUKEY, J. W. Exploratory Data Analysis. Reading: Addison-Wesley, 1977.</a:t>
            </a:r>
            <a:endParaRPr lang="en-US" sz="125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ALLIK, M. et al. Developing a small-area deprivation measure for Brazil. Glasgow: University of Glasgow, 2020.</a:t>
            </a:r>
            <a:endParaRPr lang="en-US" sz="125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IBGE. Censo Demográfico 2022 — Agregados por Setores Censitários. Rio de Janeiro: IBGE, 2022.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58521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internas: docs/Relatorio_EDA_Fase3_IVS_ELSI.md · banco_de_dados/eda/*.csv · banco_de_dados/entrega_orientadora/README.md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pPr algn="l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Referências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3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CONCLUSÃO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sólida, reprodutível e agora</a:t>
            </a:r>
            <a:endParaRPr lang="en-US" sz="3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metodologicamente correta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1253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926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válida e auditada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70332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106.281 setores OK dos 70 municípios ELSI; integridade verificada e testes passando.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0128" y="274320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1253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2926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Denominador corrigido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93008" y="370332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V00001 (padrão IVS-BH) substitui o V01042; validação empírica = 0 proporções &gt; 1.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17336" y="274320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1253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0216" y="2926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 para o índice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0216" y="370332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dimensões plausíveis (socioeconômica + saneamento); correlações sustentam a fatorial.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24544" y="274320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1253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07424" y="2926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Padrão centro-periferia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07424" y="370332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 Norte→Sul e contrastes intraurbanos confirmam a hipótese do estudo.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5532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marco: Notebook 03 — normalização por município → análise fatorial → IVS final.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Fase 3 — IVS Censo 2022 / ELSI</dc:title>
  <dc:subject>PptxGenJS Presentation</dc:subject>
  <dc:creator>Pedro Dias Soares</dc:creator>
  <cp:lastModifiedBy>Pedro Dias Soares</cp:lastModifiedBy>
  <cp:revision>1</cp:revision>
  <dcterms:created xsi:type="dcterms:W3CDTF">2026-06-12T17:10:09Z</dcterms:created>
  <dcterms:modified xsi:type="dcterms:W3CDTF">2026-06-12T17:10:09Z</dcterms:modified>
</cp:coreProperties>
</file>