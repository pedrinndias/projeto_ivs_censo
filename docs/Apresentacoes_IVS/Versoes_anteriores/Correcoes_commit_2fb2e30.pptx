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METODOLÓGICA  ·  COMMIT 2fb2e30  ·  22/05/2026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correções no cálculo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indicadores do IVS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Análises Descritivas  ·  Fase 3 (recorte ELSI-Brasil)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12365E"/>
          </a:solidFill>
          <a:ln w="15875">
            <a:solidFill>
              <a:srgbClr val="195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3803904"/>
            <a:ext cx="329184" cy="329184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8" name="Text 6"/>
          <p:cNvSpPr/>
          <p:nvPr/>
        </p:nvSpPr>
        <p:spPr>
          <a:xfrm>
            <a:off x="1481328" y="3675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Denominador domiciliar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 →  V00001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61188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12365E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3803904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3675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Taxa de analfabetismo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V00900  →  ÷ (V00900+V00901)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Iniciação Científica  ·  Fiocruz Minas — IRR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— em uma frase cada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26974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2697480"/>
          </a:xfrm>
          <a:prstGeom prst="rect">
            <a:avLst/>
          </a:prstGeom>
          <a:solidFill>
            <a:srgbClr val="19599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Denominador domiciliar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V01042  (contagem de pessoas)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V00001  (contagem de domicílios)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saneamento são % de domicílios — o denominador tem de contar domicílios.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77640" cy="26974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91440" cy="2697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de analfabetismo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83480" y="23957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 / V00900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 / (V00900 + V00901)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383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a dividir pelo total de pessoas 15+, não só pelas alfabetizadas.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0B244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159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commit: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02, os 11 CSVs e as 3 figuras da EDA e as bases da </a:t>
            </a:r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entrega_orientadora/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foram regenerados.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DOMICILIAR — O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Pessoas não são domicílios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indicadores de saneamento medem a fração de DOMICÍLIOS em condição inadequada. O numerador (água, esgoto e lixo) conta domicílios — logo o denominador também precisa contar domicílios.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77640" cy="2606040"/>
          </a:xfrm>
          <a:prstGeom prst="rect">
            <a:avLst/>
          </a:prstGeom>
          <a:solidFill>
            <a:srgbClr val="F2F6F9"/>
          </a:solidFill>
          <a:ln w="15875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3977640" cy="5029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V01042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Parentesco. Conta as pessoas responsáveis pelo domicílio.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Unidade: </a:t>
            </a:r>
            <a:pPr indent="0" marL="0">
              <a:buNone/>
            </a:pPr>
            <a:r>
              <a:rPr lang="en-US" sz="13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3977640" cy="2606040"/>
          </a:xfrm>
          <a:prstGeom prst="rect">
            <a:avLst/>
          </a:prstGeom>
          <a:solidFill>
            <a:srgbClr val="F2F6F9"/>
          </a:solidFill>
          <a:ln w="15875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57400"/>
            <a:ext cx="397764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V00001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Domicílios Particulares Permanentes Ocupados (DPPO).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3776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Unidade: </a:t>
            </a:r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2971800"/>
            <a:ext cx="731520" cy="7315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DOMICILIAR — EMBASAMENTO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razões para V00001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307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Coerência de unidade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Numerador (V00112…, V00312…, V00398…) conta domicílios. Dividir por V01042 (pessoas) mistura unidades e a proporção perde significado.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566928" cy="566928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Padrão IVS-BH 2012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24328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IVS de Belo Horizonte usa o V002 (Dom_part_p) do Censo 2010. O equivalente exato no Censo 2022 é o V00001 — preservando a comparabilidade metodológica.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566928" cy="566928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319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Decisão da orientadora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30168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de-para revisado (Relatorio_Metodologico_IVS_2022_Corrigido.xlsx) rejeita o V01042 e fixa o V00001 como denominador domiciliar padrão.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245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— razão de moradores: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denominador passou a (V00001 + V00002), reproduzindo a definição oficial do V0005 do IBGE (moradores ÷ domicílios particulares ocupados).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DOMICILIAR — IMPACTO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nos números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(V01042)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(V00001)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2219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BEBE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822192"/>
            <a:ext cx="7772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médias de saneamento quase não mudam — V01042 e V00001 são numericamente próximos por setor — mas a base conceitual fica correta.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visível está na razão de moradores: o mínimo de 0,17 (≈1 morador para 6 domicílios, impossível) era artefato do denominador errado e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desapareceu (mínimo agora 1,00).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— O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denominador errado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77640" cy="1143000"/>
          </a:xfrm>
          <a:prstGeom prst="rect">
            <a:avLst/>
          </a:prstGeom>
          <a:solidFill>
            <a:srgbClr val="F2F6F9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de 15+ anos que SABEM ler e escrever.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1143000"/>
          </a:xfrm>
          <a:prstGeom prst="rect">
            <a:avLst/>
          </a:prstGeom>
          <a:solidFill>
            <a:srgbClr val="F2F6F9"/>
          </a:solidFill>
          <a:ln w="15875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de 15+ anos que NÃO sabem ler e escrever.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77640" cy="1828800"/>
          </a:xfrm>
          <a:prstGeom prst="rect">
            <a:avLst/>
          </a:prstGeom>
          <a:solidFill>
            <a:srgbClr val="FBEB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ANTIGA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83080" y="3630168"/>
            <a:ext cx="1325880" cy="0"/>
          </a:xfrm>
          <a:prstGeom prst="line">
            <a:avLst/>
          </a:prstGeom>
          <a:noFill/>
          <a:ln w="25400">
            <a:solidFill>
              <a:srgbClr val="1E2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analfabetos ÷ alfabetizados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3977640" cy="1828800"/>
          </a:xfrm>
          <a:prstGeom prst="rect">
            <a:avLst/>
          </a:prstGeom>
          <a:solidFill>
            <a:srgbClr val="E9F5F2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834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CORRIGIDA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3630168"/>
            <a:ext cx="2423160" cy="0"/>
          </a:xfrm>
          <a:prstGeom prst="line">
            <a:avLst/>
          </a:prstGeom>
          <a:noFill/>
          <a:ln w="25400">
            <a:solidFill>
              <a:srgbClr val="1E2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657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V00900 + V00901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09160" y="4160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analfabetos ÷ total de pessoas 15+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06240" y="3246120"/>
            <a:ext cx="731520" cy="7315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— EMBASAMENTO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fórmula antiga não fecha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07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taxa vive em [0, 1]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proporção é parte ÷ todo, então tem de ficar entre 0 e 1. O denominador precisa ser a população exposta inteira.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população 15+ é V00900 + V00901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24328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pessoa de 15+ ou sabe ler (V00900) ou não sabe (V00901). O total — e o denominador correto — é a soma das duas.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566928" cy="56692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319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fórmula antiga era uma razão de chances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30168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por V00900 (só os alfabetizados) dá analfabetos ÷ alfabetizados — uma odds, não uma taxa. Quando há mais analfabetos que alfabetizados, o resultado passa de 1.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0B244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 no banco: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setores apresentavam “taxa” acima de 1 (máximo 5,33) — impossível para uma proporção.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— IMPACTO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→ Depois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90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trike="sngStrike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com valor impossível (&gt; 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90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trike="sngStrike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5,33</a:t>
            </a:r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máximo da taxa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90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trike="sngStrike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121%</a:t>
            </a:r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variação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044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trike="sngStrike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4,69</a:t>
            </a:r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2880360"/>
            <a:ext cx="265176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3044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trike="sngStrike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44,1</a:t>
            </a:r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337560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2880360"/>
            <a:ext cx="265176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3044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trike="sngStrike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0,042</a:t>
            </a:r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0,039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26480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9F5F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variável fica em [0, 1], menos enviesada e pronta para a padronização do IVS. (n = 89.527 setores com valor calculável.)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foi regenerado no mesmo commit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3977640" cy="411480"/>
          </a:xfrm>
          <a:prstGeom prst="rect">
            <a:avLst/>
          </a:prstGeom>
          <a:solidFill>
            <a:srgbClr val="1959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fórmulas e regras de elegibilidade reescritas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25880"/>
            <a:ext cx="3977640" cy="411480"/>
          </a:xfrm>
          <a:prstGeom prst="rect">
            <a:avLst/>
          </a:prstGeom>
          <a:solidFill>
            <a:srgbClr val="19599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25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da 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globais / por município / por região</a:t>
            </a:r>
            <a:endParaRPr lang="en-US" sz="12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(Pearson e Spearman) · outliers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3977640" cy="411480"/>
          </a:xfrm>
          <a:prstGeom prst="rect">
            <a:avLst/>
          </a:prstGeom>
          <a:solidFill>
            <a:srgbClr val="1959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e figuras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proporções fora de [0,1] · extremos de razão</a:t>
            </a:r>
            <a:endParaRPr lang="en-US" sz="12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figuras PNG (histogramas, boxplots, correlação)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3977640" cy="411480"/>
          </a:xfrm>
          <a:prstGeom prst="rect">
            <a:avLst/>
          </a:prstGeom>
          <a:solidFill>
            <a:srgbClr val="19599A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34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à orientadora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Base_ELSI_70Municipios (CSV + .db)</a:t>
            </a:r>
            <a:endParaRPr lang="en-US" sz="12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Base_BeloHorizonte (CSV + .db)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7083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24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arquivos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alterados em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2fb2e30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código e dados saem sempre sincronizados.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base metodológica está alinhada ao IVS-BH 2012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saneamento expressos na unidade correta (domicílios).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agora limitada a [0, 1], como toda proporção deve ser.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reproduzíveis e auditados — 15 de 16 testes sanity passam.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12365E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246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por município  →  análise fatorial / pesos  →  cálculo do IVS final e categorização em 4 faixas.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 documental: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GUIA_DO_PROJETO e os dois relatórios ainda citam o V01042 — falta sincronizá-los ao código.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Metodológica — Commit 2fb2e30</dc:title>
  <dc:subject>PptxGenJS Presentation</dc:subject>
  <dc:creator>Pedro Dias Soares</dc:creator>
  <cp:lastModifiedBy>Pedro Dias Soares</cp:lastModifiedBy>
  <cp:revision>1</cp:revision>
  <dcterms:created xsi:type="dcterms:W3CDTF">2026-05-28T22:24:20Z</dcterms:created>
  <dcterms:modified xsi:type="dcterms:W3CDTF">2026-05-28T22:24:20Z</dcterms:modified>
</cp:coreProperties>
</file>