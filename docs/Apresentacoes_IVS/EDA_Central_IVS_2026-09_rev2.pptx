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apresentação que reúne a EDA inteira. As anteriores eram recortes: cada deck foi montado em torno da pauta do mês, e o que não estava na pauta caía fora sem aviso.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recomputação foi validada: rodada com a coluna antiga, ela reproduz número a número as tabelas já publicadas. Só depois disso as tabelas novas foram aceitas.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das sete são fortemente assimétricas à direita, com massa concentrada no zero. A razão de moradores é a única aproximadamente simétrica.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global inverte esse retrato: marca 4,61% do Sudeste e só 1,32% do Norte. Dos 3.987 setores marcados pelo critério global, apenas 1.672 coincidem com o municipal.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Apartamento vai de 15,7% no Norte a 36,9% no Sul — é o indicador de morfologia pedido pela orientadora em julho. Cortiço e casa de cômodos concentram-se no Centro-Oeste.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Esgoto inadequado é 4,1 vezes maior em setor de favela; lixo, 2,9 vezes. A razão de moradores difere pouco (1,11), o que é coerente: adensamento domiciliar não é o eixo que separa favela do resto da 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população nacional calculada pela pipeline confere com o número oficial do Censo 2022: 203.080.756.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cinco revisões cegas escolheram independentemente a mesma resposta como a mais forte. A arbitragem final é da orientação.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INICIAÇÃO CIENTÍFICA · FIOCRUZ MINAS — IRR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Central — 2ª rodada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Vulnerabilidade da Saúde intraurbano · Censo Demográfico 2022 · 70 municípios do ELSI-Brasil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análise, recalculada com a renda sem o valor extremo de Belo Horizonte. As alterações estão marcadas.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 ·  setembro de 2026  ·  104.108 setores urbanos elegíveis  ·  renda sem o setor 310620005650366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esta apresentação existe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dos decks anteriores era a EDA inteira — cada um era um recorte dela.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1188720"/>
                <a:gridCol w="274320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 de análise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Tabelas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Junho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Agosto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Agora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caiu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caiu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 V00048–V00058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caiu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Inadequação de banheiro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na lista de variáveis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predominante · saneamento em faixas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Distribuições, outliers e faltantes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+ 3 figuras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parcial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Cobertura · favelas · envelhecimento · Brasil×ELSI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parcial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entrou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mantém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120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causa: nenhum script gerava os decks. A lista do que entra vivia na cabeça de quem montava — a mesma causa dos CSVs órfãos. Este deck é gerado por script, e os números são lidos das tabelas em tempo de build.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Levantamento feito arquivo por arquivo sobre os 7 .pptx versionados em docs/Apresentacoes_IVS/.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mudou nesta rodada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inteira foi recalculada. Um único valor saiu da base — e o efeito dele é mais estreito e mais fundo do que se esperava.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910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uma coluna de renda sem o valor extremo de Belo Horizonte. A coluna nova é `renda_media_sem_extremo`; a `renda_media` original continua na base, sem alteração, ao lado dela.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setor.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310620005650366 — Belo Horizonte, bairro Senhor dos Passos, R$ 170.418,06 por responsável. Maior valor da base, 55,7× a mediana do município, num setor de favela com 186 domicílios e 518 pessoas.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145536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alcance.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todas as células recalculadas, 45 mudaram, em 6 tabelas: correlacao_pearson, descritivas_globais, descritivas_por_regiao, favelas_fcu_comparativo_indicadores, missing_por_municipio, outliers. Nenhuma delas fora da renda e de suas correlações.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343400"/>
            <a:ext cx="237744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416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7240" y="5001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 excluído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4343400"/>
            <a:ext cx="23774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4416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104.108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9000" y="5001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4343400"/>
            <a:ext cx="23774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416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80760" y="5001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células alteradas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32520" y="4343400"/>
            <a:ext cx="265176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44165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−48%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732520" y="50017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curtose da renda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célula a célula em banco_de_dados/eda/atualizada/comparacao_antes_depois.csv, gerada por scripts/eda_atualizada.py.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renda, antes e depois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nível quase não se move. A forma da distribuição, sim.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renda, antes e depois da exclusão.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eda/descritivas_globais.csv × eda/atualizada/descritivas_globais.csv.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44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2560320"/>
                <a:gridCol w="23774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Estatística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Antes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Depois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Variação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4.187,41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4.150,66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4.118,57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-0,77%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170.418,06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-17,75%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-14,50%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Curtose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49,49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-48,16%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de setores com renda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 setor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617720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exclusão de 1 setor em 104.108 quase não move o nível e desmonta a cauda: a curtose cai quase pela metade.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7914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84632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média cai 0,04% e a mediana não muda — tirar um setor em 104 mil não desloca o centro. O que muda é a cauda: o desvio-padrão cai 0,8%, a assimetria 14,5% e a curtose 48,2%. Metade do peso da cauda da renda no recorte inteiro estava naquele único setor.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eda/descritivas_globais.csv (antes) × eda/atualizada/descritivas_globais.csv (depois).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correlações com a renda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ficam mais fortes — e Spearman não muda em casa nenhuma.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2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correlações de Pearson com a renda.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eda/atualizada/comparacao_antes_depois.csv.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44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194560"/>
                <a:gridCol w="2194560"/>
                <a:gridCol w="1828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 com a renda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Antes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Depois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Idosos 60+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10328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ficam mais fortes: o valor extremo achatava a associação linear. Spearman não muda em casa nenhuma — ele já era imune ao caso.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5628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61772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mede associação linear e é sensível a um ponto extremo: o setor de BH achatava toda a coluna da renda. A matriz de Spearman, que trabalha com postos, é idêntica antes e depois — o caso nunca a afetou. É o argumento empírico a favor de estatística robusta para a renda, já registrado como decisão em aberto.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16 células alteradas na matriz — os 8 pares acima, contados nos dois triângulos. Detalhe em eda/atualizada/comparacao_antes_depois.csv.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NÃO mudou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Tão importante quanto o que mudou: a exclusão não vazou para o resto da análise.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6035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 da EDA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Situação após o recálculo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Elegibilidade e recorte urbano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 — 106.281 elegíveis, 104.108 no recorte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Água, esgoto, lixo, razão de moradores, analfabetismo, cor/raça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idênticos em média, mediana, outliers e faltantes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Spearman (10 variáveis)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idêntica em todas as 100 células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— contagens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idênticas: 19.452 no recorte, 19.507 na base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Cobertura de saneamento, faixas de gravidade, morfologia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feminina, envelhecimento, habitação precária, banheiro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Canalização da água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75488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isso foi verificado.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por inspeção visual: o script recalcula as sete tabelas nas duas versões e compara célula a célula. As que não aparecem na lista de alterações têm diferença exatamente zero.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scripts/eda_atualizada.py — a mesma rotina valida que, com a coluna antiga, o recálculo reproduz a EDA publicada.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desenho do estudo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pergunta, a base e como a pipeline está estruturada.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e o objeto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vulnerabilidade à saúde se distribui DENTRO das cidades brasileiras onde vive a coorte do ELSI-Brasil, e o que essa distribuição revela sobre desigualdade intraurbana?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92240" y="164592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objeto: o setor censitário.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menor unidade territorial do Censo. O IVS é um índice INTRAURBANO — compara setores dentro da mesma cidade, não cidades entre si. É dessa escolha que decorrem o recorte urbano, a normalização por município e o desenho ecológico.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104.108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urbanos elegíveis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do ELSI-Brasil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7220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arquivos do Censo 2022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6968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na base bruta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48640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recorte reúne 61,4% de toda a população favelada do país — conferido contra o dado oficial do IBGE.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pipeline está estruturada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fonte de verdade para as fórmulas; os notebooks e os scripts leem dela.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55064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55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src/ivs_censo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1600200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Fórmulas, regra de elegibilidade, lista de variáveis por arquivo e classificação de renda. Nada é redigitado fora daqui.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496312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963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90472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44144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os 8 arquivos do Censo (2,4 GB), filtra os 70 municípios, une por CD_SETOR e audita a integridade. Base bruta: 109.032 setores.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337560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37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90472" y="32826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3282696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EDA: tipagem e sigilo, elegibilidade, recorte urbano, 7 componentes, blocos descritivos, figuras e matriz de correlação.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178808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8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90472" y="4123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4123944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nacional, tabelas de auditoria, auditoria de renda, extração dos dados deste deck e o gerador dele.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020056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20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90472" y="4965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tests/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496519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testes automatizados. Conferem fórmulas com dados sintéticos e os artefatos já gerados.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agosto de 2026 as fórmulas existiam em dois lugares e a lista de variáveis em três. Hoje é uma só, verificada por teste.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entra na análise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Sigilo, elegibilidade e o recorte urbano — as três decisões que definem a base.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universo do Censo aos setores analisados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corte é auditável e reversível: a base bruta guarda os 109.032 setores.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182880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sai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Universo do Censo 2022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inteiro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468.099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Filtro ELSI-Brasil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 municípios da coorte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fora da coorte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ZERADO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= 0 (massas d'água)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−1.736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população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SIGILOSO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ou V00001 suprimidos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−1.015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denominador calculável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COLETIVO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= 0 com população &gt; 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 vazia — ver limitações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(Dados_sig = OK)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 urbano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SITUACAO = Urbana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2.173 setores rurais elegíveis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6085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66344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exclusão rural, conferida município a município.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dos 70 municípios perdem mais de 10% dos setores e 7 ficam com menos de 10. Isso afeta a estabilidade das descritivas municipais e consta das limitações.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92240" y="46085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466344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Correção: massas d'água.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1.736 setores sem população apareciam como SIGILOSO porque o sigilo era testado antes da população zero. Ordem invertida — nenhum setor OK mudou.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do IVS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Fórmulas, distribuições, outliers e dados faltantes.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— fórmulas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Adaptadas do IVS-BH 2012 ao Censo 2022. Denominador domiciliar padrão: V00001.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228600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… V00118 (fonte alternativa)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pct_esgoto_inad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… V00316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pct_lixo_inad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… V00402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razao_moradores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pct_analfab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 (direto)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pct_raca_pretpardind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5262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Denominador consolidado.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V00001 substituiu V01042, que era contagem de PESSOAS. Nenhuma proporção estoura 1,0.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17720" y="44714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45262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corrigido.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taxa é V00901 / (V00900 + V00901). Antes era V00901/V00900, que é razão, não taxa.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58200" y="45262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não reprodutíveis.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Anos de estudo, faixas de renda e óbitos cardiovasculares não existem nos agregados. Substituídos por proxies declarados.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em números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 mediana lado a lado — a distância entre elas mede a assimetria.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3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em números.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descritivas_globais.csv.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44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1463040"/>
                <a:gridCol w="1463040"/>
                <a:gridCol w="1371600"/>
                <a:gridCol w="173736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4.835,82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3776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três das sete a mediana é zero: água, esgoto e lixo não têm inadequação medida na maioria dos setores urbanos. Os dois números que abrem as seções seguintes são o n do analfabetismo e a assimetria da renda.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por região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gradiente Norte–Sul aparece em seis das sete.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4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descritivas_por_regiao.csv.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91640"/>
                <a:gridCol w="1691640"/>
                <a:gridCol w="1691640"/>
                <a:gridCol w="1691640"/>
                <a:gridCol w="1691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2,771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2.880,50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3.008,45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4.944,55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4.488,14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4.842,18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57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entre setores: cada setor pesa igual, independentemente de quantos domicílios tem.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padrão esperado, confirmado.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no Norte é dezesseis vezes a do Sul; o esgoto, oito vezes. A razão de moradores acompanha: 3,19 no Norte contra 2,53 no Sul.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92240" y="56418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exceções que importam.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tem pico no Nordeste, não no Norte. E o lixo inadequado é MAIOR no Nordeste e no Sudeste que no Norte — indício de que mede porte urbano.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sete variáveis se distribuem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Histogramas sobre os setores urbanos elegíveis.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atualizada/figuras/histogram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296" y="1389888"/>
            <a:ext cx="745236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banco_de_dados/eda/figuras/histogramas.png — gerada pela célula step8 do Notebook 02.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por região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Boxplots das sete componentes, região a região.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atualizada/figuras/boxplots_por_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768" y="1389888"/>
            <a:ext cx="6757416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banco_de_dados/eda/figuras/boxplots_por_regiao.png — célula step9 do Notebook 02.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Outliers: a regra do IQR não serve para o saneamento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mediana e o primeiro quartil são zero, o IQR marca como atípico todo setor com qualquer inadequação.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5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pela regra do IQR.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outliers.csv.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737360"/>
                <a:gridCol w="1463040"/>
                <a:gridCol w="146304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Outliers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base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IQR serve?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21.532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20,68%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20.901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20,08%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19.124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18,37%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2,479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3,597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3,49%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1.752,475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4.835,825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9.460,850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10.468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10,06%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1091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superior = q3 + 1,5 × (q3 − q1), a regra de Tukey.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549554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550408"/>
            <a:ext cx="5349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IQR falha.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Água, esgoto e lixo têm cerca de 20% dos setores classificados como outlier. O que a regra está marcando é a forma da distribuição, não uma cauda de casos extremos.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92240" y="5550408"/>
            <a:ext cx="5349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IQR funciona.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moradores, analfabetismo, renda e cor/raça têm distribuições com dispersão real — ali a regra identifica extremos de verdade.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faltantes e o sigilo do IBGE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das sete componentes têm cobertura praticamente total. O problema está concentrado em uma.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figuras/missing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34290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54533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1600200"/>
            <a:ext cx="6812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que concentra o problema.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pct_analfab tem 15,9% dos setores sem dado — 16.552 no recorte urbano. As outras seis componentes ficam todas abaixo de 0,05% de ausentes, ou seja, cobertura praticamente total.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35570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3611880"/>
            <a:ext cx="6812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não é aleatório.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supressão de V00901 acontece onde há poucos analfabetos — ou seja, nos setores de melhor situação socioeconômica. A tabela seguinte mostra a dependência com o porte do setor, que é a prova do mecanismo.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banco_de_dados/eda/figuras/missing_por_municipio.png — célula step11 do Notebook 02.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depende do porte do setor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prova de que a supressão não é aleatória — e de que o viés tem direção conhecida.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6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do analfabetismo depende do porte do setor.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auditoria_analfabetismo_v00900_bins.csv.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21408"/>
          <a:ext cx="106344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286000"/>
                <a:gridCol w="27432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alfabetizadas no setor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V00901 sigilosa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sigilo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1-10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11-50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1.619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36,50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51-100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3.279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101-200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11.061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2.443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201-500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62.736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10.801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501-1000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27.013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1000+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7550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44,09% nos setores menores a 3,33% nos maiores — a supressão não é aleatória.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5715000"/>
            <a:ext cx="10634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permite afirmar.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setores excluídos são os de menor analfabetismo, a média observada é um TETO. E como o IBGE reporta os zeros, o valor suprimido é ≥ 1 — o que fecha o intervalo: a média verdadeira está entre 3,14% e 3,64%.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de associação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ampliada para dez variáveis, e o que ela decide.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— agora com dez variáveis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de agosto: idosos de 60+, menores de 5 anos e chefia feminina entram na matriz.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atualizada/figuras/matriz_correl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44752"/>
            <a:ext cx="1115568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preta separa as 7 componentes do IVS das 3 descritivas. Elas não entram no índice — estão na matriz para decidir se deveriam.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matriz decidiu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interessa: alguma das três descritivas merece entrar no índice?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182880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 descritiva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|r| com o IVS-7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|r|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pct_resp_feminino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−0,299 com renda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carrega eixo próprio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pct_crianca_0a4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−0,517 com renda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redundante com o que já existe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pct_idoso_60mais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−0,541 com cor/raça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redundante com o que já existe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33756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é a candidata.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|r| de 0,133 contra as sete componentes. Ela mede algo que nenhuma variável do índice captura — e é esse o argumento para promovê-la.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92240" y="32826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333756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Idosos e crianças são espelhos.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−0,722 entre si: são os dois lados da mesma estrutura etária. Colocar as duas no índice contaria a mesma coisa duas vezes.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502920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Renda, cor/raça e analfabetismo correlacionam-se entre si a −0,81, −0,76 e +0,63. Pesos iguais dariam três votos à mesma dimensão latente sem que isso fosse escolha deliberada.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sob auditoria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demandas de agosto convergem aqui, do caso isolado à decisão de escala.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caso que abriu o assunto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setor com renda média declarada de R$ 170.418,06 por responsável.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27632"/>
            <a:ext cx="5120640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190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CD_SETOR 310620005650366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48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R$ 170.418,06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77240" y="2871216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 Horizonte · bairro Senhor dos Passos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CD_TIPO = 1 — Favela e Comunidade Urbana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 domicílios · 518 pessoas · 31 analfabetos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041648"/>
            <a:ext cx="5120640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1300000">
            <a:off x="649224" y="2066544"/>
            <a:ext cx="3127248" cy="731520"/>
          </a:xfrm>
          <a:prstGeom prst="ellipse">
            <a:avLst/>
          </a:prstGeom>
          <a:ln w="19050">
            <a:solidFill>
              <a:srgbClr val="8C2F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776472" y="2432304"/>
            <a:ext cx="310896" cy="18288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368" y="21396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de 5,26 contra 0,78 —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média puxada por poucos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5910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64592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é renda alta.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R$ 170 mil × 186 domicílios daria R$ 31,7 milhões por mês circulando numa favela de 186 casas. O perfil do setor não sustenta esse valor.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30998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15468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próprio IBGE responde.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arquivo traz V06005, a variância. Aqui o CV é 5,26 contra mediana nacional de 0,78. Se fosse vírgula fora do lugar, o CV seria da ordem de 526 — a média está sendo puxada por poucas declarações.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banco_de_dados/eda/renda_outliers_rastreados.csv — 3.357 setores, um por linha, com identificação completa.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separamos erro de dado de renda alta de verdade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decisões de método fizeram a classificação funcionar.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 detecção é por município, não global.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IVS é intraurbano. R$ 20 mil é comum em São Paulo e anômalo em Autazes. Um corte global mede a distância ENTRE cidades, que não é o objeto.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164592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Extremo suspeito ≠ extremo alto.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levanta suspeita não é o valor, é a INCOERÊNCIA: setor no topo da renda local que também é favela, ou tem analfabetismo e proporção PPI acima da mediana do município.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520440"/>
          <a:ext cx="106344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554480"/>
                <a:gridCol w="237744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base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mediana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favela?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R$ 10.131,71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 de 65 (32%)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R$ 14.106,20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3.292 (0%)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100.751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96,78%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R$ 2.505,16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749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coluna da direita não valida a regra: ser favela É um dos testes de incoerência, então nenhuma favela pode cair em EXTREMO. O que a regra ainda não pega é erro em bairro rico — São Paulo, R$ 140.172,64, 45× a mediana local, sai como EXTREMO.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análises exploratórias, lado a lado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rodar com e sem os extremos e comparar. O resultado contraria a intuição.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201168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muda ao remover os 65 suspeitos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da renda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4.178,44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da renda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2.571,16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4.118,57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4.096,07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-1,94%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 renda × analfabetismo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-0,4236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-0,4282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renda × analfabetismo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-0,7567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6052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 quase não muda a estatística.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correlações se movem no máximo 0,0046; o Spearman fica praticamente imóvel. Se o argumento para excluir fosse o efeito na correlação, ele seria fraco.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0" y="416052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transformar muda dez vezes mais.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Passar a renda para log leva a correlação com analfabetismo de −0,42 para −0,59, e com cor/raça de −0,68 para −0,81. Dezessete vezes o efeito da exclusão.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exclusão importa de verdade: a escala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normalização min-max por município é o insumo do índice — e é ali que um valor ruim destrói tudo.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645920"/>
                <a:gridCol w="3108960"/>
                <a:gridCol w="146304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Comprimidos no 1º decil (com)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(sem)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Ganho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81,4%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67,1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94,9%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59,0%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35,9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2.004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92,7%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69,6%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2.357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94,0%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79,1%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224528"/>
            <a:ext cx="10634472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31596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Autazes é o caso didático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6817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setores, UM valor ruim, e 81% da cidade colapsa no primeiro decil da escala de renda — a variável deixa de discriminar dentro da cidade, que é exatamente o que o índice precisa que ela faça. 23 dos 63 municípios avaliados têm ao menos um suspeito.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alta está mesmo nos setores pequenos?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demanda supunha que sim. O valor não depende do tamanho; a suspeita depende.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atualizada/figuras/renda_tamanho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1444752"/>
            <a:ext cx="80010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8920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VALOR não depende do tamanho.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 entre nº de domicílios e renda: −0,031. O maior valor da base (R$ 140.172,64, São Paulo) está num setor de 78 domicílios, não num pequeno.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0" y="48920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a SUSPEITA depende, e muito.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0,265% de suspeitos nos setores até 50 domicílios contra 0,045% nos de 201–400: seis vezes mais. O coeficiente de variação cai de 1,11 para 0,90.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Sudeste e Norte: dois fenômenos com o mesmo rótulo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olhar os outliers de renda nessas duas regiões.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828800"/>
                <a:gridCol w="1920240"/>
                <a:gridCol w="1463040"/>
                <a:gridCol w="146304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 ÷ mediana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R$ 1.820,99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43,1×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7,03%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R$ 1.719,20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39,1×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6,29%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R$ 3.127,12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2,36%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R$ 2.730,59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51,3×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R$ 3.722,28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29768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Sudeste tem os extremos absolutos.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valor do país está lá: 51,3 vezes a mediana da própria região. Mas a taxa de suspeita é baixa — 0,042%.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92240" y="42428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429768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Norte tem 26 vezes a taxa do Sul.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 é a distribuição tão comprimida na base que qualquer setor de classe média já destoa, e não uma concentração maior de ricos. Assimetria 6,15, a maior do país.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da renda em cada uma das 70 cidades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boxplot ou histograma por cidade, para conferir os valores destoantes.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atualizada/figuras/renda_boxplot_por_ci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234440"/>
            <a:ext cx="224028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60020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painéis por região.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Setenta cidades num único boxplot passa do limite de categorias legíveis. Os painéis mantêm as cidades comparáveis dentro da região.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escala logarítmica.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assimetria 3,74, em escala linear 60 das 70 caixas colapsam contra a margem esquerda e nada se distingue.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51114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166360"/>
            <a:ext cx="2834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caixas neutras.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região já está codificada pelo painel. A única cor é o vermelho dos suspeitos.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09360" y="292608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65 setores suspeitos aparecem em vermelho, cidade a cidade. Belo Horizonte, Belém e Salvador concentram os casos mais graves. A figura em tamanho cheio está em banco_de_dados/eda/figuras/renda_boxplot_por_cidade.png.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Habitação, banheiro, chefia feminina, envelhecimento, morfologia e saneamento — fora do índice, dentro da análise.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descritivos, região a região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no mesmo recorte — o que a versão anterior deste deck não garantia.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7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descritivos,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habitacao_precaria · inadequacao_banheiro · resp_feminino · tipo_domicilio (por_regiao).</a:t>
            </a:r>
            <a:endParaRPr lang="en-US" sz="9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17320"/>
                <a:gridCol w="1417320"/>
                <a:gridCol w="160020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Domicílios improvisados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exclusivo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49,76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34,76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98,75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1091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entre setores, todas no mesmo recorte — o que a versão anterior deste deck não garantia.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549554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550408"/>
            <a:ext cx="3474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Precariedade tem geografias distintas.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 (0,65% no total) concentra-se no Centro-Oeste e no Sudeste — é metropolitana, não rural do Norte.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617720" y="5550408"/>
            <a:ext cx="3474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segue o padrão do saneamento.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exclusivo: 0,23% no total, e a pior situação é no Norte.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58200" y="5550408"/>
            <a:ext cx="3383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é maioria.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52,81% das chefias no recorte urbano, com pico no Nordeste.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e envelhecimento — os dois blocos que sumiram do deck anterior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Ambos existem como tabela desde junho.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8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 populacional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indicadores_envelhecimento_por_regiao.csv.</a:t>
            </a:r>
            <a:endParaRPr lang="en-US" sz="9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17320"/>
                <a:gridCol w="1417320"/>
                <a:gridCol w="160020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(milhões)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Menores de 15 anos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19,10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 anos ou mais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(IEP)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111,9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(RDI)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2569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IEP = 60+ ÷ menores de 15 × 100, conforme Galvão et al. (Hygeia, 2025).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IEP — índice de envelhecimento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1188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61188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RDI — razão de dependência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4652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16,65%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4652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anos ou mais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281160" y="4919472"/>
            <a:ext cx="23774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81160" y="49926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52,81%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9281160" y="5577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7240" y="640080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Correção registrada: o IEP usava só a faixa de 0 a 4 anos no denominador e dava 299. Com o denominador correto — menores de 15 anos, conforme Galvão et al. — dá 92,7.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espécie do domicílio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 urbana: o que NÃO é casa. Percentual sobre domicílios, não sobre setores.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9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espécie do domicílio.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morfologia_v00048_v00058_por_regiao.csv.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1234440"/>
                <a:gridCol w="1051560"/>
                <a:gridCol w="1051560"/>
                <a:gridCol w="1234440"/>
                <a:gridCol w="1051560"/>
                <a:gridCol w="1051560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3,958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6,597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3,831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3,794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22,554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31,227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36,915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Cortiço/casa de cômodos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Maloca indígena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permanente degradada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Tenda/barraca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Dentro de estabelecimento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Abrigo natural/outras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em logradouro público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não-residencial degradada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Veículo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596128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Percentual sobre domicílios (V00001 + V00002), não sobre setores.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Canalização da água — um eixo que o IVS não media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testar V00199 a V00201 e calcular a proporção sem água encanada.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10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Canalização da água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agua_canalizada_por_regiao.csv.</a:t>
            </a:r>
            <a:endParaRPr lang="en-US" sz="9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344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1920240"/>
                <a:gridCol w="1737360"/>
                <a:gridCol w="228600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Dentro de casa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no terreno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 chega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canalização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Suprimido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96,27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97,98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99,67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270248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agregada sobre domicílios. "Suprimido" é a parcela que o sigilo tira de V00200 e V00201.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4809744"/>
            <a:ext cx="53492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conceito diferente do que já estava no IVS.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pct_agua_inad (V00112–V00118) mede a FONTE: poço, nascente, carro-pipa, rio. A trinca nova mede a ENTREGA. Um domicílio com rede geral pode receber água só no terreno. Spearman entre os dois: 0,459.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92240" y="4809744"/>
            <a:ext cx="53492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partição fecha, e isso virou auditoria.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V00199 + V00200 + V00201 = V00001 em 100,00% dos 81.270 setores em que as três estão presentes. O teste roda a cada execução da suíte.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complemento que recupera 21,9% dos setores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quantidade medida por outro caminho, com um vigésimo dos ausentes.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82496"/>
            <a:ext cx="512064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9222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(V00200 + V00201) / V00001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311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21,9%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setores ficam sem valor. V00200 e V00201 são contagens pequenas — e é a contagem pequena que o IBGE suprime.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46520" y="1682496"/>
            <a:ext cx="5120640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9222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V00199 / V00001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2311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0,04%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46520" y="29992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V00199 é contagem grande — o IBGE quase nunca a sigila. Como a trinca fecha, o complemento devolve o mesmo valor.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1970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51960"/>
            <a:ext cx="10634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ressalva que precisa constar do artigo.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identidade só é VERIFICÁVEL onde as três variáveis estão presentes. Nos setores com V00200 ou V00201 sigilosos, aplicá-la é extrapolação — justificada porque a partição é definida pelo IBGE, mas é suposição, não medição. Registrada no GUIA §6.2.9 e coberta por teste.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integral de saneamento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em que NENHUM domicílio está na condição inadequada.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11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integral de saneamento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cobertura_por_regiao.csv.</a:t>
            </a:r>
            <a:endParaRPr lang="en-US" sz="9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344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463040"/>
                <a:gridCol w="1463040"/>
                <a:gridCol w="173736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Serviço 100% 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três juntos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014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em que NENHUM domicílio está na condição inadequada.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72,90%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100% adequada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7472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71,40%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47472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100% adequado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220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61,70%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17220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100% adequado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869680" y="4507992"/>
            <a:ext cx="251460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6968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41,60%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886968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juntos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7240" y="5989320"/>
            <a:ext cx="9811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41,60% dos setores têm os três serviços integralmente adequados. Contando a caçamba de serviço de limpeza como coleta, o lixo sobe de 61,70% para 91,50% — a diferença é o efeito da decisão metodológica sobre V00398.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Gravidade do saneamento em faixas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basta saber quantos setores têm inadequação: importa quanto.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12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Gravidade do saneamento em faixas.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saneamento_categorias_por_regiao.csv.</a:t>
            </a:r>
            <a:endParaRPr lang="en-US" sz="9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1335024"/>
                <a:gridCol w="1335024"/>
                <a:gridCol w="1335024"/>
                <a:gridCol w="1335024"/>
                <a:gridCol w="13350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Serviço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91032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965192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Norte, 30,8% dos setores têm metade ou mais dos domicílios com água inadequada — contra 11,8% em situação totalmente adequada. No Sul e no Centro-Oeste a distribuição se inverte por completo.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 oficial, a validação do critério e a comparação com o resto da cidade.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 oficial localizada e a validação do critério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conferir um relatório do IBGE sobre vilas e favelas do Censo 2022.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18488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IBGE. Censo Demográfico 2022: Favelas e Comunidades Urbanas — Resultados do universo. Rio de Janeiro, 2024. 171 p. Definição e os quatro critérios transcritos na seção 14.2 do relatório.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1618488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validação.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109.032 setores da base completa, 19.507 estão na lista oficial — e são exatamente os 19.507 com CD_TIPO = 1. Zero falso positivo, zero omissão. No recorte de análise são 19.452, 18,68% dos 104.108. O campo NM_FCU não serve de critério: diverge em 25 setores, nenhum deles na lista oficial.</a:t>
            </a:r>
            <a:endParaRPr lang="en-US" sz="12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063240"/>
          <a:ext cx="106344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926080"/>
                <a:gridCol w="228600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(IBGE 2024)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ELSI-70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Cobertura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12.348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com FCU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em FCU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16.390.815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10.069.994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Domicílios em FCU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6.556.998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3.443.687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8371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892040"/>
            <a:ext cx="10634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limitação que a fonte revelou — nota 7, página 75.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Além das 12.348 FCU classificadas, o IBGE identificou 2.298 FCU com 21 a 50 domicílios que NÃO receberam setor censitário próprio. Como nosso critério é CD_TIPO = 1, as favelas pequenas são invisíveis na base: a comparação favela × resto da cidade erra nos dois sentidos.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 e restante da cidade, indicador a indicador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vezes o valor médio no setor de favela supera o de fora.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4475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13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 e restante da cidade, indicador a indicador.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favelas_fcu_comparativo_indicadores.csv.</a:t>
            </a:r>
            <a:endParaRPr lang="en-US" sz="9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93392"/>
          <a:ext cx="106344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43000"/>
                <a:gridCol w="1234440"/>
                <a:gridCol w="1325880"/>
                <a:gridCol w="1234440"/>
                <a:gridCol w="1417320"/>
                <a:gridCol w="1508760"/>
                <a:gridCol w="1188720"/>
              </a:tblGrid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variavel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nao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nao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nao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 medias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1,773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pct_esgoto_inad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pct_lixo_inad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razao_moradores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2,917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2,637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pct_analfab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68652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1.600,946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1.515,320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4.779,659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3.067,015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pct_raca_pretpardind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1,534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pct_moradia_convencional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pct_apartamento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17139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77866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pct_pop_0a14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84410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1,379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pct_idoso_60mais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19369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84454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iep_setor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19334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55,159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83782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153,007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114,815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74700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médias abaixo de 1 significa valor MENOR em favela — é o caso da renda, do apartamento e do índice de envelhecimento.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ELSI comparada com o Brasil urbano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de base nacional: os mesmos indicadores sobre os 468 mil setores do país.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14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ELSI comparada com o Brasil urbano.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Brasil urbano × ELSI-70 urbano. Fonte: nacional/comparativo_brasil_vs_elsi.csv.</a:t>
            </a:r>
            <a:endParaRPr lang="en-US" sz="9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468880"/>
                <a:gridCol w="246888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urbano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ELSI-70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3.208,881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4.187,409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57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agregada: soma dos numeradores ÷ soma dos denominadores em cada recorte. ATENÇÃO: esta é a ÚNICA tabela do deck que usa a renda COM o extremo de BH (R$ 4.187,41, e não R$ 4.185,81). A linha de base nacional é calculada sobre os 468 mil setores do país, onde o setor também está — excluí-lo só do lado do ELSI quebraria a comparação. Aplicar a exclusão aos dois lados é decisão de método, ainda em aberto.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é menos vulnerável que o Brasil urbano.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seis dos sete indicadores o recorte ELSI está melhor. O esgoto é o contraste mais forte: 0,080 contra 0,155 — quase metade.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 rot="21300000">
            <a:off x="9326880" y="4169664"/>
            <a:ext cx="1371600" cy="329184"/>
          </a:xfrm>
          <a:prstGeom prst="ellipse">
            <a:avLst/>
          </a:prstGeom>
          <a:ln w="19050">
            <a:solidFill>
              <a:srgbClr val="8C2F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0698480" y="4334256"/>
            <a:ext cx="137160" cy="630936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83880" y="35935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única acima de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56418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exceção é o lixo, e ela é diagnóstica.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Única variável em que o ELSI está PIOR (razão 1,21). Reforça a hipótese de que o indicador captura porte urbano — a caçamba é mais comum em cidade grande.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processo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base não permite afirmar, o que foi corrigido e o que vem agora.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do analfabetismo — limitação aceita e quantificada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de agosto: aceitar a limitação, e ainda assim medir o tamanho dela.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6362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18488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incide nos setores RICOS.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supressão de V00901 acontece onde há poucos analfabetos — na melhor situação socioeconômica. Renda mediana de R$ 6.092,84 nos setores sem o dado, contra R$ 2.313,89 nos que têm. E 30,8% de população preta, parda ou indígena contra 60,6%.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1618488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isso a média observada é um TETO.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excluídos são os de menor analfabetismo, a média sobre os 87.556 setores com dado superestima a amostra completa. E como o IBGE reporta os zeros — 9.268 setores declaram V00901 = 0 — o valor suprimido é ≥ 1, o que fecha o intervalo pelo outro lado.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611880"/>
            <a:ext cx="320040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6850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16.552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4270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sem o dado (15,9%)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3611880"/>
            <a:ext cx="32004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36850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3,14% – 3,64%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43400" y="4270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a média verdadeira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09560" y="3611880"/>
            <a:ext cx="39319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36850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 p.p.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909560" y="4270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largura da faixa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Meio ponto percentual de largura — estreito o bastante para nenhuma conclusão do estudo depender de qual ponto se adote. Nenhuma imputação serve: preencher com zero achata o gradiente nas áreas menos vulneráveis; imputar pela mediana municipal transfere aos setores ricos o perfil dos pobres.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completa em docs/Relatorio_EDA_Fase3_IVS_ELSI.md, seção 14.1. Decisão registrada no GUIA §6.2.6.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limitações da análise exploratória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registradas na seção 14 do relatório da EDA.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6362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18488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Falácia ecológica.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medidas são agregadas por setor. Nada aqui autoriza inferência sobre indivíduos (Lima-Costa &amp; Barreto, 2003).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92240" y="156362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18488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Sigilo seletivo do analfabetismo.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15,9% dos setores sem o dado, concentrados nos setores ricos. Média verdadeira entre 3,14% e 3,64%.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99816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pequenas invisíveis.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2.298 FCU de 21 a 50 domicílios não receberam setor próprio. A comparação favela × cidade erra nos dois sentidos.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304495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099816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pequenos após o filtro urbano.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dos 70 perdem mais de 10% dos setores; 7 ficam com menos de 10.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581144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componentes não reprodutíveis.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Anos de estudo, faixas de renda e óbitos cardiovasculares não existem nos agregados por setor.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4581144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é descritiva.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inferência ou teste de hipótese foi conduzido. As correlações são exploratórias.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correções desta rodada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maioria apareceu num teste ou numa conferência de números.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926080"/>
                <a:gridCol w="3749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estava errado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foi pego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Correção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tabela regional de água somava as duas parcelas sigilosas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 automatizado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passou a usar o complemento; a massa suprimida virou coluna publicada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deck trazia banheiro e apartamento de outro recorte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auditoria número a número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números passaram a ser lidos das tabelas em tempo de build, com o recorte carimbado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"A premissa da demanda 2 não se confirma"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olhar a variável certa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taxa de suspeita é 6× maior em setor pequeno; só o valor não depende do tamanho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GUIA e README diziam que o NB02 não importava o módulo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varredura da documentação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três afirmações obsoletas corrigidas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Ordenação instável na auditoria do analfabetismo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byte a byte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desempate por nome; a tabela deixou de mudar a cada execução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Numeração de seções colidindo no GUIA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conferência após inserção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renumerado; quatro referências cruzadas corrigidas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12064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segunda linha é sobre esta apresentação: a primeira versão dela tinha números digitados à mão, e três vieram do recorte errado. Agora o gerador lê os CSVs — nenhum valor é digitado.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agosto, uma a uma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572000"/>
                <a:gridCol w="466344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#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está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Identificar todos os outliers de renda, com cidade, setor e se é favela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renda_outliers_rastreados.csv — 3.357 setores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Duas EDAs, com e sem os outliers, e a comparação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renda_eda_com_vs_sem · renda_correlacao_com_vs_sem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Rastrear rendas exorbitantes em setores pequenos, à mostra na EDA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renda_setores_pequenos.csv · figura renda_tamanho_do_setor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Boxplot ou histograma por cidade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figura renda_boxplot_por_cidade — 70 cidades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Outliers de renda no Sudeste e Norte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renda_extremos_por_regiao.csv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Relatório do IBGE sobre vilas e favelas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docs/ — 171 páginas + planilha por setor; validação de 100%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Aceitar a limitação do analfabetismo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Relatório seção 14.1 · GUIA §6.2.6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Focar nas pendências de renda e propor mais estudos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quatro estudos propostos; ver próximos passos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EDA central reunindo tudo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apresentação — 12 blocos de tabela e 6 figuras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Ampliar a matriz de correlação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10×10 · NB02 célula step12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V00199 a V00201 e a proporção sem água encanada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NB02 seção 7h · três CSVs · GUIA §6.2.9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Planejar a análise fatorial em Python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plano pronto; execução não iniciada por decisão sua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planejada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estes números são confiáveis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inteira é reexecutável do zero, e o que ela afirma é verificado por teste.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automatizados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passando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7220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 em eda/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CSVs sem código-fonte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testadas contra dados sintéticos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3383280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conferido com valores redondos calculáveis na mão — safe_div, denominador do analfabetismo, complemento da água, classificação de renda.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40965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Artefatos conferidos contra os valores publicados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0600" y="4096512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testes leem os CSVs gerados e verificam contagens exatas: 109.032 setores, 70 municípios, 106.281 elegíveis, 104.108 urbanos, 19.507 de favela.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48097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Refatorações provadas neutras antes de valer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4809744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fazer o Notebook 01 ler do módulo, a base nova foi comparada com a anterior: 67 colunas comuns, zero diferenças, mesmos 109.032 setores.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55229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deck é gerado por script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00600" y="5522976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scripts/eda_central_dados.py lê as tabelas e emite o JSON; o gerador só formata. Nenhum número é digitado, e cada tabela carrega o recorte de origem.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decisão dos pesos do índice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Submetida a um conselho de cinco análises independentes, com revisão cega entre elas.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Veredito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65376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Adotar 60/40 da literatura, e tratar o peso como análise de sensibilidade — não como decisão central.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670048"/>
            <a:ext cx="10634472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803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não é a alavanca.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renda, cor/raça e analfabetismo colineares a 0,76–0,81, qualquer esquema razoável produz quase o mesmo ranking.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17720" y="28803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 esconde a decisão do lixo.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correlações de 0,10 a 0,20, pct_lixo_inad carrega sozinho ou em lugar nenhum — e a escolha do que fazer volta a ser manual.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58200" y="28803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assimétrico de errar.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60/40 é citável e reversível. A fatorial exige imputar 15,9% de faltantes não aleatórios e defender tudo sozinho.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6085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6344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revisão acrescentou.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normalização min-max por município mexe mais no ranking do que qualquer peso — e ninguém testou. Debater 60/40 sobre uma escala arbitrária por município é otimizar o parâmetro errado.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próximo passo que fecha a questão.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o IVS três vezes — 60/40, pesos iguais e 50/50 — e reportar a correlação de Spearman entre os rankings. Acima de 0,95, uma tabela responde a pergunta.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agora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728216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28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 min-max por município, com a renda invertida e transformada. É a decisão que o conselho apontou como dominante sobre o peso.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569464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694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5328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Sensibilidade dos pesos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97680" y="2532888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calculado com 60/40, pesos iguais e 50/50; Spearman entre os rankings. Resultado publicável em uma tabela.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10712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10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374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04 — fatorial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97680" y="3374136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pronto: transformar a renda, decidir os 16.552 setores sem analfabetismo, KMO e Bartlett, número de fatores, varimax. Execução aguardando decisão.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51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215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Estudos de renda propostos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97680" y="4215384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relativa à mediana municipal como indicador; desigualdade intraurbana por Gini ou p90/p10; renda × favela sistematizada.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093208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93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056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das limitações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97680" y="5056632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escrever falácia ecológica, viés de sobrevivência e institucionalizados — que não saem pela classe COLETIVO, vazia na base, e sim porque entram em v0001 sem entrar em V00001. A do analfabetismo e a das favelas já estão prontas.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08076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 ·  Iniciação Científica  ·  Fiocruz Minas — Instituto René Rachou  ·  agosto de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Central — IVS Censo 2022</dc:title>
  <dc:subject>PptxGenJS Presentation</dc:subject>
  <dc:creator>Pedro Dias Soares</dc:creator>
  <cp:lastModifiedBy>Pedro Dias Soares</cp:lastModifiedBy>
  <cp:revision>1</cp:revision>
  <dcterms:created xsi:type="dcterms:W3CDTF">2026-09-02T18:19:16Z</dcterms:created>
  <dcterms:modified xsi:type="dcterms:W3CDTF">2026-09-02T18:19:16Z</dcterms:modified>
</cp:coreProperties>
</file>