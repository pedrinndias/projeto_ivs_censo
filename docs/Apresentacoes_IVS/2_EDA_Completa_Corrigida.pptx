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Água</c:v>
                </c:pt>
              </c:strCache>
            </c:strRef>
          </c:tx>
          <c:spPr>
            <a:solidFill>
              <a:srgbClr val="19599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Norte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0.35599999999999998</c:v>
                </c:pt>
                <c:pt idx="1">
                  <c:v>0.127</c:v>
                </c:pt>
                <c:pt idx="2">
                  <c:v>9.1999999999999998E-2</c:v>
                </c:pt>
                <c:pt idx="3">
                  <c:v>4.4999999999999998E-2</c:v>
                </c:pt>
                <c:pt idx="4">
                  <c:v>3.5000000000000003E-2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65-480E-9794-04D7F36BA3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Esgoto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Norte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0.27100000000000002</c:v>
                </c:pt>
                <c:pt idx="1">
                  <c:v>0.17599999999999999</c:v>
                </c:pt>
                <c:pt idx="2">
                  <c:v>9.4E-2</c:v>
                </c:pt>
                <c:pt idx="3">
                  <c:v>5.3999999999999999E-2</c:v>
                </c:pt>
                <c:pt idx="4">
                  <c:v>3.9E-2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265-480E-9794-04D7F36BA3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Lixo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Norte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0.14000000000000001</c:v>
                </c:pt>
                <c:pt idx="1">
                  <c:v>0.16500000000000001</c:v>
                </c:pt>
                <c:pt idx="2">
                  <c:v>0.12</c:v>
                </c:pt>
                <c:pt idx="3">
                  <c:v>0.115</c:v>
                </c:pt>
                <c:pt idx="4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265-480E-9794-04D7F36BA3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23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 ·  FASE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Índice de Vulnerabilidade</a:t>
            </a:r>
            <a:endParaRPr lang="en-US" sz="38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Saúde — Censo 2022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municípios do ELSI-Brasil  ·  setor censitário  ·  base recalculada (denominador V00001)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2377440" cy="841248"/>
          </a:xfrm>
          <a:prstGeom prst="roundRect">
            <a:avLst>
              <a:gd name="adj" fmla="val 8696"/>
            </a:avLst>
          </a:prstGeom>
          <a:solidFill>
            <a:srgbClr val="12365E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109.032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extraídos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3611880"/>
            <a:ext cx="2377440" cy="841248"/>
          </a:xfrm>
          <a:prstGeom prst="roundRect">
            <a:avLst>
              <a:gd name="adj" fmla="val 8696"/>
            </a:avLst>
          </a:prstGeom>
          <a:solidFill>
            <a:srgbClr val="12365E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38328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106.281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analisados (OK)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3611880"/>
            <a:ext cx="2377440" cy="841248"/>
          </a:xfrm>
          <a:prstGeom prst="roundRect">
            <a:avLst>
              <a:gd name="adj" fmla="val 8696"/>
            </a:avLst>
          </a:prstGeom>
          <a:solidFill>
            <a:srgbClr val="12365E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94360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94360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/ dimensões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DO ESTUDO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123444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" cy="1234440"/>
          </a:xfrm>
          <a:prstGeom prst="rect">
            <a:avLst/>
          </a:prstGeom>
          <a:solidFill>
            <a:srgbClr val="1959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5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938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da amostra ELSI-Brasil (22 UFs, 5 regiões)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123444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82296" cy="123444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29000" y="1371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106.281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1938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OK — 97,5% do total extraído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06040" cy="123444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82296" cy="1234440"/>
          </a:xfrm>
          <a:prstGeom prst="rect">
            <a:avLst/>
          </a:prstGeom>
          <a:solidFill>
            <a:srgbClr val="C7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217920" y="1371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78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2.751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17920" y="1938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sigilosos — 2,5% (preservados como NaN)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85800" y="28529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cada setor é classificado (Dados_sig)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" y="324612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</a:t>
            </a: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v0001 e V00001 presentes; entra nas análises.   </a:t>
            </a:r>
            <a:r>
              <a:rPr lang="en-US" sz="1300" b="1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SIGILOSO </a:t>
            </a: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variável-base sigilada pelo IBGE.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COLETIVO </a:t>
            </a: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V00001=0 com população (asilo/presídio).   </a:t>
            </a:r>
            <a:r>
              <a:rPr lang="en-US" sz="13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ZERADO </a:t>
            </a: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v0001=0, setor sem população.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70 municípios ELSI não houve setores COLETIVO nem ZERADO — só OK e SIGILOSO.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VARIÁVEIS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indicadores em 2 dimensões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0175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Numerador (Censo 2022)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Denominador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959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água inadequada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V00112 … V00118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esgoto inadequado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V00312 … V00316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lixo inadequado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V00398 … V00402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econômica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V00005 + V00006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V00001 + V00002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analfabetismo (15+)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V00901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V00900 + V00901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(R$) 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V06004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preta/parda/indígena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V01318 + V01320 + V01321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Direção:  </a:t>
            </a: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valor = ↑ vulnerabilidade em todas, exceto rendimento (invertido no índice).  Denominador domiciliar = V00001 (padrão IVS-BH 2012).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Descritivas globais dos 7 indicadores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P25–P75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água inadequada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0,017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esgoto inadequado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0,023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lixo inadequado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0,071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moradores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 – 2,93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analfabetismo (15+)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786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 – 0,052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rendimento médio (R$)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1.735 – 4.755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preta/parda/indíg.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106.279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0,356 – 0,708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9F5F2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 </a:t>
            </a:r>
            <a:r>
              <a:rPr lang="en-US" sz="11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proporções têm forte assimetria e massa em zero → preferir mediana e IQR à média/DP. O analfabetismo tem n menor pelo sigilo do IBGE.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DISTRIBUIÇÕES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 das 7 variáveis (histogramas)</a:t>
            </a:r>
            <a:endParaRPr lang="en-US" sz="2600" dirty="0"/>
          </a:p>
        </p:txBody>
      </p:sp>
      <p:pic>
        <p:nvPicPr>
          <p:cNvPr id="4" name="Image 0" descr="D:/Iniciação Cientifica/Projeto_IVS_Censo22/banco_de_dados/eda/figuras/histogram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5166360" cy="34146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60720" y="1371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Água, esgoto e lixo são zero-infladas: a maioria dos setores tem 0% de inadequação.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 é a única aproximadamente simétrica (≈ normal em torno de 2,7).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é assimétrico à direita, agora contido em [0; 0,84].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tem cauda longuíssima (máx. R$ 170 mil em 1 setor).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 PPI é a mais espalhada — bimodal, refletindo a diversidade entre municípios.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REGIONAL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Distribuições por região (boxplots)</a:t>
            </a:r>
            <a:endParaRPr lang="en-US" sz="2600" dirty="0"/>
          </a:p>
        </p:txBody>
      </p:sp>
      <p:pic>
        <p:nvPicPr>
          <p:cNvPr id="4" name="Image 0" descr="D:/Iniciação Cientifica/Projeto_IVS_Censo22/banco_de_dados/eda/figuras/boxplots_por_regi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4760366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94960" y="137160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 concentra o pior saneamento: água inadequada com mediana ~20% e cauda até 100%.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Nordeste lidera o lixo inadequado e tem a menor renda (mediana R$ 1.693).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e Sudeste têm saneamento majoritariamente adequado (caixas coladas no zero).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 é mais alta no Norte (~3,2); renda dispersa no Sudeste.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REGIONAL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Saneamento inadequado: média por região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280160"/>
          <a:ext cx="539496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371600"/>
            <a:ext cx="2834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de vulnerabilidade Norte → Sul é claro no saneamento.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inadequada no Norte (36%) é ~10× a do Sul (3,5%).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é mais uniforme entre regiões — varia menos que água e esgoto.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Socioeconômico: analfabetismo NE 6,7% vs Sul 2,2%; raça PPI Norte 76% vs Sul 25%.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ASSOCIAÇÃO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Correlações entre os indicadores</a:t>
            </a:r>
            <a:endParaRPr lang="en-US" sz="2600" dirty="0"/>
          </a:p>
        </p:txBody>
      </p:sp>
      <p:pic>
        <p:nvPicPr>
          <p:cNvPr id="4" name="Image 0" descr="D:/Iniciação Cientifica/Projeto_IVS_Censo22/banco_de_dados/eda/figuras/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43000"/>
            <a:ext cx="7680960" cy="33007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566928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−0,81  </a:t>
            </a: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× raça/cor (Spearman)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36976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1959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3346704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5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−0,75  </a:t>
            </a: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analfabetismo × renda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16752" y="4572000"/>
            <a:ext cx="267004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C7861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126480" y="4572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−0,04  </a:t>
            </a:r>
            <a:r>
              <a:rPr lang="en-US" sz="10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× razão (quase nula)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FALTANTES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Sigilo concentrado no analfabetismo</a:t>
            </a:r>
            <a:endParaRPr lang="en-US" sz="2600" dirty="0"/>
          </a:p>
        </p:txBody>
      </p:sp>
      <p:pic>
        <p:nvPicPr>
          <p:cNvPr id="4" name="Image 0" descr="D:/Iniciação Cientifica/Projeto_IVS_Censo22/banco_de_dados/eda/figuras/missing_por_municip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2595753" cy="3429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383280" y="1371600"/>
            <a:ext cx="5394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 dos setores OK têm o analfabetismo (V00901) sigilado; as demais variáveis estão ~completas (&lt;0,02% faltante).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78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sigilo é sistemático, não aleatório — concentra-se em capitais: Curitiba 23,1%, Belo Horizonte 22,5%, Canoas 20,9%, Campinas 19,9%.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o IBGE não divulga contagens muito pequenas; em setores urbanos centrais o nº absoluto de analfabetos cai abaixo do limite.</a:t>
            </a:r>
            <a:endParaRPr lang="en-US" sz="130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manter NaN (transparente). Imputar zero subestimaria o analfabetismo justamente onde a vulnerabilidade é menor.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 METODOLÓGICOS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vigiar antes do índice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141732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C7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IQR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Outliers de saneamento são falsos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199339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P25=mediana=0, a regra 1,5×IQR rotula 18–20% como outliers. É artefato da distribuição zero-inflada → usar percentil 95.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280160"/>
            <a:ext cx="3977640" cy="141732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910328" y="1481328"/>
            <a:ext cx="457200" cy="457200"/>
          </a:xfrm>
          <a:prstGeom prst="ellipse">
            <a:avLst/>
          </a:prstGeom>
          <a:solidFill>
            <a:srgbClr val="19599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1481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1463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 longa de renda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937760" y="199339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10,2% dos setores acima de R$ 9.285; máximo R$ 170.418 em 1 setor. Verificar e tratar na normalização por município.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3977640" cy="141732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30358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58368" y="3035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Extremos de densidade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85800" y="354787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moradores até 8,79 (possível moradia coletiva não detectada). Mínimo já corrigido para 1,0 com o denominador V00001.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834640"/>
            <a:ext cx="3977640" cy="1417320"/>
          </a:xfrm>
          <a:prstGeom prst="rect">
            <a:avLst/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910328" y="3035808"/>
            <a:ext cx="457200" cy="457200"/>
          </a:xfrm>
          <a:prstGeom prst="ellipse">
            <a:avLst/>
          </a:prstGeom>
          <a:solidFill>
            <a:srgbClr val="2A9D8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910328" y="3035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0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A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Colinearidade racial-econômica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937760" y="354787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e raça/cor têm |ρ|=0,81. Forte associação a considerar na análise fatorial (KMO e Bartlett antes da rotação).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B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7569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dimensões plausíveis — saneamento e socioeconômica — com coesão interna nas correlações.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lixo inadequado associa-se fracamente às demais (ρ até −0,04): tende a carregar pouco na fatorial.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recalculada com denominador V00001 e taxa de analfabetismo em [0,1]: pronta e reprodutível.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926</Words>
  <Application>Microsoft Office PowerPoint</Application>
  <PresentationFormat>Apresentação na tela (16:9)</PresentationFormat>
  <Paragraphs>170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Fase 3 — IVS Censo 2022 / ELSI</dc:title>
  <dc:subject>PptxGenJS Presentation</dc:subject>
  <dc:creator>Pedro Dias Soares</dc:creator>
  <cp:lastModifiedBy>PEDRO DIAS SOARES</cp:lastModifiedBy>
  <cp:revision>2</cp:revision>
  <dcterms:created xsi:type="dcterms:W3CDTF">2026-05-28T22:41:13Z</dcterms:created>
  <dcterms:modified xsi:type="dcterms:W3CDTF">2026-05-29T14:55:42Z</dcterms:modified>
</cp:coreProperties>
</file>