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2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3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4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5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6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Correlação com a renda média</c:v>
                </c:pt>
              </c:strCache>
            </c:strRef>
          </c:tx>
          <c:spPr>
            <a:solidFill>
              <a:srgbClr val="8C2F2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4201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Cor/raça PPI</c:v>
                  </c:pt>
                  <c:pt idx="1">
                    <c:v>Analfabetismo</c:v>
                  </c:pt>
                  <c:pt idx="2">
                    <c:v>Esgoto inadeq.</c:v>
                  </c:pt>
                  <c:pt idx="3">
                    <c:v>Razão moradores</c:v>
                  </c:pt>
                  <c:pt idx="4">
                    <c:v>Água inadeq.</c:v>
                  </c:pt>
                  <c:pt idx="5">
                    <c:v>Lixo inadeq.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-0.81</c:v>
                </c:pt>
                <c:pt idx="1">
                  <c:v>-0.76</c:v>
                </c:pt>
                <c:pt idx="2">
                  <c:v>-0.45</c:v>
                </c:pt>
                <c:pt idx="3">
                  <c:v>-0.44</c:v>
                </c:pt>
                <c:pt idx="4">
                  <c:v>-0.26</c:v>
                </c:pt>
                <c:pt idx="5">
                  <c:v>-0.16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50" u="none">
                  <a:solidFill>
                    <a:srgbClr val="14201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716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"/>
          <c:min val="-1"/>
        </c:scaling>
        <c:delete val="0"/>
        <c:axPos val="b"/>
        <c:majorGridlines>
          <c:spPr>
            <a:ln w="6350" cap="flat">
              <a:solidFill>
                <a:srgbClr val="D5DED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716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Água inadequada</c:v>
                </c:pt>
              </c:strCache>
            </c:strRef>
          </c:tx>
          <c:spPr>
            <a:solidFill>
              <a:srgbClr val="8C2F2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5F716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Norte</c:v>
                  </c:pt>
                  <c:pt idx="1">
                    <c:v>Nordeste</c:v>
                  </c:pt>
                  <c:pt idx="2">
                    <c:v>Centro-Oeste</c:v>
                  </c:pt>
                  <c:pt idx="3">
                    <c:v>Sudeste</c:v>
                  </c:pt>
                  <c:pt idx="4">
                    <c:v>Sul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0.323</c:v>
                </c:pt>
                <c:pt idx="1">
                  <c:v>0.118</c:v>
                </c:pt>
                <c:pt idx="2">
                  <c:v>0.055</c:v>
                </c:pt>
                <c:pt idx="3">
                  <c:v>0.038</c:v>
                </c:pt>
                <c:pt idx="4">
                  <c:v>0.02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Esgoto inadequado</c:v>
                </c:pt>
              </c:strCache>
            </c:strRef>
          </c:tx>
          <c:spPr>
            <a:solidFill>
              <a:srgbClr val="E0A9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5F716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Norte</c:v>
                  </c:pt>
                  <c:pt idx="1">
                    <c:v>Nordeste</c:v>
                  </c:pt>
                  <c:pt idx="2">
                    <c:v>Centro-Oeste</c:v>
                  </c:pt>
                  <c:pt idx="3">
                    <c:v>Sudeste</c:v>
                  </c:pt>
                  <c:pt idx="4">
                    <c:v>Sul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0.238</c:v>
                </c:pt>
                <c:pt idx="1">
                  <c:v>0.162</c:v>
                </c:pt>
                <c:pt idx="2">
                  <c:v>0.075</c:v>
                </c:pt>
                <c:pt idx="3">
                  <c:v>0.049</c:v>
                </c:pt>
                <c:pt idx="4">
                  <c:v>0.029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50" u="none">
                  <a:solidFill>
                    <a:srgbClr val="5F716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716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DED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716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dos setores que são de favela</c:v>
                </c:pt>
              </c:strCache>
            </c:strRef>
          </c:tx>
          <c:spPr>
            <a:solidFill>
              <a:srgbClr val="C9662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4201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Norte</c:v>
                  </c:pt>
                  <c:pt idx="1">
                    <c:v>Nordeste</c:v>
                  </c:pt>
                  <c:pt idx="2">
                    <c:v>Sudeste</c:v>
                  </c:pt>
                  <c:pt idx="3">
                    <c:v>Sul</c:v>
                  </c:pt>
                  <c:pt idx="4">
                    <c:v>Centro-Oeste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50.6</c:v>
                </c:pt>
                <c:pt idx="1">
                  <c:v>27.7</c:v>
                </c:pt>
                <c:pt idx="2">
                  <c:v>14.6</c:v>
                </c:pt>
                <c:pt idx="3">
                  <c:v>8.5</c:v>
                </c:pt>
                <c:pt idx="4">
                  <c:v>4.6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50" u="none">
                  <a:solidFill>
                    <a:srgbClr val="14201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716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</c:scaling>
        <c:delete val="0"/>
        <c:axPos val="l"/>
        <c:majorGridlines>
          <c:spPr>
            <a:ln w="6350" cap="flat">
              <a:solidFill>
                <a:srgbClr val="D5DED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716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Razão favela ÷ não-favela</c:v>
                </c:pt>
              </c:strCache>
            </c:strRef>
          </c:tx>
          <c:spPr>
            <a:solidFill>
              <a:srgbClr val="8C2F2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4201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Esgoto inadequado</c:v>
                  </c:pt>
                  <c:pt idx="1">
                    <c:v>Lixo inadequado</c:v>
                  </c:pt>
                  <c:pt idx="2">
                    <c:v>Analfabetismo</c:v>
                  </c:pt>
                  <c:pt idx="3">
                    <c:v>Água inadequada</c:v>
                  </c:pt>
                  <c:pt idx="4">
                    <c:v>Cor/raça PPI</c:v>
                  </c:pt>
                  <c:pt idx="5">
                    <c:v>Crianças 0–14</c:v>
                  </c:pt>
                  <c:pt idx="6">
                    <c:v>Razão moradores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4.14</c:v>
                </c:pt>
                <c:pt idx="1">
                  <c:v>2.9</c:v>
                </c:pt>
                <c:pt idx="2">
                  <c:v>2.14</c:v>
                </c:pt>
                <c:pt idx="3">
                  <c:v>1.77</c:v>
                </c:pt>
                <c:pt idx="4">
                  <c:v>1.53</c:v>
                </c:pt>
                <c:pt idx="5">
                  <c:v>1.38</c:v>
                </c:pt>
                <c:pt idx="6">
                  <c:v>1.11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50" u="none">
                  <a:solidFill>
                    <a:srgbClr val="14201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716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</c:scaling>
        <c:delete val="0"/>
        <c:axPos val="b"/>
        <c:majorGridlines>
          <c:spPr>
            <a:ln w="6350" cap="flat">
              <a:solidFill>
                <a:srgbClr val="D5DED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716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Índice de Envelhecimento</c:v>
                </c:pt>
              </c:strCache>
            </c:strRef>
          </c:tx>
          <c:spPr>
            <a:solidFill>
              <a:srgbClr val="0E6B6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4201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Sul</c:v>
                  </c:pt>
                  <c:pt idx="1">
                    <c:v>Sudeste</c:v>
                  </c:pt>
                  <c:pt idx="2">
                    <c:v>Nordeste</c:v>
                  </c:pt>
                  <c:pt idx="3">
                    <c:v>Centro-Oeste</c:v>
                  </c:pt>
                  <c:pt idx="4">
                    <c:v>Norte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111.9</c:v>
                </c:pt>
                <c:pt idx="1">
                  <c:v>105.5</c:v>
                </c:pt>
                <c:pt idx="2">
                  <c:v>81.7</c:v>
                </c:pt>
                <c:pt idx="3">
                  <c:v>73</c:v>
                </c:pt>
                <c:pt idx="4">
                  <c:v>56.3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50" u="none">
                  <a:solidFill>
                    <a:srgbClr val="14201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716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0"/>
        </c:scaling>
        <c:delete val="0"/>
        <c:axPos val="l"/>
        <c:majorGridlines>
          <c:spPr>
            <a:ln w="6350" cap="flat">
              <a:solidFill>
                <a:srgbClr val="D5DED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716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do Brasil coberto pela amostra</c:v>
                </c:pt>
              </c:strCache>
            </c:strRef>
          </c:tx>
          <c:spPr>
            <a:solidFill>
              <a:srgbClr val="0E6B6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4201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Setores de favela</c:v>
                  </c:pt>
                  <c:pt idx="1">
                    <c:v>Setores urbanos</c:v>
                  </c:pt>
                  <c:pt idx="2">
                    <c:v>Domicílios</c:v>
                  </c:pt>
                  <c:pt idx="3">
                    <c:v>População</c:v>
                  </c:pt>
                  <c:pt idx="4">
                    <c:v>Setores (todos)</c:v>
                  </c:pt>
                  <c:pt idx="5">
                    <c:v>Municípios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58.6</c:v>
                </c:pt>
                <c:pt idx="1">
                  <c:v>30</c:v>
                </c:pt>
                <c:pt idx="2">
                  <c:v>26.9</c:v>
                </c:pt>
                <c:pt idx="3">
                  <c:v>26</c:v>
                </c:pt>
                <c:pt idx="4">
                  <c:v>23.3</c:v>
                </c:pt>
                <c:pt idx="5">
                  <c:v>1.3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50" u="none">
                  <a:solidFill>
                    <a:srgbClr val="14201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716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</c:scaling>
        <c:delete val="0"/>
        <c:axPos val="b"/>
        <c:majorGridlines>
          <c:spPr>
            <a:ln w="6350" cap="flat">
              <a:solidFill>
                <a:srgbClr val="D5DED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716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Documento de retomada após um mês sem mexer no projeto. A ideia é reconstruir o contexto inteiro e sair com um plano de ação claro.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blocos. Os três primeiros reconstroem o contexto; os dois últimos são decisão e 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cinco números resumem escala. O destaque é a unidade de análise: setor censitário, não município.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desenho ecológico é o que torna a falácia ecológica uma limitação obrigatória na discussão.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a mensagem central do slide: o gargalo mudou de natureza. Não é mais dado, é estatística.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Bloco de fundamentos. Se alguém perguntar "de onde vem esse número", a resposta está aqui.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três armadilhas já estão resolvidas no código, mas explicam por que a leitura não é trivial.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houver uma pergunta metodológica na banca, é sobre o denominador. A resposta está documentada e validada: com V00001 nenhuma proporção estoura 1,0.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antecipa a crítica mais provável de um parecerista: "isso não é o IVS-BH". A resposta honesta é: é uma adaptação, e ela está declarada.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filtro rural é aplicado na análise, não na extração — a base bruta guarda os 109.032 setores, o que torna a exclusão auditável.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Rodar tudo do zero leva cerca de 15 minutos: 4 no notebook 01, 2 no 02, 7 no cálculo nacional.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partir daqui é resultado, não método.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linha do analfabetismo está destacada em vermelho porque o n é menor: 87.556 contra 104.108.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prepara a decisão sobre os pesos. Vale levar para a orientadora antes de rodar a fatorial.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gradiente é limpo em saneamento e renda. As duas exceções são justamente as variáveis que vão dar trabalho na fatorial.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Estes três blocos são novos desta rodada de trabalho.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marcação é CD_TIPO = 1 no arquivo básico. Validei que ela coincide exatamente com ter nome de favela preenchido, nos 468 mil setores do país.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Sugiro reservar uma tabela do artigo para esta comparação.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validação externa é o argumento mais forte de que a pipeline está correta: reproduz o número publicado pelo IBGE aplicando a fórmula ao país inteiro.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 uma amostra de grandes cidades. No artigo, descrever como representativa do Brasil urbano de grande porte — não do Brasil.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Bloco de prestação de contas e planejamento.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entregues em código e dados, uma pendente em redação.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quatro decisões travam etapas que vêm logo à frente. Vale levar todas na próxima reunião.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cronograma do plano de trabalho reserva agosto e setembro para o cálculo do índice. Estamos exatamente na janela.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 com uma ação concreta, não com um "obrigado".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2252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9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INICIAÇÃO CIENTÍFICA · FIOCRUZ MINAS — IRR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1700784"/>
            <a:ext cx="8046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Índice de Vulnerabilidade</a:t>
            </a: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Saúde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66928" y="3493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FB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 Demográfico 2022  ·  70 municípios do ELSI-Brasil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66928" y="4114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A9B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Retomada do projeto: estado atual, demandas atendidas e caminho até a submissão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66928" y="577900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E9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Dias Soares   ·   9 de agosto de 2026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326880" y="3794760"/>
            <a:ext cx="292608" cy="292608"/>
          </a:xfrm>
          <a:prstGeom prst="rect">
            <a:avLst/>
          </a:prstGeom>
          <a:solidFill>
            <a:srgbClr val="8C2F27">
              <a:alpha val="8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688068" y="3794760"/>
            <a:ext cx="292608" cy="292608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049256" y="3794760"/>
            <a:ext cx="292608" cy="292608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410444" y="3794760"/>
            <a:ext cx="292608" cy="292608"/>
          </a:xfrm>
          <a:prstGeom prst="rect">
            <a:avLst/>
          </a:prstGeom>
          <a:solidFill>
            <a:srgbClr val="C9662F">
              <a:alpha val="8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771632" y="3794760"/>
            <a:ext cx="292608" cy="292608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326880" y="4155948"/>
            <a:ext cx="292608" cy="292608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688068" y="4155948"/>
            <a:ext cx="292608" cy="292608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049256" y="4155948"/>
            <a:ext cx="292608" cy="292608"/>
          </a:xfrm>
          <a:prstGeom prst="rect">
            <a:avLst/>
          </a:prstGeom>
          <a:solidFill>
            <a:srgbClr val="C9662F">
              <a:alpha val="8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410444" y="4155948"/>
            <a:ext cx="292608" cy="292608"/>
          </a:xfrm>
          <a:prstGeom prst="rect">
            <a:avLst/>
          </a:prstGeom>
          <a:solidFill>
            <a:srgbClr val="0E6B62">
              <a:alpha val="8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771632" y="4155948"/>
            <a:ext cx="292608" cy="292608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326880" y="4517136"/>
            <a:ext cx="292608" cy="292608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688068" y="4517136"/>
            <a:ext cx="292608" cy="292608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049256" y="4517136"/>
            <a:ext cx="292608" cy="292608"/>
          </a:xfrm>
          <a:prstGeom prst="rect">
            <a:avLst/>
          </a:prstGeom>
          <a:solidFill>
            <a:srgbClr val="C9662F">
              <a:alpha val="8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410444" y="4517136"/>
            <a:ext cx="292608" cy="292608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771632" y="4517136"/>
            <a:ext cx="292608" cy="292608"/>
          </a:xfrm>
          <a:prstGeom prst="rect">
            <a:avLst/>
          </a:prstGeom>
          <a:solidFill>
            <a:srgbClr val="8C2F27">
              <a:alpha val="8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9326880" y="4878324"/>
            <a:ext cx="292608" cy="292608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9688068" y="4878324"/>
            <a:ext cx="292608" cy="292608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049256" y="4878324"/>
            <a:ext cx="292608" cy="292608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0410444" y="4878324"/>
            <a:ext cx="292608" cy="292608"/>
          </a:xfrm>
          <a:prstGeom prst="rect">
            <a:avLst/>
          </a:prstGeom>
          <a:solidFill>
            <a:srgbClr val="8C2F27">
              <a:alpha val="8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0771632" y="4878324"/>
            <a:ext cx="292608" cy="292608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percorrer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517904"/>
            <a:ext cx="512064" cy="512064"/>
          </a:xfrm>
          <a:prstGeom prst="ellipse">
            <a:avLst/>
          </a:prstGeom>
          <a:solidFill>
            <a:srgbClr val="0E6B62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5179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53312" y="149961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projeto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681728" y="153619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de pesquisa, desenho do estudo e onde ele está hoje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2432304"/>
            <a:ext cx="512064" cy="512064"/>
          </a:xfrm>
          <a:prstGeom prst="ellipse">
            <a:avLst/>
          </a:prstGeom>
          <a:solidFill>
            <a:srgbClr val="0E6B62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24323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53312" y="241401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dados e o método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681728" y="245059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Oito arquivos do Censo, as sete variáveis e as regras de elegibilidade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3346704"/>
            <a:ext cx="512064" cy="512064"/>
          </a:xfrm>
          <a:prstGeom prst="ellipse">
            <a:avLst/>
          </a:prstGeom>
          <a:solidFill>
            <a:srgbClr val="0E6B62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33467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53312" y="332841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análise mostra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81728" y="336499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Descritivas, correlações e o perfil por região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" y="4261104"/>
            <a:ext cx="512064" cy="512064"/>
          </a:xfrm>
          <a:prstGeom prst="ellipse">
            <a:avLst/>
          </a:prstGeom>
          <a:solidFill>
            <a:srgbClr val="0E6B62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42611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53312" y="424281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achados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681728" y="427939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Favelas, envelhecimento e a comparação com o Brasil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6928" y="5175504"/>
            <a:ext cx="512064" cy="512064"/>
          </a:xfrm>
          <a:prstGeom prst="ellipse">
            <a:avLst/>
          </a:prstGeom>
          <a:solidFill>
            <a:srgbClr val="0E6B62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51755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53312" y="515721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Demandas e caminho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681728" y="519379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sete demandas atendidas e o que fazer agora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E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projeto em números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1912925" cy="1481328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68096" y="1755648"/>
            <a:ext cx="151058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6B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68096" y="2377440"/>
            <a:ext cx="151058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municípios da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amostra ELSI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845613" y="1572768"/>
            <a:ext cx="1912925" cy="1481328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046781" y="1755648"/>
            <a:ext cx="151058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6B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104.108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3046781" y="2377440"/>
            <a:ext cx="151058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setores no recorte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análise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124298" y="1572768"/>
            <a:ext cx="1912925" cy="1481328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25466" y="1755648"/>
            <a:ext cx="151058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6B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5325466" y="2377440"/>
            <a:ext cx="151058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compõem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índice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402982" y="1572768"/>
            <a:ext cx="1912925" cy="1481328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604150" y="1755648"/>
            <a:ext cx="151058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6B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7604150" y="2377440"/>
            <a:ext cx="151058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681667" y="1572768"/>
            <a:ext cx="1912925" cy="1481328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882835" y="1755648"/>
            <a:ext cx="151058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6B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9882835" y="2377440"/>
            <a:ext cx="151058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automatizados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passando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66928" y="3401568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 projeto faz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66928" y="3785616"/>
            <a:ext cx="7223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Constrói um índice composto de vulnerabilidade à saúde para comparar setores censitários dentro de cada cidade — não cidades entre si. Os dados são do Censo 2022 do IBGE e a metodologia reproduz a do IVS de Belo Horizonte de 2012, adaptada ao que o Censo 2022 realmente publica.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973568" y="3401568"/>
            <a:ext cx="3657600" cy="2084832"/>
          </a:xfrm>
          <a:prstGeom prst="roundRect">
            <a:avLst>
              <a:gd name="adj" fmla="val 1754"/>
            </a:avLst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11312" y="36027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E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unidade de análise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211312" y="3950208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setor censitário é a menor unidade territorial que o IBGE divulga — cerca de 300 domicílios. É o que permite enxergar desigualdade dentro de um mesmo bairro.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E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DESENHO DO ESTUDO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pergunta de pesquisa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49961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E6B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a distribuição espacial da vulnerabilidade à saúde nos setores censitários dos municípios do ELSI-Brasil, e quais padrões intraurbanos de desigualdade emergem dela?</a:t>
            </a:r>
            <a:endParaRPr lang="en-US" sz="1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395728"/>
          <a:ext cx="73152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557784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 População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Setores censitários urbanos dos 70 municípios do ELSI-Brasil — 104.108 elegíveis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 Exposição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Variáveis de saneamento e socioeconômicas medidas no setor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 Comparação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Distribuição do índice entre setores e entre municípios e regiões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 Desfecho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IVS contínuo de 0 a 1, categorizado em 4 faixas de risco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 Desenho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Estudo ecológico, com dados agregados por setor censitário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156448" y="2395728"/>
            <a:ext cx="3456432" cy="20116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375904" y="25786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E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Hipóteses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375904" y="292608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  </a:t>
            </a:r>
            <a:pPr indent="0" marL="0">
              <a:buNone/>
            </a:pPr>
            <a:r>
              <a:rPr lang="en-US" sz="12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padrão espacial sistemático dentro dos municípios.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A3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 </a:t>
            </a:r>
            <a:pPr indent="0" marL="0">
              <a:buNone/>
            </a:pPr>
            <a:r>
              <a:rPr lang="en-US" sz="12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setores periféricos têm vulnerabilidade maior que áreas centrais — o padrão centro-periferia.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66928" y="4901184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Ética: só dados secundários, públicos e anônimos do IBGE. Pela Resolução CNS 510/2016 não requer submissão ao CEP.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E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SITUAÇÃO EM AGOSTO DE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o projeto está hoje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5376672" cy="3566160"/>
          </a:xfrm>
          <a:prstGeom prst="roundRect">
            <a:avLst>
              <a:gd name="adj" fmla="val 1026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828800"/>
            <a:ext cx="384048" cy="384048"/>
          </a:xfrm>
          <a:prstGeom prst="ellipse">
            <a:avLst/>
          </a:prstGeom>
          <a:solidFill>
            <a:srgbClr val="2F7D62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84708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Pronto e validado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77824" y="2395728"/>
            <a:ext cx="473659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Extração dos 8 arquivos do Censo e filtro dos 70 municípios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 de sigilo e regra de elegibilidade dos setores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Recorte urbano com conferência município a município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exploratória completa das sete variáveis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sete demandas da orientadora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de base nacional com os 468 mil setores do país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54496" y="1572768"/>
            <a:ext cx="5376672" cy="3566160"/>
          </a:xfrm>
          <a:prstGeom prst="roundRect">
            <a:avLst>
              <a:gd name="adj" fmla="val 1026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28816" y="1828800"/>
            <a:ext cx="384048" cy="384048"/>
          </a:xfrm>
          <a:prstGeom prst="ellipse">
            <a:avLst/>
          </a:prstGeom>
          <a:solidFill>
            <a:srgbClr val="C9662F"/>
          </a:solidFill>
          <a:ln/>
        </p:spPr>
      </p:sp>
      <p:sp>
        <p:nvSpPr>
          <p:cNvPr id="11" name="Text 9"/>
          <p:cNvSpPr/>
          <p:nvPr/>
        </p:nvSpPr>
        <p:spPr>
          <a:xfrm>
            <a:off x="6528816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59168" y="184708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Ainda não existe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565392" y="2395728"/>
            <a:ext cx="473659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Normalização da renda por município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fatorial para definir os pesos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índice em si — a média ponderada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Categorização em 4 faixas de risco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Mapas temáticos no QGIS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Redação do artigo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66928" y="5358384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B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base de dados está madura; o índice ainda não existe. Todo o esforço seguinte é estatístico, não de engenharia de dados.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2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848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20" kern="0" dirty="0">
                <a:solidFill>
                  <a:srgbClr val="E0A9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2542032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dados e o método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66928" y="3767328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B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Oito arquivos do IBGE, sete variáveis, e as regras que decidem quem entra na análise.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189720" y="2286000"/>
            <a:ext cx="274320" cy="274320"/>
          </a:xfrm>
          <a:prstGeom prst="rect">
            <a:avLst/>
          </a:prstGeom>
          <a:solidFill>
            <a:srgbClr val="8C2F27">
              <a:alpha val="8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528048" y="2286000"/>
            <a:ext cx="274320" cy="274320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866376" y="22860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204704" y="2286000"/>
            <a:ext cx="274320" cy="274320"/>
          </a:xfrm>
          <a:prstGeom prst="rect">
            <a:avLst/>
          </a:prstGeom>
          <a:solidFill>
            <a:srgbClr val="C9662F">
              <a:alpha val="8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543032" y="22860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189720" y="2624328"/>
            <a:ext cx="274320" cy="274320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528048" y="2624328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866376" y="2624328"/>
            <a:ext cx="274320" cy="274320"/>
          </a:xfrm>
          <a:prstGeom prst="rect">
            <a:avLst/>
          </a:prstGeom>
          <a:solidFill>
            <a:srgbClr val="C9662F">
              <a:alpha val="8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204704" y="2624328"/>
            <a:ext cx="274320" cy="274320"/>
          </a:xfrm>
          <a:prstGeom prst="rect">
            <a:avLst/>
          </a:prstGeom>
          <a:solidFill>
            <a:srgbClr val="0E6B62">
              <a:alpha val="8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543032" y="2624328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189720" y="2962656"/>
            <a:ext cx="274320" cy="274320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528048" y="2962656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866376" y="2962656"/>
            <a:ext cx="274320" cy="274320"/>
          </a:xfrm>
          <a:prstGeom prst="rect">
            <a:avLst/>
          </a:prstGeom>
          <a:solidFill>
            <a:srgbClr val="C9662F">
              <a:alpha val="8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204704" y="2962656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543032" y="2962656"/>
            <a:ext cx="274320" cy="274320"/>
          </a:xfrm>
          <a:prstGeom prst="rect">
            <a:avLst/>
          </a:prstGeom>
          <a:solidFill>
            <a:srgbClr val="8C2F27">
              <a:alpha val="8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189720" y="3300984"/>
            <a:ext cx="274320" cy="274320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528048" y="3300984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9866376" y="3300984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0204704" y="3300984"/>
            <a:ext cx="274320" cy="274320"/>
          </a:xfrm>
          <a:prstGeom prst="rect">
            <a:avLst/>
          </a:prstGeom>
          <a:solidFill>
            <a:srgbClr val="8C2F27">
              <a:alpha val="8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543032" y="3300984"/>
            <a:ext cx="274320" cy="274320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E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MATÉRIA-PRIMA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oito arquivos do Censo 2022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 GB de agregados por setor censitário. Todos se juntam pelo geocódigo de 15 dígitos do setor.</a:t>
            </a:r>
            <a:endParaRPr lang="en-US" sz="13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28800"/>
          <a:ext cx="75895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914400"/>
                <a:gridCol w="49377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Arquivo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Tamanho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o projeto usa dele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Básico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137 MB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Identificação, situação urbano/rural, tipo de setor (favela), população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Domicílio 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186 MB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Denominadores V00001 e V00002, moradores, 12 tipos de domicílio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Domicílio 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784 MB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Água, esgoto, lixo e banheiro — o bloco de saneamento inteiro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Alfabetização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735 MB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V00900 sabem ler e V00901 não sabem, 15 anos ou mais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 ou Raça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 MB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Preta, parda e indígena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Demografia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 MB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Pirâmide etária completa, de 0–4 até 70 anos ou mais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Parentesco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362 MB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Responsáveis pelo domicílio, por sexo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Renda do responsável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 MB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Rendimento nominal médio mensal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412480" y="1828800"/>
            <a:ext cx="3200400" cy="310896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31936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E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armadilhas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631936" y="237744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Sigilo. </a:t>
            </a:r>
            <a:pPr indent="0" marL="0">
              <a:buNone/>
            </a:pPr>
            <a:r>
              <a:rPr lang="en-US" sz="12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IBGE troca contagens pequenas pela letra X. Vira nulo, nunca zero.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Encoding. </a:t>
            </a:r>
            <a:pPr indent="0" marL="0">
              <a:buNone/>
            </a:pPr>
            <a:r>
              <a:rPr lang="en-US" sz="12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básico é latin1; os outros sete são utf-8.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Vírgula decimal. </a:t>
            </a:r>
            <a:pPr indent="0" marL="0">
              <a:buNone/>
            </a:pPr>
            <a:r>
              <a:rPr lang="en-US" sz="12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renda vem como 2453,03 — sem tratar, a coluna inteira vira nulo em silêncio.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E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sete variáveis do índice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dimensões. A direção é sempre: maior valor, maior vulnerabilidade — a renda é a única invertida.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47088"/>
          <a:ext cx="11027664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840480"/>
                <a:gridCol w="4992624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Fórmula no Censo 2022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E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Saneamento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Água inadequada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(V00112 + … + V00118) ÷ V00001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Esgoto inadequado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(V00312 + … + V00316) ÷ V00001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Lixo inadequado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(V00398 + … + V00402) ÷ V00001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E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Socioeconômica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Razão de moradores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(V00005 + V00006) ÷ (V00001 + V00002)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Analfabetismo 15+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V00901 ÷ (V00900 + V00901)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Renda — invertida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V06004, uso direto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Cor/raça preta, parda, indígena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(V01318 + V01320 + V01321) ÷ v0001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4882896"/>
            <a:ext cx="11027664" cy="1024128"/>
          </a:xfrm>
          <a:prstGeom prst="roundRect">
            <a:avLst>
              <a:gd name="adj" fmla="val 3571"/>
            </a:avLst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5029200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decisão mais importante do projeto.  </a:t>
            </a:r>
            <a:pPr indent="0" marL="0">
              <a:buNone/>
            </a:pPr>
            <a:r>
              <a:rPr lang="en-US" sz="12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denominador domiciliar é o V00001 — Domicílios Particulares Permanentes Ocupados, equivalente exato do V002 do Censo 2010 usado pelo IVS-BH. O V01042 foi rejeitado pela orientadora: conta pessoas responsáveis, não domicílios.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E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 ESTRUTURAIS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se perdeu do Censo 2010 para o 2022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itens que o IVS-BH 2012 exigia e que os agregados por setor do Censo 2022 não entregam.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847088"/>
            <a:ext cx="3432048" cy="3200400"/>
          </a:xfrm>
          <a:prstGeom prst="roundRect">
            <a:avLst>
              <a:gd name="adj" fmla="val 1143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066544"/>
            <a:ext cx="2919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 de chefes com menos de</a:t>
            </a: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anos de estudo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2960" y="2798064"/>
            <a:ext cx="2919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C96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LIMITAÇÃO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22960" y="3035808"/>
            <a:ext cx="2919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Anos de instrução não existem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agregados por setor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840480"/>
            <a:ext cx="2919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E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SE USA NO LUGAR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22960" y="4078224"/>
            <a:ext cx="2919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analfabetismo 15+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64736" y="1847088"/>
            <a:ext cx="3432048" cy="3200400"/>
          </a:xfrm>
          <a:prstGeom prst="roundRect">
            <a:avLst>
              <a:gd name="adj" fmla="val 1143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20768" y="2066544"/>
            <a:ext cx="2919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 de famílias com até</a:t>
            </a: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salários mínimos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620768" y="2798064"/>
            <a:ext cx="2919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C96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LIMITAÇÃO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20768" y="3035808"/>
            <a:ext cx="2919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contagem por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 salarial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620768" y="3840480"/>
            <a:ext cx="2919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E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SE USA NO LUGAR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620768" y="4078224"/>
            <a:ext cx="2919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Rendimento médio, invertido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62544" y="1847088"/>
            <a:ext cx="3432048" cy="3200400"/>
          </a:xfrm>
          <a:prstGeom prst="roundRect">
            <a:avLst>
              <a:gd name="adj" fmla="val 1143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418576" y="2066544"/>
            <a:ext cx="2919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Óbitos por doenças</a:t>
            </a: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cardiovasculares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418576" y="2798064"/>
            <a:ext cx="2919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C96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LIMITAÇÃO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418576" y="3035808"/>
            <a:ext cx="2919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IBGE registrou se houve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óbito, sem a causa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418576" y="3840480"/>
            <a:ext cx="2919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E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SE USA NO LUGAR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418576" y="4078224"/>
            <a:ext cx="2919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ainda — buscar no DATASUS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66928" y="5266944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três substituições precisam estar declaradas nos métodos do artigo. Elas mudam o que o índice mede: a dimensão socioeconômica ficou mais dependente de renda e alfabetização do que a original.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E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ELEGIBILIDADE E RECORTE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entra na análise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42646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E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dos 109.032 setores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55648"/>
          <a:ext cx="54864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200400"/>
                <a:gridCol w="10058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Setores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população residente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SIGILOSO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População ou domicílios suprimidos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COLETIVO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Só domicílios coletivos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F7D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 da análise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106.281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92240" y="142646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E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total ao recorte de análise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492240" y="1773936"/>
            <a:ext cx="5120640" cy="402336"/>
          </a:xfrm>
          <a:prstGeom prst="rect">
            <a:avLst/>
          </a:prstGeom>
          <a:solidFill>
            <a:srgbClr val="0C2724"/>
          </a:solidFill>
          <a:ln/>
        </p:spPr>
      </p:sp>
      <p:sp>
        <p:nvSpPr>
          <p:cNvPr id="8" name="Text 5"/>
          <p:cNvSpPr/>
          <p:nvPr/>
        </p:nvSpPr>
        <p:spPr>
          <a:xfrm>
            <a:off x="6620256" y="177393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109.032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863840" y="177393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Setores dos 70 municípios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92240" y="2340864"/>
            <a:ext cx="4992624" cy="402336"/>
          </a:xfrm>
          <a:prstGeom prst="rect">
            <a:avLst/>
          </a:prstGeom>
          <a:solidFill>
            <a:srgbClr val="0E6B62"/>
          </a:solidFill>
          <a:ln/>
        </p:spPr>
      </p:sp>
      <p:sp>
        <p:nvSpPr>
          <p:cNvPr id="11" name="Text 8"/>
          <p:cNvSpPr/>
          <p:nvPr/>
        </p:nvSpPr>
        <p:spPr>
          <a:xfrm>
            <a:off x="6620256" y="2340864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106.281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863840" y="234086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Elegíveis — saem 2.751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92240" y="2907792"/>
            <a:ext cx="4892040" cy="402336"/>
          </a:xfrm>
          <a:prstGeom prst="rect">
            <a:avLst/>
          </a:prstGeom>
          <a:solidFill>
            <a:srgbClr val="C9662F"/>
          </a:solidFill>
          <a:ln/>
        </p:spPr>
      </p:sp>
      <p:sp>
        <p:nvSpPr>
          <p:cNvPr id="14" name="Text 11"/>
          <p:cNvSpPr/>
          <p:nvPr/>
        </p:nvSpPr>
        <p:spPr>
          <a:xfrm>
            <a:off x="6620256" y="290779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104.108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863840" y="290779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Urbanos elegíveis — recorte final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66928" y="3602736"/>
            <a:ext cx="5486400" cy="219456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378561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96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Correção feita nesta rodada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822960" y="411480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sigilo era testado antes da população zero, então 1.736 setores vazios — entre eles 78 massas d'água — apareciam como "dado suprimido pelo IBGE". Invertida a ordem, o sigilo real caiu de 2.751 para 1.015 setores. Nenhum setor OK mudou de classe.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492240" y="3602736"/>
            <a:ext cx="5120640" cy="219456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48272" y="37856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A3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 colateral para as limitações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748272" y="411480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exclusão rural é muito desigual. Nove municípios não perdem nada, mas 29 dos 70 perdem mais de 10% dos setores e 14 perdem mais da metade. São Raimundo do Doca Bezerra fica com 3 setores. Média e mediana municipais ficam instáveis nesses casos.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E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 dado vira resultado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2487168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847088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CSVs do Censo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808" y="2176272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 GB · 468 mil setores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45536" y="2084832"/>
            <a:ext cx="256032" cy="237744"/>
          </a:xfrm>
          <a:prstGeom prst="rightArrow">
            <a:avLst/>
          </a:prstGeom>
          <a:solidFill>
            <a:srgbClr val="5F716D"/>
          </a:solidFill>
          <a:ln/>
        </p:spPr>
      </p:sp>
      <p:sp>
        <p:nvSpPr>
          <p:cNvPr id="8" name="Shape 6"/>
          <p:cNvSpPr/>
          <p:nvPr/>
        </p:nvSpPr>
        <p:spPr>
          <a:xfrm>
            <a:off x="3401568" y="1700784"/>
            <a:ext cx="2487168" cy="1005840"/>
          </a:xfrm>
          <a:prstGeom prst="roundRect">
            <a:avLst>
              <a:gd name="adj" fmla="val 3636"/>
            </a:avLst>
          </a:prstGeom>
          <a:solidFill>
            <a:srgbClr val="DCEBE8"/>
          </a:solidFill>
          <a:ln w="12700">
            <a:solidFill>
              <a:srgbClr val="0E6B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84448" y="1847088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 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84448" y="2176272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 os 70 municípios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80176" y="2084832"/>
            <a:ext cx="256032" cy="237744"/>
          </a:xfrm>
          <a:prstGeom prst="rightArrow">
            <a:avLst/>
          </a:prstGeom>
          <a:solidFill>
            <a:srgbClr val="5F716D"/>
          </a:solidFill>
          <a:ln/>
        </p:spPr>
      </p:sp>
      <p:sp>
        <p:nvSpPr>
          <p:cNvPr id="12" name="Shape 10"/>
          <p:cNvSpPr/>
          <p:nvPr/>
        </p:nvSpPr>
        <p:spPr>
          <a:xfrm>
            <a:off x="6236208" y="1700784"/>
            <a:ext cx="2487168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19088" y="1847088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bruta ELSI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19088" y="2176272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109.032 × 68 colunas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814816" y="2084832"/>
            <a:ext cx="256032" cy="237744"/>
          </a:xfrm>
          <a:prstGeom prst="rightArrow">
            <a:avLst/>
          </a:prstGeom>
          <a:solidFill>
            <a:srgbClr val="5F716D"/>
          </a:solidFill>
          <a:ln/>
        </p:spPr>
      </p:sp>
      <p:sp>
        <p:nvSpPr>
          <p:cNvPr id="16" name="Shape 14"/>
          <p:cNvSpPr/>
          <p:nvPr/>
        </p:nvSpPr>
        <p:spPr>
          <a:xfrm>
            <a:off x="9070848" y="1700784"/>
            <a:ext cx="2487168" cy="1005840"/>
          </a:xfrm>
          <a:prstGeom prst="roundRect">
            <a:avLst>
              <a:gd name="adj" fmla="val 3636"/>
            </a:avLst>
          </a:prstGeom>
          <a:solidFill>
            <a:srgbClr val="DCEBE8"/>
          </a:solidFill>
          <a:ln w="12700">
            <a:solidFill>
              <a:srgbClr val="0E6B6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53728" y="1847088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 02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253728" y="2176272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Recorte urbano + EDA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186416" y="2798064"/>
            <a:ext cx="237744" cy="274320"/>
          </a:xfrm>
          <a:prstGeom prst="downArrow">
            <a:avLst/>
          </a:prstGeom>
          <a:solidFill>
            <a:srgbClr val="5F716D"/>
          </a:solidFill>
          <a:ln/>
        </p:spPr>
      </p:sp>
      <p:sp>
        <p:nvSpPr>
          <p:cNvPr id="20" name="Shape 18"/>
          <p:cNvSpPr/>
          <p:nvPr/>
        </p:nvSpPr>
        <p:spPr>
          <a:xfrm>
            <a:off x="9070848" y="3163824"/>
            <a:ext cx="2487168" cy="78638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53728" y="3273552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Tabelas e figuras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253728" y="356616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banco_de_dados/eda/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66928" y="3529584"/>
            <a:ext cx="2487168" cy="1005840"/>
          </a:xfrm>
          <a:prstGeom prst="roundRect">
            <a:avLst>
              <a:gd name="adj" fmla="val 3636"/>
            </a:avLst>
          </a:prstGeom>
          <a:solidFill>
            <a:srgbClr val="DCEBE8"/>
          </a:solidFill>
          <a:ln w="12700">
            <a:solidFill>
              <a:srgbClr val="0E6B6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3675888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src/ivs_censo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49808" y="4005072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Fórmulas dos 23 indicadores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01568" y="3529584"/>
            <a:ext cx="2487168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84448" y="3602736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de variáveis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584448" y="3877056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+ XLSX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072384" y="3767328"/>
            <a:ext cx="219456" cy="219456"/>
          </a:xfrm>
          <a:prstGeom prst="rightArrow">
            <a:avLst/>
          </a:prstGeom>
          <a:solidFill>
            <a:srgbClr val="D5DEDB"/>
          </a:solidFill>
          <a:ln/>
        </p:spPr>
      </p:sp>
      <p:sp>
        <p:nvSpPr>
          <p:cNvPr id="30" name="Shape 28"/>
          <p:cNvSpPr/>
          <p:nvPr/>
        </p:nvSpPr>
        <p:spPr>
          <a:xfrm>
            <a:off x="3401568" y="4352544"/>
            <a:ext cx="2487168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84448" y="4425696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 orientadora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584448" y="4700016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+ SQLite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072384" y="4590288"/>
            <a:ext cx="219456" cy="219456"/>
          </a:xfrm>
          <a:prstGeom prst="rightArrow">
            <a:avLst/>
          </a:prstGeom>
          <a:solidFill>
            <a:srgbClr val="D5DEDB"/>
          </a:solidFill>
          <a:ln/>
        </p:spPr>
      </p:sp>
      <p:sp>
        <p:nvSpPr>
          <p:cNvPr id="34" name="Shape 32"/>
          <p:cNvSpPr/>
          <p:nvPr/>
        </p:nvSpPr>
        <p:spPr>
          <a:xfrm>
            <a:off x="3401568" y="5175504"/>
            <a:ext cx="2487168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84448" y="5248656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Cálculo nacional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584448" y="5522976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468 mil setores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072384" y="5413248"/>
            <a:ext cx="219456" cy="219456"/>
          </a:xfrm>
          <a:prstGeom prst="rightArrow">
            <a:avLst/>
          </a:prstGeom>
          <a:solidFill>
            <a:srgbClr val="D5DEDB"/>
          </a:solidFill>
          <a:ln/>
        </p:spPr>
      </p:sp>
      <p:sp>
        <p:nvSpPr>
          <p:cNvPr id="38" name="Text 36"/>
          <p:cNvSpPr/>
          <p:nvPr/>
        </p:nvSpPr>
        <p:spPr>
          <a:xfrm>
            <a:off x="6309360" y="4443984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módulo compartilhado existe para o cálculo nacional aplicar exatamente as mesmas fórmulas do notebook, sem copiar código. É o que garante que Brasil e ELSI sejam comparáveis.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309360" y="532180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testes automatizados cobrem os artefatos e as fórmulas.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2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848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20" kern="0" dirty="0">
                <a:solidFill>
                  <a:srgbClr val="E0A9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2542032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análise mostra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66928" y="3767328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B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 indicadores em 104.108 setores urbanos. O que as distribuições já dizem antes de existir um índice.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189720" y="2286000"/>
            <a:ext cx="274320" cy="274320"/>
          </a:xfrm>
          <a:prstGeom prst="rect">
            <a:avLst/>
          </a:prstGeom>
          <a:solidFill>
            <a:srgbClr val="8C2F27">
              <a:alpha val="8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528048" y="2286000"/>
            <a:ext cx="274320" cy="274320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866376" y="22860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204704" y="2286000"/>
            <a:ext cx="274320" cy="274320"/>
          </a:xfrm>
          <a:prstGeom prst="rect">
            <a:avLst/>
          </a:prstGeom>
          <a:solidFill>
            <a:srgbClr val="C9662F">
              <a:alpha val="8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543032" y="22860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189720" y="2624328"/>
            <a:ext cx="274320" cy="274320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528048" y="2624328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866376" y="2624328"/>
            <a:ext cx="274320" cy="274320"/>
          </a:xfrm>
          <a:prstGeom prst="rect">
            <a:avLst/>
          </a:prstGeom>
          <a:solidFill>
            <a:srgbClr val="C9662F">
              <a:alpha val="8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204704" y="2624328"/>
            <a:ext cx="274320" cy="274320"/>
          </a:xfrm>
          <a:prstGeom prst="rect">
            <a:avLst/>
          </a:prstGeom>
          <a:solidFill>
            <a:srgbClr val="0E6B62">
              <a:alpha val="8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543032" y="2624328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189720" y="2962656"/>
            <a:ext cx="274320" cy="274320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528048" y="2962656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866376" y="2962656"/>
            <a:ext cx="274320" cy="274320"/>
          </a:xfrm>
          <a:prstGeom prst="rect">
            <a:avLst/>
          </a:prstGeom>
          <a:solidFill>
            <a:srgbClr val="C9662F">
              <a:alpha val="8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204704" y="2962656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543032" y="2962656"/>
            <a:ext cx="274320" cy="274320"/>
          </a:xfrm>
          <a:prstGeom prst="rect">
            <a:avLst/>
          </a:prstGeom>
          <a:solidFill>
            <a:srgbClr val="8C2F27">
              <a:alpha val="8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189720" y="3300984"/>
            <a:ext cx="274320" cy="274320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528048" y="3300984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9866376" y="3300984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0204704" y="3300984"/>
            <a:ext cx="274320" cy="274320"/>
          </a:xfrm>
          <a:prstGeom prst="rect">
            <a:avLst/>
          </a:prstGeom>
          <a:solidFill>
            <a:srgbClr val="8C2F27">
              <a:alpha val="8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543032" y="3300984"/>
            <a:ext cx="274320" cy="274320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E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DESCRITIVAS GLOBAIS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sete componentes, em números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17904"/>
          <a:ext cx="11027664" cy="914400"/>
        </p:xfrm>
        <a:graphic>
          <a:graphicData uri="http://schemas.openxmlformats.org/drawingml/2006/table">
            <a:tbl>
              <a:tblPr/>
              <a:tblGrid>
                <a:gridCol w="2798064"/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32918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P75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Máximo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Água inadequada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104.108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Esgoto inadequado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104.107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Lixo inadequado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104.108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0,059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Razão de moradores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104.108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6,914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A33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Analfabetismo 15+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A33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87.556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Renda média (R$)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104.096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170.418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Cor/raça PPI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104.106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4206240"/>
            <a:ext cx="3432048" cy="1700784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6384" y="4370832"/>
            <a:ext cx="2993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6B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Mediana zero em saneamento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86384" y="4846320"/>
            <a:ext cx="29931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mais da metade dos setores urbanos, água, esgoto e lixo estão 100% adequados. A distribuição é inflada de zeros — e por isso a regra do IQR flagra 18% a 21% dos setores como "outlier". Não são; é a forma da distribuição.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64736" y="4206240"/>
            <a:ext cx="3432048" cy="1700784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84192" y="4370832"/>
            <a:ext cx="2993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6B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renda é violentamente assimétrica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84192" y="4846320"/>
            <a:ext cx="29931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de R$ 4.187 contra mediana de R$ 2.572, com máximo de R$ 170 mil. É exatamente por isso que a normalização precisa passar a ser por município.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162544" y="4206240"/>
            <a:ext cx="3432048" cy="1700784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382000" y="4370832"/>
            <a:ext cx="2993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6B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analfabetismo falta onde há menos analfabetos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382000" y="4846320"/>
            <a:ext cx="29931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15,9% dos setores sem o dado — e não ao acaso. O sigilo do IBGE concentra-se onde a contagem absoluta é pequena. Imputar zero pareceria natural e seria um erro.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E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CORRELAÇÃO DE SPEARMAN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variáveis medem coisas diferentes?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554480"/>
          <a:ext cx="60350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858000" y="162763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Duas correlações dominam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6858000" y="2048256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Renda e cor/raça a −0,81. Renda e analfabetismo a −0,76. Isso antecipa o que a análise fatorial vai encontrar: um fator socioeconômico forte, puxado por essas três variáveis juntas.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858000" y="3145536"/>
            <a:ext cx="4754880" cy="1133856"/>
          </a:xfrm>
          <a:prstGeom prst="roundRect">
            <a:avLst>
              <a:gd name="adj" fmla="val 3226"/>
            </a:avLst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77456" y="32918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0E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que isso levanta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077456" y="3584448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renda, raça e alfabetização medem tanto a mesma coisa, elas somam três pesos ao índice — ou um só?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0" y="444398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6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extremo oposto: o lixo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858000" y="4791456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Correlaciona-se com quase nada — de 0,10 a 0,20 com tudo, e −0,06 com razão de moradores. Carrega informação independente das demais.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E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POR REGIÃO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gradiente Norte–Sul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554480"/>
          <a:ext cx="68580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680960" y="1700784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16×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680960" y="22860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quanto a água inadequada do Norte supera a do Sul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680960" y="3072384"/>
            <a:ext cx="3931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quebras no padrão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analfabetismo tem pico no Nordeste (0,062), não no Norte (0,033).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lixo inadequado é notavelmente plano entre as regiões — mais uma vez, comportando-se de forma independente das outras variáveis.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66928" y="5577840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Renda média: Norte R$ 2.881  ·  Nordeste R$ 3.008  ·  Sudeste R$ 4.491  ·  Sul R$ 4.842  ·  Centro-Oeste R$ 4.945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2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848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20" kern="0" dirty="0">
                <a:solidFill>
                  <a:srgbClr val="E0A9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2542032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achados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66928" y="3767328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B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Favelas, envelhecimento e a comparação com o país — o material que vira resultado do artigo.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189720" y="2286000"/>
            <a:ext cx="274320" cy="274320"/>
          </a:xfrm>
          <a:prstGeom prst="rect">
            <a:avLst/>
          </a:prstGeom>
          <a:solidFill>
            <a:srgbClr val="8C2F27">
              <a:alpha val="8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528048" y="2286000"/>
            <a:ext cx="274320" cy="274320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866376" y="22860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204704" y="2286000"/>
            <a:ext cx="274320" cy="274320"/>
          </a:xfrm>
          <a:prstGeom prst="rect">
            <a:avLst/>
          </a:prstGeom>
          <a:solidFill>
            <a:srgbClr val="C9662F">
              <a:alpha val="8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543032" y="22860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189720" y="2624328"/>
            <a:ext cx="274320" cy="274320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528048" y="2624328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866376" y="2624328"/>
            <a:ext cx="274320" cy="274320"/>
          </a:xfrm>
          <a:prstGeom prst="rect">
            <a:avLst/>
          </a:prstGeom>
          <a:solidFill>
            <a:srgbClr val="C9662F">
              <a:alpha val="8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204704" y="2624328"/>
            <a:ext cx="274320" cy="274320"/>
          </a:xfrm>
          <a:prstGeom prst="rect">
            <a:avLst/>
          </a:prstGeom>
          <a:solidFill>
            <a:srgbClr val="0E6B62">
              <a:alpha val="8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543032" y="2624328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189720" y="2962656"/>
            <a:ext cx="274320" cy="274320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528048" y="2962656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866376" y="2962656"/>
            <a:ext cx="274320" cy="274320"/>
          </a:xfrm>
          <a:prstGeom prst="rect">
            <a:avLst/>
          </a:prstGeom>
          <a:solidFill>
            <a:srgbClr val="C9662F">
              <a:alpha val="8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204704" y="2962656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543032" y="2962656"/>
            <a:ext cx="274320" cy="274320"/>
          </a:xfrm>
          <a:prstGeom prst="rect">
            <a:avLst/>
          </a:prstGeom>
          <a:solidFill>
            <a:srgbClr val="8C2F27">
              <a:alpha val="8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189720" y="3300984"/>
            <a:ext cx="274320" cy="274320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528048" y="3300984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9866376" y="3300984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0204704" y="3300984"/>
            <a:ext cx="274320" cy="274320"/>
          </a:xfrm>
          <a:prstGeom prst="rect">
            <a:avLst/>
          </a:prstGeom>
          <a:solidFill>
            <a:srgbClr val="8C2F27">
              <a:alpha val="8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543032" y="3300984"/>
            <a:ext cx="274320" cy="274320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E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ACHADO MAIS FORTE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Favelas e comunidades urbanas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Censo 2022 substituiu "aglomerado subnormal" por Favela e Comunidade Urbana. A pipeline não lia essa coluna; passou a ler.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181051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19.507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66928" y="2359152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setores de favela — 17,9% do recorte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447288" y="181051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5.903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447288" y="2359152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favelas distintas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66928" y="2871216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10,07 mi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566928" y="3419856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 vivendo nelas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447288" y="2871216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 / 70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3447288" y="3419856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municípios com pelo menos uma</a:t>
            </a:r>
            <a:endParaRPr lang="en-US" sz="115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6309360" y="1609344"/>
          <a:ext cx="53035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/>
          <p:nvPr/>
        </p:nvSpPr>
        <p:spPr>
          <a:xfrm>
            <a:off x="6309360" y="4846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Concentração de favelas por região (% dos setores)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66928" y="3986784"/>
            <a:ext cx="5394960" cy="1883664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" y="4114800"/>
            <a:ext cx="4882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Norte, metade dos setores da amostra são de favela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22960" y="4681728"/>
            <a:ext cx="488289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Belém são 55,9% dos setores, em Ananindeua 58,9%, em Manaus 51,7%. No Centro-Oeste são 4,6%. É a maior heterogeneidade regional de qualquer variável do projeto — e 28 dos 70 municípios não têm nenhum setor de favela.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E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DE CRITÉRIO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Favela contra o restante da cidade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Quantas vezes o valor médio em setor de favela supera o de fora — todos urbanos, todos elegíveis.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66928" y="1792224"/>
          <a:ext cx="66751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498080" y="182880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a renda cai para um terço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498080" y="2231136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R$ 1.610 em favela contra R$ 4.780 fora. Apartamento praticamente não existe: 3,3% contra 37,7%. E o índice de envelhecimento é 55 contra 153 — são territórios muito mais jovens.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498080" y="3493008"/>
            <a:ext cx="4114800" cy="1956816"/>
          </a:xfrm>
          <a:prstGeom prst="roundRect">
            <a:avLst>
              <a:gd name="adj" fmla="val 1869"/>
            </a:avLst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17536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0E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isso importa agora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717536" y="3968496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tem uma validação de critério pronta. Setores de favela são reconhecidos, por classificação independente do IBGE, como os mais vulneráveis — e todos os componentes se movem na direção esperada. Quando o IVS existir, comparar sua distribuição entre favela e não-favela é o teste mais direto de que ele mede o que promete.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E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DEMANDA QUE EXIGIU LER UM ARTIGO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Envelhecimento populacional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Definições do Quadro 1 de Galvão et al. (Hygeia, v.21, e2106, 2025), que adota os indicadores das Nações Unidas.</a:t>
            </a:r>
            <a:endParaRPr lang="en-US" sz="13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73936"/>
          <a:ext cx="58521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011680"/>
                <a:gridCol w="1097280"/>
              </a:tblGrid>
              <a:tr h="34747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Fórmula × 100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Situação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IEP — Índice de Envelhecimento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60+ ÷ menores de 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F7D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RDI — Dependência de idosos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60+ ÷ 15 a 59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F7D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60 anos ou mais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60+ ÷ população 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F7D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 — Longevidade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75+ ÷ 60+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A33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inviável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3712464"/>
            <a:ext cx="5852160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672" y="3840480"/>
            <a:ext cx="5394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6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ajuste pedido.  </a:t>
            </a:r>
            <a:pPr indent="0" marL="0">
              <a:buNone/>
            </a:pPr>
            <a:r>
              <a:rPr lang="en-US" sz="12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versão anterior usava idosos ÷ crianças de 0 a 4 anos. O denominador correto é a população com menos de 15 anos — o índice antigo ficava cerca de três vezes maior.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846320"/>
            <a:ext cx="5852160" cy="969264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4974336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3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Longevidade não tem como ser calculada.  </a:t>
            </a:r>
            <a:pPr indent="0" marL="0">
              <a:buNone/>
            </a:pPr>
            <a:r>
              <a:rPr lang="en-US" sz="12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 a faixa 75+, e o topo da pirâmide que o IBGE publica é "70 anos ou mais".</a:t>
            </a:r>
            <a:endParaRPr lang="en-US" sz="12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675120" y="1737360"/>
          <a:ext cx="493776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7"/>
          <p:cNvSpPr/>
          <p:nvPr/>
        </p:nvSpPr>
        <p:spPr>
          <a:xfrm>
            <a:off x="6675120" y="45902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IEP por região no recorte ELSI urbano — acima de 100 há mais idosos que crianças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675120" y="5029200"/>
            <a:ext cx="4937760" cy="859536"/>
          </a:xfrm>
          <a:prstGeom prst="roundRect">
            <a:avLst>
              <a:gd name="adj" fmla="val 4255"/>
            </a:avLst>
          </a:prstGeom>
          <a:solidFill>
            <a:srgbClr val="0C2724"/>
          </a:solidFill>
          <a:ln w="12700">
            <a:solidFill>
              <a:srgbClr val="0C2724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894576" y="5157216"/>
            <a:ext cx="4498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A9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externa.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Brasil inteiro o IEP deu 79,99. O IBGE publica 80,0. A população somou 203.080.756 — o número oficial, na unidade.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E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 × ELSI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quanto a amostra se parece com o país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554480"/>
          <a:ext cx="58521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583680" y="1627632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1,3% dos municípios, a amostra cobre 26% da população — e quase 59% de todos os setores de favela do Brasil.</a:t>
            </a:r>
            <a:endParaRPr lang="en-US" sz="1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2615184"/>
          <a:ext cx="50292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914400"/>
                <a:gridCol w="914400"/>
              </a:tblGrid>
              <a:tr h="31089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Brasil urbano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ELSI 70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Esgoto inadequado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0,155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0,52×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Analfabetismo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0,058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0,036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0,62×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Água inadequada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0,083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0,069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0,83×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Renda média (R$)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3.209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4.187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1,31×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A33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Lixo inadequado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0,094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0,114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A33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1,21×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583680" y="4517136"/>
            <a:ext cx="5029200" cy="13716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803136" y="46451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A3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anomalia que vale investigar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6803136" y="49377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lixo é a única variável em que a amostra está pior que o Brasil urbano. A hipótese é a caçamba, que conta como destino inadequado e é muito mais comum em cidade grande. Se for isso, o indicador mede porte urbano, não vulnerabilidade.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C2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848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20" kern="0" dirty="0">
                <a:solidFill>
                  <a:srgbClr val="E0A9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2542032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Demandas e caminho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66928" y="3767328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B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sete demandas de julho, o que ficou pendente e a sequência até a submissão.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189720" y="2286000"/>
            <a:ext cx="274320" cy="274320"/>
          </a:xfrm>
          <a:prstGeom prst="rect">
            <a:avLst/>
          </a:prstGeom>
          <a:solidFill>
            <a:srgbClr val="8C2F27">
              <a:alpha val="8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528048" y="2286000"/>
            <a:ext cx="274320" cy="274320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866376" y="22860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204704" y="2286000"/>
            <a:ext cx="274320" cy="274320"/>
          </a:xfrm>
          <a:prstGeom prst="rect">
            <a:avLst/>
          </a:prstGeom>
          <a:solidFill>
            <a:srgbClr val="C9662F">
              <a:alpha val="8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543032" y="22860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189720" y="2624328"/>
            <a:ext cx="274320" cy="274320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528048" y="2624328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866376" y="2624328"/>
            <a:ext cx="274320" cy="274320"/>
          </a:xfrm>
          <a:prstGeom prst="rect">
            <a:avLst/>
          </a:prstGeom>
          <a:solidFill>
            <a:srgbClr val="C9662F">
              <a:alpha val="8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204704" y="2624328"/>
            <a:ext cx="274320" cy="274320"/>
          </a:xfrm>
          <a:prstGeom prst="rect">
            <a:avLst/>
          </a:prstGeom>
          <a:solidFill>
            <a:srgbClr val="0E6B62">
              <a:alpha val="8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543032" y="2624328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189720" y="2962656"/>
            <a:ext cx="274320" cy="274320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528048" y="2962656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866376" y="2962656"/>
            <a:ext cx="274320" cy="274320"/>
          </a:xfrm>
          <a:prstGeom prst="rect">
            <a:avLst/>
          </a:prstGeom>
          <a:solidFill>
            <a:srgbClr val="C9662F">
              <a:alpha val="8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204704" y="2962656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543032" y="2962656"/>
            <a:ext cx="274320" cy="274320"/>
          </a:xfrm>
          <a:prstGeom prst="rect">
            <a:avLst/>
          </a:prstGeom>
          <a:solidFill>
            <a:srgbClr val="8C2F27">
              <a:alpha val="8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189720" y="3300984"/>
            <a:ext cx="274320" cy="274320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528048" y="3300984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9866376" y="3300984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0204704" y="3300984"/>
            <a:ext cx="274320" cy="274320"/>
          </a:xfrm>
          <a:prstGeom prst="rect">
            <a:avLst/>
          </a:prstGeom>
          <a:solidFill>
            <a:srgbClr val="8C2F27">
              <a:alpha val="8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543032" y="3300984"/>
            <a:ext cx="274320" cy="274320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E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PRESTAÇÃO DE CONTAS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sete demandas da orientadora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2564892" cy="1883664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719072"/>
            <a:ext cx="365760" cy="365760"/>
          </a:xfrm>
          <a:prstGeom prst="ellipse">
            <a:avLst/>
          </a:prstGeom>
          <a:solidFill>
            <a:srgbClr val="0E6B62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719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19756" y="1719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7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68096" y="2157984"/>
            <a:ext cx="21625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Ajustar o índice de envelhecimento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68096" y="2670048"/>
            <a:ext cx="21625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Denominador corrigido para menores de 15, mais RDI e % 60+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68096" y="3108960"/>
            <a:ext cx="2162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IEP 92,7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7852" y="1536192"/>
            <a:ext cx="2564892" cy="1883664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89020" y="1719072"/>
            <a:ext cx="365760" cy="365760"/>
          </a:xfrm>
          <a:prstGeom prst="ellipse">
            <a:avLst/>
          </a:prstGeom>
          <a:solidFill>
            <a:srgbClr val="0E6B62"/>
          </a:solidFill>
          <a:ln/>
        </p:spPr>
      </p:sp>
      <p:sp>
        <p:nvSpPr>
          <p:cNvPr id="13" name="Text 11"/>
          <p:cNvSpPr/>
          <p:nvPr/>
        </p:nvSpPr>
        <p:spPr>
          <a:xfrm>
            <a:off x="3589020" y="1719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40680" y="1719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7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89020" y="2157984"/>
            <a:ext cx="21625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de variáveis com a fonte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89020" y="2670048"/>
            <a:ext cx="21625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 variáveis com descrição oficial do IBGE e arquivo de origem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589020" y="3108960"/>
            <a:ext cx="2162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+ XLSX + SQLite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08776" y="1536192"/>
            <a:ext cx="2564892" cy="1883664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9944" y="1719072"/>
            <a:ext cx="365760" cy="365760"/>
          </a:xfrm>
          <a:prstGeom prst="ellipse">
            <a:avLst/>
          </a:prstGeom>
          <a:solidFill>
            <a:srgbClr val="0E6B62"/>
          </a:solidFill>
          <a:ln/>
        </p:spPr>
      </p:sp>
      <p:sp>
        <p:nvSpPr>
          <p:cNvPr id="20" name="Text 18"/>
          <p:cNvSpPr/>
          <p:nvPr/>
        </p:nvSpPr>
        <p:spPr>
          <a:xfrm>
            <a:off x="6409944" y="1719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61604" y="1719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7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9944" y="2157984"/>
            <a:ext cx="21625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Excluir setores rurais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9944" y="2670048"/>
            <a:ext cx="21625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no notebook de análise, com conferência por município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09944" y="3108960"/>
            <a:ext cx="2162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2,04% excluídos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029700" y="1536192"/>
            <a:ext cx="2564892" cy="1883664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230868" y="1719072"/>
            <a:ext cx="365760" cy="365760"/>
          </a:xfrm>
          <a:prstGeom prst="ellipse">
            <a:avLst/>
          </a:prstGeom>
          <a:solidFill>
            <a:srgbClr val="0E6B62"/>
          </a:solidFill>
          <a:ln/>
        </p:spPr>
      </p:sp>
      <p:sp>
        <p:nvSpPr>
          <p:cNvPr id="27" name="Text 25"/>
          <p:cNvSpPr/>
          <p:nvPr/>
        </p:nvSpPr>
        <p:spPr>
          <a:xfrm>
            <a:off x="9230868" y="1719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082528" y="1719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7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230868" y="2157984"/>
            <a:ext cx="21625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Agrupar as moradias normais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230868" y="2670048"/>
            <a:ext cx="21625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Casa, vila/condomínio e apartamento formam o grupo convencional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230868" y="3108960"/>
            <a:ext cx="2162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99,19%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66928" y="3657600"/>
            <a:ext cx="2564892" cy="1883664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68096" y="3840480"/>
            <a:ext cx="365760" cy="365760"/>
          </a:xfrm>
          <a:prstGeom prst="ellipse">
            <a:avLst/>
          </a:prstGeom>
          <a:solidFill>
            <a:srgbClr val="0E6B62"/>
          </a:solidFill>
          <a:ln/>
        </p:spPr>
      </p:sp>
      <p:sp>
        <p:nvSpPr>
          <p:cNvPr id="34" name="Text 32"/>
          <p:cNvSpPr/>
          <p:nvPr/>
        </p:nvSpPr>
        <p:spPr>
          <a:xfrm>
            <a:off x="768096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619756" y="3840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7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68096" y="4279392"/>
            <a:ext cx="21625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Criar indicador de apartamento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68096" y="4791456"/>
            <a:ext cx="21625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V00049 dividido por V00001, com descritivas por região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68096" y="5230368"/>
            <a:ext cx="2162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31,5%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387852" y="3657600"/>
            <a:ext cx="2564892" cy="1883664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589020" y="3840480"/>
            <a:ext cx="365760" cy="365760"/>
          </a:xfrm>
          <a:prstGeom prst="ellipse">
            <a:avLst/>
          </a:prstGeom>
          <a:solidFill>
            <a:srgbClr val="0E6B62"/>
          </a:solidFill>
          <a:ln/>
        </p:spPr>
      </p:sp>
      <p:sp>
        <p:nvSpPr>
          <p:cNvPr id="41" name="Text 39"/>
          <p:cNvSpPr/>
          <p:nvPr/>
        </p:nvSpPr>
        <p:spPr>
          <a:xfrm>
            <a:off x="3589020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440680" y="3840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7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3589020" y="4279392"/>
            <a:ext cx="21625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Quantos setores são vilas e favelas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3589020" y="4791456"/>
            <a:ext cx="21625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Trouxe quatro colunas do arquivo básico que nunca tinham sido lidas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3589020" y="5230368"/>
            <a:ext cx="2162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19.507 setores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208776" y="3657600"/>
            <a:ext cx="2564892" cy="1883664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409944" y="3840480"/>
            <a:ext cx="365760" cy="365760"/>
          </a:xfrm>
          <a:prstGeom prst="ellipse">
            <a:avLst/>
          </a:prstGeom>
          <a:solidFill>
            <a:srgbClr val="0E6B62"/>
          </a:solidFill>
          <a:ln/>
        </p:spPr>
      </p:sp>
      <p:sp>
        <p:nvSpPr>
          <p:cNvPr id="48" name="Text 46"/>
          <p:cNvSpPr/>
          <p:nvPr/>
        </p:nvSpPr>
        <p:spPr>
          <a:xfrm>
            <a:off x="6409944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261604" y="3840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7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6409944" y="4279392"/>
            <a:ext cx="21625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Proporções para o Brasil todo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409944" y="4791456"/>
            <a:ext cx="21625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compartilhado aplicado aos 468 mil setores do país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409944" y="5230368"/>
            <a:ext cx="2162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população confere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9029700" y="3657600"/>
            <a:ext cx="2564892" cy="1883664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 w="12700">
            <a:solidFill>
              <a:srgbClr val="C9662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230868" y="3840480"/>
            <a:ext cx="21625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96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Pendente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9230868" y="4151376"/>
            <a:ext cx="21625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redação das limitações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9230868" y="4626864"/>
            <a:ext cx="21625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Lima-Costa &amp; Barreto foi lido e fichado. Falta escrever: falácia ecológica, viés de sobrevivência e exclusão de institucionalizados. É redação, não código.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E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PENDÊNCIAS E RISCOS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está em aberto</a:t>
            </a:r>
            <a:endParaRPr lang="en-US" sz="3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54480"/>
          <a:ext cx="11027664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6729984"/>
                <a:gridCol w="1097280"/>
              </a:tblGrid>
              <a:tr h="42062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Situação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Gravidade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Normalização de renda global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 min-max de todos os setores; precisa ser por município para capturar desigualdade intraurbana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A33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crítico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Relatório da EDA defasado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Descreve o recorte antigo, com rurais. Tem aviso no topo, mas precisa ser reescrito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06E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Municípios pequenos após o filtro rural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municípios perdem mais de metade dos setores; decidir um piso para análises municipais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06E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Lixo inadequado descolado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Pouco correlacionado com tudo e pior na amostra que no Brasil urbano — suspeita da caçamba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06E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Sigilo no analfabetismo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15,9% dos setores sem o dado, de forma não aleatória; o cálculo final precisa de política explícita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06E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Dependências e malha cartográfica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Falta biblioteca de análise fatorial, geopandas e a malha de setores 2022 do IBGE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F71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4718304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Decisões que dependem de você e da orientadora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66928" y="5102352"/>
            <a:ext cx="2551176" cy="859536"/>
          </a:xfrm>
          <a:prstGeom prst="roundRect">
            <a:avLst>
              <a:gd name="adj" fmla="val 4255"/>
            </a:avLst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9808" y="5212080"/>
            <a:ext cx="21854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Pesos: empíricos da fatorial ou guiados pela literatura (60% socioeconômica, 40% saneamento)?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92424" y="5102352"/>
            <a:ext cx="2551176" cy="859536"/>
          </a:xfrm>
          <a:prstGeom prst="roundRect">
            <a:avLst>
              <a:gd name="adj" fmla="val 4255"/>
            </a:avLst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575304" y="5212080"/>
            <a:ext cx="21854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o periódico-alvo — define formatação, limite de palavras e referências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17920" y="5102352"/>
            <a:ext cx="2551176" cy="859536"/>
          </a:xfrm>
          <a:prstGeom prst="roundRect">
            <a:avLst>
              <a:gd name="adj" fmla="val 4255"/>
            </a:avLst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0" y="5212080"/>
            <a:ext cx="21854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indicador de lixo entra como está?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9043416" y="5102352"/>
            <a:ext cx="2551176" cy="859536"/>
          </a:xfrm>
          <a:prstGeom prst="roundRect">
            <a:avLst>
              <a:gd name="adj" fmla="val 4255"/>
            </a:avLst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226296" y="5212080"/>
            <a:ext cx="21854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piso mínimo de setores para um município entrar nas análises municipais?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E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FAZER AGORA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caminho até a submissão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2551176" cy="2889504"/>
          </a:xfrm>
          <a:prstGeom prst="roundRect">
            <a:avLst>
              <a:gd name="adj" fmla="val 1434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86384" y="1755648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E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03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86384" y="2048256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Normalização por município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86384" y="265176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Min-max das sete variáveis dentro de cada cidade, com a renda invertida. Resolve o problema crítico da escala global.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86384" y="3803904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depende de nada — pode começar hoje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36392" y="2926080"/>
            <a:ext cx="219456" cy="201168"/>
          </a:xfrm>
          <a:prstGeom prst="rightArrow">
            <a:avLst/>
          </a:prstGeom>
          <a:solidFill>
            <a:srgbClr val="D5DEDB"/>
          </a:solidFill>
          <a:ln/>
        </p:spPr>
      </p:sp>
      <p:sp>
        <p:nvSpPr>
          <p:cNvPr id="10" name="Shape 8"/>
          <p:cNvSpPr/>
          <p:nvPr/>
        </p:nvSpPr>
        <p:spPr>
          <a:xfrm>
            <a:off x="3392424" y="1572768"/>
            <a:ext cx="2551176" cy="2889504"/>
          </a:xfrm>
          <a:prstGeom prst="roundRect">
            <a:avLst>
              <a:gd name="adj" fmla="val 1434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11880" y="1755648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E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04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11880" y="2048256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fatorial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3611880" y="265176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KMO, Bartlett, número de fatores, cargas e pesos sobre as variáveis padronizadas.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611880" y="3803904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do NB03 e de instalar factor_analyzer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61888" y="2926080"/>
            <a:ext cx="219456" cy="201168"/>
          </a:xfrm>
          <a:prstGeom prst="rightArrow">
            <a:avLst/>
          </a:prstGeom>
          <a:solidFill>
            <a:srgbClr val="D5DEDB"/>
          </a:solidFill>
          <a:ln/>
        </p:spPr>
      </p:sp>
      <p:sp>
        <p:nvSpPr>
          <p:cNvPr id="16" name="Shape 14"/>
          <p:cNvSpPr/>
          <p:nvPr/>
        </p:nvSpPr>
        <p:spPr>
          <a:xfrm>
            <a:off x="6217920" y="1572768"/>
            <a:ext cx="2551176" cy="2889504"/>
          </a:xfrm>
          <a:prstGeom prst="roundRect">
            <a:avLst>
              <a:gd name="adj" fmla="val 1434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37376" y="1755648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C96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05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37376" y="2048256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índice e as faixas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37376" y="265176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ponderada, categorização em 4 faixas de risco e validação contra os setores de favela.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37376" y="3803904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da decisão sobre os pesos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787384" y="2926080"/>
            <a:ext cx="219456" cy="201168"/>
          </a:xfrm>
          <a:prstGeom prst="rightArrow">
            <a:avLst/>
          </a:prstGeom>
          <a:solidFill>
            <a:srgbClr val="D5DEDB"/>
          </a:solidFill>
          <a:ln/>
        </p:spPr>
      </p:sp>
      <p:sp>
        <p:nvSpPr>
          <p:cNvPr id="22" name="Shape 20"/>
          <p:cNvSpPr/>
          <p:nvPr/>
        </p:nvSpPr>
        <p:spPr>
          <a:xfrm>
            <a:off x="9043416" y="1572768"/>
            <a:ext cx="2551176" cy="2889504"/>
          </a:xfrm>
          <a:prstGeom prst="roundRect">
            <a:avLst>
              <a:gd name="adj" fmla="val 1434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262872" y="1755648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C96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QGIS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262872" y="2048256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Mapas e autocorrelação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9262872" y="265176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Mapas coropléticos por município e índice de Moran, no modelo do artigo de Mato Grosso.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262872" y="3803904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da malha de setores 2022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66928" y="4663440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coisas para fazer em paralelo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66928" y="5029200"/>
            <a:ext cx="110276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Baixar a malha de setores 2022 e instalar geopandas — é pré-requisito dos mapas e não depende de nenhuma decisão. Se ficar para setembro, vira gargalo.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Escrever as limitações com o Lima-Costa &amp; Barreto — único item pendente das demandas, e não depende do índice existir.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Levar as quatro decisões para a próxima reunião com a orientadora.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C2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7007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9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VOCÊ SÓ TIVER UMA TARDE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2139696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Comece pelo Notebook 03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66928" y="3163824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7C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normalização por município é o único passo do caminho crítico que não depende de nenhuma decisão pendente. Abra o GUIA_DO_PROJETO.md, rode os testes para ver a pipeline verde, e comece.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4517136"/>
            <a:ext cx="4114800" cy="566928"/>
          </a:xfrm>
          <a:prstGeom prst="roundRect">
            <a:avLst>
              <a:gd name="adj" fmla="val 9677"/>
            </a:avLst>
          </a:prstGeom>
          <a:solidFill>
            <a:srgbClr val="0E6B62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4517136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pytest tests/ -v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59436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E9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IVS — Censo 2022  ·  Fiocruz Minas, IRR  ·  9 de agosto de 2026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326880" y="2286000"/>
            <a:ext cx="292608" cy="292608"/>
          </a:xfrm>
          <a:prstGeom prst="rect">
            <a:avLst/>
          </a:prstGeom>
          <a:solidFill>
            <a:srgbClr val="8C2F27">
              <a:alpha val="8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688068" y="2286000"/>
            <a:ext cx="292608" cy="292608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049256" y="2286000"/>
            <a:ext cx="292608" cy="292608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410444" y="2286000"/>
            <a:ext cx="292608" cy="292608"/>
          </a:xfrm>
          <a:prstGeom prst="rect">
            <a:avLst/>
          </a:prstGeom>
          <a:solidFill>
            <a:srgbClr val="C9662F">
              <a:alpha val="8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771632" y="2286000"/>
            <a:ext cx="292608" cy="292608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326880" y="2647188"/>
            <a:ext cx="292608" cy="292608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688068" y="2647188"/>
            <a:ext cx="292608" cy="292608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049256" y="2647188"/>
            <a:ext cx="292608" cy="292608"/>
          </a:xfrm>
          <a:prstGeom prst="rect">
            <a:avLst/>
          </a:prstGeom>
          <a:solidFill>
            <a:srgbClr val="C9662F">
              <a:alpha val="8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410444" y="2647188"/>
            <a:ext cx="292608" cy="292608"/>
          </a:xfrm>
          <a:prstGeom prst="rect">
            <a:avLst/>
          </a:prstGeom>
          <a:solidFill>
            <a:srgbClr val="0E6B62">
              <a:alpha val="8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771632" y="2647188"/>
            <a:ext cx="292608" cy="292608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326880" y="3008376"/>
            <a:ext cx="292608" cy="292608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688068" y="3008376"/>
            <a:ext cx="292608" cy="292608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049256" y="3008376"/>
            <a:ext cx="292608" cy="292608"/>
          </a:xfrm>
          <a:prstGeom prst="rect">
            <a:avLst/>
          </a:prstGeom>
          <a:solidFill>
            <a:srgbClr val="C9662F">
              <a:alpha val="8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410444" y="3008376"/>
            <a:ext cx="292608" cy="292608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0771632" y="3008376"/>
            <a:ext cx="292608" cy="292608"/>
          </a:xfrm>
          <a:prstGeom prst="rect">
            <a:avLst/>
          </a:prstGeom>
          <a:solidFill>
            <a:srgbClr val="8C2F27">
              <a:alpha val="8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9326880" y="3369564"/>
            <a:ext cx="292608" cy="292608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9688068" y="3369564"/>
            <a:ext cx="292608" cy="292608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0049256" y="3369564"/>
            <a:ext cx="292608" cy="292608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0410444" y="3369564"/>
            <a:ext cx="292608" cy="292608"/>
          </a:xfrm>
          <a:prstGeom prst="rect">
            <a:avLst/>
          </a:prstGeom>
          <a:solidFill>
            <a:srgbClr val="8C2F27">
              <a:alpha val="8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771632" y="3369564"/>
            <a:ext cx="292608" cy="292608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IVS Censo 2022 — Retomada do Projeto</dc:title>
  <dc:subject>PptxGenJS Presentation</dc:subject>
  <dc:creator>Pedro Dias Soares</dc:creator>
  <cp:lastModifiedBy>Pedro Dias Soares</cp:lastModifiedBy>
  <cp:revision>1</cp:revision>
  <dcterms:created xsi:type="dcterms:W3CDTF">2026-08-09T16:40:39Z</dcterms:created>
  <dcterms:modified xsi:type="dcterms:W3CDTF">2026-08-09T16:40:39Z</dcterms:modified>
</cp:coreProperties>
</file>