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9" r:id="rId40"/>
    <p:sldId id="302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2423"/>
    <p:restoredTop sz="94610"/>
  </p:normalViewPr>
  <p:slideViewPr>
    <p:cSldViewPr snapToGrid="0" snapToObjects="1">
      <p:cViewPr>
        <p:scale>
          <a:sx n="143" d="100"/>
          <a:sy n="143" d="100"/>
        </p:scale>
        <p:origin x="816" y="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211043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Primeira apresentação que reúne a EDA inteira. As anteriores eram recortes: cada deck foi montado em torno da pauta do mês, e o que não estava na pauta caía fora sem aviso.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das sete são fortemente assimétricas à direita, com massa concentrada no zero. A razão de moradores é a única aproximadamente simétrica.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critério global inverte esse retrato: marca 4,61% do Sudeste e só 1,32% do Norte. Dos cerca de 4.000 setores marcados pelos dois critérios, apenas 1.673 coincidem.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Apartamento vai de 15,7% no Norte a 36,9% no Sul — é o indicador de morfologia pedido pela orientadora em julho. Cortiço e casa de cômodos concentram-se no Centro-Oeste.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Esgoto inadequado é 4,1 vezes maior em setor de favela; lixo, 2,9 vezes. A razão de moradores difere pouco (1,11), o que é coerente: adensamento domiciliar não é o eixo que separa favela do resto da cidade.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população nacional calculada pela pipeline confere com o número oficial do Censo 2022: 203.080.756.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2344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50" kern="0" spc="2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INICIAÇÃO CIENTÍFICA · FIOCRUZ MINAS — IRR</a:t>
            </a:r>
            <a:endParaRPr lang="pt-BR" sz="1150" noProof="0" dirty="0"/>
          </a:p>
        </p:txBody>
      </p:sp>
      <p:sp>
        <p:nvSpPr>
          <p:cNvPr id="3" name="Shape 1"/>
          <p:cNvSpPr/>
          <p:nvPr/>
        </p:nvSpPr>
        <p:spPr>
          <a:xfrm>
            <a:off x="777240" y="162763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1783080"/>
            <a:ext cx="106344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EDA Central</a:t>
            </a:r>
            <a:endParaRPr lang="pt-BR" sz="4000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278892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pt-BR" sz="14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 de Vulnerabilidade da Saúde intraurbano · Censo Demográfico 2022 · 70 municípios do ELSI-Brasil</a:t>
            </a:r>
            <a:endParaRPr lang="pt-BR" sz="1400" noProof="0" dirty="0"/>
          </a:p>
          <a:p>
            <a:pPr marL="0" indent="0">
              <a:lnSpc>
                <a:spcPts val="2000"/>
              </a:lnSpc>
              <a:buNone/>
            </a:pPr>
            <a:r>
              <a:rPr lang="pt-BR" sz="14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 a análise exploratória reunida em um só lugar, recalculada no recorte atual.</a:t>
            </a:r>
            <a:endParaRPr lang="pt-BR" sz="1400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5623560"/>
            <a:ext cx="10634472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5760720"/>
            <a:ext cx="106344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 ·  agosto de 2026  ·  104.108 setores censitários urbanos elegíveis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desenho do estudo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pergunta, a base e como a pipeline está estruturada.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e o objeto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164592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 vulnerabilidade à saúde se distribui DENTRO das cidades brasileiras onde vive a coorte do ELSI-Brasil, e o que essa distribuição revela sobre desigualdade intraurbana?</a:t>
            </a:r>
            <a:endParaRPr lang="pt-BR" sz="1250" noProof="0" dirty="0"/>
          </a:p>
        </p:txBody>
      </p:sp>
      <p:sp>
        <p:nvSpPr>
          <p:cNvPr id="6" name="Text 4"/>
          <p:cNvSpPr/>
          <p:nvPr/>
        </p:nvSpPr>
        <p:spPr>
          <a:xfrm>
            <a:off x="6492240" y="1645920"/>
            <a:ext cx="53492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objeto: o setor censitário.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menor unidade territorial do Censo. O IVS é um índice INTRAURBANO — compara setores dentro da mesma cidade, não cidades entre si. É dessa escolha que decorrem o recorte urbano, a normalização por município e o desenho ecológico.</a:t>
            </a:r>
            <a:endParaRPr lang="pt-BR" sz="1250" noProof="0" dirty="0"/>
          </a:p>
        </p:txBody>
      </p:sp>
      <p:sp>
        <p:nvSpPr>
          <p:cNvPr id="7" name="Shape 5"/>
          <p:cNvSpPr/>
          <p:nvPr/>
        </p:nvSpPr>
        <p:spPr>
          <a:xfrm>
            <a:off x="77724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104.108</a:t>
            </a:r>
            <a:endParaRPr lang="pt-BR" sz="300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urbanos elegíveis</a:t>
            </a:r>
            <a:endParaRPr lang="pt-BR" sz="1050" noProof="0" dirty="0"/>
          </a:p>
        </p:txBody>
      </p:sp>
      <p:sp>
        <p:nvSpPr>
          <p:cNvPr id="10" name="Shape 8"/>
          <p:cNvSpPr/>
          <p:nvPr/>
        </p:nvSpPr>
        <p:spPr>
          <a:xfrm>
            <a:off x="347472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9"/>
          <p:cNvSpPr/>
          <p:nvPr/>
        </p:nvSpPr>
        <p:spPr>
          <a:xfrm>
            <a:off x="347472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</a:t>
            </a:r>
            <a:endParaRPr lang="pt-BR" sz="3000" noProof="0" dirty="0"/>
          </a:p>
        </p:txBody>
      </p:sp>
      <p:sp>
        <p:nvSpPr>
          <p:cNvPr id="12" name="Text 10"/>
          <p:cNvSpPr/>
          <p:nvPr/>
        </p:nvSpPr>
        <p:spPr>
          <a:xfrm>
            <a:off x="347472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municípios do ELSI-Brasil</a:t>
            </a:r>
            <a:endParaRPr lang="pt-BR" sz="1050" noProof="0" dirty="0"/>
          </a:p>
        </p:txBody>
      </p:sp>
      <p:sp>
        <p:nvSpPr>
          <p:cNvPr id="13" name="Shape 11"/>
          <p:cNvSpPr/>
          <p:nvPr/>
        </p:nvSpPr>
        <p:spPr>
          <a:xfrm>
            <a:off x="617220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2"/>
          <p:cNvSpPr/>
          <p:nvPr/>
        </p:nvSpPr>
        <p:spPr>
          <a:xfrm>
            <a:off x="617220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pt-BR" sz="3000" noProof="0" dirty="0"/>
          </a:p>
        </p:txBody>
      </p:sp>
      <p:sp>
        <p:nvSpPr>
          <p:cNvPr id="15" name="Text 13"/>
          <p:cNvSpPr/>
          <p:nvPr/>
        </p:nvSpPr>
        <p:spPr>
          <a:xfrm>
            <a:off x="617220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arquivos do Censo 2022</a:t>
            </a:r>
            <a:endParaRPr lang="pt-BR" sz="1050" noProof="0" dirty="0"/>
          </a:p>
        </p:txBody>
      </p:sp>
      <p:sp>
        <p:nvSpPr>
          <p:cNvPr id="16" name="Shape 14"/>
          <p:cNvSpPr/>
          <p:nvPr/>
        </p:nvSpPr>
        <p:spPr>
          <a:xfrm>
            <a:off x="8869680" y="3794760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8869680" y="3867912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73</a:t>
            </a:r>
            <a:endParaRPr lang="pt-BR" sz="3000" noProof="0" dirty="0"/>
          </a:p>
        </p:txBody>
      </p:sp>
      <p:sp>
        <p:nvSpPr>
          <p:cNvPr id="18" name="Text 16"/>
          <p:cNvSpPr/>
          <p:nvPr/>
        </p:nvSpPr>
        <p:spPr>
          <a:xfrm>
            <a:off x="8869680" y="4453128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variáveis na base bruta</a:t>
            </a:r>
            <a:endParaRPr lang="pt-BR" sz="1050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548640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recorte reúne 61,4% de toda a população de favela do país — conferido contra o dado oficial do IBGE.</a:t>
            </a:r>
            <a:endParaRPr lang="pt-BR" sz="1350" noProof="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Quem entra na análise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Sigilo, elegibilidade e o recorte urbano — as três decisões que definem a base.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 universo do Censo aos setores analisados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Cada corte é auditável e reversível: a base bruta guarda os 109.032 setores.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1759243"/>
              </p:ext>
            </p:extLst>
          </p:nvPr>
        </p:nvGraphicFramePr>
        <p:xfrm>
          <a:off x="777240" y="1645920"/>
          <a:ext cx="10881360" cy="2340864"/>
        </p:xfrm>
        <a:graphic>
          <a:graphicData uri="http://schemas.openxmlformats.org/drawingml/2006/table">
            <a:tbl>
              <a:tblPr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91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Etapa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Critério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sai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Universo do Censo 2022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inteiro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468.099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Filtro ELSI-Brasil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 municípios da coorte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109.032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fora da coorte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ZERADO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= 0 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−1.736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sem população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SIGILOSO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 ou V00001 suprimidos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−1.015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denominador calculável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COLETIVO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= 0 com população &gt; 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 vazia — ver limitações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Elegíveis (</a:t>
                      </a:r>
                      <a:r>
                        <a:rPr lang="pt-BR" sz="12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Dados_sig</a:t>
                      </a: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= OK)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106.281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Recorte urbano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SITUACAO = Urbana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2.173 setores rurais elegíveis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6085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5"/>
          <p:cNvSpPr/>
          <p:nvPr/>
        </p:nvSpPr>
        <p:spPr>
          <a:xfrm>
            <a:off x="777240" y="466344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exclusão rural, conferida município a município.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 dos 70 municípios perdem mais de 10% dos setores e 7 ficam com menos de 10. Isso afeta a estabilidade das descritivas municipais e consta das limitações.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do IVS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Fórmulas, distribuições, outliers e dados faltantes.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— fórmulas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Adaptadas do IVS-BH 2012 ao Censo 2022. Denominador domiciliar padrão: V00001.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43804594"/>
              </p:ext>
            </p:extLst>
          </p:nvPr>
        </p:nvGraphicFramePr>
        <p:xfrm>
          <a:off x="777240" y="1645920"/>
          <a:ext cx="10881360" cy="2340864"/>
        </p:xfrm>
        <a:graphic>
          <a:graphicData uri="http://schemas.openxmlformats.org/drawingml/2006/table">
            <a:tbl>
              <a:tblPr/>
              <a:tblGrid>
                <a:gridCol w="2834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Numerador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Denominador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Dimensão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V00112 … V00118 (fonte alternativa)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pct_esgoto_inad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V00312 … V00316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pct_lixo_inad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V00398 … V00402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Saneamento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razao_moradores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V00005 + V00006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V00001 + V00002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pct_analfab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V00900 + V00901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V06004 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pct_raca_pretpardind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V01318 + V01320 + V01321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Socioeconômica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5262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Denominador consolidado.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V00001 substituiu V01042, que era contagem de PESSOAS. Nenhuma proporção estoura 1,0.</a:t>
            </a:r>
            <a:endParaRPr lang="pt-BR" sz="1250" noProof="0" dirty="0"/>
          </a:p>
        </p:txBody>
      </p:sp>
      <p:sp>
        <p:nvSpPr>
          <p:cNvPr id="8" name="Shape 5"/>
          <p:cNvSpPr/>
          <p:nvPr/>
        </p:nvSpPr>
        <p:spPr>
          <a:xfrm>
            <a:off x="4617720" y="44714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4617720" y="4526280"/>
            <a:ext cx="347472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Analfabetismo corrigido.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taxa é V00901 / (V00900 + V00901). Antes era V00901/V00900, que é razão, não taxa.</a:t>
            </a:r>
            <a:endParaRPr lang="pt-BR" sz="1250" noProof="0" dirty="0"/>
          </a:p>
        </p:txBody>
      </p:sp>
      <p:sp>
        <p:nvSpPr>
          <p:cNvPr id="6" name="Text 7"/>
          <p:cNvSpPr/>
          <p:nvPr/>
        </p:nvSpPr>
        <p:spPr>
          <a:xfrm>
            <a:off x="8458200" y="4526280"/>
            <a:ext cx="338328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Três não reprodutíveis.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Anos de estudo, faixas de renda e óbitos cardiovasculares não existem nos agregados. Substituídos por proxies declarados.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em números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 mediana lado a lado — a distância entre elas mede a assimetria.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0020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em números.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5623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descritivas_globais.csv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950" noProof="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52239112"/>
              </p:ext>
            </p:extLst>
          </p:nvPr>
        </p:nvGraphicFramePr>
        <p:xfrm>
          <a:off x="777240" y="2148840"/>
          <a:ext cx="11795760" cy="2926080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p75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Assim.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2,713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6,913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-0,22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87.556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</a:t>
                      </a:r>
                      <a:r>
                        <a:rPr lang="pt-BR" sz="12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104.096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4.187,41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4.835,89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170.418,06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104.106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-0,39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93776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três das sete a mediana é zero: água, esgoto e lixo não têm inadequação medida na maioria dos setores urbanos. Os dois números que abrem as seções seguintes são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do analfabetismo e a assimetria da renda.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por região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gradiente Norte–Sul aparece em seis das sete.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2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sete componentes por região.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descritivas_por_regiao.csv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950" noProof="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0217847"/>
              </p:ext>
            </p:extLst>
          </p:nvPr>
        </p:nvGraphicFramePr>
        <p:xfrm>
          <a:off x="777240" y="2103120"/>
          <a:ext cx="11567160" cy="2926080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0,323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0,238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3,194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2,771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2,626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2,529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</a:t>
                      </a:r>
                      <a:r>
                        <a:rPr lang="pt-BR" sz="12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2.880,50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3.008,45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4.944,55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4.490,82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4.842,18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0,713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0,565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57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entre setores: cada setor pesa igual, independentemente de quantos domicílios tem.</a:t>
            </a:r>
            <a:endParaRPr lang="pt-B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padrão esperado, confirmado.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inadequada no Norte é dezesseis vezes a do Sul; o esgoto, oito vezes. A razão de moradores acompanha: 3,19 no Norte contra 2,53 no Sul.</a:t>
            </a:r>
            <a:endParaRPr lang="pt-BR" sz="1250" noProof="0" dirty="0"/>
          </a:p>
        </p:txBody>
      </p:sp>
      <p:sp>
        <p:nvSpPr>
          <p:cNvPr id="11" name="Shape 8"/>
          <p:cNvSpPr/>
          <p:nvPr/>
        </p:nvSpPr>
        <p:spPr>
          <a:xfrm>
            <a:off x="6492240" y="56418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9"/>
          <p:cNvSpPr/>
          <p:nvPr/>
        </p:nvSpPr>
        <p:spPr>
          <a:xfrm>
            <a:off x="6492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exceções que importam.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analfabetismo tem pico no Nordeste, não no Norte. E o lixo inadequado é MAIOR no Nordeste e no Sudeste que no Norte — indício de que mede porte urbano.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as sete variáveis se distribuem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Histogramas sobre os setores urbanos elegíveis.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banco_de_dados/eda/figuras/histogram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96" y="1389888"/>
            <a:ext cx="7452360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/figuras/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histogramas.png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gerada pela célula step8 do Notebook 02.</a:t>
            </a:r>
            <a:endParaRPr lang="pt-BR" sz="950" noProof="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Distribuição por região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Boxplots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das sete componentes, região a região.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banco_de_dados/eda/figuras/boxplots_por_regi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5768" y="1389888"/>
            <a:ext cx="6757416" cy="4937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/figuras/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boxplots_por_regiao.png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célula step9 do Notebook 02.</a:t>
            </a:r>
            <a:endParaRPr lang="pt-BR" sz="950" noProof="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Outliers: a regra do IQR não serve para o saneamento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Quando a mediana e o primeiro quartil são zero, o IQR marca como atípico todo setor com qualquer inadequação.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3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 pela regra do IQR.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outliers.csv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950" noProof="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8163975"/>
              </p:ext>
            </p:extLst>
          </p:nvPr>
        </p:nvGraphicFramePr>
        <p:xfrm>
          <a:off x="777240" y="2103120"/>
          <a:ext cx="11795760" cy="277977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Componente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q1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q3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Limite sup.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Outliers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base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IQR serve?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21.532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20,68%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20.901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20,08%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0,149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19.124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18,37%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2,479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3,597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3.632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3,49%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4.114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4,70%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</a:t>
                      </a:r>
                      <a:r>
                        <a:rPr lang="pt-BR" sz="12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1.752,477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4.835,885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9.460,996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10.469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10,06%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0,704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1,232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sim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1091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Limite superior = q3 + 1,5 × (q3 − q1), a regra de </a:t>
            </a:r>
            <a:r>
              <a:rPr lang="pt-BR" sz="11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Tukey</a:t>
            </a: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100" noProof="0" dirty="0"/>
          </a:p>
        </p:txBody>
      </p:sp>
      <p:sp>
        <p:nvSpPr>
          <p:cNvPr id="10" name="Shape 7"/>
          <p:cNvSpPr/>
          <p:nvPr/>
        </p:nvSpPr>
        <p:spPr>
          <a:xfrm>
            <a:off x="777240" y="549554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777240" y="5550408"/>
            <a:ext cx="5349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IQR falha.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Água, esgoto e lixo têm cerca de 20% dos setores classificados como outlier. O que a regra está marcando é a forma da distribuição, não uma cauda de casos extremos.</a:t>
            </a:r>
            <a:endParaRPr lang="pt-BR" sz="1250" noProof="0" dirty="0"/>
          </a:p>
        </p:txBody>
      </p:sp>
      <p:sp>
        <p:nvSpPr>
          <p:cNvPr id="12" name="Text 9"/>
          <p:cNvSpPr/>
          <p:nvPr/>
        </p:nvSpPr>
        <p:spPr>
          <a:xfrm>
            <a:off x="6492240" y="5550408"/>
            <a:ext cx="534924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o IQR funciona.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moradores, analfabetismo, renda e cor/raça têm distribuições com dispersão real — ali a regra identifica extremos de verdade.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Dados faltantes e o sigilo do IBGE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Seis das sete componentes têm cobertura praticamente total. O problema está concentrado em uma.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banco_de_dados/eda/figuras/missing_por_municipi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1417320"/>
            <a:ext cx="3429000" cy="44805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4709160" y="154533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4709160" y="1600200"/>
            <a:ext cx="68122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variável que concentra o problema.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pct_analfab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tem 15,9% dos setores sem dado — 16.552 no recorte urbano. As outras seis componentes ficam todas abaixo de 0,05% de ausentes, ou seja, cobertura praticamente total.</a:t>
            </a:r>
            <a:endParaRPr lang="pt-BR" sz="1250" noProof="0" dirty="0"/>
          </a:p>
        </p:txBody>
      </p:sp>
      <p:sp>
        <p:nvSpPr>
          <p:cNvPr id="9" name="Shape 6"/>
          <p:cNvSpPr/>
          <p:nvPr/>
        </p:nvSpPr>
        <p:spPr>
          <a:xfrm>
            <a:off x="4709160" y="35570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4709160" y="3611880"/>
            <a:ext cx="68122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não é aleatório.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supressão de V00901 acontece onde há poucos analfabetos — ou seja, nos setores de melhor situação socioeconômica. A tabela seguinte mostra a dependência com o porte do setor, que é a prova do mecanismo.</a:t>
            </a:r>
            <a:endParaRPr lang="pt-BR" sz="1250" noProof="0" dirty="0"/>
          </a:p>
        </p:txBody>
      </p:sp>
      <p:sp>
        <p:nvSpPr>
          <p:cNvPr id="11" name="Text 8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/figuras/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missing_por_municipio.png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célula step11 do Notebook 02.</a:t>
            </a:r>
            <a:endParaRPr lang="pt-BR" sz="950" noProof="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depende do porte do setor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prova de que a supressão não é aleatória — e de que o viés tem direção conhecida.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72768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4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do analfabetismo depende do porte do setor.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28800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auditoria_analfabetismo_v00900_bins.csv.</a:t>
            </a:r>
            <a:endParaRPr lang="pt-BR" sz="950" noProof="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40781863"/>
              </p:ext>
            </p:extLst>
          </p:nvPr>
        </p:nvGraphicFramePr>
        <p:xfrm>
          <a:off x="777240" y="2121408"/>
          <a:ext cx="10881360" cy="292608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Pessoas alfabetizadas no setor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 V00901 sigilosa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sigilo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1-10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44,09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11-50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1.619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36,50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51-100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3.279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24,73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101-200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11.061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2.443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22,09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201-500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62.736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10.801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17,22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501-1000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27.013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2.051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7,59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1000+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3,33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7550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 44,09% nos setores menores a 3,33% nos maiores — a supressão não é aleatória.</a:t>
            </a:r>
            <a:endParaRPr lang="pt-B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5715000"/>
            <a:ext cx="106344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isso permite afirmar.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setores excluídos são os de menor analfabetismo, a média observada é um TETO. E como o IBGE reporta os zeros, o valor suprimido é ≥ 1 — o que fecha o intervalo: a média verdadeira está entre 3,14% e 3,64%.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estrutura de associação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matriz ampliada para dez variáveis, e o que ela decide.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Matriz de correlação — agora com dez variáveis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de agosto: idosos de 60+, menores de 5 anos e chefia feminina entram na matriz.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banco_de_dados/eda/figuras/matriz_correlaca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208" y="1444752"/>
            <a:ext cx="11155680" cy="4846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linha preta separa as 7 componentes do IVS das 3 descritivas. Elas não entram no índice — estão na matriz para decidir se deveriam.</a:t>
            </a:r>
            <a:endParaRPr lang="pt-BR" sz="950" noProof="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matriz decidiu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pergunta que interessa: alguma das três descritivas merece entrar no índice?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0680121"/>
              </p:ext>
            </p:extLst>
          </p:nvPr>
        </p:nvGraphicFramePr>
        <p:xfrm>
          <a:off x="777240" y="1691640"/>
          <a:ext cx="10881360" cy="1743456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40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Variável descritiva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Maior |</a:t>
                      </a:r>
                      <a:r>
                        <a:rPr lang="pt-BR" sz="12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| com o IVS-7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|</a:t>
                      </a:r>
                      <a:r>
                        <a:rPr lang="pt-BR" sz="125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|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Leitura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pct_resp_feminino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−0,299 com renda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0,133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carrega eixo próprio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pct_crianca_0a4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−0,517 com renda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0,383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redundante com o que já existe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pct_idoso_60mais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−0,541 com cor/raça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0,392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redundante com o que já existe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3528478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é a candidata.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|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 de 0,133 contra as sete componentes. Ela mede algo que nenhuma variável do índice captura</a:t>
            </a:r>
            <a:endParaRPr lang="pt-BR" sz="1250" noProof="0" dirty="0"/>
          </a:p>
        </p:txBody>
      </p:sp>
      <p:sp>
        <p:nvSpPr>
          <p:cNvPr id="8" name="Shape 5"/>
          <p:cNvSpPr/>
          <p:nvPr/>
        </p:nvSpPr>
        <p:spPr>
          <a:xfrm>
            <a:off x="6492240" y="3503760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6492240" y="3518429"/>
            <a:ext cx="53492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Idosos e crianças são espelhos.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Correlação de −0,722 entre si: são os dois lados da mesma estrutura etária. Colocar as duas no índice contaria a mesma coisa duas vezes.</a:t>
            </a:r>
            <a:endParaRPr lang="pt-BR" sz="1250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502920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Renda, cor/raça e analfabetismo correlacionam-se entre si a −0,81, −0,76 e +0,63. </a:t>
            </a:r>
            <a:endParaRPr lang="pt-BR" sz="1350" noProof="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renda sob auditoria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Cinco demandas de agosto convergem aqui, do caso isolado à decisão de escala.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caso que abriu o assunto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Um setor com renda média declarada de 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$ 170.418,06 por responsável.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627632"/>
            <a:ext cx="5120640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56534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CD_SETOR 310620005650366</a:t>
            </a:r>
            <a:endParaRPr lang="pt-BR" sz="1200" noProof="0" dirty="0"/>
          </a:p>
        </p:txBody>
      </p:sp>
      <p:sp>
        <p:nvSpPr>
          <p:cNvPr id="8" name="Text 6"/>
          <p:cNvSpPr/>
          <p:nvPr/>
        </p:nvSpPr>
        <p:spPr>
          <a:xfrm>
            <a:off x="777240" y="2108544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42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4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$ 170.418,06</a:t>
            </a:r>
            <a:endParaRPr lang="pt-BR" sz="4200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871216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pt-BR" sz="13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Belo Horizonte · bairro Senhor dos Passos</a:t>
            </a:r>
            <a:endParaRPr lang="pt-BR" sz="1300" noProof="0" dirty="0"/>
          </a:p>
          <a:p>
            <a:pPr marL="0" indent="0">
              <a:lnSpc>
                <a:spcPts val="1900"/>
              </a:lnSpc>
              <a:buNone/>
            </a:pPr>
            <a:r>
              <a:rPr lang="pt-BR" sz="13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CD_TIPO = 1 — Favela e Comunidade Urbana</a:t>
            </a:r>
            <a:endParaRPr lang="pt-BR" sz="1300" noProof="0" dirty="0"/>
          </a:p>
          <a:p>
            <a:pPr marL="0" indent="0">
              <a:lnSpc>
                <a:spcPts val="1900"/>
              </a:lnSpc>
              <a:buNone/>
            </a:pPr>
            <a:r>
              <a:rPr lang="pt-BR" sz="13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186 domicílios · 518 pessoas · 31 analfabetos</a:t>
            </a:r>
            <a:endParaRPr lang="pt-BR" sz="1300" noProof="0" dirty="0"/>
          </a:p>
        </p:txBody>
      </p:sp>
      <p:sp>
        <p:nvSpPr>
          <p:cNvPr id="10" name="Shape 8"/>
          <p:cNvSpPr/>
          <p:nvPr/>
        </p:nvSpPr>
        <p:spPr>
          <a:xfrm>
            <a:off x="777240" y="4041648"/>
            <a:ext cx="5120640" cy="0"/>
          </a:xfrm>
          <a:prstGeom prst="line">
            <a:avLst/>
          </a:prstGeom>
          <a:noFill/>
          <a:ln w="9525">
            <a:solidFill>
              <a:srgbClr val="C8C6C0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Shape 12"/>
          <p:cNvSpPr/>
          <p:nvPr/>
        </p:nvSpPr>
        <p:spPr>
          <a:xfrm>
            <a:off x="6492240" y="159105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3"/>
          <p:cNvSpPr/>
          <p:nvPr/>
        </p:nvSpPr>
        <p:spPr>
          <a:xfrm>
            <a:off x="6492240" y="164592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não é renda alta.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$ 170 mil × 186 domicílios daria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$ 31,7 milhões por mês circulando numa favela de 186 casas. O perfil do setor não sustenta esse valor.</a:t>
            </a:r>
            <a:endParaRPr lang="pt-BR" sz="1250" noProof="0" dirty="0"/>
          </a:p>
        </p:txBody>
      </p:sp>
      <p:sp>
        <p:nvSpPr>
          <p:cNvPr id="16" name="Shape 14"/>
          <p:cNvSpPr/>
          <p:nvPr/>
        </p:nvSpPr>
        <p:spPr>
          <a:xfrm>
            <a:off x="6492240" y="30998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6492240" y="3154680"/>
            <a:ext cx="534924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o próprio IBGE responde.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arquivo traz V06005, a variância. Aqui o CV é 5,26 contra mediana nacional de 0,78. Se fosse vírgula fora do lugar, o CV seria da ordem de 526 — a média está sendo puxada por poucas declarações.</a:t>
            </a:r>
            <a:endParaRPr lang="pt-BR" sz="1250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renda_outliers_rastreados.csv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— 3.358 setores, um por linha, com identificação completa.</a:t>
            </a:r>
            <a:endParaRPr lang="pt-BR" sz="950" noProof="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separamos erro de dado de renda alta de verdade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Duas decisões de método fizeram a classificação funcionar.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4592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A detecção é por município, não global.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IVS é intraurbano.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$ 20 mil é comum em São Paulo e anômalo em Autazes. Um corte global mede a distância ENTRE cidades, que não é o objeto.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6492240" y="164592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Extremo suspeito ≠ extremo alto.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levanta suspeita não é o valor, é a INCOERÊNCIA: setor no topo da renda local que também é favela, ou tem analfabetismo e proporção PPI acima da mediana do município.</a:t>
            </a:r>
            <a:endParaRPr lang="pt-BR" sz="1250" noProof="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226112"/>
              </p:ext>
            </p:extLst>
          </p:nvPr>
        </p:nvGraphicFramePr>
        <p:xfrm>
          <a:off x="777240" y="3520440"/>
          <a:ext cx="10881360" cy="1536192"/>
        </p:xfrm>
        <a:graphic>
          <a:graphicData uri="http://schemas.openxmlformats.org/drawingml/2006/table">
            <a:tbl>
              <a:tblPr/>
              <a:tblGrid>
                <a:gridCol w="2194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Classe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% da base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mediana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favela?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0,06%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$ 10.167,85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 de 66 (33%)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3.292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3,16%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$ 14.106,20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 de 3.292 (0%)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NORMAL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100.750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96,78%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$ 2.505,16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3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—</a:t>
                      </a:r>
                      <a:endParaRPr lang="pt-BR" sz="13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74920"/>
            <a:ext cx="106344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coluna da direita não valida a regra: ser favela É um dos testes de incoerência, então nenhuma favela pode cair em EXTREMO. O que a regra ainda não pega é erro em bairro rico — São Paulo, </a:t>
            </a:r>
            <a:r>
              <a:rPr lang="pt-BR" sz="1250" b="1" noProof="0" dirty="0" err="1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$ 140.172,64, 45× a mediana local, sai como EXTREMO.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duas análises exploratórias, lado a lado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rodar com e sem os extremos e comparar. O resultado contraria a intuição.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8447828"/>
              </p:ext>
            </p:extLst>
          </p:nvPr>
        </p:nvGraphicFramePr>
        <p:xfrm>
          <a:off x="777240" y="1645920"/>
          <a:ext cx="10881360" cy="2432304"/>
        </p:xfrm>
        <a:graphic>
          <a:graphicData uri="http://schemas.openxmlformats.org/drawingml/2006/table">
            <a:tbl>
              <a:tblPr/>
              <a:tblGrid>
                <a:gridCol w="4846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 que muda ao remover os 66 suspeitos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Variação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Média da renda (</a:t>
                      </a:r>
                      <a:r>
                        <a:rPr lang="pt-BR" sz="12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4.187,41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4.178,44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−0,21%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da renda (</a:t>
                      </a:r>
                      <a:r>
                        <a:rPr lang="pt-BR" sz="12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2.572,39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2.571,17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−0,05%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Desvio-padrão (</a:t>
                      </a:r>
                      <a:r>
                        <a:rPr lang="pt-BR" sz="12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4.150,66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4.096,07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−1,32%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3,74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3,14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−16%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Pearson renda × analfabetismo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−0,4181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−0,4282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Spearman</a:t>
                      </a: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renda × analfabetismo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−0,7566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−0,7580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160520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Excluir quase não muda a estatística.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correlações se movem no máximo 0,010; 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fica praticamente imóvel. Se o argumento para excluir fosse o efeito na correlação, ele seria fraco.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a exclusão importa de verdade: a escala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normalização min-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por município é o insumo do índice — e é ali que um valor ruim destrói tudo.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2580836"/>
              </p:ext>
            </p:extLst>
          </p:nvPr>
        </p:nvGraphicFramePr>
        <p:xfrm>
          <a:off x="777240" y="1691640"/>
          <a:ext cx="12710160" cy="219456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Comprimidos no 1º decil (com)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(sem)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Ganho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Autazes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81,4%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14,3%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67,1 pp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Salto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196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94,9%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59,0%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35,9 pp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Belo Horizonte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5.113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98,8%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70,8%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 pp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Belém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2.004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92,7%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69,6%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23,1 pp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São Gonçalo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2.357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94,0%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79,1%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14,9 pp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77240" y="4224528"/>
            <a:ext cx="10634472" cy="0"/>
          </a:xfrm>
          <a:prstGeom prst="line">
            <a:avLst/>
          </a:prstGeom>
          <a:noFill/>
          <a:ln w="15875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4315968"/>
            <a:ext cx="10607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Autazes é o caso didático</a:t>
            </a:r>
            <a:endParaRPr lang="pt-BR" sz="1400" noProof="0" dirty="0"/>
          </a:p>
        </p:txBody>
      </p:sp>
      <p:sp>
        <p:nvSpPr>
          <p:cNvPr id="9" name="Text 6"/>
          <p:cNvSpPr/>
          <p:nvPr/>
        </p:nvSpPr>
        <p:spPr>
          <a:xfrm>
            <a:off x="777240" y="4681728"/>
            <a:ext cx="10058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pt-BR" sz="13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 setores, UM valor ruim, e 81% da cidade colapsa no primeiro decil da escala de renda — a variável deixa de discriminar dentro da cidade, que é exatamente o que o índice precisa que ela faça. 23 dos 63 municípios avaliados têm ao menos um suspeito.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alta está mesmo nos setores pequenos?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demanda supunha que sim. O valor não depende do tamanho; a suspeita depende.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banco_de_dados/eda/figuras/renda_tamanho_do_seto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3976" y="1444752"/>
            <a:ext cx="8001000" cy="3291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48920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VALOR não depende do tamanho.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entre nº de domicílios e renda: −0,031. O maior valor da base está num setor de 186 domicílios, não num pequeno.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6492240" y="4892040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 a SUSPEITA depende, e muito.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0,265% de suspeitos nos setores até 50 domicílios contra 0,045% nos de 201–400: seis vezes mais. O coeficiente de variação cai de 1,11 para 0,90.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Sudeste e Norte: dois fenômenos com o mesmo rótulo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olhar os outliers de renda nessas duas regiões.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08855844"/>
              </p:ext>
            </p:extLst>
          </p:nvPr>
        </p:nvGraphicFramePr>
        <p:xfrm>
          <a:off x="777240" y="1691640"/>
          <a:ext cx="11978640" cy="219456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Máx</a:t>
                      </a: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÷ mediana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Assimetria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Extremos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Suspeitos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5.915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$ 1.820,99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43,1×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6,15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7,03%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0,372%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19.497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$ 1.719,20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39,1×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3,66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6,29%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0,067%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61.989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$ 2.730,60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62,4×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2,18%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0,044%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9.490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$ 3.127,12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15,1×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2,27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2,36%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7.217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$ 3.722,28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13,4×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2,65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1,05%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" y="429768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Sudeste tem os extremos absolutos.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maior valor do país está lá: 62,4 vezes a mediana da própria região. Mas a taxa de suspeita é baixa — 0,044%.</a:t>
            </a:r>
            <a:endParaRPr lang="pt-BR" sz="1250" noProof="0" dirty="0"/>
          </a:p>
        </p:txBody>
      </p:sp>
      <p:sp>
        <p:nvSpPr>
          <p:cNvPr id="8" name="Shape 5"/>
          <p:cNvSpPr/>
          <p:nvPr/>
        </p:nvSpPr>
        <p:spPr>
          <a:xfrm>
            <a:off x="6492240" y="424281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6"/>
          <p:cNvSpPr/>
          <p:nvPr/>
        </p:nvSpPr>
        <p:spPr>
          <a:xfrm>
            <a:off x="6492240" y="4297680"/>
            <a:ext cx="53492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Norte tem 26 vezes a taxa do Sul.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causa é a distribuição tão comprimida na base que qualquer setor de classe média já destoa, e não uma concentração maior de ricos. Assimetria 6,15, a maior do país.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distribuição da renda em cada uma das 70 cidades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</a:t>
            </a:r>
            <a:r>
              <a:rPr lang="pt-BR" sz="13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</a:t>
            </a: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ou histograma por cidade, para conferir os valores destoantes.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pic>
        <p:nvPicPr>
          <p:cNvPr id="6" name="Image 0" descr="/Users/pedro/Documents/Iniciacao Cientifica/Projeto_IVS_Censo22/banco_de_dados/eda/figuras/renda_boxplot_por_cida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1234440"/>
            <a:ext cx="2240280" cy="51206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160020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painéis por região.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Setenta cidades num único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boxplot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passa do limite de categorias legíveis. Os painéis mantêm as cidades comparáveis dentro da região.</a:t>
            </a:r>
            <a:endParaRPr lang="pt-BR" sz="1250" noProof="0" dirty="0"/>
          </a:p>
        </p:txBody>
      </p:sp>
      <p:sp>
        <p:nvSpPr>
          <p:cNvPr id="8" name="Text 5"/>
          <p:cNvSpPr/>
          <p:nvPr/>
        </p:nvSpPr>
        <p:spPr>
          <a:xfrm>
            <a:off x="777240" y="3383280"/>
            <a:ext cx="283464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escala logarítmica.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 assimetria 3,74, em escala linear 60 das 70 caixas colapsam contra a margem esquerda e nada se distingue.</a:t>
            </a:r>
            <a:endParaRPr lang="pt-BR" sz="1250" noProof="0" dirty="0"/>
          </a:p>
        </p:txBody>
      </p:sp>
      <p:sp>
        <p:nvSpPr>
          <p:cNvPr id="9" name="Shape 6"/>
          <p:cNvSpPr/>
          <p:nvPr/>
        </p:nvSpPr>
        <p:spPr>
          <a:xfrm>
            <a:off x="777240" y="511149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5166360"/>
            <a:ext cx="283464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que caixas neutras.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região já está codificada pelo painel. A única cor é o vermelho dos suspeitos.</a:t>
            </a:r>
            <a:endParaRPr lang="pt-BR" sz="1250" noProof="0" dirty="0"/>
          </a:p>
        </p:txBody>
      </p:sp>
      <p:sp>
        <p:nvSpPr>
          <p:cNvPr id="11" name="Text 8"/>
          <p:cNvSpPr/>
          <p:nvPr/>
        </p:nvSpPr>
        <p:spPr>
          <a:xfrm>
            <a:off x="6309360" y="2926080"/>
            <a:ext cx="52120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66 setores suspeitos aparecem em vermelho, cidade a cidade. Belo Horizonte, Belém e Salvador concentram os casos mais graves. A figura em tamanho cheio está em </a:t>
            </a:r>
            <a:r>
              <a:rPr lang="pt-BR" sz="130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banco_de_dados</a:t>
            </a:r>
            <a:r>
              <a:rPr lang="pt-BR" sz="13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</a:t>
            </a:r>
            <a:r>
              <a:rPr lang="pt-BR" sz="130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eda</a:t>
            </a:r>
            <a:r>
              <a:rPr lang="pt-BR" sz="13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/figuras/</a:t>
            </a:r>
            <a:r>
              <a:rPr lang="pt-BR" sz="130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renda_boxplot_por_cidade.png</a:t>
            </a:r>
            <a:r>
              <a:rPr lang="pt-BR" sz="13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1300" noProof="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Habitação, banheiro, chefia feminina, envelhecimento, morfologia e saneamento — fora do índice, dentro da análise.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descritivos, região a região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Todos no mesmo recorte — o que a versão anterior deste deck não garantia.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5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blocos descritivos, por região.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habitacao_precaria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inadequacao_banheiro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resp_feminino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·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tipo_domicilio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por_regiao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).</a:t>
            </a:r>
            <a:endParaRPr lang="pt-BR" sz="950" noProof="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7480655"/>
              </p:ext>
            </p:extLst>
          </p:nvPr>
        </p:nvGraphicFramePr>
        <p:xfrm>
          <a:off x="777240" y="2103120"/>
          <a:ext cx="11109960" cy="2779776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Habitação precária (%)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Domicílios improvisados (%)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exclusivo (%)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banheiro nem sanitário (%)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Chefia feminina (%)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54,24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55,38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49,76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51,29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 (%)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16,39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23,82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29,01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34,76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39,02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Moradia convencional (%)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99,35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98,75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99,02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99,59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010912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Média entre setores, todas no mesmo recorte.</a:t>
            </a:r>
            <a:endParaRPr lang="pt-BR" sz="1100" noProof="0" dirty="0"/>
          </a:p>
        </p:txBody>
      </p:sp>
      <p:sp>
        <p:nvSpPr>
          <p:cNvPr id="10" name="Shape 7"/>
          <p:cNvSpPr/>
          <p:nvPr/>
        </p:nvSpPr>
        <p:spPr>
          <a:xfrm>
            <a:off x="777240" y="549554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777240" y="5550408"/>
            <a:ext cx="3474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Precariedade tem geografias distintas.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Habitação precária (0,65% no total) concentra-se no Centro-Oeste e no Sudeste — é metropolitana, não rural do Norte.</a:t>
            </a:r>
            <a:endParaRPr lang="pt-BR" sz="1250" noProof="0" dirty="0"/>
          </a:p>
        </p:txBody>
      </p:sp>
      <p:sp>
        <p:nvSpPr>
          <p:cNvPr id="12" name="Text 9"/>
          <p:cNvSpPr/>
          <p:nvPr/>
        </p:nvSpPr>
        <p:spPr>
          <a:xfrm>
            <a:off x="4617720" y="5550408"/>
            <a:ext cx="34747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Banheiro segue o padrão do saneamento.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 banheiro exclusivo: 0,23% no total, e a pior situação é no Norte.</a:t>
            </a:r>
            <a:endParaRPr lang="pt-BR" sz="1250" noProof="0" dirty="0"/>
          </a:p>
        </p:txBody>
      </p:sp>
      <p:sp>
        <p:nvSpPr>
          <p:cNvPr id="13" name="Text 10"/>
          <p:cNvSpPr/>
          <p:nvPr/>
        </p:nvSpPr>
        <p:spPr>
          <a:xfrm>
            <a:off x="8458200" y="5550408"/>
            <a:ext cx="338328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é maioria.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52,81% das chefias no recorte urbano, com pico no Nordeste.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 e envelhecimento — os dois blocos que sumiram do deck anterior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Ambos existem como tabela desde junho.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6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Envelhecimento populacional por região.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indicadores_envelhecimento_por_regiao.csv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950" noProof="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1761224"/>
              </p:ext>
            </p:extLst>
          </p:nvPr>
        </p:nvGraphicFramePr>
        <p:xfrm>
          <a:off x="777240" y="2103120"/>
          <a:ext cx="11109960" cy="2194560"/>
        </p:xfrm>
        <a:graphic>
          <a:graphicData uri="http://schemas.openxmlformats.org/drawingml/2006/table">
            <a:tbl>
              <a:tblPr/>
              <a:tblGrid>
                <a:gridCol w="38404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0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(milhões)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5,5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27,7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Menores de 15 anos (%)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21,31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18,56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19,10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17,19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16,77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60 anos ou mais (%)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11,99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15,15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13,95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18,13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18,77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Índice de envelhecimento (IEP)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56,3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81,7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105,5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111,9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dependência (RDI)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18,0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20,8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29,1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42569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IEP = 60+ ÷ menores de 15 × 100, conforme Galvão et al. (</a:t>
            </a:r>
            <a:r>
              <a:rPr lang="pt-BR" sz="1100" i="1" noProof="0" dirty="0" err="1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Hygeia</a:t>
            </a: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, 2025).</a:t>
            </a:r>
            <a:endParaRPr lang="pt-BR" sz="1100" noProof="0" dirty="0"/>
          </a:p>
        </p:txBody>
      </p:sp>
      <p:sp>
        <p:nvSpPr>
          <p:cNvPr id="10" name="Shape 7"/>
          <p:cNvSpPr/>
          <p:nvPr/>
        </p:nvSpPr>
        <p:spPr>
          <a:xfrm>
            <a:off x="77724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77724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92,7</a:t>
            </a:r>
            <a:endParaRPr lang="pt-BR" sz="3000" noProof="0" dirty="0"/>
          </a:p>
        </p:txBody>
      </p:sp>
      <p:sp>
        <p:nvSpPr>
          <p:cNvPr id="12" name="Text 9"/>
          <p:cNvSpPr/>
          <p:nvPr/>
        </p:nvSpPr>
        <p:spPr>
          <a:xfrm>
            <a:off x="77724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IEP — índice de envelhecimento</a:t>
            </a:r>
            <a:endParaRPr lang="pt-BR" sz="1050" noProof="0" dirty="0"/>
          </a:p>
        </p:txBody>
      </p:sp>
      <p:sp>
        <p:nvSpPr>
          <p:cNvPr id="13" name="Shape 10"/>
          <p:cNvSpPr/>
          <p:nvPr/>
        </p:nvSpPr>
        <p:spPr>
          <a:xfrm>
            <a:off x="361188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361188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25,5</a:t>
            </a:r>
            <a:endParaRPr lang="pt-BR" sz="3000" noProof="0" dirty="0"/>
          </a:p>
        </p:txBody>
      </p:sp>
      <p:sp>
        <p:nvSpPr>
          <p:cNvPr id="15" name="Text 12"/>
          <p:cNvSpPr/>
          <p:nvPr/>
        </p:nvSpPr>
        <p:spPr>
          <a:xfrm>
            <a:off x="361188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RDI — razão de dependência</a:t>
            </a:r>
            <a:endParaRPr lang="pt-BR" sz="1050" noProof="0" dirty="0"/>
          </a:p>
        </p:txBody>
      </p:sp>
      <p:sp>
        <p:nvSpPr>
          <p:cNvPr id="16" name="Shape 13"/>
          <p:cNvSpPr/>
          <p:nvPr/>
        </p:nvSpPr>
        <p:spPr>
          <a:xfrm>
            <a:off x="6446520" y="4919472"/>
            <a:ext cx="265176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4"/>
          <p:cNvSpPr/>
          <p:nvPr/>
        </p:nvSpPr>
        <p:spPr>
          <a:xfrm>
            <a:off x="6446520" y="499262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16,65%</a:t>
            </a:r>
            <a:endParaRPr lang="pt-BR" sz="3000" noProof="0" dirty="0"/>
          </a:p>
        </p:txBody>
      </p:sp>
      <p:sp>
        <p:nvSpPr>
          <p:cNvPr id="18" name="Text 15"/>
          <p:cNvSpPr/>
          <p:nvPr/>
        </p:nvSpPr>
        <p:spPr>
          <a:xfrm>
            <a:off x="6446520" y="557784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 anos ou mais</a:t>
            </a:r>
            <a:endParaRPr lang="pt-BR" sz="1050" noProof="0" dirty="0"/>
          </a:p>
        </p:txBody>
      </p:sp>
      <p:sp>
        <p:nvSpPr>
          <p:cNvPr id="19" name="Shape 16"/>
          <p:cNvSpPr/>
          <p:nvPr/>
        </p:nvSpPr>
        <p:spPr>
          <a:xfrm>
            <a:off x="9281160" y="4919472"/>
            <a:ext cx="237744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7"/>
          <p:cNvSpPr/>
          <p:nvPr/>
        </p:nvSpPr>
        <p:spPr>
          <a:xfrm>
            <a:off x="9281160" y="4992624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52,81%</a:t>
            </a:r>
            <a:endParaRPr lang="pt-BR" sz="3000" noProof="0" dirty="0"/>
          </a:p>
        </p:txBody>
      </p:sp>
      <p:sp>
        <p:nvSpPr>
          <p:cNvPr id="21" name="Text 18"/>
          <p:cNvSpPr/>
          <p:nvPr/>
        </p:nvSpPr>
        <p:spPr>
          <a:xfrm>
            <a:off x="9281160" y="5577840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chefia feminina</a:t>
            </a:r>
            <a:endParaRPr lang="pt-BR" sz="1050" noProof="0" dirty="0"/>
          </a:p>
        </p:txBody>
      </p:sp>
      <p:sp>
        <p:nvSpPr>
          <p:cNvPr id="22" name="Text 19"/>
          <p:cNvSpPr/>
          <p:nvPr/>
        </p:nvSpPr>
        <p:spPr>
          <a:xfrm>
            <a:off x="777240" y="6400800"/>
            <a:ext cx="981151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Correção registrada: o IEP usava só a faixa de 0 a 4 anos no denominador e dava 299. Com o denominador correto — menores de 15 anos, conforme Galvão et al. — dá 92,7.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espécie do domicílio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Morfologia urbana: o que NÃO é casa. Percentual sobre domicílios, não sobre setores.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46304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7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Tipo de espécie do domicílio.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1907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morfologia_v00048_v00058_por_regiao.csv.</a:t>
            </a:r>
            <a:endParaRPr lang="pt-BR" sz="950" noProof="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8094151"/>
              </p:ext>
            </p:extLst>
          </p:nvPr>
        </p:nvGraphicFramePr>
        <p:xfrm>
          <a:off x="777240" y="2011680"/>
          <a:ext cx="11064240" cy="3456432"/>
        </p:xfrm>
        <a:graphic>
          <a:graphicData uri="http://schemas.openxmlformats.org/drawingml/2006/table">
            <a:tbl>
              <a:tblPr/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Código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Tipo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Total (%)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Casa de vila/condomínio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3,958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6,597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4,635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3,831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3,436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3,794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V00049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Apartamento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28,403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15,654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22,554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26,722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31,227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36,915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Cortiço/casa de cômodos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0,903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0,595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Maloca indígena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permanente degradada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Tenda/barraca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Dentro de estabelecimento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Abrigo natural/outras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em logradouro público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Estrutura não-residencial degradada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803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V00058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Veículo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596128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Percentual sobre domicílios (V00001 + V00002), não sobre setores.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Canalização da água — um eixo que o IVS não media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testar V00199 a V00201 e calcular a proporção sem água encanada.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8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Canalização da água por região.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agua_canalizada_por_regiao.csv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950" noProof="0" dirty="0"/>
          </a:p>
        </p:txBody>
      </p:sp>
      <p:graphicFrame>
        <p:nvGraphicFramePr>
          <p:cNvPr id="3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648593"/>
              </p:ext>
            </p:extLst>
          </p:nvPr>
        </p:nvGraphicFramePr>
        <p:xfrm>
          <a:off x="777240" y="2057400"/>
          <a:ext cx="11795760" cy="2084832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Região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Dentro de casa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Só no terreno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Não chega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Sem canalização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Suprimido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96,27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2,32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3,73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97,98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1,26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2,02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98,80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0,35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99,67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99,47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270248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agregada sobre domicílios. "Suprimido" é a parcela que o sigilo tira de V00200 e V00201.</a:t>
            </a:r>
            <a:endParaRPr lang="pt-B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4809744"/>
            <a:ext cx="53492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É conceito diferente do que já estava no IVS. 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pct_agua_inad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(V00112–V00118) mede a FONTE: poço, nascente, carro-pipa, rio. A trinca nova mede a ENTREGA. Um domicílio com rede geral pode receber água só no terreno.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entre os dois: 0,459.</a:t>
            </a:r>
            <a:endParaRPr lang="pt-BR" sz="1250" noProof="0" dirty="0"/>
          </a:p>
        </p:txBody>
      </p:sp>
      <p:sp>
        <p:nvSpPr>
          <p:cNvPr id="11" name="Text 8"/>
          <p:cNvSpPr/>
          <p:nvPr/>
        </p:nvSpPr>
        <p:spPr>
          <a:xfrm>
            <a:off x="6492240" y="4809744"/>
            <a:ext cx="5349240" cy="13898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partição fecha, e isso virou auditoria.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V00199 + V00200 + V00201 = V00001 em 100,00% dos 81.270 setores em que as três estão presentes. O teste roda a cada execução da suíte.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integral de saneamento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em que NENHUM domicílio está na condição inadequada.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9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 integral de saneamento por região.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6479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cobertura_por_regiao.csv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950" noProof="0" dirty="0"/>
          </a:p>
        </p:txBody>
      </p:sp>
      <p:graphicFrame>
        <p:nvGraphicFramePr>
          <p:cNvPr id="3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67391156"/>
              </p:ext>
            </p:extLst>
          </p:nvPr>
        </p:nvGraphicFramePr>
        <p:xfrm>
          <a:off x="777240" y="2057400"/>
          <a:ext cx="11247120" cy="18288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Serviço 100% adequado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(%)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86,4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(%)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73,8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79,8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(%)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65,5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Os três juntos (%)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41,5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51,3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4014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em que NENHUM domicílio está na condição inadequada.</a:t>
            </a:r>
            <a:endParaRPr lang="pt-BR" sz="1100" noProof="0" dirty="0"/>
          </a:p>
        </p:txBody>
      </p:sp>
      <p:sp>
        <p:nvSpPr>
          <p:cNvPr id="10" name="Shape 7"/>
          <p:cNvSpPr/>
          <p:nvPr/>
        </p:nvSpPr>
        <p:spPr>
          <a:xfrm>
            <a:off x="77724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1" name="Text 8"/>
          <p:cNvSpPr/>
          <p:nvPr/>
        </p:nvSpPr>
        <p:spPr>
          <a:xfrm>
            <a:off x="77724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72,90%</a:t>
            </a:r>
            <a:endParaRPr lang="pt-BR" sz="3000" noProof="0" dirty="0"/>
          </a:p>
        </p:txBody>
      </p:sp>
      <p:sp>
        <p:nvSpPr>
          <p:cNvPr id="12" name="Text 9"/>
          <p:cNvSpPr/>
          <p:nvPr/>
        </p:nvSpPr>
        <p:spPr>
          <a:xfrm>
            <a:off x="77724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água 100% adequada</a:t>
            </a:r>
            <a:endParaRPr lang="pt-BR" sz="1050" noProof="0" dirty="0"/>
          </a:p>
        </p:txBody>
      </p:sp>
      <p:sp>
        <p:nvSpPr>
          <p:cNvPr id="13" name="Shape 10"/>
          <p:cNvSpPr/>
          <p:nvPr/>
        </p:nvSpPr>
        <p:spPr>
          <a:xfrm>
            <a:off x="347472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4" name="Text 11"/>
          <p:cNvSpPr/>
          <p:nvPr/>
        </p:nvSpPr>
        <p:spPr>
          <a:xfrm>
            <a:off x="347472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71,40%</a:t>
            </a:r>
            <a:endParaRPr lang="pt-BR" sz="3000" noProof="0" dirty="0"/>
          </a:p>
        </p:txBody>
      </p:sp>
      <p:sp>
        <p:nvSpPr>
          <p:cNvPr id="15" name="Text 12"/>
          <p:cNvSpPr/>
          <p:nvPr/>
        </p:nvSpPr>
        <p:spPr>
          <a:xfrm>
            <a:off x="347472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esgoto 100% adequado</a:t>
            </a:r>
            <a:endParaRPr lang="pt-BR" sz="1050" noProof="0" dirty="0"/>
          </a:p>
        </p:txBody>
      </p:sp>
      <p:sp>
        <p:nvSpPr>
          <p:cNvPr id="16" name="Shape 13"/>
          <p:cNvSpPr/>
          <p:nvPr/>
        </p:nvSpPr>
        <p:spPr>
          <a:xfrm>
            <a:off x="6172200" y="4507992"/>
            <a:ext cx="25146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4"/>
          <p:cNvSpPr/>
          <p:nvPr/>
        </p:nvSpPr>
        <p:spPr>
          <a:xfrm>
            <a:off x="617220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61,70%</a:t>
            </a:r>
            <a:endParaRPr lang="pt-BR" sz="3000" noProof="0" dirty="0"/>
          </a:p>
        </p:txBody>
      </p:sp>
      <p:sp>
        <p:nvSpPr>
          <p:cNvPr id="18" name="Text 15"/>
          <p:cNvSpPr/>
          <p:nvPr/>
        </p:nvSpPr>
        <p:spPr>
          <a:xfrm>
            <a:off x="617220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lixo 100% adequado</a:t>
            </a:r>
            <a:endParaRPr lang="pt-BR" sz="1050" noProof="0" dirty="0"/>
          </a:p>
        </p:txBody>
      </p:sp>
      <p:sp>
        <p:nvSpPr>
          <p:cNvPr id="19" name="Shape 16"/>
          <p:cNvSpPr/>
          <p:nvPr/>
        </p:nvSpPr>
        <p:spPr>
          <a:xfrm>
            <a:off x="8869680" y="4507992"/>
            <a:ext cx="251460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20" name="Text 17"/>
          <p:cNvSpPr/>
          <p:nvPr/>
        </p:nvSpPr>
        <p:spPr>
          <a:xfrm>
            <a:off x="8869680" y="4581144"/>
            <a:ext cx="2514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41,60%</a:t>
            </a:r>
            <a:endParaRPr lang="pt-BR" sz="3000" noProof="0" dirty="0"/>
          </a:p>
        </p:txBody>
      </p:sp>
      <p:sp>
        <p:nvSpPr>
          <p:cNvPr id="21" name="Text 18"/>
          <p:cNvSpPr/>
          <p:nvPr/>
        </p:nvSpPr>
        <p:spPr>
          <a:xfrm>
            <a:off x="8869680" y="5166360"/>
            <a:ext cx="2514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três juntos</a:t>
            </a:r>
            <a:endParaRPr lang="pt-BR" sz="1050" noProof="0" dirty="0"/>
          </a:p>
        </p:txBody>
      </p:sp>
      <p:sp>
        <p:nvSpPr>
          <p:cNvPr id="22" name="Text 19"/>
          <p:cNvSpPr/>
          <p:nvPr/>
        </p:nvSpPr>
        <p:spPr>
          <a:xfrm>
            <a:off x="777240" y="5989320"/>
            <a:ext cx="98115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Só 41,60% dos setores têm os três serviços integralmente adequados. Contando a caçamba de serviço de limpeza como coleta, o lixo sobe de 61,70% para 91,50% — a diferença é o efeito da decisão metodológica sobre V00398.</a:t>
            </a:r>
            <a:endParaRPr lang="pt-BR" sz="1200" noProof="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35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Gravidade do saneamento em faixas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Não basta saber quantos setores têm inadequação: importa quanto.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10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Gravidade do saneamento em faixas.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elegíveis incluindo rurais (106.281). Fonte: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saneamento_categorias_por_regiao.csv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950" noProof="0" dirty="0"/>
          </a:p>
        </p:txBody>
      </p:sp>
      <p:graphicFrame>
        <p:nvGraphicFramePr>
          <p:cNvPr id="3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73617453"/>
              </p:ext>
            </p:extLst>
          </p:nvPr>
        </p:nvGraphicFramePr>
        <p:xfrm>
          <a:off x="777240" y="2103120"/>
          <a:ext cx="11795760" cy="256032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3502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Serviço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Faixa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Nordeste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Centro-Oeste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Sudeste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1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Sul</a:t>
                      </a:r>
                      <a:endParaRPr lang="pt-BR" sz="11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48,9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86,4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7,7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30,2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73,8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79,8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84,3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25,1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16,5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9,1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4,4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3,1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0%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54,1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53,9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66,6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63,7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65,5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setores em 50% ou mais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11,6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15,0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11,3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10,1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91032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4965192"/>
            <a:ext cx="1063447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leitura.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Norte, 30,8% dos setores têm metade ou mais dos domicílios com água inadequada — contra 11,8% em situação totalmente adequada. No Sul e no Centro-Oeste a distribuição se inverte por completo.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 e Comunidades Urbanas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 oficial, a validação do critério e a comparação com o resto da cidade.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 oficial localizada e a validação do critério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Demanda: conferir um relatório do IBGE sobre vilas e favelas do Censo 2022.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618488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fonte.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IBGE. Censo Demográfico 2022: Favelas e Comunidades Urbanas — Resultados do universo. Rio de Janeiro, 2024. 171 p. Definição e os quatro critérios transcritos na seção 14.2 do relatório.</a:t>
            </a:r>
            <a:endParaRPr lang="pt-BR" sz="1250" noProof="0" dirty="0"/>
          </a:p>
        </p:txBody>
      </p:sp>
      <p:sp>
        <p:nvSpPr>
          <p:cNvPr id="7" name="Text 5"/>
          <p:cNvSpPr/>
          <p:nvPr/>
        </p:nvSpPr>
        <p:spPr>
          <a:xfrm>
            <a:off x="6492240" y="1618488"/>
            <a:ext cx="53492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validação.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Dos 109.032 setores da base completa, 19.507 estão na lista oficial — e são exatamente os 19.507 com CD_TIPO = 1. Zero falso positivo, zero omissão. No recorte de análise são 19.452, 18,68% dos 104.108. O campo NM_FCU não serve de critério: diverge em 25 setores, nenhum deles na lista oficial.</a:t>
            </a:r>
            <a:endParaRPr lang="pt-BR" sz="1250" noProof="0" dirty="0"/>
          </a:p>
        </p:txBody>
      </p:sp>
      <p:graphicFrame>
        <p:nvGraphicFramePr>
          <p:cNvPr id="3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4018052"/>
              </p:ext>
            </p:extLst>
          </p:nvPr>
        </p:nvGraphicFramePr>
        <p:xfrm>
          <a:off x="777240" y="3063240"/>
          <a:ext cx="10881360" cy="1828800"/>
        </p:xfrm>
        <a:graphic>
          <a:graphicData uri="http://schemas.openxmlformats.org/drawingml/2006/table">
            <a:tbl>
              <a:tblPr/>
              <a:tblGrid>
                <a:gridCol w="4206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(IBGE 2024)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ELSI-70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Cobertura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Favelas e Comunidades Urbanas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12.348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5.899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47,8%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Municípios com FCU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656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6,4%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População em FCU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16.390.815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10.069.994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61,4%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Domicílios em FCU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6.556.998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3.443.687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52,5%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777240" y="4837176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4892040"/>
            <a:ext cx="10634472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limitação que a fonte revelou — nota 7, página 75.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Além das 12.348 FCU classificadas, o IBGE identificou 2.298 FCU com 21 a 50 domicílios que NÃO receberam setor censitário próprio. Como nosso critério é CD_TIPO = 1, as favelas pequenas são invisíveis na base: a comparação favela × resto da cidade erra nos dois sentidos.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 e restante da cidade, indicador a indicador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Quantas vezes o valor médio no setor de favela supera o de fora.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444752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11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 e restante da cidade, indicador a indicador.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700784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setores urbanos elegíveis (104.108). Fonte: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favelas_fcu_comparativo_indicadores.csv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950" noProof="0" dirty="0"/>
          </a:p>
        </p:txBody>
      </p:sp>
      <p:graphicFrame>
        <p:nvGraphicFramePr>
          <p:cNvPr id="3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7960298"/>
              </p:ext>
            </p:extLst>
          </p:nvPr>
        </p:nvGraphicFramePr>
        <p:xfrm>
          <a:off x="777240" y="1993392"/>
          <a:ext cx="11795760" cy="3625596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58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344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73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variavel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nao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nao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mediana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nao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</a:t>
                      </a: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fcu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</a:t>
                      </a: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medias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pct_agua_inad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1,773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pct_esgoto_inad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4,144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pct_lixo_inad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0,045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2,903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razao_moradores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2,927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2,917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2,637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2,669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1,110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pct_analfab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18904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68652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0,021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2,135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renda_media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1.609,626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1.515,350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84648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4.779,659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3.067,015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0,337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pct_raca_pretpardind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0,735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0,743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0,479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1,534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pct_moradia_convencional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19452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84656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pct_apartamento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17139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0,000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77866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0,377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pct_pop_0a14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19440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0,222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0,219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84410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0,161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1,379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pct_idoso_60mais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19369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0,105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84454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0,191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0,185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0,572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889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iep_setor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19334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55,159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47,913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83782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153,007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114,815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0,360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747004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de médias abaixo de 1 significa valor MENOR em favela — é o caso da renda, do apartamento e do índice de envelhecimento.</a:t>
            </a:r>
            <a:endParaRPr lang="pt-BR" sz="1100" noProof="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ELSI comparada com o Brasil urbano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Linha de base nacional: os mesmos indicadores sobre os 468 mil setores do país.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777240" y="1554480"/>
            <a:ext cx="10634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Tabela 12 — </a:t>
            </a:r>
            <a:r>
              <a:rPr lang="pt-BR" sz="11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ELSI comparada com o Brasil urbano.</a:t>
            </a:r>
            <a:endParaRPr lang="pt-BR" sz="1100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810512"/>
            <a:ext cx="106344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Recorte: Brasil urbano × ELSI-70 urbano. Fonte: nacional/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comparativo_brasil_vs_elsi.csv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950" noProof="0" dirty="0"/>
          </a:p>
        </p:txBody>
      </p:sp>
      <p:graphicFrame>
        <p:nvGraphicFramePr>
          <p:cNvPr id="4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0996618"/>
              </p:ext>
            </p:extLst>
          </p:nvPr>
        </p:nvGraphicFramePr>
        <p:xfrm>
          <a:off x="777240" y="2103120"/>
          <a:ext cx="10881360" cy="2926080"/>
        </p:xfrm>
        <a:graphic>
          <a:graphicData uri="http://schemas.openxmlformats.org/drawingml/2006/table">
            <a:tbl>
              <a:tblPr/>
              <a:tblGrid>
                <a:gridCol w="4023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68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0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Indicador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Brasil urbano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ELSI-70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</a:t>
                      </a:r>
                      <a:endParaRPr lang="pt-BR" sz="12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Água inadequada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0,069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0,83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Esgoto inadequado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0,155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0,080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Lixo inadequado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0,094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0,114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1,21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Razão de moradores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2,762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2,695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0,98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Analfabetismo 15+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0,058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0,036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0,62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 média (</a:t>
                      </a:r>
                      <a:r>
                        <a:rPr lang="pt-BR" sz="12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</a:t>
                      </a: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$)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3.208,881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4.187,409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1,30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Preta, parda ou indígena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0,544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0,551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2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1,01</a:t>
                      </a:r>
                      <a:endParaRPr lang="pt-BR" sz="12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77240" y="5157216"/>
            <a:ext cx="106344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1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Razão agregada: soma dos numeradores ÷ soma dos denominadores em cada recorte.</a:t>
            </a:r>
            <a:endParaRPr lang="pt-BR" sz="1100" noProof="0" dirty="0"/>
          </a:p>
        </p:txBody>
      </p:sp>
      <p:sp>
        <p:nvSpPr>
          <p:cNvPr id="10" name="Text 7"/>
          <p:cNvSpPr/>
          <p:nvPr/>
        </p:nvSpPr>
        <p:spPr>
          <a:xfrm>
            <a:off x="777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amostra é menos vulnerável que o Brasil urbano.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 seis dos sete indicadores o recorte ELSI está melhor. O esgoto é o contraste mais forte: 0,080 contra 0,155 — quase metade.</a:t>
            </a:r>
            <a:endParaRPr lang="pt-BR" sz="1250" noProof="0" dirty="0"/>
          </a:p>
        </p:txBody>
      </p:sp>
      <p:sp>
        <p:nvSpPr>
          <p:cNvPr id="14" name="Shape 11"/>
          <p:cNvSpPr/>
          <p:nvPr/>
        </p:nvSpPr>
        <p:spPr>
          <a:xfrm>
            <a:off x="6492240" y="5641848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5" name="Text 12"/>
          <p:cNvSpPr/>
          <p:nvPr/>
        </p:nvSpPr>
        <p:spPr>
          <a:xfrm>
            <a:off x="6492240" y="5696712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exceção é o lixo, e ela é diagnóstica.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Única variável em que o ELSI está PIOR (razão 1,21). Reforça a hipótese de que o indicador captura porte urbano — a caçamba é mais comum em cidade grande.</a:t>
            </a:r>
            <a:endParaRPr lang="pt-BR" sz="1250" noProof="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40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2331720"/>
            <a:ext cx="1097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54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pt-BR" sz="5400" noProof="0" dirty="0"/>
          </a:p>
        </p:txBody>
      </p:sp>
      <p:sp>
        <p:nvSpPr>
          <p:cNvPr id="4" name="Text 2"/>
          <p:cNvSpPr/>
          <p:nvPr/>
        </p:nvSpPr>
        <p:spPr>
          <a:xfrm>
            <a:off x="1920240" y="2331720"/>
            <a:ext cx="94914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2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Limitações e processo</a:t>
            </a:r>
            <a:endParaRPr lang="pt-BR" sz="32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3273552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Text 4"/>
          <p:cNvSpPr/>
          <p:nvPr/>
        </p:nvSpPr>
        <p:spPr>
          <a:xfrm>
            <a:off x="1920240" y="3401568"/>
            <a:ext cx="903427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4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a base não permite afirmar, o que foi corrigido e o que vem agora.</a:t>
            </a:r>
            <a:endParaRPr lang="pt-BR" sz="1400" noProof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41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do analfabetismo — limitação aceita e quantificada</a:t>
            </a:r>
            <a:endParaRPr lang="pt-BR" sz="2600" noProof="0" dirty="0"/>
          </a:p>
        </p:txBody>
      </p:sp>
      <p:sp>
        <p:nvSpPr>
          <p:cNvPr id="4" name="Text 2"/>
          <p:cNvSpPr/>
          <p:nvPr/>
        </p:nvSpPr>
        <p:spPr>
          <a:xfrm>
            <a:off x="777240" y="969264"/>
            <a:ext cx="9720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00" i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Demanda de agosto: aceitar a limitação, e ainda assim medir o tamanho dela.</a:t>
            </a:r>
            <a:endParaRPr lang="pt-BR" sz="1300" noProof="0" dirty="0"/>
          </a:p>
        </p:txBody>
      </p:sp>
      <p:sp>
        <p:nvSpPr>
          <p:cNvPr id="5" name="Shape 3"/>
          <p:cNvSpPr/>
          <p:nvPr/>
        </p:nvSpPr>
        <p:spPr>
          <a:xfrm>
            <a:off x="777240" y="1426464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6" name="Shape 4"/>
          <p:cNvSpPr/>
          <p:nvPr/>
        </p:nvSpPr>
        <p:spPr>
          <a:xfrm>
            <a:off x="777240" y="1563624"/>
            <a:ext cx="822960" cy="0"/>
          </a:xfrm>
          <a:prstGeom prst="line">
            <a:avLst/>
          </a:prstGeom>
          <a:noFill/>
          <a:ln w="15875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7" name="Text 5"/>
          <p:cNvSpPr/>
          <p:nvPr/>
        </p:nvSpPr>
        <p:spPr>
          <a:xfrm>
            <a:off x="777240" y="1618488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sigilo incide nos setores RICOS.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supressão de V00901 acontece onde há poucos analfabetos — na melhor situação socioeconômica. Renda mediana de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$ 6.092,84 nos setores sem o dado, contra </a:t>
            </a:r>
            <a:r>
              <a:rPr lang="pt-BR" sz="1250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$ 2.313,89 nos que têm. E 30,8% de população preta, parda ou indígena contra 60,6%.</a:t>
            </a:r>
            <a:endParaRPr lang="pt-BR" sz="1250" noProof="0" dirty="0"/>
          </a:p>
        </p:txBody>
      </p:sp>
      <p:sp>
        <p:nvSpPr>
          <p:cNvPr id="8" name="Text 6"/>
          <p:cNvSpPr/>
          <p:nvPr/>
        </p:nvSpPr>
        <p:spPr>
          <a:xfrm>
            <a:off x="6492240" y="1618488"/>
            <a:ext cx="53492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50"/>
              </a:lnSpc>
              <a:buNone/>
            </a:pPr>
            <a:r>
              <a:rPr lang="pt-BR" sz="125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Por isso a média observada é um TETO.  </a:t>
            </a:r>
            <a:r>
              <a:rPr lang="pt-BR" sz="125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os excluídos são os de menor analfabetismo, a média sobre os 87.556 setores com dado superestima a amostra completa. E como o IBGE reporta os zeros — 9.268 setores declaram V00901 = 0 — o valor suprimido é ≥ 1, o que fecha o intervalo pelo outro lado.</a:t>
            </a:r>
            <a:endParaRPr lang="pt-BR" sz="1250" noProof="0" dirty="0"/>
          </a:p>
        </p:txBody>
      </p:sp>
      <p:sp>
        <p:nvSpPr>
          <p:cNvPr id="9" name="Shape 7"/>
          <p:cNvSpPr/>
          <p:nvPr/>
        </p:nvSpPr>
        <p:spPr>
          <a:xfrm>
            <a:off x="777240" y="3611880"/>
            <a:ext cx="3200400" cy="0"/>
          </a:xfrm>
          <a:prstGeom prst="line">
            <a:avLst/>
          </a:prstGeom>
          <a:noFill/>
          <a:ln w="12700">
            <a:solidFill>
              <a:srgbClr val="8C2F27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0" name="Text 8"/>
          <p:cNvSpPr/>
          <p:nvPr/>
        </p:nvSpPr>
        <p:spPr>
          <a:xfrm>
            <a:off x="777240" y="36850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8C2F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16.552</a:t>
            </a:r>
            <a:endParaRPr lang="pt-BR" sz="3000" noProof="0" dirty="0"/>
          </a:p>
        </p:txBody>
      </p:sp>
      <p:sp>
        <p:nvSpPr>
          <p:cNvPr id="11" name="Text 9"/>
          <p:cNvSpPr/>
          <p:nvPr/>
        </p:nvSpPr>
        <p:spPr>
          <a:xfrm>
            <a:off x="777240" y="4270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setores sem o dado (15,9%)</a:t>
            </a:r>
            <a:endParaRPr lang="pt-BR" sz="1050" noProof="0" dirty="0"/>
          </a:p>
        </p:txBody>
      </p:sp>
      <p:sp>
        <p:nvSpPr>
          <p:cNvPr id="12" name="Shape 10"/>
          <p:cNvSpPr/>
          <p:nvPr/>
        </p:nvSpPr>
        <p:spPr>
          <a:xfrm>
            <a:off x="4343400" y="3611880"/>
            <a:ext cx="320040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4343400" y="3685032"/>
            <a:ext cx="3200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3,14% – 3,64%</a:t>
            </a:r>
            <a:endParaRPr lang="pt-BR" sz="3000" noProof="0" dirty="0"/>
          </a:p>
        </p:txBody>
      </p:sp>
      <p:sp>
        <p:nvSpPr>
          <p:cNvPr id="14" name="Text 12"/>
          <p:cNvSpPr/>
          <p:nvPr/>
        </p:nvSpPr>
        <p:spPr>
          <a:xfrm>
            <a:off x="4343400" y="4270248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onde está a média verdadeira</a:t>
            </a:r>
            <a:endParaRPr lang="pt-BR" sz="1050" noProof="0" dirty="0"/>
          </a:p>
        </p:txBody>
      </p:sp>
      <p:sp>
        <p:nvSpPr>
          <p:cNvPr id="15" name="Shape 13"/>
          <p:cNvSpPr/>
          <p:nvPr/>
        </p:nvSpPr>
        <p:spPr>
          <a:xfrm>
            <a:off x="7909560" y="3611880"/>
            <a:ext cx="3931920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sp>
        <p:nvSpPr>
          <p:cNvPr id="16" name="Text 14"/>
          <p:cNvSpPr/>
          <p:nvPr/>
        </p:nvSpPr>
        <p:spPr>
          <a:xfrm>
            <a:off x="7909560" y="3685032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0,50 </a:t>
            </a:r>
            <a:r>
              <a:rPr lang="pt-BR" sz="3000" b="1" noProof="0" dirty="0" err="1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p.p</a:t>
            </a:r>
            <a:r>
              <a:rPr lang="pt-BR" sz="30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</a:t>
            </a:r>
            <a:endParaRPr lang="pt-BR" sz="3000" noProof="0" dirty="0"/>
          </a:p>
        </p:txBody>
      </p:sp>
      <p:sp>
        <p:nvSpPr>
          <p:cNvPr id="17" name="Text 15"/>
          <p:cNvSpPr/>
          <p:nvPr/>
        </p:nvSpPr>
        <p:spPr>
          <a:xfrm>
            <a:off x="7909560" y="4270248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050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largura da faixa</a:t>
            </a:r>
            <a:endParaRPr lang="pt-BR" sz="1050" noProof="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10634472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300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Meio ponto percentual de largura — estreito o bastante para nenhuma conclusão do estudo depender de qual ponto se adote. Nenhuma imputação serve: preencher com zero achata o gradiente nas áreas menos vulneráveis; imputar pela mediana municipal transfere aos setores ricos o perfil dos pobres.</a:t>
            </a:r>
            <a:endParaRPr lang="pt-BR" sz="1300" noProof="0" dirty="0"/>
          </a:p>
        </p:txBody>
      </p:sp>
      <p:sp>
        <p:nvSpPr>
          <p:cNvPr id="19" name="Text 17"/>
          <p:cNvSpPr/>
          <p:nvPr/>
        </p:nvSpPr>
        <p:spPr>
          <a:xfrm>
            <a:off x="777240" y="6144768"/>
            <a:ext cx="9902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completa em </a:t>
            </a:r>
            <a:r>
              <a:rPr lang="pt-BR" sz="950" i="1" noProof="0" dirty="0" err="1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docs</a:t>
            </a:r>
            <a:r>
              <a:rPr lang="pt-BR" sz="950" i="1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/Relatorio_EDA_Fase3_IVS_ELSI.md, seção 14.1. Decisão registrada no GUIA §6.2.6.</a:t>
            </a:r>
            <a:endParaRPr lang="pt-BR" sz="950" noProof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44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384048"/>
            <a:ext cx="106344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pt-BR" sz="26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 demandas de agosto, uma a uma</a:t>
            </a:r>
            <a:endParaRPr lang="pt-BR" sz="2600" noProof="0" dirty="0"/>
          </a:p>
        </p:txBody>
      </p:sp>
      <p:sp>
        <p:nvSpPr>
          <p:cNvPr id="4" name="Shape 2"/>
          <p:cNvSpPr/>
          <p:nvPr/>
        </p:nvSpPr>
        <p:spPr>
          <a:xfrm>
            <a:off x="777240" y="1024128"/>
            <a:ext cx="10634472" cy="0"/>
          </a:xfrm>
          <a:prstGeom prst="line">
            <a:avLst/>
          </a:prstGeom>
          <a:noFill/>
          <a:ln w="12700">
            <a:solidFill>
              <a:srgbClr val="1A1A18"/>
            </a:solidFill>
            <a:prstDash val="solid"/>
          </a:ln>
        </p:spPr>
        <p:txBody>
          <a:bodyPr/>
          <a:lstStyle/>
          <a:p>
            <a:endParaRPr lang="pt-BR" noProof="0" dirty="0"/>
          </a:p>
        </p:txBody>
      </p:sp>
      <p:graphicFrame>
        <p:nvGraphicFramePr>
          <p:cNvPr id="4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42459593"/>
              </p:ext>
            </p:extLst>
          </p:nvPr>
        </p:nvGraphicFramePr>
        <p:xfrm>
          <a:off x="777240" y="1417320"/>
          <a:ext cx="11247120" cy="4279392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#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Demanda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Onde está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0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Situação</a:t>
                      </a:r>
                      <a:endParaRPr lang="pt-BR" sz="100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Identificar todos os outliers de renda, com cidade, setor e se é favela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renda_outliers_rastreados.csv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— 3.358 setores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952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1.1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Duas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EDAs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, com e sem os outliers, e a comparação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renda_eda_com_vs_sem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·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renda_correlacao_com_vs_sem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Rastrear rendas exorbitantes em setores pequenos, à mostra na EDA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renda_setores_pequenos.csv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· figura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renda_tamanho_do_setor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3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Boxplot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ou histograma por cidade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figura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renda_boxplot_por_cidade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— 70 cidades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4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Outliers de renda no Sudeste e Norte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renda_extremos_por_regiao.csv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5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Relatório do IBGE sobre vilas e favelas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docs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/ — 171 páginas + planilha por setor; validação de 100%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Aceitar a limitação do analfabetismo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Relatório seção 14.1 · GUIA §6.2.6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7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Focar nas pendências de renda e propor mais estudos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quatro estudos propostos; ver próximos passos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8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 EDA central reunindo tudo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esta apresentação — 12 blocos de tabela e 6 figuras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Ampliar a matriz de correlação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matriz 10×10 · NB02 célula step12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10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Testar V00199 a V00201 e a proporção sem água encanada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NB02 seção 7h · três </a:t>
                      </a:r>
                      <a:r>
                        <a:rPr lang="pt-BR" sz="1050" noProof="0" dirty="0" err="1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CSVs</a:t>
                      </a: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 · GUIA §6.2.9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cumprida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11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Planejar a análise fatorial em Python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noProof="0" dirty="0">
                          <a:solidFill>
                            <a:srgbClr val="1A1A18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plano pronto; execução não iniciada por decisão sua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050" b="1" noProof="0" dirty="0">
                          <a:solidFill>
                            <a:srgbClr val="8C2F27"/>
                          </a:solidFill>
                          <a:latin typeface="Cambria" pitchFamily="34" charset="0"/>
                          <a:ea typeface="Cambria" pitchFamily="34" charset="-122"/>
                          <a:cs typeface="Cambria" pitchFamily="34" charset="-120"/>
                        </a:rPr>
                        <a:t>planejada</a:t>
                      </a:r>
                      <a:endParaRPr lang="pt-BR" sz="1050" noProof="0" dirty="0">
                        <a:latin typeface="Cambria" charset="0"/>
                        <a:ea typeface="Cambria" charset="0"/>
                        <a:cs typeface="Cambria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5875" cap="flat" cmpd="sng" algn="ctr">
                      <a:solidFill>
                        <a:srgbClr val="1A1A1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1A1A1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863072" y="63550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pt-BR" sz="1000" noProof="0" dirty="0">
                <a:solidFill>
                  <a:srgbClr val="8B877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47</a:t>
            </a:r>
            <a:endParaRPr lang="pt-BR" sz="1000" noProof="0" dirty="0"/>
          </a:p>
        </p:txBody>
      </p:sp>
      <p:sp>
        <p:nvSpPr>
          <p:cNvPr id="3" name="Text 1"/>
          <p:cNvSpPr/>
          <p:nvPr/>
        </p:nvSpPr>
        <p:spPr>
          <a:xfrm>
            <a:off x="777240" y="685800"/>
            <a:ext cx="10634472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3400" b="1" noProof="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vem agora</a:t>
            </a:r>
            <a:endParaRPr lang="pt-BR" sz="3400" noProof="0" dirty="0"/>
          </a:p>
        </p:txBody>
      </p:sp>
      <p:sp>
        <p:nvSpPr>
          <p:cNvPr id="4" name="Shape 2"/>
          <p:cNvSpPr/>
          <p:nvPr/>
        </p:nvSpPr>
        <p:spPr>
          <a:xfrm>
            <a:off x="777240" y="1728216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5" name="Text 3"/>
          <p:cNvSpPr/>
          <p:nvPr/>
        </p:nvSpPr>
        <p:spPr>
          <a:xfrm>
            <a:off x="777240" y="17282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pt-BR" sz="1500" noProof="0" dirty="0"/>
          </a:p>
        </p:txBody>
      </p:sp>
      <p:sp>
        <p:nvSpPr>
          <p:cNvPr id="6" name="Text 4"/>
          <p:cNvSpPr/>
          <p:nvPr/>
        </p:nvSpPr>
        <p:spPr>
          <a:xfrm>
            <a:off x="1417320" y="169164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03</a:t>
            </a:r>
            <a:endParaRPr lang="pt-BR" sz="1350" noProof="0" dirty="0"/>
          </a:p>
        </p:txBody>
      </p:sp>
      <p:sp>
        <p:nvSpPr>
          <p:cNvPr id="7" name="Text 5"/>
          <p:cNvSpPr/>
          <p:nvPr/>
        </p:nvSpPr>
        <p:spPr>
          <a:xfrm>
            <a:off x="4297680" y="1691640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Normalização min-</a:t>
            </a:r>
            <a:r>
              <a:rPr lang="pt-BR" sz="1200" noProof="0" dirty="0" err="1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max</a:t>
            </a:r>
            <a:r>
              <a:rPr lang="pt-BR" sz="1200" noProof="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por município, com a renda invertida e transformada. É a decisão que o conselho apontou como dominante sobre o peso.</a:t>
            </a:r>
            <a:endParaRPr lang="pt-BR" sz="1200" noProof="0" dirty="0"/>
          </a:p>
        </p:txBody>
      </p:sp>
      <p:sp>
        <p:nvSpPr>
          <p:cNvPr id="8" name="Shape 6"/>
          <p:cNvSpPr/>
          <p:nvPr/>
        </p:nvSpPr>
        <p:spPr>
          <a:xfrm>
            <a:off x="777240" y="2569464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9" name="Text 7"/>
          <p:cNvSpPr/>
          <p:nvPr/>
        </p:nvSpPr>
        <p:spPr>
          <a:xfrm>
            <a:off x="777240" y="2569464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pt-BR" sz="1500" noProof="0" dirty="0"/>
          </a:p>
        </p:txBody>
      </p:sp>
      <p:sp>
        <p:nvSpPr>
          <p:cNvPr id="10" name="Text 8"/>
          <p:cNvSpPr/>
          <p:nvPr/>
        </p:nvSpPr>
        <p:spPr>
          <a:xfrm>
            <a:off x="1417320" y="2532888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Sensibilidade dos pesos</a:t>
            </a:r>
            <a:endParaRPr lang="pt-BR" sz="1350" noProof="0" dirty="0"/>
          </a:p>
        </p:txBody>
      </p:sp>
      <p:sp>
        <p:nvSpPr>
          <p:cNvPr id="11" name="Text 9"/>
          <p:cNvSpPr/>
          <p:nvPr/>
        </p:nvSpPr>
        <p:spPr>
          <a:xfrm>
            <a:off x="4297680" y="2532888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IVS calculado com 60/40, pesos iguais e 50/50; </a:t>
            </a:r>
            <a:r>
              <a:rPr lang="pt-BR" sz="1200" noProof="0" dirty="0" err="1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Spearman</a:t>
            </a:r>
            <a:r>
              <a:rPr lang="pt-BR" sz="1200" noProof="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entre os rankings. Resultado publicável em uma tabela.</a:t>
            </a:r>
            <a:endParaRPr lang="pt-BR" sz="1200" noProof="0" dirty="0"/>
          </a:p>
        </p:txBody>
      </p:sp>
      <p:sp>
        <p:nvSpPr>
          <p:cNvPr id="12" name="Shape 10"/>
          <p:cNvSpPr/>
          <p:nvPr/>
        </p:nvSpPr>
        <p:spPr>
          <a:xfrm>
            <a:off x="777240" y="3410712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3" name="Text 11"/>
          <p:cNvSpPr/>
          <p:nvPr/>
        </p:nvSpPr>
        <p:spPr>
          <a:xfrm>
            <a:off x="777240" y="341071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pt-BR" sz="1500" noProof="0" dirty="0"/>
          </a:p>
        </p:txBody>
      </p:sp>
      <p:sp>
        <p:nvSpPr>
          <p:cNvPr id="14" name="Text 12"/>
          <p:cNvSpPr/>
          <p:nvPr/>
        </p:nvSpPr>
        <p:spPr>
          <a:xfrm>
            <a:off x="1417320" y="3374136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Notebook 04 — fatorial</a:t>
            </a:r>
            <a:endParaRPr lang="pt-BR" sz="1350" noProof="0" dirty="0"/>
          </a:p>
        </p:txBody>
      </p:sp>
      <p:sp>
        <p:nvSpPr>
          <p:cNvPr id="15" name="Text 13"/>
          <p:cNvSpPr/>
          <p:nvPr/>
        </p:nvSpPr>
        <p:spPr>
          <a:xfrm>
            <a:off x="4297680" y="3374136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Plano pronto: transformar a renda, decidir os 16.552 setores sem analfabetismo, KMO e Bartlett, número de fatores, </a:t>
            </a:r>
            <a:r>
              <a:rPr lang="pt-BR" sz="1200" noProof="0" dirty="0" err="1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varimax</a:t>
            </a:r>
            <a:r>
              <a:rPr lang="pt-BR" sz="1200" noProof="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. Execução aguardando decisão.</a:t>
            </a:r>
            <a:endParaRPr lang="pt-BR" sz="1200" noProof="0" dirty="0"/>
          </a:p>
        </p:txBody>
      </p:sp>
      <p:sp>
        <p:nvSpPr>
          <p:cNvPr id="16" name="Shape 14"/>
          <p:cNvSpPr/>
          <p:nvPr/>
        </p:nvSpPr>
        <p:spPr>
          <a:xfrm>
            <a:off x="777240" y="4251960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17" name="Text 15"/>
          <p:cNvSpPr/>
          <p:nvPr/>
        </p:nvSpPr>
        <p:spPr>
          <a:xfrm>
            <a:off x="777240" y="425196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pt-BR" sz="1500" noProof="0" dirty="0"/>
          </a:p>
        </p:txBody>
      </p:sp>
      <p:sp>
        <p:nvSpPr>
          <p:cNvPr id="18" name="Text 16"/>
          <p:cNvSpPr/>
          <p:nvPr/>
        </p:nvSpPr>
        <p:spPr>
          <a:xfrm>
            <a:off x="1417320" y="4215384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Estudos de renda propostos</a:t>
            </a:r>
            <a:endParaRPr lang="pt-BR" sz="1350" noProof="0" dirty="0"/>
          </a:p>
        </p:txBody>
      </p:sp>
      <p:sp>
        <p:nvSpPr>
          <p:cNvPr id="19" name="Text 17"/>
          <p:cNvSpPr/>
          <p:nvPr/>
        </p:nvSpPr>
        <p:spPr>
          <a:xfrm>
            <a:off x="4297680" y="4215384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Renda relativa à mediana municipal como indicador; desigualdade intraurbana por Gini ou p90/p10; renda × favela sistematizada.</a:t>
            </a:r>
            <a:endParaRPr lang="pt-BR" sz="1200" noProof="0" dirty="0"/>
          </a:p>
        </p:txBody>
      </p:sp>
      <p:sp>
        <p:nvSpPr>
          <p:cNvPr id="20" name="Shape 18"/>
          <p:cNvSpPr/>
          <p:nvPr/>
        </p:nvSpPr>
        <p:spPr>
          <a:xfrm>
            <a:off x="777240" y="5093208"/>
            <a:ext cx="402336" cy="402336"/>
          </a:xfrm>
          <a:prstGeom prst="ellipse">
            <a:avLst/>
          </a:prstGeom>
          <a:solidFill>
            <a:srgbClr val="56534C"/>
          </a:solidFill>
          <a:ln/>
        </p:spPr>
        <p:txBody>
          <a:bodyPr/>
          <a:lstStyle/>
          <a:p>
            <a:endParaRPr lang="pt-BR" noProof="0" dirty="0"/>
          </a:p>
        </p:txBody>
      </p:sp>
      <p:sp>
        <p:nvSpPr>
          <p:cNvPr id="21" name="Text 19"/>
          <p:cNvSpPr/>
          <p:nvPr/>
        </p:nvSpPr>
        <p:spPr>
          <a:xfrm>
            <a:off x="777240" y="509320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pt-BR" sz="1500" b="1" noProof="0" dirty="0">
                <a:solidFill>
                  <a:srgbClr val="1A1A1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pt-BR" sz="1500" noProof="0" dirty="0"/>
          </a:p>
        </p:txBody>
      </p:sp>
      <p:sp>
        <p:nvSpPr>
          <p:cNvPr id="22" name="Text 20"/>
          <p:cNvSpPr/>
          <p:nvPr/>
        </p:nvSpPr>
        <p:spPr>
          <a:xfrm>
            <a:off x="1417320" y="5056632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350" b="1" noProof="0" dirty="0">
                <a:solidFill>
                  <a:srgbClr val="5653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Redação das limitações</a:t>
            </a:r>
            <a:endParaRPr lang="pt-BR" sz="1350" noProof="0" dirty="0"/>
          </a:p>
        </p:txBody>
      </p:sp>
      <p:sp>
        <p:nvSpPr>
          <p:cNvPr id="23" name="Text 21"/>
          <p:cNvSpPr/>
          <p:nvPr/>
        </p:nvSpPr>
        <p:spPr>
          <a:xfrm>
            <a:off x="4297680" y="5056632"/>
            <a:ext cx="725119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pt-BR" sz="1200" noProof="0" dirty="0">
                <a:solidFill>
                  <a:srgbClr val="C9D8D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Falta escrever falácia ecológica, viés de sobrevivência e institucionalizados — que não saem pela classe COLETIVO, vazia na base, e sim porque entram em v0001 sem entrar em V00001. A do analfabetismo e a das favelas já estão prontas.</a:t>
            </a:r>
            <a:endParaRPr lang="pt-BR" sz="1200" noProof="0" dirty="0"/>
          </a:p>
        </p:txBody>
      </p:sp>
      <p:sp>
        <p:nvSpPr>
          <p:cNvPr id="24" name="Text 22"/>
          <p:cNvSpPr/>
          <p:nvPr/>
        </p:nvSpPr>
        <p:spPr>
          <a:xfrm>
            <a:off x="777240" y="6080760"/>
            <a:ext cx="106344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pt-BR" sz="1150" noProof="0" dirty="0">
                <a:solidFill>
                  <a:srgbClr val="89A19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Pedro Dias Soares  ·  Iniciação Científica  ·  Fiocruz Minas — Instituto René Rachou  ·  agosto de 2026</a:t>
            </a:r>
            <a:endParaRPr lang="pt-BR" sz="1150" noProof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112</TotalTime>
  <Words>5600</Words>
  <Application>Microsoft Macintosh PowerPoint</Application>
  <PresentationFormat>Widescreen</PresentationFormat>
  <Paragraphs>1209</Paragraphs>
  <Slides>40</Slides>
  <Notes>40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40</vt:i4>
      </vt:variant>
    </vt:vector>
  </HeadingPairs>
  <TitlesOfParts>
    <vt:vector size="44" baseType="lpstr">
      <vt:lpstr>Arial</vt:lpstr>
      <vt:lpstr>Cambria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EDA Central — IVS Censo 2022</dc:title>
  <dc:subject>PptxGenJS Presentation</dc:subject>
  <dc:creator>Pedro Dias Soares</dc:creator>
  <cp:lastModifiedBy>Pedro Dias Soares</cp:lastModifiedBy>
  <cp:revision>3</cp:revision>
  <dcterms:created xsi:type="dcterms:W3CDTF">2026-08-24T17:58:41Z</dcterms:created>
  <dcterms:modified xsi:type="dcterms:W3CDTF">2026-09-01T18:40:19Z</dcterms:modified>
</cp:coreProperties>
</file>