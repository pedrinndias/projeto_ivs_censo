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5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 de Spearman com a renda média</c:v>
                </c:pt>
              </c:strCache>
            </c:strRef>
          </c:tx>
          <c:spPr>
            <a:solidFill>
              <a:srgbClr val="8C2F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Cor/raça PPI</c:v>
                  </c:pt>
                  <c:pt idx="1">
                    <c:v>Analfabetismo</c:v>
                  </c:pt>
                  <c:pt idx="2">
                    <c:v>Esgoto inadeq.</c:v>
                  </c:pt>
                  <c:pt idx="3">
                    <c:v>Razão moradores</c:v>
                  </c:pt>
                  <c:pt idx="4">
                    <c:v>Água inadeq.</c:v>
                  </c:pt>
                  <c:pt idx="5">
                    <c:v>Lixo inadeq.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-0.81</c:v>
                </c:pt>
                <c:pt idx="1">
                  <c:v>-0.76</c:v>
                </c:pt>
                <c:pt idx="2">
                  <c:v>-0.45</c:v>
                </c:pt>
                <c:pt idx="3">
                  <c:v>-0.44</c:v>
                </c:pt>
                <c:pt idx="4">
                  <c:v>-0.26</c:v>
                </c:pt>
                <c:pt idx="5">
                  <c:v>-0.16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"/>
        </c:scaling>
        <c:delete val="0"/>
        <c:axPos val="b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Percentual dos setores que são de favela</c:v>
                </c:pt>
              </c:strCache>
            </c:strRef>
          </c:tx>
          <c:spPr>
            <a:solidFill>
              <a:srgbClr val="C96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Nordeste</c:v>
                  </c:pt>
                  <c:pt idx="2">
                    <c:v>Sudeste</c:v>
                  </c:pt>
                  <c:pt idx="3">
                    <c:v>Sul</c:v>
                  </c:pt>
                  <c:pt idx="4">
                    <c:v>Centro-Oeste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50.6</c:v>
                </c:pt>
                <c:pt idx="1">
                  <c:v>27.7</c:v>
                </c:pt>
                <c:pt idx="2">
                  <c:v>14.6</c:v>
                </c:pt>
                <c:pt idx="3">
                  <c:v>8.5</c:v>
                </c:pt>
                <c:pt idx="4">
                  <c:v>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Razão entre favela e não-favela</c:v>
                </c:pt>
              </c:strCache>
            </c:strRef>
          </c:tx>
          <c:spPr>
            <a:solidFill>
              <a:srgbClr val="8C2F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Esgoto inadequado</c:v>
                  </c:pt>
                  <c:pt idx="1">
                    <c:v>Lixo inadequado</c:v>
                  </c:pt>
                  <c:pt idx="2">
                    <c:v>Analfabetismo</c:v>
                  </c:pt>
                  <c:pt idx="3">
                    <c:v>Água inadequada</c:v>
                  </c:pt>
                  <c:pt idx="4">
                    <c:v>Cor/raça PPI</c:v>
                  </c:pt>
                  <c:pt idx="5">
                    <c:v>Crianças 0–14</c:v>
                  </c:pt>
                  <c:pt idx="6">
                    <c:v>Razão moradores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4.14</c:v>
                </c:pt>
                <c:pt idx="1">
                  <c:v>2.9</c:v>
                </c:pt>
                <c:pt idx="2">
                  <c:v>2.14</c:v>
                </c:pt>
                <c:pt idx="3">
                  <c:v>1.77</c:v>
                </c:pt>
                <c:pt idx="4">
                  <c:v>1.53</c:v>
                </c:pt>
                <c:pt idx="5">
                  <c:v>1.38</c:v>
                </c:pt>
                <c:pt idx="6">
                  <c:v>1.11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Envelhecimento</c:v>
                </c:pt>
              </c:strCache>
            </c:strRef>
          </c:tx>
          <c:spPr>
            <a:solidFill>
              <a:srgbClr val="0E6B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Sul</c:v>
                  </c:pt>
                  <c:pt idx="1">
                    <c:v>Sudeste</c:v>
                  </c:pt>
                  <c:pt idx="2">
                    <c:v>Nordeste</c:v>
                  </c:pt>
                  <c:pt idx="3">
                    <c:v>Centro-Oeste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111.9</c:v>
                </c:pt>
                <c:pt idx="1">
                  <c:v>105.5</c:v>
                </c:pt>
                <c:pt idx="2">
                  <c:v>81.7</c:v>
                </c:pt>
                <c:pt idx="3">
                  <c:v>73</c:v>
                </c:pt>
                <c:pt idx="4">
                  <c:v>56.3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0"/>
        <c:axPos val="l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Percentual do Brasil coberto pela amostra</c:v>
                </c:pt>
              </c:strCache>
            </c:strRef>
          </c:tx>
          <c:spPr>
            <a:solidFill>
              <a:srgbClr val="0E6B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Setores de favela</c:v>
                  </c:pt>
                  <c:pt idx="1">
                    <c:v>Setores urbanos</c:v>
                  </c:pt>
                  <c:pt idx="2">
                    <c:v>Domicílios</c:v>
                  </c:pt>
                  <c:pt idx="3">
                    <c:v>População</c:v>
                  </c:pt>
                  <c:pt idx="4">
                    <c:v>Setores (todos)</c:v>
                  </c:pt>
                  <c:pt idx="5">
                    <c:v>Municípios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58.6</c:v>
                </c:pt>
                <c:pt idx="1">
                  <c:v>30</c:v>
                </c:pt>
                <c:pt idx="2">
                  <c:v>26.9</c:v>
                </c:pt>
                <c:pt idx="3">
                  <c:v>26</c:v>
                </c:pt>
                <c:pt idx="4">
                  <c:v>23.3</c:v>
                </c:pt>
                <c:pt idx="5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Apresento o andamento do projeto: onde parei em julho, o que fiz nas sete demandas e o que preciso definir para seguir para o cálculo do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blocos: recapitulação, EDA, achados, demandas e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Começo relembrando a escala e o objetivo, porque tudo que vem depois depende de o recorte ser intraurbano.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desenho ecológico é o que torna a falácia ecológica uma limitação obrigatória na discussão — vou voltar nisso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Deixo claro o que já existia e o que é novo desta rodada, para a discussão focar no que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rápido por esta parte, que é recapitulação — a não ser que queira que eu detalhe algum ponto.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cuidados já estão resolvidos no código; menciono porque explicam por que a leitura demora.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Reforço a decisão do denominador porque foi a correção metodológica mais importante do projeto até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Antecipo aqui a crítica mais provável de um parecerista: que não é exatamente o IVS-BH. É uma adaptação, e ela está declarada.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Apliquei o filtro rural no notebook de análise e não na extração, para a exclusão ficar auditável e reversível.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parte que mais mudou desde julho.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das seções são novas e nasceram das demandas. As outras mudaram porque o recorte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Chamo atenção para a forma das distribuições porque ela condiciona as escolhas estatísticas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Destaquei a linha do analfabetismo em vermelho porque o n é menor: 87.556 contra 104.108.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Centro-Oeste ter a maior renda média surpreende, mas reflete o peso de Brasília na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Mostro as duas matrizes lado a lado; a de Spearman é a que uso para interpretar.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discussão metodológica que mais me interessa nesta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segundo ponto metodológico que quero decidir: o que fazer com o sigilo do analfabetismo no cálculo do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Deixo isso explícito porque, se eu apresentasse só o número de outliers, pareceria que há um problema de qualidade de dado onde não há.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três blocos nasceram das demandas de julho.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Foi preciso reprocessar o notebook 01 para trazer quatro colunas do arquivo básico que a pipeline nunca tinha 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mim este é o resultado mais promissor da rodada, porque dá uma forma de validar o índice sem depender de dado externo.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conferência contra o número publicado foi a forma que encontrei de validar a pipeline inteira de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conclusão é que a amostra representa o Brasil urbano de grande porte, e não o Brasil. Preciso dizer isso na discussão.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parte, a de prestação de contas e planejamento.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demandas entregues em código e dados; a sétima é redação e depende de eu sentar para escrever.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quatro pontos travam etapas que vêm logo a seguir, por isso trago todos de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proposta é começar pelo notebook 03 esta semana, já que ele não depende de nenhuma das quatro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retomando as quatro decisões, que é o que preciso levar desta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 Científica  ·  Fiocruz Minas — IRR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Vulnerabilidade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Saúde — Censo 2022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547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do projeto e as demandas de julho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5760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  ·  9 de agosto de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326880" y="379476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69780" y="37947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12680" y="37947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55580" y="379476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0" y="37947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0" y="41376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69780" y="41376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12680" y="413766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55580" y="413766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41376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326880" y="44805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69780" y="44805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12680" y="448056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55580" y="44805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698480" y="448056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48234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669780" y="48234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012680" y="48234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355580" y="482346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98480" y="48234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trago nesta apresentação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" y="1463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98848" y="14996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 pesquisa, os dados e as decisões metodológicas que já tomamos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" y="2377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análise exploratória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98848" y="24140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mudei nela e o que as distribuições mostram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9848" y="3291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 novos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98848" y="33284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Favelas, envelhecimento e a comparação com o Brasil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69848" y="4206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demandas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98848" y="42428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atendi cada uma e o que ficou pendente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69848" y="51206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8848" y="51572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até o índice e os pontos que preciso definir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Construo um índice composto de vulnerabilidade à saúde para comparar setores censitários dentro de cada cidade, com dados do Censo 2022.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8096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ELSI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45613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46781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046781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no recorte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análise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4298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25466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325466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compõem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2982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04150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7604150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81667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82835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882835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pipeline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3467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unidade de análise é o setor censitário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" y="3730752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menor unidade territorial que o IBGE divulga, com cerca de 300 domicílios. Trabalhar nesse nível é o que permite enxergar desigualdade dentro de um mesmo município, que é o objetivo do índice. A metodologia reproduz a do IVS de Belo Horizonte de 2012, adaptada às variáveis que o Censo 2022 publica.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0" y="3346704"/>
            <a:ext cx="3840480" cy="2194560"/>
          </a:xfrm>
          <a:prstGeom prst="roundRect">
            <a:avLst>
              <a:gd name="adj" fmla="val 1667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0144" y="35295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lacuna que justifica o trabalho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10144" y="404164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IVS padronizado e atualizado com dados do Censo 2022 para os municípios do ELSI-Brasil. Os estudos anteriores usaram o Censo 2010.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de pesquisa e o desenho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distribuição espacial da vulnerabilidade à saúde nos setores censitários dos municípios do ELSI-Brasil, e quais padrões intraurbanos de desigualdade emergem dela?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577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População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 censitários urbanos dos 70 municípios do ELSI-Brasil — 104.108 elegíveis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 Exposição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 de saneamento e socioeconômicas medidas no setor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Distribuição do índice entre setores e entre municípios e regiões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Desfecho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IVS contínuo de 0 a 1, categorizado em 4 faixas de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 Desenho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ecológico, com dados agregados por setor censitário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6448" y="1975104"/>
            <a:ext cx="3456432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75904" y="2139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75904" y="250545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padrão espacial sistemático dentro dos municípios.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3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periféricos têm vulnerabilidade maior que áreas centrais, seguindo o padrão centro-periferia.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44439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ética: uso apenas dados secundários, públicos e anônimos do IBGE. Pela Resolução CNS 510/2016, artigo 1º, incisos II e III, o estudo não requer submissão ao CEP. O artigo de Galvão e colaboradores, indicado na orientação, adota o mesmo enquadramento, o que dá um precedente citável.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parei e o que fiz desde julho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5376672" cy="374904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77824" y="1591056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estava pronto em julho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7824" y="2048256"/>
            <a:ext cx="4736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dos 8 arquivos do Censo e filtro dos 70 municípios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do sigilo e regra de elegibilidade dos setores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consolidado no V00001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das sete variáveis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77824" y="3529584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acrescentei em agosto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3986784"/>
            <a:ext cx="4736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sete demandas de julho, todas implementadas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urbano, com conferência município a município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blocos novos na EDA: envelhecimento, tipo de domicílio e favelas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nacional com os 468 mil setores do país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371600"/>
            <a:ext cx="5376672" cy="374904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1591056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6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não fiz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65392" y="2048256"/>
            <a:ext cx="4736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a renda por município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análise fatorial para definir os pesos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 índice e categorizar em 4 faixas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os mapas no QGIS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artigo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65392" y="3931920"/>
            <a:ext cx="4754880" cy="1005840"/>
          </a:xfrm>
          <a:prstGeom prst="roundRect">
            <a:avLst>
              <a:gd name="adj" fmla="val 3636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4078224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dados está madura e auditada. O que falta agora é estatística, não tratamento de dado.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3583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cronograma do plano de trabalho reserva agosto e setembro para o cálculo do índice, então estamos dentro do prazo previsto.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e o método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657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arquivos do IBGE, sete variáveis e as regras que decidem quais setores entram na análise.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262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1842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8972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326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21842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613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326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184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326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842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613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oito arquivos do Censo 2022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2,4 GB de agregados por setor censitário. Todos se juntam pelo geocódigo de 15 dígitos do setor.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uso dele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Identificação, situação urbano/rural, tipo de setor, população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Domicílio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Denominadores V00001 e V00002, moradores, tipos de domicílio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Domicílio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Água, esgoto, lixo e banheiro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Alfabetização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V00900 sabem ler e V00901 não sabem, 15 anos ou mais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 ou Raça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Preta, parda e indígena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Demografia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Pirâmide etária completa, de 0–4 até 70 anos ou mais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Parentesco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Responsáveis pelo domicílio, por sexo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do responsável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nominal médio mensal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536192"/>
            <a:ext cx="320040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31936" y="1719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cuidados na leitura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31936" y="21031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Sigilo.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IBGE troca contagens pequenas pela letra X. Converto para nulo, nunca para zero.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Codificação.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básico é latin1 e os outros sete são utf-8.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Vírgula decimal.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vem como 2453,03. Sem tratar, a coluna inteira vira nulo sem aviso.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variáveis que compõem o índice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dimensões. A direção é sempre: quanto maior o valor, maior a vulnerabilidade. A renda é a única invertida.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48097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no Censo 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(V00112 + … + V00118) ÷ V00001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(V00312 + … + V00316) ÷ V00001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(V00398 + … + V00402) ÷ V00001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(V00005 + V00006) ÷ (V00001 + V00002)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15 anos ou mais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V00901 ÷ (V00900 + V00901)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Renda, invertida no índice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V06004, uso direto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Cor/raça preta, parda e indígena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(V01318 + V01320 + V01321) ÷ v0001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572000"/>
            <a:ext cx="11027664" cy="1060704"/>
          </a:xfrm>
          <a:prstGeom prst="roundRect">
            <a:avLst>
              <a:gd name="adj" fmla="val 3448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o denominador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75888" y="4700016"/>
            <a:ext cx="7680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o V00001, Domicílios Particulares Permanentes Ocupados, que é o equivalente no Censo 2022 do V002 usado pelo IVS-BH. Conforme decidimos em maio, descartei o V01042, que conta pessoas responsáveis e não domicílios. Com o V00001 nenhuma proporção ultrapassa 1,0 em nenhum dos 104 mil setores.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Censo 2022 não permite reproduzir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itens do IVS-BH 2012 que os agregados por setor não entregam, e a solução que adotei em cada caso.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3204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7393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Percentual de chefes com menos de 4 anos de estudo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instrução não existem nos agregados por setor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621024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usei no lugar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87705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 de 15 anos ou mais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4736" y="1554480"/>
            <a:ext cx="343204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0768" y="177393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Percentual de famílias com até 2 salários mínimos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0768" y="2578608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20768" y="2834640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contagem por faixa salarial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20768" y="3621024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usei no lugar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0768" y="387705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médio, invertido na normalização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62544" y="1554480"/>
            <a:ext cx="343204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8576" y="177393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Coeficiente de óbitos por doenças cardiovasculares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8576" y="2578608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8576" y="2834640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IBGE registrou se houve óbito, mas não a causa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8576" y="3621024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usei no lugar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8576" y="387705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sem solução; pretendo buscar no DATASUS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497433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declarar essas três substituições na seção de métodos, porque elas mudam o que o índice mede: a dimensão socioeconômica ficou mais dependente de renda e alfabetização do que a original.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setores entram na análise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 dos 109.032 setores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0040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população residente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SIGILOSO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 ou domicílios suprimidos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domicílios coletivos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 da análise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097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total ao recorte de análise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92240" y="1444752"/>
            <a:ext cx="5120640" cy="402336"/>
          </a:xfrm>
          <a:prstGeom prst="rect">
            <a:avLst/>
          </a:prstGeom>
          <a:solidFill>
            <a:srgbClr val="0C2724"/>
          </a:solidFill>
          <a:ln/>
        </p:spPr>
      </p:sp>
      <p:sp>
        <p:nvSpPr>
          <p:cNvPr id="7" name="Text 4"/>
          <p:cNvSpPr/>
          <p:nvPr/>
        </p:nvSpPr>
        <p:spPr>
          <a:xfrm>
            <a:off x="6620256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109.032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1444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dos 70 municípios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2011680"/>
            <a:ext cx="4992624" cy="402336"/>
          </a:xfrm>
          <a:prstGeom prst="rect">
            <a:avLst/>
          </a:prstGeom>
          <a:solidFill>
            <a:srgbClr val="0E6B62"/>
          </a:solidFill>
          <a:ln/>
        </p:spPr>
      </p:sp>
      <p:sp>
        <p:nvSpPr>
          <p:cNvPr id="10" name="Text 7"/>
          <p:cNvSpPr/>
          <p:nvPr/>
        </p:nvSpPr>
        <p:spPr>
          <a:xfrm>
            <a:off x="6620256" y="20116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106.281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20116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Elegíveis, depois do sigilo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92240" y="2578608"/>
            <a:ext cx="4892040" cy="402336"/>
          </a:xfrm>
          <a:prstGeom prst="rect">
            <a:avLst/>
          </a:prstGeom>
          <a:solidFill>
            <a:srgbClr val="C9662F"/>
          </a:solidFill>
          <a:ln/>
        </p:spPr>
      </p:sp>
      <p:sp>
        <p:nvSpPr>
          <p:cNvPr id="13" name="Text 10"/>
          <p:cNvSpPr/>
          <p:nvPr/>
        </p:nvSpPr>
        <p:spPr>
          <a:xfrm>
            <a:off x="6620256" y="25786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104.108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25786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Urbanos elegíveis, o recorte final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3291840"/>
            <a:ext cx="548640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474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correção que fiz na regra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3840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de sigilo estava sendo testada antes da de população zero. Com isso, 1.736 setores vazios (entre eles 78 massas d'água) apareciam como dado suprimido pelo IBGE. Invertendo a ordem, o sigilo real caiu de 2.751 para 1.015 setores. Nenhum setor elegível mudou de classe; o que muda é que paro de superestimar a supressão.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92240" y="3291840"/>
            <a:ext cx="512064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2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exclusão rural não é uniforme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748272" y="38404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todo saem 2.173 setores, 2,04% dos elegíveis. Mas nove municípios não perdem nada enquanto 29 dos 70 perdem mais de 10% e 14 perdem mais da metade. São Raimundo do Doca Bezerra fica com 3 setores. Isso desestabiliza médias municipais e é um ponto que preciso tratar nas limitações.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análise exploratória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657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mudei na EDA nesta rodada e o que as distribuições mostram sobre as sete variáveis.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262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1842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8972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326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21842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613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326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184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326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842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613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mudei na análise exploratória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notebook passou de 37 para 43 células. Além do recorte urbano, acrescentei três blocos descritivos.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276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71246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passou a fazer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Artefatos gerados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Elegibilidade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da regra corrigida: população zero antes do sigilo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elegibilidade_setores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  Recorte urbano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 dos setores rurais com conferência por município e região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exclusao_rural_conferencia, situacao_urbano_rural (3 tabelas)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7e  Envelhecimento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IEP com denominador corrigido, mais RDI e percentual de 60 anos ou mais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indicadores_envelhecimento (2), estrutura_etaria 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7f  Tipo de domicílio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Agrupamento das moradias convencionais e indicador de apartamento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tipo_domicilio (4 tabelas)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7g  Favelas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Contagem de setores de favela e comparação de indicadores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favelas_fcu (4 tabelas)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 12  Figuras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Regeneradas sobre o recorte urbano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histogramas, boxplots, correlação, faltantes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tabelas da EDA foram regeneradas sobre os 104.108 setores urbanos. Os números que apresento a seguir são todos dessa rodada.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sete variáveis se distribuem</a:t>
            </a:r>
            <a:endParaRPr lang="en-US" sz="3000" dirty="0"/>
          </a:p>
        </p:txBody>
      </p:sp>
      <p:pic>
        <p:nvPicPr>
          <p:cNvPr id="3" name="Image 0" descr="D:/Iniciação Cientifica/Projeto_IVS_Censo22/banco_de_dados/eda/figuras/histogra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60704"/>
            <a:ext cx="7223760" cy="4773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87044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banco_de_dados/eda/figuras/histogramas.png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991856" y="113385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chama atenção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991856" y="1554480"/>
            <a:ext cx="36210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variáveis de saneamento estão concentradas no zero. Em mais da metade dos setores urbanos, água, esgoto e lixo estão totalmente adequados.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razão de moradores é a única aproximadamente simétrica, centrada em 2,7.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tem cauda longuíssima à direita, chegando a R$ 170 mil num setor.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de pretos, pardos e indígenas é a mais espalhada, com moda em torno de 0,65.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991856" y="4626864"/>
            <a:ext cx="3621024" cy="1188720"/>
          </a:xfrm>
          <a:prstGeom prst="roundRect">
            <a:avLst>
              <a:gd name="adj" fmla="val 3077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93024" y="4773168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 assim, infladas de zeros, têm consequência direta na normalização e na análise fatorial. É um ponto que preciso discutir antes de calcular o índice.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urbanos elegíveis dos 70 municípios.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27664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15+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 (R$)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170.418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Cor/raça preta, parda, indígena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114800"/>
            <a:ext cx="3432048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427939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é muito assimétrica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" y="4754880"/>
            <a:ext cx="299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R$ 4.187 contra mediana de R$ 2.572. É por isso que a normalização precisa passar a ser por município, e não pelo mínimo e máximo de todos os setores.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4736" y="4114800"/>
            <a:ext cx="3432048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84192" y="427939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tem 15,9% de dados faltantes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84192" y="4754880"/>
            <a:ext cx="299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87.556 setores têm a taxa calculável. O sigilo do IBGE não é aleatório: concentra-se onde a contagem absoluta de analfabetos é pequena.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62544" y="4114800"/>
            <a:ext cx="3432048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2000" y="427939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único indicador estável é a razão de moradores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82000" y="4754880"/>
            <a:ext cx="299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variação de 14%, contra 218% a 284% nas variáveis de saneamento.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região</a:t>
            </a:r>
            <a:endParaRPr lang="en-US" sz="3000" dirty="0"/>
          </a:p>
        </p:txBody>
      </p:sp>
      <p:pic>
        <p:nvPicPr>
          <p:cNvPr id="3" name="Image 0" descr="D:/Iniciação Cientifica/Projeto_IVS_Censo22/banco_de_dados/eda/figuras/boxplots_por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60704"/>
            <a:ext cx="6583680" cy="4809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9070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banco_de_dados/eda/figuras/boxplots_por_regiao.png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406640" y="11338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Norte–Sul aparece com clareza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406640" y="177393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água inadequada no Norte é dezesseis vezes a do Sul, e o esgoto oito vezes. A razão de moradores acompanha: 3,19 no Norte contra 2,53 no Sul.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06640" y="27432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exceções ao padrão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06640" y="312724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analfabetismo tem pico no Nordeste, com 0,062, e não no Norte, que fica em 0,033.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lixo inadequado é praticamente plano entre as regiões, variando só de 0,091 a 0,154.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06640" y="4389120"/>
            <a:ext cx="4206240" cy="1426464"/>
          </a:xfrm>
          <a:prstGeom prst="roundRect">
            <a:avLst>
              <a:gd name="adj" fmla="val 2564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07808" y="4517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média por região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07808" y="480974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R$ 2.881  ·  Nordeste R$ 3.008  ·  Sudeste R$ 4.491  ·  Sul R$ 4.842  ·  Centro-Oeste R$ 4.945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entre as sete variáveis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Spearman como referência, porque as distribuições estão longe da normalidade.</a:t>
            </a:r>
            <a:endParaRPr lang="en-US" sz="1350" dirty="0"/>
          </a:p>
        </p:txBody>
      </p:sp>
      <p:pic>
        <p:nvPicPr>
          <p:cNvPr id="4" name="Image 0" descr="D:/Iniciação Cientifica/Projeto_IVS_Censo22/banco_de_dados/eda/figuras/matriz_correl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17904"/>
            <a:ext cx="10424160" cy="4471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053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banco_de_dados/eda/figuras/matriz_correlacao.png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as correlações implicam para o índice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66928" y="118872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858000" y="122529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Renda, cor/raça e analfabetismo medem em boa parte a mesma coisa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58000" y="20116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se correlaciona a −0,81 com a proporção de pretos, pardos e indígenas, e a −0,76 com o analfabetismo. É de esperar que a análise fatorial encontre um fator socioeconômico forte carregado por essas três variáveis.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0" y="3200400"/>
            <a:ext cx="4754880" cy="1133856"/>
          </a:xfrm>
          <a:prstGeom prst="roundRect">
            <a:avLst>
              <a:gd name="adj" fmla="val 3226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77456" y="3364992"/>
            <a:ext cx="4297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três medem quase o mesmo construto, elas devem entrar no índice com três pesos ou com um só? É a primeira decisão que preciso levar para a fatorial.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0" y="44988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extremo oposto está o lixo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0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Correlaciona-se de 0,10 a 0,20 com todas as demais, e −0,06 com a razão de moradores. Carrega informação independente, e provavelmente vai formar um fator próprio ou ficar com carga baixa em todos.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faltantes e o sigilo do IBGE</a:t>
            </a:r>
            <a:endParaRPr lang="en-US" sz="3000" dirty="0"/>
          </a:p>
        </p:txBody>
      </p:sp>
      <p:pic>
        <p:nvPicPr>
          <p:cNvPr id="3" name="Image 0" descr="D:/Iniciação Cientifica/Projeto_IVS_Censo22/banco_de_dados/eda/figuras/missing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60704"/>
            <a:ext cx="3602736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85216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missing_por_municipio.png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480560" y="11338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está concentrado numa variável só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480560" y="159105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das sete variáveis têm cobertura praticamente total. O analfabetismo tem 15,9% de setores sem dado, porque o IBGE suprime a contagem de analfabetos quando ela é muito pequena.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237744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setores sem a taxa de analfabetismo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Araçatuba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Brasília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Ananindeua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480560" y="4315968"/>
            <a:ext cx="7132320" cy="1499616"/>
          </a:xfrm>
          <a:prstGeom prst="roundRect">
            <a:avLst>
              <a:gd name="adj" fmla="val 243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00016" y="44622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imputo zero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700016" y="4773168"/>
            <a:ext cx="6675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não é aleatório: ele acontece justamente onde há poucos analfabetos em número absoluto, ou seja, nos setores de menor vulnerabilidade educacional. Preencher com zero subestimaria o analfabetismo exatamente nas áreas melhores e distorceria o índice. Mantenho como ausente, e preciso definir uma política explícita para o cálculo final.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a regra do IQR não serve para o saneamento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primeiro quartil e a mediana são ambos zero, qualquer valor positivo vira outlier pela regra clássica.</a:t>
            </a:r>
            <a:endParaRPr lang="en-US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27664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280160"/>
                <a:gridCol w="1828800"/>
                <a:gridCol w="2432304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superior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pelo IQR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informativo?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21.532  (20,7%)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20.901  (20,1%)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19.124  (18,4%)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3.632  (3,5%)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15+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4.114  (4,7%)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10.469  (10,1%)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Cor/raça PPI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(0,0%)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80560"/>
            <a:ext cx="11027664" cy="1280160"/>
          </a:xfrm>
          <a:prstGeom prst="roundRect">
            <a:avLst>
              <a:gd name="adj" fmla="val 2857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645152"/>
            <a:ext cx="10515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20% de setores flagrados nas três variáveis de saneamento não são erros de dado nem casos extremos: são os setores que têm alguma inadequação, num universo onde a maioria não tem nenhuma. Por isso acrescentei as colunas de percentil 95 na tabela de outliers e sinalizei essas três variáveis como "IQR não informativo".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 novos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657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Favelas, envelhecimento e a comparação com o Brasil. É material que pode virar resultado do artigo.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262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1842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8972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326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21842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613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326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184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326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842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613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de favelas e comunidades urbanas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Censo 2022 substituiu a categoria aglomerado subnormal pelas Favelas e Comunidades Urbanas. Trouxe essa marcação para a base.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19.507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22311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de favela, 17,9% do recorte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47288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5.903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3447288" y="22311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favelas distintas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10,07 mi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vivendo nelas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47288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/ 70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447288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pelo menos uma</a:t>
            </a:r>
            <a:endParaRPr lang="en-US" sz="11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309360" y="128016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309360" y="45171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dos setores de cada região que são de favela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3877056"/>
            <a:ext cx="539496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23360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Norte, metade dos setores da amostra são de favela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4572000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Belém são 55,9% dos setores, em Ananindeua 58,9% e em Manaus 51,7%. No Centro-Oeste são 4,6%. É a maior heterogeneidade regional de qualquer variável do projeto. Vale notar também que 28 dos 70 municípios não têm nenhum setor de favela.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9360" y="4937760"/>
            <a:ext cx="5303520" cy="877824"/>
          </a:xfrm>
          <a:prstGeom prst="roundRect">
            <a:avLst>
              <a:gd name="adj" fmla="val 4167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10528" y="5065776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 que a marcação CD_TIPO igual a 1 coincide exatamente com ter nome de favela preenchido, nos 468 mil setores do país.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o valor médio em setor de favela supera o de fora, considerando só setores urbanos elegíveis.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98080" y="16093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cai para um terço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98080" y="20116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R$ 1.610 em favela contra R$ 4.780 fora. Apartamento praticamente não existe: 3,3% contra 37,7%. E o índice de envelhecimento é 55 contra 153, o que mostra territórios bem mais jovens.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0" y="3291840"/>
            <a:ext cx="4114800" cy="2157984"/>
          </a:xfrm>
          <a:prstGeom prst="roundRect">
            <a:avLst>
              <a:gd name="adj" fmla="val 1695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17536" y="345643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validação antes do índice existir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17536" y="3986784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setores de favela são identificados por uma classificação independente, feita pelo próprio IBGE. Todos os componentes do índice se movem na direção esperada e com magnitude grande. Quando eu calcular o IVS, comparar sua distribuição entre favela e não-favela será o teste mais direto de que ele mede o que promete. Pretendo reservar uma tabela do artigo para isso.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envelhecimento: a correção do denominador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 as definições do Quadro 1 de Galvão e colaboradores (Hygeia, v.21, e2106, 2025), que adota os indicadores das Nações Unidas.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5852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× 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IEP — Índice de Envelhecimento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÷ menores de 15 anos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RDI — Razão de dependência de idosos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÷ 15 a 59 anos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de 60 anos ou mais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÷ população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— Longevidade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75+ ÷ 60+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456432"/>
            <a:ext cx="585216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3566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anterior usava idosos divididos por crianças de 0 a 4 anos. O denominador correto é a população com menos de 15 anos, somando as três faixas. Com o denominador antigo o índice ficava cerca de três vezes maior e não era comparável com nenhuma referência.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4608576"/>
            <a:ext cx="58521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471830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Longevidade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" y="497433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como ser calculada: exige a faixa de 75 anos ou mais, e o topo da pirâmide que o IBGE publica por setor é "70 anos ou mais". Calculei a proporção de 70+ entre os 60+ como substituto parcial, mas deixei claro que não é o LI.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675120" y="1572768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6675120" y="4425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 por região no recorte ELSI urbano. Acima de 100 há mais idosos que crianças.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675120" y="4846320"/>
            <a:ext cx="4937760" cy="969264"/>
          </a:xfrm>
          <a:prstGeom prst="roundRect">
            <a:avLst>
              <a:gd name="adj" fmla="val 3774"/>
            </a:avLst>
          </a:prstGeom>
          <a:solidFill>
            <a:srgbClr val="0C2724"/>
          </a:solidFill>
          <a:ln w="12700">
            <a:solidFill>
              <a:srgbClr val="0C272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94576" y="4974336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Rodei a mesma fórmula no Brasil inteiro e o IEP deu 79,99, contra os 80,0 publicados pelo IBGE. A população somou 203.080.756, que é o número oficial do Censo.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amostra se compara com o Brasil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Apliquei as mesmas fórmulas aos 468 mil setores do país para ter uma linha de base de representatividade.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59105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1,3% dos municípios, a amostra cobre 26% da população e quase 59% dos setores de favela do país.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56032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91440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 urbano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ELSI 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 (R$)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583680" y="4462272"/>
            <a:ext cx="502920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03136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ponto que quero investigar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03136" y="488289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lixo é a única variável em que a amostra está pior que o Brasil urbano. Desconfio da caçamba, que conta como destino inadequado e é bem mais comum em cidade grande. Se for isso, o indicador pode estar medindo porte urbano em vez de vulnerabilidade.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e os próximos passos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657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 em cada uma das sete demandas, o que ficou pendente e o que preciso definir para seguir.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262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1842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8972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326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21842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613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326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184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326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842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613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atendi cada uma das sete demandas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8096" y="1335024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" y="160934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Ajustar o índice de envelhecimento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2139696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 o denominador para menores de 15 anos e acrescentei RDI e percentual de 60 anos ou mais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8096" y="2779776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 92,7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7852" y="1188720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9020" y="1335024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89020" y="160934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 variáveis com a fonte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9020" y="2139696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Montei uma tabela com as 67 variáveis, a descrição oficial do IBGE e o arquivo de origem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89020" y="2779776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XLSX e SQLite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1188720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9944" y="1335024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9944" y="160934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 setores rurais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9944" y="2139696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Apliquei o filtro na análise e gerei a conferência município a município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9944" y="2779776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2,04% excluídos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29700" y="1188720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0868" y="1335024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30868" y="160934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 as moradias normais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30868" y="2139696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 casa, vila ou condomínio e apartamento no grupo convencional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30868" y="2779776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99,19% convencionais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346704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" y="3493008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" y="3767328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indicador de apartamento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" y="4297680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V00049 dividido por V00001, com descritivas por região e município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8096" y="49377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31,5%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7852" y="3346704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89020" y="3493008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89020" y="3767328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são vilas e favelas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89020" y="4297680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Reprocessei o notebook 01 para trazer as colunas de favela do arquivo básico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89020" y="49377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19.507 setores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08776" y="3346704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9944" y="3493008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9944" y="3767328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Proporções para o Brasil todo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9944" y="4297680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 as fórmulas para um módulo comum e apliquei aos 468 mil setores do país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9944" y="49377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confere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29700" y="3346704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966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0868" y="3493008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pendente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30868" y="37673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redação das limitações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30868" y="4242816"/>
            <a:ext cx="2162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 fichei o Lima-Costa e Barreto. Falta escrever o texto sobre falácia ecológica, viés de sobrevivência e exclusão de institucionalizados, que na minha base corresponde à classe COLETIVO.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sei que ainda está em aberto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2766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729984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Normalização de renda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o mínimo e o máximo de todos os setores; precisa passar a ser por município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da EDA defasado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 o recorte antigo, com rurais. Coloquei um aviso no topo, mas preciso reescrever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 pequenos após o filtro rural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municípios perdem mais de metade dos setores; preciso decidir um piso mínimo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Comportamento do indicador de lixo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 correlacionado com tudo e pior na amostra que no Brasil urbano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Sigilo no analfabetismo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15,9% dos setores sem o dado, de forma não aleatória; falta política para o cálculo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Dependências e malha cartográfica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instalar as bibliotecas de fatorial e geoprocessamento e baixar a malha de setores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F7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66928" y="411480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pontos que preciso definir na orientação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66928" y="4535424"/>
            <a:ext cx="2551176" cy="1481328"/>
          </a:xfrm>
          <a:prstGeom prst="roundRect">
            <a:avLst>
              <a:gd name="adj" fmla="val 246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4645152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do índice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513892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Empíricos, saídos da análise fatorial, ou guiados pela literatura, com 60% para a dimensão socioeconômica e 40% para saneamento?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92424" y="4535424"/>
            <a:ext cx="2551176" cy="1481328"/>
          </a:xfrm>
          <a:prstGeom prst="roundRect">
            <a:avLst>
              <a:gd name="adj" fmla="val 246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75304" y="4645152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periódico-alvo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575304" y="513892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define limite de palavras, número de referências e formatação de toda a redação.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4535424"/>
            <a:ext cx="2551176" cy="1481328"/>
          </a:xfrm>
          <a:prstGeom prst="roundRect">
            <a:avLst>
              <a:gd name="adj" fmla="val 246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4645152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indicador de lixo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513892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como está, ou separo a caçamba das demais formas de destino inadequado?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43416" y="4535424"/>
            <a:ext cx="2551176" cy="1481328"/>
          </a:xfrm>
          <a:prstGeom prst="roundRect">
            <a:avLst>
              <a:gd name="adj" fmla="val 246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26296" y="4645152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Piso de setores por município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226296" y="513892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menos de dez setores urbanos entram nas análises municipais?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até o índice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cronograma do plano de trabalho reserva agosto e setembro para esta etapa.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551176" cy="283464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373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" y="20116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 por município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615184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Padronizo as sete variáveis dentro de cada cidade, com a renda invertida. Resolve o problema da escala global.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3785616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Posso começar imediatamente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36392" y="2889504"/>
            <a:ext cx="219456" cy="201168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10" name="Shape 8"/>
          <p:cNvSpPr/>
          <p:nvPr/>
        </p:nvSpPr>
        <p:spPr>
          <a:xfrm>
            <a:off x="3392424" y="1572768"/>
            <a:ext cx="2551176" cy="283464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7373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0116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fatorial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615184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KMO, teste de Bartlett, número de fatores, cargas e definição dos pesos.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785616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notebook 03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61888" y="2889504"/>
            <a:ext cx="219456" cy="201168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572768"/>
            <a:ext cx="2551176" cy="283464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37376" y="17373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37376" y="20116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e as faixas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2615184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ponderada, categorização em quatro faixas de risco e validação contra os setores de favela.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37376" y="3785616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decisão sobre os pesos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87384" y="2889504"/>
            <a:ext cx="219456" cy="201168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43416" y="1572768"/>
            <a:ext cx="2551176" cy="283464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62872" y="17373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62872" y="20116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Mapas e autocorrelação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62872" y="2615184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coropléticos por município e índice de Moran, seguindo o modelo do artigo de Mato Grosso.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62872" y="3785616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malha de setores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462686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paralelo, pretendo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6928" y="4974336"/>
            <a:ext cx="11027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a malha de setores de 2022 e instalar o geopandas, porque é pré-requisito dos mapas e não depende de nenhuma decisão.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a seção de limitações com o Lima-Costa e Barreto, que é o único item pendente das demandas.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Reescrever o relatório da EDA sobre o recorte urbano.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resumo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2432304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sete demandas de julho estão implementadas, e o cálculo nacional serviu para conferir a pipeline contra os números publicados pelo IBGE.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está madura: 104.108 setores urbanos, 23 indicadores calculados e 43 testes automatizados.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agora é estatística: normalização, fatorial, ponderação e categorização.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Trago quatro decisões para alinharmos: pesos, periódico, indicador de lixo e piso de setores.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5852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  ·  Iniciação Científica  ·  Fiocruz Minas — IRR  ·  9 de agosto de 2026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32688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6978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1268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5558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6978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1268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5558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6978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01268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35558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9848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66978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01268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5558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9848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IVS Censo 2022 — Andamento do projeto</dc:title>
  <dc:subject>PptxGenJS Presentation</dc:subject>
  <dc:creator>Pedro Dias Soares</dc:creator>
  <cp:lastModifiedBy>Pedro Dias Soares</cp:lastModifiedBy>
  <cp:revision>1</cp:revision>
  <dcterms:created xsi:type="dcterms:W3CDTF">2026-08-09T20:08:53Z</dcterms:created>
  <dcterms:modified xsi:type="dcterms:W3CDTF">2026-08-09T20:08:53Z</dcterms:modified>
</cp:coreProperties>
</file>