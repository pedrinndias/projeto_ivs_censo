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7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87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073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28593-AFF6-24BC-BF67-A3582CC71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AB5CB2-B831-20DD-59F2-33C9ABB68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BB90D-E226-97C0-C67C-AC9C69AA0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67CA9-D7E6-2A93-79B4-E1F5BC59B6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7669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8A3C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b="1" kern="0" spc="200" noProof="0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 EXPLORATÓRIA DE DADOS  ·  FASE 3  ·  REVISÃO V00001</a:t>
            </a:r>
            <a:endParaRPr lang="pt-BR" sz="14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pt-BR" sz="40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Índice de Vulnerabilidade à Saúde</a:t>
            </a:r>
            <a:endParaRPr lang="pt-BR" sz="4000" noProof="0" dirty="0"/>
          </a:p>
          <a:p>
            <a:pPr marL="0" indent="0">
              <a:lnSpc>
                <a:spcPct val="98000"/>
              </a:lnSpc>
              <a:buNone/>
            </a:pPr>
            <a:r>
              <a:rPr lang="pt-BR" sz="40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intraurbano — Censo 2022</a:t>
            </a:r>
            <a:endParaRPr lang="pt-BR" sz="4000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3429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C9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municípios da amostra ELSI-Brasil  ·  unidade de análise: setor censitário  ·  base recalculada com denominador V00001 (padrão IVS-BH 2012)</a:t>
            </a:r>
            <a:endParaRPr lang="pt-BR" sz="1400" noProof="0" dirty="0"/>
          </a:p>
        </p:txBody>
      </p:sp>
      <p:sp>
        <p:nvSpPr>
          <p:cNvPr id="6" name="Shape 4"/>
          <p:cNvSpPr/>
          <p:nvPr/>
        </p:nvSpPr>
        <p:spPr>
          <a:xfrm>
            <a:off x="502920" y="43434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2536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502920" y="44805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3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109.032</a:t>
            </a:r>
            <a:endParaRPr lang="pt-BR" sz="3200" noProof="0" dirty="0"/>
          </a:p>
        </p:txBody>
      </p:sp>
      <p:sp>
        <p:nvSpPr>
          <p:cNvPr id="8" name="Text 6"/>
          <p:cNvSpPr/>
          <p:nvPr/>
        </p:nvSpPr>
        <p:spPr>
          <a:xfrm>
            <a:off x="502920" y="5212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200" noProof="0" dirty="0">
                <a:solidFill>
                  <a:srgbClr val="3B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extraídos</a:t>
            </a:r>
            <a:endParaRPr lang="pt-B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3291840" y="43434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2536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3291840" y="44805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3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106.281</a:t>
            </a:r>
            <a:endParaRPr lang="pt-BR" sz="3200" noProof="0" dirty="0"/>
          </a:p>
        </p:txBody>
      </p:sp>
      <p:sp>
        <p:nvSpPr>
          <p:cNvPr id="11" name="Text 9"/>
          <p:cNvSpPr/>
          <p:nvPr/>
        </p:nvSpPr>
        <p:spPr>
          <a:xfrm>
            <a:off x="3291840" y="5212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200" noProof="0" dirty="0">
                <a:solidFill>
                  <a:srgbClr val="3B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OK (97,5%)</a:t>
            </a:r>
            <a:endParaRPr lang="pt-BR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6080760" y="43434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2536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6080760" y="44805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3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</a:t>
            </a:r>
            <a:endParaRPr lang="pt-BR" sz="3200" noProof="0" dirty="0"/>
          </a:p>
        </p:txBody>
      </p:sp>
      <p:sp>
        <p:nvSpPr>
          <p:cNvPr id="14" name="Text 12"/>
          <p:cNvSpPr/>
          <p:nvPr/>
        </p:nvSpPr>
        <p:spPr>
          <a:xfrm>
            <a:off x="6080760" y="5212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200" noProof="0" dirty="0">
                <a:solidFill>
                  <a:srgbClr val="3B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· 22 </a:t>
            </a:r>
            <a:r>
              <a:rPr lang="pt-BR" sz="1200" noProof="0" dirty="0" err="1">
                <a:solidFill>
                  <a:srgbClr val="3B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UFs</a:t>
            </a:r>
            <a:endParaRPr lang="pt-BR" sz="1200" noProof="0" dirty="0"/>
          </a:p>
        </p:txBody>
      </p:sp>
      <p:sp>
        <p:nvSpPr>
          <p:cNvPr id="15" name="Shape 13"/>
          <p:cNvSpPr/>
          <p:nvPr/>
        </p:nvSpPr>
        <p:spPr>
          <a:xfrm>
            <a:off x="8869680" y="43434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2536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8869680" y="44805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3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pt-BR" sz="3200" noProof="0" dirty="0"/>
          </a:p>
        </p:txBody>
      </p:sp>
      <p:sp>
        <p:nvSpPr>
          <p:cNvPr id="17" name="Text 15"/>
          <p:cNvSpPr/>
          <p:nvPr/>
        </p:nvSpPr>
        <p:spPr>
          <a:xfrm>
            <a:off x="8869680" y="5212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200" noProof="0" dirty="0">
                <a:solidFill>
                  <a:srgbClr val="3B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· 2 dimensões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Vulnerabilidade à saúde dentro das cidades</a:t>
            </a:r>
            <a:endParaRPr lang="pt-BR" sz="27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86400" cy="4114800"/>
          </a:xfrm>
          <a:prstGeom prst="roundRect">
            <a:avLst>
              <a:gd name="adj" fmla="val 1556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BUSCAMOS</a:t>
            </a:r>
            <a:endParaRPr lang="pt-BR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2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um IVS intraurbano para os 70 municípios do ELSI-Brasil com dados do Censo 2022 — inexistente até hoje (estudos anteriores usaram o Censo 2010).</a:t>
            </a:r>
            <a:endParaRPr lang="pt-BR" sz="1250" noProof="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2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Descrever desigualdades dentro de cada cidade (centro × periferia), não entre países ou estados.</a:t>
            </a:r>
            <a:endParaRPr lang="pt-BR" sz="1250" noProof="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2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EDA caracteriza a base e testa pressupostos antes da análise fatorial e do cálculo do índice.</a:t>
            </a:r>
            <a:endParaRPr lang="pt-BR" sz="1250" noProof="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2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 (H1): setores periféricos têm IVS mais alto que áreas centrais — padrão centro-periferia da literatura.</a:t>
            </a:r>
            <a:endParaRPr lang="pt-BR" sz="1250" noProof="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440680" cy="4114800"/>
          </a:xfrm>
          <a:prstGeom prst="roundRect">
            <a:avLst>
              <a:gd name="adj" fmla="val 1556"/>
            </a:avLst>
          </a:prstGeom>
          <a:solidFill>
            <a:srgbClr val="0E3A4F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6537960" y="1874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DESENHO (PICOS)</a:t>
            </a:r>
            <a:endParaRPr lang="pt-BR" sz="1300" noProof="0" dirty="0"/>
          </a:p>
        </p:txBody>
      </p:sp>
      <p:sp>
        <p:nvSpPr>
          <p:cNvPr id="10" name="Shape 8"/>
          <p:cNvSpPr/>
          <p:nvPr/>
        </p:nvSpPr>
        <p:spPr>
          <a:xfrm>
            <a:off x="6537960" y="22402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08A3C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6537960" y="2240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pt-BR" sz="1500" noProof="0" dirty="0"/>
          </a:p>
        </p:txBody>
      </p:sp>
      <p:sp>
        <p:nvSpPr>
          <p:cNvPr id="12" name="Text 10"/>
          <p:cNvSpPr/>
          <p:nvPr/>
        </p:nvSpPr>
        <p:spPr>
          <a:xfrm>
            <a:off x="7040880" y="220370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censitários dos 70 municípios ELSI (Censo 2022)</a:t>
            </a:r>
            <a:endParaRPr lang="pt-BR" sz="1200" noProof="0" dirty="0"/>
          </a:p>
        </p:txBody>
      </p:sp>
      <p:sp>
        <p:nvSpPr>
          <p:cNvPr id="13" name="Shape 11"/>
          <p:cNvSpPr/>
          <p:nvPr/>
        </p:nvSpPr>
        <p:spPr>
          <a:xfrm>
            <a:off x="6537960" y="29169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08A3C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6537960" y="2916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pt-BR" sz="1500" noProof="0" dirty="0"/>
          </a:p>
        </p:txBody>
      </p:sp>
      <p:sp>
        <p:nvSpPr>
          <p:cNvPr id="15" name="Text 13"/>
          <p:cNvSpPr/>
          <p:nvPr/>
        </p:nvSpPr>
        <p:spPr>
          <a:xfrm>
            <a:off x="7040880" y="2880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de saneamento e socioeconômicas por setor</a:t>
            </a:r>
            <a:endParaRPr lang="pt-BR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6537960" y="3593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08A3C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6537960" y="3593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pt-BR" sz="1500" noProof="0" dirty="0"/>
          </a:p>
        </p:txBody>
      </p:sp>
      <p:sp>
        <p:nvSpPr>
          <p:cNvPr id="18" name="Text 16"/>
          <p:cNvSpPr/>
          <p:nvPr/>
        </p:nvSpPr>
        <p:spPr>
          <a:xfrm>
            <a:off x="7040880" y="355701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do IVS entre setores e entre municípios/regiões</a:t>
            </a:r>
            <a:endParaRPr lang="pt-BR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6537960" y="42702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08A3C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8"/>
          <p:cNvSpPr/>
          <p:nvPr/>
        </p:nvSpPr>
        <p:spPr>
          <a:xfrm>
            <a:off x="6537960" y="4270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pt-BR" sz="1500" noProof="0" dirty="0"/>
          </a:p>
        </p:txBody>
      </p:sp>
      <p:sp>
        <p:nvSpPr>
          <p:cNvPr id="21" name="Text 19"/>
          <p:cNvSpPr/>
          <p:nvPr/>
        </p:nvSpPr>
        <p:spPr>
          <a:xfrm>
            <a:off x="7040880" y="42336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contínuo (0–1), depois categorizado em 4 faixas</a:t>
            </a:r>
            <a:endParaRPr lang="pt-BR" sz="1200" noProof="0" dirty="0"/>
          </a:p>
        </p:txBody>
      </p:sp>
      <p:sp>
        <p:nvSpPr>
          <p:cNvPr id="22" name="Shape 20"/>
          <p:cNvSpPr/>
          <p:nvPr/>
        </p:nvSpPr>
        <p:spPr>
          <a:xfrm>
            <a:off x="6537960" y="494690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08A3C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6537960" y="4946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pt-BR" sz="1500" noProof="0" dirty="0"/>
          </a:p>
        </p:txBody>
      </p:sp>
      <p:sp>
        <p:nvSpPr>
          <p:cNvPr id="24" name="Text 22"/>
          <p:cNvSpPr/>
          <p:nvPr/>
        </p:nvSpPr>
        <p:spPr>
          <a:xfrm>
            <a:off x="7040880" y="4910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Ecológico, com dados agregados por setor</a:t>
            </a:r>
            <a:endParaRPr lang="pt-BR" sz="1200" noProof="0" dirty="0"/>
          </a:p>
        </p:txBody>
      </p:sp>
      <p:sp>
        <p:nvSpPr>
          <p:cNvPr id="25" name="Text 23"/>
          <p:cNvSpPr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i="1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Referências: SMS-BH (2013) · Passarelli-Araujo (2023) · </a:t>
            </a:r>
            <a:r>
              <a:rPr lang="pt-BR" sz="1100" i="1" noProof="0" dirty="0" err="1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Caiaffa</a:t>
            </a:r>
            <a:r>
              <a:rPr lang="pt-BR" sz="1100" i="1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al. (2021) · Buss &amp; Pellegrini Filho (2007)</a:t>
            </a:r>
            <a:endParaRPr lang="pt-BR" sz="1100" noProof="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r>
              <a:rPr lang="pt-BR" sz="90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Contexto</a:t>
            </a:r>
            <a:endParaRPr lang="pt-BR" sz="900" noProof="0" dirty="0"/>
          </a:p>
        </p:txBody>
      </p:sp>
      <p:sp>
        <p:nvSpPr>
          <p:cNvPr id="27" name="Text 25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3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b="1" kern="0" spc="200" noProof="0" dirty="0">
                <a:solidFill>
                  <a:srgbClr val="E08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MUDANÇA CENTRAL DESTA VERSÃO</a:t>
            </a:r>
            <a:endParaRPr lang="pt-BR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Denominador domiciliar: V01042 → V00001</a:t>
            </a:r>
            <a:endParaRPr lang="pt-B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32120" cy="4114800"/>
          </a:xfrm>
          <a:prstGeom prst="roundRect">
            <a:avLst>
              <a:gd name="adj" fmla="val 1556"/>
            </a:avLst>
          </a:prstGeom>
          <a:solidFill>
            <a:srgbClr val="12455C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TROCAMOS</a:t>
            </a:r>
            <a:endParaRPr lang="pt-BR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983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250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V01042 (arquivo Parentesco) é uma contagem de PESSOAS responsáveis — não de domicílios. Usá-lo como denominador de proporções domiciliares é conceitualmente incorreto.</a:t>
            </a:r>
            <a:endParaRPr lang="pt-BR" sz="1250" noProof="0" dirty="0">
              <a:solidFill>
                <a:schemeClr val="bg1"/>
              </a:solidFill>
            </a:endParaRPr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250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V00001 = Domicílios Particulares Permanentes Ocupados: é o equivalente no Censo 2022 do V002 (</a:t>
            </a:r>
            <a:r>
              <a:rPr lang="pt-BR" sz="1250" noProof="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Dom_part_p</a:t>
            </a:r>
            <a:r>
              <a:rPr lang="pt-BR" sz="1250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do Censo 2010, denominador-padrão do IVS-BH 2012.</a:t>
            </a:r>
            <a:endParaRPr lang="pt-BR" sz="1250" noProof="0" dirty="0">
              <a:solidFill>
                <a:schemeClr val="bg1"/>
              </a:solidFill>
            </a:endParaRPr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250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da orientadora, consolidada em 22/05/2026.</a:t>
            </a:r>
            <a:endParaRPr lang="pt-BR" sz="1250" noProof="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r>
              <a:rPr lang="pt-BR" sz="90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Revisão</a:t>
            </a:r>
            <a:endParaRPr lang="pt-BR" sz="900" noProof="0" dirty="0"/>
          </a:p>
        </p:txBody>
      </p:sp>
      <p:sp>
        <p:nvSpPr>
          <p:cNvPr id="12" name="Text 10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MUDOU EM RELAÇÃO À VERSÃO ANTERIOR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Três correções metodológicas</a:t>
            </a:r>
            <a:endParaRPr lang="pt-BR" sz="27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50" i="1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uma altera números do relatório — todas ancoradas no padrão IVS-BH 2012.</a:t>
            </a:r>
            <a:endParaRPr lang="pt-BR" sz="135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651760" cy="310896"/>
          </a:xfrm>
          <a:prstGeom prst="roundRect">
            <a:avLst>
              <a:gd name="adj" fmla="val 47059"/>
            </a:avLst>
          </a:prstGeom>
          <a:solidFill>
            <a:srgbClr val="B5523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5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ANTES  ·  V01042</a:t>
            </a:r>
            <a:endParaRPr lang="pt-BR" sz="1050" noProof="0" dirty="0"/>
          </a:p>
        </p:txBody>
      </p:sp>
      <p:sp>
        <p:nvSpPr>
          <p:cNvPr id="7" name="Shape 5"/>
          <p:cNvSpPr/>
          <p:nvPr/>
        </p:nvSpPr>
        <p:spPr>
          <a:xfrm>
            <a:off x="3429000" y="1783080"/>
            <a:ext cx="2651760" cy="310896"/>
          </a:xfrm>
          <a:prstGeom prst="roundRect">
            <a:avLst>
              <a:gd name="adj" fmla="val 47059"/>
            </a:avLst>
          </a:prstGeom>
          <a:solidFill>
            <a:srgbClr val="3BA39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3429000" y="178308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5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AGORA  ·  V00001</a:t>
            </a:r>
            <a:endParaRPr lang="pt-BR" sz="1050" noProof="0" dirty="0"/>
          </a:p>
        </p:txBody>
      </p:sp>
      <p:sp>
        <p:nvSpPr>
          <p:cNvPr id="9" name="Text 7"/>
          <p:cNvSpPr/>
          <p:nvPr/>
        </p:nvSpPr>
        <p:spPr>
          <a:xfrm>
            <a:off x="502920" y="2258568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Denominador de água/esgoto/lixo</a:t>
            </a:r>
            <a:endParaRPr lang="pt-BR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502920" y="2478024"/>
            <a:ext cx="2651760" cy="329184"/>
          </a:xfrm>
          <a:prstGeom prst="roundRect">
            <a:avLst>
              <a:gd name="adj" fmla="val 19444"/>
            </a:avLst>
          </a:prstGeom>
          <a:solidFill>
            <a:srgbClr val="FBECE7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612648" y="2478024"/>
            <a:ext cx="2432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B5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V01042 (responsáveis)</a:t>
            </a:r>
            <a:endParaRPr lang="pt-BR" sz="1100" noProof="0" dirty="0"/>
          </a:p>
        </p:txBody>
      </p:sp>
      <p:sp>
        <p:nvSpPr>
          <p:cNvPr id="12" name="Shape 10"/>
          <p:cNvSpPr/>
          <p:nvPr/>
        </p:nvSpPr>
        <p:spPr>
          <a:xfrm>
            <a:off x="3429000" y="2478024"/>
            <a:ext cx="2651760" cy="329184"/>
          </a:xfrm>
          <a:prstGeom prst="roundRect">
            <a:avLst>
              <a:gd name="adj" fmla="val 19444"/>
            </a:avLst>
          </a:prstGeom>
          <a:solidFill>
            <a:srgbClr val="E8F4F1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3538728" y="2478024"/>
            <a:ext cx="2432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12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V00001 (</a:t>
            </a:r>
            <a:r>
              <a:rPr lang="pt-BR" sz="1100" noProof="0" dirty="0" err="1">
                <a:solidFill>
                  <a:srgbClr val="12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domic</a:t>
            </a:r>
            <a:r>
              <a:rPr lang="pt-BR" sz="1100" noProof="0" dirty="0">
                <a:solidFill>
                  <a:srgbClr val="12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pt-BR" sz="1100" noProof="0" dirty="0" err="1">
                <a:solidFill>
                  <a:srgbClr val="12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</a:t>
            </a:r>
            <a:r>
              <a:rPr lang="pt-BR" sz="1100" noProof="0" dirty="0">
                <a:solidFill>
                  <a:srgbClr val="12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ocupados)</a:t>
            </a:r>
            <a:endParaRPr lang="pt-BR" sz="1100" noProof="0" dirty="0"/>
          </a:p>
        </p:txBody>
      </p:sp>
      <p:sp>
        <p:nvSpPr>
          <p:cNvPr id="14" name="Text 12"/>
          <p:cNvSpPr/>
          <p:nvPr/>
        </p:nvSpPr>
        <p:spPr>
          <a:xfrm>
            <a:off x="502920" y="2990088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Taxa de analfabetismo (15+)</a:t>
            </a:r>
            <a:endParaRPr lang="pt-BR" sz="1100" noProof="0" dirty="0"/>
          </a:p>
        </p:txBody>
      </p:sp>
      <p:sp>
        <p:nvSpPr>
          <p:cNvPr id="15" name="Shape 13"/>
          <p:cNvSpPr/>
          <p:nvPr/>
        </p:nvSpPr>
        <p:spPr>
          <a:xfrm>
            <a:off x="502920" y="3209544"/>
            <a:ext cx="2651760" cy="329184"/>
          </a:xfrm>
          <a:prstGeom prst="roundRect">
            <a:avLst>
              <a:gd name="adj" fmla="val 19444"/>
            </a:avLst>
          </a:prstGeom>
          <a:solidFill>
            <a:srgbClr val="FBECE7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612648" y="3209544"/>
            <a:ext cx="2432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B5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V00901 / V00900</a:t>
            </a:r>
            <a:endParaRPr lang="pt-BR" sz="1100" noProof="0" dirty="0"/>
          </a:p>
        </p:txBody>
      </p:sp>
      <p:sp>
        <p:nvSpPr>
          <p:cNvPr id="17" name="Shape 15"/>
          <p:cNvSpPr/>
          <p:nvPr/>
        </p:nvSpPr>
        <p:spPr>
          <a:xfrm>
            <a:off x="3429000" y="3209544"/>
            <a:ext cx="2651760" cy="329184"/>
          </a:xfrm>
          <a:prstGeom prst="roundRect">
            <a:avLst>
              <a:gd name="adj" fmla="val 19444"/>
            </a:avLst>
          </a:prstGeom>
          <a:solidFill>
            <a:srgbClr val="E8F4F1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3538728" y="3209544"/>
            <a:ext cx="2432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12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V00901 / (V00900 + V00901)</a:t>
            </a:r>
            <a:endParaRPr lang="pt-BR" sz="1100" noProof="0" dirty="0"/>
          </a:p>
        </p:txBody>
      </p:sp>
      <p:sp>
        <p:nvSpPr>
          <p:cNvPr id="19" name="Text 17"/>
          <p:cNvSpPr/>
          <p:nvPr/>
        </p:nvSpPr>
        <p:spPr>
          <a:xfrm>
            <a:off x="502920" y="3721608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Razão de moradores (densidade)</a:t>
            </a:r>
            <a:endParaRPr lang="pt-BR" sz="1100" noProof="0" dirty="0"/>
          </a:p>
        </p:txBody>
      </p:sp>
      <p:sp>
        <p:nvSpPr>
          <p:cNvPr id="20" name="Shape 18"/>
          <p:cNvSpPr/>
          <p:nvPr/>
        </p:nvSpPr>
        <p:spPr>
          <a:xfrm>
            <a:off x="502920" y="3941064"/>
            <a:ext cx="2651760" cy="329184"/>
          </a:xfrm>
          <a:prstGeom prst="roundRect">
            <a:avLst>
              <a:gd name="adj" fmla="val 19444"/>
            </a:avLst>
          </a:prstGeom>
          <a:solidFill>
            <a:srgbClr val="FBECE7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612648" y="3941064"/>
            <a:ext cx="2432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B5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(V00005+V00006) / V01042</a:t>
            </a:r>
            <a:endParaRPr lang="pt-BR" sz="1100" noProof="0" dirty="0"/>
          </a:p>
        </p:txBody>
      </p:sp>
      <p:sp>
        <p:nvSpPr>
          <p:cNvPr id="22" name="Shape 20"/>
          <p:cNvSpPr/>
          <p:nvPr/>
        </p:nvSpPr>
        <p:spPr>
          <a:xfrm>
            <a:off x="3429000" y="3941064"/>
            <a:ext cx="2651760" cy="329184"/>
          </a:xfrm>
          <a:prstGeom prst="roundRect">
            <a:avLst>
              <a:gd name="adj" fmla="val 19444"/>
            </a:avLst>
          </a:prstGeom>
          <a:solidFill>
            <a:srgbClr val="E8F4F1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3538728" y="3941064"/>
            <a:ext cx="2432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12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(V00005+V00006) / (V00001+V00002)</a:t>
            </a:r>
            <a:endParaRPr lang="pt-BR" sz="1100" noProof="0" dirty="0"/>
          </a:p>
        </p:txBody>
      </p:sp>
      <p:sp>
        <p:nvSpPr>
          <p:cNvPr id="24" name="Shape 22"/>
          <p:cNvSpPr/>
          <p:nvPr/>
        </p:nvSpPr>
        <p:spPr>
          <a:xfrm>
            <a:off x="6355080" y="1783080"/>
            <a:ext cx="5349240" cy="4069080"/>
          </a:xfrm>
          <a:prstGeom prst="roundRect">
            <a:avLst>
              <a:gd name="adj" fmla="val 1573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3"/>
          <p:cNvSpPr/>
          <p:nvPr/>
        </p:nvSpPr>
        <p:spPr>
          <a:xfrm>
            <a:off x="6629400" y="19659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EFEITO NOS NÚMEROS</a:t>
            </a:r>
            <a:endParaRPr lang="pt-BR" sz="1300" noProof="0" dirty="0"/>
          </a:p>
        </p:txBody>
      </p:sp>
      <p:sp>
        <p:nvSpPr>
          <p:cNvPr id="26" name="Text 24"/>
          <p:cNvSpPr/>
          <p:nvPr/>
        </p:nvSpPr>
        <p:spPr>
          <a:xfrm>
            <a:off x="6629400" y="233172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de moradores: mínimo 0,17 → 1,00 (piso fisicamente correto).</a:t>
            </a:r>
            <a:endParaRPr lang="pt-BR" sz="1150" noProof="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Analfabetismo: máximo 1,00 → 0,84; assimetria +4,69 → +2,98; curtose +44,1 → +17,7. A fórmula antiga gerava 10 setores com taxa &gt; 1 (</a:t>
            </a:r>
            <a:r>
              <a:rPr lang="pt-BR" sz="1150" noProof="0" dirty="0" err="1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</a:t>
            </a: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5,33).</a:t>
            </a:r>
            <a:endParaRPr lang="pt-BR" sz="1150" noProof="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Extremos de analfabetismo por município caem: Arara/PB 45% → 31,1%; Jaqueira/PE 33% → 24,9%.</a:t>
            </a:r>
            <a:endParaRPr lang="pt-BR" sz="1150" noProof="0" dirty="0"/>
          </a:p>
        </p:txBody>
      </p:sp>
      <p:sp>
        <p:nvSpPr>
          <p:cNvPr id="27" name="Shape 25"/>
          <p:cNvSpPr/>
          <p:nvPr/>
        </p:nvSpPr>
        <p:spPr>
          <a:xfrm>
            <a:off x="6629400" y="4343400"/>
            <a:ext cx="4846320" cy="1371600"/>
          </a:xfrm>
          <a:prstGeom prst="roundRect">
            <a:avLst>
              <a:gd name="adj" fmla="val 4667"/>
            </a:avLst>
          </a:prstGeom>
          <a:solidFill>
            <a:srgbClr val="EDF3F6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8" name="Text 26"/>
          <p:cNvSpPr/>
          <p:nvPr/>
        </p:nvSpPr>
        <p:spPr>
          <a:xfrm>
            <a:off x="6812280" y="4434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Água, esgoto, lixo, renda e raça/cor quase NÃO mudaram</a:t>
            </a:r>
            <a:endParaRPr lang="pt-BR" sz="1250" noProof="0" dirty="0"/>
          </a:p>
        </p:txBody>
      </p:sp>
      <p:sp>
        <p:nvSpPr>
          <p:cNvPr id="29" name="Text 27"/>
          <p:cNvSpPr/>
          <p:nvPr/>
        </p:nvSpPr>
        <p:spPr>
          <a:xfrm>
            <a:off x="6812280" y="480060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há ~1 responsável por domicílio, V01042 ≈ V00001 — por isso a maior parte das descritivas e TODAS as correlações se mantiveram. A revisão não desmonta a EDA: refina os dois pontos onde o denominador errado distorcia.</a:t>
            </a:r>
            <a:endParaRPr lang="pt-BR" sz="1100" noProof="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r>
              <a:rPr lang="pt-BR" sz="90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Mudanças</a:t>
            </a:r>
            <a:endParaRPr lang="pt-BR" sz="900" noProof="0" dirty="0"/>
          </a:p>
        </p:txBody>
      </p:sp>
      <p:sp>
        <p:nvSpPr>
          <p:cNvPr id="31" name="Text 29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OPERACIONALIZAÇÃO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indicadores em 2 dimensões</a:t>
            </a:r>
            <a:endParaRPr lang="pt-BR" sz="27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50" i="1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Direção ↑ valor = ↑ vulnerabilidade em todas, exceto o rendimento (invertido no índice).</a:t>
            </a:r>
            <a:endParaRPr lang="pt-BR" sz="1350" noProof="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003955"/>
              </p:ext>
            </p:extLst>
          </p:nvPr>
        </p:nvGraphicFramePr>
        <p:xfrm>
          <a:off x="502920" y="1737360"/>
          <a:ext cx="11201400" cy="307238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Dimensão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Indicador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Numerador (Censo 2022)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Denominador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Saneamento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 inadequada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V00112 … V00118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V00001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Saneamento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Esgoto inadequado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V00312 … V00316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V00001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Saneamento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Lixo inadequado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V00398 … V00402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V00001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 err="1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Socioeconôm</a:t>
                      </a:r>
                      <a:r>
                        <a:rPr lang="pt-BR" sz="11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de moradores (densidade)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V00005 + V00006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V00001 + V00002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 err="1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Socioeconôm</a:t>
                      </a:r>
                      <a:r>
                        <a:rPr lang="pt-BR" sz="11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Analfabetismo (15+)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V00901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V00900 + V00901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 err="1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Socioeconôm</a:t>
                      </a:r>
                      <a:r>
                        <a:rPr lang="pt-BR" sz="11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Rendimento médio (invertido)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V06004 (uso direto)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 err="1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Socioeconôm</a:t>
                      </a:r>
                      <a:r>
                        <a:rPr lang="pt-BR" sz="11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Raça/cor — pretos, pardos, indígenas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V01318 + V01320 + V01321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v0001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02920" y="5074920"/>
            <a:ext cx="11201400" cy="1143000"/>
          </a:xfrm>
          <a:prstGeom prst="roundRect">
            <a:avLst>
              <a:gd name="adj" fmla="val 5600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4"/>
          <p:cNvSpPr/>
          <p:nvPr/>
        </p:nvSpPr>
        <p:spPr>
          <a:xfrm>
            <a:off x="731520" y="5166360"/>
            <a:ext cx="10789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50" b="1" noProof="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Adaptações ao Censo 2022:  </a:t>
            </a: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de instrução não saíram nos agregados → usa-se a taxa de analfabetismo; faixas de renda indisponíveis → rendimento médio (V06004) invertido; mortalidade cardiovascular sem causa no IBGE → buscar DATASUS/SIM no futuro. O V01042 segue extraído apenas para auditar setores 100% coletivos.</a:t>
            </a:r>
            <a:endParaRPr lang="pt-BR" sz="1150" noProof="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r>
              <a:rPr lang="pt-BR" sz="90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Variáveis</a:t>
            </a:r>
            <a:endParaRPr lang="pt-BR" sz="900" noProof="0" dirty="0"/>
          </a:p>
        </p:txBody>
      </p:sp>
      <p:sp>
        <p:nvSpPr>
          <p:cNvPr id="9" name="Text 6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UNIVERSO E ELEGIBILIDADE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109 mil setores a 106 mil aptos</a:t>
            </a:r>
            <a:endParaRPr lang="pt-BR" sz="27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50" i="1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</a:t>
            </a:r>
            <a:r>
              <a:rPr lang="pt-BR" sz="1350" i="1" noProof="0" dirty="0" err="1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Dados_sig</a:t>
            </a:r>
            <a:r>
              <a:rPr lang="pt-BR" sz="1350" i="1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(padrão IVS-BH) aplicada antes de qualquer cálculo.</a:t>
            </a:r>
            <a:endParaRPr lang="pt-BR" sz="135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2F6F8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800" b="1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109.032</a:t>
            </a:r>
            <a:endParaRPr lang="pt-BR" sz="2800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25786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dos 70 municípios</a:t>
            </a:r>
            <a:endParaRPr lang="pt-BR" sz="1100" noProof="0" dirty="0"/>
          </a:p>
        </p:txBody>
      </p:sp>
      <p:sp>
        <p:nvSpPr>
          <p:cNvPr id="8" name="Shape 6"/>
          <p:cNvSpPr/>
          <p:nvPr/>
        </p:nvSpPr>
        <p:spPr>
          <a:xfrm>
            <a:off x="3310128" y="17830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2F6F8"/>
          </a:solidFill>
          <a:ln w="19050">
            <a:solidFill>
              <a:srgbClr val="3BA39B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3310128" y="19202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800" b="1" noProof="0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106.281</a:t>
            </a:r>
            <a:endParaRPr lang="pt-BR" sz="2800" noProof="0" dirty="0"/>
          </a:p>
        </p:txBody>
      </p:sp>
      <p:sp>
        <p:nvSpPr>
          <p:cNvPr id="10" name="Text 8"/>
          <p:cNvSpPr/>
          <p:nvPr/>
        </p:nvSpPr>
        <p:spPr>
          <a:xfrm>
            <a:off x="3447288" y="25786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— entram na análise (97,48%)</a:t>
            </a:r>
            <a:endParaRPr lang="pt-BR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6117336" y="17830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2F6F8"/>
          </a:solidFill>
          <a:ln w="19050">
            <a:solidFill>
              <a:srgbClr val="E08A3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6117336" y="19202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800" b="1" noProof="0" dirty="0">
                <a:solidFill>
                  <a:srgbClr val="E08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2.751</a:t>
            </a:r>
            <a:endParaRPr lang="pt-BR" sz="2800" noProof="0" dirty="0"/>
          </a:p>
        </p:txBody>
      </p:sp>
      <p:sp>
        <p:nvSpPr>
          <p:cNvPr id="13" name="Text 11"/>
          <p:cNvSpPr/>
          <p:nvPr/>
        </p:nvSpPr>
        <p:spPr>
          <a:xfrm>
            <a:off x="6254496" y="25786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SIGILOSO — v0001 ou V00001 sigilosos (2,52%)</a:t>
            </a:r>
            <a:endParaRPr lang="pt-B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8924544" y="17830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2F6F8"/>
          </a:solidFill>
          <a:ln w="19050">
            <a:solidFill>
              <a:srgbClr val="5C6B7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8924544" y="19202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800" b="1" noProof="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pt-BR" sz="2800" noProof="0" dirty="0"/>
          </a:p>
        </p:txBody>
      </p:sp>
      <p:sp>
        <p:nvSpPr>
          <p:cNvPr id="16" name="Text 14"/>
          <p:cNvSpPr/>
          <p:nvPr/>
        </p:nvSpPr>
        <p:spPr>
          <a:xfrm>
            <a:off x="9061704" y="25786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COLETIVO  ·  0  ZERADO</a:t>
            </a:r>
            <a:endParaRPr lang="pt-BR" sz="1100" noProof="0" dirty="0"/>
          </a:p>
        </p:txBody>
      </p:sp>
      <p:sp>
        <p:nvSpPr>
          <p:cNvPr id="17" name="Shape 15"/>
          <p:cNvSpPr/>
          <p:nvPr/>
        </p:nvSpPr>
        <p:spPr>
          <a:xfrm>
            <a:off x="502920" y="3429000"/>
            <a:ext cx="5486400" cy="2423160"/>
          </a:xfrm>
          <a:prstGeom prst="roundRect">
            <a:avLst>
              <a:gd name="adj" fmla="val 2642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731520" y="3566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REGRAS </a:t>
            </a:r>
            <a:r>
              <a:rPr lang="pt-BR" sz="1250" b="1" noProof="0" dirty="0" err="1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Dados_sig</a:t>
            </a:r>
            <a:endParaRPr lang="pt-BR" sz="1250" noProof="0" dirty="0"/>
          </a:p>
        </p:txBody>
      </p:sp>
      <p:sp>
        <p:nvSpPr>
          <p:cNvPr id="19" name="Text 17"/>
          <p:cNvSpPr/>
          <p:nvPr/>
        </p:nvSpPr>
        <p:spPr>
          <a:xfrm>
            <a:off x="731520" y="39319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SIGILOSO — v0001 ou V00001 sigilosos (</a:t>
            </a:r>
            <a:r>
              <a:rPr lang="pt-BR" sz="1150" noProof="0" dirty="0" err="1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[antes a regra citava também V01042]</a:t>
            </a:r>
            <a:endParaRPr lang="pt-BR" sz="1150" noProof="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COLETIVO — V00001 = 0 com população &gt; 0 (asilos, presídios).</a:t>
            </a:r>
            <a:endParaRPr lang="pt-BR" sz="1150" noProof="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ZERADO — v0001 = 0 (setor sem população).</a:t>
            </a:r>
            <a:endParaRPr lang="pt-BR" sz="1150" noProof="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— caso contrário; participa das análises.</a:t>
            </a:r>
            <a:endParaRPr lang="pt-BR" sz="1150" noProof="0" dirty="0"/>
          </a:p>
        </p:txBody>
      </p:sp>
      <p:sp>
        <p:nvSpPr>
          <p:cNvPr id="20" name="Shape 18"/>
          <p:cNvSpPr/>
          <p:nvPr/>
        </p:nvSpPr>
        <p:spPr>
          <a:xfrm>
            <a:off x="6263640" y="3429000"/>
            <a:ext cx="5440680" cy="2423160"/>
          </a:xfrm>
          <a:prstGeom prst="roundRect">
            <a:avLst>
              <a:gd name="adj" fmla="val 2642"/>
            </a:avLst>
          </a:prstGeom>
          <a:solidFill>
            <a:srgbClr val="0E3A4F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6492240" y="3566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0 COLETIVO?</a:t>
            </a:r>
            <a:endParaRPr lang="pt-BR" sz="1250" noProof="0" dirty="0"/>
          </a:p>
        </p:txBody>
      </p:sp>
      <p:sp>
        <p:nvSpPr>
          <p:cNvPr id="22" name="Text 20"/>
          <p:cNvSpPr/>
          <p:nvPr/>
        </p:nvSpPr>
        <p:spPr>
          <a:xfrm>
            <a:off x="6492240" y="39319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setor dos 70 municípios tem V00001 = 0 com população &gt; 0. Os setores tipicamente coletivos chegam com V00001 sigiloso e caem em SIGILOSO (avaliado antes). Item a confirmar com a orientadora: garantir que nenhum setor 100% coletivo entre como OK indevidamente.</a:t>
            </a:r>
            <a:endParaRPr lang="pt-BR" sz="1200" noProof="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r>
              <a:rPr lang="pt-BR" sz="90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Elegibilidade</a:t>
            </a:r>
            <a:endParaRPr lang="pt-BR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TABELA 1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Descritivas globais dos 7 indicadores</a:t>
            </a:r>
            <a:endParaRPr lang="pt-BR" sz="27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50" i="1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OK dos 70 municípios. Valores das proporções em fração (0–1); renda em R$.</a:t>
            </a:r>
            <a:endParaRPr lang="pt-BR" sz="1350" noProof="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291717"/>
              </p:ext>
            </p:extLst>
          </p:nvPr>
        </p:nvGraphicFramePr>
        <p:xfrm>
          <a:off x="502920" y="1691640"/>
          <a:ext cx="11201400" cy="292608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Indicador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Média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Mediana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DP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P25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P75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Assim.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Curt.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 inadequada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106.281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0,083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0,221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0,017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+3,07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+8,46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Esgoto inadequado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106.280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0,092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0,231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0,023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+2,76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+6,52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Lixo inadequado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106.281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0,126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0,264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0,071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+2,23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+3,68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de moradores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106.281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2,70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2,72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2,48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2,93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+0,09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+3,90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Analfabetismo (15+)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89.527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0,039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0,028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0,041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0,013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0,052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+2,98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+17,67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 média (R$)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106.262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4.141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2.546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4.124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1.735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4.755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+3,76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+49,94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Raça/cor (PPI)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106.279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0,530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0,576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0,229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0,356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0,708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−0,39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−0,81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892040"/>
            <a:ext cx="11201400" cy="1325880"/>
          </a:xfrm>
          <a:prstGeom prst="roundRect">
            <a:avLst>
              <a:gd name="adj" fmla="val 4828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4"/>
          <p:cNvSpPr/>
          <p:nvPr/>
        </p:nvSpPr>
        <p:spPr>
          <a:xfrm>
            <a:off x="731520" y="4983480"/>
            <a:ext cx="10789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pt-BR" sz="1150" b="1" noProof="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ler:  </a:t>
            </a: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5 proporções têm forte assimetria positiva e mediana = 0 (massa em zero) → no artigo, reportar mediana e IQR, não média e DP. </a:t>
            </a:r>
            <a:r>
              <a:rPr lang="pt-BR" sz="1150" b="1" noProof="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</a:t>
            </a: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mais assimétrica (média R$ 4.141 ≫ mediana R$ 2.546; curtose +49,9). </a:t>
            </a:r>
            <a:r>
              <a:rPr lang="pt-BR" sz="1150" b="1" noProof="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Analfabetismo </a:t>
            </a:r>
            <a:r>
              <a:rPr lang="pt-BR" sz="1150" noProof="0" dirty="0">
                <a:solidFill>
                  <a:srgbClr val="B5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n menor (89.527) por sigilo (15,8%) e — após a correção — máximo 0,84 e curtose +17,7 (era +44,1). </a:t>
            </a:r>
            <a:r>
              <a:rPr lang="pt-BR" sz="1150" b="1" noProof="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Raça/cor </a:t>
            </a: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única com assimetria negativa e bem distribuída em [0,1].</a:t>
            </a:r>
            <a:endParaRPr lang="pt-BR" sz="1150" noProof="0" dirty="0"/>
          </a:p>
        </p:txBody>
      </p:sp>
      <p:sp>
        <p:nvSpPr>
          <p:cNvPr id="5" name="Text 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r>
              <a:rPr lang="pt-BR" sz="90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Tabela 1</a:t>
            </a:r>
            <a:endParaRPr lang="pt-BR" sz="900" noProof="0" dirty="0"/>
          </a:p>
        </p:txBody>
      </p:sp>
      <p:sp>
        <p:nvSpPr>
          <p:cNvPr id="9" name="Text 6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DISTRIBUIÇÕES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 de cada variável (histogramas)</a:t>
            </a:r>
            <a:endParaRPr lang="pt-BR" sz="2700" noProof="0" dirty="0"/>
          </a:p>
        </p:txBody>
      </p:sp>
      <p:pic>
        <p:nvPicPr>
          <p:cNvPr id="4" name="Image 0" descr="D:/Iniciação Cientifica/Projeto_IVS_Censo22/.claude/worktrees/hopeful-mclean-e9914e/banco_de_dados/eda/figuras/histogram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6720840" cy="44439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554480"/>
            <a:ext cx="4251960" cy="4526280"/>
          </a:xfrm>
          <a:prstGeom prst="roundRect">
            <a:avLst>
              <a:gd name="adj" fmla="val 1505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3"/>
          <p:cNvSpPr/>
          <p:nvPr/>
        </p:nvSpPr>
        <p:spPr>
          <a:xfrm>
            <a:off x="7680960" y="1691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OS HISTOGRAMAS MOSTRAM</a:t>
            </a:r>
            <a:endParaRPr lang="pt-BR" sz="1250" noProof="0" dirty="0"/>
          </a:p>
        </p:txBody>
      </p:sp>
      <p:sp>
        <p:nvSpPr>
          <p:cNvPr id="7" name="Text 4"/>
          <p:cNvSpPr/>
          <p:nvPr/>
        </p:nvSpPr>
        <p:spPr>
          <a:xfrm>
            <a:off x="7680960" y="2057400"/>
            <a:ext cx="3840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Água, esgoto e lixo são zero-infladas: a maioria dos setores tem 0% de inadequação, com uma cauda longa até 100% (os 'bolsões').</a:t>
            </a:r>
            <a:endParaRPr lang="pt-BR" sz="1150" noProof="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Coexistem dois regimes: a 'norma urbana' próxima de zero e os bolsões de precariedade próximos de um — daí CV &gt; 200%.</a:t>
            </a:r>
            <a:endParaRPr lang="pt-BR" sz="1150" noProof="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de moradores é a única aproximadamente simétrica (média ≈ mediana ≈ 2,7; piso em 1,0 após a correção).</a:t>
            </a:r>
            <a:endParaRPr lang="pt-BR" sz="1150" noProof="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tem cauda direita longuíssima (setores nobres das capitais).</a:t>
            </a:r>
            <a:endParaRPr lang="pt-BR" sz="1150" noProof="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Raça/cor (PPI) é espalhada por [0,1] — informativa em todo o intervalo.</a:t>
            </a:r>
            <a:endParaRPr lang="pt-BR" sz="1150" noProof="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r>
              <a:rPr lang="pt-BR" sz="90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Histogramas</a:t>
            </a:r>
            <a:endParaRPr lang="pt-BR" sz="900" noProof="0" dirty="0"/>
          </a:p>
        </p:txBody>
      </p:sp>
      <p:sp>
        <p:nvSpPr>
          <p:cNvPr id="9" name="Text 6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DESIGUALDADE REGIONAL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Distribuições por região (</a:t>
            </a:r>
            <a:r>
              <a:rPr lang="pt-BR" sz="2700" b="1" noProof="0" dirty="0" err="1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boxplots</a:t>
            </a:r>
            <a:r>
              <a:rPr lang="pt-BR" sz="27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</a:t>
            </a:r>
            <a:endParaRPr lang="pt-BR" sz="2700" noProof="0" dirty="0"/>
          </a:p>
        </p:txBody>
      </p:sp>
      <p:pic>
        <p:nvPicPr>
          <p:cNvPr id="4" name="Image 0" descr="D:/Iniciação Cientifica/Projeto_IVS_Censo22/.claude/worktrees/hopeful-mclean-e9914e/banco_de_dados/eda/figuras/boxplots_por_regi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6053328" cy="44165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1554480"/>
            <a:ext cx="4937760" cy="4526280"/>
          </a:xfrm>
          <a:prstGeom prst="roundRect">
            <a:avLst>
              <a:gd name="adj" fmla="val 1414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3"/>
          <p:cNvSpPr/>
          <p:nvPr/>
        </p:nvSpPr>
        <p:spPr>
          <a:xfrm>
            <a:off x="699516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LEITURA POR REGIÃO</a:t>
            </a:r>
            <a:endParaRPr lang="pt-BR" sz="1250" noProof="0" dirty="0"/>
          </a:p>
        </p:txBody>
      </p:sp>
      <p:sp>
        <p:nvSpPr>
          <p:cNvPr id="7" name="Text 4"/>
          <p:cNvSpPr/>
          <p:nvPr/>
        </p:nvSpPr>
        <p:spPr>
          <a:xfrm>
            <a:off x="6995160" y="2057400"/>
            <a:ext cx="45720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 concentra o pior saneamento: água inadequada com mediana ~20% e caixa deslocada para cima; também a maior densidade (mediana 3,2 moradores).</a:t>
            </a:r>
            <a:endParaRPr lang="pt-BR" sz="1150" noProof="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 e Sudeste têm medianas de saneamento coladas em zero — a inadequação aparece só como outliers (cauda).</a:t>
            </a:r>
            <a:endParaRPr lang="pt-BR" sz="1150" noProof="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cresce de forma clara Norte/Nordeste → Sul; raça/cor (PPI) faz o caminho inverso.</a:t>
            </a:r>
            <a:endParaRPr lang="pt-BR" sz="1150" noProof="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caixas curtas + muitos pontos acima confirmam a natureza zero-inflada (ver slide de outliers).</a:t>
            </a:r>
            <a:endParaRPr lang="pt-BR" sz="1150" noProof="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r>
              <a:rPr lang="pt-BR" sz="90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r>
              <a:rPr lang="pt-BR" sz="900" b="1" noProof="0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</a:t>
            </a:r>
            <a:endParaRPr lang="pt-BR" sz="900" noProof="0" dirty="0"/>
          </a:p>
        </p:txBody>
      </p:sp>
      <p:sp>
        <p:nvSpPr>
          <p:cNvPr id="9" name="Text 6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GRADIENTE REGIONAL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Saneamento inadequado — média por região</a:t>
            </a:r>
            <a:endParaRPr lang="pt-BR" sz="27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50" i="1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Médias (não medianas) para enxergar a intensidade dos bolsões.</a:t>
            </a:r>
            <a:endParaRPr lang="pt-BR" sz="1350" noProof="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434562"/>
              </p:ext>
            </p:extLst>
          </p:nvPr>
        </p:nvGraphicFramePr>
        <p:xfrm>
          <a:off x="502920" y="1783080"/>
          <a:ext cx="6583680" cy="27432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Região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Água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Esgoto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Lixo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Norte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35,6%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27,1%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14,0%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Nordeste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12,7%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17,6%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16,5%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Centro-Oeste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9,2%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9,4%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12,0%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Sudeste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4,5%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5,4%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11,5%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3,5%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3,9%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11,0%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0" y="1783080"/>
            <a:ext cx="4389120" cy="4160520"/>
          </a:xfrm>
          <a:prstGeom prst="roundRect">
            <a:avLst>
              <a:gd name="adj" fmla="val 1538"/>
            </a:avLst>
          </a:prstGeom>
          <a:solidFill>
            <a:srgbClr val="0E3A4F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4"/>
          <p:cNvSpPr/>
          <p:nvPr/>
        </p:nvSpPr>
        <p:spPr>
          <a:xfrm>
            <a:off x="754380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INTERPRETAÇÃO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7543800" y="228600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200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de vulnerabilidade Norte → Sul é nítido em água e esgoto: a inadequação de água no Norte (35,6%) é ~10× a do Sul (3,5%).</a:t>
            </a:r>
            <a:endParaRPr lang="pt-BR" sz="1200" noProof="0" dirty="0">
              <a:solidFill>
                <a:schemeClr val="bg1"/>
              </a:solidFill>
            </a:endParaRPr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200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Lixo é o componente mais uniforme entre regiões (11–16%) — sugere capturar uma dimensão distinta (cobertura municipal de coleta).</a:t>
            </a:r>
            <a:endParaRPr lang="pt-BR" sz="1200" noProof="0" dirty="0">
              <a:solidFill>
                <a:schemeClr val="bg1"/>
              </a:solidFill>
            </a:endParaRPr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200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gradiente replica o padrão centro-periferia descrito por Passarelli-Araujo (2023) e justifica a abordagem intraurbana.</a:t>
            </a:r>
            <a:endParaRPr lang="pt-BR" sz="1200" noProof="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r>
              <a:rPr lang="pt-BR" sz="90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Gradiente</a:t>
            </a:r>
            <a:endParaRPr lang="pt-BR" sz="900" noProof="0" dirty="0"/>
          </a:p>
        </p:txBody>
      </p:sp>
      <p:sp>
        <p:nvSpPr>
          <p:cNvPr id="10" name="Text 7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PERFIL REGIONAL COMPLETO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Medianas das 7 variáveis por região</a:t>
            </a:r>
            <a:endParaRPr lang="pt-BR" sz="27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50" i="1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Negrito = pior desempenho regional no indicador.</a:t>
            </a:r>
            <a:endParaRPr lang="pt-BR" sz="1350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885522"/>
              </p:ext>
            </p:extLst>
          </p:nvPr>
        </p:nvGraphicFramePr>
        <p:xfrm>
          <a:off x="502920" y="1783080"/>
          <a:ext cx="7315200" cy="252374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Região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Razão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 err="1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Analfab</a:t>
                      </a: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.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Renda (R$)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PPI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0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Norte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 dirty="0">
                          <a:solidFill>
                            <a:srgbClr val="B5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0,030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1.774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 dirty="0">
                          <a:solidFill>
                            <a:srgbClr val="B5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0,774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0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Nordeste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2,79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 dirty="0">
                          <a:solidFill>
                            <a:srgbClr val="B5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0,053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 dirty="0">
                          <a:solidFill>
                            <a:srgbClr val="B5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1.693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0,737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0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Centro-Oeste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2,81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0,028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3.083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0,607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0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Sudeste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2,66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0,024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2.714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0,514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0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2,60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0,017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3.686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0,222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892040"/>
            <a:ext cx="11201400" cy="1325880"/>
          </a:xfrm>
          <a:prstGeom prst="roundRect">
            <a:avLst>
              <a:gd name="adj" fmla="val 4828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4"/>
          <p:cNvSpPr/>
          <p:nvPr/>
        </p:nvSpPr>
        <p:spPr>
          <a:xfrm>
            <a:off x="731520" y="498348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 e Nordeste concentram a precariedade: Norte lidera água, esgoto e densidade; Nordeste tem a pior renda (R$ 1.693) e o pior analfabetismo (5,3%).</a:t>
            </a:r>
            <a:endParaRPr lang="pt-BR" sz="1150" noProof="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 é o oposto: melhor renda (R$ 3.686), saneamento ~nulo nas medianas, menor analfabetismo (1,7%) e PPI de 22,2% — contra 77,4% no Norte (gradiente de 55 </a:t>
            </a:r>
            <a:r>
              <a:rPr lang="pt-BR" sz="1150" noProof="0" dirty="0" err="1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p.p</a:t>
            </a: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.).</a:t>
            </a:r>
            <a:endParaRPr lang="pt-BR" sz="1150" noProof="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r>
              <a:rPr lang="pt-BR" sz="90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Regional</a:t>
            </a:r>
            <a:endParaRPr lang="pt-BR" sz="900" noProof="0" dirty="0"/>
          </a:p>
        </p:txBody>
      </p:sp>
      <p:sp>
        <p:nvSpPr>
          <p:cNvPr id="9" name="Text 6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03B61B-6195-2CF6-6702-4CA73327F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50E1F7-A8E5-372B-64BF-74E7A674D982}"/>
              </a:ext>
            </a:extLst>
          </p:cNvPr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PERFIL REGIONAL COMPLETO</a:t>
            </a:r>
            <a:endParaRPr lang="pt-BR" sz="12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55F80C-6B2E-45E2-BC2F-DD519A14BF0D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Categorias das variáveis de saneamento</a:t>
            </a:r>
            <a:endParaRPr lang="pt-BR" sz="2700" noProof="0" dirty="0"/>
          </a:p>
        </p:txBody>
      </p:sp>
      <p:graphicFrame>
        <p:nvGraphicFramePr>
          <p:cNvPr id="12" name="Table 0">
            <a:extLst>
              <a:ext uri="{FF2B5EF4-FFF2-40B4-BE49-F238E27FC236}">
                <a16:creationId xmlns:a16="http://schemas.microsoft.com/office/drawing/2014/main" id="{96046D86-2307-4B6A-9C5C-309501B39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673670"/>
              </p:ext>
            </p:extLst>
          </p:nvPr>
        </p:nvGraphicFramePr>
        <p:xfrm>
          <a:off x="502920" y="1536337"/>
          <a:ext cx="6974115" cy="3108234"/>
        </p:xfrm>
        <a:graphic>
          <a:graphicData uri="http://schemas.openxmlformats.org/drawingml/2006/table">
            <a:tbl>
              <a:tblPr/>
              <a:tblGrid>
                <a:gridCol w="2145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2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94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167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0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Região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0 %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charset="0"/>
                          <a:cs typeface="Trebuchet MS" charset="0"/>
                        </a:rPr>
                        <a:t>1 – 49 %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charset="0"/>
                          <a:cs typeface="Trebuchet MS" charset="0"/>
                        </a:rPr>
                        <a:t>&gt;=50 %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0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Norte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0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Nordeste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0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0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Centro-Oeste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0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0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Sudeste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0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0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>
            <a:extLst>
              <a:ext uri="{FF2B5EF4-FFF2-40B4-BE49-F238E27FC236}">
                <a16:creationId xmlns:a16="http://schemas.microsoft.com/office/drawing/2014/main" id="{AEC94780-60C6-8652-73E9-039EBE525A82}"/>
              </a:ext>
            </a:extLst>
          </p:cNvPr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r>
              <a:rPr lang="pt-BR" sz="90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Regional</a:t>
            </a:r>
            <a:endParaRPr lang="pt-BR" sz="900" noProof="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F4235B3-F8A6-04FF-16A3-1EF830FC1B70}"/>
              </a:ext>
            </a:extLst>
          </p:cNvPr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pt-BR" sz="1000" noProof="0" dirty="0"/>
          </a:p>
        </p:txBody>
      </p:sp>
    </p:spTree>
    <p:extLst>
      <p:ext uri="{BB962C8B-B14F-4D97-AF65-F5344CB8AC3E}">
        <p14:creationId xmlns:p14="http://schemas.microsoft.com/office/powerpoint/2010/main" val="717747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HETEROGENEIDADE MUNICIPAL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extremos — onde a vulnerabilidade se concentra</a:t>
            </a:r>
            <a:endParaRPr lang="pt-BR" sz="27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50" i="1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Medianas por município (n entre 19 e 5.264 setores).</a:t>
            </a:r>
            <a:endParaRPr lang="pt-BR" sz="135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697480" cy="3840480"/>
          </a:xfrm>
          <a:prstGeom prst="roundRect">
            <a:avLst>
              <a:gd name="adj" fmla="val 2373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2697480" cy="54864"/>
          </a:xfrm>
          <a:prstGeom prst="rect">
            <a:avLst/>
          </a:prstGeom>
          <a:solidFill>
            <a:srgbClr val="B5523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667512" y="193852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50" b="1" noProof="0" dirty="0">
                <a:solidFill>
                  <a:srgbClr val="B55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PIOR SANEAMENTO (água)</a:t>
            </a:r>
            <a:endParaRPr lang="pt-BR" sz="1150" noProof="0" dirty="0"/>
          </a:p>
        </p:txBody>
      </p:sp>
      <p:sp>
        <p:nvSpPr>
          <p:cNvPr id="8" name="Text 6"/>
          <p:cNvSpPr/>
          <p:nvPr/>
        </p:nvSpPr>
        <p:spPr>
          <a:xfrm>
            <a:off x="667512" y="2560320"/>
            <a:ext cx="239572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Portel/PA — 99,0%</a:t>
            </a:r>
            <a:endParaRPr lang="pt-BR" sz="1150" noProof="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Placas/PA — 97,1%</a:t>
            </a:r>
            <a:endParaRPr lang="pt-BR" sz="1150" noProof="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Autazes/AM — 96,4%</a:t>
            </a:r>
            <a:endParaRPr lang="pt-BR" sz="1150" noProof="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Coroaci/MG — 95,7%</a:t>
            </a:r>
            <a:endParaRPr lang="pt-BR" sz="1150" noProof="0" dirty="0"/>
          </a:p>
        </p:txBody>
      </p:sp>
      <p:sp>
        <p:nvSpPr>
          <p:cNvPr id="9" name="Shape 7"/>
          <p:cNvSpPr/>
          <p:nvPr/>
        </p:nvSpPr>
        <p:spPr>
          <a:xfrm>
            <a:off x="3300984" y="1783080"/>
            <a:ext cx="2697480" cy="3840480"/>
          </a:xfrm>
          <a:prstGeom prst="roundRect">
            <a:avLst>
              <a:gd name="adj" fmla="val 2373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3300984" y="1783080"/>
            <a:ext cx="2697480" cy="54864"/>
          </a:xfrm>
          <a:prstGeom prst="rect">
            <a:avLst/>
          </a:prstGeom>
          <a:solidFill>
            <a:srgbClr val="E08A3C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3465576" y="193852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50" b="1" noProof="0" dirty="0">
                <a:solidFill>
                  <a:srgbClr val="E08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MAIOR ANALFABETISMO</a:t>
            </a:r>
            <a:endParaRPr lang="pt-BR" sz="1150" noProof="0" dirty="0"/>
          </a:p>
        </p:txBody>
      </p:sp>
      <p:sp>
        <p:nvSpPr>
          <p:cNvPr id="12" name="Text 10"/>
          <p:cNvSpPr/>
          <p:nvPr/>
        </p:nvSpPr>
        <p:spPr>
          <a:xfrm>
            <a:off x="3465576" y="2560320"/>
            <a:ext cx="239572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Arara/PB — 31,1%</a:t>
            </a:r>
            <a:endParaRPr lang="pt-BR" sz="1150" noProof="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Jaqueira/PE — 24,9%</a:t>
            </a:r>
            <a:endParaRPr lang="pt-BR" sz="1150" noProof="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 Preta/PE — 24,2%</a:t>
            </a:r>
            <a:endParaRPr lang="pt-BR" sz="1150" noProof="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R. Doca Bezerra/MA — 23,9%</a:t>
            </a:r>
            <a:endParaRPr lang="pt-BR" sz="1150" noProof="0" dirty="0"/>
          </a:p>
        </p:txBody>
      </p:sp>
      <p:sp>
        <p:nvSpPr>
          <p:cNvPr id="13" name="Shape 11"/>
          <p:cNvSpPr/>
          <p:nvPr/>
        </p:nvSpPr>
        <p:spPr>
          <a:xfrm>
            <a:off x="6099048" y="1783080"/>
            <a:ext cx="2697480" cy="3840480"/>
          </a:xfrm>
          <a:prstGeom prst="roundRect">
            <a:avLst>
              <a:gd name="adj" fmla="val 2373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6099048" y="1783080"/>
            <a:ext cx="26974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6263640" y="193852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50" b="1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RENDA — EXTREMOS</a:t>
            </a:r>
            <a:endParaRPr lang="pt-BR" sz="1150" noProof="0" dirty="0"/>
          </a:p>
        </p:txBody>
      </p:sp>
      <p:sp>
        <p:nvSpPr>
          <p:cNvPr id="16" name="Text 14"/>
          <p:cNvSpPr/>
          <p:nvPr/>
        </p:nvSpPr>
        <p:spPr>
          <a:xfrm>
            <a:off x="6263640" y="2560320"/>
            <a:ext cx="239572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Caetano do Sul/SP — R$ 5.292</a:t>
            </a:r>
            <a:endParaRPr lang="pt-BR" sz="1150" noProof="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Curitiba/PR — R$ 4.115</a:t>
            </a:r>
            <a:endParaRPr lang="pt-BR" sz="1150" noProof="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pt-BR" sz="1150" noProof="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Portel/PA — R$ 1.022 (5,18× menor)</a:t>
            </a:r>
            <a:endParaRPr lang="pt-BR" sz="1150" noProof="0" dirty="0"/>
          </a:p>
        </p:txBody>
      </p:sp>
      <p:sp>
        <p:nvSpPr>
          <p:cNvPr id="17" name="Shape 15"/>
          <p:cNvSpPr/>
          <p:nvPr/>
        </p:nvSpPr>
        <p:spPr>
          <a:xfrm>
            <a:off x="8897112" y="1783080"/>
            <a:ext cx="2697480" cy="3840480"/>
          </a:xfrm>
          <a:prstGeom prst="roundRect">
            <a:avLst>
              <a:gd name="adj" fmla="val 2373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6"/>
          <p:cNvSpPr/>
          <p:nvPr/>
        </p:nvSpPr>
        <p:spPr>
          <a:xfrm>
            <a:off x="8897112" y="1783080"/>
            <a:ext cx="2697480" cy="54864"/>
          </a:xfrm>
          <a:prstGeom prst="rect">
            <a:avLst/>
          </a:prstGeom>
          <a:solidFill>
            <a:srgbClr val="12536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9061704" y="193852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50" b="1" noProof="0" dirty="0">
                <a:solidFill>
                  <a:srgbClr val="1253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MAIOR % PRETOS/PARDOS/IND.</a:t>
            </a:r>
            <a:endParaRPr lang="pt-BR" sz="1150" noProof="0" dirty="0"/>
          </a:p>
        </p:txBody>
      </p:sp>
      <p:sp>
        <p:nvSpPr>
          <p:cNvPr id="20" name="Text 18"/>
          <p:cNvSpPr/>
          <p:nvPr/>
        </p:nvSpPr>
        <p:spPr>
          <a:xfrm>
            <a:off x="9061704" y="2560320"/>
            <a:ext cx="239572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Autazes/AM — 92,9%</a:t>
            </a:r>
            <a:endParaRPr lang="pt-BR" sz="1150" noProof="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Salvador/BA — 88,9%</a:t>
            </a:r>
            <a:endParaRPr lang="pt-BR" sz="1150" noProof="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Rosário/MA — 88,1%</a:t>
            </a:r>
            <a:endParaRPr lang="pt-BR" sz="1150" noProof="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Portel/PA — 87,8%</a:t>
            </a:r>
            <a:endParaRPr lang="pt-BR" sz="1150" noProof="0" dirty="0"/>
          </a:p>
        </p:txBody>
      </p:sp>
      <p:sp>
        <p:nvSpPr>
          <p:cNvPr id="21" name="Shape 19"/>
          <p:cNvSpPr/>
          <p:nvPr/>
        </p:nvSpPr>
        <p:spPr>
          <a:xfrm>
            <a:off x="502920" y="5760720"/>
            <a:ext cx="11201400" cy="502920"/>
          </a:xfrm>
          <a:prstGeom prst="roundRect">
            <a:avLst>
              <a:gd name="adj" fmla="val 12727"/>
            </a:avLst>
          </a:prstGeom>
          <a:solidFill>
            <a:srgbClr val="FBECE7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731520" y="577900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B5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r>
              <a:rPr lang="pt-BR" sz="110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Salto/SP aparece no top-5 de lixo inadequado (96,4%) — atípico para o interior paulista; pode indicar erro de classificação categórica (ex.: 'caçamba de serviço' contada como inadequada). Validar no dicionário do IBGE.</a:t>
            </a:r>
            <a:endParaRPr lang="pt-BR" sz="1100" noProof="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r>
              <a:rPr lang="pt-BR" sz="90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Municípios</a:t>
            </a:r>
            <a:endParaRPr lang="pt-BR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OUTLIERS (REGRA IQR)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20% de 'outliers' não são erros</a:t>
            </a:r>
            <a:endParaRPr lang="pt-BR" sz="27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50" i="1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fora de [Q1 − 1,5·IQR ; Q3 + 1,5·IQR].</a:t>
            </a:r>
            <a:endParaRPr lang="pt-BR" sz="1350" noProof="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145193"/>
              </p:ext>
            </p:extLst>
          </p:nvPr>
        </p:nvGraphicFramePr>
        <p:xfrm>
          <a:off x="502920" y="1783080"/>
          <a:ext cx="5943600" cy="2779776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Variável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 outliers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%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 inadequada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21.476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20,2%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Esgoto inadequado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21.158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19,9%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Lixo inadequado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19.557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18,4%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 média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10.850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10,2%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Analfabetismo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4.696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5,2%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de moradores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3.829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3,6%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Raça/cor (PPI)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0,0%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783080"/>
            <a:ext cx="5029200" cy="4160520"/>
          </a:xfrm>
          <a:prstGeom prst="roundRect">
            <a:avLst>
              <a:gd name="adj" fmla="val 1538"/>
            </a:avLst>
          </a:prstGeom>
          <a:solidFill>
            <a:srgbClr val="0E3A4F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4"/>
          <p:cNvSpPr/>
          <p:nvPr/>
        </p:nvSpPr>
        <p:spPr>
          <a:xfrm>
            <a:off x="690372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LEITURA CRÍTICA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6903720" y="228600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150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água/esgoto/lixo, P25 = mediana = 0; o IQR colapsa e qualquer valor moderado vira 'outlier'. É artefato da distribuição zero-inflada, não erro de dado.</a:t>
            </a:r>
            <a:endParaRPr lang="pt-BR" sz="1150" noProof="0" dirty="0">
              <a:solidFill>
                <a:schemeClr val="bg1"/>
              </a:solidFill>
            </a:endParaRPr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150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'outliers' são justamente os bolsões de vulnerabilidade — o objeto do estudo. NÃO devem ser removidos (</a:t>
            </a:r>
            <a:r>
              <a:rPr lang="pt-BR" sz="1150" noProof="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Tukey</a:t>
            </a:r>
            <a:r>
              <a:rPr lang="pt-BR" sz="1150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1977).</a:t>
            </a:r>
            <a:endParaRPr lang="pt-BR" sz="1150" noProof="0" dirty="0">
              <a:solidFill>
                <a:schemeClr val="bg1"/>
              </a:solidFill>
            </a:endParaRPr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150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Recomendação: nessas variáveis, reportar o percentil 95 em vez da regra IQR (coluna </a:t>
            </a:r>
            <a:r>
              <a:rPr lang="pt-BR" sz="1150" noProof="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iqr_nao_informativo</a:t>
            </a:r>
            <a:r>
              <a:rPr lang="pt-BR" sz="1150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outliers.csv).</a:t>
            </a:r>
            <a:endParaRPr lang="pt-BR" sz="1150" noProof="0" dirty="0">
              <a:solidFill>
                <a:schemeClr val="bg1"/>
              </a:solidFill>
            </a:endParaRPr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150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e razão: outliers reais (cauda de altíssima renda; possíveis setores coletivos) — preservar e inspecionar.</a:t>
            </a:r>
            <a:endParaRPr lang="pt-BR" sz="1150" noProof="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r>
              <a:rPr lang="pt-BR" sz="90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Outliers</a:t>
            </a:r>
            <a:endParaRPr lang="pt-BR" sz="900" noProof="0" dirty="0"/>
          </a:p>
        </p:txBody>
      </p:sp>
      <p:sp>
        <p:nvSpPr>
          <p:cNvPr id="10" name="Text 7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DADOS FALTANTES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Sigilo concentrado no analfabetismo</a:t>
            </a:r>
            <a:endParaRPr lang="pt-BR" sz="2700" noProof="0" dirty="0"/>
          </a:p>
        </p:txBody>
      </p:sp>
      <p:pic>
        <p:nvPicPr>
          <p:cNvPr id="4" name="Image 0" descr="D:/Iniciação Cientifica/Projeto_IVS_Censo22/.claude/worktrees/hopeful-mclean-e9914e/banco_de_dados/eda/figuras/missing_por_municip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3456432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251960" y="1463040"/>
            <a:ext cx="7452360" cy="4526280"/>
          </a:xfrm>
          <a:prstGeom prst="roundRect">
            <a:avLst>
              <a:gd name="adj" fmla="val 1414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3"/>
          <p:cNvSpPr/>
          <p:nvPr/>
        </p:nvSpPr>
        <p:spPr>
          <a:xfrm>
            <a:off x="4480560" y="162763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O MAPA DE CALOR REVELA</a:t>
            </a:r>
            <a:endParaRPr lang="pt-BR" sz="1250" noProof="0" dirty="0"/>
          </a:p>
        </p:txBody>
      </p:sp>
      <p:sp>
        <p:nvSpPr>
          <p:cNvPr id="7" name="Text 4"/>
          <p:cNvSpPr/>
          <p:nvPr/>
        </p:nvSpPr>
        <p:spPr>
          <a:xfrm>
            <a:off x="4480560" y="2011680"/>
            <a:ext cx="7040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15,76% dos setores OK têm o analfabetismo (V00901) sigilado pelo IBGE; as outras 6 variáveis estão ~completas (cobertura ≥ 99,98%).</a:t>
            </a:r>
            <a:endParaRPr lang="pt-BR" sz="1150" noProof="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sigilo é sistemático, não aleatório: concentra-se nas grandes capitais — São Caetano do Sul 29,7%, Porto Alegre 27,5%, Curitiba 23,1%, BH 22,5%, Rio 20,0%, São Paulo 19,7%.</a:t>
            </a:r>
            <a:endParaRPr lang="pt-BR" sz="1150" noProof="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o IBGE suprime contagens muito pequenas; em setores urbanos centrais o número absoluto de analfabetos cai abaixo do limite.</a:t>
            </a:r>
            <a:endParaRPr lang="pt-BR" sz="1150" noProof="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municípios pequenos têm zero faltante em todas as variáveis (Arara, Portel, Água Preta, …).</a:t>
            </a:r>
            <a:endParaRPr lang="pt-BR" sz="1150" noProof="0" dirty="0"/>
          </a:p>
        </p:txBody>
      </p:sp>
      <p:sp>
        <p:nvSpPr>
          <p:cNvPr id="8" name="Shape 5"/>
          <p:cNvSpPr/>
          <p:nvPr/>
        </p:nvSpPr>
        <p:spPr>
          <a:xfrm>
            <a:off x="4480560" y="4526280"/>
            <a:ext cx="7040880" cy="1325880"/>
          </a:xfrm>
          <a:prstGeom prst="roundRect">
            <a:avLst>
              <a:gd name="adj" fmla="val 4828"/>
            </a:avLst>
          </a:prstGeom>
          <a:solidFill>
            <a:srgbClr val="FBECE7"/>
          </a:solidFill>
          <a:ln w="12700">
            <a:solidFill>
              <a:srgbClr val="E08A3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6"/>
          <p:cNvSpPr/>
          <p:nvPr/>
        </p:nvSpPr>
        <p:spPr>
          <a:xfrm>
            <a:off x="4663440" y="4617720"/>
            <a:ext cx="6675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B5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metodológico:  </a:t>
            </a:r>
            <a:r>
              <a:rPr lang="pt-BR" sz="110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sigilo introduz viés contra grandes cidades. Excluir setores por </a:t>
            </a:r>
            <a:r>
              <a:rPr lang="pt-BR" sz="1100" noProof="0" dirty="0" err="1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listwise</a:t>
            </a:r>
            <a:r>
              <a:rPr lang="pt-BR" sz="110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descartaria ~17 mil setores das capitais. Decisão atual: manter </a:t>
            </a:r>
            <a:r>
              <a:rPr lang="pt-BR" sz="1100" noProof="0" dirty="0" err="1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r>
              <a:rPr lang="pt-BR" sz="110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(transparente), não imputar zero — imputar zero subestimaria o analfabetismo onde ele é baixo. Imputação por mediana municipal fica como opção para o índice final.</a:t>
            </a:r>
            <a:endParaRPr lang="pt-BR" sz="1100" noProof="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r>
              <a:rPr lang="pt-BR" sz="90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r>
              <a:rPr lang="pt-BR" sz="900" b="1" noProof="0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pt-BR" sz="900" noProof="0" dirty="0"/>
          </a:p>
        </p:txBody>
      </p:sp>
      <p:sp>
        <p:nvSpPr>
          <p:cNvPr id="11" name="Text 8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ESTRUTURA DE ASSOCIAÇÃO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Matriz de correlação — Pearson e </a:t>
            </a:r>
            <a:r>
              <a:rPr lang="pt-BR" sz="2700" b="1" noProof="0" dirty="0" err="1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Spearman</a:t>
            </a:r>
            <a:endParaRPr lang="pt-BR" sz="2700" noProof="0" dirty="0"/>
          </a:p>
        </p:txBody>
      </p:sp>
      <p:pic>
        <p:nvPicPr>
          <p:cNvPr id="4" name="Image 0" descr="D:/Iniciação Cientifica/Projeto_IVS_Censo22/.claude/worktrees/hopeful-mclean-e9914e/banco_de_dados/eda/figuras/matriz_correl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7315200" cy="31455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0" y="1600200"/>
            <a:ext cx="3703320" cy="4480560"/>
          </a:xfrm>
          <a:prstGeom prst="roundRect">
            <a:avLst>
              <a:gd name="adj" fmla="val 1728"/>
            </a:avLst>
          </a:prstGeom>
          <a:solidFill>
            <a:srgbClr val="0E3A4F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3"/>
          <p:cNvSpPr/>
          <p:nvPr/>
        </p:nvSpPr>
        <p:spPr>
          <a:xfrm>
            <a:off x="8229600" y="1737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PARES-CHAVE (SPEARMAN)</a:t>
            </a:r>
            <a:endParaRPr lang="pt-BR" sz="1200" noProof="0" dirty="0"/>
          </a:p>
        </p:txBody>
      </p:sp>
      <p:sp>
        <p:nvSpPr>
          <p:cNvPr id="7" name="Text 4"/>
          <p:cNvSpPr/>
          <p:nvPr/>
        </p:nvSpPr>
        <p:spPr>
          <a:xfrm>
            <a:off x="8229600" y="21031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−0,81</a:t>
            </a:r>
            <a:endParaRPr lang="pt-BR" sz="1600" noProof="0" dirty="0"/>
          </a:p>
        </p:txBody>
      </p:sp>
      <p:sp>
        <p:nvSpPr>
          <p:cNvPr id="8" name="Text 5"/>
          <p:cNvSpPr/>
          <p:nvPr/>
        </p:nvSpPr>
        <p:spPr>
          <a:xfrm>
            <a:off x="928116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× raça/cor (PPI)</a:t>
            </a:r>
            <a:endParaRPr lang="pt-BR" sz="1150" noProof="0" dirty="0"/>
          </a:p>
        </p:txBody>
      </p:sp>
      <p:sp>
        <p:nvSpPr>
          <p:cNvPr id="9" name="Text 6"/>
          <p:cNvSpPr/>
          <p:nvPr/>
        </p:nvSpPr>
        <p:spPr>
          <a:xfrm>
            <a:off x="8229600" y="257860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−0,75</a:t>
            </a:r>
            <a:endParaRPr lang="pt-BR" sz="1600" noProof="0" dirty="0"/>
          </a:p>
        </p:txBody>
      </p:sp>
      <p:sp>
        <p:nvSpPr>
          <p:cNvPr id="10" name="Text 7"/>
          <p:cNvSpPr/>
          <p:nvPr/>
        </p:nvSpPr>
        <p:spPr>
          <a:xfrm>
            <a:off x="9281160" y="2578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analfabetismo × renda</a:t>
            </a:r>
            <a:endParaRPr lang="pt-BR" sz="1150" noProof="0" dirty="0"/>
          </a:p>
        </p:txBody>
      </p:sp>
      <p:sp>
        <p:nvSpPr>
          <p:cNvPr id="11" name="Text 8"/>
          <p:cNvSpPr/>
          <p:nvPr/>
        </p:nvSpPr>
        <p:spPr>
          <a:xfrm>
            <a:off x="8229600" y="3054096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+0,62</a:t>
            </a:r>
            <a:endParaRPr lang="pt-BR" sz="1600" noProof="0" dirty="0"/>
          </a:p>
        </p:txBody>
      </p:sp>
      <p:sp>
        <p:nvSpPr>
          <p:cNvPr id="12" name="Text 9"/>
          <p:cNvSpPr/>
          <p:nvPr/>
        </p:nvSpPr>
        <p:spPr>
          <a:xfrm>
            <a:off x="9281160" y="305409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analfabetismo × raça/cor</a:t>
            </a:r>
            <a:endParaRPr lang="pt-BR" sz="1150" noProof="0" dirty="0"/>
          </a:p>
        </p:txBody>
      </p:sp>
      <p:sp>
        <p:nvSpPr>
          <p:cNvPr id="13" name="Text 10"/>
          <p:cNvSpPr/>
          <p:nvPr/>
        </p:nvSpPr>
        <p:spPr>
          <a:xfrm>
            <a:off x="8229600" y="352958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+0,45</a:t>
            </a:r>
            <a:endParaRPr lang="pt-BR" sz="1600" noProof="0" dirty="0"/>
          </a:p>
        </p:txBody>
      </p:sp>
      <p:sp>
        <p:nvSpPr>
          <p:cNvPr id="14" name="Text 11"/>
          <p:cNvSpPr/>
          <p:nvPr/>
        </p:nvSpPr>
        <p:spPr>
          <a:xfrm>
            <a:off x="9281160" y="352958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esgoto × analfabetismo</a:t>
            </a:r>
            <a:endParaRPr lang="pt-BR" sz="1150" noProof="0" dirty="0"/>
          </a:p>
        </p:txBody>
      </p:sp>
      <p:sp>
        <p:nvSpPr>
          <p:cNvPr id="15" name="Text 12"/>
          <p:cNvSpPr/>
          <p:nvPr/>
        </p:nvSpPr>
        <p:spPr>
          <a:xfrm>
            <a:off x="8229600" y="400507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+0,45</a:t>
            </a:r>
            <a:endParaRPr lang="pt-BR" sz="1600" noProof="0" dirty="0"/>
          </a:p>
        </p:txBody>
      </p:sp>
      <p:sp>
        <p:nvSpPr>
          <p:cNvPr id="16" name="Text 13"/>
          <p:cNvSpPr/>
          <p:nvPr/>
        </p:nvSpPr>
        <p:spPr>
          <a:xfrm>
            <a:off x="9281160" y="40050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 × esgoto</a:t>
            </a:r>
            <a:endParaRPr lang="pt-BR" sz="1150" noProof="0" dirty="0"/>
          </a:p>
        </p:txBody>
      </p:sp>
      <p:sp>
        <p:nvSpPr>
          <p:cNvPr id="17" name="Text 14"/>
          <p:cNvSpPr/>
          <p:nvPr/>
        </p:nvSpPr>
        <p:spPr>
          <a:xfrm>
            <a:off x="8229600" y="448056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−0,04</a:t>
            </a:r>
            <a:endParaRPr lang="pt-BR" sz="1600" noProof="0" dirty="0"/>
          </a:p>
        </p:txBody>
      </p:sp>
      <p:sp>
        <p:nvSpPr>
          <p:cNvPr id="18" name="Text 15"/>
          <p:cNvSpPr/>
          <p:nvPr/>
        </p:nvSpPr>
        <p:spPr>
          <a:xfrm>
            <a:off x="9281160" y="4480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lixo × razão (quase nula)</a:t>
            </a:r>
            <a:endParaRPr lang="pt-BR" sz="1150" noProof="0" dirty="0"/>
          </a:p>
        </p:txBody>
      </p:sp>
      <p:sp>
        <p:nvSpPr>
          <p:cNvPr id="19" name="Shape 16"/>
          <p:cNvSpPr/>
          <p:nvPr/>
        </p:nvSpPr>
        <p:spPr>
          <a:xfrm>
            <a:off x="502920" y="4983480"/>
            <a:ext cx="7315200" cy="1234440"/>
          </a:xfrm>
          <a:prstGeom prst="roundRect">
            <a:avLst>
              <a:gd name="adj" fmla="val 5185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7"/>
          <p:cNvSpPr/>
          <p:nvPr/>
        </p:nvSpPr>
        <p:spPr>
          <a:xfrm>
            <a:off x="731520" y="5074920"/>
            <a:ext cx="6903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50" b="1" noProof="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</a:t>
            </a:r>
            <a:r>
              <a:rPr lang="pt-BR" sz="1150" b="1" noProof="0" dirty="0" err="1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</a:t>
            </a:r>
            <a:r>
              <a:rPr lang="pt-BR" sz="1150" b="1" noProof="0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</a:t>
            </a: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variáveis são fortemente assimétricas (não-normais); a correlação de postos é mais robusta que Pearson para subsidiar a análise fatorial (Matos &amp; Rodrigues, 2019). As correlações ficaram idênticas às da versão V01042 — a revisão de denominador não alterou a estrutura de associação.</a:t>
            </a:r>
            <a:endParaRPr lang="pt-BR" sz="1150" noProof="0" dirty="0"/>
          </a:p>
        </p:txBody>
      </p:sp>
      <p:sp>
        <p:nvSpPr>
          <p:cNvPr id="21" name="Text 18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r>
              <a:rPr lang="pt-BR" sz="90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Correlações</a:t>
            </a:r>
            <a:endParaRPr lang="pt-BR" sz="900" noProof="0" dirty="0"/>
          </a:p>
        </p:txBody>
      </p:sp>
      <p:sp>
        <p:nvSpPr>
          <p:cNvPr id="22" name="Text 19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ESTRUTURA LATENTE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Dois fatores plausíveis para o IVS</a:t>
            </a:r>
            <a:endParaRPr lang="pt-BR" sz="27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50" i="1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de correlação antecipa a análise fatorial do próximo notebook.</a:t>
            </a:r>
            <a:endParaRPr lang="pt-BR" sz="135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86400" cy="2743200"/>
          </a:xfrm>
          <a:prstGeom prst="roundRect">
            <a:avLst>
              <a:gd name="adj" fmla="val 2333"/>
            </a:avLst>
          </a:prstGeom>
          <a:solidFill>
            <a:srgbClr val="EAF3F1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09728" cy="2743200"/>
          </a:xfrm>
          <a:prstGeom prst="rect">
            <a:avLst/>
          </a:prstGeom>
          <a:solidFill>
            <a:srgbClr val="3BA39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938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253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FATOR 1 — SOCIOECONÔMICO (dominante)</a:t>
            </a:r>
            <a:endParaRPr lang="pt-BR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20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(invertida), analfabetismo, raça/cor (PPI) e razão de moradores.</a:t>
            </a:r>
            <a:endParaRPr lang="pt-BR" sz="1200" noProof="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20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Triângulo mais forte: renda × PPI (−0,81), renda × </a:t>
            </a:r>
            <a:r>
              <a:rPr lang="pt-BR" sz="1200" noProof="0" dirty="0" err="1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analfab</a:t>
            </a:r>
            <a:r>
              <a:rPr lang="pt-BR" sz="120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(−0,75), </a:t>
            </a:r>
            <a:r>
              <a:rPr lang="pt-BR" sz="1200" noProof="0" dirty="0" err="1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analfab</a:t>
            </a:r>
            <a:r>
              <a:rPr lang="pt-BR" sz="120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PPI (+0,62).</a:t>
            </a:r>
            <a:endParaRPr lang="pt-BR" sz="1200" noProof="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20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 raça/cor como proxy de vulnerabilidade estrutural (</a:t>
            </a:r>
            <a:r>
              <a:rPr lang="pt-BR" sz="1200" noProof="0" dirty="0" err="1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Caiaffa</a:t>
            </a:r>
            <a:r>
              <a:rPr lang="pt-BR" sz="120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2021; Buss &amp; Pellegrini, 2007).</a:t>
            </a:r>
            <a:endParaRPr lang="pt-B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440680" cy="2743200"/>
          </a:xfrm>
          <a:prstGeom prst="roundRect">
            <a:avLst>
              <a:gd name="adj" fmla="val 2333"/>
            </a:avLst>
          </a:prstGeom>
          <a:solidFill>
            <a:srgbClr val="EDF3F6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109728" cy="2743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6537960" y="1938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FATOR 2 — SANEAMENTO (secundário)</a:t>
            </a:r>
            <a:endParaRPr lang="pt-BR" sz="1300" noProof="0" dirty="0"/>
          </a:p>
        </p:txBody>
      </p:sp>
      <p:sp>
        <p:nvSpPr>
          <p:cNvPr id="12" name="Text 10"/>
          <p:cNvSpPr/>
          <p:nvPr/>
        </p:nvSpPr>
        <p:spPr>
          <a:xfrm>
            <a:off x="6537960" y="233172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20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Água, esgoto e lixo — bloco coerente, mas com correlações internas modestas (0,14–0,45).</a:t>
            </a:r>
            <a:endParaRPr lang="pt-BR" sz="1200" noProof="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20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Lixo é o componente mais autônomo (correlações &lt; 0,21): traz informação distinta.</a:t>
            </a:r>
            <a:endParaRPr lang="pt-BR" sz="1200" noProof="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pt-BR" sz="120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esperado menor que o Fator 1 — coerente com a divisão ~60/40 do IVS-BH.</a:t>
            </a:r>
            <a:endParaRPr lang="pt-BR" sz="1200" noProof="0" dirty="0"/>
          </a:p>
        </p:txBody>
      </p:sp>
      <p:sp>
        <p:nvSpPr>
          <p:cNvPr id="13" name="Shape 11"/>
          <p:cNvSpPr/>
          <p:nvPr/>
        </p:nvSpPr>
        <p:spPr>
          <a:xfrm>
            <a:off x="502920" y="4754880"/>
            <a:ext cx="11201400" cy="1417320"/>
          </a:xfrm>
          <a:prstGeom prst="roundRect">
            <a:avLst>
              <a:gd name="adj" fmla="val 4516"/>
            </a:avLst>
          </a:prstGeom>
          <a:solidFill>
            <a:srgbClr val="0E3A4F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731520" y="4864608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3B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 </a:t>
            </a:r>
            <a:r>
              <a:rPr lang="pt-BR" sz="1200" noProof="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a análise fatorial / ACP sobre a matriz de </a:t>
            </a:r>
            <a:r>
              <a:rPr lang="pt-BR" sz="1200" noProof="0" dirty="0" err="1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</a:t>
            </a:r>
            <a:r>
              <a:rPr lang="pt-BR" sz="1200" noProof="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verificando KMO e o teste de esfericidade de Bartlett antes da rotação; decidir entre 1 ou 2 fatores e extrair os pesos. Critério dos pesos a definir: empíricos (fatorial) ou guiados pela literatura (~60% socioeconômico / 40% saneamento, IVS-BH 2012).</a:t>
            </a:r>
            <a:endParaRPr lang="pt-BR" sz="1200" noProof="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r>
              <a:rPr lang="pt-BR" sz="90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Fatorial</a:t>
            </a:r>
            <a:endParaRPr lang="pt-BR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RASTREABILIDADE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Cada decisão ancorada na literatura</a:t>
            </a:r>
            <a:endParaRPr lang="pt-BR" sz="2700" noProof="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861515"/>
              </p:ext>
            </p:extLst>
          </p:nvPr>
        </p:nvGraphicFramePr>
        <p:xfrm>
          <a:off x="502920" y="1645920"/>
          <a:ext cx="11201400" cy="4279392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Decisão metodológica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Justificativa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Referência</a:t>
                      </a:r>
                      <a:endParaRPr lang="pt-BR" sz="11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Denominador V00001 (não V01042)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 ao V002 do Censo 2010, denominador-padrão de domicílios; valida-se empiricamente (0 proporções &gt; 1)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SMS-BH (2013)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analfabetismo /(V00900+V00901)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Denominador = total de pessoas 15+; mantém a taxa em [0,1]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Definição IBGE / Censo 2022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 e IQR (não média/DP)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Distribuições assimétricas e zero-infladas; média é puxada pelos bolsões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 err="1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Tukey</a:t>
                      </a:r>
                      <a:r>
                        <a:rPr lang="pt-BR" sz="10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(1977)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Preservar outliers de saneamento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São os bolsões de vulnerabilidade — objeto do estudo, não ruído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 err="1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Tukey</a:t>
                      </a:r>
                      <a:r>
                        <a:rPr lang="pt-BR" sz="10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(1977)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Correlação de </a:t>
                      </a:r>
                      <a:r>
                        <a:rPr lang="pt-BR" sz="1050" b="1" noProof="0" dirty="0" err="1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</a:t>
                      </a:r>
                      <a:r>
                        <a:rPr lang="pt-BR" sz="10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p/ fatorial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Robusta à não-normalidade das variáveis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Matos &amp; Rodrigues (2019)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Normalização da renda por município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 desigualdade intraurbana (centro-periferia); global comprime a variação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Passarelli-Araujo (2023)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Raça/cor como proxy de vulnerabilidade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Determinante social estrutural; correlação −0,81 com renda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 err="1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Caiaffa</a:t>
                      </a:r>
                      <a:r>
                        <a:rPr lang="pt-BR" sz="10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(2021); Buss &amp; Pellegrini (2007)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0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Pesos ~60% </a:t>
                      </a:r>
                      <a:r>
                        <a:rPr lang="pt-BR" sz="1050" b="1" noProof="0" dirty="0" err="1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socioec</a:t>
                      </a:r>
                      <a:r>
                        <a:rPr lang="pt-BR" sz="1050" b="1" noProof="0" dirty="0">
                          <a:solidFill>
                            <a:srgbClr val="0E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/ 40% saneamento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Estrutura de 2 dimensões herdada do índice de referência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noProof="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SMS-BH (2013)</a:t>
                      </a:r>
                      <a:endParaRPr lang="pt-BR" sz="10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r>
              <a:rPr lang="pt-BR" sz="90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Literatura</a:t>
            </a:r>
            <a:endParaRPr lang="pt-BR" sz="900" noProof="0" dirty="0"/>
          </a:p>
        </p:txBody>
      </p:sp>
      <p:sp>
        <p:nvSpPr>
          <p:cNvPr id="6" name="Text 3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LIMITAÇÕES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vigiar antes do índice</a:t>
            </a:r>
            <a:endParaRPr lang="pt-BR" sz="27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91440" cy="1280160"/>
          </a:xfrm>
          <a:prstGeom prst="rect">
            <a:avLst/>
          </a:prstGeom>
          <a:solidFill>
            <a:srgbClr val="E08A3C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58952" y="19019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Sigilo no analfabetismo (15,8%)</a:t>
            </a:r>
            <a:endParaRPr lang="pt-BR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758952" y="22402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do IBGE; concentra-se em grandes cidades → viés. Mitigar com mediana municipal.</a:t>
            </a:r>
            <a:endParaRPr lang="pt-BR" sz="1150" noProof="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91440" cy="1280160"/>
          </a:xfrm>
          <a:prstGeom prst="rect">
            <a:avLst/>
          </a:prstGeom>
          <a:solidFill>
            <a:srgbClr val="B5523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28232" y="19019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Variáveis de esgoto a confirmar</a:t>
            </a:r>
            <a:endParaRPr lang="pt-BR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6428232" y="22402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V00312–V00316 (adotado) </a:t>
            </a:r>
            <a:r>
              <a:rPr lang="pt-BR" sz="1150" noProof="0" dirty="0" err="1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V00249–V00253: numerador pendente de validação no dicionário oficial.</a:t>
            </a:r>
            <a:endParaRPr lang="pt-BR" sz="1150" noProof="0" dirty="0"/>
          </a:p>
        </p:txBody>
      </p:sp>
      <p:sp>
        <p:nvSpPr>
          <p:cNvPr id="12" name="Shape 10"/>
          <p:cNvSpPr/>
          <p:nvPr/>
        </p:nvSpPr>
        <p:spPr>
          <a:xfrm>
            <a:off x="502920" y="320040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11"/>
          <p:cNvSpPr/>
          <p:nvPr/>
        </p:nvSpPr>
        <p:spPr>
          <a:xfrm>
            <a:off x="502920" y="3200400"/>
            <a:ext cx="91440" cy="12801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758952" y="33192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Renda ainda em escala global</a:t>
            </a:r>
            <a:endParaRPr lang="pt-BR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758952" y="36576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por município fica para o Notebook 03 (cálculo do índice).</a:t>
            </a:r>
            <a:endParaRPr lang="pt-BR" sz="1150" noProof="0" dirty="0"/>
          </a:p>
        </p:txBody>
      </p:sp>
      <p:sp>
        <p:nvSpPr>
          <p:cNvPr id="16" name="Shape 14"/>
          <p:cNvSpPr/>
          <p:nvPr/>
        </p:nvSpPr>
        <p:spPr>
          <a:xfrm>
            <a:off x="6172200" y="320040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Shape 15"/>
          <p:cNvSpPr/>
          <p:nvPr/>
        </p:nvSpPr>
        <p:spPr>
          <a:xfrm>
            <a:off x="6172200" y="3200400"/>
            <a:ext cx="91440" cy="1280160"/>
          </a:xfrm>
          <a:prstGeom prst="rect">
            <a:avLst/>
          </a:prstGeom>
          <a:solidFill>
            <a:srgbClr val="E08A3C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6428232" y="33192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Salto/SP atípico em lixo (96,4%)</a:t>
            </a:r>
            <a:endParaRPr lang="pt-BR" sz="1300" noProof="0" dirty="0"/>
          </a:p>
        </p:txBody>
      </p:sp>
      <p:sp>
        <p:nvSpPr>
          <p:cNvPr id="19" name="Text 17"/>
          <p:cNvSpPr/>
          <p:nvPr/>
        </p:nvSpPr>
        <p:spPr>
          <a:xfrm>
            <a:off x="6428232" y="36576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Possível erro de classificação categórica — checar.</a:t>
            </a:r>
            <a:endParaRPr lang="pt-BR" sz="1150" noProof="0" dirty="0"/>
          </a:p>
        </p:txBody>
      </p:sp>
      <p:sp>
        <p:nvSpPr>
          <p:cNvPr id="20" name="Shape 18"/>
          <p:cNvSpPr/>
          <p:nvPr/>
        </p:nvSpPr>
        <p:spPr>
          <a:xfrm>
            <a:off x="502920" y="461772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Shape 19"/>
          <p:cNvSpPr/>
          <p:nvPr/>
        </p:nvSpPr>
        <p:spPr>
          <a:xfrm>
            <a:off x="502920" y="4617720"/>
            <a:ext cx="91440" cy="1280160"/>
          </a:xfrm>
          <a:prstGeom prst="rect">
            <a:avLst/>
          </a:prstGeom>
          <a:solidFill>
            <a:srgbClr val="5C6B7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758952" y="4736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Falácia ecológica</a:t>
            </a:r>
            <a:endParaRPr lang="pt-BR" sz="1300" noProof="0" dirty="0"/>
          </a:p>
        </p:txBody>
      </p:sp>
      <p:sp>
        <p:nvSpPr>
          <p:cNvPr id="23" name="Text 21"/>
          <p:cNvSpPr/>
          <p:nvPr/>
        </p:nvSpPr>
        <p:spPr>
          <a:xfrm>
            <a:off x="758952" y="50749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Inerente ao desenho; associações no nível do setor não valem para indivíduos. Declarar na discussão.</a:t>
            </a:r>
            <a:endParaRPr lang="pt-BR" sz="1150" noProof="0" dirty="0"/>
          </a:p>
        </p:txBody>
      </p:sp>
      <p:sp>
        <p:nvSpPr>
          <p:cNvPr id="24" name="Shape 22"/>
          <p:cNvSpPr/>
          <p:nvPr/>
        </p:nvSpPr>
        <p:spPr>
          <a:xfrm>
            <a:off x="6172200" y="461772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Shape 23"/>
          <p:cNvSpPr/>
          <p:nvPr/>
        </p:nvSpPr>
        <p:spPr>
          <a:xfrm>
            <a:off x="6172200" y="4617720"/>
            <a:ext cx="91440" cy="12801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Text 24"/>
          <p:cNvSpPr/>
          <p:nvPr/>
        </p:nvSpPr>
        <p:spPr>
          <a:xfrm>
            <a:off x="6428232" y="4736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Regra COLETIVO inativa (0 setores)</a:t>
            </a:r>
            <a:endParaRPr lang="pt-BR" sz="1300" noProof="0" dirty="0"/>
          </a:p>
        </p:txBody>
      </p:sp>
      <p:sp>
        <p:nvSpPr>
          <p:cNvPr id="27" name="Text 25"/>
          <p:cNvSpPr/>
          <p:nvPr/>
        </p:nvSpPr>
        <p:spPr>
          <a:xfrm>
            <a:off x="6428232" y="50749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que nenhum setor 100% coletivo entra como OK indevidamente.</a:t>
            </a:r>
            <a:endParaRPr lang="pt-BR" sz="1150" noProof="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r>
              <a:rPr lang="pt-BR" sz="90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Limitações</a:t>
            </a:r>
            <a:endParaRPr lang="pt-BR" sz="900" noProof="0" dirty="0"/>
          </a:p>
        </p:txBody>
      </p:sp>
      <p:sp>
        <p:nvSpPr>
          <p:cNvPr id="29" name="Text 27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ROTEIRO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 EDA ao IVS final</a:t>
            </a:r>
            <a:endParaRPr lang="pt-BR" sz="27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2148840" cy="3291840"/>
          </a:xfrm>
          <a:prstGeom prst="roundRect">
            <a:avLst>
              <a:gd name="adj" fmla="val 2979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1280160" y="2121408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280160" y="21214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pt-BR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667512" y="2880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25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Padronização por município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667512" y="361188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t-BR" sz="10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min-</a:t>
            </a:r>
            <a:r>
              <a:rPr lang="pt-BR" sz="1050" noProof="0" dirty="0" err="1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r>
              <a:rPr lang="pt-BR" sz="10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7 variáveis (renda invertida), por município — não global.</a:t>
            </a:r>
            <a:endParaRPr lang="pt-BR" sz="1050" noProof="0" dirty="0"/>
          </a:p>
        </p:txBody>
      </p:sp>
      <p:sp>
        <p:nvSpPr>
          <p:cNvPr id="9" name="Shape 7"/>
          <p:cNvSpPr/>
          <p:nvPr/>
        </p:nvSpPr>
        <p:spPr>
          <a:xfrm>
            <a:off x="2770632" y="1920240"/>
            <a:ext cx="2148840" cy="3291840"/>
          </a:xfrm>
          <a:prstGeom prst="roundRect">
            <a:avLst>
              <a:gd name="adj" fmla="val 2979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3547872" y="2121408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3547872" y="21214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pt-BR" sz="1800" noProof="0" dirty="0"/>
          </a:p>
        </p:txBody>
      </p:sp>
      <p:sp>
        <p:nvSpPr>
          <p:cNvPr id="12" name="Text 10"/>
          <p:cNvSpPr/>
          <p:nvPr/>
        </p:nvSpPr>
        <p:spPr>
          <a:xfrm>
            <a:off x="2935224" y="2880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25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 fatorial / ACP</a:t>
            </a:r>
            <a:endParaRPr lang="pt-BR" sz="1250" noProof="0" dirty="0"/>
          </a:p>
        </p:txBody>
      </p:sp>
      <p:sp>
        <p:nvSpPr>
          <p:cNvPr id="13" name="Text 11"/>
          <p:cNvSpPr/>
          <p:nvPr/>
        </p:nvSpPr>
        <p:spPr>
          <a:xfrm>
            <a:off x="2935224" y="361188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t-BR" sz="10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</a:t>
            </a:r>
            <a:r>
              <a:rPr lang="pt-BR" sz="1050" noProof="0" dirty="0" err="1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</a:t>
            </a:r>
            <a:r>
              <a:rPr lang="pt-BR" sz="10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KMO + Bartlett; 1 ou 2 fatores; extrair os pesos.</a:t>
            </a:r>
            <a:endParaRPr lang="pt-BR" sz="1050" noProof="0" dirty="0"/>
          </a:p>
        </p:txBody>
      </p:sp>
      <p:sp>
        <p:nvSpPr>
          <p:cNvPr id="14" name="Shape 12"/>
          <p:cNvSpPr/>
          <p:nvPr/>
        </p:nvSpPr>
        <p:spPr>
          <a:xfrm>
            <a:off x="5038344" y="1920240"/>
            <a:ext cx="2148840" cy="3291840"/>
          </a:xfrm>
          <a:prstGeom prst="roundRect">
            <a:avLst>
              <a:gd name="adj" fmla="val 2979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5815584" y="2121408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5815584" y="21214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pt-BR" sz="1800" noProof="0" dirty="0"/>
          </a:p>
        </p:txBody>
      </p:sp>
      <p:sp>
        <p:nvSpPr>
          <p:cNvPr id="17" name="Text 15"/>
          <p:cNvSpPr/>
          <p:nvPr/>
        </p:nvSpPr>
        <p:spPr>
          <a:xfrm>
            <a:off x="5202936" y="2880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25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Cálculo do IVS + faixas</a:t>
            </a:r>
            <a:endParaRPr lang="pt-BR" sz="1250" noProof="0" dirty="0"/>
          </a:p>
        </p:txBody>
      </p:sp>
      <p:sp>
        <p:nvSpPr>
          <p:cNvPr id="18" name="Text 16"/>
          <p:cNvSpPr/>
          <p:nvPr/>
        </p:nvSpPr>
        <p:spPr>
          <a:xfrm>
            <a:off x="5202936" y="361188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t-BR" sz="10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ponderada; categorizar em 4 faixas (Baixo/Médio/Elevado/Muito Elevado).</a:t>
            </a:r>
            <a:endParaRPr lang="pt-BR" sz="1050" noProof="0" dirty="0"/>
          </a:p>
        </p:txBody>
      </p:sp>
      <p:sp>
        <p:nvSpPr>
          <p:cNvPr id="19" name="Shape 17"/>
          <p:cNvSpPr/>
          <p:nvPr/>
        </p:nvSpPr>
        <p:spPr>
          <a:xfrm>
            <a:off x="7306056" y="1920240"/>
            <a:ext cx="2148840" cy="3291840"/>
          </a:xfrm>
          <a:prstGeom prst="roundRect">
            <a:avLst>
              <a:gd name="adj" fmla="val 2979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8083296" y="2121408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8083296" y="21214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pt-BR" sz="1800" noProof="0" dirty="0"/>
          </a:p>
        </p:txBody>
      </p:sp>
      <p:sp>
        <p:nvSpPr>
          <p:cNvPr id="22" name="Text 20"/>
          <p:cNvSpPr/>
          <p:nvPr/>
        </p:nvSpPr>
        <p:spPr>
          <a:xfrm>
            <a:off x="7470648" y="2880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25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Geoprocessamento (QGIS)</a:t>
            </a:r>
            <a:endParaRPr lang="pt-BR" sz="1250" noProof="0" dirty="0"/>
          </a:p>
        </p:txBody>
      </p:sp>
      <p:sp>
        <p:nvSpPr>
          <p:cNvPr id="23" name="Text 21"/>
          <p:cNvSpPr/>
          <p:nvPr/>
        </p:nvSpPr>
        <p:spPr>
          <a:xfrm>
            <a:off x="7470648" y="361188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t-BR" sz="10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com a malha de setores; mapas temáticos por município.</a:t>
            </a:r>
            <a:endParaRPr lang="pt-BR" sz="1050" noProof="0" dirty="0"/>
          </a:p>
        </p:txBody>
      </p:sp>
      <p:sp>
        <p:nvSpPr>
          <p:cNvPr id="24" name="Shape 22"/>
          <p:cNvSpPr/>
          <p:nvPr/>
        </p:nvSpPr>
        <p:spPr>
          <a:xfrm>
            <a:off x="9573768" y="1920240"/>
            <a:ext cx="2148840" cy="3291840"/>
          </a:xfrm>
          <a:prstGeom prst="roundRect">
            <a:avLst>
              <a:gd name="adj" fmla="val 2979"/>
            </a:avLst>
          </a:prstGeom>
          <a:solidFill>
            <a:srgbClr val="F2F6F8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Shape 23"/>
          <p:cNvSpPr/>
          <p:nvPr/>
        </p:nvSpPr>
        <p:spPr>
          <a:xfrm>
            <a:off x="10351008" y="2121408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Text 24"/>
          <p:cNvSpPr/>
          <p:nvPr/>
        </p:nvSpPr>
        <p:spPr>
          <a:xfrm>
            <a:off x="10351008" y="21214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pt-BR" sz="1800" noProof="0" dirty="0"/>
          </a:p>
        </p:txBody>
      </p:sp>
      <p:sp>
        <p:nvSpPr>
          <p:cNvPr id="27" name="Text 25"/>
          <p:cNvSpPr/>
          <p:nvPr/>
        </p:nvSpPr>
        <p:spPr>
          <a:xfrm>
            <a:off x="9738360" y="2880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25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Artigo científico</a:t>
            </a:r>
            <a:endParaRPr lang="pt-BR" sz="1250" noProof="0" dirty="0"/>
          </a:p>
        </p:txBody>
      </p:sp>
      <p:sp>
        <p:nvSpPr>
          <p:cNvPr id="28" name="Text 26"/>
          <p:cNvSpPr/>
          <p:nvPr/>
        </p:nvSpPr>
        <p:spPr>
          <a:xfrm>
            <a:off x="9738360" y="361188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t-BR" sz="10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1 e Figura 1 já prontas; preencher resultados e discussão (STROBE).</a:t>
            </a:r>
            <a:endParaRPr lang="pt-BR" sz="1050" noProof="0" dirty="0"/>
          </a:p>
        </p:txBody>
      </p:sp>
      <p:sp>
        <p:nvSpPr>
          <p:cNvPr id="29" name="Text 27"/>
          <p:cNvSpPr/>
          <p:nvPr/>
        </p:nvSpPr>
        <p:spPr>
          <a:xfrm>
            <a:off x="502920" y="55778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i="1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mensuráveis já entregues: filtro ELSI aplicado · base auditada · EDA completa e revisada (V00001). Próximo marco: Notebook 03.</a:t>
            </a:r>
            <a:endParaRPr lang="pt-BR" sz="1200" noProof="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r>
              <a:rPr lang="pt-BR" sz="90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Próximos passos</a:t>
            </a:r>
            <a:endParaRPr lang="pt-BR" sz="900" noProof="0" dirty="0"/>
          </a:p>
        </p:txBody>
      </p:sp>
      <p:sp>
        <p:nvSpPr>
          <p:cNvPr id="31" name="Text 29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0E3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bibliográfica das decisões</a:t>
            </a:r>
            <a:endParaRPr lang="pt-BR" sz="27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111556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pt-BR" sz="12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SMS-BH. Índice de Vulnerabilidade da Saúde 2012. Belo Horizonte: Secretaria Municipal de Saúde, 2013.</a:t>
            </a:r>
            <a:endParaRPr lang="pt-BR" sz="1250" noProof="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pt-BR" sz="12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PASSARELLI-ARAUJO, H. Mapeando as disparidades socioeconômicas de saúde urbana: estudo comparativo entre seis capitais brasileiras. Rev. Bras. Est. Pop., v. 40, 2023.</a:t>
            </a:r>
            <a:endParaRPr lang="pt-BR" sz="1250" noProof="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pt-BR" sz="12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CAIAFFA, W. T. et al. Saúde urbana, cidades e a interseção de sistemas. Rio de Janeiro: Fiocruz, 2021.</a:t>
            </a:r>
            <a:endParaRPr lang="pt-BR" sz="1250" noProof="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pt-BR" sz="12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BUSS, P. M.; PELLEGRINI FILHO, A. A saúde e seus determinantes sociais. </a:t>
            </a:r>
            <a:r>
              <a:rPr lang="pt-BR" sz="1250" noProof="0" dirty="0" err="1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Physis</a:t>
            </a:r>
            <a:r>
              <a:rPr lang="pt-BR" sz="12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v. 17, n. 1, p. 77–93, 2007.</a:t>
            </a:r>
            <a:endParaRPr lang="pt-BR" sz="1250" noProof="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pt-BR" sz="12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MATOS, D. A. S.; RODRIGUES, E. C. Análise fatorial. Brasília: Enap, 2019.</a:t>
            </a:r>
            <a:endParaRPr lang="pt-BR" sz="1250" noProof="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pt-BR" sz="12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TUKEY, J. W. </a:t>
            </a:r>
            <a:r>
              <a:rPr lang="pt-BR" sz="1250" noProof="0" dirty="0" err="1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r>
              <a:rPr lang="pt-BR" sz="12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</a:t>
            </a:r>
            <a:r>
              <a:rPr lang="pt-BR" sz="1250" noProof="0" dirty="0" err="1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r>
              <a:rPr lang="pt-BR" sz="12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Reading: Addison-Wesley, 1977.</a:t>
            </a:r>
            <a:endParaRPr lang="pt-BR" sz="1250" noProof="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pt-BR" sz="12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ALLIK, M. et al. </a:t>
            </a:r>
            <a:r>
              <a:rPr lang="pt-BR" sz="1250" noProof="0" dirty="0" err="1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</a:t>
            </a:r>
            <a:r>
              <a:rPr lang="pt-BR" sz="12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pt-BR" sz="1250" noProof="0" dirty="0" err="1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small-area</a:t>
            </a:r>
            <a:r>
              <a:rPr lang="pt-BR" sz="12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250" noProof="0" dirty="0" err="1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deprivation</a:t>
            </a:r>
            <a:r>
              <a:rPr lang="pt-BR" sz="12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250" noProof="0" dirty="0" err="1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r>
              <a:rPr lang="pt-BR" sz="12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</a:t>
            </a:r>
            <a:r>
              <a:rPr lang="pt-BR" sz="1250" noProof="0" dirty="0" err="1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</a:t>
            </a:r>
            <a:r>
              <a:rPr lang="pt-BR" sz="12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Glasgow: </a:t>
            </a:r>
            <a:r>
              <a:rPr lang="pt-BR" sz="1250" noProof="0" dirty="0" err="1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r>
              <a:rPr lang="pt-BR" sz="12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250" noProof="0" dirty="0" err="1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</a:t>
            </a:r>
            <a:r>
              <a:rPr lang="pt-BR" sz="12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Glasgow, 2020.</a:t>
            </a:r>
            <a:endParaRPr lang="pt-BR" sz="1250" noProof="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pt-BR" sz="1250" noProof="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IBGE. Censo Demográfico 2022 — Agregados por Setores Censitários. Rio de Janeiro: IBGE, 2022.</a:t>
            </a:r>
            <a:endParaRPr lang="pt-BR" sz="1250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58521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i="1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internas: docs/Relatorio_EDA_Fase3_IVS_ELSI.md · </a:t>
            </a:r>
            <a:r>
              <a:rPr lang="pt-BR" sz="1100" i="1" noProof="0" dirty="0" err="1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banco_de_dados</a:t>
            </a:r>
            <a:r>
              <a:rPr lang="pt-BR" sz="1100" i="1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pt-BR" sz="1100" i="1" noProof="0" dirty="0" err="1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r>
              <a:rPr lang="pt-BR" sz="1100" i="1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/*.</a:t>
            </a:r>
            <a:r>
              <a:rPr lang="pt-BR" sz="1100" i="1" noProof="0" dirty="0" err="1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r>
              <a:rPr lang="pt-BR" sz="1100" i="1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banco_de_dados/entrega_orientadora/README.md</a:t>
            </a:r>
            <a:endParaRPr lang="pt-BR" sz="1100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 intraurbano · Censo 2022 · ELSI-Brasil</a:t>
            </a:r>
            <a:r>
              <a:rPr lang="pt-BR" sz="90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Referências</a:t>
            </a:r>
            <a:endParaRPr lang="pt-BR" sz="900" noProof="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5C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3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08A3C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b="1" kern="0" spc="200" noProof="0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CONCLUSÃO</a:t>
            </a:r>
            <a:endParaRPr lang="pt-BR" sz="14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pt-BR" sz="3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sólida, reprodutível e agora</a:t>
            </a:r>
            <a:endParaRPr lang="pt-BR" sz="3200" noProof="0" dirty="0"/>
          </a:p>
          <a:p>
            <a:pPr marL="0" indent="0">
              <a:lnSpc>
                <a:spcPct val="98000"/>
              </a:lnSpc>
              <a:buNone/>
            </a:pPr>
            <a:r>
              <a:rPr lang="pt-BR" sz="3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metodologicamente correta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274320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12536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685800" y="29260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válida e auditada</a:t>
            </a:r>
            <a:endParaRPr lang="pt-B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685800" y="370332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106.281 setores OK dos 70 municípios ELSI; integridade verificada e testes passando.</a:t>
            </a:r>
            <a:endParaRPr lang="pt-BR" sz="1150" noProof="0" dirty="0"/>
          </a:p>
        </p:txBody>
      </p:sp>
      <p:sp>
        <p:nvSpPr>
          <p:cNvPr id="8" name="Shape 6"/>
          <p:cNvSpPr/>
          <p:nvPr/>
        </p:nvSpPr>
        <p:spPr>
          <a:xfrm>
            <a:off x="3310128" y="274320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12536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3493008" y="29260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Denominador corrigido</a:t>
            </a:r>
            <a:endParaRPr lang="pt-BR" sz="1400" noProof="0" dirty="0"/>
          </a:p>
        </p:txBody>
      </p:sp>
      <p:sp>
        <p:nvSpPr>
          <p:cNvPr id="10" name="Text 8"/>
          <p:cNvSpPr/>
          <p:nvPr/>
        </p:nvSpPr>
        <p:spPr>
          <a:xfrm>
            <a:off x="3493008" y="370332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V00001 (padrão IVS-BH) substitui o V01042; validação empírica = 0 proporções &gt; 1.</a:t>
            </a:r>
            <a:endParaRPr lang="pt-BR" sz="1150" noProof="0" dirty="0"/>
          </a:p>
        </p:txBody>
      </p:sp>
      <p:sp>
        <p:nvSpPr>
          <p:cNvPr id="11" name="Shape 9"/>
          <p:cNvSpPr/>
          <p:nvPr/>
        </p:nvSpPr>
        <p:spPr>
          <a:xfrm>
            <a:off x="6117336" y="274320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12536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6300216" y="29260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Estrutura para o índice</a:t>
            </a:r>
            <a:endParaRPr lang="pt-BR" sz="1400" noProof="0" dirty="0"/>
          </a:p>
        </p:txBody>
      </p:sp>
      <p:sp>
        <p:nvSpPr>
          <p:cNvPr id="13" name="Text 11"/>
          <p:cNvSpPr/>
          <p:nvPr/>
        </p:nvSpPr>
        <p:spPr>
          <a:xfrm>
            <a:off x="6300216" y="370332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dimensões plausíveis (socioeconômica + saneamento); correlações sustentam a fatorial.</a:t>
            </a:r>
            <a:endParaRPr lang="pt-BR" sz="1150" noProof="0" dirty="0"/>
          </a:p>
        </p:txBody>
      </p:sp>
      <p:sp>
        <p:nvSpPr>
          <p:cNvPr id="14" name="Shape 12"/>
          <p:cNvSpPr/>
          <p:nvPr/>
        </p:nvSpPr>
        <p:spPr>
          <a:xfrm>
            <a:off x="8924544" y="274320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12536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9107424" y="29260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3BA3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Padrão centro-periferia</a:t>
            </a:r>
            <a:endParaRPr lang="pt-BR" sz="1400" noProof="0" dirty="0"/>
          </a:p>
        </p:txBody>
      </p:sp>
      <p:sp>
        <p:nvSpPr>
          <p:cNvPr id="16" name="Text 14"/>
          <p:cNvSpPr/>
          <p:nvPr/>
        </p:nvSpPr>
        <p:spPr>
          <a:xfrm>
            <a:off x="9107424" y="370332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 </a:t>
            </a:r>
            <a:r>
              <a:rPr lang="pt-BR" sz="1150" noProof="0" dirty="0" err="1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Norte→Sul</a:t>
            </a:r>
            <a:r>
              <a:rPr lang="pt-BR" sz="1150" noProof="0" dirty="0">
                <a:solidFill>
                  <a:srgbClr val="EA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contrastes intraurbanos confirmam a hipótese do estudo.</a:t>
            </a:r>
            <a:endParaRPr lang="pt-BR" sz="1150" noProof="0" dirty="0"/>
          </a:p>
        </p:txBody>
      </p:sp>
      <p:sp>
        <p:nvSpPr>
          <p:cNvPr id="17" name="Text 15"/>
          <p:cNvSpPr/>
          <p:nvPr/>
        </p:nvSpPr>
        <p:spPr>
          <a:xfrm>
            <a:off x="502920" y="5532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C9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marco: Notebook 03 — normalização por município → análise fatorial → IVS final.</a:t>
            </a:r>
            <a:endParaRPr lang="pt-BR" sz="13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4719</TotalTime>
  <Words>3454</Words>
  <Application>Microsoft Office PowerPoint</Application>
  <PresentationFormat>Widescreen</PresentationFormat>
  <Paragraphs>516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Fase 3 — IVS Censo 2022 / ELSI</dc:title>
  <dc:subject>PptxGenJS Presentation</dc:subject>
  <dc:creator>Pedro Dias Soares</dc:creator>
  <cp:lastModifiedBy>PEDRO DIAS SOARES</cp:lastModifiedBy>
  <cp:revision>2</cp:revision>
  <dcterms:created xsi:type="dcterms:W3CDTF">2026-06-12T17:10:09Z</dcterms:created>
  <dcterms:modified xsi:type="dcterms:W3CDTF">2026-06-16T00:42:09Z</dcterms:modified>
</cp:coreProperties>
</file>