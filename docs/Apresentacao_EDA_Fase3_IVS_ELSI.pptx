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Vulnerabilidade à Saúde (IVS)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 2022 · 70 municípios do ELSI-Brasil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3657600" cy="0"/>
          </a:xfrm>
          <a:prstGeom prst="line">
            <a:avLst/>
          </a:prstGeom>
          <a:noFill/>
          <a:ln w="25400">
            <a:solidFill>
              <a:srgbClr val="C58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Científica · Fiocruz Minas — IRR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Coletiva · Saúde Urbana e Epidemiologia Espacial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maio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hoje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motivação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IVS, por que ELSI-Brasil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e variáveis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 do Censo, 7 variáveis do IVS, denominador V01042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 Fase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01 e 02 — o que cada um faz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4688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metodológico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Sigilo, separador decimal, classificação Dados_sig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das 7 variáveis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central, dispersão, forma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3375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regional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Norte → Sul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municipal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e bolsões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20624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 missing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remover; vieses de cobertura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444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correlações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3444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socioeconômico e eixo saneamento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0749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9516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e próximos passos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951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para o Notebook 03 (análise fatorial)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motivação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construir um IVS intraurbano para o ELSI-Brasil?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socioeconômico e o espaço urbano são determinantes centrais da saúde populacional. Indicadores compostos de vulnerabilidade — calculados ao nível do setor censitário — discriminam desigualdades no adoecer e morrer dentro de cada cidade.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 que este estudo preenche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IVS padronizado, atualizado com dados do Censo 2022, para o conjunto de municípios do ELSI-Brasil.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estudos disponíveis (IVS-BH 2012; ISU de Passarelli-Araujo, 2023) utilizaram dados de 2010 e cidades selecionadas.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IVS atualizado, o ELSI-Brasil tem capacidade limitada de investigar como o território molda a saúde dos idosos.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1463040"/>
            <a:ext cx="3931920" cy="128016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463040"/>
            <a:ext cx="9144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IVS-BH 2012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operacional adotada (SMS-BH, 2013)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926080"/>
            <a:ext cx="3931920" cy="128016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2926080"/>
            <a:ext cx="9144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3429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centro-periferia em 6 capitais (Passarelli-Araujo)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4389120"/>
            <a:ext cx="3931920" cy="128016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4389120"/>
            <a:ext cx="9144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ELSI-Brasil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municípios, adultos 50+ anos, desenho amostral por estratos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 exploratória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funções, conforme o guia FIOCRUZ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45720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a estrutura e qualidade dos dados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sigilo, tipo de cada variável, formatos.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45720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54480"/>
            <a:ext cx="457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4944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padrões e outliers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Bolsões de vulnerabilidade, valores extremos, distribuições bimodais.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45720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457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métricas descritivas adequadas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 IQR para variáveis assimétricas; média e DP para simétricas.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749040"/>
            <a:ext cx="457200" cy="1920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749040"/>
            <a:ext cx="457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4944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pressupostos antes da modelagem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Normalidade, linearidade, correlação — orientam a análise fatorial.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C58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EDA bem-feita, qualquer análise estatística posterior corre o risco de violar pressupostos e gerar resultados enganosos.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arquivos do Censo Demográfico 2022 — IBGE, agregados por setor censitário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2062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Variáveis-chave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+ população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CD_SETOR, NM_MUN, v0001, v0005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domicilio1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 habitacional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V00001, V00002, V00005, V00006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domicilio2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 (água, esgoto, lixo, banheiro)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V00112–V00118, V00312–V00316, V00398–V00402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V00900, V00901 (pop. 15+)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ou raça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Vulnerabilidade social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V01318, V01320, V01321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responsável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mensal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 (renda média)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demografia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Sobrecarga infantil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V01031–V01033 (pop. 0–14)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parentesco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lares reais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V01042 (responsáveis)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F4F6F8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~2,4 GB de CSVs brutos · 468.099 setores em todo o Brasil · 109.032 setores nos 70 municípios ELSI.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70 municípios do ELSI-Brasil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estratificada por porte populacional (Lavallée-Hidiroglou)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7432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33467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da Federação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1097280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23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" y="45354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geográficas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27432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1208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109.032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1520" y="5724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554480"/>
          <a:ext cx="795528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320040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MG, ES, RJ, 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MA, PI, CE, RN, PB, PE, AL, SE, 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PR, SC,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MS, MT, GO, 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AM, 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0" y="50292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estes 70?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657600" y="53492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amostral do ELSI-Brasil estratifica municípios em 4 grupos de tamanho populacional, com seleção em múltiplos estágios. A amostra final representa adultos de 50+ anos das áreas urbana e rural de portes pequeno, médio e grande.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variáveis-componente do IVS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Censo 2010 → Censo 2022 (IVS-BH 2012, SMS-BH 2013)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Numerador (Censo 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 a V00118 (7 var.)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V00312 a V00316 (5 var.)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V00398 a V00402 (5 var.)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moradores/domicílio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V00005 + V00006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 (direto)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invertido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pretos, pardos, indígenas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 + V01320 + V01321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vulnerab.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solidFill>
            <a:srgbClr val="FEF3C7"/>
          </a:solidFill>
          <a:ln w="9525">
            <a:solidFill>
              <a:srgbClr val="C58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dimensões de saneamento + 4 dimensões socioeconômicas. Direção semântica: maior valor = mais vulnerável. Renda é a única variável invertida — menor renda significa mais vulnerabilidade.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metodológica: por que V01042?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denominador dos indicadores de saneamento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denominador define o que cada percentual significa. Optamos por V01042 (Total de Responsáveis pelos domicílios) seguindo recomendação explícita do documento operacional do IVS-BH.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109728" cy="914400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"Conceito de domicílio coletivo é por leito e relações de parentesco. Por exemplo, um asilo com 60 moradores conta como 60 domicílios coletivos. (...) achamos melhor considerar o número de responsáveis como número total de domicílios do setor."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Cálculo IVS 2012, SMS Belo Horizonte (seção Tratamento dos dados)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dois candidatos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94760"/>
            <a:ext cx="539496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— Domicílios particulares permanentes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domicílios particulares permanentes.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coletivos (asilos, presídios) — relevante p/ saúde dos idosos.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pela Fase 1 da pipeline (legada).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794760"/>
            <a:ext cx="5394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— Total de Responsáveis (escolhido)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2519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domicílios coletivos (por leito, conforme IBGE).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 universo real de unidades habitacionais do setor.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textual do documento operacional do IVS-BH.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na pipeline do projeto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EDA com filtro ELSI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031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057400"/>
            <a:ext cx="548640" cy="5486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 do IBGE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(2,4 GB)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feito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80360" y="1828800"/>
            <a:ext cx="21031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05740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ELSI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feito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212080" y="1828800"/>
            <a:ext cx="210312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0574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+ correlações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VOCÊ ESTÁ AQUI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543800" y="1828800"/>
            <a:ext cx="21031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809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fatorial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+ IVS contínuo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próximo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4692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875520" y="1828800"/>
            <a:ext cx="21031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52760" y="2057400"/>
            <a:ext cx="548640" cy="5486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52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126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+ Artigo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1268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+ redação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1268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futuro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apresentação concentra-se na Fase 3. A análise fatorial (Notebook 03), os mapas e a redação do artigo são as próximas etapas.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 — Extração e Filtragem ELSI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 do Censo → 109k setores dos 70 municípios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notebook faz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dados/municipios_elsi_brasil.csv (70 municípios).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arquivo básico do Censo 2022 (~468k setores).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nomes (minúsculas, sem acento) e cruza por (UF + nome).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todos os 70 municípios foram localizados.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outros 7 arquivos do Censo em chunks de 100 mil linhas, filtrando por CD_SETOR.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 merge unificado por CD_SETOR.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 morfologia urbana predominante.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Audita: contagem de linhas, chave íntegra, sigilo preservado.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banco_de_dados/Base_ELSI_Bruta_Censo2022.csv (18 MB).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417320"/>
            <a:ext cx="4937760" cy="4297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50876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Filtro por chave composta (UF + nome)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df_basico[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'CD_UF'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df_basico[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'CD_SETOR'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].str[:2]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df_basico[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'NM_MUN_NORM'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df_basico[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'NM_MUN'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].map(normalize_name))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chaves_elsi =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df_elsi[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'chave_municipio'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df_elsi_filtrada = df_basico[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df_basico[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'chave_municipio'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].isin(chaves_elsi)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Leitura em chunks p/ economizar 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chunk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pd.read_csv(arq,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chunksize=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100_000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 = chunk[chunk[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'CD_SETOR'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].isin(setores_elsi)]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109.032 setores nos 70 municípios ELSI — 100% dos municípios localizados, chave íntegra, sigilo X preservado.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Análise exploratória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seções implementadas, ~30 segundos de execução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e carregamento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463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691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2232" y="1645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 tratamento de sigilo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1463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691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04304" y="1645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Dados_sig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34856" y="1463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72016" y="1691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201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66376" y="1645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das 7 proporções brutas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2788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globais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606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7872" y="2834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2232" y="2788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por município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2606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2834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04304" y="2788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por região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34856" y="2606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72016" y="2834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72016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66376" y="2788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0160" y="3931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por região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10712" y="3749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47872" y="3977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142232" y="3931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(regra IQR)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72784" y="3749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3977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994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04304" y="3931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missing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34856" y="3749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3977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7201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866376" y="3931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correlação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489204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51206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80160" y="50749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dos artefatos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produzidas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3152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CSVs (descritivas globais, por município, por região, outliers, missing, correlações, elegibilidade)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PNGs (histogramas, boxplots, mapa de missing, matriz de correlação)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do sigilo do IBGE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marcador X exige conversão antes de qualquer cálculo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IBGE marca dados como sigilosos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setores com poucos domicílios ou poucos indivíduos, divulgar um valor permitiria identificar pessoas. O IBGE substitui o valor pelo marcador X para preservar o anonimato.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fazemos no Notebook 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Convertemos X → NaN nas colunas numéricas.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propaga automaticamente nas operações estatísticas (.mean(), .median() ignoram).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cuja variável-base é sigilosa (v0001, V00001, V01042) ficam classificados como SIGILOSO e são EXCLUÍDOS da análise.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com sigilo parcial (em variáveis de cálculo) permanecem; o NaN propaga para o indicador final, sinalizando ausência de dado.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417320"/>
            <a:ext cx="4937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50876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do notebook 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COLS_TEXTO = 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'CD_SETOR'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'NM_MUN'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cols_num = [c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df.columns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COLS_TEXTO]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→ NaN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df[cols_num] = df[cols_num].replace(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conversão numérica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df[cols_num] = df[cols_num].apply(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pd.to_numeric,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conversão: sigilo "X" aparece como string. Depois: NaN propaga corretamente, sem falsos zeros nas estatísticas.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crítico: separador decimal em V06004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bug que escondia 98% da renda — e como descobrimos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renda_media com apenas 1.765 setores válidos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(98% supostamente "missing")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Aparente sigilo massivo do IBGE…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mas era PARSING falho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V06004 = '2453,03' (vírgula brasileira)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 devolvia NaN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94960" cy="22860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DEPOIS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renda_media com 106.262 setores válidos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(99,98% de cobertura)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plausíveis em reais: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R$ 2.546 · P25 R$ 1.735 · P75 R$ 4.755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Máximo: R$ 170.418 (setores nobres)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891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substitui vírgula por ponto ANTES de converter para numérico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df[cols_num] = df[cols_num].apply(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c: c.astype(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).str.replace(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regex=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df[cols_num] = df[cols_num].apply(pd.to_numeric,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metodológica: 98% de "missing" suspeito sempre exige investigação da origem dos dados — pode ser dado real, mas também pode ser bug de parsing. Sempre olhar uma amostra dos valores brutos antes de descartar variáveis.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Dados_sig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Decidindo quais setores entram nas análises (regras do IVS-BH 2012)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26517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variável-base (v0001, V00001, V01042) está sigilosa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1732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dos domicílios são coletivos (asilos, presídios)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1732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063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residente nula (v0001 = 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141732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41732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4400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97,48%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5440" y="3063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elegível para análise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64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61772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Cálculo de domicílios coletivos (metodologia oficial IVS-BH)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dom_col  = (df[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'V01042'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'V00001'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'V00002'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]).clip(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perc_col = np.where(df[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'V01042'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dom_col / 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'V01042'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'Dados_sig'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np.select([cond_sig, cond_col, cond_zerado], 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'SIGILOSO'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'COLETIVO'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'ZERADO'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'OK'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 de elegibilidade — taxa excelente, comparável à do IVS-BH original (97,3% em 2012). As análises a seguir consideram apenas os 106.281 setores OK.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das 7 proporções brutas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que usamos min_count=1 nas somas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sigilo virando zero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padrão, .sum() do pandas trata NaN como 0. Se TODAS as variáveis do numerador de um indicador estiverem sigilosas, NaN+NaN+...=0 — e o indicador apareceria como "0% inadequado" (falso!).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min_count=1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argumento exige pelo menos uma observação válida para retornar um valor. Se TUDO for NaN, o resultado é NaN — o sigilo propaga corretamente.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diferente da Fase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2 zerava o sigilo residual — apropriado para o cálculo do índice final, mas mascara dados faltantes na EDA. Para descritivas, o NaN é mais honesto.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492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08760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safe_div(num, den):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np.where(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(den &gt;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den.notna(),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 / den, np.nan)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agua_cols = 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'V00112'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'V00118'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df_ok[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'pct_agua_inad'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safe_div(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df_ok[agua_cols].sum(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min_count=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df_ok[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'V01042'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 0–1 para evitar proporções espúrias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df_ok[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'pct_agua_inad'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df_ok[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'pct_agua_inad'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].clip(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Descritivas globais das 7 variáveis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— guia FIOCRUZ (módulo 2, seções 3 e 4)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097280"/>
                <a:gridCol w="1188720"/>
                <a:gridCol w="1097280"/>
                <a:gridCol w="100584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pct_agua_inad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pct_esgoto_inad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pct_lixo_inad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razao_moradores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pct_analfab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renda_media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pct_raca_pretpardind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esta tabela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positiva alta (&gt;2): cauda longa à direita — bolsões de vulnerabilidade extrema. Use mediana, não média.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 alta (&gt;5): distribuição pontiaguda com valores muito extremos. Renda e analfabetismo são os casos mais marcados.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distribuição-a-distribuição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variáveis, sete histórias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pct_agua_inad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9080" y="14173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= 0; cauda longa. Coexistem norma urbana e bolsões extremos. CV de 268%.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75688"/>
            <a:ext cx="73152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75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pct_esgoto_inad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0756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padrão. 50% dos municípios têm &gt;0% mediano (problemas disseminados).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34056"/>
            <a:ext cx="73152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34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pct_lixo_inad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27340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mais alta (12,6%). Coleta inadequada é o saneamento menos coberto.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92424"/>
            <a:ext cx="73152" cy="56692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924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razao_moradores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9080" y="33924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simétrica. Mediana 2,71. Boa qualidade, baixa discriminação.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50792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50792"/>
            <a:ext cx="73152" cy="56692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507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pct_analfab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40507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2,9%. Curtose 44 — extremos no NE rural (Arara/PB 45%). Cobertura 84%.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09160"/>
            <a:ext cx="73152" cy="56692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091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renda_media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69080" y="47091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R$ 2.546 vs. média R$ 4.141. Assimetria +3,76. Máx R$ 170 mil.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6752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67528"/>
            <a:ext cx="73152" cy="566928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675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pct_raca_pretpardind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9080" y="53675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SIMÉTRICA. Mediana 57,6%. Curtose negativa = bem distribuída em [0,1].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— Histogramas das 7 variáveis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das distribuições (setores OK, 70 municípios ELSI)</a:t>
            </a:r>
            <a:endParaRPr lang="en-US" sz="1200" dirty="0"/>
          </a:p>
        </p:txBody>
      </p:sp>
      <p:pic>
        <p:nvPicPr>
          <p:cNvPr id="5" name="Image 0" descr="Histogramas das 7 variáveis-componente do IV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886968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as 3 primeiras (saneamento) e a 6ª (renda): picos esmagadores junto a zero e cauda extrema. A razão de moradores (4ª) é a única quase-Normal. Raça/cor (7ª) é a mais espalhada.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regional — medianas por região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histórico Norte → Sul, revisitado em 2022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188720"/>
                <a:gridCol w="1188720"/>
                <a:gridCol w="128016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leituras-chave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754880"/>
            <a:ext cx="5486400" cy="68580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754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11680" y="4754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a precariedade: pior água (20%), esgoto (8%), densidade (3,20).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4754880"/>
            <a:ext cx="5486400" cy="68580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4754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0" y="4754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renda (R$ 1.693) e pior analfabetismo (5,6%).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532120"/>
            <a:ext cx="5486400" cy="68580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532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11680" y="5532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renda (R$ 3.686) e menor PPI (22%).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5532120"/>
            <a:ext cx="5486400" cy="68580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5532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80960" y="5532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pontos % entre Norte e Sul em raça/cor — o maior gradiente regional.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— Boxplots por região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Centros, dispersão e outliers comparados (guia FIOCRUZ, seção 5.3)</a:t>
            </a:r>
            <a:endParaRPr lang="en-US" sz="1200" dirty="0"/>
          </a:p>
        </p:txBody>
      </p:sp>
      <p:pic>
        <p:nvPicPr>
          <p:cNvPr id="5" name="Image 0" descr="Boxplots das 7 variáveis por região geográf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94183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contraste Norte × Sul é dramático em todas as variáveis, especialmente raça/cor. Mas note as caudas longas do Sudeste em saneamento — periferias problemáticas mesmo numa região agregada bem-atendida.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municipal — top-5 piores em saneamento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os bolsões?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56616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Portel/PA — 98,9%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Placas/PA — 98,5%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Portel/PA — 99,2%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Placas/PA — 96,8%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Maria do Oeste/PR — 98,3%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Autazes/AM — 96,7%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Autazes/AM — 96,4%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Urandi/BA — 98,2%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Salto/SP — 96,4%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Coroaci/MG — 95,7%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Japoatã/SE — 98,2%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Placas/PA — 94,2%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Maria do Oeste/PR — 93,8%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Vicentinópolis/GO — 97,9%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R. do Doca Bezerra/MA — 91,4%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3566160" cy="15544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526280"/>
            <a:ext cx="91440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rural domina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Portel, Placas, Autazes (PA/AM) recorrentes em todos os 3 saneamentos.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4526280"/>
            <a:ext cx="3566160" cy="15544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4526280"/>
            <a:ext cx="91440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municípios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89120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Coroaci/MG, Santa Maria do Oeste/PR, Urandi/BA com inadequação próxima de 100% — atenção ao n pequeno (29–47 setores).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4526280"/>
            <a:ext cx="3566160" cy="1554480"/>
          </a:xfrm>
          <a:prstGeom prst="rect">
            <a:avLst/>
          </a:prstGeom>
          <a:solidFill>
            <a:srgbClr val="F4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4526280"/>
            <a:ext cx="91440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atípico Salto/SP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38160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em lixo é surpreendente — pode ser classificação de "caçamba de serviço". A validar no dicionário IBGE.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municipal — extremos de renda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normalizar renda POR município, e não globalmente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772400" cy="27432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Portel/PA — R$ 1.022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Caetano do Sul/SP — R$ 5.292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Rosário/MA — R$ 1.039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Curitiba/PR — R$ 4.115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Preta/PE — R$ 1.055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Alegre/RS — R$ 3.951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Jaqueira/PE — R$ 1.073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Brasília/DF — R$ 3.388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R. do Doca Bezerra/MA — R$ 1.083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Campinas/SP — R$ 3.375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371600"/>
            <a:ext cx="3200400" cy="2743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5,18×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entre o município mais rico e o mais pobre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 do Sul ÷ Portel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metodológica crítica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8920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normalização min-max GLOBAL trataria Portel e São Caetano como pertencendo ao mesmo "mercado de renda" — algo claramente inadequado para uma análise INTRA-URBANA. Um setor médio de Portel acabaria com mesmo escore que um setor pobre de São Caetano. A normalização POR MUNICÍPIO preserva a relatividade local: um setor pobre dentro do contexto de sua cidade recebe o escore esperado.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outliers — regra IQR (Tukey, 1977)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devemos remover esses valores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3716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pct_agua_inad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 — distribuição em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pct_esgoto_inad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 — distribuição em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pct_lixo_inad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 — distribuição em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renda_media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Reais — cauda direita das capitais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pct_analfab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de vulnerabilidade educacional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razao_moradores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com superlotação extrema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pct_raca_pretpardind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bem-comportada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00600"/>
            <a:ext cx="1124712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 dos 20% "outliers" em saneamento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IQR identifica outliers como valores fora de [Q1−1,5·IQR, Q3+1,5·IQR]. Para água, Q1=0 e Q3=0,017 — qualquer valor moderado fica fora desse intervalo. Ou seja: a regra IQR re-descobre o que já sabíamos (bimodalidade), mas chama os bolsões de "outlier". Esses 20% NÃO são erros: SÃO o objeto do estudo. Decisão: NÃO excluir nenhum setor com base em outliers de saneamento.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 — cobertura por variável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de sigilo em analfabetismo, concentrado em grandes cidades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760720" cy="292608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válidos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pct_agua_inad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pct_lixo_inad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razao_moradores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pct_esgoto_inad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pct_raca_pretpardind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renda_media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pct_analfab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municípios com sigilo em analfabetismo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 do Sul/SP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29,7%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Alegre/RS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Curitiba/PR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Pedro da Aldeia/RJ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 Horizonte/MG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Janeiro/RJ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0" y="3611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Paulo/SP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480560"/>
            <a:ext cx="1124712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sistemático contra grandes cidades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IBGE de suprimir setores com poucos indivíduos afeta proporcionalmente mais as grandes cidades, onde existem muitos setores pequenos. Resultado: a EDA pode subestimar a vulnerabilidade educacional em capitais. Mitigação proposta: imputar a mediana municipal nos 16% suprimidos. Discutir como limitação na seção Discussão do artigo.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— Mapa de calor de missing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município × variável (% de células faltantes)</a:t>
            </a:r>
            <a:endParaRPr lang="en-US" sz="1200" dirty="0"/>
          </a:p>
        </p:txBody>
      </p:sp>
      <p:pic>
        <p:nvPicPr>
          <p:cNvPr id="5" name="Image 0" descr="Mapa de calor: % faltante por município e variá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71600"/>
            <a:ext cx="48463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mapa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Linhas: 70 municípios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7 variáveis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escuro, mais sigilo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analfab destaca-se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colunas quase brancas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6968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visual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69680" y="1828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tons mais fortes na 5ª coluna confirmam o viés.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municípios pequenos têm cobertura total.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recuperada após correção do parsing.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correlação de Spearman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Spearman (não Pearson) — e o que ela nos conta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77240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941832"/>
                <a:gridCol w="941832"/>
                <a:gridCol w="941832"/>
                <a:gridCol w="941832"/>
                <a:gridCol w="941832"/>
                <a:gridCol w="941832"/>
                <a:gridCol w="93268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Spearman?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17373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Saneamento e renda violam a normalidade (assimetria 2–5). Pearson assume linearidade; Spearman usa postos, captura associações monotônicas e é robusto a outliers e caudas.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vermelho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|ρ| ≥ 0,60 — sinais empíricos mais fortes do estudo.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azul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|ρ| ≥ 0,45 — associações moderadas, ainda relevantes.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937760"/>
            <a:ext cx="112471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achados centrais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pretos/pardos/indígenas (PPI) = −0,81 — a correlação mais forte do conjunto. Sustenta a inclusão de raça/cor no IVS como proxy de vulnerabilidade estrutural.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analfabetismo = −0,75 — eixo educação-renda consolidado.  ◦  PPI × analfabetismo = +0,63 — fecha o triângulo socioeconômico.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 — Matrizes de correlação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(linear) à esquerda · Spearman (postos) à direita</a:t>
            </a:r>
            <a:endParaRPr lang="en-US" sz="1200" dirty="0"/>
          </a:p>
        </p:txBody>
      </p:sp>
      <p:pic>
        <p:nvPicPr>
          <p:cNvPr id="5" name="Image 0" descr="Matrizes de correlação Pearson e Spearman lado a 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8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6692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canto inferior direito: o quadrante renda × analfabetismo × PPI fica predominantemente vermelho/azul intenso em ambas as matrizes, mas as cargas SÃO MAIORES em Spearman — confirmando que a relação é monotônica mas não linear, justificando o uso de Spearman como entrada da análise fatorial.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para a análise fatorial (Notebook 03)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correlações já sinaliza dois fatores latentes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394960" cy="54864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1 · Socioeconômico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~60% do peso (consistente com IVS-BH).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que carregam neste fator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renda_media (invertida)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pct_raca_pretpardind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pct_analfab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razao_moradores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949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17320"/>
            <a:ext cx="539496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17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2 · Saneamento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~40% do peso. Lixo pode aparecer como fator próprio.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que carregam neste fator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pct_agua_inad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pct_esgoto_inad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pct_lixo_inad — porém com correlações mais baixas (componente autônoma)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técnica · usar matriz de Spearman como entrada da análise fatorial (PCA/AFE) no Notebook 03. As assimetrias 2,2–4,7 contraindicam Pearson.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recomendações práticas para o IVS final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que esta EDA sustenta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mediana e IQR (não média/DP) nas tabelas descritivas do artigo para variáveis assimétricas — água, esgoto, lixo, renda, analfabetismo.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renda POR município, não globalmente. A razão 5,18× entre extremos torna a normalização global enganosa.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correlação de Spearman como entrada da análise fatorial — assimetria 2,2–4,7 viola pressuposto de normalidade.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os outliers de saneamento — são bolsões de vulnerabilidade, o próprio objeto do estudo. A regra IQR é inadequada para excluir nessas variáveis.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5074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mediana municipal nos 16% de sigilo de analfabetismo — exclusão pareada introduz viés contra grandes cidades.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declaradas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EDA NÃO resolveu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 proposta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de sigilo em analfabetismo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IBGE de supressão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Imputação por mediana municipal; reportar na Discussão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de saneamento bimodais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 da cobertura nacional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Mediana/IQR; análise fatorial robusta com 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Salto/SP atípico em lixo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 classificação categórica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com o dicionário oficial do IBGE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0,15 entre água e lixo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Heterogeneidade de serviços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como bloco saneamento ainda assim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Falácia ecológica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Inerente ao delineamento ecológico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Reportar explicitamente na Discussão do artigo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&gt; perfeição: documentar cada limitação é parte do método científico. Cada mitigação será discutida na seção apropriada do artigo.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73152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até o artigo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3716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— Análise fatorial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PCA / AFE sobre a matriz de correlação de Spearman; extrair pesos das 7 variáveis; gerar IVS contínuo (0–1).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13716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317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em 4 faixas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pontos de corte: Baixo / Médio / Elevado / Muito Elevado. Quartis ou desvios da média (metodologia IVS-BH).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13716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Geoprocessamento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mapas temáticos do IVS por setor censitário no QGIS 3.x. Atenção a municípios pequenos (n &lt; 50 setores).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13716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60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6304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metodológica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 as recomendações da EDA à orientadora antes da execução do Notebook 03.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74920"/>
            <a:ext cx="137160" cy="822960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4630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dos Resultados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Tabela 1 e a Figura 1 do artigo a partir das saídas da EDA.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IVS · 70 municípios ELSI · Pedro Dias Soares · Fiocruz Minas/IRR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58A1F"/>
          </a:solidFill>
          <a:ln w="12700">
            <a:solidFill>
              <a:srgbClr val="C58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discussões e ajustes de rota.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3657600" cy="0"/>
          </a:xfrm>
          <a:prstGeom prst="line">
            <a:avLst/>
          </a:prstGeom>
          <a:noFill/>
          <a:ln w="25400">
            <a:solidFill>
              <a:srgbClr val="C58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esperamos da reunião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decisão pelo denominador V01042.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normalização da renda por município.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tratamento do sigilo em analfabetismo (imputação vs. exclusão).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prazo de execução do Notebook 03.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· Fiocruz Minas — IRR · pedro.dias@aluno.fiocruz.br · 15/05/2026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Fiocruz Minas — IRR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Exploratória — IVS Censo 2022 / ELSI-Brasil</dc:title>
  <dc:subject>PptxGenJS Presentation</dc:subject>
  <dc:creator>Pedro Dias Soares</dc:creator>
  <cp:lastModifiedBy>Pedro Dias Soares</cp:lastModifiedBy>
  <cp:revision>1</cp:revision>
  <dcterms:created xsi:type="dcterms:W3CDTF">2026-05-15T18:50:38Z</dcterms:created>
  <dcterms:modified xsi:type="dcterms:W3CDTF">2026-05-15T18:50:38Z</dcterms:modified>
</cp:coreProperties>
</file>