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2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59" r:id="rId4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212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D2413B4-991B-2FF1-87E1-A95AEA9021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16E241A-92AA-6DAD-3031-CCB97D20EB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70E38-9B1F-4DFA-BFD7-0C447CDADE5D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4EE4FC1-A425-A93B-3D2F-F344D079B9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ED8C0C-E809-7FB3-0636-D3218F8289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0CBC6-1CC9-4001-AE6E-41A6F5C17D7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107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3913CB-ECD4-4CC1-8F40-AF8C3B526E04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507B-8D53-437B-B4D7-3602D889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5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0FF496-E02D-12EB-A4CE-96C9F5EED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F97BC-9976-4586-BDEC-EE7A82F6E13F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1DFCCE-6D94-7BDD-E32F-D06A1A50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9ADEB1-4845-7428-4F95-B5DE13F44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FC982-FDF8-46E4-95BC-729AB370B4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43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04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683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9846103-F1E0-18C8-B3FD-C0013D8BB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B7D955-F34F-3EC5-F047-4A31CD00D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A50A6A-59A7-D45D-6903-E6608D50F6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F97BC-9976-4586-BDEC-EE7A82F6E13F}" type="datetimeFigureOut">
              <a:rPr lang="pt-BR" smtClean="0"/>
              <a:t>07/10/2026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A4DC2E-72B8-4C1A-9639-9D001E2D0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187943-B131-8493-90D8-5934E38C7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FC982-FDF8-46E4-95BC-729AB370B4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643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AFB49F2-7AD7-5DF2-0F52-70E51BF9827B}"/>
              </a:ext>
            </a:extLst>
          </p:cNvPr>
          <p:cNvSpPr txBox="1"/>
          <p:nvPr/>
        </p:nvSpPr>
        <p:spPr>
          <a:xfrm>
            <a:off x="0" y="2417945"/>
            <a:ext cx="12192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Calibri"/>
              </a:rPr>
              <a:t>Índice de vulnerabilidade à saúde das cidades brasileiras: dados do censo demográfico de 2022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A354C32-E805-53E5-AF0E-3418D2CF6F11}"/>
              </a:ext>
            </a:extLst>
          </p:cNvPr>
          <p:cNvSpPr txBox="1"/>
          <p:nvPr/>
        </p:nvSpPr>
        <p:spPr>
          <a:xfrm>
            <a:off x="0" y="3213556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Aluno: Pedro Dias Soares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Orientadora: Amanda Cristina de Souza Andrade</a:t>
            </a:r>
          </a:p>
          <a:p>
            <a:pPr algn="ctr">
              <a:spcAft>
                <a:spcPts val="0"/>
              </a:spcAft>
            </a:pPr>
            <a:r>
              <a:rPr sz="1600" b="1">
                <a:solidFill>
                  <a:srgbClr val="1F2A33"/>
                </a:solidFill>
                <a:latin typeface="Calibri"/>
              </a:rPr>
              <a:t>Coorientador(a): não se aplica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C36D6E2-5BF8-8B99-93C1-98E62FAFB8BE}"/>
              </a:ext>
            </a:extLst>
          </p:cNvPr>
          <p:cNvSpPr txBox="1"/>
          <p:nvPr/>
        </p:nvSpPr>
        <p:spPr>
          <a:xfrm>
            <a:off x="0" y="417602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Grupo de Pesquisa no Programa: </a:t>
            </a:r>
            <a:r>
              <a:rPr sz="1600" b="1">
                <a:solidFill>
                  <a:srgbClr val="1F2A33"/>
                </a:solidFill>
                <a:highlight>
                  <a:srgbClr val="FFFF00"/>
                </a:highlight>
                <a:latin typeface="Calibri"/>
              </a:rPr>
              <a:t>A CONFIRMAR (o relatório traz o núcleo NESPE)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60781CA-225E-1A6B-C2CD-0C0B45F4A18A}"/>
              </a:ext>
            </a:extLst>
          </p:cNvPr>
          <p:cNvSpPr txBox="1"/>
          <p:nvPr/>
        </p:nvSpPr>
        <p:spPr>
          <a:xfrm>
            <a:off x="0" y="458111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Data de ingresso no Programa: 06/03/2026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Programa de vínculo: FAPEMIG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1C6632-29EB-DF55-F691-0B6748723885}"/>
              </a:ext>
            </a:extLst>
          </p:cNvPr>
          <p:cNvSpPr txBox="1"/>
          <p:nvPr/>
        </p:nvSpPr>
        <p:spPr>
          <a:xfrm>
            <a:off x="0" y="5473913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Belo Horizonte, 2026</a:t>
            </a:r>
          </a:p>
        </p:txBody>
      </p:sp>
    </p:spTree>
    <p:extLst>
      <p:ext uri="{BB962C8B-B14F-4D97-AF65-F5344CB8AC3E}">
        <p14:creationId xmlns:p14="http://schemas.microsoft.com/office/powerpoint/2010/main" val="247906911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A média da cidade esconde o que acontece dentro dela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76000" y="1872000"/>
            <a:ext cx="2376000" cy="2376000"/>
          </a:xfrm>
          <a:prstGeom prst="rect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média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216000" y="4356000"/>
            <a:ext cx="30960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A33"/>
                </a:solidFill>
                <a:latin typeface="Calibri"/>
              </a:rPr>
              <a:t>1 cidade, 1 número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68000" y="2808000"/>
            <a:ext cx="864000" cy="503999"/>
          </a:xfrm>
          <a:prstGeom prst="rightArrow">
            <a:avLst/>
          </a:prstGeom>
          <a:solidFill>
            <a:srgbClr val="E88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12000" y="18720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49600" y="18720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87200" y="18720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24800" y="18720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62400" y="18720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00000" y="18720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37600" y="18720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75200" y="18720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2800" y="18720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400" y="18720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2000" y="21096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49600" y="21096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87200" y="21096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24800" y="21096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2400" y="21096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00000" y="21096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37600" y="21096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75200" y="21096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12800" y="21096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400" y="21096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120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496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872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248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624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000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376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752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128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400" y="2347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12000" y="25848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49600" y="25848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87200" y="25848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24800" y="25848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62400" y="25848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00000" y="25848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637600" y="25848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75200" y="25848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12800" y="25848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400" y="25848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12000" y="28224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49600" y="28224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687200" y="28224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24800" y="28224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62400" y="28224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00000" y="28224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37600" y="28224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75200" y="28224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12800" y="28224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400" y="28224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12000" y="30600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49600" y="30600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87200" y="30600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24800" y="30600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62400" y="30600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00000" y="30600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7600" y="30600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75200" y="30600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12800" y="30600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50400" y="30600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12000" y="32976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449600" y="32976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687200" y="32976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24800" y="32976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62400" y="32976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400000" y="32976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637600" y="32976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75200" y="32976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12800" y="32976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0400" y="32976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120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4496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872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9248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1624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000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6376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8752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28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50400" y="35352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12000" y="37728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449600" y="37728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687200" y="37728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924800" y="37728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162400" y="37728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0000" y="37728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637600" y="37728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875200" y="37728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12800" y="37728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50400" y="37728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212000" y="40104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449600" y="40104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87200" y="40104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924800" y="40104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162400" y="40104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400000" y="4010400"/>
            <a:ext cx="216000" cy="216000"/>
          </a:xfrm>
          <a:prstGeom prst="rect">
            <a:avLst/>
          </a:prstGeom>
          <a:solidFill>
            <a:srgbClr val="E1D6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637600" y="4010400"/>
            <a:ext cx="216000" cy="216000"/>
          </a:xfrm>
          <a:prstGeom prst="rect">
            <a:avLst/>
          </a:prstGeom>
          <a:solidFill>
            <a:srgbClr val="E9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875200" y="4010400"/>
            <a:ext cx="216000" cy="216000"/>
          </a:xfrm>
          <a:prstGeom prst="rect">
            <a:avLst/>
          </a:prstGeom>
          <a:solidFill>
            <a:srgbClr val="3B8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112800" y="4010400"/>
            <a:ext cx="216000" cy="216000"/>
          </a:xfrm>
          <a:prstGeom prst="rect">
            <a:avLst/>
          </a:prstGeom>
          <a:solidFill>
            <a:srgbClr val="D86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350400" y="4010400"/>
            <a:ext cx="216000" cy="216000"/>
          </a:xfrm>
          <a:prstGeom prst="rect">
            <a:avLst/>
          </a:prstGeom>
          <a:solidFill>
            <a:srgbClr val="79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671999" y="4356000"/>
            <a:ext cx="3456000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F2A33"/>
                </a:solidFill>
                <a:latin typeface="Calibri"/>
              </a:rPr>
              <a:t>centenas de setores censitários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671999" y="5076000"/>
            <a:ext cx="3456000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6B7780"/>
                </a:solidFill>
                <a:latin typeface="Calibri"/>
              </a:rPr>
              <a:t>esquema ilustrativo — não são dados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416000" y="1655999"/>
            <a:ext cx="4500000" cy="453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Setor censitário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a menor área com dados do Censo: como um quarteirão, ou poucos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Vulnerabilidade à saúde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condições do lugar (saneamento, renda, escolaridade) que deixam os moradores mais expostos a adoecer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Para quê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achar, dentro da cidade, as áreas com condições mais desfavoráveis (IVS de Belo Horizonte, 2012)</a:t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Lacuna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não havia esse índice com o Censo 2022 para os municípios estudados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O projeto quer medir a vulnerabilidade onde ela acontece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655999"/>
            <a:ext cx="11520000" cy="1332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Objetivo geral do projeto da orientadora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F2A33"/>
                </a:solidFill>
                <a:highlight>
                  <a:srgbClr val="FFFF00"/>
                </a:highlight>
                <a:latin typeface="Calibri"/>
              </a:rPr>
              <a:t>A CONFIRMAR — texto literal da Profa. Amanda. Provisório (relatório): </a:t>
            </a:r>
            <a:r>
              <a:rPr sz="2000" b="0">
                <a:solidFill>
                  <a:srgbClr val="1F2A33"/>
                </a:solidFill>
                <a:latin typeface="Calibri"/>
              </a:rPr>
              <a:t>Avaliar as desigualdades intraurbanas por meio da construção de um Índice de Vulnerabilidade à Saúde (IVS) de cidades brasileiras.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3204000"/>
            <a:ext cx="5688000" cy="1764000"/>
          </a:xfrm>
          <a:prstGeom prst="rect">
            <a:avLst/>
          </a:prstGeom>
          <a:noFill/>
          <a:ln w="19050">
            <a:solidFill>
              <a:srgbClr val="79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Meu objetivo 1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A33"/>
                </a:solidFill>
                <a:latin typeface="Calibri"/>
              </a:rPr>
              <a:t>Construir o IVS intraurbano com o Censo 2022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0000" y="4500000"/>
            <a:ext cx="1584000" cy="360000"/>
          </a:xfrm>
          <a:prstGeom prst="roundRect">
            <a:avLst/>
          </a:prstGeom>
          <a:solidFill>
            <a:srgbClr val="E88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em andamento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6155999" y="3204000"/>
            <a:ext cx="5688000" cy="1764000"/>
          </a:xfrm>
          <a:prstGeom prst="rect">
            <a:avLst/>
          </a:prstGeom>
          <a:noFill/>
          <a:ln w="19050">
            <a:solidFill>
              <a:srgbClr val="79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Meu objetivo 2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A33"/>
                </a:solidFill>
                <a:latin typeface="Calibri"/>
              </a:rPr>
              <a:t>Analisar a distribuição espacial do IVS (mapas)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2000" y="4500000"/>
            <a:ext cx="1584000" cy="360000"/>
          </a:xfrm>
          <a:prstGeom prst="roundRect">
            <a:avLst/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 iniciar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5220000"/>
            <a:ext cx="11520000" cy="864000"/>
          </a:xfrm>
          <a:prstGeom prst="rect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3B848E"/>
                </a:solidFill>
                <a:latin typeface="Calibri"/>
              </a:rPr>
              <a:t>Hoje: </a:t>
            </a:r>
            <a:r>
              <a:rPr sz="2100" b="0">
                <a:solidFill>
                  <a:srgbClr val="1F2A33"/>
                </a:solidFill>
                <a:latin typeface="Calibri"/>
              </a:rPr>
              <a:t>a etapa que vem antes do índice — o que o Censo 2022 me obrigou a decidir, e como cada decisão muda o resultado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792000"/>
            <a:ext cx="720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B848E"/>
                </a:solidFill>
                <a:latin typeface="Calibri"/>
              </a:rPr>
              <a:t>METODOLOGIA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600" y="1026000"/>
            <a:ext cx="11807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Reconstruí o IVS de 2012 com o Censo 2022 nos 70 municípios do ELSI-Brasil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1692000"/>
            <a:ext cx="2951999" cy="468000"/>
          </a:xfrm>
          <a:prstGeom prst="rect">
            <a:avLst/>
          </a:prstGeom>
          <a:solidFill>
            <a:srgbClr val="3B8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Saneamento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000" y="2160000"/>
            <a:ext cx="2951999" cy="309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• água inadequada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• esgoto inadequado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• lixo inadequado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0000" y="1692000"/>
            <a:ext cx="2951999" cy="468000"/>
          </a:xfrm>
          <a:prstGeom prst="rect">
            <a:avLst/>
          </a:prstGeom>
          <a:solidFill>
            <a:srgbClr val="D86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Socioeconômica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0000" y="2160000"/>
            <a:ext cx="2951999" cy="309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• moradores por domicílio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• analfabetismo (15 anos ou mais)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• renda do responsável (invertida)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• pessoas pretas, pardas ou indígenas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5364000"/>
            <a:ext cx="6048000" cy="79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7780"/>
                </a:solidFill>
                <a:latin typeface="Calibri"/>
              </a:rPr>
              <a:t>↑ valor = ↑ vulnerabilidade. As variáveis do IVS 2012 que existem no Censo 2022, com adaptações (reserva R1).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96000" y="1692000"/>
            <a:ext cx="5148000" cy="75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Calibri"/>
              </a:rPr>
              <a:t>109.032 setores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nos 70 municípios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6000" y="2520000"/>
            <a:ext cx="5148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780"/>
                </a:solidFill>
                <a:latin typeface="Calibri"/>
              </a:rPr>
              <a:t>− 1.736 sem moradores  ·  − 1.015 com sigilo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96000" y="2951999"/>
            <a:ext cx="5148000" cy="648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F2A33"/>
                </a:solidFill>
                <a:latin typeface="Calibri"/>
              </a:rPr>
              <a:t>106.281 setores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96000" y="3671999"/>
            <a:ext cx="5148000" cy="36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6B7780"/>
                </a:solidFill>
                <a:latin typeface="Calibri"/>
              </a:rPr>
              <a:t>− 2.173 rurais (2,04%) — o índice é urbano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6000" y="4103999"/>
            <a:ext cx="5148000" cy="756000"/>
          </a:xfrm>
          <a:prstGeom prst="rect">
            <a:avLst/>
          </a:prstGeom>
          <a:solidFill>
            <a:srgbClr val="3B8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104.108 setores urbanos</a:t>
            </a:r>
          </a:p>
          <a:p>
            <a:pPr algn="ctr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52,1 milhões de moradores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6000" y="4968000"/>
            <a:ext cx="5148000" cy="57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D8634E"/>
                </a:solidFill>
                <a:latin typeface="Calibri"/>
              </a:rPr>
              <a:t>A exclusão rural é desigual: passa de 10% em 29 dos 70 municípios (R6).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2022. ELSI-Brasil: Estudo Longitudinal da Saúde dos Idosos Brasileiros (Lima-Costa et al., 2018).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792000"/>
            <a:ext cx="720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B848E"/>
                </a:solidFill>
                <a:latin typeface="Calibri"/>
              </a:rPr>
              <a:t>METODOLOGIA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600" y="1026000"/>
            <a:ext cx="11807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Antes de confiar nos dados, conferi o processamento com os números oficiais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1728000"/>
            <a:ext cx="5688000" cy="2232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3B848E"/>
                </a:solidFill>
                <a:latin typeface="Calibri"/>
              </a:rPr>
              <a:t>203.080.756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pessoas: o código reproduz a população oficial do Brasil (468.099 setores)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55999" y="1728000"/>
            <a:ext cx="5688000" cy="2232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800"/>
              </a:spcAft>
            </a:pPr>
            <a:r>
              <a:rPr sz="4800" b="1">
                <a:solidFill>
                  <a:srgbClr val="3B848E"/>
                </a:solidFill>
                <a:latin typeface="Calibri"/>
              </a:rPr>
              <a:t>79,99  ×  80,0</a:t>
            </a:r>
          </a:p>
          <a:p>
            <a:pPr algn="ctr">
              <a:spcAft>
                <a:spcPts val="8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índice de envelhecimento do Brasil: meu cálculo × o publicado pelo IBGE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4176000"/>
            <a:ext cx="11520000" cy="1440000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D8634E"/>
                </a:solidFill>
                <a:latin typeface="Calibri"/>
              </a:rPr>
              <a:t>Uma decisão no caminho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F2A33"/>
                </a:solidFill>
                <a:latin typeface="Calibri"/>
              </a:rPr>
              <a:t>Um setor de favela em Belo Horizonte com renda média de </a:t>
            </a:r>
            <a:r>
              <a:rPr sz="2000" b="1">
                <a:solidFill>
                  <a:srgbClr val="1F2A33"/>
                </a:solidFill>
                <a:latin typeface="Calibri"/>
              </a:rPr>
              <a:t>R$ 170.418,06</a:t>
            </a:r>
            <a:r>
              <a:rPr sz="2000" b="0">
                <a:solidFill>
                  <a:srgbClr val="1F2A33"/>
                </a:solidFill>
                <a:latin typeface="Calibri"/>
              </a:rPr>
              <a:t> por mês — 55,7 vezes a mediana do município. Incoerente com o perfil do setor: retirado da análise descritiva.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5724000"/>
            <a:ext cx="11520000" cy="50399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780"/>
                </a:solidFill>
                <a:latin typeface="Calibri"/>
              </a:rPr>
              <a:t>Outras adequações ao Censo 2022: denominador dos domicílios · analfabetismo a partir de 15 anos · dados sob sigilo tratados como ausentes · caçamba como destino inadequado do lixo (reserva R1).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792000"/>
            <a:ext cx="720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B848E"/>
                </a:solidFill>
                <a:latin typeface="Calibri"/>
              </a:rPr>
              <a:t>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600" y="1026000"/>
            <a:ext cx="11807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Em 74% dos setores, nenhum domicílio foi registrado com água inadequada</a:t>
            </a:r>
          </a:p>
        </p:txBody>
      </p:sp>
      <p:pic>
        <p:nvPicPr>
          <p:cNvPr id="4" name="Picture 3" descr="oral_zeros_sane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655999"/>
            <a:ext cx="7632000" cy="40822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4000" y="5760000"/>
            <a:ext cx="74160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7780"/>
                </a:solidFill>
                <a:latin typeface="Calibri"/>
              </a:rPr>
              <a:t>Parte dos zeros vem de parcelas pequenas suprimidas pelo IBGE, que entram como zero.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6000" y="1728000"/>
            <a:ext cx="3744000" cy="1872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A renda também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1F2A33"/>
                </a:solidFill>
                <a:latin typeface="Calibri"/>
              </a:rPr>
              <a:t>média 63% acima da mediana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6B7780"/>
                </a:solidFill>
                <a:latin typeface="Calibri"/>
              </a:rPr>
              <a:t>poucos setores muito ricos puxam a média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6000" y="3816000"/>
            <a:ext cx="3744000" cy="1944000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8634E"/>
                </a:solidFill>
                <a:latin typeface="Calibri"/>
              </a:rPr>
              <a:t>O que isso muda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O índice põe tudo na mesma régua, de 0 a 1. Com tantos zeros, quase todos os setores ficariam espremidos num canto dela.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 — 104.108 setores urbanos dos 70 municípios do ELSI-Brasil.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792000"/>
            <a:ext cx="720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B848E"/>
                </a:solidFill>
                <a:latin typeface="Calibri"/>
              </a:rPr>
              <a:t>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600" y="1026000"/>
            <a:ext cx="11807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O dado que falta também diz alguma coisa</a:t>
            </a:r>
          </a:p>
        </p:txBody>
      </p:sp>
      <p:pic>
        <p:nvPicPr>
          <p:cNvPr id="4" name="Picture 3" descr="oral_sigilo_analfabetis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1584000"/>
            <a:ext cx="6202286" cy="4824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12000" y="1692000"/>
            <a:ext cx="4968000" cy="2015999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D8634E"/>
                </a:solidFill>
                <a:latin typeface="Calibri"/>
              </a:rPr>
              <a:t>16%</a:t>
            </a:r>
            <a:r>
              <a:rPr sz="2000" b="1">
                <a:solidFill>
                  <a:srgbClr val="1F2A33"/>
                </a:solidFill>
                <a:latin typeface="Calibri"/>
              </a:rPr>
              <a:t>  dos setores sem o dado de analfabetismo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Sigilo: quando há pouquíssima gente numa categoria, o IBGE esconde o número para ninguém ser identificado.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12000" y="3888000"/>
            <a:ext cx="4968000" cy="2088000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8634E"/>
                </a:solidFill>
                <a:latin typeface="Calibri"/>
              </a:rPr>
              <a:t>O que isso muda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Média observada </a:t>
            </a:r>
            <a:r>
              <a:rPr sz="1800" b="1">
                <a:solidFill>
                  <a:srgbClr val="1F2A33"/>
                </a:solidFill>
                <a:latin typeface="Calibri"/>
              </a:rPr>
              <a:t>3,64%</a:t>
            </a:r>
            <a:r>
              <a:rPr sz="1800" b="0">
                <a:solidFill>
                  <a:srgbClr val="1F2A33"/>
                </a:solidFill>
                <a:latin typeface="Calibri"/>
              </a:rPr>
              <a:t>; a real fica entre </a:t>
            </a:r>
            <a:r>
              <a:rPr sz="1800" b="1">
                <a:solidFill>
                  <a:srgbClr val="1F2A33"/>
                </a:solidFill>
                <a:latin typeface="Calibri"/>
              </a:rPr>
              <a:t>3,14%</a:t>
            </a:r>
            <a:r>
              <a:rPr sz="1800" b="0">
                <a:solidFill>
                  <a:srgbClr val="1F2A33"/>
                </a:solidFill>
                <a:latin typeface="Calibri"/>
              </a:rPr>
              <a:t> e </a:t>
            </a:r>
            <a:r>
              <a:rPr sz="1800" b="1">
                <a:solidFill>
                  <a:srgbClr val="1F2A33"/>
                </a:solidFill>
                <a:latin typeface="Calibri"/>
              </a:rPr>
              <a:t>3,64%</a:t>
            </a:r>
            <a:r>
              <a:rPr sz="1800" b="0">
                <a:solidFill>
                  <a:srgbClr val="1F2A33"/>
                </a:solidFill>
                <a:latin typeface="Calibri"/>
              </a:rPr>
              <a:t>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O efeito é pequeno, mas o sigilo não é aleatório: precisa de tratamento próprio.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 — 104.108 setores urbanos dos 70 municípios do ELSI-Brasil.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792000"/>
            <a:ext cx="720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B848E"/>
                </a:solidFill>
                <a:latin typeface="Calibri"/>
              </a:rPr>
              <a:t>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600" y="1026000"/>
            <a:ext cx="11807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Renda, cor/raça e analfabetismo andam juntos; o lixo anda sozinho</a:t>
            </a:r>
          </a:p>
        </p:txBody>
      </p:sp>
      <p:pic>
        <p:nvPicPr>
          <p:cNvPr id="4" name="Picture 3" descr="oral_correl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00" y="1584000"/>
            <a:ext cx="8136000" cy="438092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68000" y="1728000"/>
            <a:ext cx="3311999" cy="1872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Como ler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F2A33"/>
                </a:solidFill>
                <a:latin typeface="Calibri"/>
              </a:rPr>
              <a:t>Correlação: 0 = nenhuma relação; 1 = as duas ordenam os setores do mesmo jeito.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2A33"/>
                </a:solidFill>
                <a:latin typeface="Calibri"/>
              </a:rPr>
              <a:t>As três medem a posição social do setor.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68000" y="3816000"/>
            <a:ext cx="3311999" cy="2304000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D8634E"/>
                </a:solidFill>
                <a:latin typeface="Calibri"/>
              </a:rPr>
              <a:t>Hipótese a testar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F2A33"/>
                </a:solidFill>
                <a:latin typeface="Calibri"/>
              </a:rPr>
              <a:t>Seguindo o IVS 2012, o projeto conta a caçamba como destino inadequado (o Censo só registra o destino). Ela pode refletir o jeito de coletar da cidade, não a vulnerabilidade.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Correlação de Spearman nos 75.629 setores com os 12 indicadores completos (Figura 1 do relatório); renda invertida. Fonte: IBGE, Censo 2022.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792000"/>
            <a:ext cx="720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B848E"/>
                </a:solidFill>
                <a:latin typeface="Calibri"/>
              </a:rPr>
              <a:t>RESULTADOS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600" y="1026000"/>
            <a:ext cx="11807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Dentro das cidades, renda mais alta anda junto com mais idosos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1728000"/>
            <a:ext cx="6983999" cy="3960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1000"/>
              </a:spcAft>
            </a:pPr>
            <a:r>
              <a:rPr sz="8800" b="1">
                <a:solidFill>
                  <a:srgbClr val="D8634E"/>
                </a:solidFill>
                <a:latin typeface="Calibri"/>
              </a:rPr>
              <a:t>50 de 53</a:t>
            </a:r>
          </a:p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1F2A33"/>
                </a:solidFill>
                <a:latin typeface="Calibri"/>
              </a:rPr>
              <a:t>municípios em que a proporção de idosos é maior nos setores de renda mais alta</a:t>
            </a:r>
          </a:p>
          <a:p>
            <a:pPr algn="ctr">
              <a:spcAft>
                <a:spcPts val="1000"/>
              </a:spcAft>
            </a:pPr>
            <a:r>
              <a:rPr sz="1600" b="0">
                <a:solidFill>
                  <a:srgbClr val="6B7780"/>
                </a:solidFill>
                <a:latin typeface="Calibri"/>
              </a:rPr>
              <a:t>mediana municipal da correlação: −0,46</a:t>
            </a:r>
          </a:p>
        </p:txBody>
      </p:sp>
      <p:sp>
        <p:nvSpPr>
          <p:cNvPr id="5" name="Rectangle 4"/>
          <p:cNvSpPr/>
          <p:nvPr/>
        </p:nvSpPr>
        <p:spPr>
          <a:xfrm>
            <a:off x="7523999" y="1728000"/>
            <a:ext cx="4356000" cy="3960000"/>
          </a:xfrm>
          <a:prstGeom prst="rect">
            <a:avLst/>
          </a:prstGeom>
          <a:noFill/>
          <a:ln w="19050">
            <a:solidFill>
              <a:srgbClr val="79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No conjunto dos setores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idosos × renda invertida</a:t>
            </a:r>
          </a:p>
          <a:p>
            <a:pPr algn="ctr">
              <a:spcAft>
                <a:spcPts val="400"/>
              </a:spcAft>
            </a:pPr>
            <a:r>
              <a:rPr sz="4000" b="1">
                <a:solidFill>
                  <a:srgbClr val="3B848E"/>
                </a:solidFill>
                <a:latin typeface="Calibri"/>
              </a:rPr>
              <a:t>−0,52</a:t>
            </a:r>
          </a:p>
          <a:p>
            <a:pPr algn="ctr">
              <a:spcAft>
                <a:spcPts val="400"/>
              </a:spcAft>
            </a:pPr>
            <a:r>
              <a:rPr sz="1800" b="0">
                <a:solidFill>
                  <a:srgbClr val="1F2A33"/>
                </a:solidFill>
                <a:latin typeface="Calibri"/>
              </a:rPr>
              <a:t>crianças × renda invertida</a:t>
            </a:r>
          </a:p>
          <a:p>
            <a:pPr algn="ctr">
              <a:spcAft>
                <a:spcPts val="400"/>
              </a:spcAft>
            </a:pPr>
            <a:r>
              <a:rPr sz="4000" b="1">
                <a:solidFill>
                  <a:srgbClr val="D8634E"/>
                </a:solidFill>
                <a:latin typeface="Calibri"/>
              </a:rPr>
              <a:t>+0,62</a:t>
            </a:r>
          </a:p>
          <a:p>
            <a:pPr algn="ctr">
              <a:spcAft>
                <a:spcPts val="400"/>
              </a:spcAft>
            </a:pPr>
            <a:r>
              <a:rPr sz="1600" b="0">
                <a:solidFill>
                  <a:srgbClr val="6B7780"/>
                </a:solidFill>
                <a:latin typeface="Calibri"/>
              </a:rPr>
              <a:t>mais idosos onde a renda é maior; mais crianças onde é menor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000" y="5832000"/>
            <a:ext cx="11520000" cy="57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F2A33"/>
                </a:solidFill>
                <a:latin typeface="Calibri"/>
              </a:rPr>
              <a:t>Associação entre áreas, não entre pessoas.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6B7780"/>
                </a:solidFill>
                <a:latin typeface="Calibri"/>
              </a:rPr>
              <a:t>Municípios com pelo menos 30 setores com dados completos (53 dos 70). Spearman; renda invertida.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Demográfico 2022 — 104.108 setores urbanos dos 70 municípios do ELSI-Brasil.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792000"/>
            <a:ext cx="7200000" cy="27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B848E"/>
                </a:solidFill>
                <a:latin typeface="Calibri"/>
              </a:rPr>
              <a:t>CONCLUSÕES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600" y="1026000"/>
            <a:ext cx="11807999" cy="61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Conclusões e próximos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000" y="1655999"/>
            <a:ext cx="6696000" cy="3384000"/>
          </a:xfrm>
          <a:prstGeom prst="rect">
            <a:avLst/>
          </a:prstGeom>
          <a:solidFill>
            <a:srgbClr val="3B8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Conclusões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1  </a:t>
            </a:r>
            <a:r>
              <a:rPr sz="2000" b="0">
                <a:solidFill>
                  <a:srgbClr val="FFFFFF"/>
                </a:solidFill>
                <a:latin typeface="Calibri"/>
              </a:rPr>
              <a:t>Montar o IVS com o Censo 2022 exige decisões explícitas sobre zeros, sigilo e valores extremos.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2  </a:t>
            </a:r>
            <a:r>
              <a:rPr sz="2000" b="0">
                <a:solidFill>
                  <a:srgbClr val="FFFFFF"/>
                </a:solidFill>
                <a:latin typeface="Calibri"/>
              </a:rPr>
              <a:t>O sigilo se concentra nos setores mais ricos e precisa de tratamento próprio.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3  </a:t>
            </a:r>
            <a:r>
              <a:rPr sz="2000" b="0">
                <a:solidFill>
                  <a:srgbClr val="FFFFFF"/>
                </a:solidFill>
                <a:latin typeface="Calibri"/>
              </a:rPr>
              <a:t>O lixo se comporta à parte e será testado na análise fatorial.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6000" y="1655999"/>
            <a:ext cx="4608000" cy="43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3B848E"/>
                </a:solidFill>
                <a:latin typeface="Calibri"/>
              </a:rPr>
              <a:t>Próximos passos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236000" y="2124000"/>
            <a:ext cx="4608000" cy="511200"/>
          </a:xfrm>
          <a:prstGeom prst="rect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3"/>
                </a:solidFill>
                <a:latin typeface="Calibri"/>
              </a:rPr>
              <a:t>1  Análise fatorial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236000" y="2707200"/>
            <a:ext cx="4608000" cy="511200"/>
          </a:xfrm>
          <a:prstGeom prst="rect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3"/>
                </a:solidFill>
                <a:latin typeface="Calibri"/>
              </a:rPr>
              <a:t>2  Pesos das variáveis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6000" y="3290400"/>
            <a:ext cx="4608000" cy="511200"/>
          </a:xfrm>
          <a:prstGeom prst="rect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3"/>
                </a:solidFill>
                <a:latin typeface="Calibri"/>
              </a:rPr>
              <a:t>3  Faixas de vulnerabilidade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36000" y="3873600"/>
            <a:ext cx="4608000" cy="511200"/>
          </a:xfrm>
          <a:prstGeom prst="rect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3"/>
                </a:solidFill>
                <a:latin typeface="Calibri"/>
              </a:rPr>
              <a:t>4  Mapas no QGIS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6000" y="4456800"/>
            <a:ext cx="4608000" cy="511200"/>
          </a:xfrm>
          <a:prstGeom prst="rect">
            <a:avLst/>
          </a:prstGeom>
          <a:solidFill>
            <a:srgbClr val="E1D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33"/>
                </a:solidFill>
                <a:latin typeface="Calibri"/>
              </a:rPr>
              <a:t>5  Artigo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36000" y="5076000"/>
            <a:ext cx="4608000" cy="46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F2A33"/>
                </a:solidFill>
                <a:latin typeface="Calibri"/>
              </a:rPr>
              <a:t>Fatorial: </a:t>
            </a:r>
            <a:r>
              <a:rPr sz="1400" b="1">
                <a:solidFill>
                  <a:srgbClr val="1F2A33"/>
                </a:solidFill>
                <a:highlight>
                  <a:srgbClr val="FFFF00"/>
                </a:highlight>
                <a:latin typeface="Calibri"/>
              </a:rPr>
              <a:t>A CONFIRMAR — frase combinada com a Profa. Amanda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000" y="5580000"/>
            <a:ext cx="11520000" cy="827999"/>
          </a:xfrm>
          <a:prstGeom prst="rect">
            <a:avLst/>
          </a:prstGeom>
          <a:noFill/>
          <a:ln w="19050">
            <a:solidFill>
              <a:srgbClr val="79B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3B848E"/>
                </a:solidFill>
                <a:latin typeface="Calibri"/>
              </a:rPr>
              <a:t>Com dados, cada decisão muda o resultado — por isso cada uma está justificada e registrada.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6B7780"/>
                </a:solidFill>
                <a:latin typeface="Calibri"/>
              </a:rPr>
              <a:t>Limitação: estudo ecológico — dados de áreas, não de pessoas.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7F91B7-CE6A-5B31-6369-BE0DC111ACBE}"/>
              </a:ext>
            </a:extLst>
          </p:cNvPr>
          <p:cNvSpPr txBox="1"/>
          <p:nvPr/>
        </p:nvSpPr>
        <p:spPr>
          <a:xfrm>
            <a:off x="9358792" y="3614643"/>
            <a:ext cx="2197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/>
              <a:t>Obrigado(a)!</a:t>
            </a:r>
          </a:p>
        </p:txBody>
      </p:sp>
    </p:spTree>
    <p:extLst>
      <p:ext uri="{BB962C8B-B14F-4D97-AF65-F5344CB8AC3E}">
        <p14:creationId xmlns:p14="http://schemas.microsoft.com/office/powerpoint/2010/main" val="3519609351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R1 · Como as variáveis de 2012 foram reconstruídas no Censo 2022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1692000"/>
          <a:ext cx="11520000" cy="331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000"/>
                <a:gridCol w="3780000"/>
                <a:gridCol w="3960000"/>
              </a:tblGrid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Componente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Censo 2022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Denominador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V00112 a V00118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V00001 (domicílios part. perm. ocupados)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V00312 a V00316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V00001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Lixo inadequado (caçamba incluída)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V00398 a V00402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V00001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(V00005 + V00006)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V00001 + V00002 (inclui improvisados)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Analfabetismo 15+ (2012: 5+)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V00901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V00900 + V00901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Renda do responsável (invertida)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V06004 (média, já calculada pelo IBGE)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41400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Preta, parda ou indígena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V01318 + V01320 + V01321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F2A33"/>
                          </a:solidFill>
                          <a:latin typeface="Calibri"/>
                        </a:rPr>
                        <a:t>população total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324000" y="5184000"/>
            <a:ext cx="11520000" cy="93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B7780"/>
                </a:solidFill>
                <a:latin typeface="Calibri"/>
              </a:rPr>
              <a:t>Sigilo: se o IBGE suprimiu todas as parcelas de um numerador, o indicador fica ausente, nunca zero; parcelas suprimidas em parte entram como zero, o que subestima saneamento e cor/raça (na água, a média real pode ser até 14,9% maior).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dicionário de dados dos agregados por setores censitários do Censo 2022 (IBGE); IVS 2012 (SMS-BH, 2013).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R2 · Correlação de Spearman entre os 12 indicadores</a:t>
            </a:r>
          </a:p>
        </p:txBody>
      </p:sp>
      <p:pic>
        <p:nvPicPr>
          <p:cNvPr id="3" name="Picture 2" descr="fig1_correl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0" y="1548000"/>
            <a:ext cx="5203310" cy="4896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n = 75.629 setores com os 12 indicadores completos; renda invertida. Figura 1 do relatório parcial.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R3 · Estatísticas descritivas dos 12 indicadores (Tabela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1584000"/>
          <a:ext cx="11519999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1999"/>
                <a:gridCol w="1296000"/>
                <a:gridCol w="1368000"/>
                <a:gridCol w="1368000"/>
                <a:gridCol w="1368000"/>
                <a:gridCol w="1440000"/>
                <a:gridCol w="1368000"/>
              </a:tblGrid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Média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p75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Máx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Assim.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0,070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0,012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3,42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0,082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0,018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2,98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Lixo inadequado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0,116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0,059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2,38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2,691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2,713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2,926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6,913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−0,22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Analfabetismo 15+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87.556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0,036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0,027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0,050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0,725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2,34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Renda média (R$)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104.095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4.185,81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2.572,39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4.835,82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140.172,64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3,20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Preta, parda ou indígena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0,527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0,572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0,704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−0,39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Sem água canalizada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104.067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0,015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8,70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Sem banheiro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91.912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21,31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Moradia não convencional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104.108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0,006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13,01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Idosos (60 anos ou mais)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103.823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0,175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0,166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0,231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0,857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0,55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Crianças (0 a 14 anos)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103.850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0,173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0,172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0,210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0,488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2A33"/>
                          </a:solidFill>
                          <a:latin typeface="Calibri"/>
                        </a:rPr>
                        <a:t>0,11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Proporções de 0 a 1, exceto razão de moradores e renda (R$). n = setores com o dado; ausentes por sigilo do IBGE. Renda sem o setor extremo.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R4 · Médias por região dos 7 indicadores do IVS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4000" y="1655999"/>
          <a:ext cx="11520000" cy="35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000"/>
                <a:gridCol w="1692000"/>
                <a:gridCol w="1692000"/>
                <a:gridCol w="1692000"/>
                <a:gridCol w="1692000"/>
                <a:gridCol w="1692000"/>
              </a:tblGrid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Norte (6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Nordeste (22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Centro-Oeste (7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Sudeste (26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Sul (9 mun.)</a:t>
                      </a:r>
                    </a:p>
                  </a:txBody>
                  <a:tcPr marL="72000" marR="72000" marT="18000" marB="18000">
                    <a:solidFill>
                      <a:srgbClr val="3B848E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Água inadequada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0,323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0,118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0,055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0,038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0,020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Esgoto inadequado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0,238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0,162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0,075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0,049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0,029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Lixo inadequado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0,098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0,154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0,091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0,111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0,102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Razão de moradores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3,19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2,77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2,76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2,63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2,53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Analfabetismo 15+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0,033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0,062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0,031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0,030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0,021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Renda média (R$)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2.881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3.008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4.945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4.488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4.842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Preta, parda ou indígena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0,748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0,713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0,565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0,474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0,246</a:t>
                      </a:r>
                    </a:p>
                  </a:txBody>
                  <a:tcPr marL="72000" marR="72000" marT="18000" marB="1800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Setores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5.915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19.497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9.490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61.989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F2A33"/>
                          </a:solidFill>
                          <a:latin typeface="Calibri"/>
                        </a:rPr>
                        <a:t>7.217</a:t>
                      </a:r>
                    </a:p>
                  </a:txBody>
                  <a:tcPr marL="72000" marR="72000" marT="18000" marB="18000">
                    <a:solidFill>
                      <a:srgbClr val="E9F4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Médias simples entre setores. Os contrastes descrevem os municípios estudados, não as regiões.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R5 · O setor com renda média de R$ 170.418,06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692000"/>
            <a:ext cx="11520000" cy="2376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Belo Horizonte · Senhor dos Passos — setor de favela (FCU Senhor dos Passos)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Renda média do responsável: R$ 170.418,06 — 55,7 vezes a mediana do município (R$ 3.060,31)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518 moradores em 186 domicílios · analfabetismo 7,0% · preta, parda ou indígena 75,3%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O perfil do setor não combina com a renda: tratado como valor incoerente e retirado da análise descritiva. Os demais valores extremos ficaram na base (máximo restante: R$ 140.172,64).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2022; rastreamento de extremos de renda (banco_de_dados/eda/renda_outliers_rastreados.csv).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R6 · Por que 53 municípios, e não 70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692000"/>
            <a:ext cx="5616000" cy="2304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3B848E"/>
                </a:solidFill>
                <a:latin typeface="Calibri"/>
              </a:rPr>
              <a:t>Correlação dentro de cada município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Calculada só onde há pelo menos 30 setores com os 12 indicadores completos: 53 dos 70 municípios.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Idosos × renda invertida: negativa em 50 deles; mediana municipal −0,46.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28000" y="1692000"/>
            <a:ext cx="5616000" cy="2304000"/>
          </a:xfrm>
          <a:prstGeom prst="rect">
            <a:avLst/>
          </a:prstGeom>
          <a:noFill/>
          <a:ln w="19050">
            <a:solidFill>
              <a:srgbClr val="D86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1000"/>
              </a:spcAft>
            </a:pPr>
            <a:r>
              <a:rPr sz="1900" b="1">
                <a:solidFill>
                  <a:srgbClr val="D8634E"/>
                </a:solidFill>
                <a:latin typeface="Calibri"/>
              </a:rPr>
              <a:t>A exclusão dos setores rurais é desigual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No total saem 2,04% dos setores, mas 29 dos 70 municípios perdem mais de 10% e 14 perdem mais da metade.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1F2A33"/>
                </a:solidFill>
                <a:latin typeface="Calibri"/>
              </a:rPr>
              <a:t>Municípios pequenos ficam com poucos setores urbanos — isso entra nas limitações.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600" y="6498000"/>
            <a:ext cx="118079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5999" rIns="125999" tIns="54000" bIns="54000" wrap="square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7780"/>
                </a:solidFill>
                <a:latin typeface="Calibri"/>
              </a:rPr>
              <a:t>Fonte: IBGE, Censo 2022; conferência da exclusão rural por município (banco_de_dados/eda/exclusao_rural_conferencia.csv).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" y="846000"/>
            <a:ext cx="11807999" cy="684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F2A33"/>
                </a:solidFill>
                <a:latin typeface="Calibri"/>
              </a:rPr>
              <a:t>Reserva R7 · Análise fatorial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1980000"/>
            <a:ext cx="11520000" cy="2160000"/>
          </a:xfrm>
          <a:prstGeom prst="rect">
            <a:avLst/>
          </a:prstGeom>
          <a:solidFill>
            <a:srgbClr val="E9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5999" rIns="125999" tIns="54000" bIns="54000" wrap="square"/>
          <a:lstStyle/>
          <a:p>
            <a:pPr algn="ctr">
              <a:spcAft>
                <a:spcPts val="1200"/>
              </a:spcAft>
            </a:pPr>
            <a:r>
              <a:rPr sz="2200" b="1">
                <a:solidFill>
                  <a:srgbClr val="1F2A33"/>
                </a:solidFill>
                <a:highlight>
                  <a:srgbClr val="FFFF00"/>
                </a:highlight>
                <a:latin typeface="Calibri"/>
              </a:rPr>
              <a:t>A CONFIRMAR — só entra com autorização da Profa. Amanda.</a:t>
            </a:r>
          </a:p>
          <a:p>
            <a:pPr algn="ctr">
              <a:spcAft>
                <a:spcPts val="1200"/>
              </a:spcAft>
            </a:pPr>
            <a:r>
              <a:rPr sz="2200" b="0">
                <a:solidFill>
                  <a:srgbClr val="1F2A33"/>
                </a:solidFill>
                <a:latin typeface="Calibri"/>
              </a:rPr>
              <a:t>Se autorizado: incluir aqui os resultados combinados. Se não: tirar este slide e responder na arguição com a frase combinada.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137</Words>
  <Application>Microsoft Office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Júnio Santos</dc:creator>
  <cp:lastModifiedBy>Júnio Santos</cp:lastModifiedBy>
  <cp:revision>2</cp:revision>
  <dcterms:created xsi:type="dcterms:W3CDTF">2026-10-07T18:20:18Z</dcterms:created>
  <dcterms:modified xsi:type="dcterms:W3CDTF">2026-10-07T18:35:12Z</dcterms:modified>
</cp:coreProperties>
</file>