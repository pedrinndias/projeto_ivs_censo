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59" r:id="rId4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12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D2413B4-991B-2FF1-87E1-A95AEA9021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6E241A-92AA-6DAD-3031-CCB97D20EB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70E38-9B1F-4DFA-BFD7-0C447CDADE5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EE4FC1-A425-A93B-3D2F-F344D079B9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ED8C0C-E809-7FB3-0636-D3218F8289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0CBC6-1CC9-4001-AE6E-41A6F5C17D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107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913CB-ECD4-4CC1-8F40-AF8C3B526E0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507B-8D53-437B-B4D7-3602D889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5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"Obrigado. Fico à disposição para as perguntas."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5507B-8D53-437B-B4D7-3602D889123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178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"Boa tarde. Eu sou o Pedro, bolsista FAPEMIG aqui no René Rachou desde março, orientado pela professora Amanda Andrade. Vou falar de um índice de vulnerabilidade à saúde construído com o Censo de 2022."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"Quando a gente olha um indicador de uma cidade, quase sempre olha uma média. Só que a média junta, no mesmo número, o bairro que tem esgoto e o que não tem. [pausa] Para enxergar essa diferença, o IBGE divide a cidade em setores censitários. Pensem num quarteirão, ou em poucos quarteirões: é a menor área com dados do Censo. Belo Horizonte usou isso em 2012 para criar um Índice de Vulnerabilidade à Saúde por setor, juntando saneamento e condição socioeconômica. O que ainda não existia era esse índice com o Censo de 2022, para várias cidades ao mesmo tempo."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 projeto da professora Amanda quer [ler o objetivo geral]. Dentro dele, eu tenho dois objetivos: construir esse índice e depois ver como ele se distribui no espaço, em mapas. O primeiro está em andamento; o segundo vem depois. Hoje eu vou mostrar três coisas: como montei a base, o que os dados me mostraram no caminho e por que isso muda o jeito de calcular o índice."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"Usei as mesmas sete variáveis do índice de Belo Horizonte, em duas dimensões. No saneamento: água, esgoto e lixo inadequados. Na parte socioeconômica: quantas pessoas moram por domicílio, analfabetismo, renda e a proporção de pessoas pretas, pardas e indígenas. Os municípios são os 70 do ELSI-Brasil, o Estudo Longitudinal da Saúde dos Idosos Brasileiros. Comecei com 109 mil setores. Tirei os que não têm moradores, os que o IBGE escondeu por sigilo e os rurais, porque o índice é urbano. Ficaram 104.108 setores, onde moram 52 milhões de pessoas."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"Antes de olhar qualquer resultado, eu precisava saber se o meu código estava certo. Rodei as mesmas rotinas no Brasil inteiro, 468 mil setores, e comparei com o que o IBGE publica. A população bateu: 203.080.756 pessoas. O índice de envelhecimento deu 79,99; o do IBGE é 80. No caminho apareceram decisões. Um exemplo: um setor de favela em Belo Horizonte com renda média de 170 mil reais por mês. Não combina com o próprio setor, então eu o tirei da análise. [pausa] Foi aí que eu entendi a lição deste trabalho: cada decisão muda o resultado, então cada uma precisa ser justificada e registrada."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 primeira coisa que os dados me mostraram: em 74% dos setores, nenhum domicílio foi registrado com água inadequada. No esgoto são 73%; no lixo, 63%. Para a cidade é uma boa notícia, mas para o método é um problema. Quando a maioria dos valores é zero e poucos setores concentram o problema, a média engana. A renda se comporta igual: a média fica 63% acima da mediana, puxada por poucos setores muito ricos. Se eu pusesse isso direto numa escala de zero a um, quase todos os setores ficariam espremidos num canto da escala. Isso precisa ser tratado antes de calcular o índice."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 segunda. Quando um setor tem pouquíssima gente numa categoria, o IBGE esconde o número para ninguém ser identificado. É o sigilo. No analfabetismo, ele escondeu o dado em 16% dos setores. E que setores são esses? [pausa] Onde o dado existe, a renda mediana é de 2.314 reais. Onde ele foi escondido, 6.093. Ou seja, o IBGE esconde justamente onde há poucos analfabetos, nos setores mais ricos. Se eu jogasse esses setores fora, a média de analfabetismo sairia maior do que é de verdade. O dado que falta não é aleatório; ele também informa."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 terceira. Quando olhei como as variáveis se relacionam, três andam juntas: renda, cor/raça e analfabetismo, com correlações entre 0,63 e 0,79. Elas parecem medir a mesma coisa, que é a posição social do setor. Já o lixo quase não se relaciona com nada. A minha hipótese, que ainda vou testar: o Censo conta a caçamba como destino inadequado do lixo, e a caçamba pode ter mais a ver com o jeito de coletar da cidade do que com vulnerabilidade."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"Esses dados também contam desigualdade. A proporção de domicílios com água inadequada é 16 vezes maior nos municípios do Norte do que nos do Sul da amostra. E aparece uma relação com o envelhecimento, que é o tema do nosso núcleo: os setores de renda mais alta têm mais idosos, e os de renda mais baixa, mais crianças. Isso acontece dentro das próprias cidades: em 50 dos 53 municípios em que deu para calcular, os que têm pelo menos 30 setores com dados completos, a relação vai nessa direção. Um cuidado: é uma relação entre áreas, não entre pessoas. Não dá para tirar conclusões sobre indivíduos a partir disso."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"Voltando ao começo: eu queria um índice que enxergasse dentro da cidade. Antes de calcular, os dados me mostraram três coisas que mudam o cálculo. Os zeros e a assimetria pedem um tratamento antes de padronizar, e a padronização vai ser feita dentro de cada município, como em Belo Horizonte. O sigilo pede um tratamento próprio para os dados ausentes. E o lixo vai ser testado na análise fatorial, que [frase aprovada pela Amanda] e vai orientar o peso de cada variável. Depois vêm as faixas de vulnerabilidade e os mapas. [pausa] [DECORAR] O que eu levo até aqui é isto: com dados, cada decisão muda o resultado. Por isso, cada uma está justificada e registrada."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Pergunta: "É comparável com o IVS de 2012?" — Mesmas dimensões, com adaptações documentadas: analfabetismo a partir de 15 anos (2012: 5+) e renda média do responsável no lugar das faixas de salário mínimo, que o Censo 2022 não traz por setor.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Pergunta: "E as correlações dos complementares?" — Água canalizada acompanha a água inadequada; moradia não convencional é praticamente independente; idosos e crianças vão em direções opostas.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Pergunta: "Quais as descritivas?" — Mediana zero nos três de saneamento; n menor no analfabetismo e no banheiro por causa do sigilo.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Pergunta: "Dá para generalizar para a região?" — Não: o Norte tem 6 municípios; os contrastes descrevem a amostra.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Pergunta: "Por que tirar só esse setor?" — O valor é incoerente com o perfil do próprio setor, uma favela; os demais extremos ficaram.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Pergunta: "Por que 53, se são 70?" — A correlação dentro do município só é estável com pelo menos 30 setores completos; municípios pequenos ficam com poucos setores após o recorte urbano.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Pergunta: "E a análise fatorial?" — Responder com a frase combinada com a Profa. Amanda.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0FF496-E02D-12EB-A4CE-96C9F5EE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97BC-9976-4586-BDEC-EE7A82F6E13F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1DFCCE-6D94-7BDD-E32F-D06A1A50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9ADEB1-4845-7428-4F95-B5DE13F4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982-FDF8-46E4-95BC-729AB370B4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43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04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68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9846103-F1E0-18C8-B3FD-C0013D8BB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7D955-F34F-3EC5-F047-4A31CD00D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A50A6A-59A7-D45D-6903-E6608D50F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F97BC-9976-4586-BDEC-EE7A82F6E13F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A4DC2E-72B8-4C1A-9639-9D001E2D0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187943-B131-8493-90D8-5934E38C7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FC982-FDF8-46E4-95BC-729AB370B4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43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AFB49F2-7AD7-5DF2-0F52-70E51BF9827B}"/>
              </a:ext>
            </a:extLst>
          </p:cNvPr>
          <p:cNvSpPr txBox="1"/>
          <p:nvPr/>
        </p:nvSpPr>
        <p:spPr>
          <a:xfrm>
            <a:off x="0" y="2417945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Calibri"/>
              </a:rPr>
              <a:t>Índice de vulnerabilidade à saúde das cidades brasileiras: dados do censo demográfico de 2022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A354C32-E805-53E5-AF0E-3418D2CF6F11}"/>
              </a:ext>
            </a:extLst>
          </p:cNvPr>
          <p:cNvSpPr txBox="1"/>
          <p:nvPr/>
        </p:nvSpPr>
        <p:spPr>
          <a:xfrm>
            <a:off x="0" y="3213556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Aluno: Pedro Dias Soares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Orientadora: Amanda Cristina de Souza Andrade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Coorientador(a): não se aplica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36D6E2-5BF8-8B99-93C1-98E62FAFB8BE}"/>
              </a:ext>
            </a:extLst>
          </p:cNvPr>
          <p:cNvSpPr txBox="1"/>
          <p:nvPr/>
        </p:nvSpPr>
        <p:spPr>
          <a:xfrm>
            <a:off x="0" y="417602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Grupo de Pesquisa no Programa: </a:t>
            </a:r>
            <a:r>
              <a:rPr sz="1600" b="1">
                <a:solidFill>
                  <a:srgbClr val="1F2A33"/>
                </a:solidFill>
                <a:highlight>
                  <a:srgbClr val="FFFF00"/>
                </a:highlight>
                <a:latin typeface="Calibri"/>
              </a:rPr>
              <a:t>A CONFIRMAR (o relatório traz o núcleo NESPE)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0781CA-225E-1A6B-C2CD-0C0B45F4A18A}"/>
              </a:ext>
            </a:extLst>
          </p:cNvPr>
          <p:cNvSpPr txBox="1"/>
          <p:nvPr/>
        </p:nvSpPr>
        <p:spPr>
          <a:xfrm>
            <a:off x="0" y="4581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Data de ingresso no Programa: 06/03/2026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Programa de vínculo: FAPEMIG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1C6632-29EB-DF55-F691-0B6748723885}"/>
              </a:ext>
            </a:extLst>
          </p:cNvPr>
          <p:cNvSpPr txBox="1"/>
          <p:nvPr/>
        </p:nvSpPr>
        <p:spPr>
          <a:xfrm>
            <a:off x="0" y="5473913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Belo Horizonte, 2026</a:t>
            </a:r>
          </a:p>
        </p:txBody>
      </p:sp>
    </p:spTree>
    <p:extLst>
      <p:ext uri="{BB962C8B-B14F-4D97-AF65-F5344CB8AC3E}">
        <p14:creationId xmlns:p14="http://schemas.microsoft.com/office/powerpoint/2010/main" val="247906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7F91B7-CE6A-5B31-6369-BE0DC111ACBE}"/>
              </a:ext>
            </a:extLst>
          </p:cNvPr>
          <p:cNvSpPr txBox="1"/>
          <p:nvPr/>
        </p:nvSpPr>
        <p:spPr>
          <a:xfrm>
            <a:off x="9358792" y="3614643"/>
            <a:ext cx="2197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/>
              <a:t>Obrigado(a)!</a:t>
            </a:r>
          </a:p>
        </p:txBody>
      </p:sp>
    </p:spTree>
    <p:extLst>
      <p:ext uri="{BB962C8B-B14F-4D97-AF65-F5344CB8AC3E}">
        <p14:creationId xmlns:p14="http://schemas.microsoft.com/office/powerpoint/2010/main" val="351960935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A média da cidade esconde o que acontece dentro dela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000" y="1944000"/>
            <a:ext cx="2592000" cy="2592000"/>
          </a:xfrm>
          <a:prstGeom prst="rect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média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4680000"/>
            <a:ext cx="3311999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2A33"/>
                </a:solidFill>
                <a:latin typeface="Calibri"/>
              </a:rPr>
              <a:t>1 cidade, 1 número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00000" y="2988000"/>
            <a:ext cx="1007999" cy="503999"/>
          </a:xfrm>
          <a:prstGeom prst="rightArrow">
            <a:avLst/>
          </a:prstGeom>
          <a:solidFill>
            <a:srgbClr val="E88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24000" y="19440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3200" y="19440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2400" y="19440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01600" y="19440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60800" y="19440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0000" y="19440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9200" y="19440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38400" y="19440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97600" y="19440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56800" y="19440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24000" y="22032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3200" y="22032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2400" y="22032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01600" y="22032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60800" y="22032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0000" y="22032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9200" y="22032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38400" y="22032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97600" y="22032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56800" y="22032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240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32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424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016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608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00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92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384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976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56800" y="2462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24000" y="27216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83200" y="27216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42400" y="27216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01600" y="27216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60800" y="27216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0000" y="27216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79200" y="27216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38400" y="27216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97600" y="27216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56800" y="27216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24000" y="29808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83200" y="29808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42400" y="29808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01600" y="29808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60800" y="29808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0000" y="29808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79200" y="29808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38400" y="29808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7600" y="29808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6800" y="29808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24000" y="32400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83200" y="32400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42400" y="32400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01600" y="32400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0800" y="32400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20000" y="32400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79200" y="32400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38400" y="32400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97600" y="32400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56800" y="32400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24000" y="34992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83200" y="34992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342400" y="34992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01600" y="34992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60800" y="34992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0000" y="34992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79200" y="34992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38400" y="34992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97600" y="34992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156800" y="34992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240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0832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3424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016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8608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200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3792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384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976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56800" y="37584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824000" y="40176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083200" y="40176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342400" y="40176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01600" y="40176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60800" y="40176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20000" y="40176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379200" y="40176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638400" y="40176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897600" y="40176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156800" y="40176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824000" y="42768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083200" y="42768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342400" y="42768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601600" y="42768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860800" y="42768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20000" y="4276800"/>
            <a:ext cx="237599" cy="237599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379200" y="4276800"/>
            <a:ext cx="237599" cy="237599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38400" y="4276800"/>
            <a:ext cx="237599" cy="237599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97600" y="4276800"/>
            <a:ext cx="237599" cy="237599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56800" y="4276800"/>
            <a:ext cx="237599" cy="237599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320000" y="4680000"/>
            <a:ext cx="36000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2A33"/>
                </a:solidFill>
                <a:latin typeface="Calibri"/>
              </a:rPr>
              <a:t>centenas de setores censitários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20000" y="5148000"/>
            <a:ext cx="3600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780"/>
                </a:solidFill>
                <a:latin typeface="Calibri"/>
              </a:rPr>
              <a:t>esquema ilustrativo — não são dados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43999" y="1944000"/>
            <a:ext cx="3671999" cy="3240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B848E"/>
                </a:solidFill>
                <a:latin typeface="Calibri"/>
              </a:rPr>
              <a:t>Setor censitário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a menor área com dados do Censo — como um quarteirão, ou poucos quarteirões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3B848E"/>
                </a:solidFill>
                <a:latin typeface="Calibri"/>
              </a:rPr>
              <a:t>Referência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Índice de Vulnerabilidade da Saúde de Belo Horizonte, 2012 (SMS-BH, 2013)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3B848E"/>
                </a:solidFill>
                <a:latin typeface="Calibri"/>
              </a:rPr>
              <a:t>Lacuna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esse índice ainda não existia com o Censo 2022 para várias cidades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O projeto quer medir a vulnerabilidade onde ela acontece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692000"/>
            <a:ext cx="11520000" cy="1188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B848E"/>
                </a:solidFill>
                <a:latin typeface="Calibri"/>
              </a:rPr>
              <a:t>Objetivo geral do projeto da orientadora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3"/>
                </a:solidFill>
                <a:highlight>
                  <a:srgbClr val="FFFF00"/>
                </a:highlight>
                <a:latin typeface="Calibri"/>
              </a:rPr>
              <a:t>A CONFIRMAR — texto literal da Profa. Amanda. Provisório (relatório): </a:t>
            </a:r>
            <a:r>
              <a:rPr sz="1800" b="0">
                <a:solidFill>
                  <a:srgbClr val="1F2A33"/>
                </a:solidFill>
                <a:latin typeface="Calibri"/>
              </a:rPr>
              <a:t>Avaliar as desigualdades intraurbanas por meio da construção de um Índice de Vulnerabilidade à Saúde (IVS) de cidades brasileiras.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3131999"/>
            <a:ext cx="5688000" cy="1655999"/>
          </a:xfrm>
          <a:prstGeom prst="rect">
            <a:avLst/>
          </a:prstGeom>
          <a:noFill/>
          <a:ln w="19050">
            <a:solidFill>
              <a:srgbClr val="79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B848E"/>
                </a:solidFill>
                <a:latin typeface="Calibri"/>
              </a:rPr>
              <a:t>Meu objetivo 1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A33"/>
                </a:solidFill>
                <a:latin typeface="Calibri"/>
              </a:rPr>
              <a:t>Construir o IVS intraurbano com o Censo 2022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4356000"/>
            <a:ext cx="1512000" cy="324000"/>
          </a:xfrm>
          <a:prstGeom prst="roundRect">
            <a:avLst/>
          </a:prstGeom>
          <a:solidFill>
            <a:srgbClr val="E8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em andamento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155999" y="3131999"/>
            <a:ext cx="5688000" cy="1655999"/>
          </a:xfrm>
          <a:prstGeom prst="rect">
            <a:avLst/>
          </a:prstGeom>
          <a:noFill/>
          <a:ln w="19050">
            <a:solidFill>
              <a:srgbClr val="79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B848E"/>
                </a:solidFill>
                <a:latin typeface="Calibri"/>
              </a:rPr>
              <a:t>Meu objetivo 2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A33"/>
                </a:solidFill>
                <a:latin typeface="Calibri"/>
              </a:rPr>
              <a:t>Analisar a distribuição espacial do IVS (mapas)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2000" y="4356000"/>
            <a:ext cx="1512000" cy="324000"/>
          </a:xfrm>
          <a:prstGeom prst="roundRect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 iniciar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5184000"/>
            <a:ext cx="11520000" cy="576000"/>
          </a:xfrm>
          <a:prstGeom prst="rect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3B848E"/>
                </a:solidFill>
                <a:latin typeface="Calibri"/>
              </a:rPr>
              <a:t>Hoje:  </a:t>
            </a:r>
            <a:r>
              <a:rPr sz="2000" b="0">
                <a:solidFill>
                  <a:srgbClr val="1F2A33"/>
                </a:solidFill>
                <a:latin typeface="Calibri"/>
              </a:rPr>
              <a:t>como montei a base   →   o que os dados me mostraram   →   o que muda no índice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Reconstruí o IVS de 2012 com o Censo 2022 nos 70 municípios do ELSI-Brasil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692000"/>
            <a:ext cx="2951999" cy="468000"/>
          </a:xfrm>
          <a:prstGeom prst="rect">
            <a:avLst/>
          </a:prstGeom>
          <a:solidFill>
            <a:srgbClr val="3B8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Saneamento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2160000"/>
            <a:ext cx="2951999" cy="2951999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• água inadequada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• esgoto inadequado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• lixo inadequado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0000" y="1692000"/>
            <a:ext cx="2951999" cy="468000"/>
          </a:xfrm>
          <a:prstGeom prst="rect">
            <a:avLst/>
          </a:prstGeom>
          <a:solidFill>
            <a:srgbClr val="D86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Socioeconômica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0000" y="2160000"/>
            <a:ext cx="2951999" cy="2951999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• moradores por domicílio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• analfabetismo (15 anos ou mais)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• renda do responsável (invertida)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• pessoas pretas, pardas ou indígenas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5220000"/>
            <a:ext cx="6048000" cy="57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780"/>
                </a:solidFill>
                <a:latin typeface="Calibri"/>
              </a:rPr>
              <a:t>↑ valor = ↑ vulnerabilidade. Sete variáveis, as mesmas do índice de 2012.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96000" y="1692000"/>
            <a:ext cx="5148000" cy="75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Calibri"/>
              </a:rPr>
              <a:t>109.032 setores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nos 70 municípios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96000" y="2538000"/>
            <a:ext cx="5148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B7780"/>
                </a:solidFill>
                <a:latin typeface="Calibri"/>
              </a:rPr>
              <a:t>− 1.736 sem moradores  ·  − 1.015 com sigilo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6000" y="2988000"/>
            <a:ext cx="5148000" cy="684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Calibri"/>
              </a:rPr>
              <a:t>106.281 setores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6000" y="3762000"/>
            <a:ext cx="5148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B7780"/>
                </a:solidFill>
                <a:latin typeface="Calibri"/>
              </a:rPr>
              <a:t>− 2.173 rurais (2,04%) — o índice é urbano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6000" y="4212000"/>
            <a:ext cx="5148000" cy="756000"/>
          </a:xfrm>
          <a:prstGeom prst="rect">
            <a:avLst/>
          </a:prstGeom>
          <a:solidFill>
            <a:srgbClr val="3B8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104.108 setores urbanos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52,1 milhões de moradores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2022. ELSI-Brasil: Estudo Longitudinal da Saúde dos Idosos Brasileiros (Lima-Costa et al., 2018).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Antes de confiar nos dados, conferi o processamento com os números oficiais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728000"/>
            <a:ext cx="5688000" cy="2304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800"/>
              </a:spcAft>
            </a:pPr>
            <a:r>
              <a:rPr sz="4600" b="1">
                <a:solidFill>
                  <a:srgbClr val="3B848E"/>
                </a:solidFill>
                <a:latin typeface="Calibri"/>
              </a:rPr>
              <a:t>203.080.756</a:t>
            </a:r>
          </a:p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pessoas: a população oficial do Brasil, reproduzida rodando as mesmas rotinas nos 468.099 setores do país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55999" y="1728000"/>
            <a:ext cx="5688000" cy="2304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800"/>
              </a:spcAft>
            </a:pPr>
            <a:r>
              <a:rPr sz="4600" b="1">
                <a:solidFill>
                  <a:srgbClr val="3B848E"/>
                </a:solidFill>
                <a:latin typeface="Calibri"/>
              </a:rPr>
              <a:t>79,99  ×  80,0</a:t>
            </a:r>
          </a:p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índice de envelhecimento do Brasil: meu cálculo × o publicado pelo IBGE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4248000"/>
            <a:ext cx="11520000" cy="1296000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8634E"/>
                </a:solidFill>
                <a:latin typeface="Calibri"/>
              </a:rPr>
              <a:t>Uma decisão no caminho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Um setor de favela em Belo Horizonte aparecia com renda média de </a:t>
            </a:r>
            <a:r>
              <a:rPr sz="2000" b="1">
                <a:solidFill>
                  <a:srgbClr val="1F2A33"/>
                </a:solidFill>
                <a:latin typeface="Calibri"/>
              </a:rPr>
              <a:t>R$ 170.418,06</a:t>
            </a:r>
            <a:r>
              <a:rPr sz="2000" b="0">
                <a:solidFill>
                  <a:srgbClr val="1F2A33"/>
                </a:solidFill>
                <a:latin typeface="Calibri"/>
              </a:rPr>
              <a:t> por mês — incoerente com o próprio setor. Retirado da análise.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" y="5688000"/>
            <a:ext cx="11520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780"/>
                </a:solidFill>
                <a:latin typeface="Calibri"/>
              </a:rPr>
              <a:t>Outras adequações ao Censo 2022: denominador dos domicílios · analfabetismo a partir de 15 anos · dados sob sigilo tratados como ausentes · caçamba como destino inadequado do lixo (reserva R1).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Em 74% dos setores, nenhum domicílio tem água inadequada</a:t>
            </a:r>
          </a:p>
        </p:txBody>
      </p:sp>
      <p:pic>
        <p:nvPicPr>
          <p:cNvPr id="3" name="Picture 2" descr="oral_zeros_sane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655999"/>
            <a:ext cx="7632000" cy="408223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36000" y="1800000"/>
            <a:ext cx="3744000" cy="1800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3B848E"/>
                </a:solidFill>
                <a:latin typeface="Calibri"/>
              </a:rPr>
              <a:t>A renda também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F2A33"/>
                </a:solidFill>
                <a:latin typeface="Calibri"/>
              </a:rPr>
              <a:t>média 63% acima da mediana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6B7780"/>
                </a:solidFill>
                <a:latin typeface="Calibri"/>
              </a:rPr>
              <a:t>R$ 4.185,81 × R$ 2.572,39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6000" y="3816000"/>
            <a:ext cx="3744000" cy="1655999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8634E"/>
                </a:solidFill>
                <a:latin typeface="Calibri"/>
              </a:rPr>
              <a:t>O que isso muda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Com tantos zeros, a média engana: numa escala de 0 a 1, quase todos os setores ficariam espremidos num canto.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 — 104.108 setores urbanos dos 70 municípios do ELSI-Brasil.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O dado que falta também diz alguma coisa</a:t>
            </a:r>
          </a:p>
        </p:txBody>
      </p:sp>
      <p:pic>
        <p:nvPicPr>
          <p:cNvPr id="3" name="Picture 2" descr="oral_sigilo_analfabetis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584000"/>
            <a:ext cx="6202286" cy="4824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12000" y="1800000"/>
            <a:ext cx="4968000" cy="1872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B848E"/>
                </a:solidFill>
                <a:latin typeface="Calibri"/>
              </a:rPr>
              <a:t>Sigilo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Quando há pouquíssima gente numa categoria, o IBGE esconde o número para ninguém ser identificado.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3"/>
                </a:solidFill>
                <a:latin typeface="Calibri"/>
              </a:rPr>
              <a:t>No analfabetismo: 16% dos setores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912000" y="3888000"/>
            <a:ext cx="4968000" cy="1944000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8634E"/>
                </a:solidFill>
                <a:latin typeface="Calibri"/>
              </a:rPr>
              <a:t>O que isso muda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O IBGE esconde onde há poucos analfabetos — nos setores mais ricos. Descartá-los faria o analfabetismo parecer maior do que 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 — 104.108 setores urbanos dos 70 municípios do ELSI-Brasil.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Renda, cor/raça e analfabetismo andam juntos; o lixo anda sozinho</a:t>
            </a:r>
          </a:p>
        </p:txBody>
      </p:sp>
      <p:pic>
        <p:nvPicPr>
          <p:cNvPr id="3" name="Picture 2" descr="oral_correl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584000"/>
            <a:ext cx="8136000" cy="438092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68000" y="2015999"/>
            <a:ext cx="3311999" cy="1512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B848E"/>
                </a:solidFill>
                <a:latin typeface="Calibri"/>
              </a:rPr>
              <a:t>Uma só dimensão?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As três parecem medir a mesma coisa: a posição social do setor.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0" y="3960000"/>
            <a:ext cx="3311999" cy="2015999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8634E"/>
                </a:solidFill>
                <a:latin typeface="Calibri"/>
              </a:rPr>
              <a:t>Hipótese a testar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O Censo conta a caçamba como destino inadequado; ela pode medir o jeito de coletar da cidade, não a vulnerabilidade.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Correlação de Spearman nos 75.629 setores com os 12 indicadores completos (Figura 1 do relatório); renda invertida. Fonte: IBGE, Censo 2022.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A desigualdade aparece entre regiões e entre gerações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728000"/>
            <a:ext cx="5688000" cy="4104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1000"/>
              </a:spcAft>
            </a:pPr>
            <a:r>
              <a:rPr sz="8000" b="1">
                <a:solidFill>
                  <a:srgbClr val="3B848E"/>
                </a:solidFill>
                <a:latin typeface="Calibri"/>
              </a:rPr>
              <a:t>16×</a:t>
            </a:r>
          </a:p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mais domicílios com água inadequada nos municípios do Norte do que nos do Sul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6B7780"/>
                </a:solidFill>
                <a:latin typeface="Calibri"/>
              </a:rPr>
              <a:t>média por setor: 0,323 × 0,020 · o Norte tem 6 municípios na amostra — descreve os municípios estudados, não a região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56000" y="1728000"/>
            <a:ext cx="5688000" cy="4104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1000"/>
              </a:spcAft>
            </a:pPr>
            <a:r>
              <a:rPr sz="8000" b="1">
                <a:solidFill>
                  <a:srgbClr val="D8634E"/>
                </a:solidFill>
                <a:latin typeface="Calibri"/>
              </a:rPr>
              <a:t>50 de 53</a:t>
            </a:r>
          </a:p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municípios em que os setores de renda mais alta têm mais idosos — e os de renda mais baixa, mais crianças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6B7780"/>
                </a:solidFill>
                <a:latin typeface="Calibri"/>
              </a:rPr>
              <a:t>municípios com pelo menos 30 setores com dados completos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5940000"/>
            <a:ext cx="115200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F2A33"/>
                </a:solidFill>
                <a:latin typeface="Calibri"/>
              </a:rPr>
              <a:t>Relação entre áreas, não entre pessoas.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 — 104.108 setores urbanos dos 70 municípios do ELSI-Brasil.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Três achados mudam como o índice será calculado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655999"/>
            <a:ext cx="4320000" cy="666000"/>
          </a:xfrm>
          <a:prstGeom prst="rect">
            <a:avLst/>
          </a:prstGeom>
          <a:solidFill>
            <a:srgbClr val="3B8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Muitos zeros e assimetria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680000" y="1655999"/>
            <a:ext cx="503999" cy="66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E8813A"/>
                </a:solidFill>
                <a:latin typeface="Calibri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0000" y="1655999"/>
            <a:ext cx="6623999" cy="66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tratar antes de padronizar; padronizar dentro de cada município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" y="2430000"/>
            <a:ext cx="4320000" cy="666000"/>
          </a:xfrm>
          <a:prstGeom prst="rect">
            <a:avLst/>
          </a:prstGeom>
          <a:solidFill>
            <a:srgbClr val="3B8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Sigilo que não é aleatório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0" y="2430000"/>
            <a:ext cx="503999" cy="66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E8813A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220000" y="2430000"/>
            <a:ext cx="6623999" cy="66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tratamento próprio para os dados ausentes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3203999"/>
            <a:ext cx="4320000" cy="666000"/>
          </a:xfrm>
          <a:prstGeom prst="rect">
            <a:avLst/>
          </a:prstGeom>
          <a:solidFill>
            <a:srgbClr val="3B8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Lixo que anda sozinho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0000" y="3203999"/>
            <a:ext cx="503999" cy="66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E8813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000" y="3203999"/>
            <a:ext cx="6623999" cy="66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testar na análise fatorial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4031999"/>
            <a:ext cx="11520000" cy="3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Próximos passos</a:t>
            </a:r>
          </a:p>
        </p:txBody>
      </p:sp>
      <p:sp>
        <p:nvSpPr>
          <p:cNvPr id="13" name="Pentagon 12"/>
          <p:cNvSpPr/>
          <p:nvPr/>
        </p:nvSpPr>
        <p:spPr>
          <a:xfrm>
            <a:off x="324000" y="4392000"/>
            <a:ext cx="2232000" cy="576000"/>
          </a:xfrm>
          <a:prstGeom prst="homePlate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Análise fatorial</a:t>
            </a:r>
          </a:p>
        </p:txBody>
      </p:sp>
      <p:sp>
        <p:nvSpPr>
          <p:cNvPr id="14" name="Chevron 13"/>
          <p:cNvSpPr/>
          <p:nvPr/>
        </p:nvSpPr>
        <p:spPr>
          <a:xfrm>
            <a:off x="2646000" y="4392000"/>
            <a:ext cx="2232000" cy="576000"/>
          </a:xfrm>
          <a:prstGeom prst="chevron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Pesos</a:t>
            </a:r>
          </a:p>
        </p:txBody>
      </p:sp>
      <p:sp>
        <p:nvSpPr>
          <p:cNvPr id="15" name="Chevron 14"/>
          <p:cNvSpPr/>
          <p:nvPr/>
        </p:nvSpPr>
        <p:spPr>
          <a:xfrm>
            <a:off x="4968000" y="4392000"/>
            <a:ext cx="2232000" cy="576000"/>
          </a:xfrm>
          <a:prstGeom prst="chevron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Faixas de vulnerabilidade</a:t>
            </a:r>
          </a:p>
        </p:txBody>
      </p:sp>
      <p:sp>
        <p:nvSpPr>
          <p:cNvPr id="16" name="Chevron 15"/>
          <p:cNvSpPr/>
          <p:nvPr/>
        </p:nvSpPr>
        <p:spPr>
          <a:xfrm>
            <a:off x="7290000" y="4392000"/>
            <a:ext cx="2232000" cy="576000"/>
          </a:xfrm>
          <a:prstGeom prst="chevron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Mapas no QGIS</a:t>
            </a:r>
          </a:p>
        </p:txBody>
      </p:sp>
      <p:sp>
        <p:nvSpPr>
          <p:cNvPr id="17" name="Chevron 16"/>
          <p:cNvSpPr/>
          <p:nvPr/>
        </p:nvSpPr>
        <p:spPr>
          <a:xfrm>
            <a:off x="9612000" y="4392000"/>
            <a:ext cx="2232000" cy="576000"/>
          </a:xfrm>
          <a:prstGeom prst="chevron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Artigo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5040000"/>
            <a:ext cx="11520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Análise fatorial: </a:t>
            </a:r>
            <a:r>
              <a:rPr sz="1600" b="1">
                <a:solidFill>
                  <a:srgbClr val="1F2A33"/>
                </a:solidFill>
                <a:highlight>
                  <a:srgbClr val="FFFF00"/>
                </a:highlight>
                <a:latin typeface="Calibri"/>
              </a:rPr>
              <a:t>A CONFIRMAR — frase combinada com a Profa. Amanda (com ou sem resultados)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000" y="5544000"/>
            <a:ext cx="11520000" cy="792000"/>
          </a:xfrm>
          <a:prstGeom prst="rect">
            <a:avLst/>
          </a:prstGeom>
          <a:noFill/>
          <a:ln w="19050">
            <a:solidFill>
              <a:srgbClr val="79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3B848E"/>
                </a:solidFill>
                <a:latin typeface="Calibri"/>
              </a:rPr>
              <a:t>Cada decisão muda o resultado — por isso cada uma está justificada e registrada.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6B7780"/>
                </a:solidFill>
                <a:latin typeface="Calibri"/>
              </a:rPr>
              <a:t>Limitação: estudo ecológico — dados de áreas, não de pessoas.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R1 · Como as variáveis de 2012 foram reconstruídas no Censo 2022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1692000"/>
          <a:ext cx="11520000" cy="331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000"/>
                <a:gridCol w="3780000"/>
                <a:gridCol w="3960000"/>
              </a:tblGrid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Censo 2022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Água inadequada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V00112 a V00118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V00001 (domicílios part. perm. ocupados)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Esgoto inadequado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V00312 a V00316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V00001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Lixo inadequado (caçamba incluída)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V00398 a V00402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V00001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Razão de moradores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(V00005 + V00006)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V00001 + V00002 (inclui improvisados)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Analfabetismo 15+ (2012: 5+)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V00901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V00900 + V00901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Renda do responsável (invertida)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V06004 (média, já calculada pelo IBGE)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41400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Preta, parda ou indígena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V01318 + V01320 + V01321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população total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24000" y="5184000"/>
            <a:ext cx="11520000" cy="93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780"/>
                </a:solidFill>
                <a:latin typeface="Calibri"/>
              </a:rPr>
              <a:t>Sigilo: se o IBGE suprimiu todas as parcelas de um numerador, o indicador fica ausente, nunca zero; parcelas suprimidas em parte entram como zero, o que subestima saneamento e cor/raça (na água, a média real pode ser até 14,9% maior).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dicionário de dados dos agregados por setores censitários do Censo 2022 (IBGE); IVS 2012 (SMS-BH, 2013).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R2 · Correlação de Spearman entre os 12 indicadores</a:t>
            </a:r>
          </a:p>
        </p:txBody>
      </p:sp>
      <p:pic>
        <p:nvPicPr>
          <p:cNvPr id="3" name="Picture 2" descr="fig1_correl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0" y="1548000"/>
            <a:ext cx="5203310" cy="489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n = 75.629 setores com os 12 indicadores completos; renda invertida. Figura 1 do relatório parcial.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R3 · Estatísticas descritivas dos 12 indicadores (Tabela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1584000"/>
          <a:ext cx="11519999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1999"/>
                <a:gridCol w="1296000"/>
                <a:gridCol w="1368000"/>
                <a:gridCol w="1368000"/>
                <a:gridCol w="1368000"/>
                <a:gridCol w="1440000"/>
                <a:gridCol w="1368000"/>
              </a:tblGrid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Máx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Assim.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Água inadequada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0,070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0,012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3,42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Esgoto inadequado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0,082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0,018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2,98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Lixo inadequado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0,116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0,059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2,38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Razão de moradores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2,691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2,713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2,926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6,913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−0,22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Analfabetismo 15+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87.556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0,036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0,027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0,050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0,725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2,34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Renda média (R$)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104.095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4.185,81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2.572,39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4.835,82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140.172,64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3,20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Preta, parda ou indígena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0,527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0,572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0,704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−0,39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Sem água canalizada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104.067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0,015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8,70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Sem banheiro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91.912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21,31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Moradia não convencional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0,006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13,01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Idosos (60 anos ou mais)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103.823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0,175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0,166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0,231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0,857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0,55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Crianças (0 a 14 anos)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103.850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0,173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0,172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0,210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0,488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Proporções de 0 a 1, exceto razão de moradores e renda (R$). n = setores com o dado; ausentes por sigilo do IBGE. Renda sem o setor extremo.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R4 · Médias por região dos 7 indicadores do IVS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1655999"/>
          <a:ext cx="11520000" cy="35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000"/>
                <a:gridCol w="1692000"/>
                <a:gridCol w="1692000"/>
                <a:gridCol w="1692000"/>
                <a:gridCol w="1692000"/>
                <a:gridCol w="1692000"/>
              </a:tblGrid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Norte (6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Nordeste (22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Centro-Oeste (7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Sudeste (26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Sul (9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Água inadequada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0,323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0,118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0,055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0,038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0,020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Esgoto inadequado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0,238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0,162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0,075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0,049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0,029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Lixo inadequado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0,098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0,154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0,091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0,111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0,102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Razão de moradores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3,19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2,77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2,76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2,63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2,53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Analfabetismo 15+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0,033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0,062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0,031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0,030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0,021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Renda média (R$)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2.881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3.008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4.945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4.488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4.842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Preta, parda ou indígena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0,748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0,713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0,565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0,474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0,246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Setores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5.915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19.497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9.490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61.989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7.217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Médias simples entre setores. Os contrastes descrevem os municípios estudados, não as regiões.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R5 · O setor com renda média de R$ 170.418,06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692000"/>
            <a:ext cx="11520000" cy="237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Belo Horizonte · Senhor dos Passos — setor de favela (FCU Senhor dos Passos)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Renda média do responsável: R$ 170.418,06 — 55,7 vezes a mediana do município (R$ 3.060,31)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518 moradores em 186 domicílios · analfabetismo 7,0% · preta, parda ou indígena 75,3%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O perfil do setor não combina com a renda: tratado como valor incoerente e retirado da análise descritiva. Os demais valores extremos ficaram na base (máximo restante: R$ 140.172,64).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2022; rastreamento de extremos de renda (banco_de_dados/eda/renda_outliers_rastreados.csv).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R6 · Por que 53 municípios, e não 70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692000"/>
            <a:ext cx="5616000" cy="2304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Correlação dentro de cada município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Calculada só onde há pelo menos 30 setores com os 12 indicadores completos: 53 dos 70 municípios.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Idosos × renda invertida: negativa em 50 deles; mediana municipal −0,46.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28000" y="1692000"/>
            <a:ext cx="5616000" cy="2304000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D8634E"/>
                </a:solidFill>
                <a:latin typeface="Calibri"/>
              </a:rPr>
              <a:t>A exclusão dos setores rurais é desigual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No total saem 2,04% dos setores, mas 29 dos 70 municípios perdem mais de 10% e 14 perdem mais da metade.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Municípios pequenos ficam com poucos setores urbanos — isso entra nas limitações.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2022; conferência da exclusão rural por município (banco_de_dados/eda/exclusao_rural_conferencia.csv).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R7 · Análise fatorial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980000"/>
            <a:ext cx="11520000" cy="2160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1200"/>
              </a:spcAft>
            </a:pPr>
            <a:r>
              <a:rPr sz="2200" b="1">
                <a:solidFill>
                  <a:srgbClr val="1F2A33"/>
                </a:solidFill>
                <a:highlight>
                  <a:srgbClr val="FFFF00"/>
                </a:highlight>
                <a:latin typeface="Calibri"/>
              </a:rPr>
              <a:t>A CONFIRMAR — só entra com autorização da Profa. Amanda.</a:t>
            </a:r>
          </a:p>
          <a:p>
            <a:pPr algn="ctr">
              <a:spcAft>
                <a:spcPts val="1200"/>
              </a:spcAft>
            </a:pPr>
            <a:r>
              <a:rPr sz="2200" b="0">
                <a:solidFill>
                  <a:srgbClr val="1F2A33"/>
                </a:solidFill>
                <a:latin typeface="Calibri"/>
              </a:rPr>
              <a:t>Se autorizado: incluir aqui os resultados combinados. Se não: tirar este slide e responder na arguição com a frase combinada.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137</Words>
  <Application>Microsoft Office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Júnio Santos</dc:creator>
  <cp:lastModifiedBy>Júnio Santos</cp:lastModifiedBy>
  <cp:revision>2</cp:revision>
  <dcterms:created xsi:type="dcterms:W3CDTF">2026-10-07T18:20:18Z</dcterms:created>
  <dcterms:modified xsi:type="dcterms:W3CDTF">2026-10-07T18:35:12Z</dcterms:modified>
</cp:coreProperties>
</file>