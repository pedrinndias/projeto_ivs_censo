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ficam os indicadores e o IVS nos setores urbanos de todo o Brasil, lado a lado com os 70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base: em vez dos 70 municípios do ELSI, todos os setores urbanos com Dados_sig = OK do Brasil, montados dos arquivos nacionais do Censo com as mesmas regras e as mesmas funções da base da entrega. A fatorial, os pesos e as faixas são calculados com o país inteiro; componentes, rotação, pesos 60/40 e normalização no município são os da referência. As tabelas por município dos blocos 2, 4 e 5 passam a ser por UF, e a tabela T35 põe o país e os 70 municípios lado a 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funil mostra o caminho dos setores. A base completa inclui setores rurais e setores sem dados divulgados. O recorte da versão é o conjunto sobre o qual são calculadas as descritivas, as distribuições e as correlações. A amostra do índice é menor, porque a análise fatorial exige que o setor tenha todos os componentes preenchidos (exclusão por lista: basta faltar um componente para o setor sair). Essa diferença de amostra é importante quando se comparam números de blocos diferentes.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qualquer número, é preciso saber sobre quais setores ele foi calculado. Este bloco segue o caminho dos setores desde a base completa até a amostra do índice: cada filtro tira alguns, e o motivo de cada saída fica registrado. Também mostra, indicador por indicador, quantos setores não têm valor — porque um indicador com muitos faltantes muda a amostra de qualquer análise que 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funil mostra o caminho dos setores. A base completa inclui setores rurais e setores sem dados divulgados. O recorte da versão é o conjunto sobre o qual são calculadas as descritivas, as distribuições e as correlações. A amostra do índice é menor, porque a análise fatorial exige que o setor tenha todos os componentes preenchidos (exclusão por lista: basta faltar um componente para o setor sair). Essa diferença de amostra é importante quando se comparam números de blocos diferentes.
Como ler: Cada linha é um filtro, na ordem em que é aplicado: quantos setores ficam, quantos saem e por quê.
O que mostra: A base tem 468.099 setores; 347.400 ficam no recorte da versão e 249.404 têm todos os componentes do índice (97.996 saem nesta última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 a mesma informação da tabela do funil, em forma de barras. A queda entre o recorte e a amostra do índice é quase toda causada pelos indicadores com sigilo (renda e analfabetismo) e pelas partes do banheiro graduado, como mostra a tabela de perdas por indicador.
Como ler: Cada barra é uma etapa do funil; o comprimento é o número de setores que ainda estão dentro.
O que mostra: A barra final (249.404 setores) é a amostra do índice; a do recorte tem 347.400.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faltante é um setor do recorte em que o indicador não pôde ser calculado: porque o IBGE não divulgou a variável (sigilo), porque o denominador é zero (por exemplo, nenhuma pessoa de 60 anos ou mais para calcular a proporção de 70+ entre elas) ou porque alguma parte da conta faltou. Indicadores com muitos faltantes reduzem a amostra de qualquer análise que os inclua.
Como ler: Uma linha por indicador: setores com valor, setores sem valor e a porcentagem sem valor dentro do recorte.
O que mostra: O maior percentual de faltantes é o de Banheiro graduado (17,6%); o menor, o de Água inadequada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faltante é um setor do recorte em que o indicador não pôde ser calculado: porque o IBGE não divulgou a variável (sigilo), porque o denominador é zero (por exemplo, nenhuma pessoa de 60 anos ou mais para calcular a proporção de 70+ entre elas) ou porque alguma parte da conta faltou. Indicadores com muitos faltantes reduzem a amostra de qualquer análise que os inclua.
Como ler: Uma linha por indicador: setores com valor, setores sem valor e a porcentagem sem valor dentro do recorte.
O que mostra: O maior percentual de faltantes é o de Banheiro graduado (17,6%); o menor, o de Água inadequada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descritivas resumem cada indicador em poucos números: o centro (média e mediana), a dispersão (desvio-padrão, quartis, percentis 10 e 90) e a forma (assimetria e curtose). Elas aparecem para o conjunto, por região e por município, para que diferenças de lugar fiquem visíveis antes de qualquer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média é sensível a valores extremos; a mediana não. Quando as duas se afastam, a distribuição é assimétrica. A assimetria é positiva quando há uma cauda longa à direita (poucos setores com valores muito altos). A curtose mede o peso das caudas: valores altos indicam muitos extremos. O coeficiente de variação (DP dividido pela média, em %) permite comparar a dispersão de indicadores em escalas diferentes. Nos indicadores de saneamento, a maioria dos setores vale zero: a mediana é zero e o intervalo interquartil também, o que explica por que o critério de extremos muda para eles (bloco 5).
Como ler: Uma linha por indicador. n: setores com valor; DP: desvio-padrão; P10…P90: percentis; CV: coeficiente de variação; % zeros: setores com valor exatamente zero.
O que mostra: A maior assimetria é a de Domicílio improvisado (47,03); o maior percentual de zeros é o de Domicílio improvisado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média é sensível a valores extremos; a mediana não. Quando as duas se afastam, a distribuição é assimétrica. A assimetria é positiva quando há uma cauda longa à direita (poucos setores com valores muito altos). A curtose mede o peso das caudas: valores altos indicam muitos extremos. O coeficiente de variação (DP dividido pela média, em %) permite comparar a dispersão de indicadores em escalas diferentes. Nos indicadores de saneamento, a maioria dos setores vale zero: a mediana é zero e o intervalo interquartil também, o que explica por que o critério de extremos muda para eles (bloco 5).
Como ler: Uma linha por indicador. n: setores com valor; DP: desvio-padrão; P10…P90: percentis; CV: coeficiente de variação; % zeros: setores com valor exatamente zero.
O que mostra: A maior assimetria é a de Domicílio improvisado (47,03); o maior percentual de zeros é o de Domicílio improvisado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região é o primeiro dígito do código da unidade da federação. As diferenças entre regiões mostram o quanto o retrato depende do lugar: um indicador que varia muito entre regiões pode dominar um índice calculado com normalização global, e é por isso que a referência normaliza dentro de cada município.
Como ler: Uma linha por região e indicador, com as mesmas colunas da tabela global.
O que mostra: Para Renda média, a mediana mais alta está no Sul (2.831,34) e a mais baixa no Nordeste (1.518,56).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região é o primeiro dígito do código da unidade da federação. As diferenças entre regiões mostram o quanto o retrato depende do lugar: um indicador que varia muito entre regiões pode dominar um índice calculado com normalização global, e é por isso que a referência normaliza dentro de cada município.
Como ler: Uma linha por região e indicador, com as mesmas colunas da tabela global.
O que mostra: Para Renda média, a mediana mais alta está no Sul (2.831,34) e a mais baixa no Nordeste (1.518,56).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70 municípios de tamanhos muito diferentes: alguns têm poucas dezenas de setores, e a mediana deles é menos estável. A tabela completa serve para consulta; o slide destaca os extremos.
Como ler: Uma linha por município e indicador (tabela longa). No deck, um recorte; a tabela completa está no CSV.
O que mostra: Para Renda média, a maior mediana municipal é a de DF (3.518,49); a menor, a de CE (1.465,53).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70 municípios de tamanhos muito diferentes: alguns têm poucas dezenas de setores, e a mediana deles é menos estável. A tabela completa serve para consulta; o slide destaca os extremos.
Como ler: Uma linha por município e indicador (tabela longa). No deck, um recorte; a tabela completa está no CSV.
O que mostra: Para Renda média, a maior mediana municipal é a de DF (3.518,49); a menor, a de CE (1.465,53).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tabela põe lado a lado o conjunto amplo e a amostra do ELSI. Se os 70 municípios fossem um retrato do país, as médias seriam parecidas. Como a amostra é urbana e concentrada em municípios grandes, espera-se que indicadores de saneamento e de renda se afastem do conjunto do país. A diferença relativa é a diferença das médias dividida pela média da versão.
Como ler: Uma linha por indicador: n, média e mediana no recorte da versão e nos setores dele que pertencem ao recorte dos 70 municípios do ELSI.
O que mostra: São 347.400 setores na versão e 104.108 nos 70 municípios. A maior diferença relativa de média é a de Moradia não convencional: 0,0030 na versão e 0,0059 nos 70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tabela põe lado a lado o conjunto amplo e a amostra do ELSI. Se os 70 municípios fossem um retrato do país, as médias seriam parecidas. Como a amostra é urbana e concentrada em municípios grandes, espera-se que indicadores de saneamento e de renda se afastem do conjunto do país. A diferença relativa é a diferença das médias dividida pela média da versão.
Como ler: Uma linha por indicador: n, média e mediana no recorte da versão e nos setores dele que pertencem ao recorte dos 70 municípios do ELSI.
O que mostra: São 347.400 setores na versão e 104.108 nos 70 municípios. A maior diferença relativa de média é a de Moradia não convencional: 0,0030 na versão e 0,0059 nos 70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números do bloco anterior escondem a forma da distribuição. Histogramas, caixas e curvas de densidade mostram se o indicador se concentra em zero, se tem cauda longa ou se separa regiões. Cada painel reúne os indicadores de uma dimensão.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Saneamento, a maior assimetria é a de Sem banheiro nem sanitário (40,50).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(Água inadequada), a mediana regional vai de 0,0000 (Centro-Oeste) a 0,1796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Água inadequada, a mediana regional vai de 0,0000 (Centro-Oeste) a 0,1796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Socioeconômica, a maior assimetria é a de Renda média (5,78).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(Razão de moradores), a mediana regional vai de 2,6522 (Sul) a 3,1800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Razão de moradores, a mediana regional vai de 2,6522 (Sul) a 3,1800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Morfologia, a maior assimetria é a de Domicílio improvisado (47,03).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(Domicílio improvisado), a mediana regional vai de 0,0000 (Centro-Oeste) a 0,0000 (Centro-Oeste).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Domicílio improvisado, a mediana regional vai de 0,0000 (Centro-Oeste) a 0,0000 (Centro-Oeste).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histograma divide o intervalo de valores em 50 faixas iguais e conta os setores em cada uma. Uma barra alta junto do zero indica muitos setores sem o problema medido; uma cauda longa à direita indica poucos setores com valores muito altos. Os 0,5% de valores mais altos são omitidos só no desenho, para que a cauda não esmague a escala; as tabelas usam todos os valores.
Como ler: Um histograma por indicador da dimensão: no eixo horizontal, o valor; no vertical, quantos setores têm aquele valor. Os 0,5% maiores ficam de fora para a escala ser legível.
O que mostra: Entre os indicadores de Demografia, a maior assimetria é a de Dependência idosa (29,02).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de caixa resume a distribuição em cinco números. A caixa contém a metade central dos setores; se as caixas de duas regiões não se sobrepõem, a diferença entre elas é grande. Quando a mediana e o 1º quartil coincidem com zero, a caixa fica achatada no chão: é o caso dos indicadores com muitos zeros.
Como ler: Uma caixa por região: a linha dentro é a mediana, a caixa vai do 1º ao 3º quartil e as hastes até 1,5 intervalo interquartil. Os pontos extremos não são desenhados (ver bloco 5).
O que mostra: No primeiro indicador da dimensão (Crianças 0–4), a mediana regional vai de 0,0532 (Sudeste) a 0,0756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curva de densidade é um histograma suavizado e normalizado: a área sob ela vale 1, qualquer que seja o número de setores da região. Assim, comparam-se formas, não tamanhos. Picos em lugares diferentes indicam regiões com valores típicos diferentes; uma curva mais larga indica mais dispersão.
Como ler: Uma curva por região em cada painel: a altura indica onde os setores daquela região se concentram. As áreas sob as curvas são iguais, para que regiões grandes e pequenas sejam comparáveis.
O que mostra: Em Crianças 0–4, a mediana regional vai de 0,0532 (Sudeste) a 0,0756 (Norte).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IBGE não divulga alguns valores para proteger o sigilo de setores pequenos. Se a falta fosse aleatória, bastaria descartar os setores sem dado; como ela se concentra em setores pequenos, descartar muda o retrato. Este bloco mostra onde estão os faltantes e como eles se distribuem pelo tamanho do setor.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faltantes não se espalham por igual entre os municípios. Onde eles se concentram, um índice calculado só com setores completos retrata pior o município, porque os setores que saem não são uma amostra ao acaso.
Como ler: Uma linha por município e uma coluna por indicador; cada célula é o percentual de setores do município sem aquele indicador.
O que mostra: A célula mais alta é Banheiro graduado em AC, com 55,3% dos setores sem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mapa de calor mostra a tabela anterior como cores. Colunas inteiras escuras indicam indicadores com sigilo ou denominador frequentemente zero; linhas escuras indicam municípios com muitos setores pequenos.
Como ler: Mapa de calor: linhas são municípios, colunas são indicadores; quanto mais escura a célula, maior o percentual de setores sem valor.
O que mostra: O ponto mais escuro é Banheiro graduado em AC (55,3%).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falta de dados fosse aleatória, o percentual de faltantes seria parecido em todos os décimos. Quando ele se concentra nos setores pequenos, a falta é não aleatória: o IBGE suprime valores para proteger o sigilo de quem mora em setores com poucos domicílios. A consequência é que análises só com setores completos sub-representam setores pequenos.
Como ler: Os setores são divididos em dez grupos iguais pelo número de moradores (1 = os menores). Para cada grupo, o percentual de setores sem renda e sem analfabetismo, e o percentual em FCU.
O que mostra: Sem renda: 0,1% no primeiro décimo e 0,0% no último. Sem analfabetismo: 27,4% 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duas linhas mostram a mesma tabela em forma de gráfico. Uma linha que desce da esquerda para a direita é o sinal do sigilo: quanto menor o setor, mais provável que o valor tenha sido suprimido.
Como ler: Eixo horizontal: décimo de moradores do setor (1 = menores). Eixo vertical: percentual de setores sem o indicador.
O que mostra: Renda: de 0,1% a 0,0%; analfabetismo: de 27,4% a 1,9%, do menor ao maior décimo.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extremo não é um erro por definição: pode ser um setor realmente diferente. O critério muda com o indicador: o intervalo interquartil onde ele funciona, um critério próprio para a renda e, nos indicadores em que a maioria dos setores vale zero, o critério aplicado só aos valores acima de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critério de Tukey marca como extremo o valor que fica a mais de 3 intervalos interquartis abaixo do 1º quartil ou acima do 3º (o intervalo interquartil é a distância entre o 1º e o 3º quartil). Nos indicadores com mediana zero esse intervalo é zero, e qualquer valor positivo viraria extremo; por isso, neles, o critério é aplicado só aos valores acima de zero. A renda usa o critério próprio do projeto: limite de Tukey dentro de cada município e um teste de coerência com o perfil do setor, que separa a renda alta de verdade (EXTREMO) da provável inconsistência (SUSPEITO).
Como ler: Uma linha por indicador: o critério usado, os limites, quantos setores passam deles e o percentual de zeros.
O que mostra: O maior percentual de extremos é o de Casa (11,0%), pelo critério “Tukey k=3 (intervalo interquartil)”.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critério de Tukey marca como extremo o valor que fica a mais de 3 intervalos interquartis abaixo do 1º quartil ou acima do 3º (o intervalo interquartil é a distância entre o 1º e o 3º quartil). Nos indicadores com mediana zero esse intervalo é zero, e qualquer valor positivo viraria extremo; por isso, neles, o critério é aplicado só aos valores acima de zero. A renda usa o critério próprio do projeto: limite de Tukey dentro de cada município e um teste de coerência com o perfil do setor, que separa a renda alta de verdade (EXTREMO) da provável inconsistência (SUSPEITO).
Como ler: Uma linha por indicador: o critério usado, os limites, quantos setores passam deles e o percentual de zeros.
O que mostra: O maior percentual de extremos é o de Casa (11,0%), pelo critério “Tukey k=3 (intervalo interquartil)”.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critério de Tukey marca como extremo o valor que fica a mais de 3 intervalos interquartis abaixo do 1º quartil ou acima do 3º (o intervalo interquartil é a distância entre o 1º e o 3º quartil). Nos indicadores com mediana zero esse intervalo é zero, e qualquer valor positivo viraria extremo; por isso, neles, o critério é aplicado só aos valores acima de zero. A renda usa o critério próprio do projeto: limite de Tukey dentro de cada município e um teste de coerência com o perfil do setor, que separa a renda alta de verdade (EXTREMO) da provável inconsistência (SUSPEITO).
Como ler: Uma linha por indicador: o critério usado, os limites, quantos setores passam deles e o percentual de zeros.
O que mostra: O maior percentual de extremos é o de Casa (11,0%), pelo critério “Tukey k=3 (intervalo interquartil)”.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total soma marcações, não setores: um setor extremo em dois indicadores conta duas vezes. Municípios grandes tendem a ter mais marcações só por terem mais setores; a comparação justa é com o número de setores de cada um (bloco 2).
Como ler: Uma linha por município e uma coluna por indicador, com o número de setores marcados; a coluna total soma todas as marcações.
O que mostra: O município com mais marcações é SP, com 46.016 no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lista serve para conferência caso a caso: abrir o setor, olhar o entorno e decidir se é um setor diferente de verdade ou um erro de registro. Nenhum setor é retirado das análises por estar nesta lista.
Como ler: Até dez setores por indicador, os mais distantes da mediana entre os marcados como extremo: código do setor, município, valor e mediana global.
O que mostra: No topo da lista de Renda média está um setor de Valença/RJ, com valor 177.068,09.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lista serve para conferência caso a caso: abrir o setor, olhar o entorno e decidir se é um setor diferente de verdade ou um erro de registro. Nenhum setor é retirado das análises por estar nesta lista.
Como ler: Até dez setores por indicador, os mais distantes da mediana entre os marcados como extremo: código do setor, município, valor e mediana global.
O que mostra: No topo da lista de Renda média está um setor de Valença/RJ, com valor 177.068,09.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classe vem do rastreio da renda do projeto (src/ivs_censo/renda.py). Um setor de renda alta com baixo analfabetismo e pouca população preta, parda ou indígena é coerente; o mesmo valor num setor com perfil oposto é suspeito. A variante de renda “sem o extremo” retira esses valores; a referência usa a renda original.
Como ler: Cada setor com renda recebe uma classe: NORMAL, EXTREMO (acima do limite do município, mas coerente com o perfil) ou SUSPEITO (acima do limite e incoerente).
O que mostra: São 308 setores SUSPEITO (0,09%) e 7.832 EXTREMO.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percentuais não são comparáveis de forma direta entre critérios diferentes: o critério da inflação de zeros olha só os setores com valor acima de zero. O gráfico serve para localizar os indicadores em que os extremos merecem atenção.
Como ler: Uma barra por indicador, com o percentual de setores marcados; a cor indica o critério (petróleo: Tukey; cinza: inflação de zeros; argila: renda).
O que mostra: A barra mais longa é a de Casa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mede o quanto dois indicadores sobem e descem juntos, de −1 a 1. Pares muito correlacionados medem quase a mesma coisa; pares sem correlação trazem informação diferente. O bloco mostra as duas medidas usuais (Spearman, por postos, e Pearson, linear) e agrupa os indicadores parecidos.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de Spearman é calculada sobre os postos (a ordem dos setores), não sobre os valores. Por isso é pouco afetada por extremos e capta relações que sobem sempre, mesmo que não em linha reta. Valor perto de 1: os setores ordenados por um indicador ficam quase na mesma ordem pelo outro; perto de −1: ordem invertida; perto de 0: sem relação de ordem. Cada par usa os setores com os dois valores.
Como ler: Matriz de correlação de Spearman: cada célula é a correlação entre o indicador da linha e o da coluna, de −1 a 1.
O que mostra: A maior correlação em módulo é entre Renda média e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correlação de Pearson mede a relação em linha reta entre os valores. Ela é sensível a extremos e a distribuições muito assimétricas, como as do saneamento. Quando Pearson e Spearman divergem muito para um mesmo par, a relação é puxada por poucos setores extremos ou não é linear.
Como ler: Matriz de correlação de Pearson, com a mesma leitura da de Spearman.
O que mostra: A maior correlação de Pearson em módulo é entre Renda média e Renda sem o extremo (r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indicadores com correlação acima de 0,80 medem praticamente a mesma coisa. Pôr os dois no índice dá peso dobrado a essa dimensão. Muitas vezes são variantes de um mesmo conceito (por exemplo, as três rendas ou as várias definições de água), e a escolha entre elas é uma das decisões que as versões do eixo B exploram.
Como ler: Os pares de indicadores com correlação de pelo menos 0,80 em módulo, por Spearman ou por Pearson, do mais forte para o mais fraco.
O que mostra: No topo: Renda média × Renda sem o extremo, com Spearman 1,0000 e Pearson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indicadores com correlação acima de 0,80 medem praticamente a mesma coisa. Pôr os dois no índice dá peso dobrado a essa dimensão. Muitas vezes são variantes de um mesmo conceito (por exemplo, as três rendas ou as várias definições de água), e a escolha entre elas é uma das decisões que as versões do eixo B exploram.
Como ler: Os pares de indicadores com correlação de pelo menos 0,80 em módulo, por Spearman ou por Pearson, do mais forte para o mais fraco.
O que mostra: No topo: Renda média × Renda sem o extremo, com Spearman 1,0000 e Pearson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reordenação põe lado a lado os indicadores que se correlacionam entre si, e os blocos de cor ao longo da diagonal revelam os grupos. Um grupo nítido costuma corresponder a uma dimensão: socioeconômica, saneamento, moradia, idade.
Como ler: Matriz de correlação de Spearman entre todos os indicadores, reordenados pelo agrupamento do dendrograma. Cada célula do triângulo inferior traz o valor de ρ (−1 a 1); argila é correlação positiva, petróleo negativa, branco é perto de zero. Com 31 indicadores, os valores só ficam legíveis com a figura ampliada; as matrizes por dimensão vêm a seguir.
O que mostra: O par mais forte é Renda média ×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 a matriz no formato da que a orientadora enviou: o IVS e as variáveis novas lado a lado, com os valores escritos. A correlação de Spearman mede se dois indicadores ordenam os setores do mesmo jeito: 1 é a mesma ordem, −1 a ordem invertida, 0 nenhuma relação. A renda aparece como renda média (não invertida): por isso ela tem correlação negativa com as carências. Variáveis com muitos zeros (água não chega, sem banheiro, moradia não convencional) têm correlações achatadas, porque os empates em zero não têm ordem.
Como ler: Matriz de Spearman só com os componentes do índice (acima e à esquerda da linha) e as variáveis das demandas de setembro (abaixo e à direita). Cada célula traz o ρ; argila é positiva, petróleo negativa.
O que mostra: Entre uma variável nova e um componente de outra família, o par mais forte é Sem água canalizada × Cor/raça PPI (ρ = 0,4461). Pares de variantes da mesma coisa (como banheiro graduado e sem banheiro) ficam de fora do destaque.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Saneamento; cada célula traz o ρ (−1 a 1). Argila é correlação positiva, petróleo negativa.
O que mostra: Na dimensão Saneamento, o par mais forte é Sem banheiro × Banheiro graduado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Socioeconômica; cada célula traz o ρ (−1 a 1). Argila é correlação positiva, petróleo negativa.
O que mostra: Na dimensão Socioeconômica, o par mais forte é Renda média ×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Morfologia; cada célula traz o ρ (−1 a 1). Argila é correlação positiva, petróleo negativa.
O que mostra: Na dimensão Morfologia, o par mais forte é Habitação precária × Moradia não convencional (ρ = 0,9459).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matriz completa tem 31 indicadores e, num slide, os valores ficam pequenos demais; por isso cada dimensão tem a sua. Pares com ρ perto de 1 são, quase sempre, variantes da mesma medida (as três rendas, as definições de banheiro): escolher uma delas é uma das decisões do índice. As correlações entre dimensões estão na matriz completa e na matriz dos componentes.
Como ler: Matriz de Spearman só com os indicadores da dimensão Demografia; cada célula traz o ρ (−1 a 1). Argila é correlação positiva, petróleo negativa.
O que mostra: Na dimensão Demografia, o par mais forte é Pessoas 60+ × Dependência idosa (ρ = 0,9949).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dendrograma é o resultado de um agrupamento hierárquico: começa com cada indicador sozinho e, a cada passo, une os dois grupos mais próximos. A distância entre dois indicadores é 1 menos o módulo da correlação de Spearman (0 = idênticos, 1 = sem relação); entre grupos, usa-se a média das distâncias (ligação média). Ele é um retrato descritivo: não substitui a análise fatorial.
Como ler: Cada indicador é uma folha à esquerda; as linhas os unem do mais parecido para o menos. Quanto mais à esquerda a união, mais correlacionados os indicadores.
O que mostra: O par mais próximo é Renda média × Renda sem o extremo (ρ =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favelas e comunidades urbanas delimitadas pelo IBGE servem de referência externa: um bom indicador de vulnerabilidade deve ter valores mais altos nelas. A comparação usa medianas e a AUC, que mede a capacidade de separar os dois grupos.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AUC (área sob a curva ROC) é a probabilidade de que um setor de favela, sorteado ao acaso, tenha valor maior que um setor de fora, também sorteado. AUC 0,5: o indicador não separa os grupos. Acima de 0,5: valores maiores nas favelas. Abaixo de 0,5: valores menores nas favelas (é o caso da renda, que entra no índice invertida). A AUC aqui é global, com todos os municípios juntos.
Como ler: Uma linha por indicador: setores de FCU e fora, a mediana em cada grupo, a diferença e a AUC do indicador sozinho.
O que mostra: Cor/raça PPI tem AUC 0,7846 (mediana 0,7394 em FCU e 0,5290 fora); a menor AUC é a de Renda sem o extremo (0,1797).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AUC (área sob a curva ROC) é a probabilidade de que um setor de favela, sorteado ao acaso, tenha valor maior que um setor de fora, também sorteado. AUC 0,5: o indicador não separa os grupos. Acima de 0,5: valores maiores nas favelas. Abaixo de 0,5: valores menores nas favelas (é o caso da renda, que entra no índice invertida). A AUC aqui é global, com todos os municípios juntos.
Como ler: Uma linha por indicador: setores de FCU e fora, a mediana em cada grupo, a diferença e a AUC do indicador sozinho.
O que mostra: Cor/raça PPI tem AUC 0,7846 (mediana 0,7394 em FCU e 0,5290 fora); a menor AUC é a de Renda sem o extremo (0,1797).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Barras que partem de 0,5 deixam claro o sentido: argila para a direita, o indicador é maior nas favelas; petróleo para a esquerda, é menor. O painel das medianas mostra a mesma comparação em valores absolutos, o que ajuda a separar uma diferença grande em termos relativos de uma diferença grande de fato.
Como ler: À esquerda, a AUC de cada indicador (barras a partir de 0,5; argila acima, petróleo abaixo). À direita, as medianas em FCU e fora, para os indicadores em proporção.
O que mostra: A maior AUC é a de Cor/raça PPI (0,7846); a menor, a de Renda sem o extremo (0,1797).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análise fatorial resume vários indicadores correlacionados em poucas dimensões (fatores). Antes de usá-la, testa-se se os dados se prestam a isso (KMO, MSA, Bartlett) e quantos fatores reter (Kaiser e análise paralela de Horn). Depois, as cargas dizem o quanto cada indicador pertence a cada fator.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KMO (Kaiser-Meyer-Olkin) compara as correlações entre as variáveis com as correlações parciais: perto de 1, as variáveis compartilham muita informação e a fatorial faz sentido; o critério do projeto é pelo menos 0,70. O teste de Bartlett verifica se a matriz de correlação é diferente da identidade (variáveis sem relação); com tantos setores, ele sempre rejeita. O critério de Kaiser retém fatores com autovalor acima de 1; a análise paralela de Horn, mais conservadora, retém os fatores cujo autovalor supera o que dados aleatórios do mesmo tamanho produziriam. A correlação usada é a de Spearman, como no NB04.
Como ler: As medidas de adequação da matriz de correlação dos componentes do índice, na amostra do índice.
O que mostra: KMO 0,7865, com 249.404 setores; Kaiser retém 2 fatores e Horn, 2; 2 fatores explicam 59,3% da variância.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MSA é o KMO de cada variável: abaixo de 0,50, a variável compartilha pouco com as outras. A comunalidade é a parte da variância da variável explicada pelos fatores retidos (critério do projeto: pelo menos 0,30). A carga é a correlação da variável com o fator (critério: pelo menos 0,40 no fator principal). A rotação gira os fatores para que cada variável carregue forte em um só: a Varimax mantém os fatores independentes; a promax permite que eles se correlacionem. Na promax, a matriz padrão dá o efeito próprio de cada fator e a matriz estrutura, a correlação simples.
Como ler: Uma linha por componente: MSA, comunalidades e as cargas em cada fator, sem rotação, na Varimax e na promax (padrão e estrutura).
O que mostra: Menor MSA: Renda (invertida) (0,7239). Menor comunalidade (promax): Banheiro graduado (0,3487).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autovalor mede quanta variância um componente resume, em unidades de variável: autovalor 2 equivale a duas variáveis inteiras. A análise paralela de Horn gera dados aleatórios com o mesmo número de setores e variáveis e calcula os autovalores que surgiriam só por acaso; um componente merece ser retido quando o seu autovalor supera esse valor.
Como ler: Um componente por linha: autovalor, valor de referência da análise paralela de Horn e variância explicada, simples e acumulada.
O que mostra: Primeiro autovalor 3,0681, segundo 1,0821 (Horn: 1,0155); os dois primeiros explicam 59,3% da variância.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rotação oblíqua (promax), os fatores podem se correlacionar. Uma correlação alta entre a dimensão socioeconômica e a de saneamento indica que as carências tendem a ocorrer juntas no mesmo setor. É por isso que, na promax, se usa a matriz padrão para distribuir pesos: ela separa o efeito próprio de cada fator.
Como ler: Matriz Φ: a correlação entre os fatores depois da rotação promax.
O que mostra: A correlação entre F1 e F2 é 0,4254.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nome vem da imagem de uma encosta: os primeiros componentes formam o paredão e os demais, o entulho no pé. Os componentes que ficam acima da linha tracejada trazem estrutura real; os que ficam abaixo, ruído.
Como ler: Linha cheia: autovalores em ordem decrescente. Tracejada: o que dados aleatórios produziriam (Horn). Pontilhada: o critério de Kaiser (autovalor 1).
O que mostra: O segundo autovalor é 1,0821, contra 1,0155 da linha de Horn.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mapa de cargas mostra a que fator cada variável pertence. Setas ao longo do eixo horizontal pertencem a F1; ao longo do vertical, a F2; setas na diagonal dividem-se entre os dois. Setas curtas indicam variáveis mal explicadas pelos dois fatores (comunalidade baixa).
Como ler: Cada seta é um componente; a ponta fica nas cargas padrão da promax em F1 (horizontal) e F2 (vertical). O círculo marca carga 1.
O que mostra: Maior carga em F1: Renda (invertida) (0,9183); em F2: Água inadequada (0,8845).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versão muda uma coisa só em relação à referência. Este bloco mede o efeito dessa mudança: a correlação de postos entre os dois índices, a matriz de setores que trocam de faixa e os municípios mais afetados.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correlação de postos perto de 1 indica que a versão ordena os setores quase como a referência, ainda que os valores mudem. Na própria referência, o valor é 1 por construção.
Como ler: Correlação de Spearman entre o índice desta versão e o da referência, nos setores que estão nas duas amostras: total e por município.
O que mostra: Total: ρ = 0,9983. Menor correlação municipal: Jaqueira/PE (0,8286).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diagonal (mesma faixa nas duas) mostra a concordância. Trocas entre faixas vizinhas são esperadas quando os pesos mudam um pouco; trocas de duas faixas ou mais indicam que a versão muda de fato a classificação do setor.
Como ler: Cada linha é um par (faixa na referência, faixa nesta versão), com o número de setores e o percentual do total.
O que mostra: Fora da diagonal, a maior célula é de elevado para medio, com 1.155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faixa usada é a da regra do IVS-BH. Municípios pequenos tendem a aparecer no topo, porque poucas trocas pesam muito em poucos setores.
Como ler: A primeira linha é o total; as demais, os municípios, do mais afetado para o menos: setores comuns, setores que mudam de faixa e o percentual.
O que mostra: No total, 3,7% dos setores mudam de faixa; o município mais afetado é Vicentinópolis/GO (27,3%).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matriz com quase tudo na diagonal indica que a mudança da versão não altera a classificação; células fora da diagonal mostram para onde os setores se movem.
Como ler: Linhas: faixa na referência; colunas: faixa nesta versão; cada célula traz o número de setores.
O que mostra: A maior troca fora da diagonal é de elevado para medio (1.155 setores).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gráfico destaca onde a escolha desta versão faz mais diferença. Na própria referência, todas as barras são zero.
Como ler: Os 20 municípios com o maior percentual de setores que mudam de faixa.
O que mostra: O mais afetado é Vicentinópolis/GO (27,3%); no total,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Calculado com o país inteiro, o índice ordena os setores dos 70 municípios quase como a referência, e poucos mudam de faixa: a estrutura de dois fatores e os pesos não dependem da amostra do ELSI. A versão é elegível. A AUC global contra as favelas é menor que a da referência, porque mistura municípios em que as favelas pesam de modo muito diferente; a AUC municipal, que é a leitura adequada, fica mais alta. Na comparação lado a lado (T35), os setores dos 70 municípios têm mais renda, menos analfabetismo e menos falta de água, esgoto e banheiro do que os setores urbanos do país, mas mais apartamentos, mais habitação precária e mais lixo inadequado: o perfil de uma amostra concentrada em cidades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base nacional foi montada para esta versão (scripts/base_nacional_versoes.py) e não é versionada; nos 70 municípios ela reproduz a base da entrega.
Com milhares de municípios, as tabelas por município dos blocos 2, 4 e 5 viram tabelas por UF.
O bloco 8 (envelhecimento) e os blocos 10 a 12 não fazem parte desta versão; o índice entra só na adequação fatorial e na comparação com a referência.
Os nomes de município levam a sigla da UF, porque o nome sozinho se repete no país e o índice é normalizado por município.
A amostra do índice exclui todo setor com algum componente faltante (exclusão por lista).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ANÁLISES EXPLORATÓRIAS POR VERSÃO · A6_brasil</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Brasil</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Como ficam os indicadores e o IVS nos setores urbanos de todo o Brasil, lado a lado com os 70 municípios?</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outubro de 2026  ·  347.400 setores no recorte  ·  249.404 na amostra do índice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que muda nesta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2011680"/>
                <a:gridCol w="4297680"/>
                <a:gridCol w="4297680"/>
              </a:tblGrid>
              <a:tr h="274320">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Aspecto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Referência (00_referencia)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Esta versão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Base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entrega_orientadora/Base_ELSI_70Municipios_Censo2022.db</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b="1" dirty="0">
                          <a:solidFill>
                            <a:srgbClr val="8C2F27"/>
                          </a:solidFill>
                          <a:latin typeface="Cambria" pitchFamily="34" charset="0"/>
                          <a:ea typeface="Cambria" pitchFamily="34" charset="-122"/>
                          <a:cs typeface="Cambria" pitchFamily="34" charset="-120"/>
                        </a:rPr>
                        <a:t>nacional/Base_Brasil_Censo2022.db</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Recorte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urbanos; Dados_sig = OK</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Indicadores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todos os do quadro, com as variantes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79501">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Componentes do índice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Água inadequada, Esgoto inadequado, Razão de moradores, Analfabetismo 15+, Renda (invertida), Cor/raça PPI, Banheiro graduado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Renda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original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Rotação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promax</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Pesos das dimensões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60_40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Normalização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municipal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i="1" dirty="0">
                          <a:solidFill>
                            <a:srgbClr val="8B877E"/>
                          </a:solidFill>
                          <a:latin typeface="Cambria" pitchFamily="34" charset="0"/>
                          <a:ea typeface="Cambria" pitchFamily="34" charset="-122"/>
                          <a:cs typeface="Cambria" pitchFamily="34" charset="-120"/>
                        </a:rPr>
                        <a:t>igual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Blocos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1, 2, 3, 4, 5, 6, 7, 8, 9, 10, 11, 12, 13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b="1" dirty="0">
                          <a:solidFill>
                            <a:srgbClr val="8C2F27"/>
                          </a:solidFill>
                          <a:latin typeface="Cambria" pitchFamily="34" charset="0"/>
                          <a:ea typeface="Cambria" pitchFamily="34" charset="-122"/>
                          <a:cs typeface="Cambria" pitchFamily="34" charset="-120"/>
                        </a:rPr>
                        <a:t>1, 2, 3, 4, 5, 6, 7, 9, 13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77240" y="4465701"/>
            <a:ext cx="822960" cy="0"/>
          </a:xfrm>
          <a:prstGeom prst="line">
            <a:avLst/>
          </a:prstGeom>
          <a:noFill/>
          <a:ln w="15875">
            <a:solidFill>
              <a:srgbClr val="8C2F27"/>
            </a:solidFill>
            <a:prstDash val="solid"/>
          </a:ln>
        </p:spPr>
      </p:sp>
      <p:sp>
        <p:nvSpPr>
          <p:cNvPr id="7" name="Text 4"/>
          <p:cNvSpPr/>
          <p:nvPr/>
        </p:nvSpPr>
        <p:spPr>
          <a:xfrm>
            <a:off x="777240" y="4520565"/>
            <a:ext cx="10634472" cy="1514475"/>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muda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base: em vez dos 70 municípios do ELSI, todos os setores urbanos com Dados_sig = OK do Brasil, montados dos arquivos nacionais do Censo com as mesmas regras e as mesmas funções da base da entrega. A fatorial, os pesos e as faixas são calculados com o país inteiro; componentes, rotação, pesos 60/40 e normalização no município são os da referência. As tabelas por município dos blocos 2, 4 e 5 passam a ser por UF, e a tabela T35 põe o país e os 70 municípios lado a lado.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249.404 setores chegam ao índice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Shape 3"/>
          <p:cNvSpPr/>
          <p:nvPr/>
        </p:nvSpPr>
        <p:spPr>
          <a:xfrm>
            <a:off x="777240" y="1517904"/>
            <a:ext cx="3300984" cy="0"/>
          </a:xfrm>
          <a:prstGeom prst="line">
            <a:avLst/>
          </a:prstGeom>
          <a:noFill/>
          <a:ln w="12700">
            <a:solidFill>
              <a:srgbClr val="1A1A18"/>
            </a:solidFill>
            <a:prstDash val="solid"/>
          </a:ln>
        </p:spPr>
      </p:sp>
      <p:sp>
        <p:nvSpPr>
          <p:cNvPr id="6" name="Text 4"/>
          <p:cNvSpPr/>
          <p:nvPr/>
        </p:nvSpPr>
        <p:spPr>
          <a:xfrm>
            <a:off x="777240" y="159105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468.099</a:t>
            </a:r>
            <a:endParaRPr lang="en-US" sz="3000" dirty="0"/>
          </a:p>
        </p:txBody>
      </p:sp>
      <p:sp>
        <p:nvSpPr>
          <p:cNvPr id="7" name="Text 5"/>
          <p:cNvSpPr/>
          <p:nvPr/>
        </p:nvSpPr>
        <p:spPr>
          <a:xfrm>
            <a:off x="777240" y="217627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na base completa</a:t>
            </a:r>
            <a:endParaRPr lang="en-US" sz="1050" dirty="0"/>
          </a:p>
        </p:txBody>
      </p:sp>
      <p:sp>
        <p:nvSpPr>
          <p:cNvPr id="8" name="Shape 6"/>
          <p:cNvSpPr/>
          <p:nvPr/>
        </p:nvSpPr>
        <p:spPr>
          <a:xfrm>
            <a:off x="4443984" y="1517904"/>
            <a:ext cx="3300984" cy="0"/>
          </a:xfrm>
          <a:prstGeom prst="line">
            <a:avLst/>
          </a:prstGeom>
          <a:noFill/>
          <a:ln w="12700">
            <a:solidFill>
              <a:srgbClr val="1A1A18"/>
            </a:solidFill>
            <a:prstDash val="solid"/>
          </a:ln>
        </p:spPr>
      </p:sp>
      <p:sp>
        <p:nvSpPr>
          <p:cNvPr id="9" name="Text 7"/>
          <p:cNvSpPr/>
          <p:nvPr/>
        </p:nvSpPr>
        <p:spPr>
          <a:xfrm>
            <a:off x="4443984" y="159105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347.400</a:t>
            </a:r>
            <a:endParaRPr lang="en-US" sz="3000" dirty="0"/>
          </a:p>
        </p:txBody>
      </p:sp>
      <p:sp>
        <p:nvSpPr>
          <p:cNvPr id="10" name="Text 8"/>
          <p:cNvSpPr/>
          <p:nvPr/>
        </p:nvSpPr>
        <p:spPr>
          <a:xfrm>
            <a:off x="4443984" y="217627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no recorte da versão (descritivas, distribuições, correlações)</a:t>
            </a:r>
            <a:endParaRPr lang="en-US" sz="1050" dirty="0"/>
          </a:p>
        </p:txBody>
      </p:sp>
      <p:sp>
        <p:nvSpPr>
          <p:cNvPr id="11" name="Shape 9"/>
          <p:cNvSpPr/>
          <p:nvPr/>
        </p:nvSpPr>
        <p:spPr>
          <a:xfrm>
            <a:off x="8110728" y="1517904"/>
            <a:ext cx="3300984" cy="0"/>
          </a:xfrm>
          <a:prstGeom prst="line">
            <a:avLst/>
          </a:prstGeom>
          <a:noFill/>
          <a:ln w="12700">
            <a:solidFill>
              <a:srgbClr val="8C2F27"/>
            </a:solidFill>
            <a:prstDash val="solid"/>
          </a:ln>
        </p:spPr>
      </p:sp>
      <p:sp>
        <p:nvSpPr>
          <p:cNvPr id="12" name="Text 10"/>
          <p:cNvSpPr/>
          <p:nvPr/>
        </p:nvSpPr>
        <p:spPr>
          <a:xfrm>
            <a:off x="8110728" y="1591056"/>
            <a:ext cx="3300984" cy="566928"/>
          </a:xfrm>
          <a:prstGeom prst="rect">
            <a:avLst/>
          </a:prstGeom>
          <a:noFill/>
          <a:ln/>
        </p:spPr>
        <p:txBody>
          <a:bodyPr wrap="square" lIns="0" tIns="0" rIns="0" bIns="0" rtlCol="0" anchor="ctr"/>
          <a:lstStyle/>
          <a:p>
            <a:pPr indent="0" marL="0">
              <a:buNone/>
            </a:pPr>
            <a:r>
              <a:rPr lang="en-US" sz="3000" b="1" dirty="0">
                <a:solidFill>
                  <a:srgbClr val="8C2F27"/>
                </a:solidFill>
                <a:latin typeface="Cambria" pitchFamily="34" charset="0"/>
                <a:ea typeface="Cambria" pitchFamily="34" charset="-122"/>
                <a:cs typeface="Cambria" pitchFamily="34" charset="-120"/>
              </a:rPr>
              <a:t>249.404</a:t>
            </a:r>
            <a:endParaRPr lang="en-US" sz="3000" dirty="0"/>
          </a:p>
        </p:txBody>
      </p:sp>
      <p:sp>
        <p:nvSpPr>
          <p:cNvPr id="13" name="Text 11"/>
          <p:cNvSpPr/>
          <p:nvPr/>
        </p:nvSpPr>
        <p:spPr>
          <a:xfrm>
            <a:off x="8110728" y="217627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na amostra do índice (fatorial e blocos 9 a 13)</a:t>
            </a:r>
            <a:endParaRPr lang="en-US" sz="1050" dirty="0"/>
          </a:p>
        </p:txBody>
      </p:sp>
      <p:sp>
        <p:nvSpPr>
          <p:cNvPr id="14" name="Text 12"/>
          <p:cNvSpPr/>
          <p:nvPr/>
        </p:nvSpPr>
        <p:spPr>
          <a:xfrm>
            <a:off x="777240" y="3026664"/>
            <a:ext cx="10634472" cy="219456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Por que dois números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funil mostra o caminho dos setores. A base completa inclui setores rurais e setores sem dados divulgados. O recorte da versão é o conjunto sobre o qual são calculadas as descritivas, as distribuições e as correlações. A amostra do índice é menor, porque a análise fatorial exige que o setor tenha todos os componentes preenchidos (exclusão por lista: basta faltar um componente para o setor sair). Essa diferença de amostra é importante quando se comparam números de blocos diferentes.</a:t>
            </a:r>
            <a:endParaRPr lang="en-US" sz="1250" dirty="0"/>
          </a:p>
        </p:txBody>
      </p:sp>
      <p:sp>
        <p:nvSpPr>
          <p:cNvPr id="15" name="Text 1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T01 · tabelas/T01_funil.csv</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Sumário: os blocos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640080"/>
                <a:gridCol w="2377440"/>
                <a:gridCol w="4937760"/>
                <a:gridCol w="2651760"/>
              </a:tblGrid>
              <a:tr h="274320">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Bloco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Título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Pergunta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Itens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Recorte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Quantos setores entram nesta versão, quantos saem e por quê?</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T01, F01, 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Descritivas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Qual é o valor típico de cada indicador, e quanto ele varia?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T03, T04, T05, T35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Distribuições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forma tem cada indicador, e ela muda de uma região para outra?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F02, F03, F04, F05, F06, F07, F08, F09, F10, F11, F12, F13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Faltantes e sigilo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Onde faltam dados, e a falta é aleatória?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T06, F14, T07, F15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Extremos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setores têm valores fora do comum, e por qual critério?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T08, T09, T10, T11, F16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Correlações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Que indicadores andam juntos?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T12, T13, T14, F17, F31, F32, F33, F34, F35, F18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Favelas e comunidades urbanas (FCU)</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Cada indicador, sozinho, separa os setores de favela dos demais?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T15, F19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Adequação fatorial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Os componentes do índice se prestam a uma análise fatorial, e quantos fatores ela sustenta?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T19, T20, T21, T22, F22, F23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74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Comparação com a referência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O que esta versão muda em relação à referência proposta do NB05?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T31, T32, T33, F28, F29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Recorte</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Quantos setores entram nesta versão, quantos saem e por quê?</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T01 · F01 · T02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249.404 setores chegam ao índice, de 468.099 na base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06640" cy="914400"/>
        </p:xfrm>
        <a:graphic>
          <a:graphicData uri="http://schemas.openxmlformats.org/drawingml/2006/table">
            <a:tbl>
              <a:tblPr/>
              <a:tblGrid>
                <a:gridCol w="2377440"/>
                <a:gridCol w="914400"/>
                <a:gridCol w="822960"/>
                <a:gridCol w="3291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Etapa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Saem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Motivo da saída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Base completa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468.099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Setores urbanos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354.965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113.134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setor rural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Dados_sig = OK</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setor sem dados divulgados (sigilo ou sem domicílio ocupado)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Componentes do índice completos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249.404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97.996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faltante em algum componente do índice (exclusão por lista)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linha é um filtro, na ordem em que é aplicado: quantos setores ficam, quantos saem e por quê.</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base tem 468.099 setores; 347.400 ficam no recorte da versão e 249.404 têm todos os componentes do índice (97.996 saem nesta última etapa).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T01 · tabelas/T01_funil.csv  ·  Bloco 1. Recorte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Do recorte ao índice, 97.996 setores saem por falta de algum componente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01_funil.png">    </p:cNvPr>
          <p:cNvPicPr>
            <a:picLocks noChangeAspect="1"/>
          </p:cNvPicPr>
          <p:nvPr/>
        </p:nvPicPr>
        <p:blipFill>
          <a:blip r:embed="rId1"/>
          <a:stretch>
            <a:fillRect/>
          </a:stretch>
        </p:blipFill>
        <p:spPr>
          <a:xfrm>
            <a:off x="777240" y="1243584"/>
            <a:ext cx="7452360" cy="2648794"/>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barra é uma etapa do funil; o comprimento é o número de setores que ainda estão dentro.</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barra final (249.404 setores) é a amostra do índice; a do recorte tem 347.400.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F01 · figuras/F01_funil.png  ·  Bloco 1. Recorte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Banheiro graduado é o indicador com mais faltantes (17,6% dos setores)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377440"/>
                <a:gridCol w="1371600"/>
                <a:gridCol w="109728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Dimensão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307.827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39.573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289.265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58.135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300.578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46.822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331.902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15.498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327.150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309.301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Saneamento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61.130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309.256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38.144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com valor, setores sem valor e a porcentagem sem valor dentro do recorte.</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faltantes é o de Banheiro graduado (17,6%); o menor, o de Água inadequada (0,0%).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T02 · tabelas/T02_perdas_por_indicador.csv  ·  Bloco 1. Recorte  ·  parte 1 de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Banheiro graduado é o indicador com mais faltantes (17,6% dos setores)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377440"/>
                <a:gridCol w="1371600"/>
                <a:gridCol w="109728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Dimensão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Socioeconômica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327.530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19.870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312.866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34.534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340.063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Morfologia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307.460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39.940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340.915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346.371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346.054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343.058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345.939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Demografia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338.785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com valor, setores sem valor e a porcentagem sem valor dentro do recorte.</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faltantes é o de Banheiro graduado (17,6%); o menor, o de Água inadequada (0,0%).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T02 · tabelas/T02_perdas_por_indicador.csv  ·  Bloco 1. Recorte  ·  parte 2 de 2</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Descritivas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Qual é o valor típico de cada indicador, e quanto ele varia?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T03 · T04 · T05 · T35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Domicílio improvisado é o indicador mais assimétrico (assimetria 47,03)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830404"/>
                <a:gridCol w="740878"/>
                <a:gridCol w="740878"/>
                <a:gridCol w="740878"/>
                <a:gridCol w="697297"/>
                <a:gridCol w="740878"/>
                <a:gridCol w="740878"/>
                <a:gridCol w="566554"/>
                <a:gridCol w="653716"/>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Assim.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0,7935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307.827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289.265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300.578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331.902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327.150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309.301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2,7555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2,7528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3,1667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309.256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0,1403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3.208,88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3.005,79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1.304,33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5.938,57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0,3673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n: setores com valor; DP: desvio-padrão; P10…P90: percentis; CV: coeficiente de variação; % zeros: setores com valor exatamente zero.</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assimetria é a de Domicílio improvisado (47,03); o maior percentual de zeros é o de Domicílio improvisado (99,2%).</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T03 · tabelas/T03_descritivas_global.csv  ·  Bloco 2. Descritivas  ·  parte 1 de 2</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Domicílio improvisado é o indicador mais assimétrico (assimetria 47,03)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830404"/>
                <a:gridCol w="740878"/>
                <a:gridCol w="740878"/>
                <a:gridCol w="740878"/>
                <a:gridCol w="697297"/>
                <a:gridCol w="740878"/>
                <a:gridCol w="740878"/>
                <a:gridCol w="566554"/>
                <a:gridCol w="653716"/>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Assim.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3.208,40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2.992,38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1.304,33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5.938,49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3.208,40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2.992,37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1.304,33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5.938,48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327.530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312.866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340.063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307.460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340.915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346.371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346.054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343.058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113,6000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112,7321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28,0116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84,4037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225,7143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345.939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27,3671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19,1739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10,2113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24,2975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47,4708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338.785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42,9147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10,8197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29,7619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43,0108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55,5556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n: setores com valor; DP: desvio-padrão; P10…P90: percentis; CV: coeficiente de variação; % zeros: setores com valor exatamente zero.</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assimetria é a de Domicílio improvisado (47,03); o maior percentual de zeros é o de Domicílio improvisado (99,2%).</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T03 · tabelas/T03_descritivas_global.csv  ·  Bloco 2. Descritivas  ·  parte 2 de 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média: a mediana vai de 1.518,56 (Nordeste) a 2.831,34 (Sul)</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 mediana por região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Centro-Oeste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3,1800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2,8599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2,6970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2,6522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2,7877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1.859,58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1.518,56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2.502,25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2.831,34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2.620,02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0,4912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0,4926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0,4938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região e indicador, com as mesmas colunas da tabela global.</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mediana mais alta está no Sul (2.831,34) e a mais baixa no Nordeste (1.518,56).</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T04 · tabelas/T04_descritivas_regiao.csv  ·  Bloco 2. Descritivas  ·  parte 1 de 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média: a mediana vai de 1.518,56 (Nordeste) a 2.831,34 (Sul)</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194560"/>
                <a:gridCol w="100584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 — mediana por região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Nordeste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Sudeste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Sul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Centro-Oeste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1.859,58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1.518,56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2.502,24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2.831,34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2.620,02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1.859,58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1.518,56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2.502,25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2.831,34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2.620,02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0,9624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0,9655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41,3462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67,6301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101,8519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98,1366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64,7059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14,9109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21,2928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27,4844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27,2496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19,5414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40,9091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42,8571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42,6471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40,7407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2510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região e indicador, com as mesmas colunas da tabela global.</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mediana mais alta está no Sul (2.831,34) e a mais baixa no Nordeste (1.518,56).</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T04 · tabelas/T04_descritivas_regiao.csv  ·  Bloco 2. Descritivas  ·  parte 2 de 2</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Renda média: entre os municípios, a mediana vai de 1.465,53 a 3.518,49</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83680" cy="914400"/>
        </p:xfrm>
        <a:graphic>
          <a:graphicData uri="http://schemas.openxmlformats.org/drawingml/2006/table">
            <a:tbl>
              <a:tblPr/>
              <a:tblGrid>
                <a:gridCol w="2743200"/>
                <a:gridCol w="82296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UF — 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DF</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1.857,51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3.518,50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13.287,89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SC</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2.140,73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3.094,93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6.167,59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1.826,80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2.788,96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5.478,51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SP</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91.767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1.711,91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2.760,11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7.900,81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2.726,81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5.898,53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18.985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1.687,85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2.700,88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5.705,79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1.668,65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2.566,06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5.255,37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1.644,26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2.377,77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4.844,19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1.583,32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2.321,88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4.346,32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MG</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1.450,49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2.264,28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5.058,74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indicador (tabela longa). No deck, um recorte; a tabela completa está no CSV.</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maior mediana municipal é a de DF (3.518,49); a menor, a de CE (1.465,53).</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T05 · tabelas/T05_descritivas_municipio.csv  ·  Bloco 2. Descritivas  ·  parte 1 de 2</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Renda média: entre os municípios, a mediana vai de 1.465,53 a 3.518,49</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583680" cy="914400"/>
        </p:xfrm>
        <a:graphic>
          <a:graphicData uri="http://schemas.openxmlformats.org/drawingml/2006/table">
            <a:tbl>
              <a:tblPr/>
              <a:tblGrid>
                <a:gridCol w="2743200"/>
                <a:gridCol w="82296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UF — 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P10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P90</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1.132,61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1.716,38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4.294,84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1.108,84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1.708,61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3.607,02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1.087,95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1.575,09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3.334,25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1.057,21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1.538,75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3.144,97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PB</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1.036,99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1.532,67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4.086,12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1.051,59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1.528,44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3.680,05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987,23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1.509,89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4.022,88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1.012,40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1.478,84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3.407,91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13.710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1.016,17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1.470,79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3.701,69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12.739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1.022,37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1.465,53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3.193,99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401916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indicador (tabela longa). No deck, um recorte; a tabela completa está no CSV.</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Para Renda média, a maior mediana municipal é a de DF (3.518,49); a menor, a de CE (1.465,53).</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T05 · tabelas/T05_descritivas_municipio.csv  ·  Bloco 2. Descritivas  ·  parte 2 de 2</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Moradia não convencional é o indicador que mais difere entre o recorte da versão e os 70 municípios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963496"/>
                <a:gridCol w="892498"/>
                <a:gridCol w="937123"/>
                <a:gridCol w="937123"/>
                <a:gridCol w="847873"/>
                <a:gridCol w="937123"/>
                <a:gridCol w="937123"/>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 (versão)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 (versão)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(versão)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 (70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 (70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(70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307.827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94.402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289.265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88.211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300.578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91.912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331.902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101.139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327.150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100.297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309.301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94.414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286.270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89.816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2,7555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2,7528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2,6909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309.256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87.556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3.208,88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4.187,41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103.961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n, média e mediana no recorte da versão e nos setores dele que pertencem ao recorte dos 70 municípios do ELSI.</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São 347.400 setores na versão e 104.108 nos 70 municípios. A maior diferença relativa de média é a de Moradia não convencional: 0,0030 na versão e 0,0059 nos 70 municípios.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T35 · tabelas/T35_versao_x_70_municipios.csv  ·  Bloco 2. Descritivas  ·  parte 1 de 2</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Moradia não convencional é o indicador que mais difere entre o recorte da versão e os 70 municípios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452360" cy="914400"/>
        </p:xfrm>
        <a:graphic>
          <a:graphicData uri="http://schemas.openxmlformats.org/drawingml/2006/table">
            <a:tbl>
              <a:tblPr/>
              <a:tblGrid>
                <a:gridCol w="1963496"/>
                <a:gridCol w="892498"/>
                <a:gridCol w="937123"/>
                <a:gridCol w="937123"/>
                <a:gridCol w="847873"/>
                <a:gridCol w="937123"/>
                <a:gridCol w="937123"/>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 (versão)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 (versão)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(versão)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n (70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Média (70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(70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3.208,40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4.185,81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3.208,40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104.096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4.185,80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327.530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98.969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347.399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312.866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340.063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99.642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0,6947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307.460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91.304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340.915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346.371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346.054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343.058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113,6000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84,4037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134,6608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96,2963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345.939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27,3671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24,2975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103.810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28,1206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25,1613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338.785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42,9147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43,0108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101.972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42,6719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42,8571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n, média e mediana no recorte da versão e nos setores dele que pertencem ao recorte dos 70 municípios do ELSI.</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São 347.400 setores na versão e 104.108 nos 70 municípios. A maior diferença relativa de média é a de Moradia não convencional: 0,0030 na versão e 0,0059 nos 70 municípios.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T35 · tabelas/T35_versao_x_70_municipios.csv  ·  Bloco 2. Descritivas  ·  parte 2 de 2</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3</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Distribuições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forma tem cada indicador, e ela muda de uma região para outra?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F02 · F03 · F04 · F05 · F06 · F07 · F08 · F09 · F10 · F11 · F12 · F13</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Sem banheiro nem sanitário tem a distribuição mais assimétrica (assimetria 40,50)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02_histogramas_saneamento.png">    </p:cNvPr>
          <p:cNvPicPr>
            <a:picLocks noChangeAspect="1"/>
          </p:cNvPicPr>
          <p:nvPr/>
        </p:nvPicPr>
        <p:blipFill>
          <a:blip r:embed="rId1"/>
          <a:stretch>
            <a:fillRect/>
          </a:stretch>
        </p:blipFill>
        <p:spPr>
          <a:xfrm>
            <a:off x="777240" y="1243584"/>
            <a:ext cx="7452360" cy="4155823"/>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Saneamento, a maior assimetria é a de Sem banheiro nem sanitário (40,50).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F02 · figuras/F02_histogramas_saneamento.png  ·  Bloco 3. Distribuições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Água inadequada tem mediana de 0,1796 no Norte e 0,0000 no Centro-Oeste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03_boxplots_regiao_saneamento.png">    </p:cNvPr>
          <p:cNvPicPr>
            <a:picLocks noChangeAspect="1"/>
          </p:cNvPicPr>
          <p:nvPr/>
        </p:nvPicPr>
        <p:blipFill>
          <a:blip r:embed="rId1"/>
          <a:stretch>
            <a:fillRect/>
          </a:stretch>
        </p:blipFill>
        <p:spPr>
          <a:xfrm>
            <a:off x="777240" y="1243584"/>
            <a:ext cx="7452360" cy="4160184"/>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(Água inadequada), a mediana regional vai de 0,0000 (Centro-Oeste) a 0,1796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F03 · figuras/F03_boxplots_regiao_saneamento.png  ·  Bloco 3. Distribuições</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Saneamento: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04_densidades_regiao_saneamento.png">    </p:cNvPr>
          <p:cNvPicPr>
            <a:picLocks noChangeAspect="1"/>
          </p:cNvPicPr>
          <p:nvPr/>
        </p:nvPicPr>
        <p:blipFill>
          <a:blip r:embed="rId1"/>
          <a:stretch>
            <a:fillRect/>
          </a:stretch>
        </p:blipFill>
        <p:spPr>
          <a:xfrm>
            <a:off x="777240" y="1243584"/>
            <a:ext cx="7452360" cy="4149299"/>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Água inadequada, a mediana regional vai de 0,0000 (Centro-Oeste) a 0,1796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F04 · figuras/F04_densidades_regiao_saneamento.png  ·  Bloco 3. Distribuições</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Socioeconômica: Renda média tem a distribuição mais assimétrica (assimetria 5,78)</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05_histogramas_socioeconomica.png">    </p:cNvPr>
          <p:cNvPicPr>
            <a:picLocks noChangeAspect="1"/>
          </p:cNvPicPr>
          <p:nvPr/>
        </p:nvPicPr>
        <p:blipFill>
          <a:blip r:embed="rId1"/>
          <a:stretch>
            <a:fillRect/>
          </a:stretch>
        </p:blipFill>
        <p:spPr>
          <a:xfrm>
            <a:off x="777240" y="1243584"/>
            <a:ext cx="7452360" cy="2747252"/>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Socioeconômica, a maior assimetria é a de Renda média (5,78).</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F05 · figuras/F05_histogramas_socioeconomica.png  ·  Bloco 3. Distribuições</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Socioeconômica: Razão de moradores tem mediana de 3,1800 no Norte e 2,6522 no Sul</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06_boxplots_regiao_socioeconomica.png">    </p:cNvPr>
          <p:cNvPicPr>
            <a:picLocks noChangeAspect="1"/>
          </p:cNvPicPr>
          <p:nvPr/>
        </p:nvPicPr>
        <p:blipFill>
          <a:blip r:embed="rId1"/>
          <a:stretch>
            <a:fillRect/>
          </a:stretch>
        </p:blipFill>
        <p:spPr>
          <a:xfrm>
            <a:off x="777240" y="1243584"/>
            <a:ext cx="7452360" cy="275013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(Razão de moradores), a mediana regional vai de 2,6522 (Sul) a 3,1800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F06 · figuras/F06_boxplots_regiao_socioeconomica.png  ·  Bloco 3. Distribuições</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Socioeconômica: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07_densidades_regiao_socioeconomica.png">    </p:cNvPr>
          <p:cNvPicPr>
            <a:picLocks noChangeAspect="1"/>
          </p:cNvPicPr>
          <p:nvPr/>
        </p:nvPicPr>
        <p:blipFill>
          <a:blip r:embed="rId1"/>
          <a:stretch>
            <a:fillRect/>
          </a:stretch>
        </p:blipFill>
        <p:spPr>
          <a:xfrm>
            <a:off x="777240" y="1243584"/>
            <a:ext cx="7452360" cy="2750136"/>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Razão de moradores, a mediana regional vai de 2,6522 (Sul) a 3,1800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F07 · figuras/F07_densidades_regiao_socioeconomica.png  ·  Bloco 3. Distribuições</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Morfologia: Domicílio improvisado tem a distribuição mais assimétrica (assimetria 47,03)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08_histogramas_morfologia.png">    </p:cNvPr>
          <p:cNvPicPr>
            <a:picLocks noChangeAspect="1"/>
          </p:cNvPicPr>
          <p:nvPr/>
        </p:nvPicPr>
        <p:blipFill>
          <a:blip r:embed="rId1"/>
          <a:stretch>
            <a:fillRect/>
          </a:stretch>
        </p:blipFill>
        <p:spPr>
          <a:xfrm>
            <a:off x="777240" y="1243584"/>
            <a:ext cx="7452360" cy="2745812"/>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Morfologia, a maior assimetria é a de Domicílio improvisado (47,03).</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F08 · figuras/F08_histogramas_morfologia.png  ·  Bloco 3. Distribuições</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Morfologia: Domicílio improvisado tem mediana de 0,0000 no Centro-Oeste e 0,0000 no Centro-Oeste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09_boxplots_regiao_morfologia.png">    </p:cNvPr>
          <p:cNvPicPr>
            <a:picLocks noChangeAspect="1"/>
          </p:cNvPicPr>
          <p:nvPr/>
        </p:nvPicPr>
        <p:blipFill>
          <a:blip r:embed="rId1"/>
          <a:stretch>
            <a:fillRect/>
          </a:stretch>
        </p:blipFill>
        <p:spPr>
          <a:xfrm>
            <a:off x="777240" y="1243584"/>
            <a:ext cx="7452360" cy="2748693"/>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(Domicílio improvisado), a mediana regional vai de 0,0000 (Centro-Oeste) a 0,0000 (Centro-Oeste).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F09 · figuras/F09_boxplots_regiao_morfologia.png  ·  Bloco 3. Distribuições</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Morfologia: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10_densidades_regiao_morfologia.png">    </p:cNvPr>
          <p:cNvPicPr>
            <a:picLocks noChangeAspect="1"/>
          </p:cNvPicPr>
          <p:nvPr/>
        </p:nvPicPr>
        <p:blipFill>
          <a:blip r:embed="rId1"/>
          <a:stretch>
            <a:fillRect/>
          </a:stretch>
        </p:blipFill>
        <p:spPr>
          <a:xfrm>
            <a:off x="777240" y="1243584"/>
            <a:ext cx="7452360" cy="2747252"/>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Domicílio improvisado, a mediana regional vai de 0,0000 (Centro-Oeste) a 0,0000 (Centro-Oeste).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F10 · figuras/F10_densidades_regiao_morfologia.png  ·  Bloco 3. Distribuições</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Demografia: Dependência idosa tem a distribuição mais assimétrica (assimetria 29,02)</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11_histogramas_demografia.png">    </p:cNvPr>
          <p:cNvPicPr>
            <a:picLocks noChangeAspect="1"/>
          </p:cNvPicPr>
          <p:nvPr/>
        </p:nvPicPr>
        <p:blipFill>
          <a:blip r:embed="rId1"/>
          <a:stretch>
            <a:fillRect/>
          </a:stretch>
        </p:blipFill>
        <p:spPr>
          <a:xfrm>
            <a:off x="777240" y="1243584"/>
            <a:ext cx="7452360" cy="2751160"/>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histograma por indicador da dimensão: no eixo horizontal, o valor; no vertical, quantos setores têm aquele valor. Os 0,5% maiores ficam de fora para a escala ser legível.</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os indicadores de Demografia, a maior assimetria é a de Dependência idosa (29,02).</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F11 · figuras/F11_histogramas_demografia.png  ·  Bloco 3. Distribuições</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Demografia: Crianças 0–4 tem mediana de 0,0756 no Norte e 0,0532 no Sudeste</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12_boxplots_regiao_demografia.png">    </p:cNvPr>
          <p:cNvPicPr>
            <a:picLocks noChangeAspect="1"/>
          </p:cNvPicPr>
          <p:nvPr/>
        </p:nvPicPr>
        <p:blipFill>
          <a:blip r:embed="rId1"/>
          <a:stretch>
            <a:fillRect/>
          </a:stretch>
        </p:blipFill>
        <p:spPr>
          <a:xfrm>
            <a:off x="777240" y="1243584"/>
            <a:ext cx="7452360" cy="2752603"/>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caixa por região: a linha dentro é a mediana, a caixa vai do 1º ao 3º quartil e as hastes até 1,5 intervalo interquartil. Os pontos extremos não são desenhados (ver bloco 5).</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primeiro indicador da dimensão (Crianças 0–4), a mediana regional vai de 0,0532 (Sudeste) a 0,0756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F12 · figuras/F12_boxplots_regiao_demografia.png  ·  Bloco 3. Distribuições</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Demografia: as regiões têm formas diferentes de distribuição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13_densidades_regiao_demografia.png">    </p:cNvPr>
          <p:cNvPicPr>
            <a:picLocks noChangeAspect="1"/>
          </p:cNvPicPr>
          <p:nvPr/>
        </p:nvPicPr>
        <p:blipFill>
          <a:blip r:embed="rId1"/>
          <a:stretch>
            <a:fillRect/>
          </a:stretch>
        </p:blipFill>
        <p:spPr>
          <a:xfrm>
            <a:off x="777240" y="1243584"/>
            <a:ext cx="7452360" cy="2754048"/>
          </a:xfrm>
          <a:prstGeom prst="rect">
            <a:avLst/>
          </a:prstGeom>
        </p:spPr>
      </p:pic>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curva por região em cada painel: a altura indica onde os setores daquela região se concentram. As áreas sob as curvas são iguais, para que regiões grandes e pequenas sejam comparáveis.</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Em Crianças 0–4, a mediana regional vai de 0,0532 (Sudeste) a 0,0756 (Norte).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F13 · figuras/F13_densidades_regiao_demografia.png  ·  Bloco 3. Distribuições</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4</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Faltantes e sigilo</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Onde faltam dados, e a falta é aleatória?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T06 · F14 · T07 · F15</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maior percentual de faltantes é o de Banheiro graduado em AC (55,3%)</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69480" cy="914400"/>
        </p:xfrm>
        <a:graphic>
          <a:graphicData uri="http://schemas.openxmlformats.org/drawingml/2006/table">
            <a:tbl>
              <a:tblPr/>
              <a:tblGrid>
                <a:gridCol w="2011680"/>
                <a:gridCol w="1051560"/>
                <a:gridCol w="1051560"/>
                <a:gridCol w="1051560"/>
                <a:gridCol w="1051560"/>
                <a:gridCol w="105156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UF (% sem 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de uso comum</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Água não chega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Água só no terreno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AC</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PB</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64464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uma coluna por indicador; cada célula é o percentual de setores do município sem aquele indicador.</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célula mais alta é Banheiro graduado em AC, com 55,3% dos setores sem valor.</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T06 · tabelas/T06_faltantes_por_municipio.csv  ·  Bloco 4. Faltantes e sigilo</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faltantes se concentram em poucos indicadores e municípios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14_mapa_faltantes.png">    </p:cNvPr>
          <p:cNvPicPr>
            <a:picLocks noChangeAspect="1"/>
          </p:cNvPicPr>
          <p:nvPr/>
        </p:nvPicPr>
        <p:blipFill>
          <a:blip r:embed="rId1"/>
          <a:stretch>
            <a:fillRect/>
          </a:stretch>
        </p:blipFill>
        <p:spPr>
          <a:xfrm>
            <a:off x="2537495" y="1243584"/>
            <a:ext cx="3931851"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Mapa de calor: linhas são municípios, colunas são indicadores; quanto mais escura a célula, maior o percentual de setores sem valor.</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ponto mais escuro é Banheiro graduado em AC (55,3%).</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F14 · figuras/F14_mapa_faltantes.png  ·  Bloco 4. Faltantes e sigilo</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analfabetismo falta em 27,4% dos menores setores e em 1,9% dos maiores</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217920" cy="914400"/>
        </p:xfrm>
        <a:graphic>
          <a:graphicData uri="http://schemas.openxmlformats.org/drawingml/2006/table">
            <a:tbl>
              <a:tblPr/>
              <a:tblGrid>
                <a:gridCol w="731520"/>
                <a:gridCol w="1097280"/>
                <a:gridCol w="1097280"/>
                <a:gridCol w="1097280"/>
                <a:gridCol w="12801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Décimo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Moradores (mín.)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Moradores (máx.)</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renda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sem analfabetismo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em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4859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setores são divididos em dez grupos iguais pelo número de moradores (1 = os menores). Para cada grupo, o percentual de setores sem renda e sem analfabetismo, e o percentual em FCU.</a:t>
            </a:r>
            <a:endParaRPr lang="en-US" sz="1250" dirty="0"/>
          </a:p>
        </p:txBody>
      </p:sp>
      <p:sp>
        <p:nvSpPr>
          <p:cNvPr id="7" name="Shape 4"/>
          <p:cNvSpPr/>
          <p:nvPr/>
        </p:nvSpPr>
        <p:spPr>
          <a:xfrm>
            <a:off x="8549640" y="2994660"/>
            <a:ext cx="822960" cy="0"/>
          </a:xfrm>
          <a:prstGeom prst="line">
            <a:avLst/>
          </a:prstGeom>
          <a:noFill/>
          <a:ln w="15875">
            <a:solidFill>
              <a:srgbClr val="8C2F27"/>
            </a:solidFill>
            <a:prstDash val="solid"/>
          </a:ln>
        </p:spPr>
      </p:sp>
      <p:sp>
        <p:nvSpPr>
          <p:cNvPr id="8" name="Text 5"/>
          <p:cNvSpPr/>
          <p:nvPr/>
        </p:nvSpPr>
        <p:spPr>
          <a:xfrm>
            <a:off x="8549640" y="30495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Sem renda: 0,1% no primeiro décimo e 0,0% no último. Sem analfabetismo: 27,4% e 1,9%.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T07 · tabelas/T07_sigilo_por_porte_do_setor.csv  ·  Bloco 4. Faltantes e sigilo</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falta de dados depende do tamanho do setor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15_sigilo_por_porte_do_setor.png">    </p:cNvPr>
          <p:cNvPicPr>
            <a:picLocks noChangeAspect="1"/>
          </p:cNvPicPr>
          <p:nvPr/>
        </p:nvPicPr>
        <p:blipFill>
          <a:blip r:embed="rId1"/>
          <a:stretch>
            <a:fillRect/>
          </a:stretch>
        </p:blipFill>
        <p:spPr>
          <a:xfrm>
            <a:off x="777240" y="1243584"/>
            <a:ext cx="7452360" cy="4013930"/>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Eixo horizontal: décimo de moradores do setor (1 = menores). Eixo vertical: percentual de setores sem o indicador.</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Renda: de 0,1% a 0,0%; analfabetismo: de 27,4% a 1,9%, do menor ao maior décimo.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F15 · figuras/F15_sigilo_por_porte_do_setor.png  ·  Bloco 4. Faltantes e sigilo</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5</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Extremos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setores têm valores fora do comum, e por qual critério?</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T08 · T09 · T10 · T11 · F16</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Casa tem a maior proporção de extremos (11,0%)</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360920" cy="914400"/>
        </p:xfrm>
        <a:graphic>
          <a:graphicData uri="http://schemas.openxmlformats.org/drawingml/2006/table">
            <a:tbl>
              <a:tblPr/>
              <a:tblGrid>
                <a:gridCol w="1737360"/>
                <a:gridCol w="2377440"/>
                <a:gridCol w="914400"/>
                <a:gridCol w="777240"/>
                <a:gridCol w="822960"/>
                <a:gridCol w="7315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Critério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Limite sup.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1,5359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2,9618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1,7227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o critério usado, os limites, quantos setores passam deles e o percentual de zeros.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extremos é o de Casa (11,0%), pelo critério “Tukey k=3 (intervalo interquartil)”.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T08 · tabelas/T08_extremos_por_indicador.csv  ·  Bloco 5. Extremos  ·  parte 1 de 3</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Casa tem a maior proporção de extremos (11,0%)</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360920" cy="914400"/>
        </p:xfrm>
        <a:graphic>
          <a:graphicData uri="http://schemas.openxmlformats.org/drawingml/2006/table">
            <a:tbl>
              <a:tblPr/>
              <a:tblGrid>
                <a:gridCol w="1737360"/>
                <a:gridCol w="2377440"/>
                <a:gridCol w="914400"/>
                <a:gridCol w="777240"/>
                <a:gridCol w="822960"/>
                <a:gridCol w="7315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Critério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Limite sup.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4,1828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4.807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Tukey k=3 no município + coerência do perfil do setor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8.712,15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8.712,14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o critério usado, os limites, quantos setores passam deles e o percentual de zeros.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extremos é o de Casa (11,0%), pelo critério “Tukey k=3 (intervalo interquartil)”.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T08 · tabelas/T08_extremos_por_indicador.csv  ·  Bloco 5. Extremos  ·  parte 2 de 3</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Casa tem a maior proporção de extremos (11,0%)</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360920" cy="914400"/>
        </p:xfrm>
        <a:graphic>
          <a:graphicData uri="http://schemas.openxmlformats.org/drawingml/2006/table">
            <a:tbl>
              <a:tblPr/>
              <a:tblGrid>
                <a:gridCol w="1737360"/>
                <a:gridCol w="2377440"/>
                <a:gridCol w="914400"/>
                <a:gridCol w="777240"/>
                <a:gridCol w="822960"/>
                <a:gridCol w="7315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Critério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Limite sup.</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extremos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zeros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22.020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2,8472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1,5473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37.374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inflação de zeros: Tukey k=3 só entre os valores acima de zero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423,5456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92,0805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Tukey k=3 (intervalo interquartil)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91,6667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1.196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o critério usado, os limites, quantos setores passam deles e o percentual de zeros.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maior percentual de extremos é o de Casa (11,0%), pelo critério “Tukey k=3 (intervalo interquartil)”.</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T08 · tabelas/T08_extremos_por_indicador.csv  ·  Bloco 5. Extremos  ·  parte 3 de 3</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SP concentra o maior número de marcações de extremo (46.016)</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223760" cy="914400"/>
        </p:xfrm>
        <a:graphic>
          <a:graphicData uri="http://schemas.openxmlformats.org/drawingml/2006/table">
            <a:tbl>
              <a:tblPr/>
              <a:tblGrid>
                <a:gridCol w="2011680"/>
                <a:gridCol w="822960"/>
                <a:gridCol w="1097280"/>
                <a:gridCol w="1097280"/>
                <a:gridCol w="1097280"/>
                <a:gridCol w="1097280"/>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UF</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Total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Casa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sem o extremo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(mediana mun.)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Moradia convencional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SP</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46.016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14.890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5.546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RJ</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20.398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5.637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MG</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10.444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6.061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4.499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DF</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4.003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SC</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3.795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PB</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64464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município e uma coluna por indicador, com o número de setores marcados; a coluna total soma todas as marcações.</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município com mais marcações é SP, com 46.016 no total.</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T09 · tabelas/T09_extremos_por_municipio.csv  ·  Bloco 5. Extremos</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828800"/>
                <a:gridCol w="1645920"/>
                <a:gridCol w="1554480"/>
                <a:gridCol w="91440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global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Ariquemes/RO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110002305000046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Amaturá/AM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130006005000024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Ariquemes/RO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110002305000046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Amaturá/AM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130006005000024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Codó/MA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210330715000001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Amaturá/AM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130006005000027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0132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Gabriel da Cachoeira/AM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130380905000046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Codó/MA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210330715000001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Tabatinga/AM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130406205000033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8,0580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2,7528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São Pedro de Alcântara/SC</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421725305000003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0,7500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Valença/RJ</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330610705000124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177.068,09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Velho/RO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110020505000068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Valença/RJ</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330610705000124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177.068,09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Até dez setores por indicador, os mais distantes da mediana entre os marcados como extremo: código do setor, município, valor e mediana global.</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da lista de Renda média está um setor de Valença/RJ, com valor 177.068,09.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T10 · tabelas/T10_extremos_lista.csv  ·  Bloco 5. Extremos  ·  parte 1 de 2</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1828800"/>
                <a:gridCol w="1645920"/>
                <a:gridCol w="1554480"/>
                <a:gridCol w="91440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global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Valença/RJ</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330610705000124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177.068,09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2.312,82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Rio de Janeiro/RJ</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330455705300460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Horizonte/MG</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310620060660397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Santana do Araguaia/PA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150670805000087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Belo Horizonte/MG</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310620060660397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Velho/RO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110020505000068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Porto Velho/RO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110020505000068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Campos dos Goytacazes/RJ</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330100905080215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Grajaú/MA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210480005000231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Bragança Paulista/SP</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350760505000030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Fortaleza/CE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230440005140173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4.750,0000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84,4037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Piracicaba/SP</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353870905000063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3.290,0000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24,2975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Cacoal/RO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110004905000084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43,0108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475830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Até dez setores por indicador, os mais distantes da mediana entre os marcados como extremo: código do setor, município, valor e mediana global.</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da lista de Renda média está um setor de Valença/RJ, com valor 177.068,09.</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T10 · tabelas/T10_extremos_lista.csv  ·  Bloco 5. Extremos  ·  parte 2 de 2</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308 setores têm renda suspeita e 7.832 têm renda extrema coerente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4023360" cy="914400"/>
        </p:xfrm>
        <a:graphic>
          <a:graphicData uri="http://schemas.openxmlformats.org/drawingml/2006/table">
            <a:tbl>
              <a:tblPr/>
              <a:tblGrid>
                <a:gridCol w="1828800"/>
                <a:gridCol w="118872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Classe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NORMAL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339.224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97,66%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SUSPEITO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setor com renda recebe uma classe: NORMAL, EXTREMO (acima do limite do município, mas coerente com o perfil) ou SUSPEITO (acima do limite e incoerente).</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São 308 setores SUSPEITO (0,09%) e 7.832 EXTREMO.</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T11 · tabelas/T11_renda_classes.csv  ·  Bloco 5. Extremos</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proporção de extremos varia muito de um indicador para outro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16_extremos_por_indicador.png">    </p:cNvPr>
          <p:cNvPicPr>
            <a:picLocks noChangeAspect="1"/>
          </p:cNvPicPr>
          <p:nvPr/>
        </p:nvPicPr>
        <p:blipFill>
          <a:blip r:embed="rId1"/>
          <a:stretch>
            <a:fillRect/>
          </a:stretch>
        </p:blipFill>
        <p:spPr>
          <a:xfrm>
            <a:off x="2091800" y="1243584"/>
            <a:ext cx="4823240"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barra por indicador, com o percentual de setores marcados; a cor indica o critério (petróleo: Tukey; cinza: inflação de zeros; argila: renda).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barra mais longa é a de Casa (11,0%).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F16 · figuras/F16_extremos_por_indicador.png  ·  Bloco 5. Extremos</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46</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6</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Correlações</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Que indicadores andam juntos?</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T12 · T13 · T14 · F17 · F31 · F32 · F33 · F34 · F35 · F18</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Renda média e Renda sem o extremo formam o par mais correlacionado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187184" cy="914400"/>
        </p:xfrm>
        <a:graphic>
          <a:graphicData uri="http://schemas.openxmlformats.org/drawingml/2006/table">
            <a:tbl>
              <a:tblPr/>
              <a:tblGrid>
                <a:gridCol w="1554480"/>
                <a:gridCol w="804672"/>
                <a:gridCol w="804672"/>
                <a:gridCol w="804672"/>
                <a:gridCol w="804672"/>
                <a:gridCol w="804672"/>
                <a:gridCol w="804672"/>
                <a:gridCol w="804672"/>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Componentes do índice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Analfabetismo 15+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Cor/raça PPI</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342722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Spearman: cada célula é a correlação entre o indicador da linha e o da coluna, de −1 a 1.</a:t>
            </a:r>
            <a:endParaRPr lang="en-US" sz="1250" dirty="0"/>
          </a:p>
        </p:txBody>
      </p:sp>
      <p:sp>
        <p:nvSpPr>
          <p:cNvPr id="8" name="Shape 5"/>
          <p:cNvSpPr/>
          <p:nvPr/>
        </p:nvSpPr>
        <p:spPr>
          <a:xfrm>
            <a:off x="8549640" y="2575560"/>
            <a:ext cx="822960" cy="0"/>
          </a:xfrm>
          <a:prstGeom prst="line">
            <a:avLst/>
          </a:prstGeom>
          <a:noFill/>
          <a:ln w="15875">
            <a:solidFill>
              <a:srgbClr val="8C2F27"/>
            </a:solidFill>
            <a:prstDash val="solid"/>
          </a:ln>
        </p:spPr>
      </p:sp>
      <p:sp>
        <p:nvSpPr>
          <p:cNvPr id="9" name="Text 6"/>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correlação em módulo é entre Renda média e Renda sem o extremo (ρ = 1,0000).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T12 · tabelas/T12_correlacao_spearman.csv  ·  Bloco 6. Correlações</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48</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Na correlação linear, o par mais forte é Renda média × Renda sem o extremo (r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7187184" cy="914400"/>
        </p:xfrm>
        <a:graphic>
          <a:graphicData uri="http://schemas.openxmlformats.org/drawingml/2006/table">
            <a:tbl>
              <a:tblPr/>
              <a:tblGrid>
                <a:gridCol w="1554480"/>
                <a:gridCol w="804672"/>
                <a:gridCol w="804672"/>
                <a:gridCol w="804672"/>
                <a:gridCol w="804672"/>
                <a:gridCol w="804672"/>
                <a:gridCol w="804672"/>
                <a:gridCol w="804672"/>
              </a:tblGrid>
              <a:tr h="385826">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Componentes do índice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Analfabetismo 15+</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Renda média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Cor/raça PPI</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3427222"/>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Pearson, com a mesma leitura da de Spearman.</a:t>
            </a:r>
            <a:endParaRPr lang="en-US" sz="1250" dirty="0"/>
          </a:p>
        </p:txBody>
      </p:sp>
      <p:sp>
        <p:nvSpPr>
          <p:cNvPr id="8" name="Shape 5"/>
          <p:cNvSpPr/>
          <p:nvPr/>
        </p:nvSpPr>
        <p:spPr>
          <a:xfrm>
            <a:off x="8549640" y="2366010"/>
            <a:ext cx="822960" cy="0"/>
          </a:xfrm>
          <a:prstGeom prst="line">
            <a:avLst/>
          </a:prstGeom>
          <a:noFill/>
          <a:ln w="15875">
            <a:solidFill>
              <a:srgbClr val="8C2F27"/>
            </a:solidFill>
            <a:prstDash val="solid"/>
          </a:ln>
        </p:spPr>
      </p:sp>
      <p:sp>
        <p:nvSpPr>
          <p:cNvPr id="9" name="Text 6"/>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correlação de Pearson em módulo é entre Renda média e Renda sem o extremo (r = 1,0000).</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T13 · tabelas/T13_correlacao_pearson.csv  ·  Bloco 6. Correlações</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par mais redundante é Renda média × Renda sem o extremo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377440"/>
                <a:gridCol w="237744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Pearson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0,8588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0,9664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0,7965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0,9203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-0,7342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pares de indicadores com correlação de pelo menos 0,80 em módulo, por Spearman ou por Pearson, do mais forte para o mais fraco.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Renda média × Renda sem o extremo, com Spearman 1,0000 e Pearson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T14 · tabelas/T14_pares_acima_de_080.csv  ·  Bloco 6. Correlações  ·  parte 1 de 2</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O par mais redundante é Renda média × Renda sem o extremo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49440" cy="914400"/>
        </p:xfrm>
        <a:graphic>
          <a:graphicData uri="http://schemas.openxmlformats.org/drawingml/2006/table">
            <a:tbl>
              <a:tblPr/>
              <a:tblGrid>
                <a:gridCol w="2377440"/>
                <a:gridCol w="237744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Pearson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0,4659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0,6666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-0,8008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0,7048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-0,9425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-0,4038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-0,8702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pares de indicadores com correlação de pelo menos 0,80 em módulo, por Spearman ou por Pearson, do mais forte para o mais fraco.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topo: Renda média × Renda sem o extremo, com Spearman 1,0000 e Pearson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T14 · tabelas/T14_pares_acima_de_080.csv  ·  Bloco 6. Correlações  ·  parte 2 de 2</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indicadores formam grupos de correlação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17_mapa_spearman.png">    </p:cNvPr>
          <p:cNvPicPr>
            <a:picLocks noChangeAspect="1"/>
          </p:cNvPicPr>
          <p:nvPr/>
        </p:nvPicPr>
        <p:blipFill>
          <a:blip r:embed="rId1"/>
          <a:stretch>
            <a:fillRect/>
          </a:stretch>
        </p:blipFill>
        <p:spPr>
          <a:xfrm>
            <a:off x="1851045" y="1243584"/>
            <a:ext cx="5304750" cy="4791456"/>
          </a:xfrm>
          <a:prstGeom prst="rect">
            <a:avLst/>
          </a:prstGeom>
        </p:spPr>
      </p:pic>
      <p:sp>
        <p:nvSpPr>
          <p:cNvPr id="6" name="Text 3"/>
          <p:cNvSpPr/>
          <p:nvPr/>
        </p:nvSpPr>
        <p:spPr>
          <a:xfrm>
            <a:off x="8549640" y="1289304"/>
            <a:ext cx="2862072" cy="25336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correlação de Spearman entre todos os indicadores, reordenados pelo agrupamento do dendrograma. Cada célula do triângulo inferior traz o valor de ρ (−1 a 1); argila é correlação positiva, petróleo negativa, branco é perto de zero. Com 31 indicadores, os valores só ficam legíveis com a figura ampliada; as matrizes por dimensão vêm a seguir.</a:t>
            </a:r>
            <a:endParaRPr lang="en-US" sz="1250" dirty="0"/>
          </a:p>
        </p:txBody>
      </p:sp>
      <p:sp>
        <p:nvSpPr>
          <p:cNvPr id="7" name="Shape 4"/>
          <p:cNvSpPr/>
          <p:nvPr/>
        </p:nvSpPr>
        <p:spPr>
          <a:xfrm>
            <a:off x="8549640" y="4042410"/>
            <a:ext cx="822960" cy="0"/>
          </a:xfrm>
          <a:prstGeom prst="line">
            <a:avLst/>
          </a:prstGeom>
          <a:noFill/>
          <a:ln w="15875">
            <a:solidFill>
              <a:srgbClr val="8C2F27"/>
            </a:solidFill>
            <a:prstDash val="solid"/>
          </a:ln>
        </p:spPr>
      </p:sp>
      <p:sp>
        <p:nvSpPr>
          <p:cNvPr id="8" name="Text 5"/>
          <p:cNvSpPr/>
          <p:nvPr/>
        </p:nvSpPr>
        <p:spPr>
          <a:xfrm>
            <a:off x="8549640" y="40972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par mais forte é Renda média × Renda sem o extremo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F17 · figuras/F17_mapa_spearman.png  ·  Bloco 6. Correlações</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52</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Entre as variáveis das demandas e os componentes do índice, o par mais forte é Sem água canalizada × Cor/raça PPI (ρ = 0,4461)</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31_mapa_spearman_componentes.png">    </p:cNvPr>
          <p:cNvPicPr>
            <a:picLocks noChangeAspect="1"/>
          </p:cNvPicPr>
          <p:nvPr/>
        </p:nvPicPr>
        <p:blipFill>
          <a:blip r:embed="rId1"/>
          <a:stretch>
            <a:fillRect/>
          </a:stretch>
        </p:blipFill>
        <p:spPr>
          <a:xfrm>
            <a:off x="1708404" y="1243584"/>
            <a:ext cx="5590032" cy="4791456"/>
          </a:xfrm>
          <a:prstGeom prst="rect">
            <a:avLst/>
          </a:prstGeom>
        </p:spPr>
      </p:pic>
      <p:sp>
        <p:nvSpPr>
          <p:cNvPr id="6" name="Text 3"/>
          <p:cNvSpPr/>
          <p:nvPr/>
        </p:nvSpPr>
        <p:spPr>
          <a:xfrm>
            <a:off x="8549640" y="1289304"/>
            <a:ext cx="2862072" cy="16954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componentes do índice (acima e à esquerda da linha) e as variáveis das demandas de setembro (abaixo e à direita). Cada célula traz o ρ; argila é positiva, petróleo negativa.</a:t>
            </a:r>
            <a:endParaRPr lang="en-US" sz="1250" dirty="0"/>
          </a:p>
        </p:txBody>
      </p:sp>
      <p:sp>
        <p:nvSpPr>
          <p:cNvPr id="7" name="Shape 4"/>
          <p:cNvSpPr/>
          <p:nvPr/>
        </p:nvSpPr>
        <p:spPr>
          <a:xfrm>
            <a:off x="8549640" y="3204210"/>
            <a:ext cx="822960" cy="0"/>
          </a:xfrm>
          <a:prstGeom prst="line">
            <a:avLst/>
          </a:prstGeom>
          <a:noFill/>
          <a:ln w="15875">
            <a:solidFill>
              <a:srgbClr val="8C2F27"/>
            </a:solidFill>
            <a:prstDash val="solid"/>
          </a:ln>
        </p:spPr>
      </p:sp>
      <p:sp>
        <p:nvSpPr>
          <p:cNvPr id="8" name="Text 5"/>
          <p:cNvSpPr/>
          <p:nvPr/>
        </p:nvSpPr>
        <p:spPr>
          <a:xfrm>
            <a:off x="8549640" y="3259074"/>
            <a:ext cx="2862072" cy="16954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Entre uma variável nova e um componente de outra família, o par mais forte é Sem água canalizada × Cor/raça PPI (ρ = 0,4461). Pares de variantes da mesma coisa (como banheiro graduado e sem banheiro) ficam de fora do destaque.</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F31 · figuras/F31_mapa_spearman_componentes.png  ·  Bloco 6. Correlações</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53</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Saneamento: o par mais correlacionado é Sem banheiro × Banheiro graduado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32_mapa_spearman_saneamento.png">    </p:cNvPr>
          <p:cNvPicPr>
            <a:picLocks noChangeAspect="1"/>
          </p:cNvPicPr>
          <p:nvPr/>
        </p:nvPicPr>
        <p:blipFill>
          <a:blip r:embed="rId1"/>
          <a:stretch>
            <a:fillRect/>
          </a:stretch>
        </p:blipFill>
        <p:spPr>
          <a:xfrm>
            <a:off x="1657422" y="1243584"/>
            <a:ext cx="5691995"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Saneamento;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Saneamento, o par mais forte é Sem banheiro × Banheiro graduado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F32 · figuras/F32_mapa_spearman_saneamento.png  ·  Bloco 6. Correlações</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54</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Socioeconômica: o par mais correlacionado é Renda média × Renda sem o extremo (ρ = 1,0000)</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33_mapa_spearman_socioeconomica.png">    </p:cNvPr>
          <p:cNvPicPr>
            <a:picLocks noChangeAspect="1"/>
          </p:cNvPicPr>
          <p:nvPr/>
        </p:nvPicPr>
        <p:blipFill>
          <a:blip r:embed="rId1"/>
          <a:stretch>
            <a:fillRect/>
          </a:stretch>
        </p:blipFill>
        <p:spPr>
          <a:xfrm>
            <a:off x="1633960" y="1243584"/>
            <a:ext cx="5738919"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Socioeconômica;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Socioeconômica, o par mais forte é Renda média × Renda sem o extremo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F33 · figuras/F33_mapa_spearman_socioeconomica.png  ·  Bloco 6. Correlações</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55</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Morfologia: o par mais correlacionado é Habitação precária × Moradia não convencional (ρ = 0,9459)</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34_mapa_spearman_morfologia.png">    </p:cNvPr>
          <p:cNvPicPr>
            <a:picLocks noChangeAspect="1"/>
          </p:cNvPicPr>
          <p:nvPr/>
        </p:nvPicPr>
        <p:blipFill>
          <a:blip r:embed="rId1"/>
          <a:stretch>
            <a:fillRect/>
          </a:stretch>
        </p:blipFill>
        <p:spPr>
          <a:xfrm>
            <a:off x="1628546" y="1243584"/>
            <a:ext cx="5749747"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Morfologia;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Morfologia, o par mais forte é Habitação precária × Moradia não convencional (ρ = 0,9459).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F34 · figuras/F34_mapa_spearman_morfologia.png  ·  Bloco 6. Correlações</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56</a:t>
            </a:r>
            <a:endParaRPr lang="en-US" sz="1000" dirty="0"/>
          </a:p>
        </p:txBody>
      </p:sp>
      <p:sp>
        <p:nvSpPr>
          <p:cNvPr id="3" name="Text 1"/>
          <p:cNvSpPr/>
          <p:nvPr/>
        </p:nvSpPr>
        <p:spPr>
          <a:xfrm>
            <a:off x="777240" y="182880"/>
            <a:ext cx="10634472" cy="786384"/>
          </a:xfrm>
          <a:prstGeom prst="rect">
            <a:avLst/>
          </a:prstGeom>
          <a:noFill/>
          <a:ln/>
        </p:spPr>
        <p:txBody>
          <a:bodyPr wrap="square" lIns="0" tIns="0" rIns="0" bIns="0" rtlCol="0" anchor="b"/>
          <a:lstStyle/>
          <a:p>
            <a:pPr indent="0" marL="0">
              <a:buNone/>
            </a:pPr>
            <a:r>
              <a:rPr lang="en-US" sz="2000" b="1" dirty="0">
                <a:solidFill>
                  <a:srgbClr val="1A1A18"/>
                </a:solidFill>
                <a:latin typeface="Cambria" pitchFamily="34" charset="0"/>
                <a:ea typeface="Cambria" pitchFamily="34" charset="-122"/>
                <a:cs typeface="Cambria" pitchFamily="34" charset="-120"/>
              </a:rPr>
              <a:t>Demografia: o par mais correlacionado é Pessoas 60+ × Dependência idosa (ρ = 0,9949)</a:t>
            </a:r>
            <a:endParaRPr lang="en-US" sz="20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35_mapa_spearman_demografia.png">    </p:cNvPr>
          <p:cNvPicPr>
            <a:picLocks noChangeAspect="1"/>
          </p:cNvPicPr>
          <p:nvPr/>
        </p:nvPicPr>
        <p:blipFill>
          <a:blip r:embed="rId1"/>
          <a:stretch>
            <a:fillRect/>
          </a:stretch>
        </p:blipFill>
        <p:spPr>
          <a:xfrm>
            <a:off x="1633397" y="1243584"/>
            <a:ext cx="5740046"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de Spearman só com os indicadores da dimensão Demografia; cada célula traz o ρ (−1 a 1). Argila é correlação positiva, petróleo negativa.</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Na dimensão Demografia, o par mais forte é Pessoas 60+ × Dependência idosa (ρ = 0,9949).</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F35 · figuras/F35_mapa_spearman_demografia.png  ·  Bloco 6. Correlações</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dendrograma junta os indicadores que medem coisas parecidas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18_dendrograma.png">    </p:cNvPr>
          <p:cNvPicPr>
            <a:picLocks noChangeAspect="1"/>
          </p:cNvPicPr>
          <p:nvPr/>
        </p:nvPicPr>
        <p:blipFill>
          <a:blip r:embed="rId1"/>
          <a:stretch>
            <a:fillRect/>
          </a:stretch>
        </p:blipFill>
        <p:spPr>
          <a:xfrm>
            <a:off x="2221953" y="1243584"/>
            <a:ext cx="4562935"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indicador é uma folha à esquerda; as linhas os unem do mais parecido para o menos. Quanto mais à esquerda a união, mais correlacionados os indicadores.</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par mais próximo é Renda média × Renda sem o extremo (ρ = 1,0000).</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F18 · figuras/F18_dendrograma.png  ·  Bloco 6. Correlações</a:t>
            </a:r>
            <a:endParaRPr lang="en-US" sz="9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58</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7</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Favelas e comunidades urbanas (FCU)</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Cada indicador, sozinho, separa os setores de favela dos demais?</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T15 · F19</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Cor/raça PPI é o indicador que mais separa as favelas (AUC 0,7846)</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011680"/>
                <a:gridCol w="1051560"/>
                <a:gridCol w="1051560"/>
                <a:gridCol w="1005840"/>
                <a:gridCol w="8229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Diferença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0,7394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0,7846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População 0–14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0,2268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Crianças 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0,0714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32.922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2,9237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0,1878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0,6720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Lixo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0,6566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0,0370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0,6533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32.238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Responsável mulher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0,5591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0,5102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0,0489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água canalizada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0,6178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0,6061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33.152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só no terreno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25.922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0,5474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25.820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0,5422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não chega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de uso comum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26.838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Habitação precária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de FCU e fora, a mediana em cada grupo, a diferença e a AUC do indicador sozinho.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Cor/raça PPI tem AUC 0,7846 (mediana 0,7394 em FCU e 0,5290 fora); a menor AUC é a de Renda sem o extremo (0,1797).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T15 · tabelas/T15_fcu_por_indicador.csv  ·  Bloco 7. Favelas e comunidades urbanas (FCU)  ·  parte 1 de 2</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Cor/raça PPI é o indicador que mais separa as favelas (AUC 0,7846)</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858000" cy="914400"/>
        </p:xfrm>
        <a:graphic>
          <a:graphicData uri="http://schemas.openxmlformats.org/drawingml/2006/table">
            <a:tbl>
              <a:tblPr/>
              <a:tblGrid>
                <a:gridCol w="2011680"/>
                <a:gridCol w="1051560"/>
                <a:gridCol w="1051560"/>
                <a:gridCol w="1005840"/>
                <a:gridCol w="822960"/>
                <a:gridCol w="91440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Indicador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Mediana fora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Diferença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AUC</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FCU</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não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Casa de vila/condomínio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28.788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0,5223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23.265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Só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0,5099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29.989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Domicílio improvisado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31.148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Sem banheiro nem sanitário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0,5031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30.533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Moradia convencional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0,4569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Apartamento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-0,0157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29.326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70+ entre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36,6667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43,6620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-6,9953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0,3115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31.585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Dependência idosa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15,6118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25,6116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-9,9998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0,2529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Pessoas 60+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0,1040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-0,0619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33.001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Índice de envelhecimento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45,8333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90,9091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-45,0758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0,2436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32.942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média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1.517,79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2.449,90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(mediana mun.)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1.517,79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2.449,90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sem o extremo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1.517,76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2.449,90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-932,14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0,1797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33.171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indicador: setores de FCU e fora, a mediana em cada grupo, a diferença e a AUC do indicador sozinho.</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Cor/raça PPI tem AUC 0,7846 (mediana 0,7394 em FCU e 0,5290 fora); a menor AUC é a de Renda sem o extremo (0,1797).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T15 · tabelas/T15_fcu_por_indicador.csv  ·  Bloco 7. Favelas e comunidades urbanas (FCU)  ·  parte 2 de 2</a:t>
            </a:r>
            <a:endParaRPr lang="en-US" sz="9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indicadores separam as favelas com força muito diferente</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19_fcu_por_indicador.png">    </p:cNvPr>
          <p:cNvPicPr>
            <a:picLocks noChangeAspect="1"/>
          </p:cNvPicPr>
          <p:nvPr/>
        </p:nvPicPr>
        <p:blipFill>
          <a:blip r:embed="rId1"/>
          <a:stretch>
            <a:fillRect/>
          </a:stretch>
        </p:blipFill>
        <p:spPr>
          <a:xfrm>
            <a:off x="1614498" y="1243584"/>
            <a:ext cx="5777844" cy="479145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À esquerda, a AUC de cada indicador (barras a partir de 0,5; argila acima, petróleo abaixo). À direita, as medianas em FCU e fora, para os indicadores em proporção.</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AUC é a de Cor/raça PPI (0,7846); a menor, a de Renda sem o extremo (0,1797).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F19 · figuras/F19_fcu_por_indicador.png  ·  Bloco 7. Favelas e comunidades urbanas (FCU)</a:t>
            </a:r>
            <a:endParaRPr lang="en-US" sz="9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9</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Adequação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Os componentes do índice se prestam a uma análise fatorial, e quantos fatores ela sustenta?</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T19 · T20 · T21 · T22 · F22 · F23</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KMO de 0,7865: os componentes se prestam à análise fatorial</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486400" cy="914400"/>
        </p:xfrm>
        <a:graphic>
          <a:graphicData uri="http://schemas.openxmlformats.org/drawingml/2006/table">
            <a:tbl>
              <a:tblPr/>
              <a:tblGrid>
                <a:gridCol w="3840480"/>
                <a:gridCol w="164592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Medida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setores (n)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249.404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variáveis (p)</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KMO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Bartlett qui-quadrado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514.422,0951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Bartlett graus de liberdade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determinante de 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0,1271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fatores pelo critério de Kaiser</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fatores pela análise paralela de Horn</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variância explicada por 2 fatores (%)</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59,2884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As medidas de adequação da matriz de correlação dos componentes do índice, na amostra do índice.</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KMO 0,7865, com 249.404 setores; Kaiser retém 2 fatores e Horn, 2; 2 fatores explicam 59,3% da variância.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T19 · tabelas/T19_adequacao_fatorial.csv  ·  Bloco 9. Adequação fatorial</a:t>
            </a:r>
            <a:endParaRPr lang="en-US" sz="9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(invertida) tem a menor adequação individual (MSA 0,7239)</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903720" cy="914400"/>
        </p:xfrm>
        <a:graphic>
          <a:graphicData uri="http://schemas.openxmlformats.org/drawingml/2006/table">
            <a:tbl>
              <a:tblPr/>
              <a:tblGrid>
                <a:gridCol w="1737360"/>
                <a:gridCol w="822960"/>
                <a:gridCol w="868680"/>
                <a:gridCol w="868680"/>
                <a:gridCol w="868680"/>
                <a:gridCol w="868680"/>
                <a:gridCol w="8686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Comunal.</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Padrão F1</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Padrão F2</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Estrut. F1</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Estrut. F2</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inadequada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0,6872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-0,1609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0,8845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0,2153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0,8161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Esgoto inadequado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0,5680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0,2651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0,6016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0,5211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0,7144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Razão de moradores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0,8956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0,3704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-0,0550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0,6065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0,2130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Analfabetismo 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0,7718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0,7012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0,0365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0,8367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0,3858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Renda (invertida)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0,7239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0,7857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0,9183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-0,0824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0,8833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0,3082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Cor/raça PPI</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0,8134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0,6891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-0,0280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0,3300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Banheiro graduado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0,8964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0,3487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0,0244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0,5797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0,2710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0,5901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Uma linha por componente: MSA, comunalidades e as cargas em cada fator, sem rotação, na Varimax e na promax (padrão e estrutura).</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Menor MSA: Renda (invertida) (0,7239). Menor comunalidade (promax): Banheiro graduado (0,3487).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T20 · tabelas/T20_variaveis_cargas.csv  ·  Bloco 9. Adequação fatorial</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 segundo autovalor (1,0821) fica acima da linha de Horn (1,0155)</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486400" cy="914400"/>
        </p:xfrm>
        <a:graphic>
          <a:graphicData uri="http://schemas.openxmlformats.org/drawingml/2006/table">
            <a:tbl>
              <a:tblPr/>
              <a:tblGrid>
                <a:gridCol w="1097280"/>
                <a:gridCol w="1097280"/>
                <a:gridCol w="109728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Componente</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Autovalor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Horn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variância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acumulada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3,0681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1,0259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1,0821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0,8474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1,0075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0,7468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0,5841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90,4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0,4313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0,9848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96,6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0,2401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0,9731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Um componente por linha: autovalor, valor de referência da análise paralela de Horn e variância explicada, simples e acumulada.</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Primeiro autovalor 3,0681, segundo 1,0821 (Horn: 1,0155); os dois primeiros explicam 59,3% da variância.</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T21 · tabelas/T21_autovalores.csv  ·  Bloco 9. Adequação fatorial</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dois fatores da promax se correlacionam em 0,4254</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3291840" cy="914400"/>
        </p:xfrm>
        <a:graphic>
          <a:graphicData uri="http://schemas.openxmlformats.org/drawingml/2006/table">
            <a:tbl>
              <a:tblPr/>
              <a:tblGrid>
                <a:gridCol w="1097280"/>
                <a:gridCol w="1097280"/>
                <a:gridCol w="109728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Fator</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F1</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F2</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F2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0,4254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Matriz Φ: a correlação entre os fatores depois da rotação promax.</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6477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correlação entre F1 e F2 é 0,4254.</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T22 · tabelas/T22_phi.csv  ·  Bloco 9. Adequação fatorial</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Gráfico de sedimentação: dois componentes acima do acaso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22_sedimentacao_horn.png">    </p:cNvPr>
          <p:cNvPicPr>
            <a:picLocks noChangeAspect="1"/>
          </p:cNvPicPr>
          <p:nvPr/>
        </p:nvPicPr>
        <p:blipFill>
          <a:blip r:embed="rId1"/>
          <a:stretch>
            <a:fillRect/>
          </a:stretch>
        </p:blipFill>
        <p:spPr>
          <a:xfrm>
            <a:off x="777240" y="1243584"/>
            <a:ext cx="7452360" cy="4494296"/>
          </a:xfrm>
          <a:prstGeom prst="rect">
            <a:avLst/>
          </a:prstGeom>
        </p:spPr>
      </p:pic>
      <p:sp>
        <p:nvSpPr>
          <p:cNvPr id="6" name="Text 3"/>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Linha cheia: autovalores em ordem decrescente. Tracejada: o que dados aleatórios produziriam (Horn). Pontilhada: o critério de Kaiser (autovalor 1).</a:t>
            </a:r>
            <a:endParaRPr lang="en-US" sz="1250" dirty="0"/>
          </a:p>
        </p:txBody>
      </p:sp>
      <p:sp>
        <p:nvSpPr>
          <p:cNvPr id="7" name="Shape 4"/>
          <p:cNvSpPr/>
          <p:nvPr/>
        </p:nvSpPr>
        <p:spPr>
          <a:xfrm>
            <a:off x="8549640" y="2785110"/>
            <a:ext cx="822960" cy="0"/>
          </a:xfrm>
          <a:prstGeom prst="line">
            <a:avLst/>
          </a:prstGeom>
          <a:noFill/>
          <a:ln w="15875">
            <a:solidFill>
              <a:srgbClr val="8C2F27"/>
            </a:solidFill>
            <a:prstDash val="solid"/>
          </a:ln>
        </p:spPr>
      </p:sp>
      <p:sp>
        <p:nvSpPr>
          <p:cNvPr id="8" name="Text 5"/>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segundo autovalor é 1,0821, contra 1,0155 da linha de Horn.</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F22 · figuras/F22_sedimentacao_horn.png  ·  Bloco 9. Adequação fatorial</a:t>
            </a:r>
            <a:endParaRPr lang="en-US" sz="9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Renda (invertida) define F1 e Água inadequada define F2</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23_mapa_cargas.png">    </p:cNvPr>
          <p:cNvPicPr>
            <a:picLocks noChangeAspect="1"/>
          </p:cNvPicPr>
          <p:nvPr/>
        </p:nvPicPr>
        <p:blipFill>
          <a:blip r:embed="rId1"/>
          <a:stretch>
            <a:fillRect/>
          </a:stretch>
        </p:blipFill>
        <p:spPr>
          <a:xfrm>
            <a:off x="1759326" y="1243584"/>
            <a:ext cx="5488187"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seta é um componente; a ponta fica nas cargas padrão da promax em F1 (horizontal) e F2 (vertical). O círculo marca carga 1.</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Maior carga em F1: Renda (invertida) (0,9183); em F2: Água inadequada (0,8845).</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F23 · figuras/F23_mapa_cargas.png  ·  Bloco 9. Adequação fatorial</a:t>
            </a:r>
            <a:endParaRPr lang="en-US" sz="9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69</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13</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Comparação com a referência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esta versão muda em relação à referência proposta do NB05?</a:t>
            </a:r>
            <a:endParaRPr lang="en-US" sz="1400" dirty="0"/>
          </a:p>
        </p:txBody>
      </p:sp>
      <p:sp>
        <p:nvSpPr>
          <p:cNvPr id="7" name="Text 5"/>
          <p:cNvSpPr/>
          <p:nvPr/>
        </p:nvSpPr>
        <p:spPr>
          <a:xfrm>
            <a:off x="1920240" y="4343400"/>
            <a:ext cx="9491472" cy="365760"/>
          </a:xfrm>
          <a:prstGeom prst="rect">
            <a:avLst/>
          </a:prstGeom>
          <a:noFill/>
          <a:ln/>
        </p:spPr>
        <p:txBody>
          <a:bodyPr wrap="square" lIns="0" tIns="0" rIns="0" bIns="0" rtlCol="0" anchor="ctr"/>
          <a:lstStyle/>
          <a:p>
            <a:pPr indent="0" marL="0">
              <a:buNone/>
            </a:pPr>
            <a:r>
              <a:rPr lang="en-US" sz="1200" dirty="0">
                <a:solidFill>
                  <a:srgbClr val="56534C"/>
                </a:solidFill>
                <a:latin typeface="Cambria" pitchFamily="34" charset="0"/>
                <a:ea typeface="Cambria" pitchFamily="34" charset="-122"/>
                <a:cs typeface="Cambria" pitchFamily="34" charset="-120"/>
              </a:rPr>
              <a:t>Neste bloco: T31 · T32 · T33 · F28 · F29</a:t>
            </a:r>
            <a:endParaRPr lang="en-US" sz="12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correlação de postos com a referência é 0,9983</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120640" cy="914400"/>
        </p:xfrm>
        <a:graphic>
          <a:graphicData uri="http://schemas.openxmlformats.org/drawingml/2006/table">
            <a:tbl>
              <a:tblPr/>
              <a:tblGrid>
                <a:gridCol w="2560320"/>
                <a:gridCol w="1280160"/>
                <a:gridCol w="128016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Escopo (menores ρ)</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comuns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ρ de Spearman</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Total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Jaqueira/PE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0,8286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Placas/PA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0,9000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Água Preta/PE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0,9690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Taió/SC</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0,9737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Coroaci/MG</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0,9824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Portel/PA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0,9828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Goianésia/GO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0,9830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Autazes/AM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Guapiaçu/SP</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0,9898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Vicentinópolis/GO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0,9909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Charqueadas/RS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0,9914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Salinas/MG</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Marechal Deodoro/AL</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47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0,9925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49744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Correlação de Spearman entre o índice desta versão e o da referência, nos setores que estão nas duas amostras: total e por município.</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Total: ρ = 0,9983. Menor correlação municipal: Jaqueira/PE (0,8286).</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T31 · tabelas/T31_spearman_com_referencia.csv  ·  Bloco 13. Comparação com a referência</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 maior troca de faixa é de elevado para medio (1.155 setores)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6217920" cy="914400"/>
        </p:xfrm>
        <a:graphic>
          <a:graphicData uri="http://schemas.openxmlformats.org/drawingml/2006/table">
            <a:tbl>
              <a:tblPr/>
              <a:tblGrid>
                <a:gridCol w="2194560"/>
                <a:gridCol w="1005840"/>
                <a:gridCol w="1005840"/>
                <a:gridCol w="100584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Referência ↓ · versão →</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baixo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médio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muito elevado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baixo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20.927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médio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385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30.350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16.105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362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muito elevado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3.740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Cada linha é um par (faixa na referência, faixa nesta versão), com o número de setores e o percentual do total.</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Fora da diagonal, a maior célula é de elevado para medio, com 1.155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T32 · tabelas/T32_matriz_de_faixas.csv  ·  Bloco 13. Comparação com a referência</a:t>
            </a:r>
            <a:endParaRPr lang="en-US"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3,7% dos setores mudam de faixa em relação à referência</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5943600" cy="914400"/>
        </p:xfrm>
        <a:graphic>
          <a:graphicData uri="http://schemas.openxmlformats.org/drawingml/2006/table">
            <a:tbl>
              <a:tblPr/>
              <a:tblGrid>
                <a:gridCol w="2560320"/>
                <a:gridCol w="1188720"/>
                <a:gridCol w="1188720"/>
                <a:gridCol w="1005840"/>
              </a:tblGrid>
              <a:tr h="238633">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Município</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Setores comuns</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Mudam de faixa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50" b="1" dirty="0">
                          <a:solidFill>
                            <a:srgbClr val="1A1A18"/>
                          </a:solidFill>
                          <a:latin typeface="Cambria" pitchFamily="34" charset="0"/>
                          <a:ea typeface="Cambria" pitchFamily="34" charset="-122"/>
                          <a:cs typeface="Cambria" pitchFamily="34" charset="-120"/>
                        </a:rPr>
                        <a:t>% que muda</a:t>
                      </a:r>
                      <a:endParaRPr lang="en-US" sz="9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Todos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73.877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2.755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Vicentinópolis/GO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27,3%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Portel/PA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Urandi/BA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14,3%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Goianésia/GO</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Limoeiro do Norte/CE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10,3%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Ibatiba/ES</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9,4%</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Arara/PB</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Camaragibe/PE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193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Taió/SC</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Belém/PA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1.116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90</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8,1%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Itapetinga/BA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Manaus/AM</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1.849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135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7,3%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Recife/PE</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1.779</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121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6,8%</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Rosário/MA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15</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6,7%</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380">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Itajuípe/BA</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16</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1</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00" dirty="0">
                          <a:solidFill>
                            <a:srgbClr val="1A1A18"/>
                          </a:solidFill>
                          <a:latin typeface="Cambria" pitchFamily="34" charset="0"/>
                          <a:ea typeface="Cambria" pitchFamily="34" charset="-122"/>
                          <a:cs typeface="Cambria" pitchFamily="34" charset="-120"/>
                        </a:rPr>
                        <a:t>6,3%</a:t>
                      </a:r>
                      <a:endParaRPr lang="en-US" sz="10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5497449"/>
            <a:ext cx="7452360" cy="23774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Recorte da tabela para o slide; a tabela completa está no CSV indicado no rodapé.</a:t>
            </a:r>
            <a:endParaRPr lang="en-US" sz="950" dirty="0"/>
          </a:p>
        </p:txBody>
      </p:sp>
      <p:sp>
        <p:nvSpPr>
          <p:cNvPr id="7" name="Text 4"/>
          <p:cNvSpPr/>
          <p:nvPr/>
        </p:nvSpPr>
        <p:spPr>
          <a:xfrm>
            <a:off x="8549640" y="1289304"/>
            <a:ext cx="2862072" cy="12763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primeira linha é o total; as demais, os municípios, do mais afetado para o menos: setores comuns, setores que mudam de faixa e o percentual.</a:t>
            </a:r>
            <a:endParaRPr lang="en-US" sz="1250" dirty="0"/>
          </a:p>
        </p:txBody>
      </p:sp>
      <p:sp>
        <p:nvSpPr>
          <p:cNvPr id="8" name="Shape 5"/>
          <p:cNvSpPr/>
          <p:nvPr/>
        </p:nvSpPr>
        <p:spPr>
          <a:xfrm>
            <a:off x="8549640" y="2785110"/>
            <a:ext cx="822960" cy="0"/>
          </a:xfrm>
          <a:prstGeom prst="line">
            <a:avLst/>
          </a:prstGeom>
          <a:noFill/>
          <a:ln w="15875">
            <a:solidFill>
              <a:srgbClr val="8C2F27"/>
            </a:solidFill>
            <a:prstDash val="solid"/>
          </a:ln>
        </p:spPr>
      </p:sp>
      <p:sp>
        <p:nvSpPr>
          <p:cNvPr id="9" name="Text 6"/>
          <p:cNvSpPr/>
          <p:nvPr/>
        </p:nvSpPr>
        <p:spPr>
          <a:xfrm>
            <a:off x="8549640" y="283997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No total, 3,7% dos setores mudam de faixa; o município mais afetado é Vicentinópolis/GO (27,3%).</a:t>
            </a:r>
            <a:endParaRPr lang="en-US" sz="1250" dirty="0"/>
          </a:p>
        </p:txBody>
      </p:sp>
      <p:sp>
        <p:nvSpPr>
          <p:cNvPr id="10" name="Text 7"/>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T33 · tabelas/T33_municipios_que_mudam.csv  ·  Bloco 13. Comparação com a referência</a:t>
            </a:r>
            <a:endParaRPr lang="en-US" sz="9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Matriz de faixas: referência × 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28_matriz_de_faixas.png">    </p:cNvPr>
          <p:cNvPicPr>
            <a:picLocks noChangeAspect="1"/>
          </p:cNvPicPr>
          <p:nvPr/>
        </p:nvPicPr>
        <p:blipFill>
          <a:blip r:embed="rId1"/>
          <a:stretch>
            <a:fillRect/>
          </a:stretch>
        </p:blipFill>
        <p:spPr>
          <a:xfrm>
            <a:off x="1719196" y="1243584"/>
            <a:ext cx="5568449" cy="4791456"/>
          </a:xfrm>
          <a:prstGeom prst="rect">
            <a:avLst/>
          </a:prstGeom>
        </p:spPr>
      </p:pic>
      <p:sp>
        <p:nvSpPr>
          <p:cNvPr id="6" name="Text 3"/>
          <p:cNvSpPr/>
          <p:nvPr/>
        </p:nvSpPr>
        <p:spPr>
          <a:xfrm>
            <a:off x="8549640" y="1289304"/>
            <a:ext cx="2862072" cy="106680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Linhas: faixa na referência; colunas: faixa nesta versão; cada célula traz o número de setores.</a:t>
            </a:r>
            <a:endParaRPr lang="en-US" sz="1250" dirty="0"/>
          </a:p>
        </p:txBody>
      </p:sp>
      <p:sp>
        <p:nvSpPr>
          <p:cNvPr id="7" name="Shape 4"/>
          <p:cNvSpPr/>
          <p:nvPr/>
        </p:nvSpPr>
        <p:spPr>
          <a:xfrm>
            <a:off x="8549640" y="2575560"/>
            <a:ext cx="822960" cy="0"/>
          </a:xfrm>
          <a:prstGeom prst="line">
            <a:avLst/>
          </a:prstGeom>
          <a:noFill/>
          <a:ln w="15875">
            <a:solidFill>
              <a:srgbClr val="8C2F27"/>
            </a:solidFill>
            <a:prstDash val="solid"/>
          </a:ln>
        </p:spPr>
      </p:sp>
      <p:sp>
        <p:nvSpPr>
          <p:cNvPr id="8" name="Text 5"/>
          <p:cNvSpPr/>
          <p:nvPr/>
        </p:nvSpPr>
        <p:spPr>
          <a:xfrm>
            <a:off x="8549640" y="263042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A maior troca fora da diagonal é de elevado para medio (1.155 setores).</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F28 · figuras/F28_matriz_de_faixas.png  ·  Bloco 13. Comparação com a referência</a:t>
            </a:r>
            <a:endParaRPr lang="en-US" sz="9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Os municípios mais afetados pela mudança 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pic>
        <p:nvPicPr>
          <p:cNvPr id="5" name="Image 0" descr="/Users/pedro/Documents/Iniciacao Cientifica/Projeto_IVS_Censo22/analises_exploratorias/A6_brasil/figuras/F29_municipios_que_mudam.png">    </p:cNvPr>
          <p:cNvPicPr>
            <a:picLocks noChangeAspect="1"/>
          </p:cNvPicPr>
          <p:nvPr/>
        </p:nvPicPr>
        <p:blipFill>
          <a:blip r:embed="rId1"/>
          <a:stretch>
            <a:fillRect/>
          </a:stretch>
        </p:blipFill>
        <p:spPr>
          <a:xfrm>
            <a:off x="1427295" y="1243584"/>
            <a:ext cx="6152250" cy="4791456"/>
          </a:xfrm>
          <a:prstGeom prst="rect">
            <a:avLst/>
          </a:prstGeom>
        </p:spPr>
      </p:pic>
      <p:sp>
        <p:nvSpPr>
          <p:cNvPr id="6" name="Text 3"/>
          <p:cNvSpPr/>
          <p:nvPr/>
        </p:nvSpPr>
        <p:spPr>
          <a:xfrm>
            <a:off x="8549640" y="128930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1A1A18"/>
                </a:solidFill>
                <a:latin typeface="Cambria" pitchFamily="34" charset="0"/>
                <a:ea typeface="Cambria" pitchFamily="34" charset="-122"/>
                <a:cs typeface="Cambria" pitchFamily="34" charset="-120"/>
              </a:rPr>
              <a:t>Como ler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Os 20 municípios com o maior percentual de setores que mudam de faixa.</a:t>
            </a:r>
            <a:endParaRPr lang="en-US" sz="1250" dirty="0"/>
          </a:p>
        </p:txBody>
      </p:sp>
      <p:sp>
        <p:nvSpPr>
          <p:cNvPr id="7" name="Shape 4"/>
          <p:cNvSpPr/>
          <p:nvPr/>
        </p:nvSpPr>
        <p:spPr>
          <a:xfrm>
            <a:off x="8549640" y="2366010"/>
            <a:ext cx="822960" cy="0"/>
          </a:xfrm>
          <a:prstGeom prst="line">
            <a:avLst/>
          </a:prstGeom>
          <a:noFill/>
          <a:ln w="15875">
            <a:solidFill>
              <a:srgbClr val="8C2F27"/>
            </a:solidFill>
            <a:prstDash val="solid"/>
          </a:ln>
        </p:spPr>
      </p:sp>
      <p:sp>
        <p:nvSpPr>
          <p:cNvPr id="8" name="Text 5"/>
          <p:cNvSpPr/>
          <p:nvPr/>
        </p:nvSpPr>
        <p:spPr>
          <a:xfrm>
            <a:off x="8549640" y="2420874"/>
            <a:ext cx="2862072" cy="857250"/>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O mais afetado é Vicentinópolis/GO (27,3%); no total, 3,7%.</a:t>
            </a:r>
            <a:endParaRPr lang="en-US" sz="1250" dirty="0"/>
          </a:p>
        </p:txBody>
      </p:sp>
      <p:sp>
        <p:nvSpPr>
          <p:cNvPr id="9" name="Text 6"/>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F29 · figuras/F29_municipios_que_mudam.png  ·  Bloco 13. Comparação com a referência</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Síntese da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Shape 3"/>
          <p:cNvSpPr/>
          <p:nvPr/>
        </p:nvSpPr>
        <p:spPr>
          <a:xfrm>
            <a:off x="777240" y="1472184"/>
            <a:ext cx="3300984" cy="0"/>
          </a:xfrm>
          <a:prstGeom prst="line">
            <a:avLst/>
          </a:prstGeom>
          <a:noFill/>
          <a:ln w="12700">
            <a:solidFill>
              <a:srgbClr val="1A1A18"/>
            </a:solidFill>
            <a:prstDash val="solid"/>
          </a:ln>
        </p:spPr>
      </p:sp>
      <p:sp>
        <p:nvSpPr>
          <p:cNvPr id="6" name="Text 4"/>
          <p:cNvSpPr/>
          <p:nvPr/>
        </p:nvSpPr>
        <p:spPr>
          <a:xfrm>
            <a:off x="777240" y="154533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249.404</a:t>
            </a:r>
            <a:endParaRPr lang="en-US" sz="3000" dirty="0"/>
          </a:p>
        </p:txBody>
      </p:sp>
      <p:sp>
        <p:nvSpPr>
          <p:cNvPr id="7" name="Text 5"/>
          <p:cNvSpPr/>
          <p:nvPr/>
        </p:nvSpPr>
        <p:spPr>
          <a:xfrm>
            <a:off x="777240" y="213055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na amostra do índice (T01)</a:t>
            </a:r>
            <a:endParaRPr lang="en-US" sz="1050" dirty="0"/>
          </a:p>
        </p:txBody>
      </p:sp>
      <p:sp>
        <p:nvSpPr>
          <p:cNvPr id="8" name="Shape 6"/>
          <p:cNvSpPr/>
          <p:nvPr/>
        </p:nvSpPr>
        <p:spPr>
          <a:xfrm>
            <a:off x="4443984" y="1472184"/>
            <a:ext cx="3300984" cy="0"/>
          </a:xfrm>
          <a:prstGeom prst="line">
            <a:avLst/>
          </a:prstGeom>
          <a:noFill/>
          <a:ln w="12700">
            <a:solidFill>
              <a:srgbClr val="1A1A18"/>
            </a:solidFill>
            <a:prstDash val="solid"/>
          </a:ln>
        </p:spPr>
      </p:sp>
      <p:sp>
        <p:nvSpPr>
          <p:cNvPr id="9" name="Text 7"/>
          <p:cNvSpPr/>
          <p:nvPr/>
        </p:nvSpPr>
        <p:spPr>
          <a:xfrm>
            <a:off x="4443984" y="1545336"/>
            <a:ext cx="3300984" cy="566928"/>
          </a:xfrm>
          <a:prstGeom prst="rect">
            <a:avLst/>
          </a:prstGeom>
          <a:noFill/>
          <a:ln/>
        </p:spPr>
        <p:txBody>
          <a:bodyPr wrap="square" lIns="0" tIns="0" rIns="0" bIns="0" rtlCol="0" anchor="ctr"/>
          <a:lstStyle/>
          <a:p>
            <a:pPr indent="0" marL="0">
              <a:buNone/>
            </a:pPr>
            <a:r>
              <a:rPr lang="en-US" sz="3000" b="1" dirty="0">
                <a:solidFill>
                  <a:srgbClr val="1A1A18"/>
                </a:solidFill>
                <a:latin typeface="Cambria" pitchFamily="34" charset="0"/>
                <a:ea typeface="Cambria" pitchFamily="34" charset="-122"/>
                <a:cs typeface="Cambria" pitchFamily="34" charset="-120"/>
              </a:rPr>
              <a:t>0,7865</a:t>
            </a:r>
            <a:endParaRPr lang="en-US" sz="3000" dirty="0"/>
          </a:p>
        </p:txBody>
      </p:sp>
      <p:sp>
        <p:nvSpPr>
          <p:cNvPr id="10" name="Text 8"/>
          <p:cNvSpPr/>
          <p:nvPr/>
        </p:nvSpPr>
        <p:spPr>
          <a:xfrm>
            <a:off x="4443984" y="213055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KMO dos componentes (T19)</a:t>
            </a:r>
            <a:endParaRPr lang="en-US" sz="1050" dirty="0"/>
          </a:p>
        </p:txBody>
      </p:sp>
      <p:sp>
        <p:nvSpPr>
          <p:cNvPr id="11" name="Shape 9"/>
          <p:cNvSpPr/>
          <p:nvPr/>
        </p:nvSpPr>
        <p:spPr>
          <a:xfrm>
            <a:off x="8110728" y="1472184"/>
            <a:ext cx="3300984" cy="0"/>
          </a:xfrm>
          <a:prstGeom prst="line">
            <a:avLst/>
          </a:prstGeom>
          <a:noFill/>
          <a:ln w="12700">
            <a:solidFill>
              <a:srgbClr val="8C2F27"/>
            </a:solidFill>
            <a:prstDash val="solid"/>
          </a:ln>
        </p:spPr>
      </p:sp>
      <p:sp>
        <p:nvSpPr>
          <p:cNvPr id="12" name="Text 10"/>
          <p:cNvSpPr/>
          <p:nvPr/>
        </p:nvSpPr>
        <p:spPr>
          <a:xfrm>
            <a:off x="8110728" y="1545336"/>
            <a:ext cx="3300984" cy="566928"/>
          </a:xfrm>
          <a:prstGeom prst="rect">
            <a:avLst/>
          </a:prstGeom>
          <a:noFill/>
          <a:ln/>
        </p:spPr>
        <p:txBody>
          <a:bodyPr wrap="square" lIns="0" tIns="0" rIns="0" bIns="0" rtlCol="0" anchor="ctr"/>
          <a:lstStyle/>
          <a:p>
            <a:pPr indent="0" marL="0">
              <a:buNone/>
            </a:pPr>
            <a:r>
              <a:rPr lang="en-US" sz="3000" b="1" dirty="0">
                <a:solidFill>
                  <a:srgbClr val="8C2F27"/>
                </a:solidFill>
                <a:latin typeface="Cambria" pitchFamily="34" charset="0"/>
                <a:ea typeface="Cambria" pitchFamily="34" charset="-122"/>
                <a:cs typeface="Cambria" pitchFamily="34" charset="-120"/>
              </a:rPr>
              <a:t>3,7%</a:t>
            </a:r>
            <a:endParaRPr lang="en-US" sz="3000" dirty="0"/>
          </a:p>
        </p:txBody>
      </p:sp>
      <p:sp>
        <p:nvSpPr>
          <p:cNvPr id="13" name="Text 11"/>
          <p:cNvSpPr/>
          <p:nvPr/>
        </p:nvSpPr>
        <p:spPr>
          <a:xfrm>
            <a:off x="8110728" y="2130552"/>
            <a:ext cx="3300984" cy="384048"/>
          </a:xfrm>
          <a:prstGeom prst="rect">
            <a:avLst/>
          </a:prstGeom>
          <a:noFill/>
          <a:ln/>
        </p:spPr>
        <p:txBody>
          <a:bodyPr wrap="square" lIns="0" tIns="0" rIns="0" bIns="0" rtlCol="0" anchor="ctr"/>
          <a:lstStyle/>
          <a:p>
            <a:pPr indent="0" marL="0">
              <a:buNone/>
            </a:pPr>
            <a:r>
              <a:rPr lang="en-US" sz="1050" dirty="0">
                <a:solidFill>
                  <a:srgbClr val="56534C"/>
                </a:solidFill>
                <a:latin typeface="Cambria" pitchFamily="34" charset="0"/>
                <a:ea typeface="Cambria" pitchFamily="34" charset="-122"/>
                <a:cs typeface="Cambria" pitchFamily="34" charset="-120"/>
              </a:rPr>
              <a:t>setores que mudam de faixa em relação à referência (T33)</a:t>
            </a:r>
            <a:endParaRPr lang="en-US" sz="1050" dirty="0"/>
          </a:p>
        </p:txBody>
      </p:sp>
      <p:sp>
        <p:nvSpPr>
          <p:cNvPr id="14" name="Shape 12"/>
          <p:cNvSpPr/>
          <p:nvPr/>
        </p:nvSpPr>
        <p:spPr>
          <a:xfrm>
            <a:off x="777240" y="2926080"/>
            <a:ext cx="822960" cy="0"/>
          </a:xfrm>
          <a:prstGeom prst="line">
            <a:avLst/>
          </a:prstGeom>
          <a:noFill/>
          <a:ln w="15875">
            <a:solidFill>
              <a:srgbClr val="8C2F27"/>
            </a:solidFill>
            <a:prstDash val="solid"/>
          </a:ln>
        </p:spPr>
      </p:sp>
      <p:sp>
        <p:nvSpPr>
          <p:cNvPr id="15" name="Text 13"/>
          <p:cNvSpPr/>
          <p:nvPr/>
        </p:nvSpPr>
        <p:spPr>
          <a:xfrm>
            <a:off x="777240" y="2980944"/>
            <a:ext cx="10634472" cy="3054096"/>
          </a:xfrm>
          <a:prstGeom prst="rect">
            <a:avLst/>
          </a:prstGeom>
          <a:noFill/>
          <a:ln/>
        </p:spPr>
        <p:txBody>
          <a:bodyPr wrap="square" lIns="0" tIns="0" rIns="0" bIns="0" rtlCol="0" anchor="t"/>
          <a:lstStyle/>
          <a:p>
            <a:pPr indent="0" marL="0">
              <a:lnSpc>
                <a:spcPts val="1650"/>
              </a:lnSpc>
              <a:buNone/>
            </a:pPr>
            <a:r>
              <a:rPr lang="en-US" sz="1250" b="1" dirty="0">
                <a:solidFill>
                  <a:srgbClr val="8C2F27"/>
                </a:solidFill>
                <a:latin typeface="Cambria" pitchFamily="34" charset="0"/>
                <a:ea typeface="Cambria" pitchFamily="34" charset="-122"/>
                <a:cs typeface="Cambria" pitchFamily="34" charset="-120"/>
              </a:rPr>
              <a:t>O que esta versão mostra  </a:t>
            </a:r>
            <a:pPr indent="0" marL="0">
              <a:lnSpc>
                <a:spcPts val="1650"/>
              </a:lnSpc>
              <a:buNone/>
            </a:pPr>
            <a:r>
              <a:rPr lang="en-US" sz="1250" dirty="0">
                <a:solidFill>
                  <a:srgbClr val="1A1A18"/>
                </a:solidFill>
                <a:latin typeface="Cambria" pitchFamily="34" charset="0"/>
                <a:ea typeface="Cambria" pitchFamily="34" charset="-122"/>
                <a:cs typeface="Cambria" pitchFamily="34" charset="-120"/>
              </a:rPr>
              <a:t>Calculado com o país inteiro, o índice ordena os setores dos 70 municípios quase como a referência, e poucos mudam de faixa: a estrutura de dois fatores e os pesos não dependem da amostra do ELSI. A versão é elegível. A AUC global contra as favelas é menor que a da referência, porque mistura municípios em que as favelas pesam de modo muito diferente; a AUC municipal, que é a leitura adequada, fica mais alta. Na comparação lado a lado (T35), os setores dos 70 municípios têm mais renda, menos analfabetismo e menos falta de água, esgoto e banheiro do que os setores urbanos do país, mas mais apartamentos, mais habitação precária e mais lixo inadequado: o perfil de uma amostra concentrada em cidades grandes.</a:t>
            </a:r>
            <a:endParaRPr lang="en-US" sz="12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249.404 setores chegam ao índice, de 468.099 na base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Do recorte ao índice, 97.996 setores saem por falta de algum componente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Banheiro graduado é o indicador com mais faltantes (17,6% dos setores)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Domicílio improvisado é o indicador mais assimétrico (assimetria 47,03)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a mediana vai de 1.518,56 (Nordeste) a 2.831,34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entre os municípios, a mediana vai de 1.465,53 a 3.518,49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 é o indicador que mais difere entre o recorte da versão e os 70 municípios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Sem banheiro nem sanitário tem a distribuição mais assimétrica (assimetria 40,50)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Água inadequada tem mediana de 0,1796 no Norte e 0,0000 no Centro-Oeste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Renda média tem a distribuição mais assimétrica (assimetria 5,78)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Razão de moradores tem mediana de 3,1800 no Norte e 2,6522 no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Domicílio improvisado tem a distribuição mais assimétrica (assimetria 47,03)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Domicílio improvisado tem mediana de 0,0000 no Centro-Oeste e 0,0000 no Centro-Oeste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Dependência idosa tem a distribuição mais assimétrica (assimetria 29,02)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1 de 3</a:t>
            </a:r>
            <a:endParaRPr lang="en-US" sz="9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Crianças 0–4 tem mediana de 0,0756 no Norte e 0,0532 no Sudeste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as regiões têm formas diferentes de distribuição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maior percentual de faltantes é o de Banheiro graduado em AC (55,3%)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faltantes se concentram em poucos indicadores e municípios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analfabetismo falta em 27,4% dos menores setores e em 1,9% dos maiores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falta de dados depende do tamanho do setor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Casa tem a maior proporção de extremos (11,0%)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SP concentra o maior número de marcações de extremo (46.016)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setores mais distantes da mediana, indicador por indicador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308 setores têm renda suspeita e 7.832 têm renda extrema coerente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proporção de extremos varia muito de um indicador para outro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e Renda sem o extremo formam o par mais correlacionado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Na correlação linear, o par mais forte é Renda média × Renda sem o extremo (r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par mais redundante é Renda média × Renda sem o extremo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indicadores formam grupos de correlação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Entre as variáveis das demandas e os componentes do índice, o par mais forte é Sem água canalizada × Cor/raça PPI (ρ = 0,4461)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 o par mais correlacionado é Sem banheiro × Banheiro graduado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2 de 3</a:t>
            </a:r>
            <a:endParaRPr lang="en-US" sz="9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Candidatos ao artigo: as tabelas e figuras desta versão</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243584"/>
            <a:ext cx="10634472" cy="274320"/>
          </a:xfrm>
          <a:prstGeom prst="rect">
            <a:avLst/>
          </a:prstGeom>
          <a:noFill/>
          <a:ln/>
        </p:spPr>
        <p:txBody>
          <a:bodyPr wrap="square" lIns="0" tIns="0" rIns="0" bIns="0" rtlCol="0" anchor="ctr"/>
          <a:lstStyle/>
          <a:p>
            <a:pPr indent="0" marL="0">
              <a:buNone/>
            </a:pPr>
            <a:r>
              <a:rPr lang="en-US" sz="1100" i="1" dirty="0">
                <a:solidFill>
                  <a:srgbClr val="56534C"/>
                </a:solidFill>
                <a:latin typeface="Cambria" pitchFamily="34" charset="0"/>
                <a:ea typeface="Cambria" pitchFamily="34" charset="-122"/>
                <a:cs typeface="Cambria" pitchFamily="34" charset="-120"/>
              </a:rPr>
              <a:t>Marcar no catálogo (colunas “Vai para o artigo?”, “Seção” e “Comentários”); os IDs são os mesmos em todas as versões.</a:t>
            </a:r>
            <a:endParaRPr lang="en-US" sz="11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777240" y="1609344"/>
          <a:ext cx="10607040" cy="914400"/>
        </p:xfrm>
        <a:graphic>
          <a:graphicData uri="http://schemas.openxmlformats.org/drawingml/2006/table">
            <a:tbl>
              <a:tblPr/>
              <a:tblGrid>
                <a:gridCol w="731520"/>
                <a:gridCol w="731520"/>
                <a:gridCol w="914400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ID</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Bloco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Título no deck</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 o par mais correlacionado é Renda média × Renda sem o extremo (ρ = 1,0000)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 o par mais correlacionado é Habitação precária × Moradia não convencional (ρ = 0,9459)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 o par mais correlacionado é Pessoas 60+ × Dependência idosa (ρ = 0,9949)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dendrograma junta os indicadores que medem coisas parecidas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Cor/raça PPI é o indicador que mais separa as favelas (AUC 0,7846)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indicadores separam as favelas com força muito diferente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KMO de 0,7865: os componentes se prestam à análise fatorial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(invertida) tem a menor adequação individual (MSA 0,7239)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 segundo autovalor (1,0821) fica acima da linha de Horn (1,0155)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dois fatores da promax se correlacionam em 0,4254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Gráfico de sedimentação: dois componentes acima do acaso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(invertida) define F1 e Água inadequada define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correlação de postos com a referência é 0,9983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 maior troca de faixa é de elevado para medio (1.155 setores)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3,7% dos setores mudam de faixa em relação à referência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Matriz de faixas: referência × esta versão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Os municípios mais afetados pela mudança da versão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4"/>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catalogo.csv  ·  parte 3 de 3</a:t>
            </a:r>
            <a:endParaRPr lang="en-US" sz="9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Limitações e parâmetros exploratórios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sp>
        <p:nvSpPr>
          <p:cNvPr id="5" name="Text 3"/>
          <p:cNvSpPr/>
          <p:nvPr/>
        </p:nvSpPr>
        <p:spPr>
          <a:xfrm>
            <a:off x="777240" y="1335024"/>
            <a:ext cx="10634472" cy="4700016"/>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 base nacional foi montada para esta versão (scripts/base_nacional_versoes.py) e não é versionada; nos 70 municípios ela reproduz a base da entrega.</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Com milhares de municípios, as tabelas por município dos blocos 2, 4 e 5 viram tabelas por UF.</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O bloco 8 (envelhecimento) e os blocos 10 a 12 não fazem parte desta versão; o índice entra só na adequação fatorial e na comparação com a referência.</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Os nomes de município levam a sigla da UF, porque o nome sozinho se repete no país e o índice é normalizado por município.</a:t>
            </a:r>
            <a:endParaRPr lang="en-US" sz="1300" dirty="0"/>
          </a:p>
          <a:p>
            <a:pPr marL="342900" indent="-342900">
              <a:spcAft>
                <a:spcPts val="800"/>
              </a:spcAft>
              <a:buSzPct val="100000"/>
              <a:buChar char="•"/>
            </a:pPr>
            <a:r>
              <a:rPr lang="en-US" sz="1300" dirty="0">
                <a:solidFill>
                  <a:srgbClr val="1A1A18"/>
                </a:solidFill>
                <a:latin typeface="Cambria" pitchFamily="34" charset="0"/>
                <a:ea typeface="Cambria" pitchFamily="34" charset="-122"/>
                <a:cs typeface="Cambria" pitchFamily="34" charset="-120"/>
              </a:rPr>
              <a:t>A amostra do índice exclui todo setor com algum componente faltante (exclusão por lista).</a:t>
            </a:r>
            <a:endParaRPr lang="en-US" sz="1300" dirty="0"/>
          </a:p>
          <a:p>
            <a:pPr marL="342900" indent="-342900">
              <a:spcAft>
                <a:spcPts val="800"/>
              </a:spcAft>
              <a:buSzPct val="100000"/>
              <a:buChar char="•"/>
            </a:pPr>
            <a:r>
              <a:rPr lang="en-US" sz="1300" i="1" dirty="0">
                <a:solidFill>
                  <a:srgbClr val="1A1A18"/>
                </a:solidFill>
                <a:latin typeface="Cambria" pitchFamily="34" charset="0"/>
                <a:ea typeface="Cambria" pitchFamily="34" charset="-122"/>
                <a:cs typeface="Cambria" pitchFamily="34" charset="-120"/>
              </a:rPr>
              <a:t>Nenhum parâmetro exploratório nesta versão.</a:t>
            </a:r>
            <a:endParaRPr lang="en-US" sz="1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533019">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abastecimento de água inadequado ou ausente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V00112 + V00113 + V00114 + V00115 + V00116 + V00117 + V00118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esgotamento sanitário inadequado ou ausente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V00312 + V00313 + V00314 + V00315 + V00316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destino do lixo inadequado ou ausente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V00398 + V00399 + V00400 + V00401 + V00402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que a água não chega encanada até dentro do domicílio (complemento de V00199; equivale a V00200+V00201 sobre 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V00199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não chega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que a água não chega encanada ao domicílio (V00201)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só no terreno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que a água chega encanada apenas ao terreno (V00200)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sem banheiro de uso exclusivo com chuveiro e vaso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V00495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 nem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sem banheiro nem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Só sanitário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apenas sanitário ou buraco para dejeções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  ·  parte 1 de 3</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Banheiro de uso comum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apenas banheiro de uso comum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33019">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Banheiro graduado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Saneamento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Falta de banheiro graduada: 1 ponto para banheiro só de uso comum, 2 para só sanitário, 3 para nem banheiro nem sanitário, sobre 3 vezes os domicílios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V00236 + 2·V00237 + 3·V00238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 por domicílio (reproduz o V0005 do IBGE)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V00005 + V00006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 + 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Taxa de analfabetismo entre pessoas de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V00901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V00900 + V00901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Rendimento nominal médio mensal das pessoas responsáveis (R$)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V06004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Cor/raça PPI</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de cor/raça 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V01318 + V01320 + V01321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Responsável mulher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com pessoa responsável do sexo feminino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V01062 + V01063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sem o extremo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dos responsáveis sem o valor extremo de Belo Horizonte (R$ 170.418,06), que vira faltante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V06004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(mediana mun.)</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Socioeconômica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dos responsáveis com o valor extremo trocado pela mediana do município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V06004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Domicílio improvisado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particulares improvisados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 + 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533019">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Habitação precária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em habitação precária (cortiço, estrutura degradada, improvisados)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V00050 + V00052 + V00053 + V00054 + V00055 + V00056 + V00057 + V00058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 + V00002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  ·  parte 2 de 3</a:t>
            </a:r>
            <a:endParaRPr lang="en-US" sz="9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400" b="1" dirty="0">
                <a:solidFill>
                  <a:srgbClr val="1A1A18"/>
                </a:solidFill>
                <a:latin typeface="Cambria" pitchFamily="34" charset="0"/>
                <a:ea typeface="Cambria" pitchFamily="34" charset="-122"/>
                <a:cs typeface="Cambria" pitchFamily="34" charset="-120"/>
              </a:rPr>
              <a:t>Apêndice: dicionário dos indicadores</a:t>
            </a:r>
            <a:endParaRPr lang="en-US" sz="2400" dirty="0"/>
          </a:p>
        </p:txBody>
      </p:sp>
      <p:sp>
        <p:nvSpPr>
          <p:cNvPr id="4" name="Shape 2"/>
          <p:cNvSpPr/>
          <p:nvPr/>
        </p:nvSpPr>
        <p:spPr>
          <a:xfrm>
            <a:off x="777240" y="1042416"/>
            <a:ext cx="10634472" cy="0"/>
          </a:xfrm>
          <a:prstGeom prst="line">
            <a:avLst/>
          </a:prstGeom>
          <a:noFill/>
          <a:ln w="12700">
            <a:solidFill>
              <a:srgbClr val="1A1A18"/>
            </a:solidFill>
            <a:prstDash val="solid"/>
          </a:ln>
        </p:spPr>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777240" y="1243584"/>
          <a:ext cx="10607040" cy="914400"/>
        </p:xfrm>
        <a:graphic>
          <a:graphicData uri="http://schemas.openxmlformats.org/drawingml/2006/table">
            <a:tbl>
              <a:tblPr/>
              <a:tblGrid>
                <a:gridCol w="1828800"/>
                <a:gridCol w="1188720"/>
                <a:gridCol w="4206240"/>
                <a:gridCol w="1737360"/>
                <a:gridCol w="1645920"/>
              </a:tblGrid>
              <a:tr h="230886">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Dimensão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O que mede</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Numerador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Denominador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moradias convencionais (casa, casa de vila/condomínio, apartamento)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V00047 + V00048 + V00049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moradias não convencionais (cortiço, maloca, estrutura degradada)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V00050 + V00051 + V00052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Apartamento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do tipo apartamento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do tipo casa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Casa de vila/condomínio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Morfologia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domicílios do tipo casa de vila ou em condomínio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crianças de 0 a 4 anos na população residente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População 0–14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com menos de 15 anos na população residente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V01031 + V01032 + V01033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Pessoas 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de 60 anos ou mais na população residente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38633">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Índice de envelhecimento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Índice de Envelhecimento Populacional: 60+ por 100 menores de 15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V01031 + V01032 + V01033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Dependência idosa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Dependência de Idosos: 60+ por 100 pessoas de 15 a 59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V01034 + V01035 + V01036 + V01037 + V01038 + V01039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85826">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70+ entre 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Demografia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Proporção de pessoas de 70+ entre os de 60+ (proxy de longevidade; NÃO é o LI, que exigiria a faixa 75+, inexistente nos agregados por setor)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V01040 + V01041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Text 3"/>
          <p:cNvSpPr/>
          <p:nvPr/>
        </p:nvSpPr>
        <p:spPr>
          <a:xfrm>
            <a:off x="777240" y="6144768"/>
            <a:ext cx="9902952" cy="329184"/>
          </a:xfrm>
          <a:prstGeom prst="rect">
            <a:avLst/>
          </a:prstGeom>
          <a:noFill/>
          <a:ln/>
        </p:spPr>
        <p:txBody>
          <a:bodyPr wrap="square" lIns="0" tIns="0" rIns="0" bIns="0" rtlCol="0" anchor="ctr"/>
          <a:lstStyle/>
          <a:p>
            <a:pPr indent="0" marL="0">
              <a:buNone/>
            </a:pPr>
            <a:r>
              <a:rPr lang="en-US" sz="950" i="1" dirty="0">
                <a:solidFill>
                  <a:srgbClr val="8B877E"/>
                </a:solidFill>
                <a:latin typeface="Cambria" pitchFamily="34" charset="0"/>
                <a:ea typeface="Cambria" pitchFamily="34" charset="-122"/>
                <a:cs typeface="Cambria" pitchFamily="34" charset="-120"/>
              </a:rPr>
              <a:t>Quadro_Indicadores.csv (entrega à orientadora)  ·  parte 3 de 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A6_brasil — Brasil</dc:title>
  <dc:subject>PptxGenJS Presentation</dc:subject>
  <dc:creator>Pedro Dias Soares</dc:creator>
  <cp:lastModifiedBy>Pedro Dias Soares</cp:lastModifiedBy>
  <cp:revision>1</cp:revision>
  <dcterms:created xsi:type="dcterms:W3CDTF">2026-10-23T00:10:50Z</dcterms:created>
  <dcterms:modified xsi:type="dcterms:W3CDTF">2026-10-23T00:10:50Z</dcterms:modified>
</cp:coreProperties>
</file>