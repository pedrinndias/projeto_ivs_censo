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muda no índice com a média geométrica ponderada dos componentes, em vez da soma ponderada?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agregação: média geométrica ponderada dos componentes normalizados no lugar da soma ponderada. Como o min-max põe zero no setor de menor valor do município, soma-se 0,01 a cada componente antes do produto (parâmetro exploratório). A soma ponderada da referência está na tabela T34.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fatores e os pesos, cada setor recebe um valor de 0 a 1 dentro do seu município. O bloco mostra os pesos, a distribuição do índice, as faixas de vulnerabilidade pelas duas regras, a AUC contra as favelas e se a versão passa nos critérios de elegibilidade fixados no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seguem a receita do NB04: cada variável vai para a dimensão em que tem a maior carga; o peso da dimensão é repartido entre as variáveis dela em proporção ao quadrado da carga. O peso das dimensões depende do método da versão; na referência é a regra do IVS-BH de 2012 (60% socioeconômica, 40% saneamento).
Como ler: Uma linha por componente: a dimensão em que ele carrega mais, a carga, o peso da dimensão e o peso final no índice (em %).
O que mostra: O maior peso é o de Renda (invertida) (19,3%); a dimensão F1 (socioeconômica) pesa 60,0%.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vai de 0 (o setor menos vulnerável do município) a 1 (o mais vulnerável). Comparar o nível do índice entre municípios não faz sentido nesta normalização; o que se compara é a posição relativa de cada setor dentro da sua cidade.
Como ler: Descritivas do índice para o total e por região. Como o índice é normalizado dentro de cada município, todo município tem mínimo 0 e máximo 1.
O que mostra: 73.878 setores; mediana 0,0936; percentil 90 0,1868.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do IVS-BH de 2012 classifica pelo afastamento da média do município em desvios-padrão: abaixo de −0,5 DP é baixo; até +0,5 DP, médio; até +1,5 DP, elevado; acima, muito elevado. Como a distribuição é assimétrica, as faixas não têm o mesmo tamanho. A regra dos quartis divide cada município em quatro partes iguais, por construção com 25% cada.
Como ler: Quantos setores ficam em cada faixa, pelas duas regras: a do IVS-BH (média e desvio-padrão do município) e a dos quartis do município.
O que mostra: IVS-BH: 29,1% baixo e 6,2% muito elevado. Quartis: 25,0%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global junta todos os setores; a municipal calcula a AUC dentro de cada município e toma a mediana, só nos municípios com pelo menos 30 setores de FCU e 30 fora. A municipal é a leitura adequada para um índice normalizado no município. Os critérios de elegibilidade foram fixados antes de rodar a grade do NB05: KMO de pelo menos 0,70, MSA de pelo menos 0,50, comunalidade de pelo menos 0,30 e carga de pelo menos 0,40 em todas as variáveis. A elegibilidade é descritiva: não escolhe a versão.
Como ler: AUC global e municipal, peso da dimensão socioeconômica e os critérios de elegibilidade do NB05, um por linha (1 = atende).
O que mostra: AUC global 0,7646; mediana da AUC municipal 0,7502, em 31 municípios. Pelos critérios do NB05, a versão é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Guarujá (0,9324) e a menor, a de Duque de Caxias (0,4861).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Guarujá (0,9324) e a menor, a de Duque de Caxias (0,4861).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as faixas são definidas dentro de cada município, um mesmo valor do índice pode cair em faixas diferentes em cidades diferentes: por isso as cores se sobrepõem nas fronteiras.
Como ler: Histograma do índice, com cada barra dividida pela faixa dos setores (regra do IVS-BH).
O que mostra: 29,1% dos setores ficam em baixo e 6,2% em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mais a curva se aproxima do canto superior esquerdo, melhor o índice separa os dois grupos. A área sob a curva é a AUC. Esta curva usa todos os setores juntos; como o índice é normalizado no município, a AUC municipal é a medida principal.
Como ler: Cada ponto da curva é um corte do índice: no eixo vertical, a proporção de setores de FCU acima do corte; no horizontal, a dos setores de fora. A diagonal é o acaso.
O que mostra: Área sob a curva: 0,7646 (global); a mediana municipal é 0,7502.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ninguém fixou um parâmetro, a versão roda com um valor-padrão e esta tabela mostra o que muda com o valor alternativo. Correlação de postos perto de 1 e poucas trocas de faixa indicam que a escolha do parâmetro pesa pouco; o contrário indica que ela precisa ser decidida. Nenhum dos valores é decisão: é parâmetro exploratório.
Como ler: Uma linha por valor do parâmetro exploratório: setores no recorte e no índice, KMO, AUC global e municipal, elegibilidade (1 = elegível), correlação de postos com o índice do valor-padrão e % de setores que mudam de faixa.
O que mostra: Com soma ponderada (referência): 73.878 setores no índice (contra 73.878), AUC municipal 0,8186, ρ = 0,8915 com o valor-padrão e 27,1% dos setores comuns mudando de faixa.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classifica setores, mas a pergunta de política pública é sobre pessoas. Este bloco soma moradores e moradores de 60 anos ou mais em cada faixa do índice, por município.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São Paulo das Missões (74,6%); menor: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São Paulo das Missões (74,6%); menor: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contagem de pessoas usa o total de moradores do setor (v0001) e a soma das faixas de 60 a 69 e de 70 anos ou mais. Só entram os setores da amostra do índice.
Como ler: Uma linha por faixa: setores, moradores e moradores de 60+, com os percentuais.
O que mostra: Na faixa muito elevada: 2.183.891 pessoas (5,8% do total), das quais 234.536 com 60 anos ou 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tabela por município em forma de barras empilhadas. Um município em que as faixas altas ocupam muito da barra concentra população nos setores mais vulneráveis da cidade.
Como ler: Uma barra por município, dividida pelas faixas do índice; o comprimento de cada parte é o percentual de moradores. Ordem: do maior para o menor percentual nas duas faixas mais altas.
O que mostra: No topo, São Paulo das Missões (74,6% em elevado ou muito elevado); na base,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 índice é normalizado dentro de cada município, a comparação entre cidades é sobre a desigualdade interna, não sobre o nível. Três medidas: a razão entre os percentis 90 e 10, o Gini e o Theil.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Orizânia (0,4485); menor: São Raimundo do Doca Bezerra (0,0000).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Orizânia (0,4485); menor: São Raimundo do Doca Bezerra (0,0000).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Gini e Theil apontam em sentidos diferentes para um município, a desigualdade dele está mais na cauda (poucos setores muito acima dos demais) do que no meio da distribuição.
Como ler: Barras: Gini do índice dentro de cada município, do maior para o menor. Pontos: Theil.
O que mostra: Do maior Gini, Orizânia (0,4485), ao menor, São Raimundo do Doca Bezerra (0,0000).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versão muda uma coisa só em relação à referência. Este bloco mede o efeito dessa mudança: a correlação de postos entre os dois índices, a matriz de setores que trocam de faixa e os municípios mais afetados.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correlação de postos perto de 1 indica que a versão ordena os setores quase como a referência, ainda que os valores mudem. Na própria referência, o valor é 1 por construção.
Como ler: Correlação de Spearman entre o índice desta versão e o da referência, nos setores que estão nas duas amostras: total e por município.
O que mostra: Total: ρ = 0,8915. Menor correlação municipal: Santa Maria do Oeste (0,7000).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diagonal (mesma faixa nas duas) mostra a concordância. Trocas entre faixas vizinhas são esperadas quando os pesos mudam um pouco; trocas de duas faixas ou mais indicam que a versão muda de fato a classificação do setor.
Como ler: Cada linha é um par (faixa na referência, faixa nesta versão), com o número de setores e o percentual do total.
O que mostra: Fora da diagonal, a maior célula é de elevado para medio, com 8.167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faixa usada é a da regra do IVS-BH. Municípios pequenos tendem a aparecer no topo, porque poucas trocas pesam muito em poucos setores.
Como ler: A primeira linha é o total; as demais, os municípios, do mais afetado para o menos: setores comuns, setores que mudam de faixa e o percentual.
O que mostra: No total, 27,1% dos setores mudam de faixa; o município mais afetado é Placas (80,0%).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matriz com quase tudo na diagonal indica que a mudança da versão não altera a classificação; células fora da diagonal mostram para onde os setores se movem.
Como ler: Linhas: faixa na referência; colunas: faixa nesta versão; cada célula traz o número de setores.
O que mostra: A maior troca fora da diagonal é de elevado para medio (8.167 setores).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destaca onde a escolha desta versão faz mais diferença. Na própria referência, todas as barras são zero.
Como ler: Os 20 municípios com o maior percentual de setores que mudam de faixa.
O que mostra: O mais afetado é Placas (80,0%); no total, 27,1%.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média geométrica muda muito o índice: mais de um quarto dos setores troca de faixa e a AUC contra as favelas cai de forma visível. Ela pune setores com algum componente perto de zero, e como a maior parte dos setores tem zero em vários indicadores de saneamento, o índice passa a depender sobretudo de quais componentes são zero, não de quão alta é a carência nos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resultado depende do deslocamento somado aos zeros (0,01), que é parâmetro exploratório — não é decisão.
Com muitos zeros nos componentes, a média geométrica é pouco indicada; a versão documenta o efeito.
A amostra do índice exclui todo setor com algum componente faltante (exclusão por lista).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C4_agregacao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Agregação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no índice com a média geométrica ponderada dos componentes, em vez da soma ponderada?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68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pct_agua_inad, pct_esgoto_inad, razao_moradores, pct_analfab, renda_inv, pct_raca_pretpardind, banheiro_graduado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30301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357878"/>
            <a:ext cx="10634472" cy="167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agregação: média geométrica ponderada dos componentes normalizados no lugar da soma ponderada. Como o min-max põe zero no setor de menor valor do município, soma-se 0,01 a cada componente antes do produto (parâmetro exploratório). A soma ponderada da referência está na tabela T34.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da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fica o índice, e ele separa os setores de favela?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T23, T24, T25, T26, T27, F24, F25, T34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Quem está em risco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Quantas pessoas, e quantas pessoas idosas, vivem em cada faixa?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T28, T29, F26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Desigualdade interna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Em que municípios o índice varia mais de um setor para outro?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T30, F27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com a referência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 versão muda em relação à referência proposta do NB05?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T31, T32, T33, F28, F29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da versão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o índice, e ele separa os setores de favela?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T23 · T24 · T25 · T26 · T27 · F24 · F25 · T34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tem o maior peso no índice (19,3%)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78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868680"/>
                <a:gridCol w="128016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no índice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a dimensão em que ele carrega mais, a carga, o peso da dimensão e o peso final no índice (em %).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peso é o de Renda (invertida) (19,3%); a dimensão F1 (socioeconômica) pesa 60,0%.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T23 · tabelas/T23_pesos.csv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tem mediana 0,0936 e P90 0,1868, em 73.878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822960"/>
                <a:gridCol w="822960"/>
                <a:gridCol w="868680"/>
                <a:gridCol w="8229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7.329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45.352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 do índice para o total e por região. Como o índice é normalizado dentro de cada município, todo município tem mínimo 0 e máximo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73.878 setores; mediana 0,0936; percentil 90 0,1868.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T24 · tabelas/T24_indice_descritivas.csv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regra do IVS-BH, 6,2% dos setores ficam em vulnerabilidade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21.508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37.255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10.568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4.546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ficam em cada faixa, pelas duas regras: a do IVS-BH (média e desvio-padrão do município) e a dos quartis do município.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IVS-BH: 29,1% baixo e 6,2% muito elevado. Quartis: 25,0%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T25 · tabelas/T25_faixas.csv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de 0,7502: o índice separa as favelas — versão elegível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675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23774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Detalhe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 contra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(mediana)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na AUC municipal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ao menos 30 setores de FCU e fora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F1 (socioeconômica)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≥ 0,70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≥ 0,50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≥ 0,30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carga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≥ 0,40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pelos critérios do NB05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e municipal, peso da dimensão socioeconômica e os critérios de elegibilidade do NB05, um por linha (1 = atende).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0,7646; mediana da AUC municipal 0,7502, em 31 municípios. Pelos critérios do NB05, a versão é elegível.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T26 · tabelas/T26_auc_e_elegibilidade.csv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0,4861 (Duque de Caxias) a 0,9324 (Guarujá)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Guarujá (0,9324) e a menor, a de Duque de Caxias (0,4861).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0,4861 (Duque de Caxias) a 0,9324 (Guarujá)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0,6871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0,6854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0,6805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Guarujá (0,9324) e a menor, a de Duque de Caxias (0,4861).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do índice e as faixas do IVS-BH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4_agregacao/figuras/F24_histograma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29075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do índice, com cada barra dividida pela faixa dos setores (regra do IVS-BH).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29,1% dos setores ficam em baixo e 6,2% em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F24 · figuras/F24_histograma_por_faixa.png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 ROC do índice contra as favelas (AUC global 0,7646)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4_agregacao/figuras/F25_curva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602" y="1243584"/>
            <a:ext cx="48576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da curva é um corte do índice: no eixo vertical, a proporção de setores de FCU acima do corte; no horizontal, a dos setores de fora. A diagonal é o acaso.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sob a curva: 0,7646 (global); a mediana municipal é 0,7502.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F25 · figuras/F25_curva_roc.png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soma ponderada (referência), o índice fica com 73.878 setores e ρ = 0,8915 com o valor-padrão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636935"/>
                <a:gridCol w="775390"/>
                <a:gridCol w="775390"/>
                <a:gridCol w="646158"/>
                <a:gridCol w="732313"/>
                <a:gridCol w="689236"/>
                <a:gridCol w="646158"/>
                <a:gridCol w="775390"/>
                <a:gridCol w="77539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com o 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muda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valor-padrão desta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soma ponderada (referência)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69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valor do parâmetro exploratório: setores no recorte e no índice, KMO, AUC global e municipal, elegibilidade (1 = elegível), correlação de postos com o índice do valor-padrão e %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32042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25907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soma ponderada (referência): 73.878 setores no índice (contra 73.878), AUC municipal 0,8186, ρ = 0,8915 com o valor-padrão e 27,1% dos setores comuns mudando de faixa.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T34 · tabelas/T34_sensibilidade.csv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está em risco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Quantas pessoas, e quantas pessoas idosas, vivem em cada faixa?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T28 · T29 · F26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das Missões tem a maior parte dos moradores em vulnerabilidade elevada ou muito elevada (74,6%)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4.576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2.606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15.011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2.606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Anápolis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76.988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29.707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Caetano do 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29.638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5.270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35.811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17.902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São Paulo das Missões (74,6%); menor: São Raimundo do Doca Bezerra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das Missões tem a maior parte dos moradores em vulnerabilidade elevada ou muito elevada (74,6%)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138.707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109.817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9.055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Limoeiro do 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10.322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5.900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Itapetinga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Charqueadas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16636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São Paulo das Missões (74,6%); menor: São Raimundo do Doca Bezerra (0,0%).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2.183.891 pessoas vivem em setores de vulnerabilidade muito elevada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1097280"/>
                <a:gridCol w="1097280"/>
                <a:gridCol w="91440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21.508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9.801.184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1.992.520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37.255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19.950.728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3.315.352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10.568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5.576.529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683.544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4.546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2.183.891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234.536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faixa: setores, moradores e moradores de 60+, com os percentuais.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faixa muito elevada: 2.183.891 pessoas (5,8% do total), das quais 234.536 com 60 anos ou mais.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T29 · tabelas/T29_risco_total.csv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parcela de moradores em cada faixa muda de município para município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4_agregacao/figuras/F26_risco_por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5208" y="1243584"/>
            <a:ext cx="343642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município, dividida pelas faixas do índice; o comprimento de cada parte é o percentual de moradores. Ordem: do maior para o menor percentual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topo, São Paulo das Missões (74,6% em elevado ou muito elevado); na base, São Raimundo do Doca Bezerra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F26 · figuras/F26_risco_por_municipio.png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Desigualdade interna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que municípios o índice varia mais de um setor para outro?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T30 · F27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Orizânia tem a maior desigualdade interna do índice (Gini 0,4485)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Orizânia (0,4485); menor: São Raimundo do Doca Bezerra (0,0000).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Orizânia tem a maior desigualdade interna do índice (Gini 0,4485)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Araçatuba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0191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Orizânia (0,4485); menor: São Raimundo do Doca Bezerra (0,0000).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desigualdade interna do índice, município por município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4_agregacao/figuras/F27_desigualdade_inter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3693" y="1243584"/>
            <a:ext cx="3159454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Barras: Gini do índice dentro de cada município, do maior para o menor. Pontos: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maior Gini, Orizânia (0,4485), ao menor, São Raimundo do Doca Bezerra (0,0000).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F27 · figuras/F27_desigualdade_interna.png  ·  Bloco 12. Desigualdade interna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com a referência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muda em relação à referência proposta do NB05?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T31 · T32 · T33 · F28 · F29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postos com a referência é 0,8915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 (menores ρ)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de 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Limoeiro do 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Charqueadas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 índice desta versão e o da referência, nos setores que estão nas duas amostras: total e por município.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ρ = 0,8915. Menor correlação municipal: Santa Maria do Oeste (0,7000).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T31 · tabelas/T31_spearman_com_referencia.csv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de faixa é de elevado para medio (8.167 setores)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↓ · versão →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17.675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3.566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25.447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8.167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7.823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par (faixa na referência, faixa nesta versão), com o número de setores e o percentual do total.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da diagonal, a maior célula é de elevado para medio, com 8.167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T32 · tabelas/T32_matriz_de_faixas.csv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27,1% dos setores mudam de faixa em relação à referência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943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Mudam de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que muda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20.001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Charqueadas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Pato Branco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Limoeiro do 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linha é o total; as demais, os municípios, do mais afetado para o menos: setores comuns, setores que mudam de faixa e o percentual.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total, 27,1% dos setores mudam de faixa; o município mais afetado é Placas (80,0%).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T33 · tabelas/T33_municipios_que_mudam.csv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faixas: referência × 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4_agregacao/figuras/F28_matriz_de_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196" y="1243584"/>
            <a:ext cx="556844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Linhas: faixa na referência; colunas: faixa nesta versão; cada célula traz o número de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fora da diagonal é de elevado para medio (8.167 setores).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F28 · figuras/F28_matriz_de_faixas.png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mais afetados pela mudança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4_agregacao/figuras/F29_municipios_que_mud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9474" y="1243584"/>
            <a:ext cx="6167892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20 municípios com o maior percentual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mais afetado é Placas (80,0%); no total, 27,1%.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F29 · figuras/F29_municipios_que_mudam.png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72184"/>
            <a:ext cx="5134356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45336"/>
            <a:ext cx="51343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0,7502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51343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contra FCU (mediana) (T26)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77356" y="1472184"/>
            <a:ext cx="5134356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77356" y="1545336"/>
            <a:ext cx="51343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27,1%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277356" y="2130552"/>
            <a:ext cx="51343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 em relação à referência (T33)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média geométrica muda muito o índice: mais de um quarto dos setores troca de faixa e a AUC contra as favelas cai de forma visível. Ela pune setores com algum componente perto de zero, e como a maior parte dos setores tem zero em vários indicadores de saneamento, o índice passa a depender sobretudo de quais componentes são zero, não de quão alta é a carência nos outros.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tem o maior peso no índice (19,3%)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tem mediana 0,0936 e P90 0,1868, em 73.878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Pela regra do IVS-BH, 6,2% dos setores ficam em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de 0,7502: o índice separa as favelas — versão 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AUC vai de 0,4861 (Duque de Caxias) a 0,9324 (Guarujá) entre os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distribuição do índice e as faixas do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Curva ROC do índice contra as favelas (AUC global 0,7646)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 tem a maior parte dos moradores em vulnerabilidade elevada ou muito elevada (74,6%)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2.183.891 pessoas vivem em setores de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parcela de moradores em cada faixa muda de município para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 tem a maior desigualdade interna do índice (Gini 0,4485)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desigualdade interna do índice, município por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correlação de postos com a referência é 0,8915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maior troca de faixa é de elevado para medio (8.167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27,1% dos setores mudam de faixa em relação à referência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faixas: referência × esta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mais afetados pela mudança da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soma ponderada (referência), o índice fica com 73.878 setores e ρ = 0,8915 com o valor-padrão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resultado depende do deslocamento somado aos zeros (0,01), que é parâmetro exploratório — não é decisão.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muitos zeros nos componentes, a média geométrica é pouco indicada; a versão documenta o efeito.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do índice exclui todo setor com algum componente faltante (exclusão por lista).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deslocamento da média geométrica: 0,01 somado a cada componente normalizado (zero anularia o produto) — parâmetro exploratório — não é decisão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C4_agregacao — Agregação</dc:title>
  <dc:subject>PptxGenJS Presentation</dc:subject>
  <dc:creator>Pedro Dias Soares</dc:creator>
  <cp:lastModifiedBy>Pedro Dias Soares</cp:lastModifiedBy>
  <cp:revision>1</cp:revision>
  <dcterms:created xsi:type="dcterms:W3CDTF">2026-10-22T23:58:07Z</dcterms:created>
  <dcterms:modified xsi:type="dcterms:W3CDTF">2026-10-22T23:58:07Z</dcterms:modified>
</cp:coreProperties>
</file>