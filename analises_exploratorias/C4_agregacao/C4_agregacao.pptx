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muda no índice com a média geométrica ponderada dos componentes, em vez da soma ponderada?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agregação: média geométrica ponderada dos componentes normalizados no lugar da soma ponderada. Como o min-max põe zero no setor de menor valor do município, soma-se 0,01 a cada componente antes do produto (parâmetro exploratório). A soma ponderada da referência está na tabela T34.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Renda (invertida) (19,3%); a dimensão F1 (socioeconômica) pesa 60,0%.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73.878 setores; mediana 0,0936; percentil 90 0,1868.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29,1% baixo e 6,2% muito elevado. Quartis: 25,0%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0,7646; mediana da AUC municipal 0,7502, em 31 municípios. Pelos critérios do NB05, a versão é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Guarujá (0,9324) e a menor, a de Duque de Caxias (0,4861).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Guarujá (0,9324) e a menor, a de Duque de Caxias (0,4861).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29,1% dos setores ficam em baixo e 6,2%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0,7646 (global); a mediana municipal é 0,7502.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ninguém fixou um parâmetro, a versão roda com um valor-padrão e esta tabela mostra o que muda com o valor alternativo. Correlação de postos perto de 1 e poucas trocas de faixa indicam que a escolha do parâmetro pesa pouco; o contrário indica que ela precisa ser decidida. Nenhum dos valores é decisão: é parâmetro exploratório.
Como ler: Uma linha por valor do parâmetro exploratório: setores no recorte e no índice, KMO, AUC global e municipal, elegibilidade (1 = elegível), correlação de postos com o índice do valor-padrão e % de setores que mudam de faixa.
O que mostra: Com soma ponderada (referência): 73.878 setores no índice (contra 73.878), AUC municipal 0,8186, ρ = 0,8915 com o valor-padrão e 27,1% dos setores comuns mudando de faixa.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classifica setores, mas a pergunta de política pública é sobre pessoas. Este bloco soma moradores e moradores de 60 anos ou mais em cada faixa do índice, por município.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são relativas ao município: todo município tem setores nas faixas altas, por construção. O que muda de um para outro é quanta gente mora nesses setores, porque os setores têm populações diferentes.
Como ler: Uma linha por município: setores, moradores e moradores de 60+ em cada faixa (regra do IVS-BH) e o percentual de moradores nas duas faixas mais altas.
O que mostra: Maior percentual em elevado ou muito elevado: São Paulo das Missões (74,6%); menor: São Raimundo do Doca Bezerra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são relativas ao município: todo município tem setores nas faixas altas, por construção. O que muda de um para outro é quanta gente mora nesses setores, porque os setores têm populações diferentes.
Como ler: Uma linha por município: setores, moradores e moradores de 60+ em cada faixa (regra do IVS-BH) e o percentual de moradores nas duas faixas mais altas.
O que mostra: Maior percentual em elevado ou muito elevado: São Paulo das Missões (74,6%); menor: São Raimundo do Doca Bezerra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contagem de pessoas usa o total de moradores do setor (v0001) e a soma das faixas de 60 a 69 e de 70 anos ou mais. Só entram os setores da amostra do índice.
Como ler: Uma linha por faixa: setores, moradores e moradores de 60+, com os percentuais.
O que mostra: Na faixa muito elevada: 2.183.891 pessoas (5,8% do total), das quais 234.536 com 60 anos ou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mostra a tabela por município em forma de barras empilhadas. Um município em que as faixas altas ocupam muito da barra concentra população nos setores mais vulneráveis da cidade.
Como ler: Uma barra por município, dividida pelas faixas do índice; o comprimento de cada parte é o percentual de moradores. Ordem: do maior para o menor percentual nas duas faixas mais altas.
O que mostra: No topo, São Paulo das Missões (74,6% em elevado ou muito elevado); na base, São Raimundo do Doca Bezerra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o índice é normalizado dentro de cada município, a comparação entre cidades é sobre a desigualdade interna, não sobre o nível. Três medidas: a razão entre os percentis 90 e 10, o Gini e o Theil.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Gini vai de 0 (todos os setores com o mesmo valor) a 1 (toda a soma concentrada num setor). O Theil também mede concentração, mas é mais sensível à cauda alta. A razão P90/P10 compara o setor no percentil 90 com o do percentil 10; como o índice começa em 0 em todo município, o P10 pode ser muito pequeno e a razão explodir, por isso ela fica vazia quando o P10 é zero.
Como ler: Uma linha por município: setores, média, percentis 10 e 90 do índice, a razão P90/P10, o Gini e o Theil.
O que mostra: Maior Gini: Orizânia (0,4485); menor: São Raimundo do Doca Bezerra (0,0000).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Gini vai de 0 (todos os setores com o mesmo valor) a 1 (toda a soma concentrada num setor). O Theil também mede concentração, mas é mais sensível à cauda alta. A razão P90/P10 compara o setor no percentil 90 com o do percentil 10; como o índice começa em 0 em todo município, o P10 pode ser muito pequeno e a razão explodir, por isso ela fica vazia quando o P10 é zero.
Como ler: Uma linha por município: setores, média, percentis 10 e 90 do índice, a razão P90/P10, o Gini e o Theil.
O que mostra: Maior Gini: Orizânia (0,4485); menor: São Raimundo do Doca Bezerra (0,0000).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Gini e Theil apontam em sentidos diferentes para um município, a desigualdade dele está mais na cauda (poucos setores muito acima dos demais) do que no meio da distribuição.
Como ler: Barras: Gini do índice dentro de cada município, do maior para o menor. Pontos: Theil.
O que mostra: Do maior Gini, Orizânia (0,4485), ao menor, São Raimundo do Doca Bezerra (0,0000).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0,8915. Menor correlação municipal: Santa Maria do Oeste (0,7000).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elevado para medio, com 8.167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27,1% dos setores mudam de faixa; o município mais afetado é São Raimundo do Doca Bezerra (100,0%).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elevado para medio (8.167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São Raimundo do Doca Bezerra (100,0%); no total, 27,1%.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geométrica muda muito o índice: mais de um quarto dos setores troca de faixa e a AUC contra as favelas cai de forma visível. Ela pune setores com algum componente perto de zero, e como a maior parte dos setores tem zero em vários indicadores de saneamento, o índice passa a depender sobretudo de quais componentes são zero, não de quão alta é a carência nos outros.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resultado depende do deslocamento somado aos zeros (0,01), que é parâmetro exploratório — não é decisão.
Com muitos zeros nos componentes, a média geométrica é pouco indicada; a versão documenta o efeito.
A amostra do índice exclui todo setor com algum componente faltante (exclusão por lista).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C4_agregacao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Agregação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no índice com a média geométrica ponderada dos componentes, em vez da soma ponderada?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pct_agua_inad, pct_esgoto_inad, razao_moradores, pct_analfab, renda_inv, pct_raca_pretpardind, banheiro_graduado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30301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357878"/>
            <a:ext cx="10634472" cy="167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agregação: média geométrica ponderada dos componentes normalizados no lugar da soma ponderada. Como o min-max põe zero no setor de menor valor do município, soma-se 0,01 a cada componente antes do produto (parâmetro exploratório). A soma ponderada da referência está na tabela T34.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F25, T34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Quem está em risco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Quantas pessoas, e quantas pessoas idosas, vivem em cada faixa?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T28, T29, F26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Desigualdade interna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Em que municípios o índice varia mais de um setor para outro?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T30, F27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 · T34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tem o maior peso no índice (19,3%)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Renda (invertida) (19,3%); a dimensão F1 (socioeconômica) pesa 60,0%.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0,0936 e P90 0,1868, em 73.878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73.878 setores; mediana 0,0936; percentil 90 0,1868.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6,2%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21.508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37.255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10.568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4.546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29,1% baixo e 6,2% muito elevado. Quartis: 25,0%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0,7502: o índice separa as favelas — versão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F1 (socioeconômica)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0,7646; mediana da AUC municipal 0,7502, em 31 municípios. Pelos critérios do NB05, a versão é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0,4861 (Duque de Caxias) a 0,9324 (Guarujá)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Guarujá (0,9324) e a menor, a de Duque de Caxias (0,4861).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0,4861 (Duque de Caxias) a 0,9324 (Guarujá)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Guarujá (0,9324) e a menor, a de Duque de Caxias (0,4861).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4_agregacao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2907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29,1% dos setores ficam em baixo e 6,2%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0,7646)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4_agregacao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0,7646 (global); a mediana municipal é 0,7502.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soma ponderada (referência), o índice fica com 73.878 setores e ρ = 0,8915 com o valor-padrão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636935"/>
                <a:gridCol w="775390"/>
                <a:gridCol w="775390"/>
                <a:gridCol w="646158"/>
                <a:gridCol w="732313"/>
                <a:gridCol w="689236"/>
                <a:gridCol w="646158"/>
                <a:gridCol w="775390"/>
                <a:gridCol w="77539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com o 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muda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valor-padrão desta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soma ponderada (referência)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valor do parâmetro exploratório: setores no recorte e no índice, KMO, AUC global e municipal, elegibilidade (1 = elegível), correlação de postos com o índice do valor-padrão e %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32042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25907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soma ponderada (referência): 73.878 setores no índice (contra 73.878), AUC municipal 0,8186, ρ = 0,8915 com o valor-padrão e 27,1% dos setores comuns mudando de faixa.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T34 · tabelas/T34_sensibilidade.csv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está em risco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Quantas pessoas, e quantas pessoas idosas, vivem em cada faixa?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T28 · T29 · F26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Paulo das Missões tem a maior parte dos moradores em vulnerabilidade elevada ou muito elevada (74,6%)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18872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60+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elevado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4.576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15.011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76.988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29.707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29.638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5.270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35.811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17.902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moradores e moradores de 60+ em cada faixa (regra do IVS-BH) e o percentual de moradores nas duas faixas mais altas.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percentual em elevado ou muito elevado: São Paulo das Missões (74,6%); menor: São Raimundo do Doca Bezerra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T28 · tabelas/T28_risco_por_municipio.csv  ·  Bloco 11. Quem está em risco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Paulo das Missões tem a maior parte dos moradores em vulnerabilidade elevada ou muito elevada (74,6%)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18872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60+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elevado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138.707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109.817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Limoeiro do 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10.322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Itapetinga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16636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moradores e moradores de 60+ em cada faixa (regra do IVS-BH) e o percentual de moradores nas duas faixas mais altas.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percentual em elevado ou muito elevado: São Paulo das Missões (74,6%); menor: São Raimundo do Doca Bezerra (0,0%).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T28 · tabelas/T28_risco_por_municipio.csv  ·  Bloco 11. Quem está em risco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2.183.891 pessoas vivem em setores de vulnerabilidade muito elevada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097280"/>
                <a:gridCol w="10972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pessoas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21.508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9.801.184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1.992.520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37.255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19.950.728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3.315.352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10.568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5.576.529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683.544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4.546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2.183.891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234.536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faixa: setores, moradores e moradores de 60+, com os percentuais.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faixa muito elevada: 2.183.891 pessoas (5,8% do total), das quais 234.536 com 60 anos ou mais.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T29 · tabelas/T29_risco_total.csv  ·  Bloco 11. Quem está em risco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parcela de moradores em cada faixa muda de município para município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4_agregacao/figuras/F26_risco_por_municip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5208" y="1243584"/>
            <a:ext cx="3436423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município, dividida pelas faixas do índice; o comprimento de cada parte é o percentual de moradores. Ordem: do maior para o menor percentual nas duas faixas mais altas.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topo, São Paulo das Missões (74,6% em elevado ou muito elevado); na base, São Raimundo do Doca Bezerra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F26 · figuras/F26_risco_por_municipio.png  ·  Bloco 11. Quem está em risco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Desigualdade interna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que municípios o índice varia mais de um setor para outro?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T30 · F27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Orizânia tem a maior desigualdade interna do índice (Gini 0,4485)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720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777240"/>
                <a:gridCol w="777240"/>
                <a:gridCol w="822960"/>
                <a:gridCol w="777240"/>
                <a:gridCol w="7772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P90/P10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Theil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média, percentis 10 e 90 do índice, a razão P90/P10, o Gini e o Theil.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Gini: Orizânia (0,4485); menor: São Raimundo do Doca Bezerra (0,0000).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T30 · tabelas/T30_desigualdade_interna.csv  ·  Bloco 12. Desigualdade interna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Orizânia tem a maior desigualdade interna do índice (Gini 0,4485)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720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777240"/>
                <a:gridCol w="777240"/>
                <a:gridCol w="822960"/>
                <a:gridCol w="777240"/>
                <a:gridCol w="7772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P90/P10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Theil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Araçatuba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0191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média, percentis 10 e 90 do índice, a razão P90/P10, o Gini e o Theil.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Gini: Orizânia (0,4485); menor: São Raimundo do Doca Bezerra (0,0000).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T30 · tabelas/T30_desigualdade_interna.csv  ·  Bloco 12. Desigualdade interna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desigualdade interna do índice, município por município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4_agregacao/figuras/F27_desigualdade_inter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3693" y="1243584"/>
            <a:ext cx="3159454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Barras: Gini do índice dentro de cada município, do maior para o menor. Pontos: Theil.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maior Gini, Orizânia (0,4485), ao menor, São Raimundo do Doca Bezerra (0,0000).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F27 · figuras/F27_desigualdade_interna.png  ·  Bloco 12. Desigualdade interna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0,8915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Limoeiro do 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0,8915. Menor correlação municipal: Santa Maria do Oeste (0,7000).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elevado para medio (8.167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17.675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25.447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7.823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elevado para medio, com 8.167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27,1%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20.002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Pato Branco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27,1% dos setores mudam de faixa; o município mais afetado é São Raimundo do Doca Bezerra (100,0%).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4_agregacao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elevado para medio (8.167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4_agregacao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3489" y="1243584"/>
            <a:ext cx="6459863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São Raimundo do Doca Bezerra (100,0%); no total, 27,1%.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5134356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51343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0,7502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51343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77356" y="1472184"/>
            <a:ext cx="5134356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77356" y="1545336"/>
            <a:ext cx="51343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27,1%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77356" y="2130552"/>
            <a:ext cx="51343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média geométrica muda muito o índice: mais de um quarto dos setores troca de faixa e a AUC contra as favelas cai de forma visível. Ela pune setores com algum componente perto de zero, e como a maior parte dos setores tem zero em vários indicadores de saneamento, o índice passa a depender sobretudo de quais componentes são zero, não de quão alta é a carência nos outros.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tem o maior peso no índice (19,3%)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0,0936 e P90 0,1868, em 73.878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6,2%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0,7502: o índice separa as favelas — versão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0,4861 (Duque de Caxias) a 0,9324 (Guarujá)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0,7646)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 tem a maior parte dos moradores em vulnerabilidade elevada ou muito elevada (74,6%)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2.183.891 pessoas vivem em setores de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parcela de moradores em cada faixa muda de município para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 tem a maior desigualdade interna do índice (Gini 0,4485)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desigualdade interna do índice, município por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0,8915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elevado para medio (8.167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27,1%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soma ponderada (referência), o índice fica com 73.878 setores e ρ = 0,8915 com o valor-padrão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resultado depende do deslocamento somado aos zeros (0,01), que é parâmetro exploratório — não é decisão.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muitos zeros nos componentes, a média geométrica é pouco indicada; a versão documenta o efeito.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deslocamento da média geométrica: 0,01 somado a cada componente normalizado (zero anularia o produto) — parâmetro exploratório — não é decisão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C4_agregacao — Agregação</dc:title>
  <dc:subject>PptxGenJS Presentation</dc:subject>
  <dc:creator>Pedro Dias Soares</dc:creator>
  <cp:lastModifiedBy>Pedro Dias Soares</cp:lastModifiedBy>
  <cp:revision>1</cp:revision>
  <dcterms:created xsi:type="dcterms:W3CDTF">2026-10-07T20:48:31Z</dcterms:created>
  <dcterms:modified xsi:type="dcterms:W3CDTF">2026-10-07T20:48:31Z</dcterms:modified>
</cp:coreProperties>
</file>