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fica um IVS com uma terceira dimensão de envelhecimento (IEP, RDI e % de 60+), com pesos pela fatorial?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componentes de envelhecimento entram no índice — % de pessoas de 60 anos ou mais, índice de envelhecimento e razão de dependência idosa —, com três fatores e pesos pela fatorial (soma dos quadrados das cargas, promax). A composição é parâmetro exploratório. A mesma composição com dois fatores e a referência estão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olha para a vulnerabilidade do idoso. Este bloco descreve a estrutura etária e quatro indicadores de envelhecimento, e cruza o percentual de pessoas de 60 anos ou mais com os demais indicadores.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etárias do Censo não são todas do mesmo tamanho: de 30 a 59 anos elas têm dez anos, e as anteriores, cinco. Por isso as faixas de dez anos tendem a parecer maiores. O percentual é calculado sobre a soma das faixas, e cada região soma 100%.
Como ler: Uma linha por faixa etária; as colunas são o total e as regiões, com o percentual da população de cada uma em cada faixa.
O que mostra: Pessoas de 70 anos ou mais são 7,4% do total, chegando a 8,5% no Sul.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agregados por setor do Censo trazem as faixas etárias sem a separação por sexo, por isso a figura é uma pirâmide de um lado só. Pontos à direita da barra nas faixas mais velhas indicam regiões mais envelhecidas.
Como ler: Barras: percentual da população total em cada faixa etária. Pontos: o mesmo percentual em cada região.
O que mostra: 70+: 7,4% no total e 8,5% no Sul.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de envelhecimento é a razão entre pessoas de 60 anos ou mais e pessoas de 0 a 14 anos. A razão de dependência idosa é a razão entre pessoas de 60 anos ou mais e pessoas de 15 a 59 anos. A proporção de 70+ entre os 60+ indica o quanto a população idosa do setor é mais velha. Os quatro são calculados por setor.
Como ler: Os quatro indicadores de envelhecimento, para o total e por região: n, média, mediana, quartis e as demais descritivas.
O que mostra: Pessoas 60+: mediana de 0,1934 no Sul e 0,1118 no Norte. Índice de envelhecimento, mediana do total: 96,2963.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de envelhecimento é a razão entre pessoas de 60 anos ou mais e pessoas de 0 a 14 anos. A razão de dependência idosa é a razão entre pessoas de 60 anos ou mais e pessoas de 15 a 59 anos. A proporção de 70+ entre os 60+ indica o quanto a população idosa do setor é mais velha. Os quatro são calculados por setor.
Como ler: Os quatro indicadores de envelhecimento, para o total e por região: n, média, mediana, quartis e as demais descritivas.
O que mostra: Pessoas 60+: mediana de 0,1934 no Sul e 0,1118 no Norte. Índice de envelhecimento, mediana do total: 96,2963.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cruza envelhecimento com vulnerabilidade. Uma correlação positiva com a renda indica que setores mais ricos têm mais idosos (envelhecimento associado à transição demográfica mais avançada); uma correlação negativa com indicadores de carência diz o mesmo pelo outro lado. Isso importa para o IVS-Idoso: se idade e vulnerabilidade andam em sentidos opostos, somá-las num índice só pode cancelar os efeitos.
Como ler: Correlação de Spearman entre os indicadores de envelhecimento (linhas) e os demais (colunas).
O que mostra: Para pessoas 60+, a correlação mais forte é com População 0–14 (ρ = -0,7878); com a renda média, ρ = 0,5189.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cruza envelhecimento com vulnerabilidade. Uma correlação positiva com a renda indica que setores mais ricos têm mais idosos (envelhecimento associado à transição demográfica mais avançada); uma correlação negativa com indicadores de carência diz o mesmo pelo outro lado. Isso importa para o IVS-Idoso: se idade e vulnerabilidade andam em sentidos opostos, somá-las num índice só pode cancelar os efeitos.
Como ler: Correlação de Spearman entre os indicadores de envelhecimento (linhas) e os demais (colunas).
O que mostra: Para pessoas 60+, a correlação mais forte é com População 0–14 (ρ = -0,7878); com a renda média, ρ = 0,5189.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mais de cem mil setores, um gráfico de pontos vira uma mancha. O gráfico de hexágonos conta quantos setores caem em cada célula. A escala logarítmica da renda espalha os setores de renda baixa, que de outro modo ficariam espremidos à esquerda.
Como ler: Cada hexágono reúne setores com valores parecidos; quanto mais escuro, mais setores. Eixo horizontal: renda média em escala logarítmica; vertical: proporção de pessoas de 60 anos ou mais.
O que mostra: A correlação de Spearman entre as duas é 0,5189.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0,7341, com 73.250 setores; Kaiser retém 3 fatores e Horn, 3; 3 fatores explicam 72,4%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Pessoas 60+ (0,6231). Menor comunalidade (promax): Razão de moradores (0,3777).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4,8473, segundo 1,3708 (Horn: 1,0249); os dois primeiros explicam 62,2%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-0,5837.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1,3708, contra 1,0249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Dependência idosa (1,0347); em F2: Analfabetismo 15+ (0,9711).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Dependência idosa (14,7%); a dimensão F2 (socioeconômica) pesa 37,4%.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73.250 setores; mediana 0,2752; percentil 90 0,3749.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24,5% baixo e 4,3%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0,6213; mediana da AUC municipal 0,6034, em 31 municípios. Pelos critérios do NB05, a versão é não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Goiânia (0,8245) e a menor, a de Belém (0,3821).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Goiânia (0,8245) e a menor, a de Belém (0,3821).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24,5% dos setores ficam em baixo e 4,3%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0,6213 (global); a mediana municipal é 0,6034.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referência (sem envelhecimento): 73.878 setores no índice (contra 73.250), AUC municipal 0,8186, ρ = 0,5518 com o valor-padrão e 49,8%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Placas (51,1%);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Placas (51,1%);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1.193.563 pessoas (3,2% do total), das quais 261.699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Placas (51,1%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Orizânia (0,3980); menor: Japoatã (0,0505).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Orizânia (0,3980); menor: Japoatã (0,0505).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Orizânia (0,3980), ao menor, Japoatã (0,0505).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0,5518. Menor correlação municipal: Japoatã (-0,4000).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9.347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49,8% dos setores mudam de faixa; o município mais afetado é São Paulo das Missões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(9.347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Paulo das Missões (100,0%); no total, 49,8%.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envelhecimento forma um fator próprio — o de maior variância — e passa a pesar perto de dois quintos do índice. O resultado se afasta muito da referência: metade dos setores muda de faixa, e a AUC contra as favelas cai para perto de 0,6. Isso acontece porque, nestes municípios, setores mais envelhecidos tendem a ter renda maior (bloco 8): somar envelhecimento e carência num índice só faz um compensar o outro. A versão não é elegível (a razão de moradores fica sem carga suficiente). O cruzamento entre IVS e envelhecimento está na análise 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composição do IVS-Idoso é parâmetro exploratório — não é decisão.
A AUC contra as favelas não é o desfecho adequado para um índice de envelhecimento; ela só mostra o quanto o índice deixou de medir carência.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D2_ivs_idoso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IVS-Idoso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um IVS com uma terceira dimensão de envelhecimento (IEP, RDI e % de 60+), com pesos pela fatorial?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graduado, Pessoas 60+, Índice de envelhecimento, Dependência idosa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ss_padrao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de envelhecimento entram no índice — % de pessoas de 60 anos ou mais, índice de envelhecimento e razão de dependência idosa —, com três fatores e pesos pela fatorial (soma dos quadrados das cargas, promax). A composição é parâmetro exploratório. A mesma composição com dois fatores e a referência estão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a população idosa se distribui, e com que indicadores ela se relaciona?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T16, F20, T17, T18, F21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população idosa se distribui, e com que indicadores ela se relaciona?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T16 · F20 · T17 · T18 · F21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faixa de 30–39 anos concentra a maior parte da população (15,9%)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0408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 etária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5–9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15–19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20–24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25–29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30–39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40–49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50–59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60–69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 etária; as colunas são o total e as regiões, com o percentual da população de cada uma em cada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de 70 anos ou mais são 7,4% do total, chegando a 8,5% no Sul.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T16 · tabelas/T16_estrutura_etaria.csv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etária muda de região para região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0_piramide_eta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7045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percentual da população total em cada faixa etária. Pontos: o mesmo percentual em cada região.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70+: 7,4% no total e 8,5% no Sul.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F20 · figuras/F20_piramide_etaria.png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pessoas 60+ por setor vai de 0,1118 (Norte) a 0,1934 (Sul)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822960"/>
                <a:gridCol w="914400"/>
                <a:gridCol w="91440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53,8462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96,2963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169,5652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103.810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25,1613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36,7695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35,5705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43,5972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75,2381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122,9161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13,0465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20,4335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29,3160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34,0206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40,9091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48,4375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46,5535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77,7778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131,2500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14,7874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21,5026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30,3279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35,2941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41,8440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48,3516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indicadores de envelhecimento, para o total e por região: n, média, mediana, quartis e as demais descritivas.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60+: mediana de 0,1934 no Sul e 0,1118 no Norte. Índice de envelhecimento, mediana do total: 96,2963.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T17 · tabelas/T17_envelhecimento_por_regiao.csv  ·  Bloco 8. Envelhecimento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pessoas 60+ por setor vai de 0,1118 (Norte) a 0,1934 (Sul)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822960"/>
                <a:gridCol w="914400"/>
                <a:gridCol w="91440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30,3487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53,5504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92,2015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11,0661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16,5766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23,9407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32,3232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38,4615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61.808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61.291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62,1053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110,9589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191,2088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61.800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18,2857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28,0899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39,8814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60.602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36,2069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43,7932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50,7463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68,7611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122,9337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225,5690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19,9050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29,9650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42,3205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37,0370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43,9655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50,8439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indicadores de envelhecimento, para o total e por região: n, média, mediana, quartis e as demais descritivas.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60+: mediana de 0,1934 no Sul e 0,1118 no Norte. Índice de envelhecimento, mediana do total: 96,2963.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T17 · tabelas/T17_envelhecimento_por_regiao.csv  ·  Bloco 8. Envelhecimento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pessoas 60+ se relaciona mais com População 0–14 (ρ = -0,7878)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188720"/>
                <a:gridCol w="118872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(ρ de Spearman)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prop_70mais_entre_60mais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-0,3890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-0,2398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pct_sem_agua_canalizada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pct_agua_nao_encanada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-0,1650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pct_agua_so_terreno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-0,1408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pct_sem_banheiro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pct_sem_banheiro_nem_sanitario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pct_so_sanitario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pct_banheiro_comum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-0,4906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os indicadores de envelhecimento (linhas) e os demais (colunas).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pessoas 60+, a correlação mais forte é com População 0–14 (ρ = -0,7878); com a renda média, ρ = 0,5189.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T18 · tabelas/T18_envelhecimento_correlacoes.csv  ·  Bloco 8. Envelhecimento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pessoas 60+ se relaciona mais com População 0–14 (ρ = -0,7878)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188720"/>
                <a:gridCol w="118872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(ρ de Spearman)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prop_70mais_entre_60mais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-0,5805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renda_media_mediana_mun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pct_dom_improv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pct_hab_precaria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pct_moradia_nao_convencional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-0,2831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pct_casa_vila_condominio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-0,7225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-0,7387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os indicadores de envelhecimento (linhas) e os demais (colunas).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pessoas 60+, a correlação mais forte é com População 0–14 (ρ = -0,7878); com a renda média, ρ = 0,5189.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T18 · tabelas/T18_envelhecimento_correlacoes.csv  ·  Bloco 8. Envelhecimento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 e renda média: ρ = 0,5189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1_dispersao_60ma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2353" y="1243584"/>
            <a:ext cx="6482135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hexágono reúne setores com valores parecidos; quanto mais escuro, mais setores. Eixo horizontal: renda média em escala logarítmica; vertical: proporção de pessoas de 60 anos ou mais.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Spearman entre as duas é 0,5189.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F21 · figuras/F21_dispersao_60mais.png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0,7341: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882.253,2379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3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72,4083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0,7341, com 73.250 setores; Kaiser retém 3 fatores e Horn, 3; 3 fatores explicam 72,4%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 tem a menor adequação individual (MSA 0,6231)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-0,2630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Pessoas 60+ (0,6231). Menor comunalidade (promax): Razão de moradores (0,3777).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(1,3708) fica acima da linha de Horn (1,0249)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4,8473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4,8473, segundo 1,3708 (Horn: 1,0249); os dois primeiros explicam 62,2%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-0,5837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3891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-0,5837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-0,5837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-0,5837.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5745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1,3708, contra 1,0249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Dependência idosa define F1 e Analfabetismo 15+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601" y="1243584"/>
            <a:ext cx="593363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Dependência idosa (1,0347); em F2: Analfabetismo 15+ (0,9711).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Dependência idosa tem o maior peso no índice (14,7%)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Dependência idosa (14,7%); a dimensão F2 (socioeconômica) pesa 37,4%.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0,2752 e P90 0,3749, em 73.250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44.902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73.250 setores; mediana 0,2752; percentil 90 0,3749.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4,3%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17.958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34.873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24,5% baixo e 4,3%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0,6034: o índice separa as favelas — versão não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F2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37,4025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0,6213; mediana da AUC municipal 0,6034, em 31 municípios. Pelos critérios do NB05, a versão é não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0,3821 (Belém) a 0,8245 (Goiânia) entre os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16.083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Goiânia (0,8245) e a menor, a de Belém (0,3821).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0,3821 (Belém) a 0,8245 (Goiânia) entre os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Goiânia (0,8245) e a menor, a de Belém (0,3821).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260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24,5% dos setores ficam em baixo e 4,3%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0,6213)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0,6213 (global); a mediana municipal é 0,6034.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referência (sem envelhecimento), o índice fica com 73.878 setores e ρ = 0,5518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mesmos 10 componentes com 2 fatores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(sem envelhecimento)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referência (sem envelhecimento): 73.878 setores no índice (contra 73.250), AUC municipal 0,8186, ρ = 0,5518 com o valor-padrão e 49,8%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Placas tem a maior parte dos moradores em vulnerabilidade elevada ou muito elevada (51,1%)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6.987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Placas (51,1%);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Placas tem a maior parte dos moradores em vulnerabilidade elevada ou muito elevada (51,1%)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Placas (51,1%);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1.193.563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17.958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9.240.451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1.233.071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34.873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18.648.474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3.081.406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8.378.806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1.641.882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1.193.563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261.699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1.193.563 pessoas (3,2% do total), das quais 261.699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Placas (51,1%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Orizânia tem a maior desigualdade interna do índice (Gini 0,3980)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Orizânia (0,3980); menor: Japoatã (0,0505).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Orizânia tem a maior desigualdade interna do índice (Gini 0,3980)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Orizânia (0,3980); menor: Japoatã (0,0505).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6402" y="1243584"/>
            <a:ext cx="305403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Orizânia (0,3980), ao menor, Japoatã (0,0505).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0,5518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0,5518. Menor correlação municipal: Japoatã (-0,4000).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(9.347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6.164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9.347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49,8%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36.482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49,8% dos setores mudam de faixa; o município mais afetado é São Paulo das Missões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(9.347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2_ivs_idos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Paulo das Missões (100,0%); no total, 49,8%.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0,7341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0,6034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49,8%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envelhecimento forma um fator próprio — o de maior variância — e passa a pesar perto de dois quintos do índice. O resultado se afasta muito da referência: metade dos setores muda de faixa, e a AUC contra as favelas cai para perto de 0,6. Isso acontece porque, nestes municípios, setores mais envelhecidos tendem a ter renda maior (bloco 8): somar envelhecimento e carência num índice só faz um compensar o outro. A versão não é elegível (a razão de moradores fica sem carga suficiente). O cruzamento entre IVS e envelhecimento está na análise E5.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faixa de 30–39 anos concentra a maior parte da população (15,9%)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estrutura etária muda de região para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mediana de pessoas 60+ por setor vai de 0,1118 (Norte) a 0,1934 (Sul)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percentual de pessoas 60+ se relaciona mais com População 0–14 (ρ = -0,7878)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 e renda média: ρ = 0,5189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0,7341: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 tem a menor adequação individual (MSA 0,6231)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(1,3708) fica acima da linha de Horn (1,0249)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-0,5837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 define F1 e Analfabetismo 15+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 tem o maior peso no índice (14,7%)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0,2752 e P90 0,3749, em 73.250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4,3%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0,6034: o índice separa as favelas — versão não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0,3821 (Belém) a 0,8245 (Goiânia)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0,6213)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 tem a maior parte dos moradores em vulnerabilidade elevada ou muito elevada (51,1%)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1.193.563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 tem a maior desigualdade interna do índice (Gini 0,3980)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0,5518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(9.347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referência (sem envelhecimento), o índice fica com 73.878 setores e ρ = 0,5518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composição do IVS-Idoso é parâmetro exploratório — não é decisão.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contra as favelas não é o desfecho adequado para um índice de envelhecimento; ela só mostra o quanto o índice deixou de medir carência.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IVS-Idoso: os 7 componentes da referência + % de 60+, IEP e RDI; 3 fatores; pesos pela soma dos quadrados das cargas (promax) — parâmetro exploratório — não é decisão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D2_ivs_idoso — IVS-Idoso</dc:title>
  <dc:subject>PptxGenJS Presentation</dc:subject>
  <dc:creator>Pedro Dias Soares</dc:creator>
  <cp:lastModifiedBy>Pedro Dias Soares</cp:lastModifiedBy>
  <cp:revision>1</cp:revision>
  <dcterms:created xsi:type="dcterms:W3CDTF">2026-10-06T20:56:41Z</dcterms:created>
  <dcterms:modified xsi:type="dcterms:W3CDTF">2026-10-06T20:56:41Z</dcterms:modified>
</cp:coreProperties>
</file>