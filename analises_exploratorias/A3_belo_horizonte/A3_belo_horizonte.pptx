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Lst>
  <p:notesMasterIdLst>
    <p:notesMasterId r:id="rId10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notesMaster" Target="notesMasters/notesMaster1.xml"/><Relationship Id="rId105" Type="http://schemas.openxmlformats.org/officeDocument/2006/relationships/presProps" Target="presProps.xml"/><Relationship Id="rId106" Type="http://schemas.openxmlformats.org/officeDocument/2006/relationships/viewProps" Target="viewProps.xml"/><Relationship Id="rId107" Type="http://schemas.openxmlformats.org/officeDocument/2006/relationships/theme" Target="theme/theme1.xml"/><Relationship Id="rId10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ficam os dados e o IVS quando a análise é só de Belo Horizonte, a cidade do IVS-BH 2012?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base: em vez dos 70 municípios, a base própria de Belo Horizonte da entrega à orientadora. A fatorial, os pesos e as faixas passam a ser calculados só com os setores da cidade; componentes, rotação, pesos 60/40 e normalização são os da referência.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funil mostra o caminho dos setores. A base completa inclui setores rurais e setores sem dados divulgados. O recorte da versão é o conjunto sobre o qual são calculadas as descritivas, as distribuições e as correlações. A amostra do índice é menor, porque a análise fatorial exige que o setor tenha todos os componentes preenchidos (exclusão por lista: basta faltar um componente para o setor sair). Essa diferença de amostra é importante quando se comparam números de blocos diferentes.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qualquer número, é preciso saber sobre quais setores ele foi calculado. Este bloco segue o caminho dos setores desde a base completa até a amostra do índice: cada filtro tira alguns, e o motivo de cada saída fica registrado. Também mostra, indicador por indicador, quantos setores não têm valor — porque um indicador com muitos faltantes muda a amostra de qualquer análise que 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funil mostra o caminho dos setores. A base completa inclui setores rurais e setores sem dados divulgados. O recorte da versão é o conjunto sobre o qual são calculadas as descritivas, as distribuições e as correlações. A amostra do índice é menor, porque a análise fatorial exige que o setor tenha todos os componentes preenchidos (exclusão por lista: basta faltar um componente para o setor sair). Essa diferença de amostra é importante quando se comparam números de blocos diferentes.
Como ler: Cada linha é um filtro, na ordem em que é aplicado: quantos setores ficam, quantos saem e por quê.
O que mostra: A base tem 5.166 setores; 5.113 ficam no recorte da versão e 3.499 têm todos os componentes do índice (1.614 saem nesta última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a mesma informação da tabela do funil, em forma de barras. A queda entre o recorte e a amostra do índice é quase toda causada pelos indicadores com sigilo (renda e analfabetismo) e pelas partes do banheiro graduado, como mostra a tabela de perdas por indicador.
Como ler: Cada barra é uma etapa do funil; o comprimento é o número de setores que ainda estão dentro.
O que mostra: A barra final (3.499 setores) é a amostra do índice; a do recorte tem 5.113.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faltante é um setor do recorte em que o indicador não pôde ser calculado: porque o IBGE não divulgou a variável (sigilo), porque o denominador é zero (por exemplo, nenhuma pessoa de 60 anos ou mais para calcular a proporção de 70+ entre elas) ou porque alguma parte da conta faltou. Indicadores com muitos faltantes reduzem a amostra de qualquer análise que os inclua.
Como ler: Uma linha por indicador: setores com valor, setores sem valor e a porcentagem sem valor dentro do recorte.
O que mostra: O maior percentual de faltantes é o de Analfabetismo 15+ (22,5%); o menor, o de Água inadequada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faltante é um setor do recorte em que o indicador não pôde ser calculado: porque o IBGE não divulgou a variável (sigilo), porque o denominador é zero (por exemplo, nenhuma pessoa de 60 anos ou mais para calcular a proporção de 70+ entre elas) ou porque alguma parte da conta faltou. Indicadores com muitos faltantes reduzem a amostra de qualquer análise que os inclua.
Como ler: Uma linha por indicador: setores com valor, setores sem valor e a porcentagem sem valor dentro do recorte.
O que mostra: O maior percentual de faltantes é o de Analfabetismo 15+ (22,5%); o menor, o de Água inadequada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descritivas resumem cada indicador em poucos números: o centro (média e mediana), a dispersão (desvio-padrão, quartis, percentis 10 e 90) e a forma (assimetria e curtose). Elas aparecem para o conjunto, por região e por município, para que diferenças de lugar fiquem visíveis antes de qualquer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média é sensível a valores extremos; a mediana não. Quando as duas se afastam, a distribuição é assimétrica. A assimetria é positiva quando há uma cauda longa à direita (poucos setores com valores muito altos). A curtose mede o peso das caudas: valores altos indicam muitos extremos. O coeficiente de variação (DP dividido pela média, em %) permite comparar a dispersão de indicadores em escalas diferentes. Nos indicadores de saneamento, a maioria dos setores vale zero: a mediana é zero e o intervalo interquartil também, o que explica por que o critério de extremos muda para eles (bloco 5).
Como ler: Uma linha por indicador. n: setores com valor; DP: desvio-padrão; P10…P90: percentis; CV: coeficiente de variação; % zeros: setores com valor exatamente zero.
O que mostra: A maior assimetria é a de Banheiro de uso comum (61,52); o maior percentual de zeros é o de Sem banheiro nem sanitário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média é sensível a valores extremos; a mediana não. Quando as duas se afastam, a distribuição é assimétrica. A assimetria é positiva quando há uma cauda longa à direita (poucos setores com valores muito altos). A curtose mede o peso das caudas: valores altos indicam muitos extremos. O coeficiente de variação (DP dividido pela média, em %) permite comparar a dispersão de indicadores em escalas diferentes. Nos indicadores de saneamento, a maioria dos setores vale zero: a mediana é zero e o intervalo interquartil também, o que explica por que o critério de extremos muda para eles (bloco 5).
Como ler: Uma linha por indicador. n: setores com valor; DP: desvio-padrão; P10…P90: percentis; CV: coeficiente de variação; % zeros: setores com valor exatamente zero.
O que mostra: A maior assimetria é a de Banheiro de uso comum (61,52); o maior percentual de zeros é o de Sem banheiro nem sanitário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região é o primeiro dígito do código da unidade da federação. As diferenças entre regiões mostram o quanto o retrato depende do lugar: um indicador que varia muito entre regiões pode dominar um índice calculado com normalização global, e é por isso que a referência normaliza dentro de cada município.
Como ler: Uma linha por região e indicador, com as mesmas colunas da tabela global.
O que mostra: Para Renda média, a mediana mais alta está no Sudeste (3.060,31) e a mais baixa no Sudeste (3.060,31).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região é o primeiro dígito do código da unidade da federação. As diferenças entre regiões mostram o quanto o retrato depende do lugar: um indicador que varia muito entre regiões pode dominar um índice calculado com normalização global, e é por isso que a referência normaliza dentro de cada município.
Como ler: Uma linha por região e indicador, com as mesmas colunas da tabela global.
O que mostra: Para Renda média, a mediana mais alta está no Sudeste (3.060,31) e a mais baixa no Sudeste (3.060,31).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70 municípios de tamanhos muito diferentes: alguns têm poucas dezenas de setores, e a mediana deles é menos estável. A tabela completa serve para consulta; o slide destaca os extremos.
Como ler: Uma linha por município e indicador (tabela longa). No deck, um recorte; a tabela completa está no CSV.
O que mostra: Para Renda média, a maior mediana municipal é a de Belo Horizonte (3.060,31); a menor, a de Belo Horizonte (3.060,31).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números do bloco anterior escondem a forma da distribuição. Histogramas, caixas e curvas de densidade mostram se o indicador se concentra em zero, se tem cauda longa ou se separa regiões. Cada painel reúne os indicadores de uma dimensão.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Saneamento, a maior assimetria é a de Banheiro de uso comum (61,52).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(Água inadequada), a mediana regional vai de 0,0000 (Sudeste) a 0,0000 (Sudeste).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Água inadequada, a mediana regional vai de 0,0000 (Sudeste) a 0,0000 (Sudeste).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Socioeconômica, a maior assimetria é a de Renda média (11,11).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(Razão de moradores), a mediana regional vai de 2,6353 (Sudeste) a 2,6353 (Sudeste).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Razão de moradores, a mediana regional vai de 2,6353 (Sudeste) a 2,6353 (Sudeste).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Morfologia, a maior assimetria é a de Domicílio improvisado (30,73).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(Domicílio improvisado), a mediana regional vai de 0,0000 (Sudeste) a 0,0000 (Sudeste).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Domicílio improvisado, a mediana regional vai de 0,0000 (Sudeste) a 0,0000 (Sudeste).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Demografia, a maior assimetria é a de Índice de envelhecimento (4,48).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(Crianças 0–4), a mediana regional vai de 0,0457 (Sudeste) a 0,0457 (Sudeste).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Crianças 0–4, a mediana regional vai de 0,0457 (Sudeste) a 0,0457 (Sudeste).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IBGE não divulga alguns valores para proteger o sigilo de setores pequenos. Se a falta fosse aleatória, bastaria descartar os setores sem dado; como ela se concentra em setores pequenos, descartar muda o retrato. Este bloco mostra onde estão os faltantes e como eles se distribuem pelo tamanho do setor.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faltantes não se espalham por igual entre os municípios. Onde eles se concentram, um índice calculado só com setores completos retrata pior o município, porque os setores que saem não são uma amostra ao acaso.
Como ler: Uma linha por município e uma coluna por indicador; cada célula é o percentual de setores do município sem aquele indicador.
O que mostra: A célula mais alta é Analfabetismo 15+ em Belo Horizonte, com 22,5% dos setores sem valor.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mapa de calor mostra a tabela anterior como cores. Colunas inteiras escuras indicam indicadores com sigilo ou denominador frequentemente zero; linhas escuras indicam municípios com muitos setores pequenos.
Como ler: Mapa de calor: linhas são municípios, colunas são indicadores; quanto mais escura a célula, maior o percentual de setores sem valor.
O que mostra: O ponto mais escuro é Analfabetismo 15+ em Belo Horizonte (22,5%).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 falta de dados fosse aleatória, o percentual de faltantes seria parecido em todos os décimos. Quando ele se concentra nos setores pequenos, a falta é não aleatória: o IBGE suprime valores para proteger o sigilo de quem mora em setores com poucos domicílios. A consequência é que análises só com setores completos sub-representam setores pequenos.
Como ler: Os setores são divididos em dez grupos iguais pelo número de moradores (1 = os menores). Para cada grupo, o percentual de setores sem renda e sem analfabetismo, e o percentual em FCU.
O que mostra: Sem renda: 0,0% no primeiro décimo e 0,0% no último. Sem analfabetismo: 33,2% e 10,2%.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duas linhas mostram a mesma tabela em forma de gráfico. Uma linha que desce da esquerda para a direita é o sinal do sigilo: quanto menor o setor, mais provável que o valor tenha sido suprimido.
Como ler: Eixo horizontal: décimo de moradores do setor (1 = menores). Eixo vertical: percentual de setores sem o indicador.
O que mostra: Renda: de 0,0% a 0,0%; analfabetismo: de 33,2% a 10,2%, do menor ao maior décimo.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extremo não é um erro por definição: pode ser um setor realmente diferente. O critério muda com o indicador: o intervalo interquartil onde ele funciona, um critério próprio para a renda e, nos indicadores em que a maioria dos setores vale zero, o critério aplicado só aos valores acima de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critério de Tukey marca como extremo o valor que fica a mais de 3 intervalos interquartis abaixo do 1º quartil ou acima do 3º (o intervalo interquartil é a distância entre o 1º e o 3º quartil). Nos indicadores com mediana zero esse intervalo é zero, e qualquer valor positivo viraria extremo; por isso, neles, o critério é aplicado só aos valores acima de zero. A renda usa o critério próprio do projeto: limite de Tukey dentro de cada município e um teste de coerência com o perfil do setor, que separa a renda alta de verdade (EXTREMO) da provável inconsistência (SUSPEITO).
Como ler: Uma linha por indicador: o critério usado, os limites, quantos setores passam deles e o percentual de zeros.
O que mostra: O maior percentual de extremos é o de Moradia convencional (7,7%), pelo critério “Tukey k=3 (intervalo interquartil)”.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critério de Tukey marca como extremo o valor que fica a mais de 3 intervalos interquartis abaixo do 1º quartil ou acima do 3º (o intervalo interquartil é a distância entre o 1º e o 3º quartil). Nos indicadores com mediana zero esse intervalo é zero, e qualquer valor positivo viraria extremo; por isso, neles, o critério é aplicado só aos valores acima de zero. A renda usa o critério próprio do projeto: limite de Tukey dentro de cada município e um teste de coerência com o perfil do setor, que separa a renda alta de verdade (EXTREMO) da provável inconsistência (SUSPEITO).
Como ler: Uma linha por indicador: o critério usado, os limites, quantos setores passam deles e o percentual de zeros.
O que mostra: O maior percentual de extremos é o de Moradia convencional (7,7%), pelo critério “Tukey k=3 (intervalo interquartil)”.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critério de Tukey marca como extremo o valor que fica a mais de 3 intervalos interquartis abaixo do 1º quartil ou acima do 3º (o intervalo interquartil é a distância entre o 1º e o 3º quartil). Nos indicadores com mediana zero esse intervalo é zero, e qualquer valor positivo viraria extremo; por isso, neles, o critério é aplicado só aos valores acima de zero. A renda usa o critério próprio do projeto: limite de Tukey dentro de cada município e um teste de coerência com o perfil do setor, que separa a renda alta de verdade (EXTREMO) da provável inconsistência (SUSPEITO).
Como ler: Uma linha por indicador: o critério usado, os limites, quantos setores passam deles e o percentual de zeros.
O que mostra: O maior percentual de extremos é o de Moradia convencional (7,7%), pelo critério “Tukey k=3 (intervalo interquartil)”.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total soma marcações, não setores: um setor extremo em dois indicadores conta duas vezes. Municípios grandes tendem a ter mais marcações só por terem mais setores; a comparação justa é com o número de setores de cada um (bloco 2).
Como ler: Uma linha por município e uma coluna por indicador, com o número de setores marcados; a coluna total soma todas as marcações.
O que mostra: O município com mais marcações é Belo Horizonte, com 921 no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lista serve para conferência caso a caso: abrir o setor, olhar o entorno e decidir se é um setor diferente de verdade ou um erro de registro. Nenhum setor é retirado das análises por estar nesta lista.
Como ler: Até dez setores por indicador, os mais distantes da mediana entre os marcados como extremo: código do setor, município, valor e mediana global.
O que mostra: No topo da lista de Renda média está um setor de Belo Horizonte, com valor 170.418,06.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lista serve para conferência caso a caso: abrir o setor, olhar o entorno e decidir se é um setor diferente de verdade ou um erro de registro. Nenhum setor é retirado das análises por estar nesta lista.
Como ler: Até dez setores por indicador, os mais distantes da mediana entre os marcados como extremo: código do setor, município, valor e mediana global.
O que mostra: No topo da lista de Renda média está um setor de Belo Horizonte, com valor 170.418,06.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classe vem do rastreio da renda do projeto (src/ivs_censo/renda.py). Um setor de renda alta com baixo analfabetismo e pouca população preta, parda ou indígena é coerente; o mesmo valor num setor com perfil oposto é suspeito. A variante de renda “sem o extremo” retira esses valores; a referência usa a renda original.
Como ler: Cada setor com renda recebe uma classe: NORMAL, EXTREMO (acima do limite do município, mas coerente com o perfil) ou SUSPEITO (acima do limite e incoerente).
O que mostra: São 2 setores SUSPEITO (0,04%) e 60 EXTREMO.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percentuais não são comparáveis de forma direta entre critérios diferentes: o critério da inflação de zeros olha só os setores com valor acima de zero. O gráfico serve para localizar os indicadores em que os extremos merecem atenção.
Como ler: Uma barra por indicador, com o percentual de setores marcados; a cor indica o critério (petróleo: Tukey; cinza: inflação de zeros; argila: renda).
O que mostra: A barra mais longa é a de Moradia convencional (7,7%).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correlação mede o quanto dois indicadores sobem e descem juntos, de −1 a 1. Pares muito correlacionados medem quase a mesma coisa; pares sem correlação trazem informação diferente. O bloco mostra as duas medidas usuais (Spearman, por postos, e Pearson, linear) e agrupa os indicadores parecidos.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correlação de Spearman é calculada sobre os postos (a ordem dos setores), não sobre os valores. Por isso é pouco afetada por extremos e capta relações que sobem sempre, mesmo que não em linha reta. Valor perto de 1: os setores ordenados por um indicador ficam quase na mesma ordem pelo outro; perto de −1: ordem invertida; perto de 0: sem relação de ordem. Cada par usa os setores com os dois valores.
Como ler: Matriz de correlação de Spearman: cada célula é a correlação entre o indicador da linha e o da coluna, de −1 a 1.
O que mostra: A maior correlação em módulo é entre Renda média e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correlação de Pearson mede a relação em linha reta entre os valores. Ela é sensível a extremos e a distribuições muito assimétricas, como as do saneamento. Quando Pearson e Spearman divergem muito para um mesmo par, a relação é puxada por poucos setores extremos ou não é linear.
Como ler: Matriz de correlação de Pearson, com a mesma leitura da de Spearman.
O que mostra: A maior correlação de Pearson em módulo é entre Renda média e Renda sem o extremo (r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Dois indicadores com correlação acima de 0,80 medem praticamente a mesma coisa. Pôr os dois no índice dá peso dobrado a essa dimensão. Muitas vezes são variantes de um mesmo conceito (por exemplo, as três rendas ou as várias definições de água), e a escolha entre elas é uma das decisões que as versões do eixo B exploram.
Como ler: Os pares de indicadores com correlação de pelo menos 0,80 em módulo, por Spearman ou por Pearson, do mais forte para o mais fraco.
O que mostra: No topo: Renda sem o extremo × Renda (mediana mun.), com Spearman 1,0000 e Pearson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Dois indicadores com correlação acima de 0,80 medem praticamente a mesma coisa. Pôr os dois no índice dá peso dobrado a essa dimensão. Muitas vezes são variantes de um mesmo conceito (por exemplo, as três rendas ou as várias definições de água), e a escolha entre elas é uma das decisões que as versões do eixo B exploram.
Como ler: Os pares de indicadores com correlação de pelo menos 0,80 em módulo, por Spearman ou por Pearson, do mais forte para o mais fraco.
O que mostra: No topo: Renda sem o extremo × Renda (mediana mun.), com Spearman 1,0000 e Pearson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reordenação põe lado a lado os indicadores que se correlacionam entre si, e os blocos de cor ao longo da diagonal revelam os grupos. Um grupo nítido costuma corresponder a uma dimensão: socioeconômica, saneamento, moradia, idade.
Como ler: Matriz de correlação de Spearman entre todos os indicadores, reordenados pelo agrupamento do dendrograma. Cada célula do triângulo inferior traz o valor de ρ (−1 a 1); argila é correlação positiva, petróleo negativa, branco é perto de zero. Com 31 indicadores, os valores só ficam legíveis com a figura ampliada; as matrizes por dimensão vêm a seguir.
O que mostra: O par mais forte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a matriz no formato da que a orientadora enviou: o IVS e as variáveis novas lado a lado, com os valores escritos. A correlação de Spearman mede se dois indicadores ordenam os setores do mesmo jeito: 1 é a mesma ordem, −1 a ordem invertida, 0 nenhuma relação. A renda aparece como renda média (não invertida): por isso ela tem correlação negativa com as carências. Variáveis com muitos zeros (água não chega, sem banheiro, moradia não convencional) têm correlações achatadas, porque os empates em zero não têm ordem.
Como ler: Matriz de Spearman só com os componentes do índice (acima e à esquerda da linha) e as variáveis das demandas de setembro (abaixo e à direita). Cada célula traz o ρ; argila é positiva, petróleo negativa.
O que mostra: Entre uma variável nova e um componente de outra família, o par mais forte é Lixo inadequado × Esgoto inadequado (ρ = 0,3238). Pares de variantes da mesma coisa (como banheiro graduado e sem banheiro) ficam de fora do destaque.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Saneamento; cada célula traz o ρ (−1 a 1). Argila é correlação positiva, petróleo negativa.
O que mostra: Na dimensão Saneamento, o par mais forte é Sem banheiro × Banheiro graduado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Socioeconômica; cada célula traz o ρ (−1 a 1). Argila é correlação positiva, petróleo negativa.
O que mostra: Na dimensão Socioeconômica, o par mais forte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Morfologia; cada célula traz o ρ (−1 a 1). Argila é correlação positiva, petróleo negativa.
O que mostra: Na dimensão Morfologia, o par mais forte é Habitação precária × Moradia não convencional (ρ = 0,9824).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Demografia; cada célula traz o ρ (−1 a 1). Argila é correlação positiva, petróleo negativa.
O que mostra: Na dimensão Demografia, o par mais forte é Pessoas 60+ × Dependência idosa (ρ = 0,9945).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dendrograma é o resultado de um agrupamento hierárquico: começa com cada indicador sozinho e, a cada passo, une os dois grupos mais próximos. A distância entre dois indicadores é 1 menos o módulo da correlação de Spearman (0 = idênticos, 1 = sem relação); entre grupos, usa-se a média das distâncias (ligação média). Ele é um retrato descritivo: não substitui a análise fatorial.
Como ler: Cada indicador é uma folha à esquerda; as linhas os unem do mais parecido para o menos. Quanto mais à esquerda a união, mais correlacionados os indicadores.
O que mostra: O par mais próximo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favelas e comunidades urbanas delimitadas pelo IBGE servem de referência externa: um bom indicador de vulnerabilidade deve ter valores mais altos nelas. A comparação usa medianas e a AUC, que mede a capacidade de separar os dois grupos.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AUC (área sob a curva ROC) é a probabilidade de que um setor de favela, sorteado ao acaso, tenha valor maior que um setor de fora, também sorteado. AUC 0,5: o indicador não separa os grupos. Acima de 0,5: valores maiores nas favelas. Abaixo de 0,5: valores menores nas favelas (é o caso da renda, que entra no índice invertida). A AUC aqui é global, com todos os municípios juntos.
Como ler: Uma linha por indicador: setores de FCU e fora, a mediana em cada grupo, a diferença e a AUC do indicador sozinho.
O que mostra: Cor/raça PPI tem AUC 0,9205 (mediana 0,7912 em FCU e 0,5587 fora); a menor AUC é a de Renda sem o extremo (0,0433).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AUC (área sob a curva ROC) é a probabilidade de que um setor de favela, sorteado ao acaso, tenha valor maior que um setor de fora, também sorteado. AUC 0,5: o indicador não separa os grupos. Acima de 0,5: valores maiores nas favelas. Abaixo de 0,5: valores menores nas favelas (é o caso da renda, que entra no índice invertida). A AUC aqui é global, com todos os municípios juntos.
Como ler: Uma linha por indicador: setores de FCU e fora, a mediana em cada grupo, a diferença e a AUC do indicador sozinho.
O que mostra: Cor/raça PPI tem AUC 0,9205 (mediana 0,7912 em FCU e 0,5587 fora); a menor AUC é a de Renda sem o extremo (0,0433).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Barras que partem de 0,5 deixam claro o sentido: argila para a direita, o indicador é maior nas favelas; petróleo para a esquerda, é menor. O painel das medianas mostra a mesma comparação em valores absolutos, o que ajuda a separar uma diferença grande em termos relativos de uma diferença grande de fato.
Como ler: À esquerda, a AUC de cada indicador (barras a partir de 0,5; argila acima, petróleo abaixo). À direita, as medianas em FCU e fora, para os indicadores em proporção.
O que mostra: A maior AUC é a de Cor/raça PPI (0,9205); a menor, a de Renda sem o extremo (0,0433).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projeto olha para a vulnerabilidade do idoso. Este bloco descreve a estrutura etária e quatro indicadores de envelhecimento, e cruza o percentual de pessoas de 60 anos ou mais com os demais indicadores.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faixas etárias do Censo não são todas do mesmo tamanho: de 30 a 59 anos elas têm dez anos, e as anteriores, cinco. Por isso as faixas de dez anos tendem a parecer maiores. O percentual é calculado sobre a soma das faixas, e cada região soma 100%.
Como ler: Uma linha por faixa etária; as colunas são o total e as regiões, com o percentual da população de cada uma em cada faixa.
O que mostra: Pessoas de 70 anos ou mais são 9,4% do total, chegando a 9,4% no Sudeste.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agregados por setor do Censo trazem as faixas etárias sem a separação por sexo, por isso a figura é uma pirâmide de um lado só. Pontos à direita da barra nas faixas mais velhas indicam regiões mais envelhecidas.
Como ler: Barras: percentual da população total em cada faixa etária. Pontos: o mesmo percentual em cada região.
O que mostra: 70+: 9,4% no total e 9,4% no Sudeste.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índice de envelhecimento é a razão entre pessoas de 60 anos ou mais e pessoas de 0 a 14 anos. A razão de dependência idosa é a razão entre pessoas de 60 anos ou mais e pessoas de 15 a 59 anos. A proporção de 70+ entre os 60+ indica o quanto a população idosa do setor é mais velha. Os quatro são calculados por setor.
Como ler: Os quatro indicadores de envelhecimento, para o total e por região: n, média, mediana, quartis e as demais descritivas.
O que mostra: Pessoas 60+: mediana de 0,2000 no Sudeste e 0,2000 no Sudeste. Índice de envelhecimento, mediana do total: 135,2397.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tabela cruza envelhecimento com vulnerabilidade. Uma correlação positiva com a renda indica que setores mais ricos têm mais idosos (envelhecimento associado à transição demográfica mais avançada); uma correlação negativa com indicadores de carência diz o mesmo pelo outro lado. Isso importa para o IVS-Idoso: se idade e vulnerabilidade andam em sentidos opostos, somá-las num índice só pode cancelar os efeitos.
Como ler: Correlação de Spearman entre os indicadores de envelhecimento (linhas) e os demais (colunas).
O que mostra: Para pessoas 60+, a correlação mais forte é com População 0–14 (ρ = -0,7909); com a renda média, ρ = 0,5315.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tabela cruza envelhecimento com vulnerabilidade. Uma correlação positiva com a renda indica que setores mais ricos têm mais idosos (envelhecimento associado à transição demográfica mais avançada); uma correlação negativa com indicadores de carência diz o mesmo pelo outro lado. Isso importa para o IVS-Idoso: se idade e vulnerabilidade andam em sentidos opostos, somá-las num índice só pode cancelar os efeitos.
Como ler: Correlação de Spearman entre os indicadores de envelhecimento (linhas) e os demais (colunas).
O que mostra: Para pessoas 60+, a correlação mais forte é com População 0–14 (ρ = -0,7909); com a renda média, ρ = 0,5315.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mais de cem mil setores, um gráfico de pontos vira uma mancha. O gráfico de hexágonos conta quantos setores caem em cada célula. A escala logarítmica da renda espalha os setores de renda baixa, que de outro modo ficariam espremidos à esquerda.
Como ler: Cada hexágono reúne setores com valores parecidos; quanto mais escuro, mais setores. Eixo horizontal: renda média em escala logarítmica; vertical: proporção de pessoas de 60 anos ou mais.
O que mostra: A correlação de Spearman entre as duas é 0,5315.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análise fatorial resume vários indicadores correlacionados em poucas dimensões (fatores). Antes de usá-la, testa-se se os dados se prestam a isso (KMO, MSA, Bartlett) e quantos fatores reter (Kaiser e análise paralela de Horn). Depois, as cargas dizem o quanto cada indicador pertence a cada fator.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KMO (Kaiser-Meyer-Olkin) compara as correlações entre as variáveis com as correlações parciais: perto de 1, as variáveis compartilham muita informação e a fatorial faz sentido; o critério do projeto é pelo menos 0,70. O teste de Bartlett verifica se a matriz de correlação é diferente da identidade (variáveis sem relação); com tantos setores, ele sempre rejeita. O critério de Kaiser retém fatores com autovalor acima de 1; a análise paralela de Horn, mais conservadora, retém os fatores cujo autovalor supera o que dados aleatórios do mesmo tamanho produziriam. A correlação usada é a de Spearman, como no NB04.
Como ler: As medidas de adequação da matriz de correlação dos componentes do índice, na amostra do índice.
O que mostra: KMO 0,7994, com 3.499 setores; Kaiser retém 3 fatores e Horn, 2; 2 fatores explicam 63,1% da variância.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MSA é o KMO de cada variável: abaixo de 0,50, a variável compartilha pouco com as outras. A comunalidade é a parte da variância da variável explicada pelos fatores retidos (critério do projeto: pelo menos 0,30). A carga é a correlação da variável com o fator (critério: pelo menos 0,40 no fator principal). A rotação gira os fatores para que cada variável carregue forte em um só: a Varimax mantém os fatores independentes; a promax permite que eles se correlacionem. Na promax, a matriz padrão dá o efeito próprio de cada fator e a matriz estrutura, a correlação simples.
Como ler: Uma linha por componente: MSA, comunalidades e as cargas em cada fator, sem rotação, na Varimax e na promax (padrão e estrutura).
O que mostra: Menor MSA: Água inadequada (0,5307). Menor comunalidade (promax): Banheiro graduado (0,0182).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autovalor mede quanta variância um componente resume, em unidades de variável: autovalor 2 equivale a duas variáveis inteiras. A análise paralela de Horn gera dados aleatórios com o mesmo número de setores e variáveis e calcula os autovalores que surgiriam só por acaso; um componente merece ser retido quando o seu autovalor supera esse valor.
Como ler: Um componente por linha: autovalor, valor de referência da análise paralela de Horn e variância explicada, simples e acumulada.
O que mostra: Primeiro autovalor 3,2517, segundo 1,1624 (Horn: 1,0374); os dois primeiros explicam 63,1% da variância.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rotação oblíqua (promax), os fatores podem se correlacionar. Uma correlação alta entre a dimensão socioeconômica e a de saneamento indica que as carências tendem a ocorrer juntas no mesmo setor. É por isso que, na promax, se usa a matriz padrão para distribuir pesos: ela separa o efeito próprio de cada fator.
Como ler: Matriz Φ: a correlação entre os fatores depois da rotação promax.
O que mostra: A correlação entre F1 e F2 é 0,2393.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nome vem da imagem de uma encosta: os primeiros componentes formam o paredão e os demais, o entulho no pé. Os componentes que ficam acima da linha tracejada trazem estrutura real; os que ficam abaixo, ruído.
Como ler: Linha cheia: autovalores em ordem decrescente. Tracejada: o que dados aleatórios produziriam (Horn). Pontilhada: o critério de Kaiser (autovalor 1).
O que mostra: O segundo autovalor é 1,1624, contra 1,0374 da linha de Horn.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mapa de cargas mostra a que fator cada variável pertence. Setas ao longo do eixo horizontal pertencem a F1; ao longo do vertical, a F2; setas na diagonal dividem-se entre os dois. Setas curtas indicam variáveis mal explicadas pelos dois fatores (comunalidade baixa).
Como ler: Cada seta é um componente; a ponta fica nas cargas padrão da promax em F1 (horizontal) e F2 (vertical). O círculo marca carga 1.
O que mostra: Maior carga em F1: Renda (invertida) (0,9411); em F2: Água inadequada (0,8934).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os fatores e os pesos, cada setor recebe um valor de 0 a 1 dentro do seu município. O bloco mostra os pesos, a distribuição do índice, as faixas de vulnerabilidade pelas duas regras, a AUC contra as favelas e se a versão passa nos critérios de elegibilidade fixados no NB05.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pesos seguem a receita do NB04: cada variável vai para a dimensão em que tem a maior carga; o peso da dimensão é repartido entre as variáveis dela em proporção ao quadrado da carga. O peso das dimensões depende do método da versão; na referência é a regra do IVS-BH de 2012 (60% socioeconômica, 40% saneamento).
Como ler: Uma linha por componente: a dimensão em que ele carrega mais, a carga, o peso da dimensão e o peso final no índice (em %).
O que mostra: O maior peso é o de Água inadequada (25,5%); a dimensão F1 (socioeconômica) pesa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índice vai de 0 (o setor menos vulnerável do município) a 1 (o mais vulnerável). Comparar o nível do índice entre municípios não faz sentido nesta normalização; o que se compara é a posição relativa de cada setor dentro da sua cidade.
Como ler: Descritivas do índice para o total e por região. Como o índice é normalizado dentro de cada município, todo município tem mínimo 0 e máximo 1.
O que mostra: 3.499 setores; mediana 0,3346; percentil 90 0,3879.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regra do IVS-BH de 2012 classifica pelo afastamento da média do município em desvios-padrão: abaixo de −0,5 DP é baixo; até +0,5 DP, médio; até +1,5 DP, elevado; acima, muito elevado. Como a distribuição é assimétrica, as faixas não têm o mesmo tamanho. A regra dos quartis divide cada município em quatro partes iguais, por construção com 25% cada.
Como ler: Quantos setores ficam em cada faixa, pelas duas regras: a do IVS-BH (média e desvio-padrão do município) e a dos quartis do município.
O que mostra: IVS-BH: 28,0% baixo e 3,6% muito elevado. Quartis: 25,0% muito elevado.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AUC global junta todos os setores; a municipal calcula a AUC dentro de cada município e toma a mediana, só nos municípios com pelo menos 30 setores de FCU e 30 fora. A municipal é a leitura adequada para um índice normalizado no município. Os critérios de elegibilidade foram fixados antes de rodar a grade do NB05: KMO de pelo menos 0,70, MSA de pelo menos 0,50, comunalidade de pelo menos 0,30 e carga de pelo menos 0,40 em todas as variáveis. A elegibilidade é descritiva: não escolhe a versão.
Como ler: AUC global e municipal, peso da dimensão socioeconômica e os critérios de elegibilidade do NB05, um por linha (1 = atende).
O que mostra: AUC global 0,9172; mediana da AUC municipal 0,9172, em 1 municípios. Pelos critérios do NB05, a versão é não elegível.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Municípios com poucos setores de favela têm AUC instável: um ou dois setores mudam muito o resultado. Por isso a mediana só usa os municípios com pelo menos 30 setores em cada grupo; os demais ficam na tabela, marcados.
Como ler: Uma linha por município: AUC, setores de FCU (n1) e fora (n0) e se o município entra na mediana.
O que mostra: Entre os municípios que entram na mediana, a maior AUC é a de Belo Horizonte (0,9172) e a menor, a de Belo Horizonte (0,9172).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as faixas são definidas dentro de cada município, um mesmo valor do índice pode cair em faixas diferentes em cidades diferentes: por isso as cores se sobrepõem nas fronteiras.
Como ler: Histograma do índice, com cada barra dividida pela faixa dos setores (regra do IVS-BH).
O que mostra: 28,0% dos setores ficam em baixo e 3,6% em muito elevado.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Quanto mais a curva se aproxima do canto superior esquerdo, melhor o índice separa os dois grupos. A área sob a curva é a AUC. Esta curva usa todos os setores juntos; como o índice é normalizado no município, a AUC municipal é a medida principal.
Como ler: Cada ponto da curva é um corte do índice: no eixo vertical, a proporção de setores de FCU acima do corte; no horizontal, a dos setores de fora. A diagonal é o acaso.
O que mostra: Área sob a curva: 0,9172 (global); a mediana municipal é 0,9172.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índice classifica setores, mas a pergunta de política pública é sobre pessoas. Este bloco soma moradores e moradores de 60 anos ou mais em cada faixa do índice, por município.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faixas são relativas ao município: todo município tem setores nas faixas altas, por construção. O que muda de um para outro é quanta gente mora nesses setores, porque os setores têm populações diferentes.
Como ler: Uma linha por município: setores, moradores e moradores de 60+ em cada faixa (regra do IVS-BH) e o percentual de moradores nas duas faixas mais altas.
O que mostra: Maior percentual em elevado ou muito elevado: Belo Horizonte (26,9%); menor: Belo Horizonte (26,9%).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contagem de pessoas usa o total de moradores do setor (v0001) e a soma das faixas de 60 a 69 e de 70 anos ou mais. Só entram os setores da amostra do índice.
Como ler: Uma linha por faixa: setores, moradores e moradores de 60+, com os percentuais.
O que mostra: Na faixa muito elevada: 44.378 pessoas (2,8% do total), das quais 4.332 com 60 anos ou 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gráfico mostra a tabela por município em forma de barras empilhadas. Um município em que as faixas altas ocupam muito da barra concentra população nos setores mais vulneráveis da cidade.
Como ler: Uma barra por município, dividida pelas faixas do índice; o comprimento de cada parte é o percentual de moradores. Ordem: do maior para o menor percentual nas duas faixas mais altas.
O que mostra: No topo, Belo Horizonte (26,9% em elevado ou muito elevado); na base, Belo Horizonte (26,9%).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o índice é normalizado dentro de cada município, a comparação entre cidades é sobre a desigualdade interna, não sobre o nível. Três medidas: a razão entre os percentis 90 e 10, o Gini e o Theil.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Gini vai de 0 (todos os setores com o mesmo valor) a 1 (toda a soma concentrada num setor). O Theil também mede concentração, mas é mais sensível à cauda alta. A razão P90/P10 compara o setor no percentil 90 com o do percentil 10; como o índice começa em 0 em todo município, o P10 pode ser muito pequeno e a razão explodir, por isso ela fica vazia quando o P10 é zero.
Como ler: Uma linha por município: setores, média, percentis 10 e 90 do índice, a razão P90/P10, o Gini e o Theil.
O que mostra: Maior Gini: Belo Horizonte (0,0978); menor: Belo Horizonte (0,0978).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Gini e Theil apontam em sentidos diferentes para um município, a desigualdade dele está mais na cauda (poucos setores muito acima dos demais) do que no meio da distribuição.
Como ler: Barras: Gini do índice dentro de cada município, do maior para o menor. Pontos: Theil.
O que mostra: Do maior Gini, Belo Horizonte (0,0978), ao menor, Belo Horizonte (0,0978).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versão muda uma coisa só em relação à referência. Este bloco mede o efeito dessa mudança: a correlação de postos entre os dois índices, a matriz de setores que trocam de faixa e os municípios mais afetados.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correlação de postos perto de 1 indica que a versão ordena os setores quase como a referência, ainda que os valores mudem. Na própria referência, o valor é 1 por construção.
Como ler: Correlação de Spearman entre o índice desta versão e o da referência, nos setores que estão nas duas amostras: total e por município.
O que mostra: Total: ρ = 0,9978. Menor correlação municipal: Belo Horizonte (0,9978).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diagonal (mesma faixa nas duas) mostra a concordância. Trocas entre faixas vizinhas são esperadas quando os pesos mudam um pouco; trocas de duas faixas ou mais indicam que a versão muda de fato a classificação do setor.
Como ler: Cada linha é um par (faixa na referência, faixa nesta versão), com o número de setores e o percentual do total.
O que mostra: Fora da diagonal, a maior célula é de elevado para medio, com 116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faixa usada é a da regra do IVS-BH. Municípios pequenos tendem a aparecer no topo, porque poucas trocas pesam muito em poucos setores.
Como ler: A primeira linha é o total; as demais, os municípios, do mais afetado para o menos: setores comuns, setores que mudam de faixa e o percentual.
O que mostra: No total, 5,3% dos setores mudam de faixa; o município mais afetado é Belo Horizonte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matriz com quase tudo na diagonal indica que a mudança da versão não altera a classificação; células fora da diagonal mostram para onde os setores se movem.
Como ler: Linhas: faixa na referência; colunas: faixa nesta versão; cada célula traz o número de setores.
O que mostra: A maior troca fora da diagonal é de elevado para medio (116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gráfico destaca onde a escolha desta versão faz mais diferença. Na própria referência, todas as barras são zero.
Como ler: Os 20 municípios com o maior percentual de setores que mudam de faixa.
O que mostra: O mais afetado é Belo Horizonte (5,3%); no total,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Belo Horizonte o índice ordena os setores quase como a referência e separa as favelas com mais força do que no conjunto dos municípios. Mas a versão não é elegível pelos critérios do NB05: o banheiro graduado quase não varia na cidade, fica com comunalidade e carga muito baixas e não pertence a nenhum dos dois fatores. O critério de Kaiser pede três fatores, e a análise paralela de Horn, dois. A falha fica registrada como falha; nada foi retirado da versão.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um município só, a AUC municipal é a AUC da cidade, e as tabelas por município e por região têm uma linha.
O analfabetismo tem mais sigilo em Belo Horizonte do que no conjunto dos municípios, o que reduz a amostra do índice.
A comparação com o IVS-BH 2012 é de método, não de valores: os setores de 2010 e de 2022 não estão compatibilizados (versão bloqueada).
A amostra do índice exclui todo setor com algum componente faltante (exclusão por 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ANÁLISES EXPLORATÓRIAS POR VERSÃO · A3_belo_horizonte</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Belo Horizonte</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Como ficam os dados e o IVS quando a análise é só de Belo Horizonte, a cidade do IVS-BH 2012?</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outubro de 2026  ·  5.113 setores no recorte  ·  3.499 na amostra do índice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que muda nesta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2011680"/>
                <a:gridCol w="4297680"/>
                <a:gridCol w="4297680"/>
              </a:tblGrid>
              <a:tr h="274320">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Aspecto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Referência (00_referencia)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Esta versão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Base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entrega_orientadora/Base_ELSI_70Municipios_Censo2022.db</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b="1" dirty="0">
                          <a:solidFill>
                            <a:srgbClr val="8C2F27"/>
                          </a:solidFill>
                          <a:latin typeface="Cambria" pitchFamily="34" charset="0"/>
                          <a:ea typeface="Cambria" pitchFamily="34" charset="-122"/>
                          <a:cs typeface="Cambria" pitchFamily="34" charset="-120"/>
                        </a:rPr>
                        <a:t>entrega_orientadora/Base_BeloHorizonte_Censo2022.db</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Recorte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urbanos; Dados_sig = OK</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Indicadores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todos os do quadro, com as variantes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79501">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Componentes do índice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Água inadequada, Esgoto inadequado, Razão de moradores, Analfabetismo 15+, Renda (invertida), Cor/raça PPI, Banheiro graduado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Renda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original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Rotação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Pesos das dimensões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60_40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Normalização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municipal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Blocos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1, 2, 3, 4, 5, 6, 7, 8, 9, 10, 11, 12, 13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77240" y="4465701"/>
            <a:ext cx="822960" cy="0"/>
          </a:xfrm>
          <a:prstGeom prst="line">
            <a:avLst/>
          </a:prstGeom>
          <a:noFill/>
          <a:ln w="15875">
            <a:solidFill>
              <a:srgbClr val="8C2F27"/>
            </a:solidFill>
            <a:prstDash val="solid"/>
          </a:ln>
        </p:spPr>
      </p:sp>
      <p:sp>
        <p:nvSpPr>
          <p:cNvPr id="7" name="Text 4"/>
          <p:cNvSpPr/>
          <p:nvPr/>
        </p:nvSpPr>
        <p:spPr>
          <a:xfrm>
            <a:off x="777240" y="4520565"/>
            <a:ext cx="10634472" cy="1514475"/>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muda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base: em vez dos 70 municípios, a base própria de Belo Horizonte da entrega à orientadora. A fatorial, os pesos e as faixas passam a ser calculados só com os setores da cidade; componentes, rotação, pesos 60/40 e normalização são os da referência.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3.499 setores chegam ao índice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1517904"/>
            <a:ext cx="3300984" cy="0"/>
          </a:xfrm>
          <a:prstGeom prst="line">
            <a:avLst/>
          </a:prstGeom>
          <a:noFill/>
          <a:ln w="12700">
            <a:solidFill>
              <a:srgbClr val="1A1A18"/>
            </a:solidFill>
            <a:prstDash val="solid"/>
          </a:ln>
        </p:spPr>
      </p:sp>
      <p:sp>
        <p:nvSpPr>
          <p:cNvPr id="6" name="Text 4"/>
          <p:cNvSpPr/>
          <p:nvPr/>
        </p:nvSpPr>
        <p:spPr>
          <a:xfrm>
            <a:off x="777240" y="159105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5.166</a:t>
            </a:r>
            <a:endParaRPr lang="en-US" sz="3000" dirty="0"/>
          </a:p>
        </p:txBody>
      </p:sp>
      <p:sp>
        <p:nvSpPr>
          <p:cNvPr id="7" name="Text 5"/>
          <p:cNvSpPr/>
          <p:nvPr/>
        </p:nvSpPr>
        <p:spPr>
          <a:xfrm>
            <a:off x="777240"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na base completa</a:t>
            </a:r>
            <a:endParaRPr lang="en-US" sz="1050" dirty="0"/>
          </a:p>
        </p:txBody>
      </p:sp>
      <p:sp>
        <p:nvSpPr>
          <p:cNvPr id="8" name="Shape 6"/>
          <p:cNvSpPr/>
          <p:nvPr/>
        </p:nvSpPr>
        <p:spPr>
          <a:xfrm>
            <a:off x="4443984" y="1517904"/>
            <a:ext cx="3300984" cy="0"/>
          </a:xfrm>
          <a:prstGeom prst="line">
            <a:avLst/>
          </a:prstGeom>
          <a:noFill/>
          <a:ln w="12700">
            <a:solidFill>
              <a:srgbClr val="1A1A18"/>
            </a:solidFill>
            <a:prstDash val="solid"/>
          </a:ln>
        </p:spPr>
      </p:sp>
      <p:sp>
        <p:nvSpPr>
          <p:cNvPr id="9" name="Text 7"/>
          <p:cNvSpPr/>
          <p:nvPr/>
        </p:nvSpPr>
        <p:spPr>
          <a:xfrm>
            <a:off x="4443984" y="159105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5.113</a:t>
            </a:r>
            <a:endParaRPr lang="en-US" sz="3000" dirty="0"/>
          </a:p>
        </p:txBody>
      </p:sp>
      <p:sp>
        <p:nvSpPr>
          <p:cNvPr id="10" name="Text 8"/>
          <p:cNvSpPr/>
          <p:nvPr/>
        </p:nvSpPr>
        <p:spPr>
          <a:xfrm>
            <a:off x="4443984"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no recorte da versão (descritivas, distribuições, correlações)</a:t>
            </a:r>
            <a:endParaRPr lang="en-US" sz="1050" dirty="0"/>
          </a:p>
        </p:txBody>
      </p:sp>
      <p:sp>
        <p:nvSpPr>
          <p:cNvPr id="11" name="Shape 9"/>
          <p:cNvSpPr/>
          <p:nvPr/>
        </p:nvSpPr>
        <p:spPr>
          <a:xfrm>
            <a:off x="8110728" y="1517904"/>
            <a:ext cx="3300984" cy="0"/>
          </a:xfrm>
          <a:prstGeom prst="line">
            <a:avLst/>
          </a:prstGeom>
          <a:noFill/>
          <a:ln w="12700">
            <a:solidFill>
              <a:srgbClr val="8C2F27"/>
            </a:solidFill>
            <a:prstDash val="solid"/>
          </a:ln>
        </p:spPr>
      </p:sp>
      <p:sp>
        <p:nvSpPr>
          <p:cNvPr id="12" name="Text 10"/>
          <p:cNvSpPr/>
          <p:nvPr/>
        </p:nvSpPr>
        <p:spPr>
          <a:xfrm>
            <a:off x="8110728" y="1591056"/>
            <a:ext cx="3300984" cy="566928"/>
          </a:xfrm>
          <a:prstGeom prst="rect">
            <a:avLst/>
          </a:prstGeom>
          <a:noFill/>
          <a:ln/>
        </p:spPr>
        <p:txBody>
          <a:bodyPr wrap="square" lIns="0" tIns="0" rIns="0" bIns="0" rtlCol="0" anchor="ctr"/>
          <a:lstStyle/>
          <a:p>
            <a:pPr indent="0" marL="0">
              <a:buNone/>
            </a:pPr>
            <a:r>
              <a:rPr lang="en-US" sz="3000" b="1" dirty="0">
                <a:solidFill>
                  <a:srgbClr val="8C2F27"/>
                </a:solidFill>
                <a:latin typeface="Cambria" pitchFamily="34" charset="0"/>
                <a:ea typeface="Cambria" pitchFamily="34" charset="-122"/>
                <a:cs typeface="Cambria" pitchFamily="34" charset="-120"/>
              </a:rPr>
              <a:t>3.499</a:t>
            </a:r>
            <a:endParaRPr lang="en-US" sz="3000" dirty="0"/>
          </a:p>
        </p:txBody>
      </p:sp>
      <p:sp>
        <p:nvSpPr>
          <p:cNvPr id="13" name="Text 11"/>
          <p:cNvSpPr/>
          <p:nvPr/>
        </p:nvSpPr>
        <p:spPr>
          <a:xfrm>
            <a:off x="8110728"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na amostra do índice (fatorial e blocos 9 a 13)</a:t>
            </a:r>
            <a:endParaRPr lang="en-US" sz="1050" dirty="0"/>
          </a:p>
        </p:txBody>
      </p:sp>
      <p:sp>
        <p:nvSpPr>
          <p:cNvPr id="14" name="Text 12"/>
          <p:cNvSpPr/>
          <p:nvPr/>
        </p:nvSpPr>
        <p:spPr>
          <a:xfrm>
            <a:off x="777240" y="3026664"/>
            <a:ext cx="10634472" cy="219456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Por que dois números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funil mostra o caminho dos setores. A base completa inclui setores rurais e setores sem dados divulgados. O recorte da versão é o conjunto sobre o qual são calculadas as descritivas, as distribuições e as correlações. A amostra do índice é menor, porque a análise fatorial exige que o setor tenha todos os componentes preenchidos (exclusão por lista: basta faltar um componente para o setor sair). Essa diferença de amostra é importante quando se comparam números de blocos diferentes.</a:t>
            </a:r>
            <a:endParaRPr lang="en-US" sz="1250" dirty="0"/>
          </a:p>
        </p:txBody>
      </p:sp>
      <p:sp>
        <p:nvSpPr>
          <p:cNvPr id="15" name="Text 1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T01 · tabelas/T01_funil.csv</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Sumário: os blocos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640080"/>
                <a:gridCol w="2377440"/>
                <a:gridCol w="4937760"/>
                <a:gridCol w="2651760"/>
              </a:tblGrid>
              <a:tr h="274320">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Bloco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Título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Pergunta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Itens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Recorte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Quantos setores entram nesta versão, quantos saem e por quê?</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T01, F01, 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Descritivas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Qual é o valor típico de cada indicador, e quanto ele varia?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T03, T04, 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Distribuições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Que forma tem cada indicador, e ela muda de uma região para outra?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F02, F03, F04, F05, F06, F07, F08, F09, F10, F11, F12, F13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Faltantes e sigilo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Onde faltam dados, e a falta é aleatória?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T06, F14, T07, F15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Extremos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Que setores têm valores fora do comum, e por qual critério?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T08, T09, T10, T11, F16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Correlações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Que indicadores andam juntos?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T12, T13, T14, F17, F31, F32, F33, F34, F35, F18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Favelas e comunidades urbanas (FCU)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Cada indicador, sozinho, separa os setores de favela dos demais?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T15, F19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Como a população idosa se distribui, e com que indicadores ela se relaciona?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T16, F20, T17, T18, F21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Adequação fatorial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Os componentes do índice se prestam a uma análise fatorial, e quantos fatores ela sustenta?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T19, T20, T21, T22, F22, F23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 índice da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Como fica o índice, e ele separa os setores de favela?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T23, T24, T25, T26, T27, F24, F25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Quem está em risco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Quantas pessoas, e quantas pessoas idosas, vivem em cada faixa?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T28, T29, F26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Desigualdade interna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Em que municípios o índice varia mais de um setor para outro?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T30, F27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Comparação com a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 que esta versão muda em relação à referência proposta do NB05?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T31, T32, T33, F28, F29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Recorte</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Quantos setores entram nesta versão, quantos saem e por quê?</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T01 · F01 · T02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3.499 setores chegam ao índice, de 5.166 na base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06640" cy="914400"/>
        </p:xfrm>
        <a:graphic>
          <a:graphicData uri="http://schemas.openxmlformats.org/drawingml/2006/table">
            <a:tbl>
              <a:tblPr/>
              <a:tblGrid>
                <a:gridCol w="2377440"/>
                <a:gridCol w="914400"/>
                <a:gridCol w="822960"/>
                <a:gridCol w="3291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Etapa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Saem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Motivo da saída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Base completa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Setores urbanos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setor rural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Dados_sig = OK</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setor sem dados divulgados (sigilo ou sem domicílio ocupado)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Componentes do índice completos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faltante em algum componente do índice (exclusão por lista)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linha é um filtro, na ordem em que é aplicado: quantos setores ficam, quantos saem e por quê.</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base tem 5.166 setores; 5.113 ficam no recorte da versão e 3.499 têm todos os componentes do índice (1.614 saem nesta última etapa).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T01 · tabelas/T01_funil.csv  ·  Bloco 1. Recorte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Do recorte ao índice, 1.614 setores saem por falta de algum componente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01_funil.png">    </p:cNvPr>
          <p:cNvPicPr>
            <a:picLocks noChangeAspect="1"/>
          </p:cNvPicPr>
          <p:nvPr/>
        </p:nvPicPr>
        <p:blipFill>
          <a:blip r:embed="rId1"/>
          <a:stretch>
            <a:fillRect/>
          </a:stretch>
        </p:blipFill>
        <p:spPr>
          <a:xfrm>
            <a:off x="777240" y="1243584"/>
            <a:ext cx="7452360" cy="2694397"/>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barra é uma etapa do funil; o comprimento é o número de setores que ainda estão dentro.</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barra final (3.499 setores) é a amostra do índice; a do recorte tem 5.113.</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F01 · figuras/F01_funil.png  ·  Bloco 1. Recorte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Analfabetismo 15+ é o indicador com mais faltantes (22,5% dos setores)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377440"/>
                <a:gridCol w="1371600"/>
                <a:gridCol w="109728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com valor, setores sem valor e a porcentagem sem valor dentro do recorte.</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faltantes é o de Analfabetismo 15+ (22,5%); o menor, o de Água inadequada (0,0%).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T02 · tabelas/T02_perdas_por_indicador.csv  ·  Bloco 1. Recorte  ·  parte 1 de 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Analfabetismo 15+ é o indicador com mais faltantes (22,5% dos setores)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377440"/>
                <a:gridCol w="1371600"/>
                <a:gridCol w="109728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com valor, setores sem valor e a porcentagem sem valor dentro do recorte.</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faltantes é o de Analfabetismo 15+ (22,5%); o menor, o de Água inadequada (0,0%).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T02 · tabelas/T02_perdas_por_indicador.csv  ·  Bloco 1. Recorte  ·  parte 2 de 2</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Descritivas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Qual é o valor típico de cada indicador, e quanto ele varia?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T03 · T04 · T05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Banheiro de uso comum é o indicador mais assimétrico (assimetria 61,52)</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830404"/>
                <a:gridCol w="740878"/>
                <a:gridCol w="740878"/>
                <a:gridCol w="740878"/>
                <a:gridCol w="697297"/>
                <a:gridCol w="740878"/>
                <a:gridCol w="740878"/>
                <a:gridCol w="566554"/>
                <a:gridCol w="653716"/>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Assim.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2,6061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2,9730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4.682,30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4.491,58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1.574,21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10.036,09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0,6132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n: setores com valor; DP: desvio-padrão; P10…P90: percentis; CV: coeficiente de variação; % zeros: setores com valor exatamente zero.</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assimetria é a de Banheiro de uso comum (61,52); o maior percentual de zeros é o de Sem banheiro nem sanitário (100,0%).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T03 · tabelas/T03_descritivas_global.csv  ·  Bloco 2. Descritivas  ·  parte 1 de 2</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Banheiro de uso comum é o indicador mais assimétrico (assimetria 61,52)</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830404"/>
                <a:gridCol w="740878"/>
                <a:gridCol w="740878"/>
                <a:gridCol w="740878"/>
                <a:gridCol w="697297"/>
                <a:gridCol w="740878"/>
                <a:gridCol w="740878"/>
                <a:gridCol w="566554"/>
                <a:gridCol w="653716"/>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Assim.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4.649,88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3.847,45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1.574,10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3.058,23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10.032,48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4.649,57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3.847,13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1.574,21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3.058,23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10.032,44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0,9776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172,6869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155,3252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47,2962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135,2397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329,4706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32,9919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16,7668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14,2259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54,2220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45,5929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10,4446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32,5581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45,8524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58,0363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n: setores com valor; DP: desvio-padrão; P10…P90: percentis; CV: coeficiente de variação; % zeros: setores com valor exatamente zero.</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assimetria é a de Banheiro de uso comum (61,52); o maior percentual de zeros é o de Sem banheiro nem sanitário (100,0%).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T03 · tabelas/T03_descritivas_global.csv  ·  Bloco 2. Descritivas  ·  parte 2 de 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Renda média: a mediana vai de 3.060,31 (Sudeste) a 3.060,31 (Sudeste)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3200400" cy="914400"/>
        </p:xfrm>
        <a:graphic>
          <a:graphicData uri="http://schemas.openxmlformats.org/drawingml/2006/table">
            <a:tbl>
              <a:tblPr/>
              <a:tblGrid>
                <a:gridCol w="219456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 mediana por região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região e indicador, com as mesmas colunas da tabela global.</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Renda média, a mediana mais alta está no Sudeste (3.060,31) e a mais baixa no Sudeste (3.060,31).</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T04 · tabelas/T04_descritivas_regiao.csv  ·  Bloco 2. Descritivas  ·  parte 1 de 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Renda média: a mediana vai de 3.060,31 (Sudeste) a 3.060,31 (Sudeste)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3200400" cy="914400"/>
        </p:xfrm>
        <a:graphic>
          <a:graphicData uri="http://schemas.openxmlformats.org/drawingml/2006/table">
            <a:tbl>
              <a:tblPr/>
              <a:tblGrid>
                <a:gridCol w="219456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 mediana por região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3.058,23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3.058,23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135,2397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45,8524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25106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região e indicador, com as mesmas colunas da tabela global.</a:t>
            </a:r>
            <a:endParaRPr lang="en-US" sz="1250" dirty="0"/>
          </a:p>
        </p:txBody>
      </p:sp>
      <p:sp>
        <p:nvSpPr>
          <p:cNvPr id="8" name="Shape 5"/>
          <p:cNvSpPr/>
          <p:nvPr/>
        </p:nvSpPr>
        <p:spPr>
          <a:xfrm>
            <a:off x="8549640" y="2366010"/>
            <a:ext cx="822960" cy="0"/>
          </a:xfrm>
          <a:prstGeom prst="line">
            <a:avLst/>
          </a:prstGeom>
          <a:noFill/>
          <a:ln w="15875">
            <a:solidFill>
              <a:srgbClr val="8C2F27"/>
            </a:solidFill>
            <a:prstDash val="solid"/>
          </a:ln>
        </p:spPr>
      </p:sp>
      <p:sp>
        <p:nvSpPr>
          <p:cNvPr id="9" name="Text 6"/>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Renda média, a mediana mais alta está no Sudeste (3.060,31) e a mais baixa no Sudeste (3.060,31).</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T04 · tabelas/T04_descritivas_regiao.csv  ·  Bloco 2. Descritivas  ·  parte 2 de 2</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Renda média: entre os municípios, a mediana vai de 3.060,31 a 3.060,31</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583680" cy="914400"/>
        </p:xfrm>
        <a:graphic>
          <a:graphicData uri="http://schemas.openxmlformats.org/drawingml/2006/table">
            <a:tbl>
              <a:tblPr/>
              <a:tblGrid>
                <a:gridCol w="2743200"/>
                <a:gridCol w="82296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 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1.574,21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10.036,09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180174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 indicador (tabela longa). No deck, um recorte; a tabela completa está no CSV.</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Renda média, a maior mediana municipal é a de Belo Horizonte (3.060,31); a menor, a de Belo Horizonte (3.060,31).</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T05 · tabelas/T05_descritivas_municipio.csv  ·  Bloco 2. Descritivas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3</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Distribuições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Que forma tem cada indicador, e ela muda de uma região para outra?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F02 · F03 · F04 · F05 · F06 · F07 · F08 · F09 · F10 · F11 · F12 · F13</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Banheiro de uso comum tem a distribuição mais assimétrica (assimetria 61,52)</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02_histogramas_saneamento.png">    </p:cNvPr>
          <p:cNvPicPr>
            <a:picLocks noChangeAspect="1"/>
          </p:cNvPicPr>
          <p:nvPr/>
        </p:nvPicPr>
        <p:blipFill>
          <a:blip r:embed="rId1"/>
          <a:stretch>
            <a:fillRect/>
          </a:stretch>
        </p:blipFill>
        <p:spPr>
          <a:xfrm>
            <a:off x="777240" y="1243584"/>
            <a:ext cx="7452360" cy="4158003"/>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Saneamento, a maior assimetria é a de Banheiro de uso comum (61,52).</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F02 · figuras/F02_histogramas_saneamento.png  ·  Bloco 3. Distribuições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Água inadequada tem mediana de 0,0000 no Sudeste e 0,0000 no Sudeste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03_boxplots_regiao_saneamento.png">    </p:cNvPr>
          <p:cNvPicPr>
            <a:picLocks noChangeAspect="1"/>
          </p:cNvPicPr>
          <p:nvPr/>
        </p:nvPicPr>
        <p:blipFill>
          <a:blip r:embed="rId1"/>
          <a:stretch>
            <a:fillRect/>
          </a:stretch>
        </p:blipFill>
        <p:spPr>
          <a:xfrm>
            <a:off x="777240" y="1243584"/>
            <a:ext cx="7452360" cy="4160184"/>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(Água inadequada), a mediana regional vai de 0,0000 (Sudeste) a 0,0000 (Sudeste).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F03 · figuras/F03_boxplots_regiao_saneamento.png  ·  Bloco 3. Distribuições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Saneamento: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04_densidades_regiao_saneamento.png">    </p:cNvPr>
          <p:cNvPicPr>
            <a:picLocks noChangeAspect="1"/>
          </p:cNvPicPr>
          <p:nvPr/>
        </p:nvPicPr>
        <p:blipFill>
          <a:blip r:embed="rId1"/>
          <a:stretch>
            <a:fillRect/>
          </a:stretch>
        </p:blipFill>
        <p:spPr>
          <a:xfrm>
            <a:off x="777240" y="1243584"/>
            <a:ext cx="7452360" cy="4164554"/>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Água inadequada, a mediana regional vai de 0,0000 (Sudeste) a 0,0000 (Sudeste).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F04 · figuras/F04_densidades_regiao_saneamento.png  ·  Bloco 3. Distribuições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Socioeconômica: Renda média tem a distribuição mais assimétrica (assimetria 11,11)</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05_histogramas_socioeconomica.png">    </p:cNvPr>
          <p:cNvPicPr>
            <a:picLocks noChangeAspect="1"/>
          </p:cNvPicPr>
          <p:nvPr/>
        </p:nvPicPr>
        <p:blipFill>
          <a:blip r:embed="rId1"/>
          <a:stretch>
            <a:fillRect/>
          </a:stretch>
        </p:blipFill>
        <p:spPr>
          <a:xfrm>
            <a:off x="777240" y="1243584"/>
            <a:ext cx="7452360" cy="2748693"/>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Socioeconômica, a maior assimetria é a de Renda média (11,11).</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F05 · figuras/F05_histogramas_socioeconomica.png  ·  Bloco 3. Distribuições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Socioeconômica: Razão de moradores tem mediana de 2,6353 no Sudeste e 2,6353 no Sudeste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06_boxplots_regiao_socioeconomica.png">    </p:cNvPr>
          <p:cNvPicPr>
            <a:picLocks noChangeAspect="1"/>
          </p:cNvPicPr>
          <p:nvPr/>
        </p:nvPicPr>
        <p:blipFill>
          <a:blip r:embed="rId1"/>
          <a:stretch>
            <a:fillRect/>
          </a:stretch>
        </p:blipFill>
        <p:spPr>
          <a:xfrm>
            <a:off x="777240" y="1243584"/>
            <a:ext cx="7452360" cy="275013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(Razão de moradores), a mediana regional vai de 2,6353 (Sudeste) a 2,6353 (Sudeste).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F06 · figuras/F06_boxplots_regiao_socioeconomica.png  ·  Bloco 3. Distribuições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Socioeconômica: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07_densidades_regiao_socioeconomica.png">    </p:cNvPr>
          <p:cNvPicPr>
            <a:picLocks noChangeAspect="1"/>
          </p:cNvPicPr>
          <p:nvPr/>
        </p:nvPicPr>
        <p:blipFill>
          <a:blip r:embed="rId1"/>
          <a:stretch>
            <a:fillRect/>
          </a:stretch>
        </p:blipFill>
        <p:spPr>
          <a:xfrm>
            <a:off x="777240" y="1243584"/>
            <a:ext cx="7452360" cy="275013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Razão de moradores, a mediana regional vai de 2,6353 (Sudeste) a 2,6353 (Sudeste).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F07 · figuras/F07_densidades_regiao_socioeconomica.png  ·  Bloco 3. Distribuições</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Morfologia: Domicílio improvisado tem a distribuição mais assimétrica (assimetria 30,73)</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08_histogramas_morfologia.png">    </p:cNvPr>
          <p:cNvPicPr>
            <a:picLocks noChangeAspect="1"/>
          </p:cNvPicPr>
          <p:nvPr/>
        </p:nvPicPr>
        <p:blipFill>
          <a:blip r:embed="rId1"/>
          <a:stretch>
            <a:fillRect/>
          </a:stretch>
        </p:blipFill>
        <p:spPr>
          <a:xfrm>
            <a:off x="777240" y="1243584"/>
            <a:ext cx="7452360" cy="2747252"/>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Morfologia, a maior assimetria é a de Domicílio improvisado (30,73).</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F08 · figuras/F08_histogramas_morfologia.png  ·  Bloco 3. Distribuições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Morfologia: Domicílio improvisado tem mediana de 0,0000 no Sudeste e 0,0000 no Sudeste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09_boxplots_regiao_morfologia.png">    </p:cNvPr>
          <p:cNvPicPr>
            <a:picLocks noChangeAspect="1"/>
          </p:cNvPicPr>
          <p:nvPr/>
        </p:nvPicPr>
        <p:blipFill>
          <a:blip r:embed="rId1"/>
          <a:stretch>
            <a:fillRect/>
          </a:stretch>
        </p:blipFill>
        <p:spPr>
          <a:xfrm>
            <a:off x="777240" y="1243584"/>
            <a:ext cx="7452360" cy="2748693"/>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(Domicílio improvisado), a mediana regional vai de 0,0000 (Sudeste) a 0,0000 (Sudeste).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F09 · figuras/F09_boxplots_regiao_morfologia.png  ·  Bloco 3. Distribuições</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Morfologia: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10_densidades_regiao_morfologia.png">    </p:cNvPr>
          <p:cNvPicPr>
            <a:picLocks noChangeAspect="1"/>
          </p:cNvPicPr>
          <p:nvPr/>
        </p:nvPicPr>
        <p:blipFill>
          <a:blip r:embed="rId1"/>
          <a:stretch>
            <a:fillRect/>
          </a:stretch>
        </p:blipFill>
        <p:spPr>
          <a:xfrm>
            <a:off x="777240" y="1243584"/>
            <a:ext cx="7452360" cy="2747252"/>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Domicílio improvisado, a mediana regional vai de 0,0000 (Sudeste) a 0,0000 (Sudeste).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F10 · figuras/F10_densidades_regiao_morfologia.png  ·  Bloco 3. Distribuições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Demografia: Índice de envelhecimento tem a distribuição mais assimétrica (assimetria 4,48)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11_histogramas_demografia.png">    </p:cNvPr>
          <p:cNvPicPr>
            <a:picLocks noChangeAspect="1"/>
          </p:cNvPicPr>
          <p:nvPr/>
        </p:nvPicPr>
        <p:blipFill>
          <a:blip r:embed="rId1"/>
          <a:stretch>
            <a:fillRect/>
          </a:stretch>
        </p:blipFill>
        <p:spPr>
          <a:xfrm>
            <a:off x="777240" y="1243584"/>
            <a:ext cx="7452360" cy="2752603"/>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Demografia, a maior assimetria é a de Índice de envelhecimento (4,48).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F11 · figuras/F11_histogramas_demografia.png  ·  Bloco 3. Distribuições</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Demografia: Crianças 0–4 tem mediana de 0,0457 no Sudeste e 0,0457 no Sudeste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12_boxplots_regiao_demografia.png">    </p:cNvPr>
          <p:cNvPicPr>
            <a:picLocks noChangeAspect="1"/>
          </p:cNvPicPr>
          <p:nvPr/>
        </p:nvPicPr>
        <p:blipFill>
          <a:blip r:embed="rId1"/>
          <a:stretch>
            <a:fillRect/>
          </a:stretch>
        </p:blipFill>
        <p:spPr>
          <a:xfrm>
            <a:off x="777240" y="1243584"/>
            <a:ext cx="7452360" cy="2754048"/>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(Crianças 0–4), a mediana regional vai de 0,0457 (Sudeste) a 0,0457 (Sudeste).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F12 · figuras/F12_boxplots_regiao_demografia.png  ·  Bloco 3. Distribuições</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Demografia: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13_densidades_regiao_demografia.png">    </p:cNvPr>
          <p:cNvPicPr>
            <a:picLocks noChangeAspect="1"/>
          </p:cNvPicPr>
          <p:nvPr/>
        </p:nvPicPr>
        <p:blipFill>
          <a:blip r:embed="rId1"/>
          <a:stretch>
            <a:fillRect/>
          </a:stretch>
        </p:blipFill>
        <p:spPr>
          <a:xfrm>
            <a:off x="777240" y="1243584"/>
            <a:ext cx="7452360" cy="2752603"/>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Crianças 0–4, a mediana regional vai de 0,0457 (Sudeste) a 0,0457 (Sudeste).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F13 · figuras/F13_densidades_regiao_demografia.png  ·  Bloco 3. Distribuições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4</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Faltantes e sigilo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Onde faltam dados, e a falta é aleatória?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T06 · F14 · T07 · F15</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maior percentual de faltantes é o de Analfabetismo 15+ em Belo Horizonte (22,5%)</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69480" cy="914400"/>
        </p:xfrm>
        <a:graphic>
          <a:graphicData uri="http://schemas.openxmlformats.org/drawingml/2006/table">
            <a:tbl>
              <a:tblPr/>
              <a:tblGrid>
                <a:gridCol w="2011680"/>
                <a:gridCol w="1051560"/>
                <a:gridCol w="1051560"/>
                <a:gridCol w="1051560"/>
                <a:gridCol w="1051560"/>
                <a:gridCol w="105156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 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Analfabetismo 15+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Casa de vila/condomínio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Água só no terreno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194894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 uma coluna por indicador; cada célula é o percentual de setores do município sem aquele indicador.</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célula mais alta é Analfabetismo 15+ em Belo Horizonte, com 22,5% dos setores sem valor.</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T06 · tabelas/T06_faltantes_por_municipio.csv  ·  Bloco 4. Faltantes e sigilo</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faltantes se concentram em poucos indicadores e municípios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14_mapa_faltantes.png">    </p:cNvPr>
          <p:cNvPicPr>
            <a:picLocks noChangeAspect="1"/>
          </p:cNvPicPr>
          <p:nvPr/>
        </p:nvPicPr>
        <p:blipFill>
          <a:blip r:embed="rId1"/>
          <a:stretch>
            <a:fillRect/>
          </a:stretch>
        </p:blipFill>
        <p:spPr>
          <a:xfrm>
            <a:off x="2440107" y="1243584"/>
            <a:ext cx="4126625"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Mapa de calor: linhas são municípios, colunas são indicadores; quanto mais escura a célula, maior o percentual de setores sem valor.</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ponto mais escuro é Analfabetismo 15+ em Belo Horizonte (22,5%).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F14 · figuras/F14_mapa_faltantes.png  ·  Bloco 4. Faltantes e sigilo</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analfabetismo falta em 33,2% dos menores setores e em 10,2% dos maiores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217920" cy="914400"/>
        </p:xfrm>
        <a:graphic>
          <a:graphicData uri="http://schemas.openxmlformats.org/drawingml/2006/table">
            <a:tbl>
              <a:tblPr/>
              <a:tblGrid>
                <a:gridCol w="731520"/>
                <a:gridCol w="1097280"/>
                <a:gridCol w="1097280"/>
                <a:gridCol w="1097280"/>
                <a:gridCol w="128016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Décimo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Moradores (mín.)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Moradores (máx.)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renda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analfabetismo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em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setores são divididos em dez grupos iguais pelo número de moradores (1 = os menores). Para cada grupo, o percentual de setores sem renda e sem analfabetismo, e o percentual em FCU.</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Sem renda: 0,0% no primeiro décimo e 0,0% no último. Sem analfabetismo: 33,2% e 10,2%.</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T07 · tabelas/T07_sigilo_por_porte_do_setor.csv  ·  Bloco 4. Faltantes e sigilo</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falta de dados depende do tamanho do setor</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15_sigilo_por_porte_do_setor.png">    </p:cNvPr>
          <p:cNvPicPr>
            <a:picLocks noChangeAspect="1"/>
          </p:cNvPicPr>
          <p:nvPr/>
        </p:nvPicPr>
        <p:blipFill>
          <a:blip r:embed="rId1"/>
          <a:stretch>
            <a:fillRect/>
          </a:stretch>
        </p:blipFill>
        <p:spPr>
          <a:xfrm>
            <a:off x="777240" y="1243584"/>
            <a:ext cx="7452360" cy="4013930"/>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Eixo horizontal: décimo de moradores do setor (1 = menores). Eixo vertical: percentual de setores sem o indicador.</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Renda: de 0,0% a 0,0%; analfabetismo: de 33,2% a 10,2%, do menor ao maior décimo.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F15 · figuras/F15_sigilo_por_porte_do_setor.png  ·  Bloco 4. Faltantes e sigilo</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5</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Extremos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Que setores têm valores fora do comum, e por qual critério?</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T08 · T09 · T10 · T11 · F16</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Moradia convencional tem a maior proporção de extremos (7,7%)</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60920" cy="914400"/>
        </p:xfrm>
        <a:graphic>
          <a:graphicData uri="http://schemas.openxmlformats.org/drawingml/2006/table">
            <a:tbl>
              <a:tblPr/>
              <a:tblGrid>
                <a:gridCol w="1737360"/>
                <a:gridCol w="2377440"/>
                <a:gridCol w="914400"/>
                <a:gridCol w="777240"/>
                <a:gridCol w="822960"/>
                <a:gridCol w="7315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Critério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Limite sup.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0,6382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1,2297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o critério usado, os limites, quantos setores passam deles e o percentual de zeros.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extremos é o de Moradia convencional (7,7%), pelo critério “Tukey k=3 (intervalo interquartil)”.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T08 · tabelas/T08_extremos_por_indicador.csv  ·  Bloco 5. Extremos  ·  parte 1 de 3</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Moradia convencional tem a maior proporção de extremos (7,7%)</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60920" cy="914400"/>
        </p:xfrm>
        <a:graphic>
          <a:graphicData uri="http://schemas.openxmlformats.org/drawingml/2006/table">
            <a:tbl>
              <a:tblPr/>
              <a:tblGrid>
                <a:gridCol w="1737360"/>
                <a:gridCol w="2377440"/>
                <a:gridCol w="914400"/>
                <a:gridCol w="777240"/>
                <a:gridCol w="822960"/>
                <a:gridCol w="7315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Critério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Limite sup.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4,0229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Tukey k=3 no município + coerência do perfil do setor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17.596,33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17.595,39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o critério usado, os limites, quantos setores passam deles e o percentual de zeros.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extremos é o de Moradia convencional (7,7%), pelo critério “Tukey k=3 (intervalo interquartil)”.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T08 · tabelas/T08_extremos_por_indicador.csv  ·  Bloco 5. Extremos  ·  parte 2 de 3</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Moradia convencional tem a maior proporção de extremos (7,7%)</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60920" cy="914400"/>
        </p:xfrm>
        <a:graphic>
          <a:graphicData uri="http://schemas.openxmlformats.org/drawingml/2006/table">
            <a:tbl>
              <a:tblPr/>
              <a:tblGrid>
                <a:gridCol w="1737360"/>
                <a:gridCol w="2377440"/>
                <a:gridCol w="914400"/>
                <a:gridCol w="777240"/>
                <a:gridCol w="822960"/>
                <a:gridCol w="7315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Critério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Limite sup.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3,3116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3,1476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0,5999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631,9325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102,5855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93,0894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o critério usado, os limites, quantos setores passam deles e o percentual de zeros.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extremos é o de Moradia convencional (7,7%), pelo critério “Tukey k=3 (intervalo interquartil)”.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T08 · tabelas/T08_extremos_por_indicador.csv  ·  Bloco 5. Extremos  ·  parte 3 de 3</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Belo Horizonte concentra o maior número de marcações de extremo (921)</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23760" cy="914400"/>
        </p:xfrm>
        <a:graphic>
          <a:graphicData uri="http://schemas.openxmlformats.org/drawingml/2006/table">
            <a:tbl>
              <a:tblPr/>
              <a:tblGrid>
                <a:gridCol w="2011680"/>
                <a:gridCol w="822960"/>
                <a:gridCol w="1097280"/>
                <a:gridCol w="1097280"/>
                <a:gridCol w="1097280"/>
                <a:gridCol w="109728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Total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Moradia convencional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sem o extremo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194894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 uma coluna por indicador, com o número de setores marcados; a coluna total soma todas as marcações.</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município com mais marcações é Belo Horizonte, com 921 no total.</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T09 · tabelas/T09_extremos_por_municipio.csv  ·  Bloco 5. Extremos</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setores mais distantes da mediana, indicador por indicador</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1828800"/>
                <a:gridCol w="1645920"/>
                <a:gridCol w="1554480"/>
                <a:gridCol w="91440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global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310620060660300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310620025610247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310620060690400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310620025610247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310620005670397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310620005670397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310620005670397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310620005670260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310620025610648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0,4815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310620005650366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170.418,06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310620005630485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310620005620422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45.385,44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3.058,23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Até dez setores por indicador, os mais distantes da mediana entre os marcados como extremo: código do setor, município, valor e mediana global.</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da lista de Renda média está um setor de Belo Horizonte, com valor 170.418,06.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T10 · tabelas/T10_extremos_lista.csv  ·  Bloco 5. Extremos  ·  parte 1 de 2</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setores mais distantes da mediana, indicador por indicador</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1828800"/>
                <a:gridCol w="1645920"/>
                <a:gridCol w="1554480"/>
                <a:gridCol w="91440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global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310620005620422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45.385,44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3.058,23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310620005650617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310620060660397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310620060660397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310620060660397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310620060640027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310620025610341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310620025610648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0,6222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310620005620692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2.700,0000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135,2397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310620025610648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233,3333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310620005630483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45,8524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426554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Até dez setores por indicador, os mais distantes da mediana entre os marcados como extremo: código do setor, município, valor e mediana global.</a:t>
            </a:r>
            <a:endParaRPr lang="en-US" sz="1250" dirty="0"/>
          </a:p>
        </p:txBody>
      </p:sp>
      <p:sp>
        <p:nvSpPr>
          <p:cNvPr id="8" name="Shape 5"/>
          <p:cNvSpPr/>
          <p:nvPr/>
        </p:nvSpPr>
        <p:spPr>
          <a:xfrm>
            <a:off x="8549640" y="2785110"/>
            <a:ext cx="822960" cy="0"/>
          </a:xfrm>
          <a:prstGeom prst="line">
            <a:avLst/>
          </a:prstGeom>
          <a:noFill/>
          <a:ln w="15875">
            <a:solidFill>
              <a:srgbClr val="8C2F27"/>
            </a:solidFill>
            <a:prstDash val="solid"/>
          </a:ln>
        </p:spPr>
      </p:sp>
      <p:sp>
        <p:nvSpPr>
          <p:cNvPr id="9" name="Text 6"/>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da lista de Renda média está um setor de Belo Horizonte, com valor 170.418,06.</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T10 · tabelas/T10_extremos_lista.csv  ·  Bloco 5. Extremos  ·  parte 2 de 2</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2 setores têm renda suspeita e 60 têm renda extrema coerente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4023360" cy="914400"/>
        </p:xfrm>
        <a:graphic>
          <a:graphicData uri="http://schemas.openxmlformats.org/drawingml/2006/table">
            <a:tbl>
              <a:tblPr/>
              <a:tblGrid>
                <a:gridCol w="1828800"/>
                <a:gridCol w="118872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Classe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NORMAL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SUSPEITO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setor com renda recebe uma classe: NORMAL, EXTREMO (acima do limite do município, mas coerente com o perfil) ou SUSPEITO (acima do limite e incoerente).</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São 2 setores SUSPEITO (0,04%) e 60 EXTREMO.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T11 · tabelas/T11_renda_classes.csv  ·  Bloco 5. Extremos</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proporção de extremos varia muito de um indicador para outro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16_extremos_por_indicador.png">    </p:cNvPr>
          <p:cNvPicPr>
            <a:picLocks noChangeAspect="1"/>
          </p:cNvPicPr>
          <p:nvPr/>
        </p:nvPicPr>
        <p:blipFill>
          <a:blip r:embed="rId1"/>
          <a:stretch>
            <a:fillRect/>
          </a:stretch>
        </p:blipFill>
        <p:spPr>
          <a:xfrm>
            <a:off x="2091800" y="1243584"/>
            <a:ext cx="4823240"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barra por indicador, com o percentual de setores marcados; a cor indica o critério (petróleo: Tukey; cinza: inflação de zeros; argila: renda).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barra mais longa é a de Moradia convencional (7,7%).</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F16 · figuras/F16_extremos_por_indicador.png  ·  Bloco 5. Extremos</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43</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6</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Correlações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Que indicadores andam juntos?</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T12 · T13 · T14 · F17 · F31 · F32 · F33 · F34 · F35 · F18</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Renda média e Renda sem o extremo formam o par mais correlacionado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187184" cy="914400"/>
        </p:xfrm>
        <a:graphic>
          <a:graphicData uri="http://schemas.openxmlformats.org/drawingml/2006/table">
            <a:tbl>
              <a:tblPr/>
              <a:tblGrid>
                <a:gridCol w="1554480"/>
                <a:gridCol w="804672"/>
                <a:gridCol w="804672"/>
                <a:gridCol w="804672"/>
                <a:gridCol w="804672"/>
                <a:gridCol w="804672"/>
                <a:gridCol w="804672"/>
                <a:gridCol w="804672"/>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Componentes do 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Analfabetismo 15+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Cor/raça PPI</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342722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correlação de Spearman: cada célula é a correlação entre o indicador da linha e o da coluna, de −1 a 1.</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correlação em módulo é entre Renda média e Renda sem o extremo (ρ = 1,0000).</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T12 · tabelas/T12_correlacao_spearman.csv  ·  Bloco 6. Correlações</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45</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Na correlação linear, o par mais forte é Renda média × Renda sem o extremo (r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187184" cy="914400"/>
        </p:xfrm>
        <a:graphic>
          <a:graphicData uri="http://schemas.openxmlformats.org/drawingml/2006/table">
            <a:tbl>
              <a:tblPr/>
              <a:tblGrid>
                <a:gridCol w="1554480"/>
                <a:gridCol w="804672"/>
                <a:gridCol w="804672"/>
                <a:gridCol w="804672"/>
                <a:gridCol w="804672"/>
                <a:gridCol w="804672"/>
                <a:gridCol w="804672"/>
                <a:gridCol w="804672"/>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Componentes do 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Analfabetismo 15+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Cor/raça PPI</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342722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correlação de Pearson, com a mesma leitura da de Spearman.</a:t>
            </a:r>
            <a:endParaRPr lang="en-US" sz="1250" dirty="0"/>
          </a:p>
        </p:txBody>
      </p:sp>
      <p:sp>
        <p:nvSpPr>
          <p:cNvPr id="8" name="Shape 5"/>
          <p:cNvSpPr/>
          <p:nvPr/>
        </p:nvSpPr>
        <p:spPr>
          <a:xfrm>
            <a:off x="8549640" y="2366010"/>
            <a:ext cx="822960" cy="0"/>
          </a:xfrm>
          <a:prstGeom prst="line">
            <a:avLst/>
          </a:prstGeom>
          <a:noFill/>
          <a:ln w="15875">
            <a:solidFill>
              <a:srgbClr val="8C2F27"/>
            </a:solidFill>
            <a:prstDash val="solid"/>
          </a:ln>
        </p:spPr>
      </p:sp>
      <p:sp>
        <p:nvSpPr>
          <p:cNvPr id="9" name="Text 6"/>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correlação de Pearson em módulo é entre Renda média e Renda sem o extremo (r = 1,0000).</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T13 · tabelas/T13_correlacao_pearson.csv  ·  Bloco 6. Correlações</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par mais redundante é Renda sem o extremo × Renda (mediana mun.)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377440"/>
                <a:gridCol w="237744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Pearson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0,9705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pares de indicadores com correlação de pelo menos 0,80 em módulo, por Spearman ou por Pearson, do mais forte para o mais fraco.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Renda sem o extremo × Renda (mediana mun.), com Spearman 1,0000 e Pearson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T14 · tabelas/T14_pares_acima_de_080.csv  ·  Bloco 6. Correlações  ·  parte 1 de 2</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par mais redundante é Renda sem o extremo × Renda (mediana mun.)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377440"/>
                <a:gridCol w="237744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Pearson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0,6923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-0,4865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-0,4864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0,6631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pares de indicadores com correlação de pelo menos 0,80 em módulo, por Spearman ou por Pearson, do mais forte para o mais fraco.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Renda sem o extremo × Renda (mediana mun.), com Spearman 1,0000 e Pearson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T14 · tabelas/T14_pares_acima_de_080.csv  ·  Bloco 6. Correlações  ·  parte 2 de 2</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indicadores formam grupos de correlação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17_mapa_spearman.png">    </p:cNvPr>
          <p:cNvPicPr>
            <a:picLocks noChangeAspect="1"/>
          </p:cNvPicPr>
          <p:nvPr/>
        </p:nvPicPr>
        <p:blipFill>
          <a:blip r:embed="rId1"/>
          <a:stretch>
            <a:fillRect/>
          </a:stretch>
        </p:blipFill>
        <p:spPr>
          <a:xfrm>
            <a:off x="1851045" y="1243584"/>
            <a:ext cx="5304750" cy="4791456"/>
          </a:xfrm>
          <a:prstGeom prst="rect">
            <a:avLst/>
          </a:prstGeom>
        </p:spPr>
      </p:pic>
      <p:sp>
        <p:nvSpPr>
          <p:cNvPr id="6" name="Text 3"/>
          <p:cNvSpPr/>
          <p:nvPr/>
        </p:nvSpPr>
        <p:spPr>
          <a:xfrm>
            <a:off x="8549640" y="1289304"/>
            <a:ext cx="2862072" cy="25336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correlação de Spearman entre todos os indicadores, reordenados pelo agrupamento do dendrograma. Cada célula do triângulo inferior traz o valor de ρ (−1 a 1); argila é correlação positiva, petróleo negativa, branco é perto de zero. Com 31 indicadores, os valores só ficam legíveis com a figura ampliada; as matrizes por dimensão vêm a seguir.</a:t>
            </a:r>
            <a:endParaRPr lang="en-US" sz="1250" dirty="0"/>
          </a:p>
        </p:txBody>
      </p:sp>
      <p:sp>
        <p:nvSpPr>
          <p:cNvPr id="7" name="Shape 4"/>
          <p:cNvSpPr/>
          <p:nvPr/>
        </p:nvSpPr>
        <p:spPr>
          <a:xfrm>
            <a:off x="8549640" y="4042410"/>
            <a:ext cx="822960" cy="0"/>
          </a:xfrm>
          <a:prstGeom prst="line">
            <a:avLst/>
          </a:prstGeom>
          <a:noFill/>
          <a:ln w="15875">
            <a:solidFill>
              <a:srgbClr val="8C2F27"/>
            </a:solidFill>
            <a:prstDash val="solid"/>
          </a:ln>
        </p:spPr>
      </p:sp>
      <p:sp>
        <p:nvSpPr>
          <p:cNvPr id="8" name="Text 5"/>
          <p:cNvSpPr/>
          <p:nvPr/>
        </p:nvSpPr>
        <p:spPr>
          <a:xfrm>
            <a:off x="8549640" y="40972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par mais forte é Renda média × Renda sem o extremo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F17 · figuras/F17_mapa_spearman.png  ·  Bloco 6. Correlações</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49</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Entre as variáveis das demandas e os componentes do índice, o par mais forte é Lixo inadequado × Esgoto inadequado (ρ = 0,3238)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31_mapa_spearman_componentes.png">    </p:cNvPr>
          <p:cNvPicPr>
            <a:picLocks noChangeAspect="1"/>
          </p:cNvPicPr>
          <p:nvPr/>
        </p:nvPicPr>
        <p:blipFill>
          <a:blip r:embed="rId1"/>
          <a:stretch>
            <a:fillRect/>
          </a:stretch>
        </p:blipFill>
        <p:spPr>
          <a:xfrm>
            <a:off x="1708404" y="1243584"/>
            <a:ext cx="5590032" cy="4791456"/>
          </a:xfrm>
          <a:prstGeom prst="rect">
            <a:avLst/>
          </a:prstGeom>
        </p:spPr>
      </p:pic>
      <p:sp>
        <p:nvSpPr>
          <p:cNvPr id="6" name="Text 3"/>
          <p:cNvSpPr/>
          <p:nvPr/>
        </p:nvSpPr>
        <p:spPr>
          <a:xfrm>
            <a:off x="8549640" y="1289304"/>
            <a:ext cx="2862072" cy="16954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componentes do índice (acima e à esquerda da linha) e as variáveis das demandas de setembro (abaixo e à direita). Cada célula traz o ρ; argila é positiva, petróleo negativa.</a:t>
            </a:r>
            <a:endParaRPr lang="en-US" sz="1250" dirty="0"/>
          </a:p>
        </p:txBody>
      </p:sp>
      <p:sp>
        <p:nvSpPr>
          <p:cNvPr id="7" name="Shape 4"/>
          <p:cNvSpPr/>
          <p:nvPr/>
        </p:nvSpPr>
        <p:spPr>
          <a:xfrm>
            <a:off x="8549640" y="3204210"/>
            <a:ext cx="822960" cy="0"/>
          </a:xfrm>
          <a:prstGeom prst="line">
            <a:avLst/>
          </a:prstGeom>
          <a:noFill/>
          <a:ln w="15875">
            <a:solidFill>
              <a:srgbClr val="8C2F27"/>
            </a:solidFill>
            <a:prstDash val="solid"/>
          </a:ln>
        </p:spPr>
      </p:sp>
      <p:sp>
        <p:nvSpPr>
          <p:cNvPr id="8" name="Text 5"/>
          <p:cNvSpPr/>
          <p:nvPr/>
        </p:nvSpPr>
        <p:spPr>
          <a:xfrm>
            <a:off x="8549640" y="3259074"/>
            <a:ext cx="2862072" cy="16954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uma variável nova e um componente de outra família, o par mais forte é Lixo inadequado × Esgoto inadequado (ρ = 0,3238). Pares de variantes da mesma coisa (como banheiro graduado e sem banheiro) ficam de fora do destaque.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F31 · figuras/F31_mapa_spearman_componentes.png  ·  Bloco 6. Correlações</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50</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o par mais correlacionado é Sem banheiro × Banheiro graduado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32_mapa_spearman_saneamento.png">    </p:cNvPr>
          <p:cNvPicPr>
            <a:picLocks noChangeAspect="1"/>
          </p:cNvPicPr>
          <p:nvPr/>
        </p:nvPicPr>
        <p:blipFill>
          <a:blip r:embed="rId1"/>
          <a:stretch>
            <a:fillRect/>
          </a:stretch>
        </p:blipFill>
        <p:spPr>
          <a:xfrm>
            <a:off x="1657422" y="1243584"/>
            <a:ext cx="5691995"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Saneamento;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Saneamento, o par mais forte é Sem banheiro × Banheiro graduado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F32 · figuras/F32_mapa_spearman_saneamento.png  ·  Bloco 6. Correlações</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51</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Socioeconômica: o par mais correlacionado é Renda média × Renda sem o extremo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33_mapa_spearman_socioeconomica.png">    </p:cNvPr>
          <p:cNvPicPr>
            <a:picLocks noChangeAspect="1"/>
          </p:cNvPicPr>
          <p:nvPr/>
        </p:nvPicPr>
        <p:blipFill>
          <a:blip r:embed="rId1"/>
          <a:stretch>
            <a:fillRect/>
          </a:stretch>
        </p:blipFill>
        <p:spPr>
          <a:xfrm>
            <a:off x="1633960" y="1243584"/>
            <a:ext cx="5738919"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Socioeconômica;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Socioeconômica, o par mais forte é Renda média × Renda sem o extremo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F33 · figuras/F33_mapa_spearman_socioeconomica.png  ·  Bloco 6. Correlações</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52</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Morfologia: o par mais correlacionado é Habitação precária × Moradia não convencional (ρ = 0,9824)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34_mapa_spearman_morfologia.png">    </p:cNvPr>
          <p:cNvPicPr>
            <a:picLocks noChangeAspect="1"/>
          </p:cNvPicPr>
          <p:nvPr/>
        </p:nvPicPr>
        <p:blipFill>
          <a:blip r:embed="rId1"/>
          <a:stretch>
            <a:fillRect/>
          </a:stretch>
        </p:blipFill>
        <p:spPr>
          <a:xfrm>
            <a:off x="1628546" y="1243584"/>
            <a:ext cx="5749747"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Morfologia;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Morfologia, o par mais forte é Habitação precária × Moradia não convencional (ρ = 0,9824).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F34 · figuras/F34_mapa_spearman_morfologia.png  ·  Bloco 6. Correlações</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53</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Demografia: o par mais correlacionado é Pessoas 60+ × Dependência idosa (ρ = 0,9945)</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35_mapa_spearman_demografia.png">    </p:cNvPr>
          <p:cNvPicPr>
            <a:picLocks noChangeAspect="1"/>
          </p:cNvPicPr>
          <p:nvPr/>
        </p:nvPicPr>
        <p:blipFill>
          <a:blip r:embed="rId1"/>
          <a:stretch>
            <a:fillRect/>
          </a:stretch>
        </p:blipFill>
        <p:spPr>
          <a:xfrm>
            <a:off x="1633397" y="1243584"/>
            <a:ext cx="5740046"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Demografia;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Demografia, o par mais forte é Pessoas 60+ × Dependência idosa (ρ = 0,9945).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F35 · figuras/F35_mapa_spearman_demografia.png  ·  Bloco 6. Correlações</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dendrograma junta os indicadores que medem coisas parecidas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18_dendrograma.png">    </p:cNvPr>
          <p:cNvPicPr>
            <a:picLocks noChangeAspect="1"/>
          </p:cNvPicPr>
          <p:nvPr/>
        </p:nvPicPr>
        <p:blipFill>
          <a:blip r:embed="rId1"/>
          <a:stretch>
            <a:fillRect/>
          </a:stretch>
        </p:blipFill>
        <p:spPr>
          <a:xfrm>
            <a:off x="2229445" y="1243584"/>
            <a:ext cx="4547950"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indicador é uma folha à esquerda; as linhas os unem do mais parecido para o menos. Quanto mais à esquerda a união, mais correlacionados os indicadores.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par mais próximo é Renda média × Renda sem o extremo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F18 · figuras/F18_dendrograma.png  ·  Bloco 6. Correlações</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55</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7</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Favelas e comunidades urbanas (FCU)</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Cada indicador, sozinho, separa os setores de favela dos demais?</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T15 · F19</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Cor/raça PPI é o indicador que mais separa as favelas (AUC 0,9205)</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011680"/>
                <a:gridCol w="1051560"/>
                <a:gridCol w="1051560"/>
                <a:gridCol w="1005840"/>
                <a:gridCol w="82296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fora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Diferença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2,8681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2,5972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0,9627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0,6930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0,6930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0,6644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0,6437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0,6181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0,5951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de FCU e fora, a mediana em cada grupo, a diferença e a AUC do indicador sozinho.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Cor/raça PPI tem AUC 0,9205 (mediana 0,7912 em FCU e 0,5587 fora); a menor AUC é a de Renda sem o extremo (0,0433).</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T15 · tabelas/T15_fcu_por_indicador.csv  ·  Bloco 7. Favelas e comunidades urbanas (FCU)  ·  parte 1 de 2</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Cor/raça PPI é o indicador que mais separa as favelas (AUC 0,9205)</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011680"/>
                <a:gridCol w="1051560"/>
                <a:gridCol w="1051560"/>
                <a:gridCol w="1005840"/>
                <a:gridCol w="82296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fora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Diferença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0,4404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39,1304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46,8486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-7,7182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18,4356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33,0435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-14,6079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58,2524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151,1628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-92,9104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1.546,15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3.582,80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-2.036,65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1.546,15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3.582,80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-2.036,65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1.545,10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3.582,80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-2.037,70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de FCU e fora, a mediana em cada grupo, a diferença e a AUC do indicador sozinho.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Cor/raça PPI tem AUC 0,9205 (mediana 0,7912 em FCU e 0,5587 fora); a menor AUC é a de Renda sem o extremo (0,0433).</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T15 · tabelas/T15_fcu_por_indicador.csv  ·  Bloco 7. Favelas e comunidades urbanas (FCU)  ·  parte 2 de 2</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indicadores separam as favelas com força muito diferente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19_fcu_por_indicador.png">    </p:cNvPr>
          <p:cNvPicPr>
            <a:picLocks noChangeAspect="1"/>
          </p:cNvPicPr>
          <p:nvPr/>
        </p:nvPicPr>
        <p:blipFill>
          <a:blip r:embed="rId1"/>
          <a:stretch>
            <a:fillRect/>
          </a:stretch>
        </p:blipFill>
        <p:spPr>
          <a:xfrm>
            <a:off x="1614498" y="1243584"/>
            <a:ext cx="5777844"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À esquerda, a AUC de cada indicador (barras a partir de 0,5; argila acima, petróleo abaixo). À direita, as medianas em FCU e fora, para os indicadores em proporção.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AUC é a de Cor/raça PPI (0,9205); a menor, a de Renda sem o extremo (0,0433).</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F19 · figuras/F19_fcu_por_indicador.png  ·  Bloco 7. Favelas e comunidades urbanas (FCU)</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59</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8</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Envelhecimento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a população idosa se distribui, e com que indicadores ela se relaciona?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T16 · F20 · T17 · T18 · F21</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faixa de 30–39 anos concentra a maior parte da população (15,5%)</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3200400" cy="914400"/>
        </p:xfrm>
        <a:graphic>
          <a:graphicData uri="http://schemas.openxmlformats.org/drawingml/2006/table">
            <a:tbl>
              <a:tblPr/>
              <a:tblGrid>
                <a:gridCol w="1280160"/>
                <a:gridCol w="960120"/>
                <a:gridCol w="9601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Faixa etária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Total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faixa etária; as colunas são o total e as regiões, com o percentual da população de cada uma em cada faixa.</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Pessoas de 70 anos ou mais são 9,4% do total, chegando a 9,4% no Sudeste.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T16 · tabelas/T16_estrutura_etaria.csv  ·  Bloco 8. Envelhecimento</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estrutura etária muda de região para região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20_piramide_etaria.png">    </p:cNvPr>
          <p:cNvPicPr>
            <a:picLocks noChangeAspect="1"/>
          </p:cNvPicPr>
          <p:nvPr/>
        </p:nvPicPr>
        <p:blipFill>
          <a:blip r:embed="rId1"/>
          <a:stretch>
            <a:fillRect/>
          </a:stretch>
        </p:blipFill>
        <p:spPr>
          <a:xfrm>
            <a:off x="777240" y="1243584"/>
            <a:ext cx="7452360" cy="4704523"/>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Barras: percentual da população total em cada faixa etária. Pontos: o mesmo percentual em cada região.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70+: 9,4% no total e 9,4% no Sudeste.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F20 · figuras/F20_piramide_etaria.png  ·  Bloco 8. Envelhecimento</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mediana de pessoas 60+ por setor vai de 0,2000 (Sudeste) a 0,2000 (Sudeste)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1280160"/>
                <a:gridCol w="2103120"/>
                <a:gridCol w="822960"/>
                <a:gridCol w="914400"/>
                <a:gridCol w="91440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Escopo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P25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P75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80,8000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135,2397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218,5831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21,4286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41,7178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38,8889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45,8524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52,4390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80,8000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135,2397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218,5831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21,4286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41,7178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38,8889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45,8524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52,4390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quatro indicadores de envelhecimento, para o total e por região: n, média, mediana, quartis e as demais descritivas.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Pessoas 60+: mediana de 0,2000 no Sudeste e 0,2000 no Sudeste. Índice de envelhecimento, mediana do total: 135,2397.</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T17 · tabelas/T17_envelhecimento_por_regiao.csv  ·  Bloco 8. Envelhecimento</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percentual de pessoas 60+ se relaciona mais com População 0–14 (ρ = -0,7909)</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194560"/>
                <a:gridCol w="1188720"/>
                <a:gridCol w="1188720"/>
                <a:gridCol w="1188720"/>
                <a:gridCol w="118872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(ρ de 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Dependência idosa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70+ entre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-0,3086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-0,4460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Correlação de Spearman entre os indicadores de envelhecimento (linhas) e os demais (colunas).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pessoas 60+, a correlação mais forte é com População 0–14 (ρ = -0,7909); com a renda média, ρ = 0,5315.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T18 · tabelas/T18_envelhecimento_correlacoes.csv  ·  Bloco 8. Envelhecimento  ·  parte 1 de 2</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percentual de pessoas 60+ se relaciona mais com População 0–14 (ρ = -0,7909)</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194560"/>
                <a:gridCol w="1188720"/>
                <a:gridCol w="1188720"/>
                <a:gridCol w="1188720"/>
                <a:gridCol w="118872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(ρ de 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Dependência idosa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70+ entre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-0,5982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-0,6455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-0,5700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-0,6777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-0,6358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-0,4785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Correlação de Spearman entre os indicadores de envelhecimento (linhas) e os demais (colunas).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pessoas 60+, a correlação mais forte é com População 0–14 (ρ = -0,7909); com a renda média, ρ = 0,5315.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T18 · tabelas/T18_envelhecimento_correlacoes.csv  ·  Bloco 8. Envelhecimento  ·  parte 2 de 2</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Pessoas 60+ e renda média: ρ = 0,5315</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21_dispersao_60mais.png">    </p:cNvPr>
          <p:cNvPicPr>
            <a:picLocks noChangeAspect="1"/>
          </p:cNvPicPr>
          <p:nvPr/>
        </p:nvPicPr>
        <p:blipFill>
          <a:blip r:embed="rId1"/>
          <a:stretch>
            <a:fillRect/>
          </a:stretch>
        </p:blipFill>
        <p:spPr>
          <a:xfrm>
            <a:off x="1309116" y="1243584"/>
            <a:ext cx="6388608" cy="479145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hexágono reúne setores com valores parecidos; quanto mais escuro, mais setores. Eixo horizontal: renda média em escala logarítmica; vertical: proporção de pessoas de 60 anos ou mais.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correlação de Spearman entre as duas é 0,5315.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F21 · figuras/F21_dispersao_60mais.png  ·  Bloco 8. Envelhecimento</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66</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9</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Adequação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Os componentes do índice se prestam a uma análise fatorial, e quantos fatores ela sustenta?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T19 · T20 · T21 · T22 · F22 · F23</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KMO de 0,7994: os componentes se prestam à análise fatorial</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486400" cy="914400"/>
        </p:xfrm>
        <a:graphic>
          <a:graphicData uri="http://schemas.openxmlformats.org/drawingml/2006/table">
            <a:tbl>
              <a:tblPr/>
              <a:tblGrid>
                <a:gridCol w="3840480"/>
                <a:gridCol w="16459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setores (n)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variáveis (p)</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KMO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Bartlett qui-quadrado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11.630,8301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Bartlett graus de liberdade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determinante de 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fatores pelo critério de Kaiser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fatores pela análise paralela de Horn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variância explicada por 2 fatores (%)</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63,0579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As medidas de adequação da matriz de correlação dos componentes do índice, na amostra do índice.</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KMO 0,7994, com 3.499 setores; Kaiser retém 3 fatores e Horn, 2; 2 fatores explicam 63,1% da variância.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T19 · tabelas/T19_adequacao_fatorial.csv  ·  Bloco 9. Adequação fatorial</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Água inadequada tem a menor adequação individual (MSA 0,5307)</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03720" cy="914400"/>
        </p:xfrm>
        <a:graphic>
          <a:graphicData uri="http://schemas.openxmlformats.org/drawingml/2006/table">
            <a:tbl>
              <a:tblPr/>
              <a:tblGrid>
                <a:gridCol w="1737360"/>
                <a:gridCol w="822960"/>
                <a:gridCol w="868680"/>
                <a:gridCol w="868680"/>
                <a:gridCol w="868680"/>
                <a:gridCol w="868680"/>
                <a:gridCol w="8686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Comunal.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Padrão F1</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Padrão F2</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Estrut. F1</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Estrut. F2</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0,5777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0,6635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0,8739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0,8705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0,6413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componente: MSA, comunalidades e as cargas em cada fator, sem rotação, na Varimax e na promax (padrão e estrutura).</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Menor MSA: Água inadequada (0,5307). Menor comunalidade (promax): Banheiro graduado (0,0182).</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T20 · tabelas/T20_variaveis_cargas.csv  ·  Bloco 9. Adequação fatorial</a:t>
            </a:r>
            <a:endParaRPr lang="en-US" sz="9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segundo autovalor (1,1624) fica acima da linha de Horn (1,0374)</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486400" cy="914400"/>
        </p:xfrm>
        <a:graphic>
          <a:graphicData uri="http://schemas.openxmlformats.org/drawingml/2006/table">
            <a:tbl>
              <a:tblPr/>
              <a:tblGrid>
                <a:gridCol w="1097280"/>
                <a:gridCol w="1097280"/>
                <a:gridCol w="109728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Autovalor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Horn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variância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acumulada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3,2517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1,0641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1,1624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0,6799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0,9617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componente por linha: autovalor, valor de referência da análise paralela de Horn e variância explicada, simples e acumulada.</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Primeiro autovalor 3,2517, segundo 1,1624 (Horn: 1,0374); os dois primeiros explicam 63,1% da variância.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T21 · tabelas/T21_autovalores.csv  ·  Bloco 9. Adequação fatorial</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dois fatores da promax se correlacionam em 0,2393</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3291840" cy="914400"/>
        </p:xfrm>
        <a:graphic>
          <a:graphicData uri="http://schemas.openxmlformats.org/drawingml/2006/table">
            <a:tbl>
              <a:tblPr/>
              <a:tblGrid>
                <a:gridCol w="109728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Fator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F1</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F2</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Φ: a correlação entre os fatores depois da rotação promax.</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correlação entre F1 e F2 é 0,2393.</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T22 · tabelas/T22_phi.csv  ·  Bloco 9. Adequação fatorial</a:t>
            </a:r>
            <a:endParaRPr lang="en-US" sz="9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Gráfico de sedimentação: dois componentes acima do acaso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22_sedimentacao_horn.png">    </p:cNvPr>
          <p:cNvPicPr>
            <a:picLocks noChangeAspect="1"/>
          </p:cNvPicPr>
          <p:nvPr/>
        </p:nvPicPr>
        <p:blipFill>
          <a:blip r:embed="rId1"/>
          <a:stretch>
            <a:fillRect/>
          </a:stretch>
        </p:blipFill>
        <p:spPr>
          <a:xfrm>
            <a:off x="777240" y="1243584"/>
            <a:ext cx="7452360" cy="449429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Linha cheia: autovalores em ordem decrescente. Tracejada: o que dados aleatórios produziriam (Horn). Pontilhada: o critério de Kaiser (autovalor 1).</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segundo autovalor é 1,1624, contra 1,0374 da linha de Horn.</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F22 · figuras/F22_sedimentacao_horn.png  ·  Bloco 9. Adequação fatorial</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Renda (invertida) define F1 e Água inadequada define F2</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23_mapa_cargas.png">    </p:cNvPr>
          <p:cNvPicPr>
            <a:picLocks noChangeAspect="1"/>
          </p:cNvPicPr>
          <p:nvPr/>
        </p:nvPicPr>
        <p:blipFill>
          <a:blip r:embed="rId1"/>
          <a:stretch>
            <a:fillRect/>
          </a:stretch>
        </p:blipFill>
        <p:spPr>
          <a:xfrm>
            <a:off x="1736483" y="1243584"/>
            <a:ext cx="5533875"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seta é um componente; a ponta fica nas cargas padrão da promax em F1 (horizontal) e F2 (vertical). O círculo marca carga 1.</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Maior carga em F1: Renda (invertida) (0,9411); em F2: Água inadequada (0,8934).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F23 · figuras/F23_mapa_cargas.png  ·  Bloco 9. Adequação fatorial</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73</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10</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O índice da versão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fica o índice, e ele separa os setores de favela?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T23 · T24 · T25 · T26 · T27 · F24 · F25</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Água inadequada tem o maior peso no índice (25,5%)</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178040" cy="914400"/>
        </p:xfrm>
        <a:graphic>
          <a:graphicData uri="http://schemas.openxmlformats.org/drawingml/2006/table">
            <a:tbl>
              <a:tblPr/>
              <a:tblGrid>
                <a:gridCol w="1828800"/>
                <a:gridCol w="2011680"/>
                <a:gridCol w="868680"/>
                <a:gridCol w="1280160"/>
                <a:gridCol w="118872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Carga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da dimensão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no índice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0,6635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componente: a dimensão em que ele carrega mais, a carga, o peso da dimensão e o peso final no índice (em %).</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peso é o de Água inadequada (25,5%); a dimensão F1 (socioeconômica) pesa 60,0%.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T23 · tabelas/T23_pesos.csv  ·  Bloco 10. O índice da versão</a:t>
            </a:r>
            <a:endParaRPr lang="en-US" sz="9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índice tem mediana 0,3346 e P90 0,3879, em 3.499 setores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537960" cy="914400"/>
        </p:xfrm>
        <a:graphic>
          <a:graphicData uri="http://schemas.openxmlformats.org/drawingml/2006/table">
            <a:tbl>
              <a:tblPr/>
              <a:tblGrid>
                <a:gridCol w="1463040"/>
                <a:gridCol w="914400"/>
                <a:gridCol w="822960"/>
                <a:gridCol w="822960"/>
                <a:gridCol w="822960"/>
                <a:gridCol w="868680"/>
                <a:gridCol w="82296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Escopo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Descritivas do índice para o total e por região. Como o índice é normalizado dentro de cada município, todo município tem mínimo 0 e máximo 1.</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3.499 setores; mediana 0,3346; percentil 90 0,3879.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T24 · tabelas/T24_indice_descritivas.csv  ·  Bloco 10. O índice da versão</a:t>
            </a:r>
            <a:endParaRPr lang="en-US" sz="9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Pela regra do IVS-BH, 3,6% dos setores ficam em vulnerabilidade muito elevada</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4937760" cy="914400"/>
        </p:xfrm>
        <a:graphic>
          <a:graphicData uri="http://schemas.openxmlformats.org/drawingml/2006/table">
            <a:tbl>
              <a:tblPr/>
              <a:tblGrid>
                <a:gridCol w="1280160"/>
                <a:gridCol w="1645920"/>
                <a:gridCol w="109728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Regra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Quantos setores ficam em cada faixa, pelas duas regras: a do IVS-BH (média e desvio-padrão do município) e a dos quartis do município.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IVS-BH: 28,0% baixo e 3,6% muito elevado. Quartis: 25,0% muito elevado.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T25 · tabelas/T25_faixas.csv  ·  Bloco 10. O índice da versão</a:t>
            </a: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AUC municipal de 0,9172: o índice separa as favelas — versão não elegível</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675120" cy="914400"/>
        </p:xfrm>
        <a:graphic>
          <a:graphicData uri="http://schemas.openxmlformats.org/drawingml/2006/table">
            <a:tbl>
              <a:tblPr/>
              <a:tblGrid>
                <a:gridCol w="3200400"/>
                <a:gridCol w="1097280"/>
                <a:gridCol w="23774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Detalhe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AUC global contra FCU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AUC municipal (mediana)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municípios na AUC municipal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ao menos 30 setores de FCU e fora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peso da dimensão F1 (socioeconômica) (%)</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KMO ≥ 0,70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MSA ≥ 0,50 em todas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comunalidade mínima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comunalidade ≥ 0,30 em todas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maior carga mínima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carga ≥ 0,40 em todas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elegível pelos critérios do NB05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AUC global e municipal, peso da dimensão socioeconômica e os critérios de elegibilidade do NB05, um por linha (1 = atende).</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AUC global 0,9172; mediana da AUC municipal 0,9172, em 1 municípios. Pelos critérios do NB05, a versão é não elegível.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T26 · tabelas/T26_auc_e_elegibilidade.csv  ·  Bloco 10. O índice da versão</a:t>
            </a:r>
            <a:endParaRPr lang="en-US" sz="9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AUC vai de 0,9172 (Belo Horizonte) a 0,9172 (Belo Horizonte) entre os municípios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669280" cy="914400"/>
        </p:xfrm>
        <a:graphic>
          <a:graphicData uri="http://schemas.openxmlformats.org/drawingml/2006/table">
            <a:tbl>
              <a:tblPr/>
              <a:tblGrid>
                <a:gridCol w="2560320"/>
                <a:gridCol w="91440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(entra na 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fora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180174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AUC, setores de FCU (n1) e fora (n0) e se o município entra na mediana.</a:t>
            </a:r>
            <a:endParaRPr lang="en-US" sz="1250" dirty="0"/>
          </a:p>
        </p:txBody>
      </p:sp>
      <p:sp>
        <p:nvSpPr>
          <p:cNvPr id="8" name="Shape 5"/>
          <p:cNvSpPr/>
          <p:nvPr/>
        </p:nvSpPr>
        <p:spPr>
          <a:xfrm>
            <a:off x="8549640" y="2366010"/>
            <a:ext cx="822960" cy="0"/>
          </a:xfrm>
          <a:prstGeom prst="line">
            <a:avLst/>
          </a:prstGeom>
          <a:noFill/>
          <a:ln w="15875">
            <a:solidFill>
              <a:srgbClr val="8C2F27"/>
            </a:solidFill>
            <a:prstDash val="solid"/>
          </a:ln>
        </p:spPr>
      </p:sp>
      <p:sp>
        <p:nvSpPr>
          <p:cNvPr id="9" name="Text 6"/>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municípios que entram na mediana, a maior AUC é a de Belo Horizonte (0,9172) e a menor, a de Belo Horizonte (0,9172).</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T27 · tabelas/T27_auc_por_municipio.csv  ·  Bloco 10. O índice da versão</a:t>
            </a:r>
            <a:endParaRPr lang="en-US" sz="9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distribuição do índice e as faixas do IVS-BH</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24_histograma_por_faixa.png">    </p:cNvPr>
          <p:cNvPicPr>
            <a:picLocks noChangeAspect="1"/>
          </p:cNvPicPr>
          <p:nvPr/>
        </p:nvPicPr>
        <p:blipFill>
          <a:blip r:embed="rId1"/>
          <a:stretch>
            <a:fillRect/>
          </a:stretch>
        </p:blipFill>
        <p:spPr>
          <a:xfrm>
            <a:off x="777240" y="1243584"/>
            <a:ext cx="7452360" cy="4382045"/>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Histograma do índice, com cada barra dividida pela faixa dos setores (regra do IVS-BH).</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28,0% dos setores ficam em baixo e 3,6% em muito elevado.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F24 · figuras/F24_histograma_por_faixa.png  ·  Bloco 10. O índice da versão</a:t>
            </a:r>
            <a:endParaRPr lang="en-US" sz="9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Curva ROC do índice contra as favelas (AUC global 0,9172)</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25_curva_roc.png">    </p:cNvPr>
          <p:cNvPicPr>
            <a:picLocks noChangeAspect="1"/>
          </p:cNvPicPr>
          <p:nvPr/>
        </p:nvPicPr>
        <p:blipFill>
          <a:blip r:embed="rId1"/>
          <a:stretch>
            <a:fillRect/>
          </a:stretch>
        </p:blipFill>
        <p:spPr>
          <a:xfrm>
            <a:off x="2074602" y="1243584"/>
            <a:ext cx="4857636"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ponto da curva é um corte do índice: no eixo vertical, a proporção de setores de FCU acima do corte; no horizontal, a dos setores de fora. A diagonal é o acaso.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Área sob a curva: 0,9172 (global); a mediana municipal é 0,9172.</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F25 · figuras/F25_curva_roc.png  ·  Bloco 10. O índice da versão</a:t>
            </a:r>
            <a:endParaRPr lang="en-US" sz="9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81</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Quem está em risco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Quantas pessoas, e quantas pessoas idosas, vivem em cada faixa?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T28 · T29 · F26</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82</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Belo Horizonte tem a maior parte dos moradores em vulnerabilidade elevada ou muito elevada (26,9%)</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492240" cy="914400"/>
        </p:xfrm>
        <a:graphic>
          <a:graphicData uri="http://schemas.openxmlformats.org/drawingml/2006/table">
            <a:tbl>
              <a:tblPr/>
              <a:tblGrid>
                <a:gridCol w="2011680"/>
                <a:gridCol w="1097280"/>
                <a:gridCol w="1188720"/>
                <a:gridCol w="1097280"/>
                <a:gridCol w="109728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muito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60+ muito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elevado ou mais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389.799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44.378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194894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setores, moradores e moradores de 60+ em cada faixa (regra do IVS-BH) e o percentual de moradores nas duas faixas mais altas.</a:t>
            </a:r>
            <a:endParaRPr lang="en-US" sz="1250" dirty="0"/>
          </a:p>
        </p:txBody>
      </p:sp>
      <p:sp>
        <p:nvSpPr>
          <p:cNvPr id="8" name="Shape 5"/>
          <p:cNvSpPr/>
          <p:nvPr/>
        </p:nvSpPr>
        <p:spPr>
          <a:xfrm>
            <a:off x="8549640" y="2785110"/>
            <a:ext cx="822960" cy="0"/>
          </a:xfrm>
          <a:prstGeom prst="line">
            <a:avLst/>
          </a:prstGeom>
          <a:noFill/>
          <a:ln w="15875">
            <a:solidFill>
              <a:srgbClr val="8C2F27"/>
            </a:solidFill>
            <a:prstDash val="solid"/>
          </a:ln>
        </p:spPr>
      </p:sp>
      <p:sp>
        <p:nvSpPr>
          <p:cNvPr id="9" name="Text 6"/>
          <p:cNvSpPr/>
          <p:nvPr/>
        </p:nvSpPr>
        <p:spPr>
          <a:xfrm>
            <a:off x="8549640" y="28399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Maior percentual em elevado ou muito elevado: Belo Horizonte (26,9%); menor: Belo Horizonte (26,9%).</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T28 · tabelas/T28_risco_por_municipio.csv  ·  Bloco 11. Quem está em risco</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44.378 pessoas vivem em setores de vulnerabilidade muito elevada</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492240" cy="914400"/>
        </p:xfrm>
        <a:graphic>
          <a:graphicData uri="http://schemas.openxmlformats.org/drawingml/2006/table">
            <a:tbl>
              <a:tblPr/>
              <a:tblGrid>
                <a:gridCol w="1463040"/>
                <a:gridCol w="914400"/>
                <a:gridCol w="1097280"/>
                <a:gridCol w="1097280"/>
                <a:gridCol w="91440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pessoas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pessoas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401.091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99.896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156.003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389.799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54.462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44.378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faixa: setores, moradores e moradores de 60+, com os percentuais.</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faixa muito elevada: 44.378 pessoas (2,8% do total), das quais 4.332 com 60 anos ou mais.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T29 · tabelas/T29_risco_total.csv  ·  Bloco 11. Quem está em risco</a:t>
            </a:r>
            <a:endParaRPr lang="en-US" sz="9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parcela de moradores em cada faixa muda de município para município</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26_risco_por_municipio.png">    </p:cNvPr>
          <p:cNvPicPr>
            <a:picLocks noChangeAspect="1"/>
          </p:cNvPicPr>
          <p:nvPr/>
        </p:nvPicPr>
        <p:blipFill>
          <a:blip r:embed="rId1"/>
          <a:stretch>
            <a:fillRect/>
          </a:stretch>
        </p:blipFill>
        <p:spPr>
          <a:xfrm>
            <a:off x="777240" y="1243584"/>
            <a:ext cx="7452360" cy="1958240"/>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barra por município, dividida pelas faixas do índice; o comprimento de cada parte é o percentual de moradores. Ordem: do maior para o menor percentual nas duas faixas mais altas.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Belo Horizonte (26,9% em elevado ou muito elevado); na base, Belo Horizonte (26,9%).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F26 · figuras/F26_risco_por_municipio.png  ·  Bloco 11. Quem está em risco</a:t>
            </a:r>
            <a:endParaRPr lang="en-US" sz="9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85</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Desigualdade interna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Em que municípios o índice varia mais de um setor para outro?</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T30 · F27</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Belo Horizonte tem a maior desigualdade interna do índice (Gini 0,0978)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720840" cy="914400"/>
        </p:xfrm>
        <a:graphic>
          <a:graphicData uri="http://schemas.openxmlformats.org/drawingml/2006/table">
            <a:tbl>
              <a:tblPr/>
              <a:tblGrid>
                <a:gridCol w="2011680"/>
                <a:gridCol w="777240"/>
                <a:gridCol w="777240"/>
                <a:gridCol w="777240"/>
                <a:gridCol w="822960"/>
                <a:gridCol w="777240"/>
                <a:gridCol w="7772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Gini</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Theil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180174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setores, média, percentis 10 e 90 do índice, a razão P90/P10, o Gini e o Theil.</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Maior Gini: Belo Horizonte (0,0978); menor: Belo Horizonte (0,0978).</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T30 · tabelas/T30_desigualdade_interna.csv  ·  Bloco 12. Desigualdade interna</a:t>
            </a:r>
            <a:endParaRPr lang="en-US" sz="9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desigualdade interna do índice, município por município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27_desigualdade_interna.png">    </p:cNvPr>
          <p:cNvPicPr>
            <a:picLocks noChangeAspect="1"/>
          </p:cNvPicPr>
          <p:nvPr/>
        </p:nvPicPr>
        <p:blipFill>
          <a:blip r:embed="rId1"/>
          <a:stretch>
            <a:fillRect/>
          </a:stretch>
        </p:blipFill>
        <p:spPr>
          <a:xfrm>
            <a:off x="777240" y="1243584"/>
            <a:ext cx="7452360" cy="193435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Barras: Gini do índice dentro de cada município, do maior para o menor. Pontos: Theil.</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Do maior Gini, Belo Horizonte (0,0978), ao menor, Belo Horizonte (0,0978).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F27 · figuras/F27_desigualdade_interna.png  ·  Bloco 12. Desigualdade interna</a:t>
            </a:r>
            <a:endParaRPr lang="en-US" sz="9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88</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13</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Comparação com a referência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esta versão muda em relação à referência proposta do NB05?</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T31 · T32 · T33 · F28 · F29</a:t>
            </a:r>
            <a:endParaRPr lang="en-US" sz="1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correlação de postos com a referência é 0,9978</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120640" cy="914400"/>
        </p:xfrm>
        <a:graphic>
          <a:graphicData uri="http://schemas.openxmlformats.org/drawingml/2006/table">
            <a:tbl>
              <a:tblPr/>
              <a:tblGrid>
                <a:gridCol w="2560320"/>
                <a:gridCol w="1280160"/>
                <a:gridCol w="128016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Escopo (menores ρ)</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comuns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ρ de 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204812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Correlação de Spearman entre o índice desta versão e o da referência, nos setores que estão nas duas amostras: total e por município.</a:t>
            </a:r>
            <a:endParaRPr lang="en-US" sz="1250" dirty="0"/>
          </a:p>
        </p:txBody>
      </p:sp>
      <p:sp>
        <p:nvSpPr>
          <p:cNvPr id="8" name="Shape 5"/>
          <p:cNvSpPr/>
          <p:nvPr/>
        </p:nvSpPr>
        <p:spPr>
          <a:xfrm>
            <a:off x="8549640" y="2785110"/>
            <a:ext cx="822960" cy="0"/>
          </a:xfrm>
          <a:prstGeom prst="line">
            <a:avLst/>
          </a:prstGeom>
          <a:noFill/>
          <a:ln w="15875">
            <a:solidFill>
              <a:srgbClr val="8C2F27"/>
            </a:solidFill>
            <a:prstDash val="solid"/>
          </a:ln>
        </p:spPr>
      </p:sp>
      <p:sp>
        <p:nvSpPr>
          <p:cNvPr id="9" name="Text 6"/>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Total: ρ = 0,9978. Menor correlação municipal: Belo Horizonte (0,9978).</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T31 · tabelas/T31_spearman_com_referencia.csv  ·  Bloco 13. Comparação com a referência</a:t>
            </a:r>
            <a:endParaRPr lang="en-US" sz="9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maior troca de faixa é de elevado para medio (116 setores)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217920" cy="914400"/>
        </p:xfrm>
        <a:graphic>
          <a:graphicData uri="http://schemas.openxmlformats.org/drawingml/2006/table">
            <a:tbl>
              <a:tblPr/>
              <a:tblGrid>
                <a:gridCol w="219456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Referência ↓ · versão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baixo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muito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linha é um par (faixa na referência, faixa nesta versão), com o número de setores e o percentual do total.</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Fora da diagonal, a maior célula é de elevado para medio, com 116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T32 · tabelas/T32_matriz_de_faixas.csv  ·  Bloco 13. Comparação com a referência</a:t>
            </a:r>
            <a:endParaRPr lang="en-US" sz="9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5,3% dos setores mudam de faixa em relação à referência</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943600" cy="914400"/>
        </p:xfrm>
        <a:graphic>
          <a:graphicData uri="http://schemas.openxmlformats.org/drawingml/2006/table">
            <a:tbl>
              <a:tblPr/>
              <a:tblGrid>
                <a:gridCol w="2560320"/>
                <a:gridCol w="1188720"/>
                <a:gridCol w="118872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comuns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Mudam de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que muda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204812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primeira linha é o total; as demais, os municípios, do mais afetado para o menos: setores comuns, setores que mudam de faixa e o percentual.</a:t>
            </a:r>
            <a:endParaRPr lang="en-US" sz="1250" dirty="0"/>
          </a:p>
        </p:txBody>
      </p:sp>
      <p:sp>
        <p:nvSpPr>
          <p:cNvPr id="8" name="Shape 5"/>
          <p:cNvSpPr/>
          <p:nvPr/>
        </p:nvSpPr>
        <p:spPr>
          <a:xfrm>
            <a:off x="8549640" y="2785110"/>
            <a:ext cx="822960" cy="0"/>
          </a:xfrm>
          <a:prstGeom prst="line">
            <a:avLst/>
          </a:prstGeom>
          <a:noFill/>
          <a:ln w="15875">
            <a:solidFill>
              <a:srgbClr val="8C2F27"/>
            </a:solidFill>
            <a:prstDash val="solid"/>
          </a:ln>
        </p:spPr>
      </p:sp>
      <p:sp>
        <p:nvSpPr>
          <p:cNvPr id="9" name="Text 6"/>
          <p:cNvSpPr/>
          <p:nvPr/>
        </p:nvSpPr>
        <p:spPr>
          <a:xfrm>
            <a:off x="8549640" y="28399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total, 5,3% dos setores mudam de faixa; o município mais afetado é Belo Horizonte (5,3%).</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T33 · tabelas/T33_municipios_que_mudam.csv  ·  Bloco 13. Comparação com a referência</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Matriz de faixas: referência × 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28_matriz_de_faixas.png">    </p:cNvPr>
          <p:cNvPicPr>
            <a:picLocks noChangeAspect="1"/>
          </p:cNvPicPr>
          <p:nvPr/>
        </p:nvPicPr>
        <p:blipFill>
          <a:blip r:embed="rId1"/>
          <a:stretch>
            <a:fillRect/>
          </a:stretch>
        </p:blipFill>
        <p:spPr>
          <a:xfrm>
            <a:off x="1719196" y="1243584"/>
            <a:ext cx="5568449"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Linhas: faixa na referência; colunas: faixa nesta versão; cada célula traz o número de setores.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troca fora da diagonal é de elevado para medio (116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F28 · figuras/F28_matriz_de_faixas.png  ·  Bloco 13. Comparação com a referência</a:t>
            </a:r>
            <a:endParaRPr lang="en-US" sz="9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municípios mais afetados pela mudança da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3_belo_horizonte/figuras/F29_municipios_que_mudam.png">    </p:cNvPr>
          <p:cNvPicPr>
            <a:picLocks noChangeAspect="1"/>
          </p:cNvPicPr>
          <p:nvPr/>
        </p:nvPicPr>
        <p:blipFill>
          <a:blip r:embed="rId1"/>
          <a:stretch>
            <a:fillRect/>
          </a:stretch>
        </p:blipFill>
        <p:spPr>
          <a:xfrm>
            <a:off x="777240" y="1243584"/>
            <a:ext cx="7452360" cy="1771463"/>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20 municípios com o maior percentual de setores que mudam de faixa.</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mais afetado é Belo Horizonte (5,3%); no total, 5,3%.</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F29 · figuras/F29_municipios_que_mudam.png  ·  Bloco 13. Comparação com a referência</a:t>
            </a:r>
            <a:endParaRPr lang="en-US" sz="9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Síntese da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1472184"/>
            <a:ext cx="2384298" cy="0"/>
          </a:xfrm>
          <a:prstGeom prst="line">
            <a:avLst/>
          </a:prstGeom>
          <a:noFill/>
          <a:ln w="12700">
            <a:solidFill>
              <a:srgbClr val="1A1A18"/>
            </a:solidFill>
            <a:prstDash val="solid"/>
          </a:ln>
        </p:spPr>
      </p:sp>
      <p:sp>
        <p:nvSpPr>
          <p:cNvPr id="6" name="Text 4"/>
          <p:cNvSpPr/>
          <p:nvPr/>
        </p:nvSpPr>
        <p:spPr>
          <a:xfrm>
            <a:off x="777240" y="154533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3.499</a:t>
            </a:r>
            <a:endParaRPr lang="en-US" sz="3000" dirty="0"/>
          </a:p>
        </p:txBody>
      </p:sp>
      <p:sp>
        <p:nvSpPr>
          <p:cNvPr id="7" name="Text 5"/>
          <p:cNvSpPr/>
          <p:nvPr/>
        </p:nvSpPr>
        <p:spPr>
          <a:xfrm>
            <a:off x="777240" y="213055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na amostra do índice (T01)</a:t>
            </a:r>
            <a:endParaRPr lang="en-US" sz="1050" dirty="0"/>
          </a:p>
        </p:txBody>
      </p:sp>
      <p:sp>
        <p:nvSpPr>
          <p:cNvPr id="8" name="Shape 6"/>
          <p:cNvSpPr/>
          <p:nvPr/>
        </p:nvSpPr>
        <p:spPr>
          <a:xfrm>
            <a:off x="3527298" y="1472184"/>
            <a:ext cx="2384298" cy="0"/>
          </a:xfrm>
          <a:prstGeom prst="line">
            <a:avLst/>
          </a:prstGeom>
          <a:noFill/>
          <a:ln w="12700">
            <a:solidFill>
              <a:srgbClr val="1A1A18"/>
            </a:solidFill>
            <a:prstDash val="solid"/>
          </a:ln>
        </p:spPr>
      </p:sp>
      <p:sp>
        <p:nvSpPr>
          <p:cNvPr id="9" name="Text 7"/>
          <p:cNvSpPr/>
          <p:nvPr/>
        </p:nvSpPr>
        <p:spPr>
          <a:xfrm>
            <a:off x="3527298" y="154533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0,7994</a:t>
            </a:r>
            <a:endParaRPr lang="en-US" sz="3000" dirty="0"/>
          </a:p>
        </p:txBody>
      </p:sp>
      <p:sp>
        <p:nvSpPr>
          <p:cNvPr id="10" name="Text 8"/>
          <p:cNvSpPr/>
          <p:nvPr/>
        </p:nvSpPr>
        <p:spPr>
          <a:xfrm>
            <a:off x="3527298" y="213055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KMO dos componentes (T19)</a:t>
            </a:r>
            <a:endParaRPr lang="en-US" sz="1050" dirty="0"/>
          </a:p>
        </p:txBody>
      </p:sp>
      <p:sp>
        <p:nvSpPr>
          <p:cNvPr id="11" name="Shape 9"/>
          <p:cNvSpPr/>
          <p:nvPr/>
        </p:nvSpPr>
        <p:spPr>
          <a:xfrm>
            <a:off x="6277356" y="1472184"/>
            <a:ext cx="2384298" cy="0"/>
          </a:xfrm>
          <a:prstGeom prst="line">
            <a:avLst/>
          </a:prstGeom>
          <a:noFill/>
          <a:ln w="12700">
            <a:solidFill>
              <a:srgbClr val="1A1A18"/>
            </a:solidFill>
            <a:prstDash val="solid"/>
          </a:ln>
        </p:spPr>
      </p:sp>
      <p:sp>
        <p:nvSpPr>
          <p:cNvPr id="12" name="Text 10"/>
          <p:cNvSpPr/>
          <p:nvPr/>
        </p:nvSpPr>
        <p:spPr>
          <a:xfrm>
            <a:off x="6277356" y="154533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0,9172</a:t>
            </a:r>
            <a:endParaRPr lang="en-US" sz="3000" dirty="0"/>
          </a:p>
        </p:txBody>
      </p:sp>
      <p:sp>
        <p:nvSpPr>
          <p:cNvPr id="13" name="Text 11"/>
          <p:cNvSpPr/>
          <p:nvPr/>
        </p:nvSpPr>
        <p:spPr>
          <a:xfrm>
            <a:off x="6277356" y="213055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AUC municipal contra FCU (mediana) (T26)</a:t>
            </a:r>
            <a:endParaRPr lang="en-US" sz="1050" dirty="0"/>
          </a:p>
        </p:txBody>
      </p:sp>
      <p:sp>
        <p:nvSpPr>
          <p:cNvPr id="14" name="Shape 12"/>
          <p:cNvSpPr/>
          <p:nvPr/>
        </p:nvSpPr>
        <p:spPr>
          <a:xfrm>
            <a:off x="9027414" y="1472184"/>
            <a:ext cx="2384298" cy="0"/>
          </a:xfrm>
          <a:prstGeom prst="line">
            <a:avLst/>
          </a:prstGeom>
          <a:noFill/>
          <a:ln w="12700">
            <a:solidFill>
              <a:srgbClr val="8C2F27"/>
            </a:solidFill>
            <a:prstDash val="solid"/>
          </a:ln>
        </p:spPr>
      </p:sp>
      <p:sp>
        <p:nvSpPr>
          <p:cNvPr id="15" name="Text 13"/>
          <p:cNvSpPr/>
          <p:nvPr/>
        </p:nvSpPr>
        <p:spPr>
          <a:xfrm>
            <a:off x="9027414" y="1545336"/>
            <a:ext cx="2384298" cy="566928"/>
          </a:xfrm>
          <a:prstGeom prst="rect">
            <a:avLst/>
          </a:prstGeom>
          <a:noFill/>
          <a:ln/>
        </p:spPr>
        <p:txBody>
          <a:bodyPr wrap="square" lIns="0" tIns="0" rIns="0" bIns="0" rtlCol="0" anchor="ctr"/>
          <a:lstStyle/>
          <a:p>
            <a:pPr indent="0" marL="0">
              <a:buNone/>
            </a:pPr>
            <a:r>
              <a:rPr lang="en-US" sz="3000" b="1" dirty="0">
                <a:solidFill>
                  <a:srgbClr val="8C2F27"/>
                </a:solidFill>
                <a:latin typeface="Cambria" pitchFamily="34" charset="0"/>
                <a:ea typeface="Cambria" pitchFamily="34" charset="-122"/>
                <a:cs typeface="Cambria" pitchFamily="34" charset="-120"/>
              </a:rPr>
              <a:t>5,3%</a:t>
            </a:r>
            <a:endParaRPr lang="en-US" sz="3000" dirty="0"/>
          </a:p>
        </p:txBody>
      </p:sp>
      <p:sp>
        <p:nvSpPr>
          <p:cNvPr id="16" name="Text 14"/>
          <p:cNvSpPr/>
          <p:nvPr/>
        </p:nvSpPr>
        <p:spPr>
          <a:xfrm>
            <a:off x="9027414" y="213055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que mudam de faixa em relação à referência (T33)</a:t>
            </a:r>
            <a:endParaRPr lang="en-US" sz="1050" dirty="0"/>
          </a:p>
        </p:txBody>
      </p:sp>
      <p:sp>
        <p:nvSpPr>
          <p:cNvPr id="17" name="Shape 15"/>
          <p:cNvSpPr/>
          <p:nvPr/>
        </p:nvSpPr>
        <p:spPr>
          <a:xfrm>
            <a:off x="777240" y="2926080"/>
            <a:ext cx="822960" cy="0"/>
          </a:xfrm>
          <a:prstGeom prst="line">
            <a:avLst/>
          </a:prstGeom>
          <a:noFill/>
          <a:ln w="15875">
            <a:solidFill>
              <a:srgbClr val="8C2F27"/>
            </a:solidFill>
            <a:prstDash val="solid"/>
          </a:ln>
        </p:spPr>
      </p:sp>
      <p:sp>
        <p:nvSpPr>
          <p:cNvPr id="18" name="Text 16"/>
          <p:cNvSpPr/>
          <p:nvPr/>
        </p:nvSpPr>
        <p:spPr>
          <a:xfrm>
            <a:off x="777240" y="2980944"/>
            <a:ext cx="10634472" cy="3054096"/>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esta versão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Belo Horizonte o índice ordena os setores quase como a referência e separa as favelas com mais força do que no conjunto dos municípios. Mas a versão não é elegível pelos critérios do NB05: o banheiro graduado quase não varia na cidade, fica com comunalidade e carga muito baixas e não pertence a nenhum dos dois fatores. O critério de Kaiser pede três fatores, e a análise paralela de Horn, dois. A falha fica registrada como falha; nada foi retirado da versão.</a:t>
            </a:r>
            <a:endParaRPr lang="en-US" sz="12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3.499 setores chegam ao índice, de 5.166 na base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Do recorte ao índice, 1.614 setores saem por falta de algum componente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é o indicador com mais faltantes (22,5% dos setores)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Banheiro de uso comum é o indicador mais assimétrico (assimetria 61,52)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a mediana vai de 3.060,31 (Sudeste) a 3.060,31 (Sudeste)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entre os municípios, a mediana vai de 3.060,31 a 3.060,31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Banheiro de uso comum tem a distribuição mais assimétrica (assimetria 61,52)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Água inadequada tem mediana de 0,0000 no Sudeste e 0,0000 no Sudeste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Renda média tem a distribuição mais assimétrica (assimetria 11,11)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Razão de moradores tem mediana de 2,6353 no Sudeste e 2,6353 no Sudeste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Domicílio improvisado tem a distribuição mais assimétrica (assimetria 30,73)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Domicílio improvisado tem mediana de 0,0000 no Sudeste e 0,0000 no Sudeste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Índice de envelhecimento tem a distribuição mais assimétrica (assimetria 4,48)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Crianças 0–4 tem mediana de 0,0457 no Sudeste e 0,0457 no Sudeste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1 de 4</a:t>
            </a:r>
            <a:endParaRPr lang="en-US" sz="9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maior percentual de faltantes é o de Analfabetismo 15+ em Belo Horizonte (22,5%)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faltantes se concentram em poucos indicadores e municípios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analfabetismo falta em 33,2% dos menores setores e em 10,2% dos maiores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falta de dados depende do tamanho do setor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convencional tem a maior proporção de extremos (7,7%)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Belo Horizonte concentra o maior número de marcações de extremo (921)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setores mais distantes da mediana, indicador por indicador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 setores têm renda suspeita e 60 têm renda extrema coerente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proporção de extremos varia muito de um indicador para outro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e Renda sem o extremo formam o par mais correlacionado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Na correlação linear, o par mais forte é Renda média × Renda sem o extremo (r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par mais redundante é Renda sem o extremo × Renda (mediana mun.)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indicadores formam grupos de correlação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Entre as variáveis das demandas e os componentes do índice, o par mais forte é Lixo inadequado × Esgoto inadequado (ρ = 0,3238)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o par mais correlacionado é Sem banheiro × Banheiro graduado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o par mais correlacionado é Renda média × Renda sem o extremo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2 de 4</a:t>
            </a:r>
            <a:endParaRPr lang="en-US" sz="9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o par mais correlacionado é Habitação precária × Moradia não convencional (ρ = 0,9824)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o par mais correlacionado é Pessoas 60+ × Dependência idosa (ρ = 0,9945)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dendrograma junta os indicadores que medem coisas parecidas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Cor/raça PPI é o indicador que mais separa as favelas (AUC 0,9205)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indicadores separam as favelas com força muito diferente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faixa de 30–39 anos concentra a maior parte da população (15,5%)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estrutura etária muda de região para região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mediana de pessoas 60+ por setor vai de 0,2000 (Sudeste) a 0,2000 (Sudeste)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percentual de pessoas 60+ se relaciona mais com População 0–14 (ρ = -0,7909)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Pessoas 60+ e renda média: ρ = 0,5315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KMO de 0,7994: os componentes se prestam à análise fatorial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 tem a menor adequação individual (MSA 0,5307)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segundo autovalor (1,1624) fica acima da linha de Horn (1,0374)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dois fatores da promax se correlacionam em 0,2393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Gráfico de sedimentação: dois componentes acima do acaso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(invertida) define F1 e Água inadequada define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 tem o maior peso no índice (25,5%)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3 de 4</a:t>
            </a:r>
            <a:endParaRPr lang="en-US" sz="9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índice tem mediana 0,3346 e P90 0,3879, em 3.499 setores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Pela regra do IVS-BH, 3,6% dos setores ficam em vulnerabilidade muito elevada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AUC municipal de 0,9172: o índice separa as favelas — versão não elegível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AUC vai de 0,9172 (Belo Horizonte) a 0,9172 (Belo Horizonte) entre os municípios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distribuição do índice e as faixas do IVS-BH</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Curva ROC do índice contra as favelas (AUC global 0,9172)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Belo Horizonte tem a maior parte dos moradores em vulnerabilidade elevada ou muito elevada (26,9%)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44.378 pessoas vivem em setores de vulnerabilidade muito elevada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parcela de moradores em cada faixa muda de município para município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Belo Horizonte tem a maior desigualdade interna do índice (Gini 0,0978)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desigualdade interna do índice, município por município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correlação de postos com a referência é 0,9978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maior troca de faixa é de elevado para medio (116 setores)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5,3% dos setores mudam de faixa em relação à referência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Matriz de faixas: referência × esta versão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municípios mais afetados pela mudança da versão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4 de 4</a:t>
            </a:r>
            <a:endParaRPr lang="en-US" sz="9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Limitações e parâmetros exploratórios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335024"/>
            <a:ext cx="10634472" cy="4700016"/>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Com um município só, a AUC municipal é a AUC da cidade, e as tabelas por município e por região têm uma linha.</a:t>
            </a:r>
            <a:endParaRPr lang="en-US" sz="1300" dirty="0"/>
          </a:p>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O analfabetismo tem mais sigilo em Belo Horizonte do que no conjunto dos municípios, o que reduz a amostra do índice.</a:t>
            </a:r>
            <a:endParaRPr lang="en-US" sz="1300" dirty="0"/>
          </a:p>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A comparação com o IVS-BH 2012 é de método, não de valores: os setores de 2010 e de 2022 não estão compatibilizados (versão bloqueada).</a:t>
            </a:r>
            <a:endParaRPr lang="en-US" sz="1300" dirty="0"/>
          </a:p>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A amostra do índice exclui todo setor com algum componente faltante (exclusão por lista).</a:t>
            </a:r>
            <a:endParaRPr lang="en-US" sz="1300" dirty="0"/>
          </a:p>
          <a:p>
            <a:pPr marL="342900" indent="-342900">
              <a:spcAft>
                <a:spcPts val="800"/>
              </a:spcAft>
              <a:buSzPct val="100000"/>
              <a:buChar char="•"/>
            </a:pPr>
            <a:r>
              <a:rPr lang="en-US" sz="1300" i="1" dirty="0">
                <a:solidFill>
                  <a:srgbClr val="1A1A18"/>
                </a:solidFill>
                <a:latin typeface="Cambria" pitchFamily="34" charset="0"/>
                <a:ea typeface="Cambria" pitchFamily="34" charset="-122"/>
                <a:cs typeface="Cambria" pitchFamily="34" charset="-120"/>
              </a:rPr>
              <a:t>Nenhum parâmetro exploratório nesta versão.</a:t>
            </a:r>
            <a:endParaRPr lang="en-US" sz="13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Apêndice: dicionário dos indicadores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1828800"/>
                <a:gridCol w="1188720"/>
                <a:gridCol w="4206240"/>
                <a:gridCol w="1737360"/>
                <a:gridCol w="164592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O que mede</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Numerador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Denominador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533019">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abastecimento de água inadequado ou ausente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V00112 + V00113 + V00114 + V00115 + V00116 + V00117 + V00118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esgotamento sanitário inadequado ou ausente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V00312 + V00313 + V00314 + V00315 + V00316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destino do lixo inadequado ou ausente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V00398 + V00399 + V00400 + V00401 + V00402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que a água não chega encanada até dentro do domicílio (complemento de V00199; equivale a V00200+V00201 sobre 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V00199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não chega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que a água não chega encanada ao domicílio (V00201)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só no terreno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que a água chega encanada apenas ao terreno (V00200)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sem banheiro de uso exclusivo com chuveiro e vaso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V00495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 nem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sem banheiro nem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Só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apenas sanitário ou buraco para dejeções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Quadro_Indicadores.csv (entrega à orientadora)  ·  parte 1 de 3</a:t>
            </a:r>
            <a:endParaRPr lang="en-US" sz="9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Apêndice: dicionário dos indicadores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1828800"/>
                <a:gridCol w="1188720"/>
                <a:gridCol w="4206240"/>
                <a:gridCol w="1737360"/>
                <a:gridCol w="164592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O que mede</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Numerador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Denominador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Banheiro de uso comum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apenas banheiro de uso comum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33019">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Falta de banheiro graduada: 1 ponto para banheiro só de uso comum, 2 para só sanitário, 3 para nem banheiro nem sanitário, sobre 3 vezes os domicílios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V00236 + 2·V00237 + 3·V00238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 por domicílio (reproduz o V0005 do IBGE)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V00005 + V00006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 + 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Taxa de analfabetismo entre pessoas de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V00901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V00900 + V00901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Rendimento nominal médio mensal das pessoas responsáveis (R$)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V06004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Cor/raça PPI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de cor/raça 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V01318 + V01320 + V01321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Responsável mulher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pessoa responsável do sexo feminino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V01062 + V01063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sem o extremo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dos responsáveis sem o valor extremo de Belo Horizonte (R$ 170.418,06), que vira faltante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V06004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(mediana mun.)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dos responsáveis com o valor extremo trocado pela mediana do município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V06004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Domicílio improvisado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particulares improvisados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 + 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33019">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Habitação precária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habitação precária (cortiço, estrutura degradada, improvisados)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V00050 + V00052 + V00053 + V00054 + V00055 + V00056 + V00057 + V00058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 + 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Quadro_Indicadores.csv (entrega à orientadora)  ·  parte 2 de 3</a:t>
            </a:r>
            <a:endParaRPr lang="en-US" sz="9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Apêndice: dicionário dos indicadores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1828800"/>
                <a:gridCol w="1188720"/>
                <a:gridCol w="4206240"/>
                <a:gridCol w="1737360"/>
                <a:gridCol w="164592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O que mede</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Numerador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Denominador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moradias convencionais (casa, casa de vila/condomínio, apartamento)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V00047 + V00048 + V00049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moradias não convencionais (cortiço, maloca, estrutura degradada)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V00050 + V00051 + V00052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Apartamento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do tipo apartamento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do tipo casa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Casa de vila/condomínio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do tipo casa de vila ou em condomínio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crianças de 0 a 4 anos na população residente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População 0–14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com menos de 15 anos na população residente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V01031 + V01032 + V01033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Pessoas 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de 60 anos ou mais na população residente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Índice de Envelhecimento Populacional: 60+ por 100 menores de 15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V01031 + V01032 + V01033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Dependência idosa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Dependência de Idosos: 60+ por 100 pessoas de 15 a 59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V01034 + V01035 + V01036 + V01037 + V01038 + V01039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70+ entre 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de 70+ entre os de 60+ (proxy de longevidade; NÃO é o LI, que exigiria a faixa 75+, inexistente nos agregados por setor)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Quadro_Indicadores.csv (entrega à orientadora)  ·  parte 3 de 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102</Slides>
  <Notes>102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102</vt:i4>
      </vt:variant>
    </vt:vector>
  </HeadingPairs>
  <TitlesOfParts>
    <vt:vector size="10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A3_belo_horizonte — Belo Horizonte</dc:title>
  <dc:subject>PptxGenJS Presentation</dc:subject>
  <dc:creator>Pedro Dias Soares</dc:creator>
  <cp:lastModifiedBy>Pedro Dias Soares</cp:lastModifiedBy>
  <cp:revision>1</cp:revision>
  <dcterms:created xsi:type="dcterms:W3CDTF">2026-10-22T23:35:08Z</dcterms:created>
  <dcterms:modified xsi:type="dcterms:W3CDTF">2026-10-22T23:35:08Z</dcterms:modified>
</cp:coreProperties>
</file>