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</p:sldIdLst>
  <p:notesMasterIdLst>
    <p:notesMasterId r:id="rId9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notesMaster" Target="notesMasters/notesMaster1.xml"/><Relationship Id="rId100" Type="http://schemas.openxmlformats.org/officeDocument/2006/relationships/presProps" Target="presProps.xml"/><Relationship Id="rId101" Type="http://schemas.openxmlformats.org/officeDocument/2006/relationships/viewProps" Target="viewProps.xml"/><Relationship Id="rId102" Type="http://schemas.openxmlformats.org/officeDocument/2006/relationships/theme" Target="theme/theme1.xml"/><Relationship Id="rId10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ficam os dados e o IVS quando a análise é só de Belo Horizonte, a cidade do IVS-BH 2012?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base: em vez dos 70 municípios, a base própria de Belo Horizonte da entrega à orientadora. A fatorial, os pesos e as faixas passam a ser calculados só com os setores da cidade; componentes, rotação, pesos 60/40 e normalização são os da referência.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funil mostra o caminho dos setores. A base completa inclui setores rurais e setores sem dados divulgados. O recorte da versão é o conjunto sobre o qual são calculadas as descritivas, as distribuições e as correlações. A amostra do índice é menor, porque a análise fatorial exige que o setor tenha todos os componentes preenchidos (exclusão por lista: basta faltar um componente para o setor sair). Essa diferença de amostra é importante quando se comparam números de blocos diferentes.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qualquer número, é preciso saber sobre quais setores ele foi calculado. Este bloco segue o caminho dos setores desde a base completa até a amostra do índice: cada filtro tira alguns, e o motivo de cada saída fica registrado. Também mostra, indicador por indicador, quantos setores não têm valor — porque um indicador com muitos faltantes muda a amostra de qualquer análise que o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funil mostra o caminho dos setores. A base completa inclui setores rurais e setores sem dados divulgados. O recorte da versão é o conjunto sobre o qual são calculadas as descritivas, as distribuições e as correlações. A amostra do índice é menor, porque a análise fatorial exige que o setor tenha todos os componentes preenchidos (exclusão por lista: basta faltar um componente para o setor sair). Essa diferença de amostra é importante quando se comparam números de blocos diferentes.
Como ler: Cada linha é um filtro, na ordem em que é aplicado: quantos setores ficam, quantos saem e por quê.
O que mostra: A base tem 5.166 setores; 5.113 ficam no recorte da versão e 3.499 têm todos os componentes do índice (1.614 saem nesta última etapa).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 a mesma informação da tabela do funil, em forma de barras. A queda entre o recorte e a amostra do índice é quase toda causada pelos indicadores com sigilo (renda e analfabetismo) e pelas partes do banheiro graduado, como mostra a tabela de perdas por indicador.
Como ler: Cada barra é uma etapa do funil; o comprimento é o número de setores que ainda estão dentro.
O que mostra: A barra final (3.499 setores) é a amostra do índice; a do recorte tem 5.113.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faltante é um setor do recorte em que o indicador não pôde ser calculado: porque o IBGE não divulgou a variável (sigilo), porque o denominador é zero (por exemplo, nenhuma pessoa de 60 anos ou mais para calcular a proporção de 70+ entre elas) ou porque alguma parte da conta faltou. Indicadores com muitos faltantes reduzem a amostra de qualquer análise que os inclua.
Como ler: Uma linha por indicador: setores com valor, setores sem valor e a porcentagem sem valor dentro do recorte.
O que mostra: O maior percentual de faltantes é o de Analfabetismo 15+ (22,5%); o menor, o de Água inadequada (0,0%).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faltante é um setor do recorte em que o indicador não pôde ser calculado: porque o IBGE não divulgou a variável (sigilo), porque o denominador é zero (por exemplo, nenhuma pessoa de 60 anos ou mais para calcular a proporção de 70+ entre elas) ou porque alguma parte da conta faltou. Indicadores com muitos faltantes reduzem a amostra de qualquer análise que os inclua.
Como ler: Uma linha por indicador: setores com valor, setores sem valor e a porcentagem sem valor dentro do recorte.
O que mostra: O maior percentual de faltantes é o de Analfabetismo 15+ (22,5%); o menor, o de Água inadequada (0,0%).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descritivas resumem cada indicador em poucos números: o centro (média e mediana), a dispersão (desvio-padrão, quartis, percentis 10 e 90) e a forma (assimetria e curtose). Elas aparecem para o conjunto, por região e por município, para que diferenças de lugar fiquem visíveis antes de qualquer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média é sensível a valores extremos; a mediana não. Quando as duas se afastam, a distribuição é assimétrica. A assimetria é positiva quando há uma cauda longa à direita (poucos setores com valores muito altos). A curtose mede o peso das caudas: valores altos indicam muitos extremos. O coeficiente de variação (DP dividido pela média, em %) permite comparar a dispersão de indicadores em escalas diferentes. Nos indicadores de saneamento, a maioria dos setores vale zero: a mediana é zero e o intervalo interquartil também, o que explica por que o critério de extremos muda para eles (bloco 5).
Como ler: Uma linha por indicador. n: setores com valor; DP: desvio-padrão; P10…P90: percentis; CV: coeficiente de variação; % zeros: setores com valor exatamente zero.
O que mostra: A maior assimetria é a de Banheiro de uso comum (61,52); o maior percentual de zeros é o de Sem banheiro nem sanitário (100,0%).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média é sensível a valores extremos; a mediana não. Quando as duas se afastam, a distribuição é assimétrica. A assimetria é positiva quando há uma cauda longa à direita (poucos setores com valores muito altos). A curtose mede o peso das caudas: valores altos indicam muitos extremos. O coeficiente de variação (DP dividido pela média, em %) permite comparar a dispersão de indicadores em escalas diferentes. Nos indicadores de saneamento, a maioria dos setores vale zero: a mediana é zero e o intervalo interquartil também, o que explica por que o critério de extremos muda para eles (bloco 5).
Como ler: Uma linha por indicador. n: setores com valor; DP: desvio-padrão; P10…P90: percentis; CV: coeficiente de variação; % zeros: setores com valor exatamente zero.
O que mostra: A maior assimetria é a de Banheiro de uso comum (61,52); o maior percentual de zeros é o de Sem banheiro nem sanitário (100,0%).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região é o primeiro dígito do código da unidade da federação. As diferenças entre regiões mostram o quanto o retrato depende do lugar: um indicador que varia muito entre regiões pode dominar um índice calculado com normalização global, e é por isso que a referência normaliza dentro de cada município.
Como ler: Uma linha por região e indicador, com as mesmas colunas da tabela global.
O que mostra: Para Renda média, a mediana mais alta está no Sudeste (3.060,31) e a mais baixa no Sudeste (3.060,31).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região é o primeiro dígito do código da unidade da federação. As diferenças entre regiões mostram o quanto o retrato depende do lugar: um indicador que varia muito entre regiões pode dominar um índice calculado com normalização global, e é por isso que a referência normaliza dentro de cada município.
Como ler: Uma linha por região e indicador, com as mesmas colunas da tabela global.
O que mostra: Para Renda média, a mediana mais alta está no Sudeste (3.060,31) e a mais baixa no Sudeste (3.060,31).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70 municípios de tamanhos muito diferentes: alguns têm poucas dezenas de setores, e a mediana deles é menos estável. A tabela completa serve para consulta; o slide destaca os extremos.
Como ler: Uma linha por município e indicador (tabela longa). No deck, um recorte; a tabela completa está no CSV.
O que mostra: Para Renda média, a maior mediana municipal é a de Belo Horizonte (3.060,31); a menor, a de Belo Horizonte (3.060,31).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números do bloco anterior escondem a forma da distribuição. Histogramas, caixas e curvas de densidade mostram se o indicador se concentra em zero, se tem cauda longa ou se separa regiões. Cada painel reúne os indicadores de uma dimensão.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histograma divide o intervalo de valores em 50 faixas iguais e conta os setores em cada uma. Uma barra alta junto do zero indica muitos setores sem o problema medido; uma cauda longa à direita indica poucos setores com valores muito altos. Os 0,5% de valores mais altos são omitidos só no desenho, para que a cauda não esmague a escala; as tabelas usam todos os valores.
Como ler: Um histograma por indicador da dimensão: no eixo horizontal, o valor; no vertical, quantos setores têm aquele valor. Os 0,5% maiores ficam de fora para a escala ser legível.
O que mostra: Entre os indicadores de Saneamento, a maior assimetria é a de Banheiro de uso comum (61,52).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diagrama de caixa resume a distribuição em cinco números. A caixa contém a metade central dos setores; se as caixas de duas regiões não se sobrepõem, a diferença entre elas é grande. Quando a mediana e o 1º quartil coincidem com zero, a caixa fica achatada no chão: é o caso dos indicadores com muitos zeros.
Como ler: Uma caixa por região: a linha dentro é a mediana, a caixa vai do 1º ao 3º quartil e as hastes até 1,5 intervalo interquartil. Os pontos extremos não são desenhados (ver bloco 5).
O que mostra: No primeiro indicador da dimensão (Água inadequada), a mediana regional vai de 0,0000 (Sudeste) a 0,0000 (Sudeste).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curva de densidade é um histograma suavizado e normalizado: a área sob ela vale 1, qualquer que seja o número de setores da região. Assim, comparam-se formas, não tamanhos. Picos em lugares diferentes indicam regiões com valores típicos diferentes; uma curva mais larga indica mais dispersão.
Como ler: Uma curva por região em cada painel: a altura indica onde os setores daquela região se concentram. As áreas sob as curvas são iguais, para que regiões grandes e pequenas sejam comparáveis.
O que mostra: Em Água inadequada, a mediana regional vai de 0,0000 (Sudeste) a 0,0000 (Sudeste).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histograma divide o intervalo de valores em 50 faixas iguais e conta os setores em cada uma. Uma barra alta junto do zero indica muitos setores sem o problema medido; uma cauda longa à direita indica poucos setores com valores muito altos. Os 0,5% de valores mais altos são omitidos só no desenho, para que a cauda não esmague a escala; as tabelas usam todos os valores.
Como ler: Um histograma por indicador da dimensão: no eixo horizontal, o valor; no vertical, quantos setores têm aquele valor. Os 0,5% maiores ficam de fora para a escala ser legível.
O que mostra: Entre os indicadores de Socioeconômica, a maior assimetria é a de Renda média (11,11).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diagrama de caixa resume a distribuição em cinco números. A caixa contém a metade central dos setores; se as caixas de duas regiões não se sobrepõem, a diferença entre elas é grande. Quando a mediana e o 1º quartil coincidem com zero, a caixa fica achatada no chão: é o caso dos indicadores com muitos zeros.
Como ler: Uma caixa por região: a linha dentro é a mediana, a caixa vai do 1º ao 3º quartil e as hastes até 1,5 intervalo interquartil. Os pontos extremos não são desenhados (ver bloco 5).
O que mostra: No primeiro indicador da dimensão (Razão de moradores), a mediana regional vai de 2,6353 (Sudeste) a 2,6353 (Sudeste).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curva de densidade é um histograma suavizado e normalizado: a área sob ela vale 1, qualquer que seja o número de setores da região. Assim, comparam-se formas, não tamanhos. Picos em lugares diferentes indicam regiões com valores típicos diferentes; uma curva mais larga indica mais dispersão.
Como ler: Uma curva por região em cada painel: a altura indica onde os setores daquela região se concentram. As áreas sob as curvas são iguais, para que regiões grandes e pequenas sejam comparáveis.
O que mostra: Em Razão de moradores, a mediana regional vai de 2,6353 (Sudeste) a 2,6353 (Sudeste).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histograma divide o intervalo de valores em 50 faixas iguais e conta os setores em cada uma. Uma barra alta junto do zero indica muitos setores sem o problema medido; uma cauda longa à direita indica poucos setores com valores muito altos. Os 0,5% de valores mais altos são omitidos só no desenho, para que a cauda não esmague a escala; as tabelas usam todos os valores.
Como ler: Um histograma por indicador da dimensão: no eixo horizontal, o valor; no vertical, quantos setores têm aquele valor. Os 0,5% maiores ficam de fora para a escala ser legível.
O que mostra: Entre os indicadores de Morfologia, a maior assimetria é a de Domicílio improvisado (30,73).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diagrama de caixa resume a distribuição em cinco números. A caixa contém a metade central dos setores; se as caixas de duas regiões não se sobrepõem, a diferença entre elas é grande. Quando a mediana e o 1º quartil coincidem com zero, a caixa fica achatada no chão: é o caso dos indicadores com muitos zeros.
Como ler: Uma caixa por região: a linha dentro é a mediana, a caixa vai do 1º ao 3º quartil e as hastes até 1,5 intervalo interquartil. Os pontos extremos não são desenhados (ver bloco 5).
O que mostra: No primeiro indicador da dimensão (Domicílio improvisado), a mediana regional vai de 0,0000 (Sudeste) a 0,0000 (Sudeste).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curva de densidade é um histograma suavizado e normalizado: a área sob ela vale 1, qualquer que seja o número de setores da região. Assim, comparam-se formas, não tamanhos. Picos em lugares diferentes indicam regiões com valores típicos diferentes; uma curva mais larga indica mais dispersão.
Como ler: Uma curva por região em cada painel: a altura indica onde os setores daquela região se concentram. As áreas sob as curvas são iguais, para que regiões grandes e pequenas sejam comparáveis.
O que mostra: Em Domicílio improvisado, a mediana regional vai de 0,0000 (Sudeste) a 0,0000 (Sudeste).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histograma divide o intervalo de valores em 50 faixas iguais e conta os setores em cada uma. Uma barra alta junto do zero indica muitos setores sem o problema medido; uma cauda longa à direita indica poucos setores com valores muito altos. Os 0,5% de valores mais altos são omitidos só no desenho, para que a cauda não esmague a escala; as tabelas usam todos os valores.
Como ler: Um histograma por indicador da dimensão: no eixo horizontal, o valor; no vertical, quantos setores têm aquele valor. Os 0,5% maiores ficam de fora para a escala ser legível.
O que mostra: Entre os indicadores de Demografia, a maior assimetria é a de Índice de envelhecimento (4,48).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diagrama de caixa resume a distribuição em cinco números. A caixa contém a metade central dos setores; se as caixas de duas regiões não se sobrepõem, a diferença entre elas é grande. Quando a mediana e o 1º quartil coincidem com zero, a caixa fica achatada no chão: é o caso dos indicadores com muitos zeros.
Como ler: Uma caixa por região: a linha dentro é a mediana, a caixa vai do 1º ao 3º quartil e as hastes até 1,5 intervalo interquartil. Os pontos extremos não são desenhados (ver bloco 5).
O que mostra: No primeiro indicador da dimensão (Crianças 0–4), a mediana regional vai de 0,0457 (Sudeste) a 0,0457 (Sudeste).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curva de densidade é um histograma suavizado e normalizado: a área sob ela vale 1, qualquer que seja o número de setores da região. Assim, comparam-se formas, não tamanhos. Picos em lugares diferentes indicam regiões com valores típicos diferentes; uma curva mais larga indica mais dispersão.
Como ler: Uma curva por região em cada painel: a altura indica onde os setores daquela região se concentram. As áreas sob as curvas são iguais, para que regiões grandes e pequenas sejam comparáveis.
O que mostra: Em Crianças 0–4, a mediana regional vai de 0,0457 (Sudeste) a 0,0457 (Sudeste).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IBGE não divulga alguns valores para proteger o sigilo de setores pequenos. Se a falta fosse aleatória, bastaria descartar os setores sem dado; como ela se concentra em setores pequenos, descartar muda o retrato. Este bloco mostra onde estão os faltantes e como eles se distribuem pelo tamanho do setor.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faltantes não se espalham por igual entre os municípios. Onde eles se concentram, um índice calculado só com setores completos retrata pior o município, porque os setores que saem não são uma amostra ao acaso.
Como ler: Uma linha por município e uma coluna por indicador; cada célula é o percentual de setores do município sem aquele indicador.
O que mostra: A célula mais alta é Analfabetismo 15+ em Belo Horizonte, com 22,5% dos setores sem valor.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mapa de calor mostra a tabela anterior como cores. Colunas inteiras escuras indicam indicadores com sigilo ou denominador frequentemente zero; linhas escuras indicam municípios com muitos setores pequenos.
Como ler: Mapa de calor: linhas são municípios, colunas são indicadores; quanto mais escura a célula, maior o percentual de setores sem valor.
O que mostra: O ponto mais escuro é Analfabetismo 15+ em Belo Horizonte (22,5%).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 falta de dados fosse aleatória, o percentual de faltantes seria parecido em todos os décimos. Quando ele se concentra nos setores pequenos, a falta é não aleatória: o IBGE suprime valores para proteger o sigilo de quem mora em setores com poucos domicílios. A consequência é que análises só com setores completos sub-representam setores pequenos.
Como ler: Os setores são divididos em dez grupos iguais pelo número de moradores (1 = os menores). Para cada grupo, o percentual de setores sem renda e sem analfabetismo, e o percentual em FCU.
O que mostra: Sem renda: 0,0% no primeiro décimo e 0,0% no último. Sem analfabetismo: 33,2% e 10,2%.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duas linhas mostram a mesma tabela em forma de gráfico. Uma linha que desce da esquerda para a direita é o sinal do sigilo: quanto menor o setor, mais provável que o valor tenha sido suprimido.
Como ler: Eixo horizontal: décimo de moradores do setor (1 = menores). Eixo vertical: percentual de setores sem o indicador.
O que mostra: Renda: de 0,0% a 0,0%; analfabetismo: de 33,2% a 10,2%, do menor ao maior décimo.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extremo não é um erro por definição: pode ser um setor realmente diferente. O critério muda com o indicador: o intervalo interquartil onde ele funciona, um critério próprio para a renda e, nos indicadores em que a maioria dos setores vale zero, o critério aplicado só aos valores acima de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critério de Tukey marca como extremo o valor que fica a mais de 3 intervalos interquartis abaixo do 1º quartil ou acima do 3º (o intervalo interquartil é a distância entre o 1º e o 3º quartil). Nos indicadores com mediana zero esse intervalo é zero, e qualquer valor positivo viraria extremo; por isso, neles, o critério é aplicado só aos valores acima de zero. A renda usa o critério próprio do projeto: limite de Tukey dentro de cada município e um teste de coerência com o perfil do setor, que separa a renda alta de verdade (EXTREMO) da provável inconsistência (SUSPEITO).
Como ler: Uma linha por indicador: o critério usado, os limites, quantos setores passam deles e o percentual de zeros.
O que mostra: O maior percentual de extremos é o de Moradia convencional (7,7%), pelo critério “Tukey k=3 (intervalo interquartil)”.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critério de Tukey marca como extremo o valor que fica a mais de 3 intervalos interquartis abaixo do 1º quartil ou acima do 3º (o intervalo interquartil é a distância entre o 1º e o 3º quartil). Nos indicadores com mediana zero esse intervalo é zero, e qualquer valor positivo viraria extremo; por isso, neles, o critério é aplicado só aos valores acima de zero. A renda usa o critério próprio do projeto: limite de Tukey dentro de cada município e um teste de coerência com o perfil do setor, que separa a renda alta de verdade (EXTREMO) da provável inconsistência (SUSPEITO).
Como ler: Uma linha por indicador: o critério usado, os limites, quantos setores passam deles e o percentual de zeros.
O que mostra: O maior percentual de extremos é o de Moradia convencional (7,7%), pelo critério “Tukey k=3 (intervalo interquartil)”.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critério de Tukey marca como extremo o valor que fica a mais de 3 intervalos interquartis abaixo do 1º quartil ou acima do 3º (o intervalo interquartil é a distância entre o 1º e o 3º quartil). Nos indicadores com mediana zero esse intervalo é zero, e qualquer valor positivo viraria extremo; por isso, neles, o critério é aplicado só aos valores acima de zero. A renda usa o critério próprio do projeto: limite de Tukey dentro de cada município e um teste de coerência com o perfil do setor, que separa a renda alta de verdade (EXTREMO) da provável inconsistência (SUSPEITO).
Como ler: Uma linha por indicador: o critério usado, os limites, quantos setores passam deles e o percentual de zeros.
O que mostra: O maior percentual de extremos é o de Moradia convencional (7,7%), pelo critério “Tukey k=3 (intervalo interquartil)”.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total soma marcações, não setores: um setor extremo em dois indicadores conta duas vezes. Municípios grandes tendem a ter mais marcações só por terem mais setores; a comparação justa é com o número de setores de cada um (bloco 2).
Como ler: Uma linha por município e uma coluna por indicador, com o número de setores marcados; a coluna total soma todas as marcações.
O que mostra: O município com mais marcações é Belo Horizonte, com 921 no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lista serve para conferência caso a caso: abrir o setor, olhar o entorno e decidir se é um setor diferente de verdade ou um erro de registro. Nenhum setor é retirado das análises por estar nesta lista.
Como ler: Até dez setores por indicador, os mais distantes da mediana entre os marcados como extremo: código do setor, município, valor e mediana global.
O que mostra: No topo da lista de Renda média está um setor de Belo Horizonte, com valor 170.418,06.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lista serve para conferência caso a caso: abrir o setor, olhar o entorno e decidir se é um setor diferente de verdade ou um erro de registro. Nenhum setor é retirado das análises por estar nesta lista.
Como ler: Até dez setores por indicador, os mais distantes da mediana entre os marcados como extremo: código do setor, município, valor e mediana global.
O que mostra: No topo da lista de Renda média está um setor de Belo Horizonte, com valor 170.418,06.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classe vem do rastreio da renda do projeto (src/ivs_censo/renda.py). Um setor de renda alta com baixo analfabetismo e pouca população preta, parda ou indígena é coerente; o mesmo valor num setor com perfil oposto é suspeito. A variante de renda “sem o extremo” retira esses valores; a referência usa a renda original.
Como ler: Cada setor com renda recebe uma classe: NORMAL, EXTREMO (acima do limite do município, mas coerente com o perfil) ou SUSPEITO (acima do limite e incoerente).
O que mostra: São 2 setores SUSPEITO (0,04%) e 60 EXTREMO.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percentuais não são comparáveis de forma direta entre critérios diferentes: o critério da inflação de zeros olha só os setores com valor acima de zero. O gráfico serve para localizar os indicadores em que os extremos merecem atenção.
Como ler: Uma barra por indicador, com o percentual de setores marcados; a cor indica o critério (petróleo: Tukey; cinza: inflação de zeros; argila: renda).
O que mostra: A barra mais longa é a de Moradia convencional (7,7%).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correlação mede o quanto dois indicadores sobem e descem juntos, de −1 a 1. Pares muito correlacionados medem quase a mesma coisa; pares sem correlação trazem informação diferente. O bloco mostra as duas medidas usuais (Spearman, por postos, e Pearson, linear) e agrupa os indicadores parecidos.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correlação de Spearman é calculada sobre os postos (a ordem dos setores), não sobre os valores. Por isso é pouco afetada por extremos e capta relações que sobem sempre, mesmo que não em linha reta. Valor perto de 1: os setores ordenados por um indicador ficam quase na mesma ordem pelo outro; perto de −1: ordem invertida; perto de 0: sem relação de ordem. Cada par usa os setores com os dois valores.
Como ler: Matriz de correlação de Spearman: cada célula é a correlação entre o indicador da linha e o da coluna, de −1 a 1.
O que mostra: A maior correlação em módulo é entre Renda média e Renda sem o extremo (ρ = 1,0000).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correlação de Pearson mede a relação em linha reta entre os valores. Ela é sensível a extremos e a distribuições muito assimétricas, como as do saneamento. Quando Pearson e Spearman divergem muito para um mesmo par, a relação é puxada por poucos setores extremos ou não é linear.
Como ler: Matriz de correlação de Pearson, com a mesma leitura da de Spearman.
O que mostra: A maior correlação de Pearson em módulo é entre Renda média e Renda sem o extremo (r = 1,0000).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indicadores com correlação acima de 0,80 medem praticamente a mesma coisa. Pôr os dois no índice dá peso dobrado a essa dimensão. Muitas vezes são variantes de um mesmo conceito (por exemplo, as três rendas ou as várias definições de água), e a escolha entre elas é uma das decisões que as versões do eixo B exploram.
Como ler: Os pares de indicadores com correlação de pelo menos 0,80 em módulo, por Spearman ou por Pearson, do mais forte para o mais fraco.
O que mostra: No topo: Renda sem o extremo × Renda (mediana mun.), com Spearman 1,0000 e Pearson 1,0000.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indicadores com correlação acima de 0,80 medem praticamente a mesma coisa. Pôr os dois no índice dá peso dobrado a essa dimensão. Muitas vezes são variantes de um mesmo conceito (por exemplo, as três rendas ou as várias definições de água), e a escolha entre elas é uma das decisões que as versões do eixo B exploram.
Como ler: Os pares de indicadores com correlação de pelo menos 0,80 em módulo, por Spearman ou por Pearson, do mais forte para o mais fraco.
O que mostra: No topo: Renda sem o extremo × Renda (mediana mun.), com Spearman 1,0000 e Pearson 1,0000.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reordenação põe lado a lado os indicadores que se correlacionam entre si, e os blocos de cor ao longo da diagonal revelam os grupos. Um grupo nítido costuma corresponder a uma dimensão: socioeconômica, saneamento, moradia, idade.
Como ler: Mapa de calor da correlação de Spearman, com os indicadores reordenados pelo agrupamento do dendrograma; argila é correlação positiva, petróleo negativa.
O que mostra: O par mais forte é Renda média × Renda sem o extremo (ρ = 1,0000).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dendrograma é o resultado de um agrupamento hierárquico: começa com cada indicador sozinho e, a cada passo, une os dois grupos mais próximos. A distância entre dois indicadores é 1 menos o módulo da correlação de Spearman (0 = idênticos, 1 = sem relação); entre grupos, usa-se a média das distâncias (ligação média). Ele é um retrato descritivo: não substitui a análise fatorial.
Como ler: Cada indicador é uma folha à esquerda; as linhas os unem do mais parecido para o menos. Quanto mais à esquerda a união, mais correlacionados os indicadores.
O que mostra: O par mais próximo é Renda média × Renda sem o extremo (ρ = 1,0000).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favelas e comunidades urbanas delimitadas pelo IBGE servem de referência externa: um bom indicador de vulnerabilidade deve ter valores mais altos nelas. A comparação usa medianas e a AUC, que mede a capacidade de separar os dois grupos.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AUC (área sob a curva ROC) é a probabilidade de que um setor de favela, sorteado ao acaso, tenha valor maior que um setor de fora, também sorteado. AUC 0,5: o indicador não separa os grupos. Acima de 0,5: valores maiores nas favelas. Abaixo de 0,5: valores menores nas favelas (é o caso da renda, que entra no índice invertida). A AUC aqui é global, com todos os municípios juntos.
Como ler: Uma linha por indicador: setores de FCU e fora, a mediana em cada grupo, a diferença e a AUC do indicador sozinho.
O que mostra: Cor/raça PPI tem AUC 0,9205 (mediana 0,7912 em FCU e 0,5587 fora); a menor AUC é a de Renda sem o extremo (0,0433).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AUC (área sob a curva ROC) é a probabilidade de que um setor de favela, sorteado ao acaso, tenha valor maior que um setor de fora, também sorteado. AUC 0,5: o indicador não separa os grupos. Acima de 0,5: valores maiores nas favelas. Abaixo de 0,5: valores menores nas favelas (é o caso da renda, que entra no índice invertida). A AUC aqui é global, com todos os municípios juntos.
Como ler: Uma linha por indicador: setores de FCU e fora, a mediana em cada grupo, a diferença e a AUC do indicador sozinho.
O que mostra: Cor/raça PPI tem AUC 0,9205 (mediana 0,7912 em FCU e 0,5587 fora); a menor AUC é a de Renda sem o extremo (0,0433).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Barras que partem de 0,5 deixam claro o sentido: argila para a direita, o indicador é maior nas favelas; petróleo para a esquerda, é menor. O painel das medianas mostra a mesma comparação em valores absolutos, o que ajuda a separar uma diferença grande em termos relativos de uma diferença grande de fato.
Como ler: À esquerda, a AUC de cada indicador (barras a partir de 0,5; argila acima, petróleo abaixo). À direita, as medianas em FCU e fora, para os indicadores em proporção.
O que mostra: A maior AUC é a de Cor/raça PPI (0,9205); a menor, a de Renda sem o extremo (0,0433).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projeto olha para a vulnerabilidade do idoso. Este bloco descreve a estrutura etária e quatro indicadores de envelhecimento, e cruza o percentual de pessoas de 60 anos ou mais com os demais indicadores.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faixas etárias do Censo não são todas do mesmo tamanho: de 30 a 59 anos elas têm dez anos, e as anteriores, cinco. Por isso as faixas de dez anos tendem a parecer maiores. O percentual é calculado sobre a soma das faixas, e cada região soma 100%.
Como ler: Uma linha por faixa etária; as colunas são o total e as regiões, com o percentual da população de cada uma em cada faixa.
O que mostra: Pessoas de 70 anos ou mais são 9,4% do total, chegando a 9,4% no Sudeste.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agregados por setor do Censo trazem as faixas etárias sem a separação por sexo, por isso a figura é uma pirâmide de um lado só. Pontos à direita da barra nas faixas mais velhas indicam regiões mais envelhecidas.
Como ler: Barras: percentual da população total em cada faixa etária. Pontos: o mesmo percentual em cada região.
O que mostra: 70+: 9,4% no total e 9,4% no Sudeste.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índice de envelhecimento é a razão entre pessoas de 60 anos ou mais e pessoas de 0 a 14 anos. A razão de dependência idosa é a razão entre pessoas de 60 anos ou mais e pessoas de 15 a 59 anos. A proporção de 70+ entre os 60+ indica o quanto a população idosa do setor é mais velha. Os quatro são calculados por setor.
Como ler: Os quatro indicadores de envelhecimento, para o total e por região: n, média, mediana, quartis e as demais descritivas.
O que mostra: Pessoas 60+: mediana de 0,2000 no Sudeste e 0,2000 no Sudeste. Índice de envelhecimento, mediana do total: 135,2397.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tabela cruza envelhecimento com vulnerabilidade. Uma correlação positiva com a renda indica que setores mais ricos têm mais idosos (envelhecimento associado à transição demográfica mais avançada); uma correlação negativa com indicadores de carência diz o mesmo pelo outro lado. Isso importa para o IVS-Idoso: se idade e vulnerabilidade andam em sentidos opostos, somá-las num índice só pode cancelar os efeitos.
Como ler: Correlação de Spearman entre os indicadores de envelhecimento (linhas) e os demais (colunas).
O que mostra: Para pessoas 60+, a correlação mais forte é com População 0–14 (ρ = -0,7909); com a renda média, ρ = 0,5315.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tabela cruza envelhecimento com vulnerabilidade. Uma correlação positiva com a renda indica que setores mais ricos têm mais idosos (envelhecimento associado à transição demográfica mais avançada); uma correlação negativa com indicadores de carência diz o mesmo pelo outro lado. Isso importa para o IVS-Idoso: se idade e vulnerabilidade andam em sentidos opostos, somá-las num índice só pode cancelar os efeitos.
Como ler: Correlação de Spearman entre os indicadores de envelhecimento (linhas) e os demais (colunas).
O que mostra: Para pessoas 60+, a correlação mais forte é com População 0–14 (ρ = -0,7909); com a renda média, ρ = 0,5315.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mais de cem mil setores, um gráfico de pontos vira uma mancha. O gráfico de hexágonos conta quantos setores caem em cada célula. A escala logarítmica da renda espalha os setores de renda baixa, que de outro modo ficariam espremidos à esquerda.
Como ler: Cada hexágono reúne setores com valores parecidos; quanto mais escuro, mais setores. Eixo horizontal: renda média em escala logarítmica; vertical: proporção de pessoas de 60 anos ou mais.
O que mostra: A correlação de Spearman entre as duas é 0,5315.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análise fatorial resume vários indicadores correlacionados em poucas dimensões (fatores). Antes de usá-la, testa-se se os dados se prestam a isso (KMO, MSA, Bartlett) e quantos fatores reter (Kaiser e análise paralela de Horn). Depois, as cargas dizem o quanto cada indicador pertence a cada fator.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KMO (Kaiser-Meyer-Olkin) compara as correlações entre as variáveis com as correlações parciais: perto de 1, as variáveis compartilham muita informação e a fatorial faz sentido; o critério do projeto é pelo menos 0,70. O teste de Bartlett verifica se a matriz de correlação é diferente da identidade (variáveis sem relação); com tantos setores, ele sempre rejeita. O critério de Kaiser retém fatores com autovalor acima de 1; a análise paralela de Horn, mais conservadora, retém os fatores cujo autovalor supera o que dados aleatórios do mesmo tamanho produziriam. A correlação usada é a de Spearman, como no NB04.
Como ler: As medidas de adequação da matriz de correlação dos componentes do índice, na amostra do índice.
O que mostra: KMO 0,7994, com 3.499 setores; Kaiser retém 3 fatores e Horn, 2; dois fatores explicam 63,1% da variância.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MSA é o KMO de cada variável: abaixo de 0,50, a variável compartilha pouco com as outras. A comunalidade é a parte da variância da variável explicada pelos fatores retidos (critério do projeto: pelo menos 0,30). A carga é a correlação da variável com o fator (critério: pelo menos 0,40 no fator principal). A rotação gira os fatores para que cada variável carregue forte em um só: a Varimax mantém os fatores independentes; a promax permite que eles se correlacionem. Na promax, a matriz padrão dá o efeito próprio de cada fator e a matriz estrutura, a correlação simples.
Como ler: Uma linha por componente: MSA, comunalidades e as cargas em cada fator, sem rotação, na Varimax e na promax (padrão e estrutura).
O que mostra: Menor MSA: Água inadequada (0,5307). Menor comunalidade (promax): Banheiro graduado (0,0182).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autovalor mede quanta variância um componente resume, em unidades de variável: autovalor 2 equivale a duas variáveis inteiras. A análise paralela de Horn gera dados aleatórios com o mesmo número de setores e variáveis e calcula os autovalores que surgiriam só por acaso; um componente merece ser retido quando o seu autovalor supera esse valor.
Como ler: Um componente por linha: autovalor, valor de referência da análise paralela de Horn e variância explicada, simples e acumulada.
O que mostra: Primeiro autovalor 3,2517, segundo 1,1624 (Horn: 1,0374); os dois primeiros explicam 63,1% da variância.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rotação oblíqua (promax), os fatores podem se correlacionar. Uma correlação alta entre a dimensão socioeconômica e a de saneamento indica que as carências tendem a ocorrer juntas no mesmo setor. É por isso que, na promax, se usa a matriz padrão para distribuir pesos: ela separa o efeito próprio de cada fator.
Como ler: Matriz Φ: a correlação entre os fatores depois da rotação promax.
O que mostra: A correlação entre F1 e F2 é 0,2393.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nome vem da imagem de uma encosta: os primeiros componentes formam o paredão e os demais, o entulho no pé. Os componentes que ficam acima da linha tracejada trazem estrutura real; os que ficam abaixo, ruído.
Como ler: Linha cheia: autovalores em ordem decrescente. Tracejada: o que dados aleatórios produziriam (Horn). Pontilhada: o critério de Kaiser (autovalor 1).
O que mostra: O segundo autovalor é 1,1624, contra 1,0374 da linha de Horn.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mapa de cargas mostra a que fator cada variável pertence. Setas ao longo do eixo horizontal pertencem a F1; ao longo do vertical, a F2; setas na diagonal dividem-se entre os dois. Setas curtas indicam variáveis mal explicadas pelos dois fatores (comunalidade baixa).
Como ler: Cada seta é um componente; a ponta fica nas cargas padrão da promax em F1 (horizontal) e F2 (vertical). O círculo marca carga 1.
O que mostra: Maior carga em F1: Renda (invertida) (0,9411); em F2: Água inadequada (0,8934).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os fatores e os pesos, cada setor recebe um valor de 0 a 1 dentro do seu município. O bloco mostra os pesos, a distribuição do índice, as faixas de vulnerabilidade pelas duas regras, a AUC contra as favelas e se a versão passa nos critérios de elegibilidade fixados no NB05.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pesos seguem a receita do NB04: cada variável vai para a dimensão em que tem a maior carga; o peso da dimensão é repartido entre as variáveis dela em proporção ao quadrado da carga. O peso das dimensões depende do método da versão; na referência é a regra do IVS-BH de 2012 (60% socioeconômica, 40% saneamento).
Como ler: Uma linha por componente: a dimensão em que ele carrega mais, a carga, o peso da dimensão e o peso final no índice (em %).
O que mostra: O maior peso é o de Água inadequada (25,5%); a dimensão socioeconômica pesa 60,0%.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índice vai de 0 (o setor menos vulnerável do município) a 1 (o mais vulnerável). Comparar o nível do índice entre municípios não faz sentido nesta normalização; o que se compara é a posição relativa de cada setor dentro da sua cidade.
Como ler: Descritivas do índice para o total e por região. Como o índice é normalizado dentro de cada município, todo município tem mínimo 0 e máximo 1.
O que mostra: 3.499 setores; mediana 0,3346; percentil 90 0,3879.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regra do IVS-BH de 2012 classifica pelo afastamento da média do município em desvios-padrão: abaixo de −0,5 DP é baixo; até +0,5 DP, médio; até +1,5 DP, elevado; acima, muito elevado. Como a distribuição é assimétrica, as faixas não têm o mesmo tamanho. A regra dos quartis divide cada município em quatro partes iguais, por construção com 25% cada.
Como ler: Quantos setores ficam em cada faixa, pelas duas regras: a do IVS-BH (média e desvio-padrão do município) e a dos quartis do município.
O que mostra: IVS-BH: 28,0% baixo e 3,6% muito elevado. Quartis: 25,0% muito elevado.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AUC global junta todos os setores; a municipal calcula a AUC dentro de cada município e toma a mediana, só nos municípios com pelo menos 30 setores de FCU e 30 fora. A municipal é a leitura adequada para um índice normalizado no município. Os critérios de elegibilidade foram fixados antes de rodar a grade do NB05: KMO de pelo menos 0,70, MSA de pelo menos 0,50, comunalidade de pelo menos 0,30 e carga de pelo menos 0,40 em todas as variáveis. A elegibilidade é descritiva: não escolhe a versão.
Como ler: AUC global e municipal, peso da dimensão socioeconômica e os critérios de elegibilidade do NB05, um por linha (1 = atende).
O que mostra: AUC global 0,9172; mediana da AUC municipal 0,9172, em 1 municípios. Pelos critérios do NB05, a versão é não elegível.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Municípios com poucos setores de favela têm AUC instável: um ou dois setores mudam muito o resultado. Por isso a mediana só usa os municípios com pelo menos 30 setores em cada grupo; os demais ficam na tabela, marcados.
Como ler: Uma linha por município: AUC, setores de FCU (n1) e fora (n0) e se o município entra na mediana.
O que mostra: Entre os municípios que entram na mediana, a maior AUC é a de Belo Horizonte (0,9172) e a menor, a de Belo Horizonte (0,9172).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as faixas são definidas dentro de cada município, um mesmo valor do índice pode cair em faixas diferentes em cidades diferentes: por isso as cores se sobrepõem nas fronteiras.
Como ler: Histograma do índice, com cada barra dividida pela faixa dos setores (regra do IVS-BH).
O que mostra: 28,0% dos setores ficam em baixo e 3,6% em muito elevado.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Quanto mais a curva se aproxima do canto superior esquerdo, melhor o índice separa os dois grupos. A área sob a curva é a AUC. Esta curva usa todos os setores juntos; como o índice é normalizado no município, a AUC municipal é a medida principal.
Como ler: Cada ponto da curva é um corte do índice: no eixo vertical, a proporção de setores de FCU acima do corte; no horizontal, a dos setores de fora. A diagonal é o acaso.
O que mostra: Área sob a curva: 0,9172 (global); a mediana municipal é 0,9172.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índice classifica setores, mas a pergunta de política pública é sobre pessoas. Este bloco soma moradores e moradores de 60 anos ou mais em cada faixa do índice, por município.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faixas são relativas ao município: todo município tem setores nas faixas altas, por construção. O que muda de um para outro é quanta gente mora nesses setores, porque os setores têm populações diferentes.
Como ler: Uma linha por município: setores, moradores e moradores de 60+ em cada faixa (regra do IVS-BH) e o percentual de moradores nas duas faixas mais altas.
O que mostra: Maior percentual em elevado ou muito elevado: Belo Horizonte (26,9%); menor: Belo Horizonte (26,9%).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contagem de pessoas usa o total de moradores do setor (v0001) e a soma das faixas de 60 a 69 e de 70 anos ou mais. Só entram os setores da amostra do índice.
Como ler: Uma linha por faixa: setores, moradores e moradores de 60+, com os percentuais.
O que mostra: Na faixa muito elevada: 44.378 pessoas (2,8% do total), das quais 4.332 com 60 anos ou mais.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mostra a tabela por município em forma de barras empilhadas. Um município em que as faixas altas ocupam muito da barra concentra população nos setores mais vulneráveis da cidade.
Como ler: Uma barra por município, dividida pelas faixas do índice; o comprimento de cada parte é o percentual de moradores. Ordem: do maior para o menor percentual nas duas faixas mais altas.
O que mostra: No topo, Belo Horizonte (26,9% em elevado ou muito elevado); na base, Belo Horizonte (26,9%).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o índice é normalizado dentro de cada município, a comparação entre cidades é sobre a desigualdade interna, não sobre o nível. Três medidas: a razão entre os percentis 90 e 10, o Gini e o Theil.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Gini vai de 0 (todos os setores com o mesmo valor) a 1 (toda a soma concentrada num setor). O Theil também mede concentração, mas é mais sensível à cauda alta. A razão P90/P10 compara o setor no percentil 90 com o do percentil 10; como o índice começa em 0 em todo município, o P10 pode ser muito pequeno e a razão explodir, por isso ela fica vazia quando o P10 é zero.
Como ler: Uma linha por município: setores, média, percentis 10 e 90 do índice, a razão P90/P10, o Gini e o Theil.
O que mostra: Maior Gini: Belo Horizonte (0,0978); menor: Belo Horizonte (0,0978).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Gini e Theil apontam em sentidos diferentes para um município, a desigualdade dele está mais na cauda (poucos setores muito acima dos demais) do que no meio da distribuição.
Como ler: Barras: Gini do índice dentro de cada município, do maior para o menor. Pontos: Theil.
O que mostra: Do maior Gini, Belo Horizonte (0,0978), ao menor, Belo Horizonte (0,0978).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versão muda uma coisa só em relação à referência. Este bloco mede o efeito dessa mudança: a correlação de postos entre os dois índices, a matriz de setores que trocam de faixa e os municípios mais afetados.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correlação de postos perto de 1 indica que a versão ordena os setores quase como a referência, ainda que os valores mudem. Na própria referência, o valor é 1 por construção.
Como ler: Correlação de Spearman entre o índice desta versão e o da referência, nos setores que estão nas duas amostras: total e por município.
O que mostra: Total: ρ = 0,9978. Menor correlação municipal: Belo Horizonte (0,9978).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diagonal (mesma faixa nas duas) mostra a concordância. Trocas entre faixas vizinhas são esperadas quando os pesos mudam um pouco; trocas de duas faixas ou mais indicam que a versão muda de fato a classificação do setor.
Como ler: Cada linha é um par (faixa na referência, faixa nesta versão), com o número de setores e o percentual do total.
O que mostra: Fora da diagonal, a maior célula é de elevado para medio, com 116 setores.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faixa usada é a da regra do IVS-BH. Municípios pequenos tendem a aparecer no topo, porque poucas trocas pesam muito em poucos setores.
Como ler: A primeira linha é o total; as demais, os municípios, do mais afetado para o menos: setores comuns, setores que mudam de faixa e o percentual.
O que mostra: No total, 5,3% dos setores mudam de faixa; o município mais afetado é Belo Horizonte (5,3%).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matriz com quase tudo na diagonal indica que a mudança da versão não altera a classificação; células fora da diagonal mostram para onde os setores se movem.
Como ler: Linhas: faixa na referência; colunas: faixa nesta versão; cada célula traz o número de setores.
O que mostra: A maior troca fora da diagonal é de elevado para medio (116 setores).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destaca onde a escolha desta versão faz mais diferença. Na própria referência, todas as barras são zero.
Como ler: Os 20 municípios com o maior percentual de setores que mudam de faixa.
O que mostra: O mais afetado é Belo Horizonte (5,3%); no total, 5,3%.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Belo Horizonte o índice ordena os setores quase como a referência e separa as favelas com mais força do que no conjunto dos municípios. Mas a versão não é elegível pelos critérios do NB05: o banheiro graduado quase não varia na cidade, fica com comunalidade e carga muito baixas e não pertence a nenhum dos dois fatores. O critério de Kaiser pede três fatores, e a análise paralela de Horn, dois. A falha fica registrada como falha; nada foi retirado da versão.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um município só, a AUC municipal é a AUC da cidade, e as tabelas por município e por região têm uma linha.
O analfabetismo tem mais sigilo em Belo Horizonte do que no conjunto dos municípios, o que reduz a amostra do índice.
A comparação com o IVS-BH 2012 é de método, não de valores: os setores de 2010 e de 2022 não estão compatibilizados (versão bloqueada).
A amostra do índice exclui todo setor com algum componente faltante (exclusão por lista).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23444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200" kern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ANÁLISES EXPLORATÓRIAS POR VERSÃO · A3_belo_horizonte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777240" y="162763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7830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Belo Horizonte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77240" y="278892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ficam os dados e o IVS quando a análise é só de Belo Horizonte, a cidade do IVS-BH 2012?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5623560"/>
            <a:ext cx="10634472" cy="0"/>
          </a:xfrm>
          <a:prstGeom prst="line">
            <a:avLst/>
          </a:prstGeom>
          <a:noFill/>
          <a:ln w="9525">
            <a:solidFill>
              <a:srgbClr val="C8C6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576072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outubro de 2026  ·  5.113 setores no recorte  ·  3.499 na amostra do índice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nesta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297680"/>
                <a:gridCol w="42976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Aspecto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Referência (00_referencia)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Base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entrega_orientadora/Base_ELSI_70Municipios_Censo2022.db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entrega_orientadora/Base_BeloHorizonte_Censo2022.db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Recorte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urbanos; Dados_sig = OK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todos os do quadro, com as variantes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950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Componentes do índice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inadequada, Esgoto inadequado, Razão de moradores, Analfabetismo 15+, Renda (invertida), Cor/raça PPI, Banheiro graduado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original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Rotação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promax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Pesos das dimensões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60_40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Normalização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municipal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1, 2, 3, 4, 5, 6, 7, 8, 9, 10, 11, 12, 13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7240" y="4465701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520565"/>
            <a:ext cx="10634472" cy="1514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base: em vez dos 70 municípios, a base própria de Belo Horizonte da entrega à orientadora. A fatorial, os pesos e as faixas passam a ser calculados só com os setores da cidade; componentes, rotação, pesos 60/40 e normalização são os da referência.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3.499 setores chegam ao índice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517904"/>
            <a:ext cx="3300984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91056"/>
            <a:ext cx="3300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5.166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2176272"/>
            <a:ext cx="3300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na base completa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443984" y="1517904"/>
            <a:ext cx="3300984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43984" y="1591056"/>
            <a:ext cx="3300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5.113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443984" y="2176272"/>
            <a:ext cx="3300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no recorte da versão (descritivas, distribuições, correlações)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110728" y="1517904"/>
            <a:ext cx="3300984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10728" y="1591056"/>
            <a:ext cx="3300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3.499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110728" y="2176272"/>
            <a:ext cx="3300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na amostra do índice (fatorial e blocos 9 a 13)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77240" y="3026664"/>
            <a:ext cx="106344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dois números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funil mostra o caminho dos setores. A base completa inclui setores rurais e setores sem dados divulgados. O recorte da versão é o conjunto sobre o qual são calculadas as descritivas, as distribuições e as correlações. A amostra do índice é menor, porque a análise fatorial exige que o setor tenha todos os componentes preenchidos (exclusão por lista: basta faltar um componente para o setor sair). Essa diferença de amostra é importante quando se comparam números de blocos diferentes.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T01 · tabelas/T01_funil.csv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Sumário: os blocos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377440"/>
                <a:gridCol w="4937760"/>
                <a:gridCol w="26517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Pergunta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Itens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Quantos setores entram nesta versão, quantos saem e por quê?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T01, F01, T02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Descritivas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Qual é o valor típico de cada indicador, e quanto ele varia?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T03, T04, T05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Distribuições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Que forma tem cada indicador, e ela muda de uma região para outra?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F02, F03, F04, F05, F06, F07, F08, F09, F10, F11, F12, F13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Faltantes e sigilo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Onde faltam dados, e a falta é aleatória?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T06, F14, T07, F15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Extremos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Que setores têm valores fora do comum, e por qual critério?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T08, T09, T10, T11, F16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Correlações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Que indicadores andam juntos?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T12, T13, T14, F17, F18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Favelas e comunidades urbanas (FCU)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Cada indicador, sozinho, separa os setores de favela dos demais?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T15, F19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Envelhecimento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Como a população idosa se distribui, e com que indicadores ela se relaciona?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T16, F20, T17, T18, F21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Adequação fatorial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componentes do índice se prestam a uma análise fatorial, e quantos fatores ela sustenta?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T19, T20, T21, T22, F22, F23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índice da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Como fica o índice, e ele separa os setores de favela?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T23, T24, T25, T26, T27, F24, F25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Quem está em risco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Quantas pessoas, e quantas pessoas idosas, vivem em cada faixa?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T28, T29, F26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Desigualdade interna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Em que municípios o índice varia mais de um setor para outro?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T30, F27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Comparação com a referência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esta versão muda em relação à referência proposta do NB05?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T31, T32, T33, F28, F29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Quantos setores entram nesta versão, quantos saem e por quê?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T01 · F01 · T02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3.499 setores chegam ao índice, de 5.166 na base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4066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914400"/>
                <a:gridCol w="822960"/>
                <a:gridCol w="3291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Etapa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Saem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Motivo da saída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Base completa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5.166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urbanos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5.166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 rural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Dados_sig = OK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5.113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 sem dados divulgados (sigilo ou sem domicílio ocupado)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Componentes do índice completos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faltante em algum componente do índice (exclusão por lista)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linha é um filtro, na ordem em que é aplicado: quantos setores ficam, quantos saem e por quê.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base tem 5.166 setores; 5.113 ficam no recorte da versão e 3.499 têm todos os componentes do índice (1.614 saem nesta última etapa).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T01 · tabelas/T01_funil.csv  ·  Bloco 1. Recorte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recorte ao índice, 1.614 setores saem por falta de algum componente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A3_belo_horizonte/figuras/F01_fun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269439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barra é uma etapa do funil; o comprimento é o número de setores que ainda estão dentro.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barra final (3.499 setores) é a amostra do índice; a do recorte tem 5.113.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F01 · figuras/F01_funil.png  ·  Bloco 1. Recorte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Analfabetismo 15+ é o indicador com mais faltantes (22,5% dos setores)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8580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9728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 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sem 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5.113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5.113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5.113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água canalizada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5.113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não chega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4.945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só no terreno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4.614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4.636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 nem sanitário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5.037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Só sanitário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5.039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de uso comum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4.718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4.612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5.113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3.964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5.113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5.113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Responsável mulher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5.109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indicador: setores com valor, setores sem valor e a porcentagem sem valor dentro do recorte.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maior percentual de faltantes é o de Analfabetismo 15+ (22,5%); o menor, o de Água inadequada (0,0%).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T02 · tabelas/T02_perdas_por_indicador.csv  ·  Bloco 1. Recorte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Analfabetismo 15+ é o indicador com mais faltantes (22,5% dos setores)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8580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9728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 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sem 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sem o extremo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5.112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(mediana mun.)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5.113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Domicílio improvisado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Morfologia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4.834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precária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Morfologia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5.113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convencional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Morfologia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5.113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não convencional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Morfologia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5.113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Apartamento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Morfologia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4.689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Morfologia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4.867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Casa de vila/condomínio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Morfologia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4.314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Crianças 0–4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Demografia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4.998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População 0–14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Demografia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5.097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Demografia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5.105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de envelhecimento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Demografia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5.070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Dependência idosa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Demografia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5.105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70+ entre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Demografia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5.050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indicador: setores com valor, setores sem valor e a porcentagem sem valor dentro do recorte.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maior percentual de faltantes é o de Analfabetismo 15+ (22,5%); o menor, o de Água inadequada (0,0%).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T02 · tabelas/T02_perdas_por_indicador.csv  ·  Bloco 1. Recorte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Descritivas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 é o valor típico de cada indicador, e quanto ele varia?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T03 · T04 · T05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Banheiro de uso comum é o indicador mais assimétrico (assimetria 61,52)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452360" cy="914400"/>
        </p:xfrm>
        <a:graphic>
          <a:graphicData uri="http://schemas.openxmlformats.org/drawingml/2006/table">
            <a:tbl>
              <a:tblPr/>
              <a:tblGrid>
                <a:gridCol w="1830404"/>
                <a:gridCol w="740878"/>
                <a:gridCol w="740878"/>
                <a:gridCol w="740878"/>
                <a:gridCol w="697297"/>
                <a:gridCol w="740878"/>
                <a:gridCol w="740878"/>
                <a:gridCol w="566554"/>
                <a:gridCol w="653716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DP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Assim.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zeros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5.113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12,61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95,7%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5.113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88,0%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5.113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água canalizada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5.113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24,63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86,2%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não chega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4.945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43,04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só no terreno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4.614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98,0%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4.636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58,65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98,5%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 nem sanitário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5.037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Só sanitário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5.039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45,90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de uso comum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4.718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61,52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98,9%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4.612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5.113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2,6061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2,2000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2,6353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2,9730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3.964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5.113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4.682,30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4.491,58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1.574,21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3.060,31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10.036,09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5.113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0,5498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0,6023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0,7912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Responsável mulher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5.109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0,5143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0,4069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0,5175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0,6132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indicador. n: setores com valor; DP: desvio-padrão; P10…P90: percentis; CV: coeficiente de variação; % zeros: setores com valor exatamente zero.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assimetria é a de Banheiro de uso comum (61,52); o maior percentual de zeros é o de Sem banheiro nem sanitário (100,0%).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T03 · tabelas/T03_descritivas_global.csv  ·  Bloco 2. Descritivas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Banheiro de uso comum é o indicador mais assimétrico (assimetria 61,52)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452360" cy="914400"/>
        </p:xfrm>
        <a:graphic>
          <a:graphicData uri="http://schemas.openxmlformats.org/drawingml/2006/table">
            <a:tbl>
              <a:tblPr/>
              <a:tblGrid>
                <a:gridCol w="1830404"/>
                <a:gridCol w="740878"/>
                <a:gridCol w="740878"/>
                <a:gridCol w="740878"/>
                <a:gridCol w="697297"/>
                <a:gridCol w="740878"/>
                <a:gridCol w="740878"/>
                <a:gridCol w="566554"/>
                <a:gridCol w="653716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DP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Assim.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zeros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sem o extremo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5.112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4.649,88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3.847,45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1.574,10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3.058,23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10.032,48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(mediana mun.)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5.113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4.649,57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3.847,13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1.574,21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3.058,23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10.032,44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Domicílio improvisado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4.834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30,73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precária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5.113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90,3%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convencional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5.113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0,9776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-9,97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não convencional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5.113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90,6%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Apartamento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4.689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0,4022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0,3958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4.867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0,6193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Casa de vila/condomínio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4.314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Crianças 0–4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4.998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População 0–14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5.097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5.105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0,2039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de envelhecimento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5.070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172,6869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155,3252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47,2962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135,2397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329,4706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Dependência idosa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5.105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32,9919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16,7668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14,2259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30,7692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54,2220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70+ entre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5.050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45,5929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10,4446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32,5581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45,8524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58,0363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indicador. n: setores com valor; DP: desvio-padrão; P10…P90: percentis; CV: coeficiente de variação; % zeros: setores com valor exatamente zero.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assimetria é a de Banheiro de uso comum (61,52); o maior percentual de zeros é o de Sem banheiro nem sanitário (100,0%).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T03 · tabelas/T03_descritivas_global.csv  ·  Bloco 2. Descritivas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média: a mediana vai de 3.060,31 (Sudeste) a 3.060,31 (Sudeste)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3200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 — mediana por região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água canalizada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não chega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só no terreno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 nem sanitário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Só sanitário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de uso comum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2,6353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3.060,31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0,6023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Responsável mulher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0,5175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região e indicador, com as mesmas colunas da tabela global.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Renda média, a mediana mais alta está no Sudeste (3.060,31) e a mais baixa no Sudeste (3.060,31).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T04 · tabelas/T04_descritivas_regiao.csv  ·  Bloco 2. Descritivas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média: a mediana vai de 3.060,31 (Sudeste) a 3.060,31 (Sudeste)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3200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 — mediana por região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sem o extremo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3.058,23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(mediana mun.)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3.058,23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Domicílio improvisado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precária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convencional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não convencional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Apartamento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Casa de vila/condomínio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Crianças 0–4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População 0–14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de envelhecimento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135,2397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Dependência idosa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30,7692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70+ entre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45,8524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25106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região e indicador, com as mesmas colunas da tabela global.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Renda média, a mediana mais alta está no Sudeste (3.060,31) e a mais baixa no Sudeste (3.060,31).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T04 · tabelas/T04_descritivas_regiao.csv  ·  Bloco 2. Descritivas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média: entre os municípios, a mediana vai de 3.060,31 a 3.060,31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5836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22960"/>
                <a:gridCol w="100584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— Renda média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5.113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1.574,21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3.060,31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10.036,09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180174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 e indicador (tabela longa). No deck, um recorte; a tabela completa está no CSV.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Renda média, a maior mediana municipal é a de Belo Horizonte (3.060,31); a menor, a de Belo Horizonte (3.060,31).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T05 · tabelas/T05_descritivas_municipio.csv  ·  Bloco 2. Descritivas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Distribuições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forma tem cada indicador, e ela muda de uma região para outra?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F02 · F03 · F04 · F05 · F06 · F07 · F08 · F09 · F10 · F11 · F12 · F13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Saneamento: Banheiro de uso comum tem a distribuição mais assimétrica (assimetria 61,52)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A3_belo_horizonte/figuras/F02_histogramas_saneamen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415800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histograma por indicador da dimensão: no eixo horizontal, o valor; no vertical, quantos setores têm aquele valor. Os 0,5% maiores ficam de fora para a escala ser legível.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os indicadores de Saneamento, a maior assimetria é a de Banheiro de uso comum (61,52).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F02 · figuras/F02_histogramas_saneamento.png  ·  Bloco 3. Distribuições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Saneamento: Água inadequada tem mediana de 0,0000 no Sudeste e 0,0000 no Sudeste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A3_belo_horizonte/figuras/F03_boxplots_regiao_saneamen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4160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caixa por região: a linha dentro é a mediana, a caixa vai do 1º ao 3º quartil e as hastes até 1,5 intervalo interquartil. Os pontos extremos não são desenhados (ver bloco 5).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primeiro indicador da dimensão (Água inadequada), a mediana regional vai de 0,0000 (Sudeste) a 0,0000 (Sudeste).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F03 · figuras/F03_boxplots_regiao_saneamento.png  ·  Bloco 3. Distribuições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Saneamento: as regiões têm formas diferentes de distribuição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A3_belo_horizonte/figuras/F04_densidades_regiao_saneamen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416455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curva por região em cada painel: a altura indica onde os setores daquela região se concentram. As áreas sob as curvas são iguais, para que regiões grandes e pequenas sejam comparáveis.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Água inadequada, a mediana regional vai de 0,0000 (Sudeste) a 0,0000 (Sudeste).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F04 · figuras/F04_densidades_regiao_saneamento.png  ·  Bloco 3. Distribuições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Socioeconômica: Renda média tem a distribuição mais assimétrica (assimetria 11,11)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A3_belo_horizonte/figuras/F05_histogramas_socioeconomi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274869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histograma por indicador da dimensão: no eixo horizontal, o valor; no vertical, quantos setores têm aquele valor. Os 0,5% maiores ficam de fora para a escala ser legível.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os indicadores de Socioeconômica, a maior assimetria é a de Renda média (11,11).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F05 · figuras/F05_histogramas_socioeconomica.png  ·  Bloco 3. Distribuições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Socioeconômica: Razão de moradores tem mediana de 2,6353 no Sudeste e 2,6353 no Sudeste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A3_belo_horizonte/figuras/F06_boxplots_regiao_socioeconomi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27501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caixa por região: a linha dentro é a mediana, a caixa vai do 1º ao 3º quartil e as hastes até 1,5 intervalo interquartil. Os pontos extremos não são desenhados (ver bloco 5).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primeiro indicador da dimensão (Razão de moradores), a mediana regional vai de 2,6353 (Sudeste) a 2,6353 (Sudeste).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F06 · figuras/F06_boxplots_regiao_socioeconomica.png  ·  Bloco 3. Distribuições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Socioeconômica: as regiões têm formas diferentes de distribuição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A3_belo_horizonte/figuras/F07_densidades_regiao_socioeconomi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27501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curva por região em cada painel: a altura indica onde os setores daquela região se concentram. As áreas sob as curvas são iguais, para que regiões grandes e pequenas sejam comparáveis.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Razão de moradores, a mediana regional vai de 2,6353 (Sudeste) a 2,6353 (Sudeste).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F07 · figuras/F07_densidades_regiao_socioeconomica.png  ·  Bloco 3. Distribuições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Morfologia: Domicílio improvisado tem a distribuição mais assimétrica (assimetria 30,73)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A3_belo_horizonte/figuras/F08_histogramas_morfolog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274725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histograma por indicador da dimensão: no eixo horizontal, o valor; no vertical, quantos setores têm aquele valor. Os 0,5% maiores ficam de fora para a escala ser legível.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os indicadores de Morfologia, a maior assimetria é a de Domicílio improvisado (30,73).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F08 · figuras/F08_histogramas_morfologia.png  ·  Bloco 3. Distribuições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Morfologia: Domicílio improvisado tem mediana de 0,0000 no Sudeste e 0,0000 no Sudeste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A3_belo_horizonte/figuras/F09_boxplots_regiao_morfolog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274869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caixa por região: a linha dentro é a mediana, a caixa vai do 1º ao 3º quartil e as hastes até 1,5 intervalo interquartil. Os pontos extremos não são desenhados (ver bloco 5).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primeiro indicador da dimensão (Domicílio improvisado), a mediana regional vai de 0,0000 (Sudeste) a 0,0000 (Sudeste).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F09 · figuras/F09_boxplots_regiao_morfologia.png  ·  Bloco 3. Distribuições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Morfologia: as regiões têm formas diferentes de distribuição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A3_belo_horizonte/figuras/F10_densidades_regiao_morfolog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274725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curva por região em cada painel: a altura indica onde os setores daquela região se concentram. As áreas sob as curvas são iguais, para que regiões grandes e pequenas sejam comparáveis.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Domicílio improvisado, a mediana regional vai de 0,0000 (Sudeste) a 0,0000 (Sudeste).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F10 · figuras/F10_densidades_regiao_morfologia.png  ·  Bloco 3. Distribuições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Demografia: Índice de envelhecimento tem a distribuição mais assimétrica (assimetria 4,48)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A3_belo_horizonte/figuras/F11_histogramas_demograf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275260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histograma por indicador da dimensão: no eixo horizontal, o valor; no vertical, quantos setores têm aquele valor. Os 0,5% maiores ficam de fora para a escala ser legível.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os indicadores de Demografia, a maior assimetria é a de Índice de envelhecimento (4,48).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F11 · figuras/F11_histogramas_demografia.png  ·  Bloco 3. Distribuições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Demografia: Crianças 0–4 tem mediana de 0,0457 no Sudeste e 0,0457 no Sudeste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A3_belo_horizonte/figuras/F12_boxplots_regiao_demograf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2754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caixa por região: a linha dentro é a mediana, a caixa vai do 1º ao 3º quartil e as hastes até 1,5 intervalo interquartil. Os pontos extremos não são desenhados (ver bloco 5).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primeiro indicador da dimensão (Crianças 0–4), a mediana regional vai de 0,0457 (Sudeste) a 0,0457 (Sudeste).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F12 · figuras/F12_boxplots_regiao_demografia.png  ·  Bloco 3. Distribuições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Demografia: as regiões têm formas diferentes de distribuição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A3_belo_horizonte/figuras/F13_densidades_regiao_demograf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275260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curva por região em cada painel: a altura indica onde os setores daquela região se concentram. As áreas sob as curvas são iguais, para que regiões grandes e pequenas sejam comparáveis.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Crianças 0–4, a mediana regional vai de 0,0457 (Sudeste) a 0,0457 (Sudeste).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F13 · figuras/F13_densidades_regiao_demografia.png  ·  Bloco 3. Distribuições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Faltantes e sigilo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faltam dados, e a falta é aleatória?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T06 · F14 · T07 · F15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maior percentual de faltantes é o de Analfabetismo 15+ em Belo Horizonte (22,5%)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269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051560"/>
                <a:gridCol w="1051560"/>
                <a:gridCol w="1051560"/>
                <a:gridCol w="105156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(% sem valor)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Casa de vila/condomínio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só no terreno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1948942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 e uma coluna por indicador; cada célula é o percentual de setores do município sem aquele indicador.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célula mais alta é Analfabetismo 15+ em Belo Horizonte, com 22,5% dos setores sem valor.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T06 · tabelas/T06_faltantes_por_municipio.csv  ·  Bloco 4. Faltantes e sigilo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faltantes se concentram em poucos indicadores e municípios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A3_belo_horizonte/figuras/F14_mapa_faltan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0107" y="1243584"/>
            <a:ext cx="4126625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de calor: linhas são municípios, colunas são indicadores; quanto mais escura a célula, maior o percentual de setores sem valor.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ponto mais escuro é Analfabetismo 15+ em Belo Horizonte (22,5%).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F14 · figuras/F14_mapa_faltantes.png  ·  Bloco 4. Faltantes e sigilo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analfabetismo falta em 33,2% dos menores setores e em 10,2% dos maiores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2179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097280"/>
                <a:gridCol w="1097280"/>
                <a:gridCol w="1097280"/>
                <a:gridCol w="1280160"/>
                <a:gridCol w="91440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Décimo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Moradores (mín.)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Moradores (máx.)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sem renda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sem analfabetismo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em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1.428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setores são divididos em dez grupos iguais pelo número de moradores (1 = os menores). Para cada grupo, o percentual de setores sem renda e sem analfabetismo, e o percentual em FCU.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renda: 0,0% no primeiro décimo e 0,0% no último. Sem analfabetismo: 33,2% e 10,2%.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T07 · tabelas/T07_sigilo_por_porte_do_setor.csv  ·  Bloco 4. Faltantes e sigilo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falta de dados depende do tamanho do setor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A3_belo_horizonte/figuras/F15_sigilo_por_porte_do_se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401393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Eixo horizontal: décimo de moradores do setor (1 = menores). Eixo vertical: percentual de setores sem o indicador.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Renda: de 0,0% a 0,0%; analfabetismo: de 33,2% a 10,2%, do menor ao maior décimo.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F15 · figuras/F15_sigilo_por_porte_do_setor.png  ·  Bloco 4. Faltantes e sigilo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Extremos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setores têm valores fora do comum, e por qual critério?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T08 · T09 · T10 · T11 · F16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Moradia convencional tem a maior proporção de extremos (7,7%)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3609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377440"/>
                <a:gridCol w="914400"/>
                <a:gridCol w="777240"/>
                <a:gridCol w="822960"/>
                <a:gridCol w="73152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Critério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Limite sup.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Extremos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extremos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zeros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inflação de zeros: Tukey k=3 só entre os valores acima de zero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0,6382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95,7%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inflação de zeros: Tukey k=3 só entre os valores acima de zero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1,2297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88,0%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inflação de zeros: Tukey k=3 só entre os valores acima de zero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1,5684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água canalizada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inflação de zeros: Tukey k=3 só entre os valores acima de zero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86,2%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não chega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inflação de zeros: Tukey k=3 só entre os valores acima de zero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só no terreno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inflação de zeros: Tukey k=3 só entre os valores acima de zero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0,1736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98,0%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inflação de zeros: Tukey k=3 só entre os valores acima de zero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98,5%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 nem sanitário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inflação de zeros: Tukey k=3 só entre os valores acima de zero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indicador: o critério usado, os limites, quantos setores passam deles e o percentual de zeros.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maior percentual de extremos é o de Moradia convencional (7,7%), pelo critério “Tukey k=3 (intervalo interquartil)”.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T08 · tabelas/T08_extremos_por_indicador.csv  ·  Bloco 5. Extremos  ·  parte 1 de 3</a:t>
            </a:r>
            <a:endParaRPr lang="en-US" sz="9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Moradia convencional tem a maior proporção de extremos (7,7%)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3609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377440"/>
                <a:gridCol w="914400"/>
                <a:gridCol w="777240"/>
                <a:gridCol w="822960"/>
                <a:gridCol w="73152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Critério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Limite sup.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Extremos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extremos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zeros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Só sanitário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inflação de zeros: Tukey k=3 só entre os valores acima de zero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de uso comum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inflação de zeros: Tukey k=3 só entre os valores acima de zero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98,9%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inflação de zeros: Tukey k=3 só entre os valores acima de zero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Tukey k=3 (intervalo interquartil)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4,0229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Tukey k=3 (intervalo interquartil)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renda: Tukey k=3 no município + coerência do perfil do setor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Tukey k=3 (intervalo interquartil)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1,7321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Responsável mulher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Tukey k=3 (intervalo interquartil)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sem o extremo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Tukey k=3 (intervalo interquartil)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17.596,33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(mediana mun.)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Tukey k=3 (intervalo interquartil)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17.595,39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Domicílio improvisado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inflação de zeros: Tukey k=3 só entre os valores acima de zero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indicador: o critério usado, os limites, quantos setores passam deles e o percentual de zeros.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maior percentual de extremos é o de Moradia convencional (7,7%), pelo critério “Tukey k=3 (intervalo interquartil)”.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T08 · tabelas/T08_extremos_por_indicador.csv  ·  Bloco 5. Extremos  ·  parte 2 de 3</a:t>
            </a:r>
            <a:endParaRPr lang="en-US" sz="9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Moradia convencional tem a maior proporção de extremos (7,7%)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3609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377440"/>
                <a:gridCol w="914400"/>
                <a:gridCol w="777240"/>
                <a:gridCol w="822960"/>
                <a:gridCol w="73152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Critério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Limite sup.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Extremos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extremos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zeros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precária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inflação de zeros: Tukey k=3 só entre os valores acima de zero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90,3%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convencional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Tukey k=3 (intervalo interquartil)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1,0233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não convencional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inflação de zeros: Tukey k=3 só entre os valores acima de zero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90,6%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Apartamento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Tukey k=3 (intervalo interquartil)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3,3116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Tukey k=3 (intervalo interquartil)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3,1476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Casa de vila/condomínio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inflação de zeros: Tukey k=3 só entre os valores acima de zero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Crianças 0–4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Tukey k=3 (intervalo interquartil)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População 0–14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Tukey k=3 (intervalo interquartil)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Tukey k=3 (intervalo interquartil)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0,5999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de envelhecimento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Tukey k=3 (intervalo interquartil)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631,9325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Dependência idosa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Tukey k=3 (intervalo interquartil)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102,5855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70+ entre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Tukey k=3 (intervalo interquartil)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93,0894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indicador: o critério usado, os limites, quantos setores passam deles e o percentual de zeros.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maior percentual de extremos é o de Moradia convencional (7,7%), pelo critério “Tukey k=3 (intervalo interquartil)”.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T08 · tabelas/T08_extremos_por_indicador.csv  ·  Bloco 5. Extremos  ·  parte 3 de 3</a:t>
            </a:r>
            <a:endParaRPr lang="en-US" sz="9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Belo Horizonte concentra o maior número de marcações de extremo (921)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2237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22960"/>
                <a:gridCol w="1097280"/>
                <a:gridCol w="1097280"/>
                <a:gridCol w="1097280"/>
                <a:gridCol w="109728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convencional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de envelhecimento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sem o extremo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1948942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 e uma coluna por indicador, com o número de setores marcados; a coluna total soma todas as marcações.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município com mais marcações é Belo Horizonte, com 921 no total.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T09 · tabelas/T09_extremos_por_municipio.csv  ·  Bloco 5. Extremos</a:t>
            </a:r>
            <a:endParaRPr lang="en-US" sz="9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setores mais distantes da mediana, indicador por indicador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9494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645920"/>
                <a:gridCol w="1554480"/>
                <a:gridCol w="91440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global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310620060660300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água canalizada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310620025610247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não chega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310620060690400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0,1905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só no terreno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310620025610247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310620005670397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de uso comum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310620005670397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310620005670397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0,2576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310620005670260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4,3286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2,6353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310620025610648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0,4815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310620005650366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170.418,06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3.060,31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Responsável mulher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310620005630485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0,5175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sem o extremo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310620005620422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45.385,44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3.058,23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Até dez setores por indicador, os mais distantes da mediana entre os marcados como extremo: código do setor, município, valor e mediana global.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topo da lista de Renda média está um setor de Belo Horizonte, com valor 170.418,06.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T10 · tabelas/T10_extremos_lista.csv  ·  Bloco 5. Extremos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setores mais distantes da mediana, indicador por indicador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9494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645920"/>
                <a:gridCol w="1554480"/>
                <a:gridCol w="91440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global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(mediana mun.)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310620005620422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45.385,44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3.058,23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Domicílio improvisado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310620005650617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precária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310620060660397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convencional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310620060660397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não convencional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310620060660397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Casa de vila/condomínio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310620060640027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Crianças 0–4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310620025610341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310620025610648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0,6222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de envelhecimento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310620005620692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2.700,0000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135,2397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Dependência idosa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310620025610648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233,3333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30,7692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70+ entre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310620005630483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45,8524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426554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Até dez setores por indicador, os mais distantes da mediana entre os marcados como extremo: código do setor, município, valor e mediana global.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topo da lista de Renda média está um setor de Belo Horizonte, com valor 170.418,06.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T10 · tabelas/T10_extremos_lista.csv  ·  Bloco 5. Extremos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setores têm renda suspeita e 60 têm renda extrema coerente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4023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18872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Classe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5.051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98,79%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EXTREMO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1,17%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SUSPEITO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setor com renda recebe uma classe: NORMAL, EXTREMO (acima do limite do município, mas coerente com o perfil) ou SUSPEITO (acima do limite e incoerente).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São 2 setores SUSPEITO (0,04%) e 60 EXTREMO.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T11 · tabelas/T11_renda_classes.csv  ·  Bloco 5. Extremos</a:t>
            </a:r>
            <a:endParaRPr lang="en-US" sz="9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proporção de extremos varia muito de um indicador para outro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A3_belo_horizonte/figuras/F16_extremos_por_indicad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1800" y="1243584"/>
            <a:ext cx="4823240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barra por indicador, com o percentual de setores marcados; a cor indica o critério (petróleo: Tukey; cinza: inflação de zeros; argila: renda).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barra mais longa é a de Moradia convencional (7,7%).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F16 · figuras/F16_extremos_por_indicador.png  ·  Bloco 5. Extremos</a:t>
            </a:r>
            <a:endParaRPr lang="en-US" sz="9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Correlações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indicadores andam juntos?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T12 · T13 · T14 · F17 · F18</a:t>
            </a:r>
            <a:endParaRPr lang="en-US" sz="1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média e Renda sem o extremo formam o par mais correlacionado (ρ = 1,0000)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187184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804672"/>
                <a:gridCol w="804672"/>
                <a:gridCol w="804672"/>
                <a:gridCol w="804672"/>
                <a:gridCol w="804672"/>
                <a:gridCol w="804672"/>
                <a:gridCol w="804672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Componentes do índice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3427222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correlação de Spearman: cada célula é a correlação entre o indicador da linha e o da coluna, de −1 a 1.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correlação em módulo é entre Renda média e Renda sem o extremo (ρ = 1,0000).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T12 · tabelas/T12_correlacao_spearman.csv  ·  Bloco 6. Correlações</a:t>
            </a:r>
            <a:endParaRPr lang="en-US" sz="9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 correlação linear, o par mais forte é Renda média × Renda sem o extremo (r = 1,0000)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187184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804672"/>
                <a:gridCol w="804672"/>
                <a:gridCol w="804672"/>
                <a:gridCol w="804672"/>
                <a:gridCol w="804672"/>
                <a:gridCol w="804672"/>
                <a:gridCol w="804672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Componentes do índice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3427222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correlação de Pearson, com a mesma leitura da de Spearman.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correlação de Pearson em módulo é entre Renda média e Renda sem o extremo (r = 1,0000).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T13 · tabelas/T13_correlacao_pearson.csv  ·  Bloco 6. Correlações</a:t>
            </a:r>
            <a:endParaRPr lang="en-US" sz="9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par mais redundante é Renda sem o extremo × Renda (mediana mun.) (ρ = 1,0000)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9494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37744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Pearson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sem o extremo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(mediana mun.)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sem o extremo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de uso comum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(mediana mun.)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Dependência idosa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0,9705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precária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não convencional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de uso comum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de envelhecimento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População 0–14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de envelhecimento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-0,9316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-0,7544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sem o extremo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-0,9206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-0,8662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pares de indicadores com correlação de pelo menos 0,80 em módulo, por Spearman ou por Pearson, do mais forte para o mais fraco.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topo: Renda sem o extremo × Renda (mediana mun.), com Spearman 1,0000 e Pearson 1,0000.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T14 · tabelas/T14_pares_acima_de_080.csv  ·  Bloco 6. Correlações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par mais redundante é Renda sem o extremo × Renda (mediana mun.) (ρ = 1,0000)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9494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37744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Pearson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(mediana mun.)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-0,9205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-0,8662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-0,9199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-0,7349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de envelhecimento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Dependência idosa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0,6923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Apartamento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-0,9156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-0,9461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Crianças 0–4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População 0–14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sem o extremo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-0,8025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-0,4865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(mediana mun.)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-0,8021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-0,4864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-0,8013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-0,3708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água canalizada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só no terreno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0,6631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convencional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não convencional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-0,5473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-0,9867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precária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convencional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-0,5406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-0,9850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pares de indicadores com correlação de pelo menos 0,80 em módulo, por Spearman ou por Pearson, do mais forte para o mais fraco.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topo: Renda sem o extremo × Renda (mediana mun.), com Spearman 1,0000 e Pearson 1,0000.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T14 · tabelas/T14_pares_acima_de_080.csv  ·  Bloco 6. Correlações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indicadores formam grupos de correlação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A3_belo_horizonte/figuras/F17_mapa_spearm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0757" y="1243584"/>
            <a:ext cx="5965326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de calor da correlação de Spearman, com os indicadores reordenados pelo agrupamento do dendrograma; argila é correlação positiva, petróleo negativa.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par mais forte é Renda média × Renda sem o extremo (ρ = 1,0000).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F17 · figuras/F17_mapa_spearman.png  ·  Bloco 6. Correlações</a:t>
            </a:r>
            <a:endParaRPr lang="en-US" sz="9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dendrograma junta os indicadores que medem coisas parecidas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A3_belo_horizonte/figuras/F18_dendrogra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29445" y="1243584"/>
            <a:ext cx="4547950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indicador é uma folha à esquerda; as linhas os unem do mais parecido para o menos. Quanto mais à esquerda a união, mais correlacionados os indicadores.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par mais próximo é Renda média × Renda sem o extremo (ρ = 1,0000).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F18 · figuras/F18_dendrograma.png  ·  Bloco 6. Correlações</a:t>
            </a:r>
            <a:endParaRPr lang="en-US" sz="9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Favelas e comunidades urbanas (FCU)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indicador, sozinho, separa os setores de favela dos demais?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T15 · F19</a:t>
            </a:r>
            <a:endParaRPr lang="en-US" sz="12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Cor/raça PPI é o indicador que mais separa as favelas (AUC 0,9205)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8580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051560"/>
                <a:gridCol w="1005840"/>
                <a:gridCol w="822960"/>
                <a:gridCol w="91440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fora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Diferença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0,7912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0,5587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População 0–14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Crianças 0–4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2,8681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2,5972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0,2709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0,7927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0,9627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0,6930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0,6930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Responsável mulher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0,5580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0,6644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Casa de vila/condomínio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0,6437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0,6181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água canalizada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0,5951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precária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não convencional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só no terreno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indicador: setores de FCU e fora, a mediana em cada grupo, a diferença e a AUC do indicador sozinho.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Cor/raça PPI tem AUC 0,9205 (mediana 0,7912 em FCU e 0,5587 fora); a menor AUC é a de Renda sem o extremo (0,0433).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T15 · tabelas/T15_fcu_por_indicador.csv  ·  Bloco 7. Favelas e comunidades urbanas (FCU)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Cor/raça PPI é o indicador que mais separa as favelas (AUC 0,9205)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8580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051560"/>
                <a:gridCol w="1005840"/>
                <a:gridCol w="822960"/>
                <a:gridCol w="91440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fora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Diferença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de uso comum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0,5173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0,5104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não chega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0,5052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Domicílio improvisado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0,5044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Só sanitário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0,5014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 nem sanitário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convencional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0,4404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70+ entre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39,1304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46,8486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-7,7182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0,2885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Dependência idosa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18,4356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33,0435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-14,6079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0,1812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-0,0902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de envelhecimento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58,2524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151,1628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-92,9104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Apartamento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0,3938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-0,3938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1.546,15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3.582,80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-2.036,65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(mediana mun.)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1.546,15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3.582,80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-2.036,65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sem o extremo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1.545,10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3.582,80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-2.037,70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indicador: setores de FCU e fora, a mediana em cada grupo, a diferença e a AUC do indicador sozinho.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Cor/raça PPI tem AUC 0,9205 (mediana 0,7912 em FCU e 0,5587 fora); a menor AUC é a de Renda sem o extremo (0,0433).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T15 · tabelas/T15_fcu_por_indicador.csv  ·  Bloco 7. Favelas e comunidades urbanas (FCU)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indicadores separam as favelas com força muito diferente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A3_belo_horizonte/figuras/F19_fcu_por_indicad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4498" y="1243584"/>
            <a:ext cx="5777844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esquerda, a AUC de cada indicador (barras a partir de 0,5; argila acima, petróleo abaixo). À direita, as medianas em FCU e fora, para os indicadores em proporção.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AUC é a de Cor/raça PPI (0,9205); a menor, a de Renda sem o extremo (0,0433).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F19 · figuras/F19_fcu_por_indicador.png  ·  Bloco 7. Favelas e comunidades urbanas (FCU)</a:t>
            </a:r>
            <a:endParaRPr lang="en-US" sz="9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Envelhecimento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 população idosa se distribui, e com que indicadores ela se relaciona?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T16 · F20 · T17 · T18 · F21</a:t>
            </a:r>
            <a:endParaRPr lang="en-US" sz="12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faixa de 30–39 anos concentra a maior parte da população (15,5%)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32004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960120"/>
                <a:gridCol w="96012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Faixa etária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0–4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5–9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10–14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15–19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20–24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25–29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30–39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40–49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50–59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60–69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faixa etária; as colunas são o total e as regiões, com o percentual da população de cada uma em cada faixa.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Pessoas de 70 anos ou mais são 9,4% do total, chegando a 9,4% no Sudeste.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T16 · tabelas/T16_estrutura_etaria.csv  ·  Bloco 8. Envelhecimento</a:t>
            </a:r>
            <a:endParaRPr lang="en-US" sz="9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estrutura etária muda de região para região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A3_belo_horizonte/figuras/F20_piramide_etar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470452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Barras: percentual da população total em cada faixa etária. Pontos: o mesmo percentual em cada região.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70+: 9,4% no total e 9,4% no Sudeste.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F20 · figuras/F20_piramide_etaria.png  ·  Bloco 8. Envelhecimento</a:t>
            </a:r>
            <a:endParaRPr lang="en-US" sz="9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mediana de pessoas 60+ por setor vai de 0,2000 (Sudeste) a 0,2000 (Sudeste)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949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103120"/>
                <a:gridCol w="822960"/>
                <a:gridCol w="914400"/>
                <a:gridCol w="914400"/>
                <a:gridCol w="91440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Escopo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P25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P75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5.105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0,2588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de envelhecimento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5.070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80,8000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135,2397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218,5831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Dependência idosa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5.105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21,4286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30,7692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41,7178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70+ entre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5.050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38,8889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45,8524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52,4390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5.105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0,2588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de envelhecimento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5.070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80,8000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135,2397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218,5831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Dependência idosa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5.105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21,4286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30,7692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41,7178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70+ entre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5.050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38,8889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45,8524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52,4390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quatro indicadores de envelhecimento, para o total e por região: n, média, mediana, quartis e as demais descritivas.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Pessoas 60+: mediana de 0,2000 no Sudeste e 0,2000 no Sudeste. Índice de envelhecimento, mediana do total: 135,2397.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T17 · tabelas/T17_envelhecimento_por_regiao.csv  ·  Bloco 8. Envelhecimento</a:t>
            </a:r>
            <a:endParaRPr lang="en-US" sz="9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percentual de pessoas 60+ se relaciona mais com População 0–14 (ρ = -0,7909)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9494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188720"/>
                <a:gridCol w="1188720"/>
                <a:gridCol w="1188720"/>
                <a:gridCol w="118872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 (ρ de Spearman)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60+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de envelhecimento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Dependência idosa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70+ entre 60+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-0,1085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-0,1179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-0,1048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-0,0496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-0,3086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-0,3242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-0,2983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-0,1953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-0,3326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-0,3220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-0,3310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-0,1996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água canalizada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-0,1563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-0,1635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-0,1517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-0,0864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não chega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-0,0512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-0,0580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-0,0478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-0,0490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só no terreno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-0,1165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-0,1215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-0,1143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-0,0654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-0,0699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-0,0707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-0,0690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-0,0243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 nem sanitário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Só sanitário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-0,0396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-0,0404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-0,0393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-0,0110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de uso comum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-0,0525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-0,0509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-0,0522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-0,0145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-0,0302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-0,0282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-0,0300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-0,4266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-0,5394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-0,3844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-0,2826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-0,4460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-0,5003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-0,4190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-0,2613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0,5815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0,5029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Correlação de Spearman entre os indicadores de envelhecimento (linhas) e os demais (colunas).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pessoas 60+, a correlação mais forte é com População 0–14 (ρ = -0,7909); com a renda média, ρ = 0,5315.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T18 · tabelas/T18_envelhecimento_correlacoes.csv  ·  Bloco 8. Envelhecimento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percentual de pessoas 60+ se relaciona mais com População 0–14 (ρ = -0,7909)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6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9494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188720"/>
                <a:gridCol w="1188720"/>
                <a:gridCol w="1188720"/>
                <a:gridCol w="118872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 (ρ de Spearman)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60+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de envelhecimento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Dependência idosa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70+ entre 60+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-0,5982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-0,6455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-0,5700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-0,4166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Responsável mulher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-0,0334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-0,0328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-0,0329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-0,0257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sem o extremo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0,5817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0,5029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(mediana mun.)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0,5817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0,5029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Domicílio improvisado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-0,0166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-0,0192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-0,0258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precária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-0,0412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-0,0487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-0,0385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-0,0325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convencional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não convencional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-0,0381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-0,0478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-0,0348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-0,0277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Apartamento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0,3296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0,2067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-0,1721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-0,2501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-0,1396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-0,1128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Casa de vila/condomínio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-0,1549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-0,1587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-0,1515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-0,1228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Crianças 0–4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-0,6777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-0,7766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-0,6358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-0,4053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População 0–14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-0,7909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-0,9316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-0,7358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-0,4785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Correlação de Spearman entre os indicadores de envelhecimento (linhas) e os demais (colunas).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pessoas 60+, a correlação mais forte é com População 0–14 (ρ = -0,7909); com a renda média, ρ = 0,5315.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T18 · tabelas/T18_envelhecimento_correlacoes.csv  ·  Bloco 8. Envelhecimento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Pessoas 60+ e renda média: ρ = 0,5315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A3_belo_horizonte/figuras/F21_dispersao_60ma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9116" y="1243584"/>
            <a:ext cx="6388608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hexágono reúne setores com valores parecidos; quanto mais escuro, mais setores. Eixo horizontal: renda média em escala logarítmica; vertical: proporção de pessoas de 60 anos ou mais.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correlação de Spearman entre as duas é 0,5315.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F21 · figuras/F21_dispersao_60mais.png  ·  Bloco 8. Envelhecimento</a:t>
            </a:r>
            <a:endParaRPr lang="en-US" sz="9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Adequação fatorial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componentes do índice se prestam a uma análise fatorial, e quantos fatores ela sustenta?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T19 · T20 · T21 · T22 · F22 · F23</a:t>
            </a:r>
            <a:endParaRPr lang="en-US" sz="12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KMO de 0,7994: os componentes se prestam à análise fatorial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(n)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variáveis (p)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0,7994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Bartlett qui-quadrado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11.630,8301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Bartlett graus de liberdade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determinante de 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fatores pelo critério de Kaiser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fatores pela análise paralela de Horn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variância explicada por 2 fatores (%)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63,0579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medidas de adequação da matriz de correlação dos componentes do índice, na amostra do índice.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KMO 0,7994, com 3.499 setores; Kaiser retém 3 fatores e Horn, 2; dois fatores explicam 63,1% da variância.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T19 · tabelas/T19_adequacao_fatorial.csv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Água inadequada tem a menor adequação individual (MSA 0,5307)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9037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822960"/>
                <a:gridCol w="868680"/>
                <a:gridCol w="868680"/>
                <a:gridCol w="868680"/>
                <a:gridCol w="868680"/>
                <a:gridCol w="8686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MSA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Comunal.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Padrão F1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Padrão F2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Estrut. F1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Estrut. F2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0,7540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-0,1741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0,5777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0,6635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0,4034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0,7220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-0,0255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-0,0427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0,1712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0,8739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-0,0278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0,9344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0,1974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0,7570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0,8705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0,9375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-0,0194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0,9328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0,2049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0,6413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componente: MSA, comunalidades e as cargas em cada fator, sem rotação, na Varimax e na promax (padrão e estrutura).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Menor MSA: Água inadequada (0,5307). Menor comunalidade (promax): Banheiro graduado (0,0182).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T20 · tabelas/T20_variaveis_cargas.csv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segundo autovalor (1,1624) fica acima da linha de Horn (1,0374)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4864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Autovalor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Horn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variância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acumulada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3,2517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1,0641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46,5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46,5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1,1624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1,0374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63,1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1,0168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77,4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0,6799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87,1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0,5440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94,8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0,2636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0,9617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98,6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0,9378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componente por linha: autovalor, valor de referência da análise paralela de Horn e variância explicada, simples e acumulada.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Primeiro autovalor 3,2517, segundo 1,1624 (Horn: 1,0374); os dois primeiros explicam 63,1% da variância.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T21 · tabelas/T21_autovalores.csv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dois fatores da promax se correlacionam em 0,2393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32918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Φ: a correlação entre os fatores depois da rotação promax.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correlação entre F1 e F2 é 0,2393.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T22 · tabelas/T22_phi.csv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Gráfico de sedimentação: dois componentes acima do acaso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A3_belo_horizonte/figuras/F22_sedimentacao_hor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44942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Linha cheia: autovalores em ordem decrescente. Tracejada: o que dados aleatórios produziriam (Horn). Pontilhada: o critério de Kaiser (autovalor 1).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segundo autovalor é 1,1624, contra 1,0374 da linha de Horn.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F22 · figuras/F22_sedimentacao_horn.png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(invertida) define F1 e Água inadequada define F2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A3_belo_horizonte/figuras/F23_mapa_carg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6483" y="1243584"/>
            <a:ext cx="5533875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seta é um componente; a ponta fica nas cargas padrão da promax em F1 (horizontal) e F2 (vertical). O círculo marca carga 1.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carga em F1: Renda (invertida) (0,9411); em F2: Água inadequada (0,8934).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F23 · figuras/F23_mapa_cargas.png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da versão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fica o índice, e ele separa os setores de favela?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T23 · T24 · T25 · T26 · T27 · F24 · F25</a:t>
            </a:r>
            <a:endParaRPr lang="en-US" sz="12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Água inadequada tem o maior peso no índice (25,5%)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7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178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011680"/>
                <a:gridCol w="868680"/>
                <a:gridCol w="1280160"/>
                <a:gridCol w="118872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da dimensão (%)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no índice (%)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 (saneamento)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 (saneamento)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0,6635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0,9375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 (saneamento)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componente: a dimensão em que ele carrega mais, a carga, o peso da dimensão e o peso final no índice (em %).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maior peso é o de Água inadequada (25,5%); a dimensão socioeconômica pesa 60,0%.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T23 · tabelas/T23_pesos.csv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tem mediana 0,3346 e P90 0,3879, em 3.499 setores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7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5379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822960"/>
                <a:gridCol w="822960"/>
                <a:gridCol w="822960"/>
                <a:gridCol w="868680"/>
                <a:gridCol w="82296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Escopo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DP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0,3283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0,3283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Descritivas do índice para o total e por região. Como o índice é normalizado dentro de cada município, todo município tem mínimo 0 e máximo 1.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3.499 setores; mediana 0,3346; percentil 90 0,3879.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T24 · tabelas/T24_indice_descritivas.csv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Pela regra do IVS-BH, 3,6% dos setores ficam em vulnerabilidade muito elevada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49377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645920"/>
                <a:gridCol w="1097280"/>
                <a:gridCol w="91440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Regra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1.560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Quantos setores ficam em cada faixa, pelas duas regras: a do IVS-BH (média e desvio-padrão do município) e a dos quartis do município.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IVS-BH: 28,0% baixo e 3,6% muito elevado. Quartis: 25,0% muito elevado.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T25 · tabelas/T25_faixas.csv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municipal de 0,9172: o índice separa as favelas — versão não elegível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7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675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097280"/>
                <a:gridCol w="23774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Detalhe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global contra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municipal (mediana)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municípios na AUC municipal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ao menos 30 setores de FCU e fora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da dimensão socioeconômica (%)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 ≥ 0,70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MSA ≥ 0,50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comunalidade mínima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comunalidade ≥ 0,30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maior carga mínima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 ≥ 0,40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elegível pelos critérios do NB05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global e municipal, peso da dimensão socioeconômica e os critérios de elegibilidade do NB05, um por linha (1 = atende).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global 0,9172; mediana da AUC municipal 0,9172, em 1 municípios. Pelos critérios do NB05, a versão é não elegível.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T26 · tabelas/T26_auc_e_elegibilidade.csv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AUC vai de 0,9172 (Belo Horizonte) a 0,9172 (Belo Horizonte) entre os municípios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7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66928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91440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(entra na mediana)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fora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2.977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180174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AUC, setores de FCU (n1) e fora (n0) e se o município entra na mediana.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os municípios que entram na mediana, a maior AUC é a de Belo Horizonte (0,9172) e a menor, a de Belo Horizonte (0,9172).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T27 · tabelas/T27_auc_por_municipio.csv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distribuição do índice e as faixas do IVS-BH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A3_belo_horizonte/figuras/F24_histograma_por_faix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438204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Histograma do índice, com cada barra dividida pela faixa dos setores (regra do IVS-BH).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28,0% dos setores ficam em baixo e 3,6% em muito elevado.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F24 · figuras/F24_histograma_por_faixa.png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Curva ROC do índice contra as favelas (AUC global 0,9172)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A3_belo_horizonte/figuras/F25_curva_r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4602" y="1243584"/>
            <a:ext cx="4857636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ponto da curva é um corte do índice: no eixo vertical, a proporção de setores de FCU acima do corte; no horizontal, a dos setores de fora. A diagonal é o acaso.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Área sob a curva: 0,9172 (global); a mediana municipal é 0,9172.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F25 · figuras/F25_curva_roc.png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está em risco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Quantas pessoas, e quantas pessoas idosas, vivem em cada faixa?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T28 · T29 · F26</a:t>
            </a:r>
            <a:endParaRPr lang="en-US" sz="12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Belo Horizonte tem a maior parte dos moradores em vulnerabilidade elevada ou muito elevada (26,9%)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7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492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188720"/>
                <a:gridCol w="1097280"/>
                <a:gridCol w="109728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60+ 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elevado ou mais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389.799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44.378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4.332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1948942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setores, moradores e moradores de 60+ em cada faixa (regra do IVS-BH) e o percentual de moradores nas duas faixas mais altas.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percentual em elevado ou muito elevado: Belo Horizonte (26,9%); menor: Belo Horizonte (26,9%).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T28 · tabelas/T28_risco_por_municipio.csv  ·  Bloco 11. Quem está em risco</a:t>
            </a:r>
            <a:endParaRPr lang="en-US" sz="95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44.378 pessoas vivem em setores de vulnerabilidade muito elevada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7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492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1097280"/>
                <a:gridCol w="1097280"/>
                <a:gridCol w="91440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60+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pessoas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pessoas 60+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401.091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99.896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1.560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777.280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156.003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48,2%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49,6%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389.799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54.462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44.378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4.332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faixa: setores, moradores e moradores de 60+, com os percentuais.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 faixa muito elevada: 44.378 pessoas (2,8% do total), das quais 4.332 com 60 anos ou mais.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T29 · tabelas/T29_risco_total.csv  ·  Bloco 11. Quem está em risco</a:t>
            </a:r>
            <a:endParaRPr lang="en-US" sz="95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parcela de moradores em cada faixa muda de município para município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A3_belo_horizonte/figuras/F26_risco_por_municip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19582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barra por município, dividida pelas faixas do índice; o comprimento de cada parte é o percentual de moradores. Ordem: do maior para o menor percentual nas duas faixas mais altas.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topo, Belo Horizonte (26,9% em elevado ou muito elevado); na base, Belo Horizonte (26,9%).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F26 · figuras/F26_risco_por_municipio.png  ·  Bloco 11. Quem está em risco</a:t>
            </a:r>
            <a:endParaRPr lang="en-US" sz="95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Desigualdade interna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que municípios o índice varia mais de um setor para outro?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T30 · F27</a:t>
            </a:r>
            <a:endParaRPr lang="en-US" sz="12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Belo Horizonte tem a maior desigualdade interna do índice (Gini 0,0978)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8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720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77240"/>
                <a:gridCol w="777240"/>
                <a:gridCol w="777240"/>
                <a:gridCol w="822960"/>
                <a:gridCol w="777240"/>
                <a:gridCol w="7772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P90/P10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Gini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Theil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180174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setores, média, percentis 10 e 90 do índice, a razão P90/P10, o Gini e o Theil.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Gini: Belo Horizonte (0,0978); menor: Belo Horizonte (0,0978).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T30 · tabelas/T30_desigualdade_interna.csv  ·  Bloco 12. Desigualdade interna</a:t>
            </a:r>
            <a:endParaRPr lang="en-US" sz="95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desigualdade interna do índice, município por município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A3_belo_horizonte/figuras/F27_desigualdade_intern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19343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Barras: Gini do índice dentro de cada município, do maior para o menor. Pontos: Theil.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maior Gini, Belo Horizonte (0,0978), ao menor, Belo Horizonte (0,0978).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F27 · figuras/F27_desigualdade_interna.png  ·  Bloco 12. Desigualdade interna</a:t>
            </a:r>
            <a:endParaRPr lang="en-US" sz="95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Comparação com a referência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 versão muda em relação à referência proposta do NB05?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T31 · T32 · T33 · F28 · F29</a:t>
            </a:r>
            <a:endParaRPr lang="en-US" sz="12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correlação de postos com a referência é 0,9978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8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1206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280160"/>
                <a:gridCol w="128016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Escopo (menores ρ)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comuns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ρ de Spearman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204812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Correlação de Spearman entre o índice desta versão e o da referência, nos setores que estão nas duas amostras: total e por município.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Total: ρ = 0,9978. Menor correlação municipal: Belo Horizonte (0,9978).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T31 · tabelas/T31_spearman_com_referencia.csv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troca de faixa é de elevado para medio (116 setores)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8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217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  <a:gridCol w="100584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Referência ↓ · versão →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1.430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linha é um par (faixa na referência, faixa nesta versão), com o número de setores e o percentual do total.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Fora da diagonal, a maior célula é de elevado para medio, com 116 setores.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T32 · tabelas/T32_matriz_de_faixas.csv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5,3% dos setores mudam de faixa em relação à referência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8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9436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188720"/>
                <a:gridCol w="118872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comuns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Mudam de 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que muda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204812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primeira linha é o total; as demais, os municípios, do mais afetado para o menos: setores comuns, setores que mudam de faixa e o percentual.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total, 5,3% dos setores mudam de faixa; o município mais afetado é Belo Horizonte (5,3%).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T33 · tabelas/T33_municipios_que_mudam.csv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faixas: referência × 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A3_belo_horizonte/figuras/F28_matriz_de_faix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9196" y="1243584"/>
            <a:ext cx="5568449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Linhas: faixa na referência; colunas: faixa nesta versão; cada célula traz o número de setores.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troca fora da diagonal é de elevado para medio (116 setores).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F28 · figuras/F28_matriz_de_faixas.png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municípios mais afetados pela mudança da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A3_belo_horizonte/figuras/F29_municipios_que_mud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177146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20 municípios com o maior percentual de setores que mudam de faixa.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mais afetado é Belo Horizonte (5,3%); no total, 5,3%.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F29 · figuras/F29_municipios_que_mudam.png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 da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472184"/>
            <a:ext cx="2384298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45336"/>
            <a:ext cx="23842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3.499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2130552"/>
            <a:ext cx="23842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na amostra do índice (T01)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527298" y="1472184"/>
            <a:ext cx="2384298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7298" y="1545336"/>
            <a:ext cx="23842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0,7994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527298" y="2130552"/>
            <a:ext cx="23842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KMO dos componentes (T19)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77356" y="1472184"/>
            <a:ext cx="2384298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77356" y="1545336"/>
            <a:ext cx="23842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0,9172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6277356" y="2130552"/>
            <a:ext cx="23842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municipal contra FCU (mediana) (T26)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9027414" y="1472184"/>
            <a:ext cx="2384298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27414" y="1545336"/>
            <a:ext cx="23842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5,3%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9027414" y="2130552"/>
            <a:ext cx="23842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que mudam de faixa em relação à referência (T33)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77240" y="292608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2980944"/>
            <a:ext cx="10634472" cy="3054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 versão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Belo Horizonte o índice ordena os setores quase como a referência e separa as favelas com mais força do que no conjunto dos municípios. Mas a versão não é elegível pelos critérios do NB05: o banheiro graduado quase não varia na cidade, fica com comunalidade e carga muito baixas e não pertence a nenhum dos dois fatores. O critério de Kaiser pede três fatores, e a análise paralela de Horn, dois. A falha fica registrada como falha; nada foi retirado da versão.</a:t>
            </a:r>
            <a:endParaRPr lang="en-US" sz="125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Candidatos ao artigo: as tabelas e figuras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43584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Marcar no catálogo (colunas “Vai para o artigo?”, “Seção” e “Comentários”); os IDs são os mesmos em todas as versões.</a:t>
            </a:r>
            <a:endParaRPr lang="en-US" sz="1100" dirty="0"/>
          </a:p>
        </p:txBody>
      </p:sp>
      <p:graphicFrame>
        <p:nvGraphicFramePr>
          <p:cNvPr id="9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09344"/>
          <a:ext cx="10607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914400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 no deck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3.499 setores chegam ao índice, de 5.166 na base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F01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 recorte ao índice, 1.614 setores saem por falta de algum componente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 é o indicador com mais faltantes (22,5% dos setores)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de uso comum é o indicador mais assimétrico (assimetria 61,52)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média: a mediana vai de 3.060,31 (Sudeste) a 3.060,31 (Sudeste)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média: entre os municípios, a mediana vai de 3.060,31 a 3.060,31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F02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Saneamento: Banheiro de uso comum tem a distribuição mais assimétrica (assimetria 61,52)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F03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Saneamento: Água inadequada tem mediana de 0,0000 no Sudeste e 0,0000 no Sudeste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F04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Saneamento: as regiões têm formas diferentes de distribuição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F05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Socioeconômica: Renda média tem a distribuição mais assimétrica (assimetria 11,11)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F06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Socioeconômica: Razão de moradores tem mediana de 2,6353 no Sudeste e 2,6353 no Sudeste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F07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Socioeconômica: as regiões têm formas diferentes de distribuição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F08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Morfologia: Domicílio improvisado tem a distribuição mais assimétrica (assimetria 30,73)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F09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Morfologia: Domicílio improvisado tem mediana de 0,0000 no Sudeste e 0,0000 no Sudeste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Morfologia: as regiões têm formas diferentes de distribuição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Demografia: Índice de envelhecimento tem a distribuição mais assimétrica (assimetria 4,48)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catalogo.csv  ·  parte 1 de 4</a:t>
            </a:r>
            <a:endParaRPr lang="en-US" sz="95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Candidatos ao artigo: as tabelas e figuras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43584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Marcar no catálogo (colunas “Vai para o artigo?”, “Seção” e “Comentários”); os IDs são os mesmos em todas as versões.</a:t>
            </a:r>
            <a:endParaRPr lang="en-US" sz="1100" dirty="0"/>
          </a:p>
        </p:txBody>
      </p:sp>
      <p:graphicFrame>
        <p:nvGraphicFramePr>
          <p:cNvPr id="9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09344"/>
          <a:ext cx="10607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914400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 no deck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Demografia: Crianças 0–4 tem mediana de 0,0457 no Sudeste e 0,0457 no Sudeste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Demografia: as regiões têm formas diferentes de distribuição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maior percentual de faltantes é o de Analfabetismo 15+ em Belo Horizonte (22,5%)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faltantes se concentram em poucos indicadores e municípios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analfabetismo falta em 33,2% dos menores setores e em 10,2% dos maiores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falta de dados depende do tamanho do setor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convencional tem a maior proporção de extremos (7,7%)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 concentra o maior número de marcações de extremo (921)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setores mais distantes da mediana, indicador por 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 setores têm renda suspeita e 60 têm renda extrema coerente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proporção de extremos varia muito de um indicador para outro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 e Renda sem o extremo formam o par mais correlacionado (ρ = 1,0000)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Na correlação linear, o par mais forte é Renda média × Renda sem o extremo (r = 1,0000)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par mais redundante é Renda sem o extremo × Renda (mediana mun.) (ρ = 1,0000)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indicadores formam grupos de correlação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dendrograma junta os indicadores que medem coisas parecidas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catalogo.csv  ·  parte 2 de 4</a:t>
            </a:r>
            <a:endParaRPr lang="en-US" sz="95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Candidatos ao artigo: as tabelas e figuras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43584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Marcar no catálogo (colunas “Vai para o artigo?”, “Seção” e “Comentários”); os IDs são os mesmos em todas as versões.</a:t>
            </a:r>
            <a:endParaRPr lang="en-US" sz="1100" dirty="0"/>
          </a:p>
        </p:txBody>
      </p:sp>
      <p:graphicFrame>
        <p:nvGraphicFramePr>
          <p:cNvPr id="9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09344"/>
          <a:ext cx="10607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914400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 no deck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 é o indicador que mais separa as favelas (AUC 0,9205)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indicadores separam as favelas com força muito diferente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faixa de 30–39 anos concentra a maior parte da população (15,5%)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estrutura etária muda de região para região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mediana de pessoas 60+ por setor vai de 0,2000 (Sudeste) a 0,2000 (Sudeste)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percentual de pessoas 60+ se relaciona mais com População 0–14 (ρ = -0,7909)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60+ e renda média: ρ = 0,5315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 de 0,7994: os componentes se prestam à análise fatorial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 tem a menor adequação individual (MSA 0,5307)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segundo autovalor (1,1624) fica acima da linha de Horn (1,0374)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dois fatores da promax se correlacionam em 0,2393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Gráfico de sedimentação: dois componentes acima do acaso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 define F1 e Água inadequada define F2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 tem o maior peso no índice (25,5%)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índice tem mediana 0,3346 e P90 0,3879, em 3.499 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Pela regra do IVS-BH, 3,6% dos setores ficam em vulnerabilidade muito elevada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catalogo.csv  ·  parte 3 de 4</a:t>
            </a:r>
            <a:endParaRPr lang="en-US" sz="95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Candidatos ao artigo: as tabelas e figuras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43584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Marcar no catálogo (colunas “Vai para o artigo?”, “Seção” e “Comentários”); os IDs são os mesmos em todas as versões.</a:t>
            </a:r>
            <a:endParaRPr lang="en-US" sz="1100" dirty="0"/>
          </a:p>
        </p:txBody>
      </p:sp>
      <p:graphicFrame>
        <p:nvGraphicFramePr>
          <p:cNvPr id="9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09344"/>
          <a:ext cx="10607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914400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 no deck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municipal de 0,9172: o índice separa as favelas — versão não elegível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AUC vai de 0,9172 (Belo Horizonte) a 0,9172 (Belo Horizonte) entre os municípios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distribuição do índice e as faixas do IVS-BH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Curva ROC do índice contra as favelas (AUC global 0,9172)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 tem a maior parte dos moradores em vulnerabilidade elevada ou muito elevada (26,9%)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44.378 pessoas vivem em setores de vulnerabilidade muito elevada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parcela de moradores em cada faixa muda de município para 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 tem a maior desigualdade interna do índice (Gini 0,0978)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desigualdade interna do índice, município por 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correlação de postos com a referência é 0,9978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maior troca de faixa é de elevado para medio (116 setores)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5,3% dos setores mudam de faixa em relação à referência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Matriz de faixas: referência × esta versão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municípios mais afetados pela mudança da versão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catalogo.csv  ·  parte 4 de 4</a:t>
            </a:r>
            <a:endParaRPr lang="en-US" sz="95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e parâmetros exploratórios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35024"/>
            <a:ext cx="10634472" cy="470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um município só, a AUC municipal é a AUC da cidade, e as tabelas por município e por região têm uma linha.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analfabetismo tem mais sigilo em Belo Horizonte do que no conjunto dos municípios, o que reduz a amostra do índice.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comparação com o IVS-BH 2012 é de método, não de valores: os setores de 2010 e de 2022 não estão compatibilizados (versão bloqueada).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amostra do índice exclui todo setor com algum componente faltante (exclusão por lista).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i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 parâmetro exploratório nesta versão.</a:t>
            </a:r>
            <a:endParaRPr lang="en-US" sz="13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Apêndice: dicionário dos indicadores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9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188720"/>
                <a:gridCol w="4206240"/>
                <a:gridCol w="1737360"/>
                <a:gridCol w="164592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mede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Numerador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Denominador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01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Proporção de domicílios com abastecimento de água inadequado ou ausente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V00112 + V00113 + V00114 + V00115 + V00116 + V00117 + V00118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Proporção de domicílios com esgotamento sanitário inadequado ou ausente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V00312 + V00313 + V00314 + V00315 + V00316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Proporção de domicílios com destino do lixo inadequado ou ausente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V00398 + V00399 + V00400 + V00401 + V00402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água canalizada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Proporção de domicílios em que a água não chega encanada até dentro do domicílio (complemento de V00199; equivale a V00200+V00201 sobre V00001)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V00199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não chega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Proporção de domicílios em que a água não chega encanada ao domicílio (V00201)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V00201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só no terreno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Proporção de domicílios em que a água chega encanada apenas ao terreno (V00200)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V00200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Proporção de domicílios sem banheiro de uso exclusivo com chuveiro e vaso sanitário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V00495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 nem sanitário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Proporção de domicílios sem banheiro nem sanitário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V00238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Só sanitário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Proporção de domicílios com apenas sanitário ou buraco para dejeções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V00237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Quadro_Indicadores.csv (entrega à orientadora)  ·  parte 1 de 3</a:t>
            </a:r>
            <a:endParaRPr lang="en-US" sz="95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Apêndice: dicionário dos indicadores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9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188720"/>
                <a:gridCol w="4206240"/>
                <a:gridCol w="1737360"/>
                <a:gridCol w="164592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mede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Numerador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Denominador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de uso comum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Proporção de domicílios com apenas banheiro de uso comum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V00236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01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Falta de banheiro graduada: 1 ponto para banheiro só de uso comum, 2 para só sanitário, 3 para nem banheiro nem sanitário, sobre 3 vezes os domicílios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V00236 + 2·V00237 + 3·V00238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3·V00001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 por domicílio (reproduz o V0005 do IBGE)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V00005 + V00006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 + V00002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Taxa de analfabetismo entre pessoas de 15 anos ou mais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V00901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V00900 + V00901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Rendimento nominal médio mensal das pessoas responsáveis (R$)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V06004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Proporção de pessoas de cor/raça preta, parda ou indígena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V01318 + V01320 + V01321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Responsável mulher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Proporção de domicílios com pessoa responsável do sexo feminino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V01063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V01062 + V01063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sem o extremo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 dos responsáveis sem o valor extremo de Belo Horizonte (R$ 170.418,06), que vira faltante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V06004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(mediana mun.)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 dos responsáveis com o valor extremo trocado pela mediana do 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V06004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Domicílio improvisado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Morfologia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Proporção de domicílios particulares improvisados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 + V00002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01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precária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Morfologia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Proporção de domicílios em habitação precária (cortiço, estrutura degradada, improvisados)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V00050 + V00052 + V00053 + V00054 + V00055 + V00056 + V00057 + V00058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 + V00002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Quadro_Indicadores.csv (entrega à orientadora)  ·  parte 2 de 3</a:t>
            </a:r>
            <a:endParaRPr lang="en-US" sz="95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Apêndice: dicionário dos indicadores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9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188720"/>
                <a:gridCol w="4206240"/>
                <a:gridCol w="1737360"/>
                <a:gridCol w="164592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mede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Numerador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Denominador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convencional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Morfologia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Proporção de moradias convencionais (casa, casa de vila/condomínio, apartamento)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V00047 + V00048 + V00049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não convencional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Morfologia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Proporção de moradias não convencionais (cortiço, maloca, estrutura degradada)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V00050 + V00051 + V00052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Apartamento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Morfologia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Proporção de domicílios do tipo apartamento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V00049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Morfologia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Proporção de domicílios do tipo casa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V00047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Casa de vila/condomínio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Morfologia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Proporção de domicílios do tipo casa de vila ou em condomínio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V00048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Crianças 0–4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Demografia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Proporção de crianças de 0 a 4 anos na população residente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V01031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População 0–14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Demografia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Proporção de pessoas com menos de 15 anos na população residente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V01031 + V01032 + V01033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60+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Demografia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Proporção de pessoas de 60 anos ou mais na população residente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V01040 + V01041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de envelhecimento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Demografia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de Envelhecimento Populacional: 60+ por 100 menores de 15 anos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V01040 + V01041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V01031 + V01032 + V01033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Dependência idosa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Demografia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Dependência de Idosos: 60+ por 100 pessoas de 15 a 59 anos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V01040 + V01041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V01034 + V01035 + V01036 + V01037 + V01038 + V01039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70+ entre 60+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Demografia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Proporção de pessoas de 70+ entre os de 60+ (proxy de longevidade; NÃO é o LI, que exigiria a faixa 75+, inexistente nos agregados por setor)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V01041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V01040 + V01041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Quadro_Indicadores.csv (entrega à orientadora)  ·  parte 3 de 3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97</Slides>
  <Notes>97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97</vt:i4>
      </vt:variant>
    </vt:vector>
  </HeadingPairs>
  <TitlesOfParts>
    <vt:vector size="10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A3_belo_horizonte — Belo Horizonte</dc:title>
  <dc:subject>PptxGenJS Presentation</dc:subject>
  <dc:creator>Pedro Dias Soares</dc:creator>
  <cp:lastModifiedBy>Pedro Dias Soares</cp:lastModifiedBy>
  <cp:revision>1</cp:revision>
  <dcterms:created xsi:type="dcterms:W3CDTF">2026-10-06T20:47:21Z</dcterms:created>
  <dcterms:modified xsi:type="dcterms:W3CDTF">2026-10-06T20:47:21Z</dcterms:modified>
</cp:coreProperties>
</file>