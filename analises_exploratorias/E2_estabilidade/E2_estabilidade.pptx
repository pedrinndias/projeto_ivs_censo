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pesos e as faixas da referência mudam se um município sai ou se os setores são reamostrados?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Não é uma versão do índice: reestima os pesos da referência 70 vezes, cada vez sem um município, e 1.000 vezes em reamostragens dos setores com reposição (semente 42, parâmetro exploratório), e recalcula o índice de todos os setores com cada conjunto de pesos.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Duas provas de estabilidade da referência. Na primeira, os pesos são reestimados 70 vezes, cada vez sem um município, e o índice é recalculado para todos os setores. Na segunda (reamostragem com reposição, bootstrap), os pesos são reestimados em amostras sorteadas dos municípios, cada um com todos os seus setores, com semente fixa, para ver quanto eles variam só pelo acaso da amostra.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tirar um município só mudasse muito os pesos, o índice dependeria daquela cidade. Os setores do município excluído continuam recebendo índice, com os pesos estimados sem eles.
Como ler: Uma linha por município excluído da estimação dos pesos: KMO, correlação de postos com a referência, % de setores que mudam de faixa e os pesos resultantes.
O que mostra: O menor ρ é ao tirar São Paulo (0,9971); no máximo, 4,1% dos setores mudam de faixa.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tirar um município só mudasse muito os pesos, o índice dependeria daquela cidade. Os setores do município excluído continuam recebendo índice, com os pesos estimados sem eles.
Como ler: Uma linha por município excluído da estimação dos pesos: KMO, correlação de postos com a referência, % de setores que mudam de faixa e os pesos resultantes.
O que mostra: O menor ρ é ao tirar São Paulo (0,9971); no máximo, 4,1% dos setores mudam de faixa.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tirar um município só mudasse muito os pesos, o índice dependeria daquela cidade. Os setores do município excluído continuam recebendo índice, com os pesos estimados sem eles.
Como ler: Uma linha por município excluído da estimação dos pesos: KMO, correlação de postos com a referência, % de setores que mudam de faixa e os pesos resultantes.
O que mostra: O menor ρ é ao tirar São Paulo (0,9971); no máximo, 4,1% dos setores mudam de faixa.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tirar um município só mudasse muito os pesos, o índice dependeria daquela cidade. Os setores do município excluído continuam recebendo índice, com os pesos estimados sem eles.
Como ler: Uma linha por município excluído da estimação dos pesos: KMO, correlação de postos com a referência, % de setores que mudam de faixa e os pesos resultantes.
O que mostra: O menor ρ é ao tirar São Paulo (0,9971); no máximo, 4,1% dos setores mudam de faixa.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tirar um município só mudasse muito os pesos, o índice dependeria daquela cidade. Os setores do município excluído continuam recebendo índice, com os pesos estimados sem eles.
Como ler: Uma linha por município excluído da estimação dos pesos: KMO, correlação de postos com a referência, % de setores que mudam de faixa e os pesos resultantes.
O que mostra: O menor ρ é ao tirar São Paulo (0,9971); no máximo, 4,1% dos setores mudam de faixa.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tirar um município só mudasse muito os pesos, o índice dependeria daquela cidade. Os setores do município excluído continuam recebendo índice, com os pesos estimados sem eles.
Como ler: Uma linha por município excluído da estimação dos pesos: KMO, correlação de postos com a referência, % de setores que mudam de faixa e os pesos resultantes.
O que mostra: O menor ρ é ao tirar São Paulo (0,9971); no máximo, 4,1% dos setores mudam de faixa.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tirar um município só mudasse muito os pesos, o índice dependeria daquela cidade. Os setores do município excluído continuam recebendo índice, com os pesos estimados sem eles.
Como ler: Uma linha por município excluído da estimação dos pesos: KMO, correlação de postos com a referência, % de setores que mudam de faixa e os pesos resultantes.
O que mostra: O menor ρ é ao tirar São Paulo (0,9971); no máximo, 4,1% dos setores mudam de faixa.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reamostragem sorteia municípios com reposição (cada um entra com todos os seus setores), refaz a fatorial e recalcula os pesos. O intervalo entre os percentis 2,5 e 97,5 contém 95% dos pesos obtidos: é uma medida de quanto o peso varia só pelo acaso da amostra.
Como ler: Uma linha por componente: peso na referência e os percentis 2,5, 50 e 97,5 do peso nas reamostragens.
O que mostra: O intervalo mais largo é o de Banheiro graduado: de 4,8% a 24,2%.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Medidas estáveis nas reamostragens indicam que o índice não depende de quais municípios entraram na amostra.
Como ler: KMO, correlação de postos com a referência e AUC municipal: valor na referência e percentis nas reamostragens.
O que mostra: 1.000 reamostragens; ρ com a referência acima de 0,9944 em 97,5% delas; AUC municipal entre 0,8045 e 0,8298.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Barras curtas em todos os municípios indicam que nenhuma cidade sozinha define os pesos.
Como ler: Uma barra por município excluído, com o percentual de setores que mudam de faixa.
O que mostra: No máximo, 4,1% dos setores mudam de faixa; o maior efeito é ao tirar São Paulo.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caixa vai do 1º ao 3º quartil dos pesos reamostrados; caixas estreitas indicam pesos estáveis.
Como ler: Uma caixa por componente com os pesos das reamostragens; o ponto é o peso na referência.
O que mostra: O intervalo mais largo é o de Banheiro graduado: de 4,8% a 24,2%.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pesos da referência são muito estáveis: nas reamostragens, o peso de cada componente varia menos de dois pontos percentuais, e o banheiro graduado é o que mais varia. A AUC municipal e o KMO quase não se movem, e a ordem dos setores praticamente não muda. Tirar um município da estimação também mexe pouco; o maior efeito, de longe, é o de São Paulo, o município com mais setores — e mesmo assim poucos setores mudam de faixa.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reamostragem mede a variação pelo acaso da amostra de setores, não pelas escolhas de método (essas estão nas versões A a D e na E1).
O número de reamostragens é parâmetro exploratório — não é decisão.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1234440"/>
            <a:ext cx="10634472" cy="310896"/>
          </a:xfrm>
          <a:prstGeom prst="rect">
            <a:avLst/>
          </a:prstGeom>
          <a:noFill/>
          <a:ln/>
        </p:spPr>
        <p:txBody>
          <a:bodyPr wrap="square" lIns="0" tIns="0" rIns="0" bIns="0" rtlCol="0" anchor="ctr"/>
          <a:lstStyle/>
          <a:p>
            <a:pPr indent="0" marL="0">
              <a:buNone/>
            </a:pPr>
            <a:r>
              <a:rPr lang="en-US" sz="1150" spc="200" kern="0" dirty="0">
                <a:solidFill>
                  <a:srgbClr val="56534C"/>
                </a:solidFill>
                <a:latin typeface="Cambria" pitchFamily="34" charset="0"/>
                <a:ea typeface="Cambria" pitchFamily="34" charset="-122"/>
                <a:cs typeface="Cambria" pitchFamily="34" charset="-120"/>
              </a:rPr>
              <a:t>ANÁLISES EXPLORATÓRIAS POR VERSÃO · E2_estabilidade</a:t>
            </a:r>
            <a:endParaRPr lang="en-US" sz="1150" dirty="0"/>
          </a:p>
        </p:txBody>
      </p:sp>
      <p:sp>
        <p:nvSpPr>
          <p:cNvPr id="3" name="Shape 1"/>
          <p:cNvSpPr/>
          <p:nvPr/>
        </p:nvSpPr>
        <p:spPr>
          <a:xfrm>
            <a:off x="777240" y="1627632"/>
            <a:ext cx="10634472" cy="0"/>
          </a:xfrm>
          <a:prstGeom prst="line">
            <a:avLst/>
          </a:prstGeom>
          <a:noFill/>
          <a:ln w="12700">
            <a:solidFill>
              <a:srgbClr val="1A1A18"/>
            </a:solidFill>
            <a:prstDash val="solid"/>
          </a:ln>
        </p:spPr>
      </p:sp>
      <p:sp>
        <p:nvSpPr>
          <p:cNvPr id="4" name="Text 2"/>
          <p:cNvSpPr/>
          <p:nvPr/>
        </p:nvSpPr>
        <p:spPr>
          <a:xfrm>
            <a:off x="777240" y="1783080"/>
            <a:ext cx="10634472" cy="914400"/>
          </a:xfrm>
          <a:prstGeom prst="rect">
            <a:avLst/>
          </a:prstGeom>
          <a:noFill/>
          <a:ln/>
        </p:spPr>
        <p:txBody>
          <a:bodyPr wrap="square" lIns="0" tIns="0" rIns="0" bIns="0" rtlCol="0" anchor="ctr"/>
          <a:lstStyle/>
          <a:p>
            <a:pPr indent="0" marL="0">
              <a:buNone/>
            </a:pPr>
            <a:r>
              <a:rPr lang="en-US" sz="4000" b="1" dirty="0">
                <a:solidFill>
                  <a:srgbClr val="1A1A18"/>
                </a:solidFill>
                <a:latin typeface="Cambria" pitchFamily="34" charset="0"/>
                <a:ea typeface="Cambria" pitchFamily="34" charset="-122"/>
                <a:cs typeface="Cambria" pitchFamily="34" charset="-120"/>
              </a:rPr>
              <a:t>Estabilidade</a:t>
            </a:r>
            <a:endParaRPr lang="en-US" sz="4000" dirty="0"/>
          </a:p>
        </p:txBody>
      </p:sp>
      <p:sp>
        <p:nvSpPr>
          <p:cNvPr id="5" name="Text 3"/>
          <p:cNvSpPr/>
          <p:nvPr/>
        </p:nvSpPr>
        <p:spPr>
          <a:xfrm>
            <a:off x="777240" y="2788920"/>
            <a:ext cx="8595360" cy="1005840"/>
          </a:xfrm>
          <a:prstGeom prst="rect">
            <a:avLst/>
          </a:prstGeom>
          <a:noFill/>
          <a:ln/>
        </p:spPr>
        <p:txBody>
          <a:bodyPr wrap="square" lIns="0" tIns="0" rIns="0" bIns="0" rtlCol="0" anchor="ctr"/>
          <a:lstStyle/>
          <a:p>
            <a:pPr indent="0" marL="0">
              <a:lnSpc>
                <a:spcPts val="2000"/>
              </a:lnSpc>
              <a:buNone/>
            </a:pPr>
            <a:r>
              <a:rPr lang="en-US" sz="1400" dirty="0">
                <a:solidFill>
                  <a:srgbClr val="56534C"/>
                </a:solidFill>
                <a:latin typeface="Cambria" pitchFamily="34" charset="0"/>
                <a:ea typeface="Cambria" pitchFamily="34" charset="-122"/>
                <a:cs typeface="Cambria" pitchFamily="34" charset="-120"/>
              </a:rPr>
              <a:t>Os pesos e as faixas da referência mudam se um município sai ou se os setores são reamostrados?</a:t>
            </a:r>
            <a:endParaRPr lang="en-US" sz="1400" dirty="0"/>
          </a:p>
        </p:txBody>
      </p:sp>
      <p:sp>
        <p:nvSpPr>
          <p:cNvPr id="6" name="Shape 4"/>
          <p:cNvSpPr/>
          <p:nvPr/>
        </p:nvSpPr>
        <p:spPr>
          <a:xfrm>
            <a:off x="777240" y="5623560"/>
            <a:ext cx="10634472" cy="0"/>
          </a:xfrm>
          <a:prstGeom prst="line">
            <a:avLst/>
          </a:prstGeom>
          <a:noFill/>
          <a:ln w="9525">
            <a:solidFill>
              <a:srgbClr val="C8C6C0"/>
            </a:solidFill>
            <a:prstDash val="solid"/>
          </a:ln>
        </p:spPr>
      </p:sp>
      <p:sp>
        <p:nvSpPr>
          <p:cNvPr id="7" name="Text 5"/>
          <p:cNvSpPr/>
          <p:nvPr/>
        </p:nvSpPr>
        <p:spPr>
          <a:xfrm>
            <a:off x="777240" y="5760720"/>
            <a:ext cx="10634472" cy="457200"/>
          </a:xfrm>
          <a:prstGeom prst="rect">
            <a:avLst/>
          </a:prstGeom>
          <a:noFill/>
          <a:ln/>
        </p:spPr>
        <p:txBody>
          <a:bodyPr wrap="square" lIns="0" tIns="0" rIns="0" bIns="0" rtlCol="0" anchor="ctr"/>
          <a:lstStyle/>
          <a:p>
            <a:pPr indent="0" marL="0">
              <a:buNone/>
            </a:pPr>
            <a:r>
              <a:rPr lang="en-US" sz="1100" dirty="0">
                <a:solidFill>
                  <a:srgbClr val="56534C"/>
                </a:solidFill>
                <a:latin typeface="Cambria" pitchFamily="34" charset="0"/>
                <a:ea typeface="Cambria" pitchFamily="34" charset="-122"/>
                <a:cs typeface="Cambria" pitchFamily="34" charset="-120"/>
              </a:rPr>
              <a:t>outubro de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O que muda nesta versão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10607040" cy="914400"/>
        </p:xfrm>
        <a:graphic>
          <a:graphicData uri="http://schemas.openxmlformats.org/drawingml/2006/table">
            <a:tbl>
              <a:tblPr/>
              <a:tblGrid>
                <a:gridCol w="2011680"/>
                <a:gridCol w="4297680"/>
                <a:gridCol w="4297680"/>
              </a:tblGrid>
              <a:tr h="274320">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Aspecto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Referência (00_referencia)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Esta versão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74320">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Base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entrega_orientadora/Base_ELSI_70Municipios_Censo2022.db</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i="1" dirty="0">
                          <a:solidFill>
                            <a:srgbClr val="8B877E"/>
                          </a:solidFill>
                          <a:latin typeface="Cambria" pitchFamily="34" charset="0"/>
                          <a:ea typeface="Cambria" pitchFamily="34" charset="-122"/>
                          <a:cs typeface="Cambria" pitchFamily="34" charset="-120"/>
                        </a:rPr>
                        <a:t>igual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Recorte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setores urbanos; Dados_sig = OK</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i="1" dirty="0">
                          <a:solidFill>
                            <a:srgbClr val="8B877E"/>
                          </a:solidFill>
                          <a:latin typeface="Cambria" pitchFamily="34" charset="0"/>
                          <a:ea typeface="Cambria" pitchFamily="34" charset="-122"/>
                          <a:cs typeface="Cambria" pitchFamily="34" charset="-120"/>
                        </a:rPr>
                        <a:t>igual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Indicadores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todos os do quadro, com as variantes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i="1" dirty="0">
                          <a:solidFill>
                            <a:srgbClr val="8B877E"/>
                          </a:solidFill>
                          <a:latin typeface="Cambria" pitchFamily="34" charset="0"/>
                          <a:ea typeface="Cambria" pitchFamily="34" charset="-122"/>
                          <a:cs typeface="Cambria" pitchFamily="34" charset="-120"/>
                        </a:rPr>
                        <a:t>igual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16814">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Componentes do índice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pct_agua_inad, pct_esgoto_inad, razao_moradores, pct_analfab, renda_inv, pct_raca_pretpardind, banheiro_graduado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i="1" dirty="0">
                          <a:solidFill>
                            <a:srgbClr val="8B877E"/>
                          </a:solidFill>
                          <a:latin typeface="Cambria" pitchFamily="34" charset="0"/>
                          <a:ea typeface="Cambria" pitchFamily="34" charset="-122"/>
                          <a:cs typeface="Cambria" pitchFamily="34" charset="-120"/>
                        </a:rPr>
                        <a:t>igual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Renda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original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i="1" dirty="0">
                          <a:solidFill>
                            <a:srgbClr val="8B877E"/>
                          </a:solidFill>
                          <a:latin typeface="Cambria" pitchFamily="34" charset="0"/>
                          <a:ea typeface="Cambria" pitchFamily="34" charset="-122"/>
                          <a:cs typeface="Cambria" pitchFamily="34" charset="-120"/>
                        </a:rPr>
                        <a:t>igual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Rotação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promax</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i="1" dirty="0">
                          <a:solidFill>
                            <a:srgbClr val="8B877E"/>
                          </a:solidFill>
                          <a:latin typeface="Cambria" pitchFamily="34" charset="0"/>
                          <a:ea typeface="Cambria" pitchFamily="34" charset="-122"/>
                          <a:cs typeface="Cambria" pitchFamily="34" charset="-120"/>
                        </a:rPr>
                        <a:t>igual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Pesos das dimensões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60_40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i="1" dirty="0">
                          <a:solidFill>
                            <a:srgbClr val="8B877E"/>
                          </a:solidFill>
                          <a:latin typeface="Cambria" pitchFamily="34" charset="0"/>
                          <a:ea typeface="Cambria" pitchFamily="34" charset="-122"/>
                          <a:cs typeface="Cambria" pitchFamily="34" charset="-120"/>
                        </a:rPr>
                        <a:t>igual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Normalização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municipal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i="1" dirty="0">
                          <a:solidFill>
                            <a:srgbClr val="8B877E"/>
                          </a:solidFill>
                          <a:latin typeface="Cambria" pitchFamily="34" charset="0"/>
                          <a:ea typeface="Cambria" pitchFamily="34" charset="-122"/>
                          <a:cs typeface="Cambria" pitchFamily="34" charset="-120"/>
                        </a:rPr>
                        <a:t>igual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74320">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Blocos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1, 2, 3, 4, 5, 6, 7, 8, 9, 10, 11, 12, 13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b="1" dirty="0">
                          <a:solidFill>
                            <a:srgbClr val="8C2F27"/>
                          </a:solidFill>
                          <a:latin typeface="Cambria" pitchFamily="34" charset="0"/>
                          <a:ea typeface="Cambria" pitchFamily="34" charset="-122"/>
                          <a:cs typeface="Cambria" pitchFamily="34" charset="-120"/>
                        </a:rPr>
                        <a:t>15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77240" y="4303014"/>
            <a:ext cx="822960" cy="0"/>
          </a:xfrm>
          <a:prstGeom prst="line">
            <a:avLst/>
          </a:prstGeom>
          <a:noFill/>
          <a:ln w="15875">
            <a:solidFill>
              <a:srgbClr val="8C2F27"/>
            </a:solidFill>
            <a:prstDash val="solid"/>
          </a:ln>
        </p:spPr>
      </p:sp>
      <p:sp>
        <p:nvSpPr>
          <p:cNvPr id="7" name="Text 4"/>
          <p:cNvSpPr/>
          <p:nvPr/>
        </p:nvSpPr>
        <p:spPr>
          <a:xfrm>
            <a:off x="777240" y="4357878"/>
            <a:ext cx="10634472" cy="1677162"/>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muda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Não é uma versão do índice: reestima os pesos da referência 70 vezes, cada vez sem um município, e 1.000 vezes em reamostragens dos setores com reposição (semente 42, parâmetro exploratório), e recalcula o índice de todos os setores com cada conjunto de pesos.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Sumário: os blocos desta versão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10607040" cy="914400"/>
        </p:xfrm>
        <a:graphic>
          <a:graphicData uri="http://schemas.openxmlformats.org/drawingml/2006/table">
            <a:tbl>
              <a:tblPr/>
              <a:tblGrid>
                <a:gridCol w="640080"/>
                <a:gridCol w="2377440"/>
                <a:gridCol w="4937760"/>
                <a:gridCol w="2651760"/>
              </a:tblGrid>
              <a:tr h="274320">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Bloco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Título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Pergunta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Itens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Estabilidade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Os pesos e as faixas mudam se um município sai ou se os municípios são reamostrados?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T43, T44, T45, F42, F43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15</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Estabilidade</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Os pesos e as faixas mudam se um município sai ou se os municípios são reamostrados?</a:t>
            </a:r>
            <a:endParaRPr lang="en-US" sz="1400" dirty="0"/>
          </a:p>
        </p:txBody>
      </p:sp>
      <p:sp>
        <p:nvSpPr>
          <p:cNvPr id="7" name="Text 5"/>
          <p:cNvSpPr/>
          <p:nvPr/>
        </p:nvSpPr>
        <p:spPr>
          <a:xfrm>
            <a:off x="1920240" y="4343400"/>
            <a:ext cx="9491472" cy="365760"/>
          </a:xfrm>
          <a:prstGeom prst="rect">
            <a:avLst/>
          </a:prstGeom>
          <a:noFill/>
          <a:ln/>
        </p:spPr>
        <p:txBody>
          <a:bodyPr wrap="square" lIns="0" tIns="0" rIns="0" bIns="0" rtlCol="0" anchor="ctr"/>
          <a:lstStyle/>
          <a:p>
            <a:pPr indent="0" marL="0">
              <a:buNone/>
            </a:pPr>
            <a:r>
              <a:rPr lang="en-US" sz="1200" dirty="0">
                <a:solidFill>
                  <a:srgbClr val="56534C"/>
                </a:solidFill>
                <a:latin typeface="Cambria" pitchFamily="34" charset="0"/>
                <a:ea typeface="Cambria" pitchFamily="34" charset="-122"/>
                <a:cs typeface="Cambria" pitchFamily="34" charset="-120"/>
              </a:rPr>
              <a:t>Neste bloco: T43 · T44 · T45 · F42 · F43</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Tirar São Paulo da estimação é o que mais mexe no índice (ρ = 0,9971)</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452360" cy="914400"/>
        </p:xfrm>
        <a:graphic>
          <a:graphicData uri="http://schemas.openxmlformats.org/drawingml/2006/table">
            <a:tbl>
              <a:tblPr/>
              <a:tblGrid>
                <a:gridCol w="677487"/>
                <a:gridCol w="677487"/>
                <a:gridCol w="677487"/>
                <a:gridCol w="677487"/>
                <a:gridCol w="677487"/>
                <a:gridCol w="677487"/>
                <a:gridCol w="677487"/>
                <a:gridCol w="677487"/>
                <a:gridCol w="677487"/>
                <a:gridCol w="677487"/>
                <a:gridCol w="677487"/>
              </a:tblGrid>
              <a:tr h="680212">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municipio excluido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kmo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spearman com referencia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mudam faixa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pct agua inad</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pct esgoto inad</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razao moradores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pct analfab</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renda inv</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pct raca pretpardind</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banheiro graduado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Paulo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0,7620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19,8277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10,1990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3,7936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17,8303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21,2087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17,1673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9,9733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Salvador</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0,7935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16,3182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6,7681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9,3886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16,8725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18,2405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15,4983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16,9136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Manaus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0,9998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16,9790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7,3938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8,4566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16,8536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18,6767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16,0131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15,6272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Rio de Janeiro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0,7865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17,1644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7,1447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7,8989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17,7196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19,0077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15,3738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15,6909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Brasília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16,7640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6,8155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7,4351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17,2908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19,5077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15,7664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16,4205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Belém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0,7833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16,5979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7,7929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8,1224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16,9099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18,8749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16,0928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15,6092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Fortaleza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0,7789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17,7806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8,4437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7,5081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17,3992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19,2597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15,8329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13,7757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Duque de Caxias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18,0245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8,0489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7,2503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17,3830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19,4292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15,9375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13,9266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Porto Alegre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0,7775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17,7859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7,6775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7,0649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17,5150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19,5452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15,8750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14,5366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55626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Belo Horizonte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0,7793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17,0556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7,3260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7,2930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17,5106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19,3788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15,8177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15,6184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município excluído da estimação dos pesos: KMO, correlação de postos com a referência, % de setores que mudam de faixa e os pesos resultantes.</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menor ρ é ao tirar São Paulo (0,9971); no máximo, 4,1% dos setores mudam de faixa.</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T43 · tabelas/T43_um_municipio_de_fora.csv  ·  Bloco 15. Estabilidade  ·  parte 1 de 7</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Tirar São Paulo da estimação é o que mais mexe no índice (ρ = 0,9971)</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452360" cy="914400"/>
        </p:xfrm>
        <a:graphic>
          <a:graphicData uri="http://schemas.openxmlformats.org/drawingml/2006/table">
            <a:tbl>
              <a:tblPr/>
              <a:tblGrid>
                <a:gridCol w="677487"/>
                <a:gridCol w="677487"/>
                <a:gridCol w="677487"/>
                <a:gridCol w="677487"/>
                <a:gridCol w="677487"/>
                <a:gridCol w="677487"/>
                <a:gridCol w="677487"/>
                <a:gridCol w="677487"/>
                <a:gridCol w="677487"/>
                <a:gridCol w="677487"/>
                <a:gridCol w="677487"/>
              </a:tblGrid>
              <a:tr h="680212">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municipio excluido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kmo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spearman com referencia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mudam faixa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pct agua inad</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pct esgoto inad</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razao moradores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pct analfab</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renda inv</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pct raca pretpardind</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banheiro graduado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Gonçalo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17,8390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7,8154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7,2720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17,4117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19,5101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15,8062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14,3456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Nova Iguaçu</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0,7798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17,8188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7,8968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7,3347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17,3861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19,3895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15,8897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14,2844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Recife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16,8737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7,9032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7,3470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17,4744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19,3038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15,8747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15,2230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Campinas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17,4051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7,9019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7,1632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17,4281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19,4198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15,9889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14,6929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Teresina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0,7782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17,0732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7,8982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7,2774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17,3758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19,4275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15,9193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15,0286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Natal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17,2240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8,1324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7,4317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17,3386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19,2860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15,9437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14,6435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Curitiba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0,7790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17,3198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7,7143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7,2449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17,3602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19,3788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16,0161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14,9659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Luís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17,1862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7,8486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7,6363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17,1928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19,1467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16,0242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14,9652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Guarulhos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0,7798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17,4216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7,9524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7,3114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17,3710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19,3354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15,9822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14,6260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Ananindeua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17,3478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7,7629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7,6713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17,2047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19,1517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15,9724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14,8893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Goiânia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17,0319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7,7532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7,4844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17,3546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19,2206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15,9404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15,2149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município excluído da estimação dos pesos: KMO, correlação de postos com a referência, % de setores que mudam de faixa e os pesos resultantes.</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menor ρ é ao tirar São Paulo (0,9971); no máximo, 4,1% dos setores mudam de faixa.</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T43 · tabelas/T43_um_municipio_de_fora.csv  ·  Bloco 15. Estabilidade  ·  parte 2 de 7</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Tirar São Paulo da estimação é o que mais mexe no índice (ρ = 0,9971)</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452360" cy="914400"/>
        </p:xfrm>
        <a:graphic>
          <a:graphicData uri="http://schemas.openxmlformats.org/drawingml/2006/table">
            <a:tbl>
              <a:tblPr/>
              <a:tblGrid>
                <a:gridCol w="677487"/>
                <a:gridCol w="677487"/>
                <a:gridCol w="677487"/>
                <a:gridCol w="677487"/>
                <a:gridCol w="677487"/>
                <a:gridCol w="677487"/>
                <a:gridCol w="677487"/>
                <a:gridCol w="677487"/>
                <a:gridCol w="677487"/>
                <a:gridCol w="677487"/>
                <a:gridCol w="677487"/>
              </a:tblGrid>
              <a:tr h="680212">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municipio excluido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kmo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spearman com referencia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mudam faixa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pct agua inad</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pct esgoto inad</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razao moradores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pct analfab</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renda inv</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pct raca pretpardind</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banheiro graduado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Feira de Santana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17,5741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7,8342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7,4111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17,3579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19,2621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15,9689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14,5917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Anápolis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17,2548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7,6690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7,5382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17,3671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19,2249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15,8699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15,0763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Maceió</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0,7796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17,4789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7,7755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7,4537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17,4050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19,2681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15,8732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14,7456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55626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Bernardo do Campo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17,3734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7,8202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7,3768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17,3538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19,3216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15,9477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14,8065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Guarujá</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17,3641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7,7852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7,3687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17,3969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19,3269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15,9075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14,8507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55626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José dos Pinhais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17,2731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7,7203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7,5278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17,3491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19,2486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15,8746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15,0066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Macaé</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17,4275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7,8262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7,4758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17,3612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19,2714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15,8916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14,7463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Camaragibe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17,4080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7,7633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7,4480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17,3930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19,2837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15,8753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14,8287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71120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Cachoeiro de Itapemirim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17,2782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7,7277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7,5146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17,3467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19,2535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15,8852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14,9942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município excluído da estimação dos pesos: KMO, correlação de postos com a referência, % de setores que mudam de faixa e os pesos resultantes.</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menor ρ é ao tirar São Paulo (0,9971); no máximo, 4,1% dos setores mudam de faixa.</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T43 · tabelas/T43_um_municipio_de_fora.csv  ·  Bloco 15. Estabilidade  ·  parte 3 de 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Tirar São Paulo da estimação é o que mais mexe no índice (ρ = 0,9971)</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452360" cy="914400"/>
        </p:xfrm>
        <a:graphic>
          <a:graphicData uri="http://schemas.openxmlformats.org/drawingml/2006/table">
            <a:tbl>
              <a:tblPr/>
              <a:tblGrid>
                <a:gridCol w="677487"/>
                <a:gridCol w="677487"/>
                <a:gridCol w="677487"/>
                <a:gridCol w="677487"/>
                <a:gridCol w="677487"/>
                <a:gridCol w="677487"/>
                <a:gridCol w="677487"/>
                <a:gridCol w="677487"/>
                <a:gridCol w="677487"/>
                <a:gridCol w="677487"/>
                <a:gridCol w="677487"/>
              </a:tblGrid>
              <a:tr h="680212">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municipio excluido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kmo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spearman com referencia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mudam faixa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pct agua inad</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pct esgoto inad</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razao moradores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pct analfab</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renda inv</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pct raca pretpardind</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banheiro graduado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Itapetinga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17,2522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7,7291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7,4904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17,3456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19,2709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15,8931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15,0188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Mauá</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17,3194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7,8193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7,4258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17,3459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19,2854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15,9428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14,8614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Canoas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0,7791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17,3821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7,7982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7,4182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17,3714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19,3273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15,8831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14,8197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55626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Caetano do Sul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17,3861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7,8149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7,4891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17,3475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19,2750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15,8884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14,7990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55626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José de Ribamar</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17,3177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7,8085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7,5021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17,3232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19,2384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15,9363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14,8738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Araçatuba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17,2993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7,7302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7,4508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17,3549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19,2758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15,9185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14,9705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Campo Grande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17,2914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7,7778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7,4512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17,4040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19,2848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15,8600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14,9308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Portel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17,3531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7,7809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7,4869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17,3569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19,2635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15,8928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14,8660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Salto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17,2990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7,7462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7,4811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17,3475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19,2653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15,9062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14,9548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Limoeiro do Norte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17,3373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7,8086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7,4569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17,3697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19,2766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15,8968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14,8541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município excluído da estimação dos pesos: KMO, correlação de postos com a referência, % de setores que mudam de faixa e os pesos resultantes.</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menor ρ é ao tirar São Paulo (0,9971); no máximo, 4,1% dos setores mudam de faixa.</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T43 · tabelas/T43_um_municipio_de_fora.csv  ·  Bloco 15. Estabilidade  ·  parte 4 de 7</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Tirar São Paulo da estimação é o que mais mexe no índice (ρ = 0,9971)</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452360" cy="914400"/>
        </p:xfrm>
        <a:graphic>
          <a:graphicData uri="http://schemas.openxmlformats.org/drawingml/2006/table">
            <a:tbl>
              <a:tblPr/>
              <a:tblGrid>
                <a:gridCol w="677487"/>
                <a:gridCol w="677487"/>
                <a:gridCol w="677487"/>
                <a:gridCol w="677487"/>
                <a:gridCol w="677487"/>
                <a:gridCol w="677487"/>
                <a:gridCol w="677487"/>
                <a:gridCol w="677487"/>
                <a:gridCol w="677487"/>
                <a:gridCol w="677487"/>
                <a:gridCol w="677487"/>
              </a:tblGrid>
              <a:tr h="680212">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municipio excluido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kmo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spearman com referencia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mudam faixa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pct agua inad</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pct esgoto inad</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razao moradores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pct analfab</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renda inv</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pct raca pretpardind</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banheiro graduado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Taió</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17,2912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7,7686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7,4623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17,3601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19,2846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15,8931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14,9401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Preta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17,3573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7,7845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7,4562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17,3606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19,2826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15,9006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14,8582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Ibatiba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17,3498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7,7748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7,4532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17,3737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19,2802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15,8930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14,8754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Goianésia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17,3374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7,7919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7,4606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17,3760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19,2720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15,8914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14,8707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Autazes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17,3343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7,7662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7,4789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17,3536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19,2678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15,8997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14,8995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55626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Pedro da Aldeia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17,3516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7,7714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7,4664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17,3594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19,2756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15,8986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14,8770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Salinas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17,3109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7,7935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7,4746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17,3519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19,2755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15,8980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14,8956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Arara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17,3480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7,7842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7,4546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17,3642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19,2842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15,8970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14,8678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Guapiaçu</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17,3092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7,7579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7,4623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17,3573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19,2743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15,9061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14,9329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Divinópolis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17,3137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7,7923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7,4529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17,3645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19,2798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15,9027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14,8941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Marechal Deodoro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17,3296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7,7961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7,4542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17,3598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19,2864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15,8995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14,8743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município excluído da estimação dos pesos: KMO, correlação de postos com a referência, % de setores que mudam de faixa e os pesos resultantes.</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menor ρ é ao tirar São Paulo (0,9971); no máximo, 4,1% dos setores mudam de faixa.</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T43 · tabelas/T43_um_municipio_de_fora.csv  ·  Bloco 15. Estabilidade  ·  parte 5 de 7</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Tirar São Paulo da estimação é o que mais mexe no índice (ρ = 0,9971)</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452360" cy="914400"/>
        </p:xfrm>
        <a:graphic>
          <a:graphicData uri="http://schemas.openxmlformats.org/drawingml/2006/table">
            <a:tbl>
              <a:tblPr/>
              <a:tblGrid>
                <a:gridCol w="677487"/>
                <a:gridCol w="677487"/>
                <a:gridCol w="677487"/>
                <a:gridCol w="677487"/>
                <a:gridCol w="677487"/>
                <a:gridCol w="677487"/>
                <a:gridCol w="677487"/>
                <a:gridCol w="677487"/>
                <a:gridCol w="677487"/>
                <a:gridCol w="677487"/>
                <a:gridCol w="677487"/>
              </a:tblGrid>
              <a:tr h="680212">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municipio excluido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kmo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spearman com referencia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mudam faixa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pct agua inad</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pct esgoto inad</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razao moradores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pct analfab</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renda inv</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pct raca pretpardind</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banheiro graduado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71120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Chapada dos Guimarães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17,3307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7,7959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7,4564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17,3589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19,2847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15,9000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14,8734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Capelinha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17,3188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7,7895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7,4737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17,3524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19,2801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15,8938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14,8918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Charqueadas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17,3427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7,7748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7,4578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17,3650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19,2781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15,8991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14,8825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Rosário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17,3373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7,7797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7,4700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17,3564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19,2737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15,8999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14,8830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Placas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17,3390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7,7786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7,4644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17,3626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19,2743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15,8987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14,8824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Pato Branco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17,3156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7,7705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7,4568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17,3619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19,2763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15,9050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14,9138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Urandi</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17,3261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7,7910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7,4608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17,3574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19,2808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15,9009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14,8828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Igarapava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17,3191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7,7668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7,4671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17,3543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19,2750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15,9035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14,9141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Tabatinga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17,3187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7,7703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7,4611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17,3559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19,2760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15,9070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14,9111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Itajuípe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17,3219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7,7739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7,4705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17,3544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19,2761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15,8990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14,9042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município excluído da estimação dos pesos: KMO, correlação de postos com a referência, % de setores que mudam de faixa e os pesos resultantes.</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menor ρ é ao tirar São Paulo (0,9971); no máximo, 4,1% dos setores mudam de faixa.</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T43 · tabelas/T43_um_municipio_de_fora.csv  ·  Bloco 15. Estabilidade  ·  parte 6 de 7</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Tirar São Paulo da estimação é o que mais mexe no índice (ρ = 0,9971)</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452360" cy="914400"/>
        </p:xfrm>
        <a:graphic>
          <a:graphicData uri="http://schemas.openxmlformats.org/drawingml/2006/table">
            <a:tbl>
              <a:tblPr/>
              <a:tblGrid>
                <a:gridCol w="677487"/>
                <a:gridCol w="677487"/>
                <a:gridCol w="677487"/>
                <a:gridCol w="677487"/>
                <a:gridCol w="677487"/>
                <a:gridCol w="677487"/>
                <a:gridCol w="677487"/>
                <a:gridCol w="677487"/>
                <a:gridCol w="677487"/>
                <a:gridCol w="677487"/>
                <a:gridCol w="677487"/>
              </a:tblGrid>
              <a:tr h="680212">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municipio excluido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kmo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spearman com referencia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mudam faixa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pct agua inad</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pct esgoto inad</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razao moradores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pct analfab</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renda inv</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pct raca pretpardind</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banheiro graduado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Jaqueira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17,3251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7,7856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7,4611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17,3591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19,2804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15,8995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14,8892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Coroaci</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17,3277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7,7828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7,4597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17,3580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19,2822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15,9001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14,8895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Japoatã</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17,3268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7,7826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7,4616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17,3575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19,2800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15,9008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14,8906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Groaíras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17,3230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7,7822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7,4631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17,3563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19,2786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15,9020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14,8948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71120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Raimundo do Doca Bezerra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17,3235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7,7710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7,4637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17,3571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19,2785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15,9007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14,9055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Vicentinópolis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17,3242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7,7797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7,4620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17,3606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19,2784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15,8990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14,8961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55626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Santa Maria do Oeste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17,3221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7,7746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7,4626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17,3580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19,2791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15,9004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14,9032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Orizânia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17,3267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7,7756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7,4628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17,3581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19,2791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15,8999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14,8977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71120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São Paulo das Missões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17,3253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7,7776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7,4626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17,3577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19,2784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15,9012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14,8971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município excluído da estimação dos pesos: KMO, correlação de postos com a referência, % de setores que mudam de faixa e os pesos resultantes.</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menor ρ é ao tirar São Paulo (0,9971); no máximo, 4,1% dos setores mudam de faixa.</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T43 · tabelas/T43_um_municipio_de_fora.csv  ·  Bloco 15. Estabilidade  ·  parte 7 de 7</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O peso de Banheiro graduado é o que mais varia na reamostragem (4,8% a 24,2%)</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040880" cy="914400"/>
        </p:xfrm>
        <a:graphic>
          <a:graphicData uri="http://schemas.openxmlformats.org/drawingml/2006/table">
            <a:tbl>
              <a:tblPr/>
              <a:tblGrid>
                <a:gridCol w="1005840"/>
                <a:gridCol w="1005840"/>
                <a:gridCol w="1005840"/>
                <a:gridCol w="1005840"/>
                <a:gridCol w="1005840"/>
                <a:gridCol w="1005840"/>
                <a:gridCol w="1005840"/>
              </a:tblGrid>
              <a:tr h="385826">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componente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rotulo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referencia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p2 5</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mediana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p97 5</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amplitude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pct_agua_inad</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inadequada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17,3250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13,9823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18,0789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22,2259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8,2437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pct_esgoto_inad</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Esgoto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7,7767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3,6081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8,2243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12,0130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8,4049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razao_moradores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Razão de moradores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7,4629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3,2088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7,6686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10,7767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7,5678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pct_analfab</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Analfabetismo 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17,3574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15,0284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17,0425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19,9669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4,9385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renda_inv</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(invertida)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19,2792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16,3749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19,2691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23,5389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7,1640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pct_raca_pretpardind</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Cor/raça PPI</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15,9005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13,8703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16,0848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20,2254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6,3550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banheiro_graduado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graduado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14,8984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4,8102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13,4510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24,2367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19,4265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componente: peso na referência e os percentis 2,5, 50 e 97,5 do peso nas reamostragens.</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intervalo mais largo é o de Banheiro graduado: de 4,8% a 24,2%.</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T44 · tabelas/T44_pesos_reamostragem.csv  ·  Bloco 15. Estabilidade</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Nas reamostragens, a AUC municipal fica entre 0,8045 e 0,8298</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035040" cy="914400"/>
        </p:xfrm>
        <a:graphic>
          <a:graphicData uri="http://schemas.openxmlformats.org/drawingml/2006/table">
            <a:tbl>
              <a:tblPr/>
              <a:tblGrid>
                <a:gridCol w="1005840"/>
                <a:gridCol w="1005840"/>
                <a:gridCol w="1005840"/>
                <a:gridCol w="1005840"/>
                <a:gridCol w="1005840"/>
                <a:gridCol w="100584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medida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referencia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p2 5</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mediana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p97 5</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reamostragens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kmo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0,7220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0,7767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spearman</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0,9985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auc_municipal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0,8045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0,8162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0,8298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KMO, correlação de postos com a referência e AUC municipal: valor na referência e percentis nas reamostragens.</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1.000 reamostragens; ρ com a referência acima de 0,9944 em 97,5% delas; AUC municipal entre 0,8045 e 0,8298.</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T45 · tabelas/T45_medidas_reamostragem.csv  ·  Bloco 15. Estabilidade</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Quanto o índice muda quando cada município sai da estimação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E2_estabilidade/figuras/F42_um_municipio_de_fora.png">    </p:cNvPr>
          <p:cNvPicPr>
            <a:picLocks noChangeAspect="1"/>
          </p:cNvPicPr>
          <p:nvPr/>
        </p:nvPicPr>
        <p:blipFill>
          <a:blip r:embed="rId1"/>
          <a:stretch>
            <a:fillRect/>
          </a:stretch>
        </p:blipFill>
        <p:spPr>
          <a:xfrm>
            <a:off x="2893709" y="1243584"/>
            <a:ext cx="3219422" cy="4791456"/>
          </a:xfrm>
          <a:prstGeom prst="rect">
            <a:avLst/>
          </a:prstGeom>
        </p:spPr>
      </p:pic>
      <p:sp>
        <p:nvSpPr>
          <p:cNvPr id="6" name="Text 3"/>
          <p:cNvSpPr/>
          <p:nvPr/>
        </p:nvSpPr>
        <p:spPr>
          <a:xfrm>
            <a:off x="8549640" y="128930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barra por município excluído, com o percentual de setores que mudam de faixa.</a:t>
            </a:r>
            <a:endParaRPr lang="en-US" sz="1250" dirty="0"/>
          </a:p>
        </p:txBody>
      </p:sp>
      <p:sp>
        <p:nvSpPr>
          <p:cNvPr id="7" name="Shape 4"/>
          <p:cNvSpPr/>
          <p:nvPr/>
        </p:nvSpPr>
        <p:spPr>
          <a:xfrm>
            <a:off x="8549640" y="2366010"/>
            <a:ext cx="822960" cy="0"/>
          </a:xfrm>
          <a:prstGeom prst="line">
            <a:avLst/>
          </a:prstGeom>
          <a:noFill/>
          <a:ln w="15875">
            <a:solidFill>
              <a:srgbClr val="8C2F27"/>
            </a:solidFill>
            <a:prstDash val="solid"/>
          </a:ln>
        </p:spPr>
      </p:sp>
      <p:sp>
        <p:nvSpPr>
          <p:cNvPr id="8" name="Text 5"/>
          <p:cNvSpPr/>
          <p:nvPr/>
        </p:nvSpPr>
        <p:spPr>
          <a:xfrm>
            <a:off x="8549640" y="24208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No máximo, 4,1% dos setores mudam de faixa; o maior efeito é ao tirar São Paulo.</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F42 · figuras/F42_um_municipio_de_fora.png  ·  Bloco 15. Estabilidade</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Os pesos variam pouco nas reamostragens</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E2_estabilidade/figuras/F43_pesos_reamostragem.png">    </p:cNvPr>
          <p:cNvPicPr>
            <a:picLocks noChangeAspect="1"/>
          </p:cNvPicPr>
          <p:nvPr/>
        </p:nvPicPr>
        <p:blipFill>
          <a:blip r:embed="rId1"/>
          <a:stretch>
            <a:fillRect/>
          </a:stretch>
        </p:blipFill>
        <p:spPr>
          <a:xfrm>
            <a:off x="785538" y="1243584"/>
            <a:ext cx="7435763" cy="4791456"/>
          </a:xfrm>
          <a:prstGeom prst="rect">
            <a:avLst/>
          </a:prstGeom>
        </p:spPr>
      </p:pic>
      <p:sp>
        <p:nvSpPr>
          <p:cNvPr id="6" name="Text 3"/>
          <p:cNvSpPr/>
          <p:nvPr/>
        </p:nvSpPr>
        <p:spPr>
          <a:xfrm>
            <a:off x="8549640" y="128930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caixa por componente com os pesos das reamostragens; o ponto é o peso na referência.</a:t>
            </a:r>
            <a:endParaRPr lang="en-US" sz="1250" dirty="0"/>
          </a:p>
        </p:txBody>
      </p:sp>
      <p:sp>
        <p:nvSpPr>
          <p:cNvPr id="7" name="Shape 4"/>
          <p:cNvSpPr/>
          <p:nvPr/>
        </p:nvSpPr>
        <p:spPr>
          <a:xfrm>
            <a:off x="8549640" y="2366010"/>
            <a:ext cx="822960" cy="0"/>
          </a:xfrm>
          <a:prstGeom prst="line">
            <a:avLst/>
          </a:prstGeom>
          <a:noFill/>
          <a:ln w="15875">
            <a:solidFill>
              <a:srgbClr val="8C2F27"/>
            </a:solidFill>
            <a:prstDash val="solid"/>
          </a:ln>
        </p:spPr>
      </p:sp>
      <p:sp>
        <p:nvSpPr>
          <p:cNvPr id="8" name="Text 5"/>
          <p:cNvSpPr/>
          <p:nvPr/>
        </p:nvSpPr>
        <p:spPr>
          <a:xfrm>
            <a:off x="8549640" y="24208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intervalo mais largo é o de Banheiro graduado: de 4,8% a 24,2%.</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F43 · figuras/F43_pesos_reamostragem.png  ·  Bloco 15. Estabilidade</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Síntese da versão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sp>
        <p:nvSpPr>
          <p:cNvPr id="5" name="Shape 3"/>
          <p:cNvSpPr/>
          <p:nvPr/>
        </p:nvSpPr>
        <p:spPr>
          <a:xfrm>
            <a:off x="777240" y="2926080"/>
            <a:ext cx="822960" cy="0"/>
          </a:xfrm>
          <a:prstGeom prst="line">
            <a:avLst/>
          </a:prstGeom>
          <a:noFill/>
          <a:ln w="15875">
            <a:solidFill>
              <a:srgbClr val="8C2F27"/>
            </a:solidFill>
            <a:prstDash val="solid"/>
          </a:ln>
        </p:spPr>
      </p:sp>
      <p:sp>
        <p:nvSpPr>
          <p:cNvPr id="6" name="Text 4"/>
          <p:cNvSpPr/>
          <p:nvPr/>
        </p:nvSpPr>
        <p:spPr>
          <a:xfrm>
            <a:off x="777240" y="2980944"/>
            <a:ext cx="10634472" cy="3054096"/>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esta versão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Os pesos da referência são muito estáveis: nas reamostragens, o peso de cada componente varia menos de dois pontos percentuais, e o banheiro graduado é o que mais varia. A AUC municipal e o KMO quase não se movem, e a ordem dos setores praticamente não muda. Tirar um município da estimação também mexe pouco; o maior efeito, de longe, é o de São Paulo, o município com mais setores — e mesmo assim poucos setores mudam de faixa.</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Candidatos ao artigo: as tabelas e figuras desta versão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sp>
        <p:nvSpPr>
          <p:cNvPr id="5" name="Text 3"/>
          <p:cNvSpPr/>
          <p:nvPr/>
        </p:nvSpPr>
        <p:spPr>
          <a:xfrm>
            <a:off x="777240" y="1243584"/>
            <a:ext cx="10634472" cy="274320"/>
          </a:xfrm>
          <a:prstGeom prst="rect">
            <a:avLst/>
          </a:prstGeom>
          <a:noFill/>
          <a:ln/>
        </p:spPr>
        <p:txBody>
          <a:bodyPr wrap="square" lIns="0" tIns="0" rIns="0" bIns="0" rtlCol="0" anchor="ctr"/>
          <a:lstStyle/>
          <a:p>
            <a:pPr indent="0" marL="0">
              <a:buNone/>
            </a:pPr>
            <a:r>
              <a:rPr lang="en-US" sz="1100" i="1" dirty="0">
                <a:solidFill>
                  <a:srgbClr val="56534C"/>
                </a:solidFill>
                <a:latin typeface="Cambria" pitchFamily="34" charset="0"/>
                <a:ea typeface="Cambria" pitchFamily="34" charset="-122"/>
                <a:cs typeface="Cambria" pitchFamily="34" charset="-120"/>
              </a:rPr>
              <a:t>Marcar no catálogo (colunas “Vai para o artigo?”, “Seção” e “Comentários”); os IDs são os mesmos em todas as versões.</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77240" y="1609344"/>
          <a:ext cx="10607040" cy="914400"/>
        </p:xfrm>
        <a:graphic>
          <a:graphicData uri="http://schemas.openxmlformats.org/drawingml/2006/table">
            <a:tbl>
              <a:tblPr/>
              <a:tblGrid>
                <a:gridCol w="731520"/>
                <a:gridCol w="731520"/>
                <a:gridCol w="9144000"/>
              </a:tblGrid>
              <a:tr h="230886">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ID</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Bloco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Título no deck</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T43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Tirar São Paulo da estimação é o que mais mexe no índice (ρ = 0,9971)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T44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O peso de Banheiro graduado é o que mais varia na reamostragem (4,8% a 24,2%)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T45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Nas reamostragens, a AUC municipal fica entre 0,8045 e 0,8298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F42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Quanto o índice muda quando cada município sai da estimação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38633">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F43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Os pesos variam pouco nas reamostragens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7" name="Text 4"/>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catalogo.csv</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Limitações e parâmetros exploratórios</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sp>
        <p:nvSpPr>
          <p:cNvPr id="5" name="Text 3"/>
          <p:cNvSpPr/>
          <p:nvPr/>
        </p:nvSpPr>
        <p:spPr>
          <a:xfrm>
            <a:off x="777240" y="1335024"/>
            <a:ext cx="10634472" cy="4700016"/>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A1A18"/>
                </a:solidFill>
                <a:latin typeface="Cambria" pitchFamily="34" charset="0"/>
                <a:ea typeface="Cambria" pitchFamily="34" charset="-122"/>
                <a:cs typeface="Cambria" pitchFamily="34" charset="-120"/>
              </a:rPr>
              <a:t>A reamostragem mede a variação pelo acaso da amostra de setores, não pelas escolhas de método (essas estão nas versões A a D e na E1).</a:t>
            </a:r>
            <a:endParaRPr lang="en-US" sz="1300" dirty="0"/>
          </a:p>
          <a:p>
            <a:pPr marL="342900" indent="-342900">
              <a:spcAft>
                <a:spcPts val="800"/>
              </a:spcAft>
              <a:buSzPct val="100000"/>
              <a:buChar char="•"/>
            </a:pPr>
            <a:r>
              <a:rPr lang="en-US" sz="1300" dirty="0">
                <a:solidFill>
                  <a:srgbClr val="1A1A18"/>
                </a:solidFill>
                <a:latin typeface="Cambria" pitchFamily="34" charset="0"/>
                <a:ea typeface="Cambria" pitchFamily="34" charset="-122"/>
                <a:cs typeface="Cambria" pitchFamily="34" charset="-120"/>
              </a:rPr>
              <a:t>O número de reamostragens é parâmetro exploratório — não é decisão.</a:t>
            </a:r>
            <a:endParaRPr lang="en-US" sz="1300" dirty="0"/>
          </a:p>
          <a:p>
            <a:pPr marL="342900" indent="-342900">
              <a:spcAft>
                <a:spcPts val="800"/>
              </a:spcAft>
              <a:buSzPct val="100000"/>
              <a:buChar char="•"/>
            </a:pPr>
            <a:r>
              <a:rPr lang="en-US" sz="1300" dirty="0">
                <a:solidFill>
                  <a:srgbClr val="8C2F27"/>
                </a:solidFill>
                <a:latin typeface="Cambria" pitchFamily="34" charset="0"/>
                <a:ea typeface="Cambria" pitchFamily="34" charset="-122"/>
                <a:cs typeface="Cambria" pitchFamily="34" charset="-120"/>
              </a:rPr>
              <a:t>reamostragens: 1.000, semente 42 — parâmetro exploratório — não é decisão</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Apêndice: dicionário dos indicadores</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10607040" cy="914400"/>
        </p:xfrm>
        <a:graphic>
          <a:graphicData uri="http://schemas.openxmlformats.org/drawingml/2006/table">
            <a:tbl>
              <a:tblPr/>
              <a:tblGrid>
                <a:gridCol w="1828800"/>
                <a:gridCol w="1188720"/>
                <a:gridCol w="4206240"/>
                <a:gridCol w="1737360"/>
                <a:gridCol w="1645920"/>
              </a:tblGrid>
              <a:tr h="230886">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Indicador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Dimensão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O que mede</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Numerador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Denominador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Quadro_Indicadores.csv (entrega à orientadora)</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E2_estabilidade — Estabilidade</dc:title>
  <dc:subject>PptxGenJS Presentation</dc:subject>
  <dc:creator>Pedro Dias Soares</dc:creator>
  <cp:lastModifiedBy>Pedro Dias Soares</cp:lastModifiedBy>
  <cp:revision>1</cp:revision>
  <dcterms:created xsi:type="dcterms:W3CDTF">2026-10-23T01:08:19Z</dcterms:created>
  <dcterms:modified xsi:type="dcterms:W3CDTF">2026-10-23T01:08:19Z</dcterms:modified>
</cp:coreProperties>
</file>