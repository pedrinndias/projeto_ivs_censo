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que cada versão muda em relação à referência, e quais passam nos critérios do NB05?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Não é uma versão: reúne, numa tabela só, os números que cada versão gravou, para comparar todas contra a mesma referência. A comparação é descritiva; nenhuma versão é escolhida.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linha resume uma versão com os números que ela própria gravou: setores no índice, KMO, AUC global e municipal contra as favelas, elegibilidade pelos critérios do NB05, correlação de postos com a referência e percentual de setores que mudam de faixa. A comparação é descritiva: nenhuma versão é escolhida aqui.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versões das análises transversais (E1 a E6) não entram, porque não constroem um índice. Versões sem bloco 13 não têm ρ nem trocas de faixa; versões sem bloco 9 não têm KMO.
Como ler: Uma linha por versão: setores no recorte e no índice, KMO, AUC global e municipal, elegibilidade (1 = elegível), ρ com a referência e % de setores que mudam de faixa.
O que mostra: A menor correlação de postos com a referência é a de D3_indice_moradia (0,4884).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versões das análises transversais (E1 a E6) não entram, porque não constroem um índice. Versões sem bloco 13 não têm ρ nem trocas de faixa; versões sem bloco 9 não têm KMO.
Como ler: Uma linha por versão: setores no recorte e no índice, KMO, AUC global e municipal, elegibilidade (1 = elegível), ρ com a referência e % de setores que mudam de faixa.
O que mostra: A menor correlação de postos com a referência é a de D3_indice_moradia (0,4884).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critérios de elegibilidade são os fixados no NB05 antes de rodar a grade: KMO de pelo menos 0,70, MSA de pelo menos 0,50, comunalidade de pelo menos 0,30 e carga de pelo menos 0,40.
Como ler: Uma linha por eixo: número de versões, quantas são elegíveis, a menor e a maior AUC municipal e o maior % de setores que mudam de faixa; a última linha soma todas.
O que mostra: 21 de 32 versões são elegíveis; a AUC municipal vai de 0,6034 a 0,9214.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Versões à direita ordenam os setores quase como a referência; versões acima da linha pontilhada separam melhor as favelas. As cores indicam a elegibilidade.
Como ler: Cada ponto é uma versão: no eixo horizontal, a correlação de postos com o índice da referência; no vertical, a AUC municipal contra as favelas. A linha pontilhada é a AUC da referência.
O que mostra: A versão mais distante da referência é D3_indice_moradia (ρ = 0,4884).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versões que mudam o recorte (eixo A) comparam só os setores em comum com a referência.
Como ler: Uma barra por versão com o percentual de setores que mudam de faixa (regra do IVS-BH); petróleo: elegível; argila: não elegível.
O que mostra: A maior mudança é a de D2_ivs_idoso: 49,9% dos setores mudam de faixa.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maior parte das versões fica perto da referência: muda pouco a ordem dos setores e poucas trocam muitos setores de faixa. As mudanças que mais mexem no índice são as que trocam o que ele mede — o IVS-Idoso, o índice de moradia, o IBP aproximado, a média geométrica, o esgoto pela definição descartada e o lixo — e a região Norte quando estimada sozinha. Quando a elegibilidade falha, na maior parte dos casos o motivo é o mesmo: o banheiro graduado, que compartilha pouca variância com os demais componentes em vários recortes. As tabelas e figuras para o artigo se escolhem no Catalogo_Mestre.xlsx.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Versões sem os blocos 9, 10 ou 13 aparecem com campos vazios (sem KMO, AUC ou comparação).
A versão do Brasil (A6) não roda o bloco 10, e por isso fica sem elegibilidade nem AUC na tabela.
As versões por estrato (A3, A4, A5) têm amostras menores e não são comparáveis em nível com as demais.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1234440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spc="200" kern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ANÁLISES EXPLORATÓRIAS POR VERSÃO · 00_sintese</a:t>
            </a:r>
            <a:endParaRPr lang="en-US" sz="1150" dirty="0"/>
          </a:p>
        </p:txBody>
      </p:sp>
      <p:sp>
        <p:nvSpPr>
          <p:cNvPr id="3" name="Shape 1"/>
          <p:cNvSpPr/>
          <p:nvPr/>
        </p:nvSpPr>
        <p:spPr>
          <a:xfrm>
            <a:off x="777240" y="162763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77240" y="1783080"/>
            <a:ext cx="10634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Síntese das versões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777240" y="2788920"/>
            <a:ext cx="8595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cada versão muda em relação à referência, e quais passam nos critérios do NB05?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777240" y="5623560"/>
            <a:ext cx="10634472" cy="0"/>
          </a:xfrm>
          <a:prstGeom prst="line">
            <a:avLst/>
          </a:prstGeom>
          <a:noFill/>
          <a:ln w="9525">
            <a:solidFill>
              <a:srgbClr val="C8C6C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5760720"/>
            <a:ext cx="10634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outubro de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muda nesta versão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106070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4297680"/>
                <a:gridCol w="429768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Aspecto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Referência (00_referencia)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Esta versão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Base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entrega_orientadora/Base_ELSI_70Municipios_Censo2022.db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8B877E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igual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Recorte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urbanos; Dados_sig = OK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8B877E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igual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Indicadores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todos os do quadro, com as variantes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8B877E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igual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681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Componentes do índice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pct_agua_inad, pct_esgoto_inad, razao_moradores, pct_analfab, renda_inv, pct_raca_pretpardind, banheiro_graduado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8B877E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igual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original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8B877E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igual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Rotação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promax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8B877E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igual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Pesos das dimensões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60_40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8B877E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igual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Normalização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municipal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8B877E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igual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Blocos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1, 2, 3, 4, 5, 6, 7, 8, 9, 10, 11, 12, 13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8C2F2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777240" y="4303014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77240" y="4357878"/>
            <a:ext cx="10634472" cy="16771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muda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Não é uma versão: reúne, numa tabela só, os números que cada versão gravou, para comparar todas contra a mesma referência. A comparação é descritiva; nenhuma versão é escolhida.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Sumário: os blocos desta versão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1060704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2377440"/>
                <a:gridCol w="4937760"/>
                <a:gridCol w="265176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Bloco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Título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Pergunta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Itens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Todas as versões lado a lado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 que cada versão muda em relação à referência, e quais passam nos critérios do NB05?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T60, T61, F60, F61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Todas as versões lado a lado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cada versão muda em relação à referência, e quais passam nos critérios do NB05?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920240" y="4343400"/>
            <a:ext cx="9491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Neste bloco: T60 · T61 · F60 · F61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versão que mais se afasta da referência é D3_indice_moradia (ρ = 0,4884)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676656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822960"/>
                <a:gridCol w="640080"/>
                <a:gridCol w="731520"/>
                <a:gridCol w="640080"/>
                <a:gridCol w="822960"/>
                <a:gridCol w="822960"/>
              </a:tblGrid>
              <a:tr h="38582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Versão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Índice (n)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KMO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AUC mun.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Elegível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ρ com a ref.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 muda faixa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00_referencia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73.877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0,7807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0,8186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A1_com_rurais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75.096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—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0,8169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0,9961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1,6%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A2_piso_populacional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73.406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—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0,8238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0,9940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1,5%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A3_belo_horizonte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3.499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0,7994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0,9172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0,9978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5,3%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A4_por_regiao/centro_oeste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7.329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—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0,8703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0,9932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A4_por_regiao/nordeste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13.097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—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0,7896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0,9677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10,8%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A4_por_regiao/norte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3.439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—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0,6040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0,8689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31,2%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A4_por_regiao/sudeste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45.352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—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0,9214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0,9976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2,7%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A4_por_regiao/sul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4.661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—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0,8971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0,9948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5,6%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A5_por_porte/ate_100_mil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—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—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0,9982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3,4%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A5_por_porte/de_100_a_500_mil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5.568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—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0,8081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0,9941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A5_por_porte/mais_de_500_mil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67.432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—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0,8463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A6_brasil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249.404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0,7865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—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—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0,9983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3,7%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B1_renda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73.876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0,7807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0,8186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0,9995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B2_agua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73.853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0,8019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0,8626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0,9503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13,9%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B3_banheiro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87.545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0,7870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0,7845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0,9908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8,9%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versão: setores no recorte e no índice, KMO, AUC global e municipal, elegibilidade (1 = elegível), ρ com a referência e % de setores que mudam de faixa.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9946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304952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menor correlação de postos com a referência é a de D3_indice_moradia (0,4884).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T60 · tabelas/T60_todas_as_versoes.csv  ·  Bloco 20. Todas as versões lado a lado  ·  parte 1 de 2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versão que mais se afasta da referência é D3_indice_moradia (ρ = 0,4884)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676656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822960"/>
                <a:gridCol w="640080"/>
                <a:gridCol w="731520"/>
                <a:gridCol w="640080"/>
                <a:gridCol w="822960"/>
                <a:gridCol w="822960"/>
              </a:tblGrid>
              <a:tr h="38582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Versão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Índice (n)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KMO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AUC mun.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Elegível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ρ com a ref.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 muda faixa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B4_esgoto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73.877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0,7638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0,7696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0,8803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28,8%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B5_lixo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73.877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0,7741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0,8358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0,9146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23,3%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B6_moradia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73.877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0,7443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0,8522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0,9735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11,3%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B7_raca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73.878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0,7155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0,8190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0,9184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17,1%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B8_complementares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73.793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0,7867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0,8055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0,9811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10,2%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C1_rotacao_e_pesos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73.877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0,7807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0,8160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0,9997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1,8%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C2_extracao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73.877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0,7807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0,8064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0,9912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9,2%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C3_normalizacao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73.878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—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0,7731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0,9396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10,2%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C4_agregacao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73.878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—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0,7502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0,8915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27,1%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C5_faixas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73.877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—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0,8186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—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—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C6_pesos_iguais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73.877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—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0,8263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0,9885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9,9%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D1_subindices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73.877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—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0,8664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0,9278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20,9%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D2_ivs_idoso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73.249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0,7341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0,6034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0,5518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49,9%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D3_indice_moradia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90.035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0,3117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0,6776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0,4884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48,5%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D4_ibp_aproximado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75.956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—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0,8432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0,8801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24,8%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D5_especialista_x_dados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73.877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—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0,8374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0,9977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4,3%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versão: setores no recorte e no índice, KMO, AUC global e municipal, elegibilidade (1 = elegível), ρ com a referência e % de setores que mudam de faixa.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9946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304952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menor correlação de postos com a referência é a de D3_indice_moradia (0,4884).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T60 · tabelas/T60_todas_as_versoes.csv  ·  Bloco 20. Todas as versões lado a lado  ·  parte 2 de 2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 de 32 versões são elegíveis pelos critérios do NB05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690372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731520"/>
                <a:gridCol w="777240"/>
                <a:gridCol w="914400"/>
                <a:gridCol w="914400"/>
                <a:gridCol w="1005840"/>
              </a:tblGrid>
              <a:tr h="38582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Eixo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Versões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Elegíveis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AUC mun. mín.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AUC mun. máx.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 muda faixa (máx.)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 — que setores entram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0,6040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0,9214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31,2%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 — que indicadores entram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0,7696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0,8626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28,8%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 — como o índice é construído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0,7502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0,8263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27,1%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 — índices novos ao lado do IVS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0,6034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0,8664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49,9%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Referência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0,8186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0,8186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Todas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0,6034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0,9214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49,9%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276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eixo: número de versões, quantas são elegíveis, a menor e a maior AUC municipal e o maior % de setores que mudam de faixa; a última linha soma todas.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7851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83997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 de 32 versões são elegíveis; a AUC municipal vai de 0,6034 a 0,9214.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T61 · tabelas/T61_versoes_por_eixo.csv  ·  Bloco 20. Todas as versões lado a lado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Proximidade da referência × capacidade de separar as favelas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00_sintese/figuras/F60_proximidade_x_au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243584"/>
            <a:ext cx="7452360" cy="4677163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Cada ponto é uma versão: no eixo horizontal, a correlação de postos com o índice da referência; no vertical, a AUC municipal contra as favelas. A linha pontilhada é a AUC da referência.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9946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304952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versão mais distante da referência é D3_indice_moradia (ρ = 0,4884).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F60 · figuras/F60_proximidade_x_auc.png  ·  Bloco 20. Todas as versões lado a lado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Quanto cada versão muda as faixas em relação à referência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00_sintese/figuras/F61_mudam_de_faix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36694" y="1243584"/>
            <a:ext cx="6133451" cy="479145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barra por versão com o percentual de setores que mudam de faixa (regra do IVS-BH); petróleo: elegível; argila: não elegível.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63042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maior mudança é a de D2_ivs_idoso: 49,9% dos setores mudam de faixa.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F61 · figuras/F61_mudam_de_faixa.png  ·  Bloco 20. Todas as versões lado a lado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Síntese da versão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292608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2980944"/>
            <a:ext cx="10634472" cy="3054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esta versão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maior parte das versões fica perto da referência: muda pouco a ordem dos setores e poucas trocam muitos setores de faixa. As mudanças que mais mexem no índice são as que trocam o que ele mede — o IVS-Idoso, o índice de moradia, o IBP aproximado, a média geométrica, o esgoto pela definição descartada e o lixo — e a região Norte quando estimada sozinha. Quando a elegibilidade falha, na maior parte dos casos o motivo é o mesmo: o banheiro graduado, que compartilha pouca variância com os demais componentes em vários recortes. As tabelas e figuras para o artigo se escolhem no Catalogo_Mestre.xlsx.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Candidatos ao artigo: as tabelas e figuras desta versão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243584"/>
            <a:ext cx="10634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Marcar no catálogo (colunas “Vai para o artigo?”, “Seção” e “Comentários”); os IDs são os mesmos em todas as versões.</a:t>
            </a:r>
            <a:endParaRPr lang="en-US" sz="11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609344"/>
          <a:ext cx="1060704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731520"/>
                <a:gridCol w="9144000"/>
              </a:tblGrid>
              <a:tr h="23088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ID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Bloco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Título no deck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T60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 versão que mais se afasta da referência é D3_indice_moradia (ρ = 0,4884)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T61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21 de 32 versões são elegíveis pelos critérios do NB05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F60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Proximidade da referência × capacidade de separar as favelas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F61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Quanto cada versão muda as faixas em relação à referência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catalogo.csv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Limitações e parâmetros exploratórios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335024"/>
            <a:ext cx="10634472" cy="4700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Versões sem os blocos 9, 10 ou 13 aparecem com campos vazios (sem KMO, AUC ou comparação).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versão do Brasil (A6) não roda o bloco 10, e por isso fica sem elegibilidade nem AUC na tabela.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versões por estrato (A3, A4, A5) têm amostras menores e não são comparáveis em nível com as demais.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i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Nenhum parâmetro exploratório nesta versão.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Apêndice: dicionário dos indicadores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1060704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188720"/>
                <a:gridCol w="4206240"/>
                <a:gridCol w="1737360"/>
                <a:gridCol w="1645920"/>
              </a:tblGrid>
              <a:tr h="23088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Indicador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Dimensão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 que mede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Numerador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Denominador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Quadro_Indicadores.csv (entrega à orientadora)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00_sintese — Síntese das versões</dc:title>
  <dc:subject>PptxGenJS Presentation</dc:subject>
  <dc:creator>Pedro Dias Soares</dc:creator>
  <cp:lastModifiedBy>Pedro Dias Soares</cp:lastModifiedBy>
  <cp:revision>1</cp:revision>
  <dcterms:created xsi:type="dcterms:W3CDTF">2026-10-23T01:09:54Z</dcterms:created>
  <dcterms:modified xsi:type="dcterms:W3CDTF">2026-10-23T01:09:54Z</dcterms:modified>
</cp:coreProperties>
</file>