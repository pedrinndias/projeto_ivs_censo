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se o esgoto for medido por V00249–V00253 em vez de V00312–V00316?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componente de esgoto do índice: a soma de V00249 a V00253 entra no lugar de V00312 a V00316. Atenção: pelo dicionário oficial do IBGE, V00249–V00253 é tipologia de habitação, não esgoto (Relatório de Integridade do projeto). A versão mostra o efeito de usar a definição descartada; o esgoto da referência está na tabela T34.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descritivas resumem cada indicador em poucos números: o centro (média e mediana), a dispersão (desvio-padrão, quartis, percentis 10 e 90) e a forma (assimetria e curtose). Elas aparecem para o conjunto, por região e por município, para que diferenças de lugar fiquem visíveis antes de qualquer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é sensível a valores extremos; a mediana não. Quando as duas se afastam, a distribuição é assimétrica. A assimetria é positiva quando há uma cauda longa à direita (poucos setores com valores muito altos). A curtose mede o peso das caudas: valores altos indicam muitos extremos. O coeficiente de variação (DP dividido pela média, em %) permite comparar a dispersão de indicadores em escalas diferentes. Nos indicadores de saneamento, a maioria dos setores vale zero: a mediana é zero e o intervalo interquartil também, o que explica por que o critério de extremos muda para eles (bloco 5).
Como ler: Uma linha por indicador. n: setores com valor; DP: desvio-padrão; P10…P90: percentis; CV: coeficiente de variação; % zeros: setores com valor exatamente zero.
O que mostra: A maior assimetria é a de Esgoto inadequado (2,98); o maior percentual de zeros é o de Esgoto inadequado (72,5%).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região é o primeiro dígito do código da unidade da federação. As diferenças entre regiões mostram o quanto o retrato depende do lugar: um indicador que varia muito entre regiões pode dominar um índice calculado com normalização global, e é por isso que a referência normaliza dentro de cada município.
Como ler: Uma linha por região e indicador, com as mesmas colunas da tabela global.
O que mostra: Para Esgoto inadequado, a mediana mais alta está no Norte (0,0662) e a mais baixa no Centro-Oeste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Esgoto inadequado, a maior mediana municipal é a de Portel (0,9804); a menor, a de Araçatuba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Esgoto inadequado, a maior mediana municipal é a de Portel (0,9804); a menor, a de Araçatuba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do bloco anterior escondem a forma da distribuição. Histogramas, caixas e curvas de densidade mostram se o indicador se concentra em zero, se tem cauda longa ou se separa regiões. Cada painel reúne os indicadores de uma dimensão.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Saneamento, a maior assimetria é a de Esgoto inadequado (2,98).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(Esgoto inadequado), a mediana regional vai de 0,0000 (Centro-Oeste) a 0,0662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Esgoto inadequado, a mediana regional vai de 0,0000 (Centro-Oeste) a 0,0662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IBGE não divulga alguns valores para proteger o sigilo de setores pequenos. Se a falta fosse aleatória, bastaria descartar os setores sem dado; como ela se concentra em setores pequenos, descartar muda o retrato. Este bloco mostra onde estão os faltantes e como eles se distribuem pelo tamanho do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faltantes não se espalham por igual entre os municípios. Onde eles se concentram, um índice calculado só com setores completos retrata pior o município, porque os setores que saem não são uma amostra ao acaso.
Como ler: Uma linha por município e uma coluna por indicador; cada célula é o percentual de setores do município sem aquele indicador.
O que mostra: A célula mais alta é Esgoto inadequado em Salvador, com 0,0% dos setores sem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calor mostra a tabela anterior como cores. Colunas inteiras escuras indicam indicadores com sigilo ou denominador frequentemente zero; linhas escuras indicam municípios com muitos setores pequenos.
Como ler: Mapa de calor: linhas são municípios, colunas são indicadores; quanto mais escura a célula, maior o percentual de setores sem valor.
O que mostra: O ponto mais escuro é Esgoto inadequado em Salvador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falta de dados fosse aleatória, o percentual de faltantes seria parecido em todos os décimos. Quando ele se concentra nos setores pequenos, a falta é não aleatória: o IBGE suprime valores para proteger o sigilo de quem mora em setores com poucos domicílios. A consequência é que análises só com setores completos sub-representam setores pequenos.
Como ler: Os setores são divididos em dez grupos iguais pelo número de moradores (1 = os menores). Para cada grupo, o percentual de setores sem renda e sem analfabetismo, e o percentual em FCU.
O que mostra: Sem renda: 0,1% no primeiro décimo e 0,0% no último. Sem analfabetismo: 29,4% e 3,9%.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linhas mostram a mesma tabela em forma de gráfico. Uma linha que desce da esquerda para a direita é o sinal do sigilo: quanto menor o setor, mais provável que o valor tenha sido suprimido.
Como ler: Eixo horizontal: décimo de moradores do setor (1 = menores). Eixo vertical: percentual de setores sem o indicador.
O que mostra: Renda: de 0,1% a 0,0%; analfabetismo: de 29,4% a 3,9%, do menor ao maior décimo.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extremo não é um erro por definição: pode ser um setor realmente diferente. O critério muda com o indicador: o intervalo interquartil onde ele funciona, um critério próprio para a renda e, nos indicadores em que a maioria dos setores vale zero, o critério aplicado só aos valores acima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Esgoto (V00249–V00253) (10,6%),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total soma marcações, não setores: um setor extremo em dois indicadores conta duas vezes. Municípios grandes tendem a ter mais marcações só por terem mais setores; a comparação justa é com o número de setores de cada um (bloco 2).
Como ler: Uma linha por município e uma coluna por indicador, com o número de setores marcados; a coluna total soma todas as marcações.
O que mostra: O município com mais marcações é São Paulo, com 4.132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serve para conferência caso a caso: abrir o setor, olhar o entorno e decidir se é um setor diferente de verdade ou um erro de registro. Nenhum setor é retirado das análises por estar nesta lista.
Como ler: Até dez setores por indicador, os mais distantes da mediana entre os marcados como extremo: código do setor, município, valor e mediana global.
O que mostra: No topo da lista de Esgoto (V00249–V00253) está um setor de Manaus, com valor 1,0000.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percentuais não são comparáveis de forma direta entre critérios diferentes: o critério da inflação de zeros olha só os setores com valor acima de zero. O gráfico serve para localizar os indicadores em que os extremos merecem atenção.
Como ler: Uma barra por indicador, com o percentual de setores marcados; a cor indica o critério (petróleo: Tukey; cinza: inflação de zeros; argila: renda).
O que mostra: A barra mais longa é a de Esgoto (V00249–V00253) (10,6%).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mede o quanto dois indicadores sobem e descem juntos, de −1 a 1. Pares muito correlacionados medem quase a mesma coisa; pares sem correlação trazem informação diferente. O bloco mostra as duas medidas usuais (Spearman, por postos, e Pearson, linear) e agrupa os indicadores parecidos.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Spearman é calculada sobre os postos (a ordem dos setores), não sobre os valores. Por isso é pouco afetada por extremos e capta relações que sobem sempre, mesmo que não em linha reta. Valor perto de 1: os setores ordenados por um indicador ficam quase na mesma ordem pelo outro; perto de −1: ordem invertida; perto de 0: sem relação de ordem. Cada par usa os setores com os dois valores.
Como ler: Matriz de correlação de Spearman: cada célula é a correlação entre o indicador da linha e o da coluna, de −1 a 1.
O que mostra: A maior correlação em módulo é entre Esgoto inadequado e Esgoto (V00249–V00253) (ρ = -0,2946).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Pearson mede a relação em linha reta entre os valores. Ela é sensível a extremos e a distribuições muito assimétricas, como as do saneamento. Quando Pearson e Spearman divergem muito para um mesmo par, a relação é puxada por poucos setores extremos ou não é linear.
Como ler: Matriz de correlação de Pearson, com a mesma leitura da de Spearman.
O que mostra: A maior correlação de Pearson em módulo é entre Esgoto inadequado e Esgoto (V00249–V00253) (r = -0,1736).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indicadores com correlação acima de 0,80 medem praticamente a mesma coisa. Pôr os dois no índice dá peso dobrado a essa dimensão. Muitas vezes são variantes de um mesmo conceito (por exemplo, as três rendas ou as várias definições de água), e a escolha entre elas é uma das decisões que as versões do eixo B exploram.
Como ler: Os pares de indicadores com correlação de pelo menos 0,80 em módulo, por Spearman ou por Pearson, do mais forte para o mais fraco.
O que mostra: No topo: — × —, com Spearman — e Pearson 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reordenação põe lado a lado os indicadores que se correlacionam entre si, e os blocos de cor ao longo da diagonal revelam os grupos. Um grupo nítido costuma corresponder a uma dimensão: socioeconômica, saneamento, moradia, idade.
Como ler: Matriz de correlação de Spearman entre todos os indicadores, reordenados pelo agrupamento do dendrograma. Cada célula do triângulo inferior traz o valor de ρ (−1 a 1); argila é correlação positiva, petróleo negativa, branco é perto de zero. Com 31 indicadores, os valores só ficam legíveis com a figura ampliada; as matrizes por dimensão vêm a seguir.
O que mostra: O par mais forte é Esgoto inadequado × Esgoto (V00249–V00253) (ρ = -0,2946).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dendrograma é o resultado de um agrupamento hierárquico: começa com cada indicador sozinho e, a cada passo, une os dois grupos mais próximos. A distância entre dois indicadores é 1 menos o módulo da correlação de Spearman (0 = idênticos, 1 = sem relação); entre grupos, usa-se a média das distâncias (ligação média). Ele é um retrato descritivo: não substitui a análise fatorial.
Como ler: Cada indicador é uma folha à esquerda; as linhas os unem do mais parecido para o menos. Quanto mais à esquerda a união, mais correlacionados os indicadores.
O que mostra: O par mais próximo é Esgoto inadequado × Esgoto (V00249–V00253) (ρ = -0,2946).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favelas e comunidades urbanas delimitadas pelo IBGE servem de referência externa: um bom indicador de vulnerabilidade deve ter valores mais altos nelas. A comparação usa medianas e a AUC, que mede a capacidade de separar 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(área sob a curva ROC) é a probabilidade de que um setor de favela, sorteado ao acaso, tenha valor maior que um setor de fora, também sorteado. AUC 0,5: o indicador não separa os grupos. Acima de 0,5: valores maiores nas favelas. Abaixo de 0,5: valores menores nas favelas (é o caso da renda, que entra no índice invertida). A AUC aqui é global, com todos os municípios juntos.
Como ler: Uma linha por indicador: setores de FCU e fora, a mediana em cada grupo, a diferença e a AUC do indicador sozinho.
O que mostra: Esgoto inadequado tem AUC 0,6965 (mediana 0,0317 em FCU e 0,0000 fora); a menor AUC é a de Esgoto (V00249–V00253) (0,3001).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que partem de 0,5 deixam claro o sentido: argila para a direita, o indicador é maior nas favelas; petróleo para a esquerda, é menor. O painel das medianas mostra a mesma comparação em valores absolutos, o que ajuda a separar uma diferença grande em termos relativos de uma diferença grande de fato.
Como ler: À esquerda, a AUC de cada indicador (barras a partir de 0,5; argila acima, petróleo abaixo). À direita, as medianas em FCU e fora, para os indicadores em proporção.
O que mostra: A maior AUC é a de Esgoto inadequado (0,6965); a menor, a de Esgoto (V00249–V00253) (0,3001).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0,7638, com 73.878 setores; Kaiser retém 2 fatores e Horn, 2; 2 fatores explicam 60,2%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Renda (invertida) (0,7026). Menor comunalidade (promax): Razão de moradores (0,4388).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3,1558, segundo 1,0605 (Horn: 1,0155); os dois primeiros explicam 60,2%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0,1580.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1,0605, contra 1,0155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Renda (invertida) (0,8754); em F2: Banheiro graduado (0,8011).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Banheiro graduado (25,2%);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73.877 setores; mediana 0,2836; percentil 90 0,3611.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27,3% baixo e 6,4%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0,7609; mediana da AUC municipal 0,7696,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(0,9232) e a menor, a de Duque de Caxias (0,5697).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(0,9232) e a menor, a de Duque de Caxias (0,5697).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27,3% dos setores ficam em baixo e 6,4%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0,7609 (global); a mediana municipal é 0,7696.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esgoto V00312–V00316 (referência): 73.878 setores no índice (contra 73.878), AUC municipal 0,8186, ρ = 0,8803 com o valor-padrão e 28,8%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0,8803. Menor correlação municipal: Salvador (0,6752).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6.674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28,8% dos setores mudam de faixa; o município mais afetado é Vicentinópolis (54,5%).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(6.674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Vicentinópolis (54,5%); no total, 28,8%.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V00249–V00253 no lugar do esgoto, o índice se afasta muito da referência: a correlação de postos cai e quase três em cada dez setores mudam de faixa. A AUC contra as favelas também cai, e a variável sozinha tem AUC abaixo de 0,5, isto é, é maior fora das favelas — coerente com ela não medir esgoto. A versão confirma, pelos dados, a escolha de V00312–V00316 feita pelo dicionário.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V00249–V00253 não é esgoto segundo o dicionário oficial do IBGE; a versão existe para documentar o efeito da troca, não como alternativa.
As somas de V00249–V00253 vêm do diagnóstico já gravado em banco_de_dados/eda/diagnostico_esgoto_312_vs_249.csv; as variáveis não estão na base da entrega.
A amostra do índice exclui todo setor com algum componente faltante (exclusão por lista); trocar um componente muda também 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B4_esgoto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definições de esgoto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se o esgoto for medido por V00249–V00253 em vez de V00312–V00316?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pct_esgoto_inad, Esgoto (V00249–V00253)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pct_esgoto_inad,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(V00249–V00253),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2, 3, 4, 5, 6, 7, 9, 10, 13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465701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20565"/>
            <a:ext cx="10634472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componente de esgoto do índice: a soma de V00249 a V00253 entra no lugar de V00312 a V00316. Atenção: pelo dicionário oficial do IBGE, V00249–V00253 é tipologia de habitação, não esgoto (Relatório de Integridade do projeto). A versão mostra o efeito de usar a definição descartada; o esgoto da referência está na tabela T34.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Descritivas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Qual é o valor típico de cada indicador, e quanto ele varia?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T03, T04, T05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forma tem cada indicador, e ela muda de uma região para outra?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F02, F03, F04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Faltantes e sigilo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faltam dados, e a falta é aleatória?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T06, F14, T07, F15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setores têm valores fora do comum, e por qual critério?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T08, T09, T10, F16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Correlações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indicadores andam juntos?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T12, T13, T14, F17, F18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(FCU)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Cada indicador, sozinho, separa os setores de favela dos demais?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T15, F19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é o valor típico de cada indicador, e quanto ele varia?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T03 · T04 · T05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inadequado é o indicador mais assimétrico (assimetria 2,98)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830404"/>
                <a:gridCol w="740878"/>
                <a:gridCol w="740878"/>
                <a:gridCol w="740878"/>
                <a:gridCol w="697297"/>
                <a:gridCol w="740878"/>
                <a:gridCol w="740878"/>
                <a:gridCol w="566554"/>
                <a:gridCol w="653716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indicador. n: setores com valor; DP: desvio-padrão; P10…P90: percentis; CV: coeficiente de variação; % zeros: setores com valor exatamente zero.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assimetria é a de Esgoto inadequado (2,98); o maior percentual de zeros é o de Esgoto inadequado (72,5%).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T03 · tabelas/T03_descritivas_global.csv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inadequado: a mediana vai de 0,0000 (Centro-Oeste) a 0,0662 (Norte)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— mediana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04812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região e indicador, com as mesmas colunas da tabela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Esgoto inadequado, a mediana mais alta está no Norte (0,0662) e a mais baixa no Centro-Oeste (0,0000).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T04 · tabelas/T04_descritivas_regiao.csv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inadequado: entre os municípios, a mediana vai de 0,0000 a 0,9804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Esgoto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Esgoto inadequado, a maior mediana municipal é a de Portel (0,9804); a menor, a de Araçatuba (0,0000).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inadequado: entre os municípios, a mediana vai de 0,0000 a 0,9804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Esgoto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26.512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Esgoto inadequado, a maior mediana municipal é a de Portel (0,9804); a menor, a de Araçatuba (0,0000).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forma tem cada indicador, e ela muda de uma região para outra?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F02 · F03 · F04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Esgoto inadequado tem a distribuição mais assimétrica (assimetria 2,98)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02_histogramas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6913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Saneamento, a maior assimetria é a de Esgoto inadequado (2,98).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F02 · figuras/F02_histogramas_saneamento.png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Esgoto inadequado tem mediana de 0,0662 no Norte e 0,0000 no Centro-Oeste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03_boxplots_regiao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6970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(Esgoto inadequado), a mediana regional vai de 0,0000 (Centro-Oeste) a 0,0662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F03 · figuras/F03_boxplots_regiao_saneamento.png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04_densidades_regiao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6970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Esgoto inadequado, a mediana regional vai de 0,0000 (Centro-Oeste) a 0,0662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F04 · figuras/F04_densidades_regiao_saneamento.png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Faltantes e sigilo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faltam dados, e a falta é aleatória?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T06 · F14 · T07 · F15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Esgoto inadequado em Salvador (0,0%)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114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(% sem valor)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indicador; cada célula é o percentual de setores do município sem aquele indicador.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célula mais alta é Esgoto inadequado em Salvador, com 0,0% dos setores sem valor.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T06 · tabelas/T06_faltantes_por_municipio.csv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faltantes se concentram em poucos indicadores e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14_mapa_falt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4500" y="1243584"/>
            <a:ext cx="4457840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calor: linhas são municípios, colunas são indicadores; quanto mais escura a célula, maior o percentual de setores sem valor.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mais escuro é Esgoto inadequado em Salvador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F14 · figuras/F14_mapa_faltantes.png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falta em 29,4% dos menores setores e em 3,9% dos maiores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  <a:gridCol w="1097280"/>
                <a:gridCol w="12801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Décimo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(mín.)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(máx.)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renda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analfabetismo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em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são divididos em dez grupos iguais pelo número de moradores (1 = os menores). Para cada grupo, o percentual de setores sem renda e sem analfabetismo, e o percentual em FCU.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renda: 0,1% no primeiro décimo e 0,0% no último. Sem analfabetismo: 29,4% e 3,9%.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T07 · tabelas/T07_sigilo_por_porte_do_setor.csv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falta de dados depende do tamanho do setor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15_sigilo_por_porte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0139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horizontal: décimo de moradores do setor (1 = menores). Eixo vertical: percentual de setores sem o indicador.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Renda: de 0,1% a 0,0%; analfabetismo: de 29,4% a 3,9%, do menor ao maior décimo.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F15 · figuras/F15_sigilo_por_porte_do_setor.png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setores têm valores fora do comum, e por qual critério?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T08 · T09 · T10 · F16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(V00249–V00253) tem a maior proporção de extremos (10,6%)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1,9491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Esgoto (V00249–V00253) (10,6%),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concentra o maior número de marcações de extremo (4.132)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029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indicador, com o número de setores marcados; a coluna total soma todas as marcações.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município com mais marcações é São Paulo, com 4.132 no total.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T09 · tabelas/T09_extremos_por_municipio.csv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mais distantes da mediana, indicador por indicador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5544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130260305000064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8017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dez setores por indicador, os mais distantes da mediana entre os marcados como extremo: código do setor, município, valor e mediana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 da lista de Esgoto (V00249–V00253) está um setor de Manaus, com valor 1,0000.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 · tabelas/T10_extremos_lista.csv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proporção de extremos varia muito de um indicador para outro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16_extremos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6727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indicador, com o percentual de setores marcados; a cor indica o critério (petróleo: Tukey; cinza: inflação de zeros; argila: renda).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barra mais longa é a de Esgoto (V00249–V00253) (10,6%).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F16 · figuras/F16_extremos_por_indicador.png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indicadores andam juntos?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T12 · T13 · T14 · F17 · F18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inadequado e Esgoto (V00249–V00253) formam o par mais correlacionado (ρ = -0,2946)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3591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</a:tblGrid>
              <a:tr h="5330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096135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Spearman: cada célula é a correlação entre o indicador da linha e o da coluna, de −1 a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em módulo é entre Esgoto inadequado e Esgoto (V00249–V00253) (ρ = -0,2946).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T12 · tabelas/T12_correlacao_spearman.csv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correlação linear, o par mais forte é Esgoto inadequado × Esgoto (V00249–V00253) (r = -0,1736)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3591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</a:tblGrid>
              <a:tr h="5330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096135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Pearson, com a mesma leitura da de Spearman.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de Pearson em módulo é entre Esgoto inadequado e Esgoto (V00249–V00253) (r = -0,1736).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T13 · tabelas/T13_correlacao_pearson.csv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redundante é — × — (ρ = —)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26464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vazia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linha atende ao critério desta tabela nesta versão.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pares de indicadores com correlação de pelo menos 0,80 em módulo, por Spearman ou por Pearson, do mais forte para o mais fraco.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topo: — × —, com Spearman — e Pearson —.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 · tabelas/T14_pares_acima_de_080.csv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formam grupos de correlação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17_mapa_spear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7467" y="1243584"/>
            <a:ext cx="575190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2533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Spearman entre todos os indicadores, reordenados pelo agrupamento do dendrograma. Cada célula do triângulo inferior traz o valor de ρ (−1 a 1); argila é correlação positiva, petróleo negativa, branco é perto de zero. Com 31 indicadores, os valores só ficam legíveis com a figura ampliada; as matrizes por dimensão vêm a seguir.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40424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40972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forte é Esgoto inadequado × Esgoto (V00249–V00253) (ρ = -0,2946).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F17 · figuras/F17_mapa_spearman.png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dendrograma junta os indicadores que medem coisas parecidas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18_dendr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7101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uma folha à esquerda; as linhas os unem do mais parecido para o menos. Quanto mais à esquerda a união, mais correlacionados os indicadores.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próximo é Esgoto inadequado × Esgoto (V00249–V00253) (ρ = -0,2946).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F18 · figuras/F18_dendrograma.png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 (FCU)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indicador, sozinho, separa os setores de favela dos demais?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T15 · F19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inadequado é o indicador que mais separa as favelas (AUC 0,6965)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05840"/>
                <a:gridCol w="8229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de FCU e fora, a mediana em cada grupo, a diferença e a AUC do indicador sozinho.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inadequado tem AUC 0,6965 (mediana 0,0317 em FCU e 0,0000 fora); a menor AUC é a de Esgoto (V00249–V00253) (0,3001).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T15 · tabelas/T15_fcu_por_indicador.csv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separam as favelas com força muito diferente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19_fcu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143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AUC de cada indicador (barras a partir de 0,5; argila acima, petróleo abaixo). À direita, as medianas em FCU e fora, para os indicadores em proporção.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AUC é a de Esgoto inadequado (0,6965); a menor, a de Esgoto (V00249–V00253) (0,3001).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F19 · figuras/F19_fcu_por_indicador.png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0,7638: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186.548,3009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60,2327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0,7638, com 73.878 setores; Kaiser retém 2 fatores e Horn, 2; 2 fatores explicam 60,2%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a menor adequação individual (MSA 0,7026)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-0,6408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Renda (invertida) (0,7026). Menor comunalidade (promax): Razão de moradores (0,4388).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(1,0605) fica acima da linha de Horn (1,0155)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3,1558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1,0605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3,1558, segundo 1,0605 (Horn: 1,0155); os dois primeiros explicam 60,2%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0,1580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0,1580.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1,0605, contra 1,0155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define F1 e Banheiro graduado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7881" y="1243584"/>
            <a:ext cx="5431078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Renda (invertida) (0,8754); em F2: Banheiro graduado (0,8011).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graduado tem o maior peso no índice (25,2%)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Banheiro graduado (25,2%);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0,2836 e P90 0,3611, em 73.877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73.877 setores; mediana 0,2836; percentil 90 0,3611.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6,4%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20.202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33.929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27,3% baixo e 6,4%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0,7696: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0,7609; mediana da AUC municipal 0,7696,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0,5697 (Duque de Caxias) a 0,9232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(0,9232) e a menor, a de Duque de Caxias (0,5697).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0,5697 (Duque de Caxias) a 0,9232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(0,9232) e a menor, a de Duque de Caxias (0,5697).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29075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27,3% dos setores ficam em baixo e 6,4%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0,7609)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0,7609 (global); a mediana municipal é 0,7696.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esgoto V00312–V00316 (referência), o índice fica com 73.878 setores e ρ = 0,8803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V00312–V00316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esgoto V00312–V00316 (referência): 73.878 setores no índice (contra 73.878), AUC municipal 0,8186, ρ = 0,8803 com o valor-padrão e 28,8%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0,8803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0,8803. Menor correlação municipal: Salvador (0,6752).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(6.674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23.867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6.674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6.674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28,8%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21.271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6.985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28,8% dos setores mudam de faixa; o município mais afetado é Vicentinópolis (54,5%).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(6.674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4_esgoto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509" y="1243584"/>
            <a:ext cx="61418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Vicentinópolis (54,5%); no total, 28,8%.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0,7638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0,7696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28,8%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V00249–V00253 no lugar do esgoto, o índice se afasta muito da referência: a correlação de postos cai e quase três em cada dez setores mudam de faixa. A AUC contra as favelas também cai, e a variável sozinha tem AUC abaixo de 0,5, isto é, é maior fora das favelas — coerente com ela não medir esgoto. A versão confirma, pelos dados, a escolha de V00312–V00316 feita pelo dicionário.</a:t>
            </a:r>
            <a:endParaRPr lang="en-US" sz="12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 é o indicador mais assimétrico (assimetria 2,98)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inadequado: a mediana vai de 0,0000 (Centro-Oeste) a 0,0662 (Norte)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inadequado: entre os municípios, a mediana vai de 0,0000 a 0,9804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Esgoto inadequado tem a distribuição mais assimétrica (assimetria 2,98)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Esgoto inadequado tem mediana de 0,0662 no Norte e 0,0000 no 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maior percentual de faltantes é o de Esgoto inadequado em Salvador (0,0%)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faltantes se concentram em poucos indicadores e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analfabetismo falta em 29,4% dos menores setores e em 3,9% dos maiores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falta de dados depende do tamanho do 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(V00249–V00253) tem a maior proporção de extremos (10,6%)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concentra o maior número de marcações de extremo (4.132)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setores mais distantes da mediana, indicador por 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proporção de extremos varia muito de um indicador para outro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3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 e Esgoto (V00249–V00253) formam o par mais correlacionado (ρ = -0,2946)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 correlação linear, o par mais forte é Esgoto inadequado × Esgoto (V00249–V00253) (r = -0,1736)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par mais redundante é — × — (ρ = —)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formam grupos de correlação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dendrograma junta os indicadores que medem coisas parecidas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 é o indicador que mais separa as favelas (AUC 0,6965)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separam as favelas com força muito diferente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0,7638: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a menor adequação individual (MSA 0,7026)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(1,0605) fica acima da linha de Horn (1,0155)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0,1580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define F1 e Banheiro graduado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 tem o maior peso no índice (25,2%)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3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0,2836 e P90 0,3611, em 73.877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6,4%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0,7696: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0,5697 (Duque de Caxias) a 0,9232 (Guarujá)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0,7609)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0,8803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(6.674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esgoto V00312–V00316 (referência), o índice fica com 73.878 setores e ρ = 0,8803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3 de 3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V00249–V00253 não é esgoto segundo o dicionário oficial do IBGE; a versão existe para documentar o efeito da troca, não como alternativa.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somas de V00249–V00253 vêm do diagnóstico já gravado em banco_de_dados/eda/diagnostico_esgoto_312_vs_249.csv; as variáveis não estão na base da entrega.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lista); trocar um componente muda também a amostra.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B4_esgoto — As duas definições de esgoto</dc:title>
  <dc:subject>PptxGenJS Presentation</dc:subject>
  <dc:creator>Pedro Dias Soares</dc:creator>
  <cp:lastModifiedBy>Pedro Dias Soares</cp:lastModifiedBy>
  <cp:revision>1</cp:revision>
  <dcterms:created xsi:type="dcterms:W3CDTF">2026-10-23T00:04:55Z</dcterms:created>
  <dcterms:modified xsi:type="dcterms:W3CDTF">2026-10-23T00:04:55Z</dcterms:modified>
</cp:coreProperties>
</file>