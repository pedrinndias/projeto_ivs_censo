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</p:sldIdLst>
  <p:notesMasterIdLst>
    <p:notesMasterId r:id="rId6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notesMaster" Target="notesMasters/notesMaster1.xml"/><Relationship Id="rId63" Type="http://schemas.openxmlformats.org/officeDocument/2006/relationships/presProps" Target="presProps.xml"/><Relationship Id="rId64" Type="http://schemas.openxmlformats.org/officeDocument/2006/relationships/viewProps" Target="viewProps.xml"/><Relationship Id="rId65" Type="http://schemas.openxmlformats.org/officeDocument/2006/relationships/theme" Target="theme/theme1.xml"/><Relationship Id="rId6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que muda no índice sem o banheiro, com V00495 ou com cada uma das partições, em vez do banheiro graduado?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índice sem o componente de banheiro (seis componentes, como no NB04 sem o lixo). V00495 e as três partições (nem banheiro nem sanitário, só sanitário, banheiro de uso comum), cada uma no lugar do banheiro, e o banheiro graduado da referência estão na tabela T34. Os blocos 2 a 7 descrevem só as variáveis de banheiro.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descritivas resumem cada indicador em poucos números: o centro (média e mediana), a dispersão (desvio-padrão, quartis, percentis 10 e 90) e a forma (assimetria e curtose). Elas aparecem para o conjunto, por região e por município, para que diferenças de lugar fiquem visíveis antes de qualquer modelo.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média é sensível a valores extremos; a mediana não. Quando as duas se afastam, a distribuição é assimétrica. A assimetria é positiva quando há uma cauda longa à direita (poucos setores com valores muito altos). A curtose mede o peso das caudas: valores altos indicam muitos extremos. O coeficiente de variação (DP dividido pela média, em %) permite comparar a dispersão de indicadores em escalas diferentes. Nos indicadores de saneamento, a maioria dos setores vale zero: a mediana é zero e o intervalo interquartil também, o que explica por que o critério de extremos muda para eles (bloco 5).
Como ler: Uma linha por indicador. n: setores com valor; DP: desvio-padrão; P10…P90: percentis; CV: coeficiente de variação; % zeros: setores com valor exatamente zero.
O que mostra: A maior assimetria é a de Sem banheiro nem sanitário (68,98); o maior percentual de zeros é o de Sem banheiro nem sanitário (99,7%).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região é o primeiro dígito do código da unidade da federação. As diferenças entre regiões mostram o quanto o retrato depende do lugar: um indicador que varia muito entre regiões pode dominar um índice calculado com normalização global, e é por isso que a referência normaliza dentro de cada município.
Como ler: Uma linha por região e indicador, com as mesmas colunas da tabela global.
O que mostra: Para Sem banheiro, a mediana mais alta está no Centro-Oeste (0,0000) e a mais baixa no Centro-Oeste (0,0000).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São 70 municípios de tamanhos muito diferentes: alguns têm poucas dezenas de setores, e a mediana deles é menos estável. A tabela completa serve para consulta; o slide destaca os extremos.
Como ler: Uma linha por município e indicador (tabela longa). No deck, um recorte; a tabela completa está no CSV.
O que mostra: Para Sem banheiro, a maior mediana municipal é a de Portel (0,0848); a menor, a de Ananindeua (0,0000).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São 70 municípios de tamanhos muito diferentes: alguns têm poucas dezenas de setores, e a mediana deles é menos estável. A tabela completa serve para consulta; o slide destaca os extremos.
Como ler: Uma linha por município e indicador (tabela longa). No deck, um recorte; a tabela completa está no CSV.
O que mostra: Para Sem banheiro, a maior mediana municipal é a de Portel (0,0848); a menor, a de Ananindeua (0,0000).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números do bloco anterior escondem a forma da distribuição. Histogramas, caixas e curvas de densidade mostram se o indicador se concentra em zero, se tem cauda longa ou se separa regiões. Cada painel reúne os indicadores de uma dimensão.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histograma divide o intervalo de valores em 50 faixas iguais e conta os setores em cada uma. Uma barra alta junto do zero indica muitos setores sem o problema medido; uma cauda longa à direita indica poucos setores com valores muito altos. Os 0,5% de valores mais altos são omitidos só no desenho, para que a cauda não esmague a escala; as tabelas usam todos os valores.
Como ler: Um histograma por indicador da dimensão: no eixo horizontal, o valor; no vertical, quantos setores têm aquele valor. Os 0,5% maiores ficam de fora para a escala ser legível.
O que mostra: Entre os indicadores de Saneamento, a maior assimetria é a de Sem banheiro nem sanitário (68,98).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diagrama de caixa resume a distribuição em cinco números. A caixa contém a metade central dos setores; se as caixas de duas regiões não se sobrepõem, a diferença entre elas é grande. Quando a mediana e o 1º quartil coincidem com zero, a caixa fica achatada no chão: é o caso dos indicadores com muitos zeros.
Como ler: Uma caixa por região: a linha dentro é a mediana, a caixa vai do 1º ao 3º quartil e as hastes até 1,5 intervalo interquartil. Os pontos extremos não são desenhados (ver bloco 5).
O que mostra: No primeiro indicador da dimensão (Sem banheiro), a mediana regional vai de 0,0000 (Centro-Oeste) a 0,0000 (Centro-Oeste).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curva de densidade é um histograma suavizado e normalizado: a área sob ela vale 1, qualquer que seja o número de setores da região. Assim, comparam-se formas, não tamanhos. Picos em lugares diferentes indicam regiões com valores típicos diferentes; uma curva mais larga indica mais dispersão.
Como ler: Uma curva por região em cada painel: a altura indica onde os setores daquela região se concentram. As áreas sob as curvas são iguais, para que regiões grandes e pequenas sejam comparáveis.
O que mostra: Em Sem banheiro, a mediana regional vai de 0,0000 (Centro-Oeste) a 0,0000 (Centro-Oeste).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IBGE não divulga alguns valores para proteger o sigilo de setores pequenos. Se a falta fosse aleatória, bastaria descartar os setores sem dado; como ela se concentra em setores pequenos, descartar muda o retrato. Este bloco mostra onde estão os faltantes e como eles se distribuem pelo tamanho do setor.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faltantes não se espalham por igual entre os municípios. Onde eles se concentram, um índice calculado só com setores completos retrata pior o município, porque os setores que saem não são uma amostra ao acaso.
Como ler: Uma linha por município e uma coluna por indicador; cada célula é o percentual de setores do município sem aquele indicador.
O que mostra: A célula mais alta é Banheiro graduado em Placas, com 68,8% dos setores sem valor.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mapa de calor mostra a tabela anterior como cores. Colunas inteiras escuras indicam indicadores com sigilo ou denominador frequentemente zero; linhas escuras indicam municípios com muitos setores pequenos.
Como ler: Mapa de calor: linhas são municípios, colunas são indicadores; quanto mais escura a célula, maior o percentual de setores sem valor.
O que mostra: O ponto mais escuro é Banheiro graduado em Placas (68,8%).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a falta de dados fosse aleatória, o percentual de faltantes seria parecido em todos os décimos. Quando ele se concentra nos setores pequenos, a falta é não aleatória: o IBGE suprime valores para proteger o sigilo de quem mora em setores com poucos domicílios. A consequência é que análises só com setores completos sub-representam setores pequenos.
Como ler: Os setores são divididos em dez grupos iguais pelo número de moradores (1 = os menores). Para cada grupo, o percentual de setores sem renda e sem analfabetismo, e o percentual em FCU.
O que mostra: Sem renda: 0,1% no primeiro décimo e 0,0% no último. Sem analfabetismo: 29,4% e 3,9%.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duas linhas mostram a mesma tabela em forma de gráfico. Uma linha que desce da esquerda para a direita é o sinal do sigilo: quanto menor o setor, mais provável que o valor tenha sido suprimido.
Como ler: Eixo horizontal: décimo de moradores do setor (1 = menores). Eixo vertical: percentual de setores sem o indicador.
O que mostra: Renda: de 0,1% a 0,0%; analfabetismo: de 29,4% a 3,9%, do menor ao maior décimo.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 extremo não é um erro por definição: pode ser um setor realmente diferente. O critério muda com o indicador: o intervalo interquartil onde ele funciona, um critério próprio para a renda e, nos indicadores em que a maioria dos setores vale zero, o critério aplicado só aos valores acima de zero.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critério de Tukey marca como extremo o valor que fica a mais de 3 intervalos interquartis abaixo do 1º quartil ou acima do 3º (o intervalo interquartil é a distância entre o 1º e o 3º quartil). Nos indicadores com mediana zero esse intervalo é zero, e qualquer valor positivo viraria extremo; por isso, neles, o critério é aplicado só aos valores acima de zero. A renda usa o critério próprio do projeto: limite de Tukey dentro de cada município e um teste de coerência com o perfil do setor, que separa a renda alta de verdade (EXTREMO) da provável inconsistência (SUSPEITO).
Como ler: Uma linha por indicador: o critério usado, os limites, quantos setores passam deles e o percentual de zeros.
O que mostra: O maior percentual de extremos é o de Sem banheiro (0,3%), pelo critério “inflação de zeros: Tukey k=3 só entre os valores acima de zero”.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total soma marcações, não setores: um setor extremo em dois indicadores conta duas vezes. Municípios grandes tendem a ter mais marcações só por terem mais setores; a comparação justa é com o número de setores de cada um (bloco 2).
Como ler: Uma linha por município e uma coluna por indicador, com o número de setores marcados; a coluna total soma todas as marcações.
O que mostra: O município com mais marcações é São Luís, com 126 no total.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lista serve para conferência caso a caso: abrir o setor, olhar o entorno e decidir se é um setor diferente de verdade ou um erro de registro. Nenhum setor é retirado das análises por estar nesta lista.
Como ler: Até dez setores por indicador, os mais distantes da mediana entre os marcados como extremo: código do setor, município, valor e mediana global.
O que mostra: No topo da lista de Sem banheiro está um setor de Rio de Janeiro, com valor 1,0000.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percentuais não são comparáveis de forma direta entre critérios diferentes: o critério da inflação de zeros olha só os setores com valor acima de zero. O gráfico serve para localizar os indicadores em que os extremos merecem atenção.
Como ler: Uma barra por indicador, com o percentual de setores marcados; a cor indica o critério (petróleo: Tukey; cinza: inflação de zeros; argila: renda).
O que mostra: A barra mais longa é a de Sem banheiro (0,3%).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correlação mede o quanto dois indicadores sobem e descem juntos, de −1 a 1. Pares muito correlacionados medem quase a mesma coisa; pares sem correlação trazem informação diferente. O bloco mostra as duas medidas usuais (Spearman, por postos, e Pearson, linear) e agrupa os indicadores parecidos.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correlação de Spearman é calculada sobre os postos (a ordem dos setores), não sobre os valores. Por isso é pouco afetada por extremos e capta relações que sobem sempre, mesmo que não em linha reta. Valor perto de 1: os setores ordenados por um indicador ficam quase na mesma ordem pelo outro; perto de −1: ordem invertida; perto de 0: sem relação de ordem. Cada par usa os setores com os dois valores.
Como ler: Matriz de correlação de Spearman: cada célula é a correlação entre o indicador da linha e o da coluna, de −1 a 1.
O que mostra: A maior correlação em módulo é entre Sem banheiro e Banheiro graduado (ρ = 1,0000).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correlação de Pearson mede a relação em linha reta entre os valores. Ela é sensível a extremos e a distribuições muito assimétricas, como as do saneamento. Quando Pearson e Spearman divergem muito para um mesmo par, a relação é puxada por poucos setores extremos ou não é linear.
Como ler: Matriz de correlação de Pearson, com a mesma leitura da de Spearman.
O que mostra: A maior correlação de Pearson em módulo é entre Sem banheiro e Banheiro graduado (r = 0,9385).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Dois indicadores com correlação acima de 0,80 medem praticamente a mesma coisa. Pôr os dois no índice dá peso dobrado a essa dimensão. Muitas vezes são variantes de um mesmo conceito (por exemplo, as três rendas ou as várias definições de água), e a escolha entre elas é uma das decisões que as versões do eixo B exploram.
Como ler: Os pares de indicadores com correlação de pelo menos 0,80 em módulo, por Spearman ou por Pearson, do mais forte para o mais fraco.
O que mostra: No topo: Sem banheiro × Banheiro graduado, com Spearman 1,0000 e Pearson 0,9385.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reordenação põe lado a lado os indicadores que se correlacionam entre si, e os blocos de cor ao longo da diagonal revelam os grupos. Um grupo nítido costuma corresponder a uma dimensão: socioeconômica, saneamento, moradia, idade.
Como ler: Mapa de calor da correlação de Spearman, com os indicadores reordenados pelo agrupamento do dendrograma; argila é correlação positiva, petróleo negativa.
O que mostra: O par mais forte é Sem banheiro × Banheiro graduado (ρ = 1,0000).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dendrograma é o resultado de um agrupamento hierárquico: começa com cada indicador sozinho e, a cada passo, une os dois grupos mais próximos. A distância entre dois indicadores é 1 menos o módulo da correlação de Spearman (0 = idênticos, 1 = sem relação); entre grupos, usa-se a média das distâncias (ligação média). Ele é um retrato descritivo: não substitui a análise fatorial.
Como ler: Cada indicador é uma folha à esquerda; as linhas os unem do mais parecido para o menos. Quanto mais à esquerda a união, mais correlacionados os indicadores.
O que mostra: O par mais próximo é Sem banheiro × Banheiro graduado (ρ = 1,0000).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favelas e comunidades urbanas delimitadas pelo IBGE servem de referência externa: um bom indicador de vulnerabilidade deve ter valores mais altos nelas. A comparação usa medianas e a AUC, que mede a capacidade de separar os dois grupos.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AUC (área sob a curva ROC) é a probabilidade de que um setor de favela, sorteado ao acaso, tenha valor maior que um setor de fora, também sorteado. AUC 0,5: o indicador não separa os grupos. Acima de 0,5: valores maiores nas favelas. Abaixo de 0,5: valores menores nas favelas (é o caso da renda, que entra no índice invertida). A AUC aqui é global, com todos os municípios juntos.
Como ler: Uma linha por indicador: setores de FCU e fora, a mediana em cada grupo, a diferença e a AUC do indicador sozinho.
O que mostra: Sem banheiro tem AUC 0,5579 (mediana 0,0000 em FCU e 0,0000 fora); a menor AUC é a de Sem banheiro nem sanitário (0,5048).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Barras que partem de 0,5 deixam claro o sentido: argila para a direita, o indicador é maior nas favelas; petróleo para a esquerda, é menor. O painel das medianas mostra a mesma comparação em valores absolutos, o que ajuda a separar uma diferença grande em termos relativos de uma diferença grande de fato.
Como ler: À esquerda, a AUC de cada indicador (barras a partir de 0,5; argila acima, petróleo abaixo). À direita, as medianas em FCU e fora, para os indicadores em proporção.
O que mostra: A maior AUC é a de Sem banheiro (0,5579); a menor, a de Sem banheiro nem sanitário (0,5048).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análise fatorial resume vários indicadores correlacionados em poucas dimensões (fatores). Antes de usá-la, testa-se se os dados se prestam a isso (KMO, MSA, Bartlett) e quantos fatores reter (Kaiser e análise paralela de Horn). Depois, as cargas dizem o quanto cada indicador pertence a cada fator.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KMO (Kaiser-Meyer-Olkin) compara as correlações entre as variáveis com as correlações parciais: perto de 1, as variáveis compartilham muita informação e a fatorial faz sentido; o critério do projeto é pelo menos 0,70. O teste de Bartlett verifica se a matriz de correlação é diferente da identidade (variáveis sem relação); com tantos setores, ele sempre rejeita. O critério de Kaiser retém fatores com autovalor acima de 1; a análise paralela de Horn, mais conservadora, retém os fatores cujo autovalor supera o que dados aleatórios do mesmo tamanho produziriam. A correlação usada é a de Spearman, como no NB04.
Como ler: As medidas de adequação da matriz de correlação dos componentes do índice, na amostra do índice.
O que mostra: KMO 0,7870, com 87.545 setores; Kaiser retém 1 fatores e Horn, 1; dois fatores explicam 70,0% da variância.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MSA é o KMO de cada variável: abaixo de 0,50, a variável compartilha pouco com as outras. A comunalidade é a parte da variância da variável explicada pelos fatores retidos (critério do projeto: pelo menos 0,30). A carga é a correlação da variável com o fator (critério: pelo menos 0,40 no fator principal). A rotação gira os fatores para que cada variável carregue forte em um só: a Varimax mantém os fatores independentes; a promax permite que eles se correlacionem. Na promax, a matriz padrão dá o efeito próprio de cada fator e a matriz estrutura, a correlação simples.
Como ler: Uma linha por componente: MSA, comunalidades e as cargas em cada fator, sem rotação, na Varimax e na promax (padrão e estrutura).
O que mostra: Menor MSA: Renda (invertida) (0,7153). Menor comunalidade (promax): Razão de moradores (0,3804).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autovalor mede quanta variância um componente resume, em unidades de variável: autovalor 2 equivale a duas variáveis inteiras. A análise paralela de Horn gera dados aleatórios com o mesmo número de setores e variáveis e calcula os autovalores que surgiriam só por acaso; um componente merece ser retido quando o seu autovalor supera esse valor.
Como ler: Um componente por linha: autovalor, valor de referência da análise paralela de Horn e variância explicada, simples e acumulada.
O que mostra: Primeiro autovalor 3,2391, segundo 0,9585 (Horn: 1,0119); os dois primeiros explicam 70,0% da variância.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rotação oblíqua (promax), os fatores podem se correlacionar. Uma correlação alta entre a dimensão socioeconômica e a de saneamento indica que as carências tendem a ocorrer juntas no mesmo setor. É por isso que, na promax, se usa a matriz padrão para distribuir pesos: ela separa o efeito próprio de cada fator.
Como ler: Matriz Φ: a correlação entre os fatores depois da rotação promax.
O que mostra: A correlação entre F1 e F2 é 0,5215.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nome vem da imagem de uma encosta: os primeiros componentes formam o paredão e os demais, o entulho no pé. Os componentes que ficam acima da linha tracejada trazem estrutura real; os que ficam abaixo, ruído.
Como ler: Linha cheia: autovalores em ordem decrescente. Tracejada: o que dados aleatórios produziriam (Horn). Pontilhada: o critério de Kaiser (autovalor 1).
O que mostra: O segundo autovalor é 0,9585, contra 1,0119 da linha de Horn.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mapa de cargas mostra a que fator cada variável pertence. Setas ao longo do eixo horizontal pertencem a F1; ao longo do vertical, a F2; setas na diagonal dividem-se entre os dois. Setas curtas indicam variáveis mal explicadas pelos dois fatores (comunalidade baixa).
Como ler: Cada seta é um componente; a ponta fica nas cargas padrão da promax em F1 (horizontal) e F2 (vertical). O círculo marca carga 1.
O que mostra: Maior carga em F1: Renda (invertida) (0,9792); em F2: Água inadequada (0,9987).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 os fatores e os pesos, cada setor recebe um valor de 0 a 1 dentro do seu município. O bloco mostra os pesos, a distribuição do índice, as faixas de vulnerabilidade pelas duas regras, a AUC contra as favelas e se a versão passa nos critérios de elegibilidade fixados no NB05.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pesos seguem a receita do NB04: cada variável vai para a dimensão em que tem a maior carga; o peso da dimensão é repartido entre as variáveis dela em proporção ao quadrado da carga. O peso das dimensões depende do método da versão; na referência é a regra do IVS-BH de 2012 (60% socioeconômica, 40% saneamento).
Como ler: Uma linha por componente: a dimensão em que ele carrega mais, a carga, o peso da dimensão e o peso final no índice (em %).
O que mostra: O maior peso é o de Água inadequada (27,9%); a dimensão socioeconômica pesa 60,0%.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índice vai de 0 (o setor menos vulnerável do município) a 1 (o mais vulnerável). Comparar o nível do índice entre municípios não faz sentido nesta normalização; o que se compara é a posição relativa de cada setor dentro da sua cidade.
Como ler: Descritivas do índice para o total e por região. Como o índice é normalizado dentro de cada município, todo município tem mínimo 0 e máximo 1.
O que mostra: 87.545 setores; mediana 0,3413; percentil 90 0,4849.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regra do IVS-BH de 2012 classifica pelo afastamento da média do município em desvios-padrão: abaixo de −0,5 DP é baixo; até +0,5 DP, médio; até +1,5 DP, elevado; acima, muito elevado. Como a distribuição é assimétrica, as faixas não têm o mesmo tamanho. A regra dos quartis divide cada município em quatro partes iguais, por construção com 25% cada.
Como ler: Quantos setores ficam em cada faixa, pelas duas regras: a do IVS-BH (média e desvio-padrão do município) e a dos quartis do município.
O que mostra: IVS-BH: 29,1% baixo e 6,1% muito elevado. Quartis: 25,0% muito elevado.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AUC global junta todos os setores; a municipal calcula a AUC dentro de cada município e toma a mediana, só nos municípios com pelo menos 30 setores de FCU e 30 fora. A municipal é a leitura adequada para um índice normalizado no município. Os critérios de elegibilidade foram fixados antes de rodar a grade do NB05: KMO de pelo menos 0,70, MSA de pelo menos 0,50, comunalidade de pelo menos 0,30 e carga de pelo menos 0,40 em todas as variáveis. A elegibilidade é descritiva: não escolhe a versão.
Como ler: AUC global e municipal, peso da dimensão socioeconômica e os critérios de elegibilidade do NB05, um por linha (1 = atende).
O que mostra: AUC global 0,8172; mediana da AUC municipal 0,7845, em 31 municípios. Pelos critérios do NB05, a versão é elegível.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Municípios com poucos setores de favela têm AUC instável: um ou dois setores mudam muito o resultado. Por isso a mediana só usa os municípios com pelo menos 30 setores em cada grupo; os demais ficam na tabela, marcados.
Como ler: Uma linha por município: AUC, setores de FCU (n1) e fora (n0) e se o município entra na mediana.
O que mostra: Entre os municípios que entram na mediana, a maior AUC é a de Guarujá (0,9539) e a menor, a de Duque de Caxias (0,5316).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Municípios com poucos setores de favela têm AUC instável: um ou dois setores mudam muito o resultado. Por isso a mediana só usa os municípios com pelo menos 30 setores em cada grupo; os demais ficam na tabela, marcados.
Como ler: Uma linha por município: AUC, setores de FCU (n1) e fora (n0) e se o município entra na mediana.
O que mostra: Entre os municípios que entram na mediana, a maior AUC é a de Guarujá (0,9539) e a menor, a de Duque de Caxias (0,5316).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as faixas são definidas dentro de cada município, um mesmo valor do índice pode cair em faixas diferentes em cidades diferentes: por isso as cores se sobrepõem nas fronteiras.
Como ler: Histograma do índice, com cada barra dividida pela faixa dos setores (regra do IVS-BH).
O que mostra: 29,1% dos setores ficam em baixo e 6,1% em muito elevado.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Quanto mais a curva se aproxima do canto superior esquerdo, melhor o índice separa os dois grupos. A área sob a curva é a AUC. Esta curva usa todos os setores juntos; como o índice é normalizado no município, a AUC municipal é a medida principal.
Como ler: Cada ponto da curva é um corte do índice: no eixo vertical, a proporção de setores de FCU acima do corte; no horizontal, a dos setores de fora. A diagonal é o acaso.
O que mostra: Área sob a curva: 0,8172 (global); a mediana municipal é 0,7845.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Quando ninguém fixou um parâmetro, a versão roda com um valor-padrão e esta tabela mostra o que muda com o valor alternativo. Correlação de postos perto de 1 e poucas trocas de faixa indicam que a escolha do parâmetro pesa pouco; o contrário indica que ela precisa ser decidida. Nenhum dos valores é decisão: é parâmetro exploratório.
Como ler: Uma linha por valor do parâmetro exploratório: setores no recorte e no índice, KMO, AUC global e municipal, elegibilidade (1 = elegível), correlação de postos com o índice do valor-padrão e % de setores que mudam de faixa.
O que mostra: Com banheiro graduado (referência): 73.878 setores no índice (contra 87.545), AUC municipal 0,8186, ρ = 0,9907 com o valor-padrão e 13,0% dos setores comuns mudando de faixa.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versão muda uma coisa só em relação à referência. Este bloco mede o efeito dessa mudança: a correlação de postos entre os dois índices, a matriz de setores que trocam de faixa e os municípios mais afetados.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Uma correlação de postos perto de 1 indica que a versão ordena os setores quase como a referência, ainda que os valores mudem. Na própria referência, o valor é 1 por construção.
Como ler: Correlação de Spearman entre o índice desta versão e o da referência, nos setores que estão nas duas amostras: total e por município.
O que mostra: Total: ρ = 0,9907. Menor correlação municipal: Santa Maria do Oeste (0,6000).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diagonal (mesma faixa nas duas) mostra a concordância. Trocas entre faixas vizinhas são esperadas quando os pesos mudam um pouco; trocas de duas faixas ou mais indicam que a versão muda de fato a classificação do setor.
Como ler: Cada linha é um par (faixa na referência, faixa nesta versão), com o número de setores e o percentual do total.
O que mostra: Fora da diagonal, a maior célula é de elevado para medio, com 5.629 setores.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faixa usada é a da regra do IVS-BH. Municípios pequenos tendem a aparecer no topo, porque poucas trocas pesam muito em poucos setores.
Como ler: A primeira linha é o total; as demais, os municípios, do mais afetado para o menos: setores comuns, setores que mudam de faixa e o percentual.
O que mostra: No total, 13,0% dos setores mudam de faixa; o município mais afetado é São Raimundo do Doca Bezerra (100,0%).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Uma matriz com quase tudo na diagonal indica que a mudança da versão não altera a classificação; células fora da diagonal mostram para onde os setores se movem.
Como ler: Linhas: faixa na referência; colunas: faixa nesta versão; cada célula traz o número de setores.
O que mostra: A maior troca fora da diagonal é de elevado para medio (5.629 setores).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gráfico destaca onde a escolha desta versão faz mais diferença. Na própria referência, todas as barras são zero.
Como ler: Os 20 municípios com o maior percentual de setores que mudam de faixa.
O que mostra: O mais afetado é São Raimundo do Doca Bezerra (100,0%); no total, 13,0%.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 o banheiro, o índice ganha setores (o banheiro graduado é o componente com mais faltantes), mas perde capacidade de separar as favelas: a AUC municipal cai em relação à referência. Kaiser e Horn passam a reter um fator só. Qualquer das variantes de banheiro na T34 recupera a AUC e muda de faixa cerca de um em cada dez setores em relação ao índice sem banheiro. O banheiro graduado é também o componente que falha a elegibilidade em Belo Horizonte e em três regiões (versões A3 e A4).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variáveis de banheiro têm mediana zero e quase todos os setores sem falta: a fatorial depende de poucos setores com valor.
As partições de V00495 (V00236, V00237, V00238) nunca tinham sido tabuladas antes destas versões.
A amostra do índice exclui todo setor com algum componente faltante (exclusão por lista); trocar um componente muda também a amostra.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234440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ANÁLISES EXPLORATÓRIAS POR VERSÃO · B3_banheiro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777240" y="162763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783080"/>
            <a:ext cx="10634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definições de banheiro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77240" y="2788920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muda no índice sem o banheiro, com V00495 ou com cada uma das partições, em vez do banheiro graduado?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5623560"/>
            <a:ext cx="10634472" cy="0"/>
          </a:xfrm>
          <a:prstGeom prst="line">
            <a:avLst/>
          </a:prstGeom>
          <a:noFill/>
          <a:ln w="9525">
            <a:solidFill>
              <a:srgbClr val="C8C6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760720"/>
            <a:ext cx="1063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outubro de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muda nesta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297680"/>
                <a:gridCol w="42976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Aspecto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Referência (00_referencia)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Esta versão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Base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entrega_orientadora/Base_ELSI_70Municipios_Censo2022.db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urbanos; Dados_sig = OK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68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todos os do quadro, com as variantes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C2F2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pct_sem_banheiro, banheiro_graduado, pct_sem_banheiro_nem_sanitario, pct_so_sanitario, pct_banheiro_comum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95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Componentes do índice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inadequada, Esgoto inadequado, Razão de moradores, Analfabetismo 15+, Renda (invertida), Cor/raça PPI, banheiro_graduado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C2F2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inadequada, Esgoto inadequado, Razão de moradores, Analfabetismo 15+, Renda (invertida), Cor/raça PPI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original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Rotação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promax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Pesos das dimensões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60_40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Normalização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municipal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1, 2, 3, 4, 5, 6, 7, 8, 9, 10, 11, 12, 13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C2F2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2, 3, 4, 5, 6, 7, 9, 10, 13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77240" y="4608195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4663059"/>
            <a:ext cx="10634472" cy="1371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muda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índice sem o componente de banheiro (seis componentes, como no NB04 sem o lixo). V00495 e as três partições (nem banheiro nem sanitário, só sanitário, banheiro de uso comum), cada uma no lugar do banheiro, e o banheiro graduado da referência estão na tabela T34. Os blocos 2 a 7 descrevem só as variáveis de banheiro.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Sumário: os blocos desta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377440"/>
                <a:gridCol w="4937760"/>
                <a:gridCol w="26517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Título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Pergunta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Itens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Descritivas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Qual é o valor típico de cada indicador, e quanto ele varia?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T03, T04, T05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Distribuições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Que forma tem cada indicador, e ela muda de uma região para outra?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F02, F03, F04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 e sigilo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Onde faltam dados, e a falta é aleatória?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T06, F14, T07, F15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Extremos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Que setores têm valores fora do comum, e por qual critério?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T08, T09, T10, F16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Correlações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Que indicadores andam juntos?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T12, T13, T14, F17, F18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Favelas e comunidades urbanas (FCU)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Cada indicador, sozinho, separa os setores de favela dos demais?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T15, F19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Adequação fatorial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componentes do índice se prestam a uma análise fatorial, e quantos fatores ela sustenta?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T19, T20, T21, T22, F22, F23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índice da versão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Como fica o índice, e ele separa os setores de favela?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T23, T24, T25, T26, T27, F24, F25, T34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Comparação com a referência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que esta versão muda em relação à referência proposta do NB05?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T31, T32, T33, F28, F29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Descritivas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 é o valor típico de cada indicador, e quanto ele varia?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T03 · T04 · T05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banheiro nem sanitário é o indicador mais assimétrico (assimetria 68,98)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452360" cy="914400"/>
        </p:xfrm>
        <a:graphic>
          <a:graphicData uri="http://schemas.openxmlformats.org/drawingml/2006/table">
            <a:tbl>
              <a:tblPr/>
              <a:tblGrid>
                <a:gridCol w="1830404"/>
                <a:gridCol w="740878"/>
                <a:gridCol w="740878"/>
                <a:gridCol w="740878"/>
                <a:gridCol w="697297"/>
                <a:gridCol w="740878"/>
                <a:gridCol w="740878"/>
                <a:gridCol w="566554"/>
                <a:gridCol w="653716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DP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Assim.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zeros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91.912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21,31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95,6%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89.816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32,80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97,8%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 nem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101.139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68,98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100.297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32,59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de uso comum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94.414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37,68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97,3%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indicador. n: setores com valor; DP: desvio-padrão; P10…P90: percentis; CV: coeficiente de variação; % zeros: setores com valor exatamente zero.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assimetria é a de Sem banheiro nem sanitário (68,98); o maior percentual de zeros é o de Sem banheiro nem sanitário (99,7%).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T03 · tabelas/T03_descritivas_global.csv  ·  Bloco 2. Descritivas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banheiro: a mediana vai de 0,0000 (Centro-Oeste) a 0,0000 (Centro-Oeste)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223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05840"/>
                <a:gridCol w="1005840"/>
                <a:gridCol w="1005840"/>
                <a:gridCol w="100584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 — mediana por região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 nem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de uso comum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278726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região e indicador, com as mesmas colunas da tabela global.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4208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Sem banheiro, a mediana mais alta está no Centro-Oeste (0,0000) e a mais baixa no Centro-Oeste (0,0000).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T04 · tabelas/T04_descritivas_regiao.csv  ·  Bloco 2. Descritivas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banheiro: entre os municípios, a mediana vai de 0,0000 a 0,0848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5836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22960"/>
                <a:gridCol w="1005840"/>
                <a:gridCol w="100584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 — Sem banheiro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Portel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0,3853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Placas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0,4096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Rosário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0,3434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Raimundo do Doca Bezerra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Autazes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Jaqueira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Ananindeua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Anápolis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Arara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Araçatuba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 e indicador (tabela longa). No deck, um recorte; a tabela completa está no CSV.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Sem banheiro, a maior mediana municipal é a de Portel (0,0848); a menor, a de Ananindeua (0,0000).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T05 · tabelas/T05_descritivas_municipio.csv  ·  Bloco 2. Descritivas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banheiro: entre os municípios, a mediana vai de 0,0000 a 0,0848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5836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22960"/>
                <a:gridCol w="1005840"/>
                <a:gridCol w="100584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 — Sem banheiro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Luís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24.554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 das Missões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Pedro da Aldeia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Tabatinga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Taió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Teresina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Urandi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Vicentinópolis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Preta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401916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 e indicador (tabela longa). No deck, um recorte; a tabela completa está no CSV.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Sem banheiro, a maior mediana municipal é a de Portel (0,0848); a menor, a de Ananindeua (0,0000).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T05 · tabelas/T05_descritivas_municipio.csv  ·  Bloco 2. Descritivas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Distribuições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forma tem cada indicador, e ela muda de uma região para outra?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F02 · F03 · F04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Saneamento: Sem banheiro nem sanitário tem a distribuição mais assimétrica (assimetria 68,98)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B3_banheiro/figuras/F02_histogramas_saneamen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274150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histograma por indicador da dimensão: no eixo horizontal, o valor; no vertical, quantos setores têm aquele valor. Os 0,5% maiores ficam de fora para a escala ser legível.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os indicadores de Saneamento, a maior assimetria é a de Sem banheiro nem sanitário (68,98).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F02 · figuras/F02_histogramas_saneamento.png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Saneamento: Sem banheiro tem mediana de 0,0000 no Centro-Oeste e 0,0000 no Centro-Oeste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B3_banheiro/figuras/F03_boxplots_regiao_saneamen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27486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caixa por região: a linha dentro é a mediana, a caixa vai do 1º ao 3º quartil e as hastes até 1,5 intervalo interquartil. Os pontos extremos não são desenhados (ver bloco 5).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primeiro indicador da dimensão (Sem banheiro), a mediana regional vai de 0,0000 (Centro-Oeste) a 0,0000 (Centro-Oeste).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F03 · figuras/F03_boxplots_regiao_saneamento.png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Saneamento: as regiões têm formas diferentes de distribuição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B3_banheiro/figuras/F04_densidades_regiao_saneamen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274293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curva por região em cada painel: a altura indica onde os setores daquela região se concentram. As áreas sob as curvas são iguais, para que regiões grandes e pequenas sejam comparáveis.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Sem banheiro, a mediana regional vai de 0,0000 (Centro-Oeste) a 0,0000 (Centro-Oeste).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F04 · figuras/F04_densidades_regiao_saneamento.png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Faltantes e sigilo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faltam dados, e a falta é aleatória?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T06 · F14 · T07 · F15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maior percentual de faltantes é o de Banheiro graduado em Placas (68,8%)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2694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51560"/>
                <a:gridCol w="1051560"/>
                <a:gridCol w="1051560"/>
                <a:gridCol w="1051560"/>
                <a:gridCol w="105156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 (% sem valor)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banheiro_graduado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pct_so_sanitario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pct_banheiro_comum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pct_sem_banheiro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pct_sem_banheiro_nem_sanitario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Placas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Raimundo do Doca Bezerra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66,7%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66,7%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Groaíras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64,3%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Rosário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58,3%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Autazes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Marechal Deodoro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Itajuípe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Luís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Preta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Japoatã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Belém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José de Ribamar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Santa Maria do 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Arara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Portel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Jaqueira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644642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 e uma coluna por indicador; cada célula é o percentual de setores do município sem aquele indicador.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célula mais alta é Banheiro graduado em Placas, com 68,8% dos setores sem valor.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T06 · tabelas/T06_faltantes_por_municipio.csv  ·  Bloco 4. Faltantes e sigilo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faltantes se concentram em poucos indicadores e municípios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B3_banheiro/figuras/F14_mapa_faltan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99870" y="1243584"/>
            <a:ext cx="4407101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de calor: linhas são municípios, colunas são indicadores; quanto mais escura a célula, maior o percentual de setores sem valor.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ponto mais escuro é Banheiro graduado em Placas (68,8%).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F14 · figuras/F14_mapa_faltantes.png  ·  Bloco 4. Faltantes e sigilo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analfabetismo falta em 29,4% dos menores setores e em 3,9% dos maiores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21792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097280"/>
                <a:gridCol w="1097280"/>
                <a:gridCol w="1097280"/>
                <a:gridCol w="1280160"/>
                <a:gridCol w="91440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Décimo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Moradores (mín.)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Moradores (máx.)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sem renda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sem analfabetismo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em FCU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4.703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setores são divididos em dez grupos iguais pelo número de moradores (1 = os menores). Para cada grupo, o percentual de setores sem renda e sem analfabetismo, e o percentual em FCU.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renda: 0,1% no primeiro décimo e 0,0% no último. Sem analfabetismo: 29,4% e 3,9%.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T07 · tabelas/T07_sigilo_por_porte_do_setor.csv  ·  Bloco 4. Faltantes e sigilo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falta de dados depende do tamanho do setor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B3_banheiro/figuras/F15_sigilo_por_porte_do_se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40139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Eixo horizontal: décimo de moradores do setor (1 = menores). Eixo vertical: percentual de setores sem o indicador.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Renda: de 0,1% a 0,0%; analfabetismo: de 29,4% a 3,9%, do menor ao maior décimo.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F15 · figuras/F15_sigilo_por_porte_do_setor.png  ·  Bloco 4. Faltantes e sigilo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Extremos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setores têm valores fora do comum, e por qual critério?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T08 · T09 · T10 · F16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banheiro tem a maior proporção de extremos (0,3%)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3609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377440"/>
                <a:gridCol w="914400"/>
                <a:gridCol w="777240"/>
                <a:gridCol w="822960"/>
                <a:gridCol w="73152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Critério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Limite sup.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Extremos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extremos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zeros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95,6%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97,8%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 nem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0,2222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de uso comum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97,3%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indicador: o critério usado, os limites, quantos setores passam deles e o percentual de zeros.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maior percentual de extremos é o de Sem banheiro (0,3%), pelo critério “inflação de zeros: Tukey k=3 só entre os valores acima de zero”.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T08 · tabelas/T08_extremos_por_indicador.csv  ·  Bloco 5. Extremos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São Luís concentra o maior número de marcações de extremo (126)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2237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822960"/>
                <a:gridCol w="1097280"/>
                <a:gridCol w="1097280"/>
                <a:gridCol w="1097280"/>
                <a:gridCol w="109728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pct_sem_banheiro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pct_banheiro_comum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banheiro_graduado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pct_so_sanitario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Luís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Manaus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José de Ribamar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Rio de Janeiro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Recife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Belém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Duque de Caxias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Teresina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Portel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Rosário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Fortaleza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Feira de Santana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Ananindeua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Porto Alegre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Curitiba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644642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 e uma coluna por indicador, com o número de setores marcados; a coluna total soma todas as marcações.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município com mais marcações é São Luís, com 126 no total.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T09 · tabelas/T09_extremos_por_municipio.csv  ·  Bloco 5. Extremos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setores mais distantes da mediana, indicador por indicador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9494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645920"/>
                <a:gridCol w="1554480"/>
                <a:gridCol w="91440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global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Rio de Janeiro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330455705250341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355030830001117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0,6667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 nem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355030830001117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0,6667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Campo Grande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500270405110448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de uso comum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Rio de Janeiro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330455705250341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278726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Até dez setores por indicador, os mais distantes da mediana entre os marcados como extremo: código do setor, município, valor e mediana global.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topo da lista de Sem banheiro está um setor de Rio de Janeiro, com valor 1,0000.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T10 · tabelas/T10_extremos_lista.csv  ·  Bloco 5. Extremos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proporção de extremos varia muito de um indicador para outro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B3_banheiro/figuras/F16_extremos_por_indicad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22406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barra por indicador, com o percentual de setores marcados; a cor indica o critério (petróleo: Tukey; cinza: inflação de zeros; argila: renda).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barra mais longa é a de Sem banheiro (0,3%).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F16 · figuras/F16_extremos_por_indicador.png  ·  Bloco 5. Extremos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Correlações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indicadores andam juntos?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T12 · T13 · T14 · F17 · F18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banheiro e Banheiro graduado formam o par mais correlacionado (ρ = 1,0000)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26464"/>
            <a:ext cx="7452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 vazia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Nenhuma linha atende ao critério desta tabela nesta versão.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correlação de Spearman: cada célula é a correlação entre o indicador da linha e o da coluna, de −1 a 1.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correlação em módulo é entre Sem banheiro e Banheiro graduado (ρ = 1,0000).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T12 · tabelas/T12_correlacao_spearman.csv  ·  Bloco 6. Correlações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 correlação linear, o par mais forte é Sem banheiro × Banheiro graduado (r = 0,9385)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26464"/>
            <a:ext cx="7452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 vazia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Nenhuma linha atende ao critério desta tabela nesta versão.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correlação de Pearson, com a mesma leitura da de Spearman.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49640" y="24208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correlação de Pearson em módulo é entre Sem banheiro e Banheiro graduado (r = 0,9385).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T13 · tabelas/T13_correlacao_pearson.csv  ·  Bloco 6. Correlações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par mais redundante é Sem banheiro × Banheiro graduado (ρ = 1,0000)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9494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  <a:gridCol w="1097280"/>
                <a:gridCol w="109728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Pearson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0,9385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de uso comum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0,9339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0,5594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de uso comum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pares de indicadores com correlação de pelo menos 0,80 em módulo, por Spearman ou por Pearson, do mais forte para o mais fraco.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topo: Sem banheiro × Banheiro graduado, com Spearman 1,0000 e Pearson 0,9385.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T14 · tabelas/T14_pares_acima_de_080.csv  ·  Bloco 6. Correlações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indicadores formam grupos de correlação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B3_banheiro/figuras/F17_mapa_spearm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0757" y="1243584"/>
            <a:ext cx="5965326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de calor da correlação de Spearman, com os indicadores reordenados pelo agrupamento do dendrograma; argila é correlação positiva, petróleo negativa.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par mais forte é Sem banheiro × Banheiro graduado (ρ = 1,0000).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F17 · figuras/F17_mapa_spearman.png  ·  Bloco 6. Correlações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dendrograma junta os indicadores que medem coisas parecidas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B3_banheiro/figuras/F18_dendrogra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232042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indicador é uma folha à esquerda; as linhas os unem do mais parecido para o menos. Quanto mais à esquerda a união, mais correlacionados os indicadores.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par mais próximo é Sem banheiro × Banheiro graduado (ρ = 1,0000).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F18 · figuras/F18_dendrograma.png  ·  Bloco 6. Correlações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Favelas e comunidades urbanas (FCU)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indicador, sozinho, separa os setores de favela dos demais?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T15 · F19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banheiro é o indicador que mais separa as favelas (AUC 0,5579)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8580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51560"/>
                <a:gridCol w="1051560"/>
                <a:gridCol w="1005840"/>
                <a:gridCol w="822960"/>
                <a:gridCol w="91440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FCU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fora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Diferença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FCU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0,5579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15.197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de uso comum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0,5328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15.848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13.956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0,5145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17.769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 nem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0,5048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18.061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indicador: setores de FCU e fora, a mediana em cada grupo, a diferença e a AUC do indicador sozinho.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banheiro tem AUC 0,5579 (mediana 0,0000 em FCU e 0,0000 fora); a menor AUC é a de Sem banheiro nem sanitário (0,5048).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T15 · tabelas/T15_fcu_por_indicador.csv  ·  Bloco 7. Favelas e comunidades urbanas (FCU)</a:t>
            </a:r>
            <a:endParaRPr lang="en-US" sz="9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indicadores separam as favelas com força muito diferente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B3_banheiro/figuras/F19_fcu_por_indicad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166935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esquerda, a AUC de cada indicador (barras a partir de 0,5; argila acima, petróleo abaixo). À direita, as medianas em FCU e fora, para os indicadores em proporção.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AUC é a de Sem banheiro (0,5579); a menor, a de Sem banheiro nem sanitário (0,5048).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F19 · figuras/F19_fcu_por_indicador.png  ·  Bloco 7. Favelas e comunidades urbanas (FCU)</a:t>
            </a:r>
            <a:endParaRPr lang="en-US" sz="9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 fatorial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componentes do índice se prestam a uma análise fatorial, e quantos fatores ela sustenta?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T19 · T20 · T21 · T22 · F22 · F23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KMO de 0,7870: os componentes se prestam à análise fatorial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48640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164592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(n)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 (p)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 qui-quadrado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225.320,1766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 graus de liberdade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determinante de 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paralela de Horn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explicada por 2 fatores (%)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69,9615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medidas de adequação da matriz de correlação dos componentes do índice, na amostra do índice.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KMO 0,7870, com 87.545 setores; Kaiser retém 1 fatores e Horn, 1; dois fatores explicam 70,0% da variância.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T19 · tabelas/T19_adequacao_fatorial.csv  ·  Bloco 9. Adequação fatorial</a:t>
            </a:r>
            <a:endParaRPr lang="en-US" sz="9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(invertida) tem a menor adequação individual (MSA 0,7153)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9037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822960"/>
                <a:gridCol w="868680"/>
                <a:gridCol w="868680"/>
                <a:gridCol w="868680"/>
                <a:gridCol w="868680"/>
                <a:gridCol w="86868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Comunal.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Padrão F1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Padrão F2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Estrut. F1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Estrut. F2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-0,2112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0,3097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0,6150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0,6559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0,5494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0,7640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0,9129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0,3804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0,4900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0,5932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0,4535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0,7701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0,9302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-0,1107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0,8725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0,7153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0,9792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-0,1128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0,7797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0,4770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componente: MSA, comunalidades e as cargas em cada fator, sem rotação, na Varimax e na promax (padrão e estrutura).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Menor MSA: Renda (invertida) (0,7153). Menor comunalidade (promax): Razão de moradores (0,3804).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T20 · tabelas/T20_variaveis_cargas.csv  ·  Bloco 9. Adequação fatorial</a:t>
            </a:r>
            <a:endParaRPr lang="en-US" sz="9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segundo autovalor (0,9585) fica acima da linha de Horn (1,0119)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4864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097280"/>
                <a:gridCol w="1097280"/>
                <a:gridCol w="109728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Autovalor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Horn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variância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acumulada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3,2391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1,0232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54,0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54,0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0,9585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1,0119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0,7048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81,7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0,5714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91,2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0,3536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97,1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0,9776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componente por linha: autovalor, valor de referência da análise paralela de Horn e variância explicada, simples e acumulada.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Primeiro autovalor 3,2391, segundo 0,9585 (Horn: 1,0119); os dois primeiros explicam 70,0% da variância.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T21 · tabelas/T21_autovalores.csv  ·  Bloco 9. Adequação fatorial</a:t>
            </a:r>
            <a:endParaRPr lang="en-US" sz="9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dois fatores da promax se correlacionam em 0,5215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32918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09728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Φ: a correlação entre os fatores depois da rotação promax.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correlação entre F1 e F2 é 0,5215.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T22 · tabelas/T22_phi.csv  ·  Bloco 9. Adequação fatorial</a:t>
            </a:r>
            <a:endParaRPr lang="en-US" sz="9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Gráfico de sedimentação: dois componentes acima do acaso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B3_banheiro/figuras/F22_sedimentacao_hor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44942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Linha cheia: autovalores em ordem decrescente. Tracejada: o que dados aleatórios produziriam (Horn). Pontilhada: o critério de Kaiser (autovalor 1).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segundo autovalor é 0,9585, contra 1,0119 da linha de Horn.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F22 · figuras/F22_sedimentacao_horn.png  ·  Bloco 9. Adequação fatorial</a:t>
            </a:r>
            <a:endParaRPr lang="en-US" sz="9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(invertida) define F1 e Água inadequada define F2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B3_banheiro/figuras/F23_mapa_carg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9362" y="1243584"/>
            <a:ext cx="5608117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seta é um componente; a ponta fica nas cargas padrão da promax em F1 (horizontal) e F2 (vertical). O círculo marca carga 1.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Maior carga em F1: Renda (invertida) (0,9792); em F2: Água inadequada (0,9987).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F23 · figuras/F23_mapa_cargas.png  ·  Bloco 9. Adequação fatorial</a:t>
            </a:r>
            <a:endParaRPr lang="en-US" sz="9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índice da versão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fica o índice, e ele separa os setores de favela?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T23 · T24 · T25 · T26 · T27 · F24 · F25 · T34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Água inadequada tem o maior peso no índice (27,9%)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1780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011680"/>
                <a:gridCol w="868680"/>
                <a:gridCol w="1280160"/>
                <a:gridCol w="118872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Carga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da dimensão (%)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no índice (%)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 (saneamento)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27,9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 (saneamento)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0,6559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0,4900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0,9302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0,9792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componente: a dimensão em que ele carrega mais, a carga, o peso da dimensão e o peso final no índice (em %).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maior peso é o de Água inadequada (27,9%); a dimensão socioeconômica pesa 60,0%.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T23 · tabelas/T23_pesos.csv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índice tem mediana 0,3413 e P90 0,4849, em 87.545 setores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5379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914400"/>
                <a:gridCol w="822960"/>
                <a:gridCol w="822960"/>
                <a:gridCol w="822960"/>
                <a:gridCol w="868680"/>
                <a:gridCol w="82296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Escopo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DP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0,3552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0,2414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0,3413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0,4849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8.147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0,3485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0,2435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0,3422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0,4559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17.866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0,4080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0,2988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0,3897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0,5338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5.411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0,4743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0,3462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0,4482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0,6528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50.598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0,2353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0,3257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0,4248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5.523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0,2871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0,2822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0,3648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Descritivas do índice para o total e por região. Como o índice é normalizado dentro de cada município, todo município tem mínimo 0 e máximo 1.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87.545 setores; mediana 0,3413; percentil 90 0,4849.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T24 · tabelas/T24_indice_descritivas.csv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Pela regra do IVS-BH, 6,1% dos setores ficam em vulnerabilidade muito elevada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49377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645920"/>
                <a:gridCol w="1097280"/>
                <a:gridCol w="91440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Regra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25.474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40.269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46,0%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16.480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5.322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21.859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21.895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21.877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21.914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Quantos setores ficam em cada faixa, pelas duas regras: a do IVS-BH (média e desvio-padrão do município) e a dos quartis do município.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IVS-BH: 29,1% baixo e 6,1% muito elevado. Quartis: 25,0% muito elevado.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T25 · tabelas/T25_faixas.csv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municipal de 0,7845: o índice separa as favelas — versão elegível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6751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097280"/>
                <a:gridCol w="23774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Detalhe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contra FCU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municipal (mediana)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municípios na AUC municipal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ao menos 30 setores de FCU e fora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da dimensão socioeconômica (%)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 ≥ 0,70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≥ 0,50 em todas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 mínima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0,3804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 ≥ 0,30 em todas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carga mínima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0,4900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carga ≥ 0,40 em todas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elegível pelos critérios do NB05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global e municipal, peso da dimensão socioeconômica e os critérios de elegibilidade do NB05, um por linha (1 = atende).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global 0,8172; mediana da AUC municipal 0,7845, em 31 municípios. Pelos critérios do NB05, a versão é elegível.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T26 · tabelas/T26_auc_e_elegibilidade.csv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AUC vai de 0,5316 (Duque de Caxias) a 0,9539 (Guarujá) entre os municípios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66928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914400"/>
                <a:gridCol w="1097280"/>
                <a:gridCol w="109728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 (entra na mediana)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FCU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fora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Guarujá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0,9539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Campinas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0,9513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Mauá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0,9493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0,9456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3.719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17.580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Guarulhos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0,9389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Bernardo do Campo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Belo Horizonte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3.280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Porto Alegre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0,9082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Brasília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0,9024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3.787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Curitiba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2.193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Rio de Janeiro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2.697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7.994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Goiânia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Teresina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Ananindeua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Salvador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2.103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Macaé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município: AUC, setores de FCU (n1) e fora (n0) e se o município entra na mediana.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os municípios que entram na mediana, a maior AUC é a de Guarujá (0,9539) e a menor, a de Duque de Caxias (0,5316).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T27 · tabelas/T27_auc_por_municipio.csv  ·  Bloco 10. O índice da versão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AUC vai de 0,5316 (Duque de Caxias) a 0,9539 (Guarujá) entre os municípios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66928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914400"/>
                <a:gridCol w="1097280"/>
                <a:gridCol w="109728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 (entra na mediana)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FCU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fora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Luís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José dos Pinhais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0,7767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Fortaleza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0,7751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2.730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Cachoeiro de Itapemirim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0,7682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Recife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Nova Iguaçu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Feira de Santana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0,7213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Natal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0,7057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Maceió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0,7015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Gonçalo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0,6865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1.929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Camaragibe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0,6846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Manaus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0,6611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José de Ribamar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0,6185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Belém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0,6046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Duque de Caxias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0,5316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1.495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25106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município: AUC, setores de FCU (n1) e fora (n0) e se o município entra na mediana.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4208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os municípios que entram na mediana, a maior AUC é a de Guarujá (0,9539) e a menor, a de Duque de Caxias (0,5316).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T27 · tabelas/T27_auc_por_municipio.csv  ·  Bloco 10. O índice da versão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distribuição do índice e as faixas do IVS-BH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B3_banheiro/figuras/F24_histograma_por_faix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429075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do índice, com cada barra dividida pela faixa dos setores (regra do IVS-BH).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29,1% dos setores ficam em baixo e 6,1% em muito elevado.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F24 · figuras/F24_histograma_por_faixa.png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Curva ROC do índice contra as favelas (AUC global 0,8172)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B3_banheiro/figuras/F25_curva_ro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4602" y="1243584"/>
            <a:ext cx="4857636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ponto da curva é um corte do índice: no eixo vertical, a proporção de setores de FCU acima do corte; no horizontal, a dos setores de fora. A diagonal é o acaso.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Área sob a curva: 0,8172 (global); a mediana municipal é 0,7845.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F25 · figuras/F25_curva_roc.png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banheiro graduado (referência), o índice fica com 73.878 setores e ρ = 0,9907 com o valor-padrão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452360" cy="914400"/>
        </p:xfrm>
        <a:graphic>
          <a:graphicData uri="http://schemas.openxmlformats.org/drawingml/2006/table">
            <a:tbl>
              <a:tblPr/>
              <a:tblGrid>
                <a:gridCol w="1636935"/>
                <a:gridCol w="775390"/>
                <a:gridCol w="775390"/>
                <a:gridCol w="646158"/>
                <a:gridCol w="732313"/>
                <a:gridCol w="689236"/>
                <a:gridCol w="646158"/>
                <a:gridCol w="775390"/>
                <a:gridCol w="77539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mun.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Elegível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ρ com o padrão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muda faixa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valor-padrão desta versão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 (V00495)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nem banheiro nem sanitário (V00238)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84.678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sanitário (V00237)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83.844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de uso comum (V00236)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78.298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 (referência)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695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valor do parâmetro exploratório: setores no recorte e no índice, KMO, AUC global e municipal, elegibilidade (1 = elegível), correlação de postos com o índice do valor-padrão e % de setores que mudam de faixa.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32042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25907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banheiro graduado (referência): 73.878 setores no índice (contra 87.545), AUC municipal 0,8186, ρ = 0,9907 com o valor-padrão e 13,0% dos setores comuns mudando de faixa.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T34 · tabelas/T34_sensibilidade.csv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Comparação com a referência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esta versão muda em relação à referência proposta do NB05?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T31 · T32 · T33 · F28 · F29</a:t>
            </a:r>
            <a:endParaRPr lang="en-US" sz="12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correlação de postos com a referência é 0,9907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1206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280160"/>
                <a:gridCol w="128016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Escopo (menores ρ)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comuns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ρ de Spearman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Raimundo do Doca Bezerra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Santa Maria do 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Jaqueira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0,7143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Placas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Preta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0,9051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Taió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0,9184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Marechal Deodoro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Goianésia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0,9321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Belém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0,9376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Autazes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0,9390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Itajuípe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0,9441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Portel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0,9461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Luís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0,9481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Recife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0,9502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Manaus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0,9562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49744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Correlação de Spearman entre o índice desta versão e o da referência, nos setores que estão nas duas amostras: total e por município.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Total: ρ = 0,9907. Menor correlação municipal: Santa Maria do Oeste (0,6000).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T31 · tabelas/T31_spearman_com_referencia.csv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troca de faixa é de elevado para medio (5.629 setores)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2179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05840"/>
                <a:gridCol w="1005840"/>
                <a:gridCol w="100584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Referência ↓ · versão →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21.011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2.390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28.349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5.629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11.647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3.301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linha é um par (faixa na referência, faixa nesta versão), com o número de setores e o percentual do total.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Fora da diagonal, a maior célula é de elevado para medio, com 5.629 setores.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T32 · tabelas/T32_matriz_de_faixas.csv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13,0% dos setores mudam de faixa em relação à referência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5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9436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188720"/>
                <a:gridCol w="118872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comuns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Mudam de faixa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que muda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Todos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9.570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Raimundo do Doca Bezerra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Placas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Santa Maria do 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Vicentinópolis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Marechal Deodoro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Luís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José de Ribamar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Rosário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Belém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Itajuípe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Japoatã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Orizânia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 das Missões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Recife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Portel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49744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primeira linha é o total; as demais, os municípios, do mais afetado para o menos: setores comuns, setores que mudam de faixa e o percentual.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8399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total, 13,0% dos setores mudam de faixa; o município mais afetado é São Raimundo do Doca Bezerra (100,0%).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T33 · tabelas/T33_municipios_que_mudam.csv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faixas: referência × 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B3_banheiro/figuras/F28_matriz_de_faix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9196" y="1243584"/>
            <a:ext cx="5568449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Linhas: faixa na referência; colunas: faixa nesta versão; cada célula traz o número de setores.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troca fora da diagonal é de elevado para medio (5.629 setores).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F28 · figuras/F28_matriz_de_faixas.png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municípios mais afetados pela mudança da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B3_banheiro/figuras/F29_municipios_que_mud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3489" y="1243584"/>
            <a:ext cx="6459863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20 municípios com o maior percentual de setores que mudam de faixa.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mais afetado é São Raimundo do Doca Bezerra (100,0%); no total, 13,0%.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F29 · figuras/F29_municipios_que_mudam.png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Síntese da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472184"/>
            <a:ext cx="3300984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45336"/>
            <a:ext cx="3300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0,7870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2130552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KMO dos componentes (T19)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43984" y="1472184"/>
            <a:ext cx="3300984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43984" y="1545336"/>
            <a:ext cx="3300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0,7845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443984" y="2130552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municipal contra FCU (mediana) (T26)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110728" y="1472184"/>
            <a:ext cx="3300984" cy="0"/>
          </a:xfrm>
          <a:prstGeom prst="line">
            <a:avLst/>
          </a:prstGeom>
          <a:noFill/>
          <a:ln w="12700">
            <a:solidFill>
              <a:srgbClr val="8C2F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10728" y="1545336"/>
            <a:ext cx="3300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13,0%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110728" y="2130552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setores que mudam de faixa em relação à referência (T33)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77240" y="292608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980944"/>
            <a:ext cx="10634472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esta versão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o banheiro, o índice ganha setores (o banheiro graduado é o componente com mais faltantes), mas perde capacidade de separar as favelas: a AUC municipal cai em relação à referência. Kaiser e Horn passam a reter um fator só. Qualquer das variantes de banheiro na T34 recupera a AUC e muda de faixa cerca de um em cada dez setores em relação ao índice sem banheiro. O banheiro graduado é também o componente que falha a elegibilidade em Belo Horizonte e em três regiões (versões A3 e A4).</a:t>
            </a:r>
            <a:endParaRPr lang="en-US" sz="12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Candidatos ao artigo: as tabelas e figuras desta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43584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Marcar no catálogo (colunas “Vai para o artigo?”, “Seção” e “Comentários”); os IDs são os mesmos em todas as versões.</a:t>
            </a:r>
            <a:endParaRPr lang="en-US" sz="1100" dirty="0"/>
          </a:p>
        </p:txBody>
      </p:sp>
      <p:graphicFrame>
        <p:nvGraphicFramePr>
          <p:cNvPr id="5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09344"/>
          <a:ext cx="106070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914400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ID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Título no deck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 nem sanitário é o indicador mais assimétrico (assimetria 68,98)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banheiro: a mediana vai de 0,0000 (Centro-Oeste) a 0,0000 (Centro-Oeste)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banheiro: entre os municípios, a mediana vai de 0,0000 a 0,0848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Saneamento: Sem banheiro nem sanitário tem a distribuição mais assimétrica (assimetria 68,98)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Saneamento: Sem banheiro tem mediana de 0,0000 no Centro-Oeste e 0,0000 no Centro-Oeste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Saneamento: as regiões têm formas diferentes de distribuição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maior percentual de faltantes é o de Banheiro graduado em Placas (68,8%)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faltantes se concentram em poucos indicadores e municípios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analfabetismo falta em 29,4% dos menores setores e em 3,9% dos maiores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falta de dados depende do tamanho do setor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 tem a maior proporção de extremos (0,3%)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Luís concentra o maior número de marcações de extremo (126)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setores mais distantes da mediana, indicador por 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proporção de extremos varia muito de um indicador para outro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catalogo.csv  ·  parte 1 de 3</a:t>
            </a:r>
            <a:endParaRPr lang="en-US" sz="9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Candidatos ao artigo: as tabelas e figuras desta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43584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Marcar no catálogo (colunas “Vai para o artigo?”, “Seção” e “Comentários”); os IDs são os mesmos em todas as versões.</a:t>
            </a:r>
            <a:endParaRPr lang="en-US" sz="1100" dirty="0"/>
          </a:p>
        </p:txBody>
      </p:sp>
      <p:graphicFrame>
        <p:nvGraphicFramePr>
          <p:cNvPr id="5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09344"/>
          <a:ext cx="106070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914400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ID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Título no deck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 e Banheiro graduado formam o par mais correlacionado (ρ = 1,0000)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Na correlação linear, o par mais forte é Sem banheiro × Banheiro graduado (r = 0,9385)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par mais redundante é Sem banheiro × Banheiro graduado (ρ = 1,0000)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indicadores formam grupos de correlação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dendrograma junta os indicadores que medem coisas parecidas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 é o indicador que mais separa as favelas (AUC 0,5579)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indicadores separam as favelas com força muito diferente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 de 0,7870: os componentes se prestam à análise fatorial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 tem a menor adequação individual (MSA 0,7153)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segundo autovalor (0,9585) fica acima da linha de Horn (1,0119)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dois fatores da promax se correlacionam em 0,5215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Gráfico de sedimentação: dois componentes acima do acaso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 define F1 e Água inadequada define F2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 tem o maior peso no índice (27,9%)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catalogo.csv  ·  parte 2 de 3</a:t>
            </a:r>
            <a:endParaRPr lang="en-US" sz="9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Candidatos ao artigo: as tabelas e figuras desta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43584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Marcar no catálogo (colunas “Vai para o artigo?”, “Seção” e “Comentários”); os IDs são os mesmos em todas as versões.</a:t>
            </a:r>
            <a:endParaRPr lang="en-US" sz="1100" dirty="0"/>
          </a:p>
        </p:txBody>
      </p:sp>
      <p:graphicFrame>
        <p:nvGraphicFramePr>
          <p:cNvPr id="5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09344"/>
          <a:ext cx="106070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914400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ID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Título no deck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índice tem mediana 0,3413 e P90 0,4849, em 87.545 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Pela regra do IVS-BH, 6,1% dos setores ficam em vulnerabilidade muito elevada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municipal de 0,7845: o índice separa as favelas — versão elegível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AUC vai de 0,5316 (Duque de Caxias) a 0,9539 (Guarujá) entre os municípios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distribuição do índice e as faixas do IVS-BH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Curva ROC do índice contra as favelas (AUC global 0,8172)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correlação de postos com a referência é 0,9907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maior troca de faixa é de elevado para medio (5.629 setores)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13,0% dos setores mudam de faixa em relação à referência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Matriz de faixas: referência × esta versão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municípios mais afetados pela mudança da versão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banheiro graduado (referência), o índice fica com 73.878 setores e ρ = 0,9907 com o valor-padrão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catalogo.csv  ·  parte 3 de 3</a:t>
            </a:r>
            <a:endParaRPr lang="en-US" sz="9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Limitações e parâmetros exploratórios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35024"/>
            <a:ext cx="10634472" cy="470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variáveis de banheiro têm mediana zero e quase todos os setores sem falta: a fatorial depende de poucos setores com valor.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partições de V00495 (V00236, V00237, V00238) nunca tinham sido tabuladas antes destas versões.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amostra do índice exclui todo setor com algum componente faltante (exclusão por lista); trocar um componente muda também a amostra.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i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Nenhum parâmetro exploratório nesta versão.</a:t>
            </a:r>
            <a:endParaRPr lang="en-US" sz="13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Apêndice: dicionário dos indicadores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6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188720"/>
                <a:gridCol w="4206240"/>
                <a:gridCol w="1737360"/>
                <a:gridCol w="164592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que mede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Quadro_Indicadores.csv (entrega à orientadora)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60</Slides>
  <Notes>60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B3_banheiro — As definições de banheiro</dc:title>
  <dc:subject>PptxGenJS Presentation</dc:subject>
  <dc:creator>Pedro Dias Soares</dc:creator>
  <cp:lastModifiedBy>Pedro Dias Soares</cp:lastModifiedBy>
  <cp:revision>1</cp:revision>
  <dcterms:created xsi:type="dcterms:W3CDTF">2026-10-06T20:53:44Z</dcterms:created>
  <dcterms:modified xsi:type="dcterms:W3CDTF">2026-10-06T20:53:44Z</dcterms:modified>
</cp:coreProperties>
</file>