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se só entram os setores com pelo menos 50 moradores?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o recorte: saem os setores urbanos com menos de 50 moradores, em que as proporções dependem de muito poucas pessoas. O piso de 50 é parâmetro exploratório; a tabela T34 repete a versão com piso de 100.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funil mostra o caminho dos setores. A base completa inclui setores rurais e setores sem dados divulgados. O recorte da versão é o conjunto sobre o qual são calculadas as descritivas, as distribuições e as correlações. A amostra do índice é menor, porque a análise fatorial exige que o setor tenha todos os componentes preenchidos (exclusão por lista: basta faltar um componente para o setor sair). Essa diferença de amostra é importante quando se comparam números de blocos diferentes.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qualquer número, é preciso saber sobre quais setores ele foi calculado. Este bloco segue o caminho dos setores desde a base completa até a amostra do índice: cada filtro tira alguns, e o motivo de cada saída fica registrado. Também mostra, indicador por indicador, quantos setores não têm valor — porque um indicador com muitos faltantes muda a amostra de qualquer análise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funil mostra o caminho dos setores. A base completa inclui setores rurais e setores sem dados divulgados. O recorte da versão é o conjunto sobre o qual são calculadas as descritivas, as distribuições e as correlações. A amostra do índice é menor, porque a análise fatorial exige que o setor tenha todos os componentes preenchidos (exclusão por lista: basta faltar um componente para o setor sair). Essa diferença de amostra é importante quando se comparam números de blocos diferentes.
Como ler: Cada linha é um filtro, na ordem em que é aplicado: quantos setores ficam, quantos saem e por quê.
O que mostra: A base tem 109.032 setores; 103.280 ficam no recorte da versão e 73.407 têm todos os componentes do índice (29.873 saem nesta última etapa).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a mesma informação da tabela do funil, em forma de barras. A queda entre o recorte e a amostra do índice é quase toda causada pelos indicadores com sigilo (renda e analfabetismo) e pelas partes do banheiro graduado, como mostra a tabela de perdas por indicador.
Como ler: Cada barra é uma etapa do funil; o comprimento é o número de setores que ainda estão dentro.
O que mostra: A barra final (73.407 setores) é a amostra do índice; a do recorte tem 103.280.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faltante é um setor do recorte em que o indicador não pôde ser calculado: porque o IBGE não divulgou a variável (sigilo), porque o denominador é zero (por exemplo, nenhuma pessoa de 60 anos ou mais para calcular a proporção de 70+ entre elas) ou porque alguma parte da conta faltou. Indicadores com muitos faltantes reduzem a amostra de qualquer análise que os inclua.
Como ler: Uma linha por indicador: setores com valor, setores sem valor e a porcentagem sem valor dentro do recorte.
O que mostra: O maior percentual de faltantes é o de Analfabetismo 15+ (15,7%); o menor, o de Água inadequada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faltante é um setor do recorte em que o indicador não pôde ser calculado: porque o IBGE não divulgou a variável (sigilo), porque o denominador é zero (por exemplo, nenhuma pessoa de 60 anos ou mais para calcular a proporção de 70+ entre elas) ou porque alguma parte da conta faltou. Indicadores com muitos faltantes reduzem a amostra de qualquer análise que os inclua.
Como ler: Uma linha por indicador: setores com valor, setores sem valor e a porcentagem sem valor dentro do recorte.
O que mostra: O maior percentual de faltantes é o de Analfabetismo 15+ (15,7%); o menor, o de Água inadequada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Sem banheiro nem sanitário (59,74); o maior percentual de zeros é o de Sem banheiro nem sanitário (99,6%).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Sem banheiro nem sanitário (59,74); o maior percentual de zeros é o de Sem banheiro nem sanitário (99,6%).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Renda média, a mediana mais alta está no Sul (3.738,28) e a mais baixa no Nordeste (1.720,05).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Renda média, a mediana mais alta está no Sul (3.738,28) e a mais baixa no Nordeste (1.720,05).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Renda média, a maior mediana municipal é a de São Caetano do Sul (5.296,04); a menor, a de Jaqueira (1.062,36).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Renda média, a maior mediana municipal é a de São Caetano do Sul (5.296,04); a menor, a de Jaqueira (1.062,36).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Saneamento, a maior assimetria é a de Sem banheiro nem sanitário (59,74).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(Água inadequada), a mediana regional vai de 0,0000 (Centro-Oeste) a 0,1745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Água inadequada, a mediana regional vai de 0,0000 (Centro-Oeste) a 0,1745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Socioeconômica, a maior assimetria é a de Renda média (3,73).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(Razão de moradores), a mediana regional vai de 2,6000 (Sul) a 3,1937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Razão de moradores, a mediana regional vai de 2,6000 (Sul) a 3,1937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Morfologia, a maior assimetria é a de Domicílio improvisado (38,25).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(Domicílio improvisado), a mediana regional vai de 0,0000 (Centro-Oeste) a 0,0000 (Centro-Oeste).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Domicílio improvisado, a mediana regional vai de 0,0000 (Centro-Oeste) a 0,0000 (Centro-Oeste).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Demografia, a maior assimetria é a de Índice de envelhecimento (5,75).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(Crianças 0–4), a mediana regional vai de 0,0465 (Sul) a 0,0632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Crianças 0–4, a mediana regional vai de 0,0465 (Sul) a 0,0632 (Norte).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Banheiro graduado em Placas, com 66,7%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Banheiro graduado em Placas (66,7%).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0,0% no primeiro décimo e 0,0% no último. Sem analfabetismo: 28,4% e 3,8%.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0,0% a 0,0%; analfabetismo: de 28,4% a 3,8%,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(6,7%),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(6,7%),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Moradia convencional (6,7%), pelo critério “Tukey k=3 (intervalo interquartil)”.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São Paulo, com 7.567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Renda média está um setor de Belo Horizonte, com valor 170.418,06.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Renda média está um setor de Belo Horizonte, com valor 170.418,06.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classe vem do rastreio da renda do projeto (src/ivs_censo/renda.py). Um setor de renda alta com baixo analfabetismo e pouca população preta, parda ou indígena é coerente; o mesmo valor num setor com perfil oposto é suspeito. A variante de renda “sem o extremo” retira esses valores; a referência usa a renda original.
Como ler: Cada setor com renda recebe uma classe: NORMAL, EXTREMO (acima do limite do município, mas coerente com o perfil) ou SUSPEITO (acima do limite e incoerente).
O que mostra: São 63 setores SUSPEITO (0,06%) e 3.261 EXTREMO.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Moradia convencional (6,7%).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Renda média e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Renda média e Renda sem o extremo (r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Renda média × Renda sem o extremo, com Spearman 1,0000 e Pearson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Renda média × Renda sem o extremo, com Spearman 1,0000 e Pearson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Mapa de calor da correlação de Spearman, com os indicadores reordenados pelo agrupamento do dendrograma; argila é correlação positiva, petróleo negativa.
O que mostra: O par mais forte é Renda média ×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Renda média × Renda sem o extremo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Cor/raça PPI tem AUC 0,8468 (mediana 0,7427 em FCU e 0,5094 fora); a menor AUC é a de Renda sem o extremo (0,1004).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Cor/raça PPI tem AUC 0,8468 (mediana 0,7427 em FCU e 0,5094 fora); a menor AUC é a de Renda sem o extremo (0,1004).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Cor/raça PPI (0,8468); a menor, a de Renda sem o extremo (0,1004).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olha para a vulnerabilidade do idoso. Este bloco descreve a estrutura etária e quatro indicadores de envelhecimento, e cruza o percentual de pessoas de 60 anos ou mais com os demais indicadores.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etárias do Censo não são todas do mesmo tamanho: de 30 a 59 anos elas têm dez anos, e as anteriores, cinco. Por isso as faixas de dez anos tendem a parecer maiores. O percentual é calculado sobre a soma das faixas, e cada região soma 100%.
Como ler: Uma linha por faixa etária; as colunas são o total e as regiões, com o percentual da população de cada uma em cada faixa.
O que mostra: Pessoas de 70 anos ou mais são 7,4% do total, chegando a 8,5% no Sul.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agregados por setor do Censo trazem as faixas etárias sem a separação por sexo, por isso a figura é uma pirâmide de um lado só. Pontos à direita da barra nas faixas mais velhas indicam regiões mais envelhecidas.
Como ler: Barras: percentual da população total em cada faixa etária. Pontos: o mesmo percentual em cada região.
O que mostra: 70+: 7,4% no total e 8,5% no Sul.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de envelhecimento é a razão entre pessoas de 60 anos ou mais e pessoas de 0 a 14 anos. A razão de dependência idosa é a razão entre pessoas de 60 anos ou mais e pessoas de 15 a 59 anos. A proporção de 70+ entre os 60+ indica o quanto a população idosa do setor é mais velha. Os quatro são calculados por setor.
Como ler: Os quatro indicadores de envelhecimento, para o total e por região: n, média, mediana, quartis e as demais descritivas.
O que mostra: Pessoas 60+: mediana de 0,1935 no Sul e 0,1119 no Norte. Índice de envelhecimento, mediana do total: 96,3636.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de envelhecimento é a razão entre pessoas de 60 anos ou mais e pessoas de 0 a 14 anos. A razão de dependência idosa é a razão entre pessoas de 60 anos ou mais e pessoas de 15 a 59 anos. A proporção de 70+ entre os 60+ indica o quanto a população idosa do setor é mais velha. Os quatro são calculados por setor.
Como ler: Os quatro indicadores de envelhecimento, para o total e por região: n, média, mediana, quartis e as demais descritivas.
O que mostra: Pessoas 60+: mediana de 0,1935 no Sul e 0,1119 no Norte. Índice de envelhecimento, mediana do total: 96,3636.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cruza envelhecimento com vulnerabilidade. Uma correlação positiva com a renda indica que setores mais ricos têm mais idosos (envelhecimento associado à transição demográfica mais avançada); uma correlação negativa com indicadores de carência diz o mesmo pelo outro lado. Isso importa para o IVS-Idoso: se idade e vulnerabilidade andam em sentidos opostos, somá-las num índice só pode cancelar os efeitos.
Como ler: Correlação de Spearman entre os indicadores de envelhecimento (linhas) e os demais (colunas).
O que mostra: Para pessoas 60+, a correlação mais forte é com População 0–14 (ρ = -0,7937); com a renda média, ρ = 0,5207.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cruza envelhecimento com vulnerabilidade. Uma correlação positiva com a renda indica que setores mais ricos têm mais idosos (envelhecimento associado à transição demográfica mais avançada); uma correlação negativa com indicadores de carência diz o mesmo pelo outro lado. Isso importa para o IVS-Idoso: se idade e vulnerabilidade andam em sentidos opostos, somá-las num índice só pode cancelar os efeitos.
Como ler: Correlação de Spearman entre os indicadores de envelhecimento (linhas) e os demais (colunas).
O que mostra: Para pessoas 60+, a correlação mais forte é com População 0–14 (ρ = -0,7937); com a renda média, ρ = 0,5207.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mais de cem mil setores, um gráfico de pontos vira uma mancha. O gráfico de hexágonos conta quantos setores caem em cada célula. A escala logarítmica da renda espalha os setores de renda baixa, que de outro modo ficariam espremidos à esquerda.
Como ler: Cada hexágono reúne setores com valores parecidos; quanto mais escuro, mais setores. Eixo horizontal: renda média em escala logarítmica; vertical: proporção de pessoas de 60 anos ou mais.
O que mostra: A correlação de Spearman entre as duas é 0,5207.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Renda (invertida) (19,3%); a dimensão socioeconômica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73.407 setores; mediana 0,3322; percentil 90 0,4325.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28,9% baixo e 5,4%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0,8438; mediana da AUC municipal 0,8238,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(0,9543) e a menor, a de Duque de Caxias (0,6040).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(0,9543) e a menor, a de Duque de Caxias (0,6040).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28,9% dos setores ficam em baixo e 5,4%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0,8438 (global); a mediana municipal é 0,8238.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piso de 100 moradores: 72.289 setores no índice (contra 73.407), AUC municipal 0,8344, ρ = 0,9972 com o valor-padrão e 1,4%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0,9940. Menor correlação municipal: Taió (0,9214).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medio para elevado, com 378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1,6%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medio para elevado (378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1,6%.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piso tira poucos setores e mexe pouco no índice: a correlação de postos com a referência fica perto de 1 e poucos setores trocam de faixa. A AUC contra as favelas sobe um pouco, sinal de que parte do ruído vinha de setores muito pequenos. Com piso de 100 (T34), o quadro é o mesmo. O piso não é decisão: a pergunta está registrada para a orientadora.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piso é parâmetro exploratório: nem 50 nem 100 moradores foram fixados pelo projeto.
Os setores pequenos são justamente os mais atingidos pelo sigilo (bloco 4); o piso e a exclusão por lista retiram em parte os mesmos setores.
A amostra do índice continua excluindo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A2_piso_populacional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piso de população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se só entram os setores com pelo menos 50 moradores?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  ·  103.280 setores no recorte  ·  73.407 na amostra do índice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OK; pelo menos 50 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renda_inv, Cor/raça PPI,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o recorte: saem os setores urbanos com menos de 50 moradores, em que as proporções dependem de muito poucas pessoas. O piso de 50 é parâmetro exploratório; a tabela T34 repete a versão com piso de 100.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73.407 setores chegam ao índice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1790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109.032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7627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na base completa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51790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9105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103.280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7627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 da versão (descritivas, distribuições, correlações)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51790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9105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73.407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7627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na amostra do índice (fatorial e blocos 9 a 13)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77240" y="3026664"/>
            <a:ext cx="106344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dois números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funil mostra o caminho dos setores. A base completa inclui setores rurais e setores sem dados divulgados. O recorte da versão é o conjunto sobre o qual são calculadas as descritivas, as distribuições e as correlações. A amostra do índice é menor, porque a análise fatorial exige que o setor tenha todos os componentes preenchidos (exclusão por lista: basta faltar um componente para o setor sair). Essa diferença de amostra é importante quando se comparam números de blocos diferentes.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T01 · tabelas/T01_funil.csv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Quantos setores entram nesta versão, quantos saem e por quê?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T01, F01, T02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F02, F03, F04, F05, F06, F07, F08, F09, F10, F11, F12, F13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T11,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a população idosa se distribui, e com que indicadores ela se relaciona?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T16, F20, T17, T18, F21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entram nesta versão, quantos saem e por quê?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T01 · F01 · T02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73.407 setores chegam ao índice, de 109.032 na 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066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  <a:gridCol w="822960"/>
                <a:gridCol w="3291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Motivo da saída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 completa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 rural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Dados_sig = OK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 sem dados divulgados (sigilo ou sem domicílio ocupado)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Pelo menos 50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abaixo do piso de população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 completos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 em algum componente do índice (exclusão por lista)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filtro, na ordem em que é aplicado: quantos setores ficam, quantos saem e por quê.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tem 109.032 setores; 103.280 ficam no recorte da versão e 73.407 têm todos os componentes do índice (29.873 saem nesta última etapa).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T01 · tabelas/T01_funil.csv  ·  Bloco 1. Recorte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recorte ao índice, 29.873 setores saem por falta de algum componente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1_fun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301668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barra é uma etapa do funil; o comprimento é o número de setores que ainda estão dentro.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final (73.407 setores) é a amostra do índice; a do recorte tem 103.280.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F01 · figuras/F01_funil.png  ·  Bloco 1. Recorte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é o indicador com mais faltantes (15,7% dos setores)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9728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93.633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99.488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93.616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89.039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14.241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com valor, setores sem valor e a porcentagem sem valor dentro do recorte.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Analfabetismo 15+ (15,7%); o menor, o de Água inadequada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T02 · tabelas/T02_perdas_por_indicador.csv  ·  Bloco 1. Recorte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15+ é o indicador com mais faltantes (15,7% dos setores)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9728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98.169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94.225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98.846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90.507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12.773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102.750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com valor, setores sem valor e a porcentagem sem valor dentro do recorte.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Analfabetismo 15+ (15,7%); o menor, o de Água inadequada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T02 · tabelas/T02_perdas_por_indicador.csv  ·  Bloco 1. Recorte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nem sanitário é o indicador mais assimétrico (assimetria 59,74)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93.633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99.488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93.616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89.039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2,2060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4.194,92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4.153,01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1.390,36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2.576,92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9.507,33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Sem banheiro nem sanitário (59,74); o maior percentual de zeros é o de Sem banheiro nem sanitário (99,6%).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nem sanitário é o indicador mais assimétrico (assimetria 59,74)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4.193,31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4.120,69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1.390,36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2.576,91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9.507,18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4.193,30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4.120,67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1.390,36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2.576,92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9.507,14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98.169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-12,42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94.225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98.846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90.507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102.750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134,7690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141,6270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30,9992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96,3636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275,0000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28,0666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16,4972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10,4167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49,5327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42,6345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10,8045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28,9474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55,8824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Sem banheiro nem sanitário (59,74); o maior percentual de zeros é o de Sem banheiro nem sanitário (99,6%).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a mediana vai de 1.720,05 (Nordeste) a 3.738,28 (Sul)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2,7839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1.821,55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1.720,05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2.734,83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3.738,28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3.128,35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mediana mais alta está no Sul (3.738,28) e a mais baixa no Nordeste (1.720,05).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a mediana vai de 1.720,05 (Nordeste) a 3.738,28 (Sul)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1.821,55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1.720,05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2.734,82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3.738,28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3.128,35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1.821,55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1.720,05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2.734,83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3.738,28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3.128,35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77,7778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111,1111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123,1732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75,2475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16,5817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21,5000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29,9611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38,4615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41,8367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43,7500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43,9560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40,9091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mediana mais alta está no Sul (3.738,28) e a mais baixa no Nordeste (1.720,05).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entre os municípios, a mediana vai de 1.062,36 a 5.296,04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3.079,00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5.296,04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11.119,20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2.130,91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4.132,30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9.510,92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1.645,27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4.004,69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10.023,53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1.857,01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3.519,06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13.294,01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Pato Branco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2.059,50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3.518,30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6.405,98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1.675,50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3.407,59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7.711,13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1.754,82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3.392,19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9.828,44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2.047,45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3.301,76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5.551,90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1.866,79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3.116,55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9.492,55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26.309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1.653,95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3.114,99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12.315,88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maior mediana municipal é a de São Caetano do Sul (5.296,04); a menor, a de Jaqueira (1.062,36).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média: entre os municípios, a mediana vai de 1.062,36 a 5.296,04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1.213,20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1.501,43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2.490,49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953,47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1.455,73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2.527,15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Itapetinga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1.105,19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1.445,73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2.837,46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1.093,58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1.414,45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1.681,57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1.256,60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1.386,15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1.397,51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1.084,70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1.339,82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2.301,00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1.029,15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1.334,01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1.595,92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927,87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1.271,66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2.071,69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959,71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1.240,34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1.661,44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995,50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1.062,36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1.500,55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Renda média, a maior mediana municipal é a de São Caetano do Sul (5.296,04); a menor, a de Jaqueira (1.062,36).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F02 · F03 · F04 · F05 · F06 · F07 · F08 · F09 · F10 · F11 · F12 · F13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Sem banheiro nem sanitário tem a distribuição mais assimétrica (assimetria 59,74)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2_histogramas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1558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Saneamento, a maior assimetria é a de Sem banheiro nem sanitário (59,74).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F02 · figuras/F02_histogramas_saneamento.png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Água inadequada tem mediana de 0,1745 no Norte e 0,0000 no Centro-Oeste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3_boxplot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160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(Água inadequada), a mediana regional vai de 0,0000 (Centro-Oeste) a 0,1745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F03 · figuras/F03_boxplots_regiao_saneamento.png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4_densidade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162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Água inadequada, a mediana regional vai de 0,0000 (Centro-Oeste) a 0,1745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F04 · figuras/F04_densidades_regiao_saneamento.png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Renda média tem a distribuição mais assimétrica (assimetria 3,73)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5_histogramas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72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Socioeconômica, a maior assimetria é a de Renda média (3,73).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F05 · figuras/F05_histogramas_socioeconomica.png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Razão de moradores tem mediana de 3,1937 no Norte e 2,6000 no Sul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6_boxplot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0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(Razão de moradores), a mediana regional vai de 2,6000 (Sul) a 3,1937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F06 · figuras/F06_boxplots_regiao_socioeconomica.png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Socioeconômica: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7_densidades_regiao_socioeconom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0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Razão de moradores, a mediana regional vai de 2,6000 (Sul) a 3,1937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F07 · figuras/F07_densidades_regiao_socioeconomica.png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Domicílio improvisado tem a distribuição mais assimétrica (assimetria 38,25)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8_histogramas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72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Morfologia, a maior assimetria é a de Domicílio improvisado (38,25).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F08 · figuras/F08_histogramas_morfologia.png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Domicílio improvisado tem mediana de 0,0000 no Centro-Oeste e 0,0000 no Centro-Oeste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09_boxplots_regiao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8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(Domicílio improvisado), a mediana regional vai de 0,0000 (Centro-Oeste) a 0,0000 (Centro-Oeste).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F09 · figuras/F09_boxplots_regiao_morfologia.png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0_densidades_regiao_morfolog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01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Domicílio improvisado, a mediana regional vai de 0,0000 (Centro-Oeste) a 0,0000 (Centro-Oeste).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F10 · figuras/F10_densidades_regiao_morfologia.png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Índice de envelhecimento tem a distribuição mais assimétrica (assimetria 5,75)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1_histogramas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1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Demografia, a maior assimetria é a de Índice de envelhecimento (5,75).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F11 · figuras/F11_histogramas_demografia.png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Crianças 0–4 tem mediana de 0,0632 no Norte e 0,0465 no Sul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2_boxplots_regiao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(Crianças 0–4), a mediana regional vai de 0,0465 (Sul) a 0,0632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F12 · figuras/F12_boxplots_regiao_demografia.png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Demografia: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3_densidades_regiao_demograf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5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Crianças 0–4, a mediana regional vai de 0,0465 (Sul) a 0,0632 (Norte).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F13 · figuras/F13_densidades_regiao_demografia.png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Banheiro graduado em Placas (66,7%)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69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5156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Banheiro graduado em Placas, com 66,7%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9870" y="1243584"/>
            <a:ext cx="4407101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Banheiro graduado em Placas (66,7%).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28,4% dos menores setores e em 3,8%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0,0% no primeiro décimo e 0,0% no último. Sem analfabetismo: 28,4% e 3,8%.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0,0% a 0,0%; analfabetismo: de 28,4% a 3,8%,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T11 · F16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(6,7%)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1,4961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1,9203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2,0713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(6,7%),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(6,7%)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4,2627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renda: Tukey k=3 no município + coerência do perfil do setor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14.135,10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14.134,96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(6,7%),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Moradia convencional tem a maior proporção de extremos (6,7%)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6.894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516,5763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97,7970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Tukey k=3 (intervalo interquartil)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93,2692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Moradia convencional (6,7%), pelo critério “Tukey k=3 (intervalo interquartil)”.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concentra o maior número de marcações de extremo (7.567)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7.567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São Paulo, com 7.567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130260305100279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330170220000079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130260305100279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261160605230797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150140260000260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500270405110448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261160605230797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150140260000260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330455705080087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292740805180776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310620005650366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2.576,92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292740805220226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355030832000202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2.576,91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Renda média está um setor de Belo Horizonte, com valor 170.418,06.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355030832000202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2.576,92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330455705300460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310620060660397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130260305110210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350950235000156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530010805060487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530010805140094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230440005140173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4.750,0000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96,3636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530010805140094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1.000,0000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130260305080037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51192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Renda média está um setor de Belo Horizonte, com valor 170.418,06.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setores têm renda suspeita e 3.261 têm renda extrema coerente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99.948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setor com renda recebe uma classe: NORMAL, EXTREMO (acima do limite do município, mas coerente com o perfil) ou SUSPEITO (acima do limite e incoerente).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63 setores SUSPEITO (0,06%) e 3.261 EXTREMO.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T11 · tabelas/T11_renda_classes.csv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3854" y="1243584"/>
            <a:ext cx="4839132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Moradia convencional (6,7%).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F18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média e Renda sem o extremo formam o par mais correlacionado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8718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42722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Renda média e Renda sem o extremo (ρ = 1,0000).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Renda média × Renda sem o extremo (r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87184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04672"/>
                <a:gridCol w="804672"/>
                <a:gridCol w="804672"/>
                <a:gridCol w="804672"/>
                <a:gridCol w="804672"/>
                <a:gridCol w="804672"/>
                <a:gridCol w="804672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342722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Renda média e Renda sem o extremo (r = 1,0000).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Renda média × Renda sem o extremo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Renda média × Renda sem o extremo, com Spearman 1,0000 e Pearson 1,0000.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Renda média × Renda sem o extremo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-0,9515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-0,5072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Renda média × Renda sem o extremo, com Spearman 1,0000 e Pearson 1,0000.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757" y="1243584"/>
            <a:ext cx="596532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 da correlação de Spearman, com os indicadores reordenados pelo agrupamento do dendrograma; argila é correlação positiva, petróleo negativa.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Renda média × Renda sem o extremo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9445" y="1243584"/>
            <a:ext cx="4547950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Renda média × Renda sem o extremo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é o indicador que mais separa as favelas (AUC 0,8468)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18.847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19.254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15.756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tem AUC 0,8468 (mediana 0,7427 em FCU e 0,5094 fora); a menor AUC é a de Renda sem o extremo (0,1004).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é o indicador que mais separa as favelas (AUC 0,8468)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17.674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16.698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17.964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0,4668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36,2637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44,3038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-8,0401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17.047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15,6627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28,3951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-12,7324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19.290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19.290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114,9425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-67,0259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3.074,02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-1.558,71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3.074,02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-1.558,71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3.074,02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-1.558,73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Cor/raça PPI tem AUC 0,8468 (mediana 0,7427 em FCU e 0,5094 fora); a menor AUC é a de Renda sem o extremo (0,1004).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4498" y="1243584"/>
            <a:ext cx="5777844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Cor/raça PPI (0,8468); a menor, a de Renda sem o extremo (0,1004).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população idosa se distribui, e com que indicadores ela se relaciona?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T16 · F20 · T17 · T18 · F21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faixa de 30–39 anos concentra a maior parte da população (15,9%)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0408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 etária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5–9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15–19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20–24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25–29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30–39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40–49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50–59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60–69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 etária; as colunas são o total e as regiões, com o percentual da população de cada uma em cada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de 70 anos ou mais são 7,4% do total, chegando a 8,5% no Sul.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T16 · tabelas/T16_estrutura_etaria.csv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etária muda de região para região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20_piramide_etar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7045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percentual da população total em cada faixa etária. Pontos: o mesmo percentual em cada região.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70+: 7,4% no total e 8,5% no Sul.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F20 · figuras/F20_piramide_etaria.png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pessoas 60+ por setor vai de 0,1119 (Norte) a 0,1935 (Sul)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822960"/>
                <a:gridCol w="914400"/>
                <a:gridCol w="91440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102.750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96,3636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169,6203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25,1656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36,7089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101.647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35,5769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42,8571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43,6620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75,2475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122,9508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13,0742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20,4365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29,2985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34,0316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40,9091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48,4293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46,6667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77,7778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131,2125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21,5000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19.054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35,2941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41,8367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48,3333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indicadores de envelhecimento, para o total e por região: n, média, mediana, quartis e as demais descritivas.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60+: mediana de 0,1935 no Sul e 0,1119 no Norte. Índice de envelhecimento, mediana do total: 96,3636.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T17 · tabelas/T17_envelhecimento_por_regiao.csv  ·  Bloco 8. Envelhecimento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pessoas 60+ por setor vai de 0,1119 (Norte) a 0,1935 (Sul)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822960"/>
                <a:gridCol w="914400"/>
                <a:gridCol w="91440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30,4680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92,3077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11,0713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16,5817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32,3529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38,4615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61.062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62,2474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111,1111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191,3043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28,0952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39,8340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60.387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36,2069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43,7500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50,7246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68,9616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123,1732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226,3406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19,9391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29,9611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42,2857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7.101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37,0370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43,9560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50,7937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quatro indicadores de envelhecimento, para o total e por região: n, média, mediana, quartis e as demais descritivas.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60+: mediana de 0,1935 no Sul e 0,1119 no Norte. Índice de envelhecimento, mediana do total: 96,3636.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T17 · tabelas/T17_envelhecimento_por_regiao.csv  ·  Bloco 8. Envelhecimento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pessoas 60+ se relaciona mais com População 0–14 (ρ = -0,7937)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18872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(ρ de Spearman)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-0,3558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-0,1451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-0,1658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-0,1356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-0,1989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-0,1606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-0,1063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-0,4035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os indicadores de envelhecimento (linhas) e os demais (colunas).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pessoas 60+, a correlação mais forte é com População 0–14 (ρ = -0,7937); com a renda média, ρ = 0,5207.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T18 · tabelas/T18_envelhecimento_correlacoes.csv  ·  Bloco 8. Envelhecimento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percentual de pessoas 60+ se relaciona mais com População 0–14 (ρ = -0,7937)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188720"/>
                <a:gridCol w="118872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(ρ de Spearman)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-0,0974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-0,0354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-0,2009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-0,7252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-0,8134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-0,7937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-0,9186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os indicadores de envelhecimento (linhas) e os demais (colunas).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pessoas 60+, a correlação mais forte é com População 0–14 (ρ = -0,7937); com a renda média, ρ = 0,5207.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T18 · tabelas/T18_envelhecimento_correlacoes.csv  ·  Bloco 8. Envelhecimento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Pessoas 60+ e renda média: ρ = 0,5207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21_dispersao_60ma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2353" y="1243584"/>
            <a:ext cx="6482135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hexágono reúne setores com valores parecidos; quanto mais escuro, mais setores. Eixo horizontal: renda média em escala logarítmica; vertical: proporção de pessoas de 60 anos ou mais.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Spearman entre as duas é 0,5207.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F21 · figuras/F21_dispersao_60mais.png  ·  Bloco 8. Envelhecimento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o maior peso no índice (19,3%)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Renda (invertida) (19,3%); a dimensão socioeconômica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0,3322 e P90 0,4325, em 73.407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0,4315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45.052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73.407 setores; mediana 0,3322; percentil 90 0,4325.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5,4%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21.209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30.709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17.542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28,9% baixo e 5,4%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0,8238: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socioeconômica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0,8438; mediana da AUC municipal 0,8238,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0,6040 (Duque de Caxias) a 0,9543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(0,9543) e a menor, a de Duque de Caxias (0,6040).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0,6040 (Duque de Caxias) a 0,9543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(0,9543) e a menor, a de Duque de Caxias (0,6040).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28,9% dos setores ficam em baixo e 5,4%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0,8438)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0,8438 (global); a mediana municipal é 0,8238.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piso de 100 moradores, o índice fica com 72.289 setores e ρ = 0,9972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piso de 100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72.289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piso de 100 moradores: 72.289 setores no índice (contra 73.407), AUC municipal 0,8344, ρ = 0,9972 com o valor-padrão e 1,4%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0,9940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Charqueadas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0,9940. Menor correlação municipal: Taió (0,9214).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medio para elevado (378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21.005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30.328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17.121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3.809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medio para elevado, com 378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Canoas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Igarapava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1,6%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medio para elevado (378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A2_piso_populacional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1,6%.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73.407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na amostra do índice (T01)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0,8238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piso tira poucos setores e mexe pouco no índice: a correlação de postos com a referência fica perto de 1 e poucos setores trocam de faixa. A AUC contra as favelas sobe um pouco, sinal de que parte do ruído vinha de setores muito pequenos. Com piso de 100 (T34), o quadro é o mesmo. O piso não é decisão: a pergunta está registrada para a orientadora.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73.407 setores chegam ao índice, de 109.032 na base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 recorte ao índice, 29.873 setores saem por falta de algum 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 é o indicador com mais faltantes (15,7% dos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é o indicador mais assimétrico (assimetria 59,74)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média: a mediana vai de 1.720,05 (Nordeste) a 3.738,28 (Sul)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média: entre os municípios, a mediana vai de 1.062,36 a 5.296,04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Sem banheiro nem sanitário tem a distribuição mais assimétrica (assimetria 59,74)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Água inadequada tem mediana de 0,1745 no Norte e 0,0000 no 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Renda média tem a distribuição mais assimétrica (assimetria 3,73)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Razão de moradores tem mediana de 3,1937 no Norte e 2,6000 no 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Domicílio improvisado tem a distribuição mais assimétrica (assimetria 38,25)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4</a:t>
            </a:r>
            <a:endParaRPr lang="en-US" sz="9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8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Domicílio improvisado tem mediana de 0,0000 no Centro-Oeste e 0,0000 no 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Índice de envelhecimento tem a distribuição mais assimétrica (assimetria 5,75)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Crianças 0–4 tem mediana de 0,0632 no Norte e 0,0465 no 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Banheiro graduado em Placas (66,7%)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28,4% dos menores setores e em 3,8%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tem a maior proporção de extremos (6,7%)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concentra o maior número de marcações de extremo (7.567)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 setores têm renda suspeita e 3.261 têm renda extrema coerente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4</a:t>
            </a:r>
            <a:endParaRPr lang="en-US" sz="9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e Renda sem o extremo formam o par mais correlacionado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Renda média × Renda sem o extremo (r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Renda média × Renda sem o extremo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 é o indicador que mais separa as favelas (AUC 0,8468)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faixa de 30–39 anos concentra a maior parte da população (15,9%)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estrutura etária muda de região para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mediana de pessoas 60+ por setor vai de 0,1119 (Norte) a 0,1935 (Sul)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percentual de pessoas 60+ se relaciona mais com População 0–14 (ρ = -0,7937)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 e renda média: ρ = 0,5207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4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o maior peso no índice (19,3%)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0,3322 e P90 0,4325, em 73.407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5,4%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0,8238: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0,6040 (Duque de Caxias) a 0,9543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0,8438)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0,9940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medio para elevado (378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piso de 100 moradores, o índice fica com 72.289 setores e ρ = 0,9972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4 de 4</a:t>
            </a:r>
            <a:endParaRPr lang="en-US" sz="95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piso é parâmetro exploratório: nem 50 nem 100 moradores foram fixados pelo projeto.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pequenos são justamente os mais atingidos pelo sigilo (bloco 4); o piso e a exclusão por lista retiram em parte os mesmos setores.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continua excluindo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piso de população: 50 moradores (sensibilidade com 100 na tabela T34) — parâmetro exploratório — não é decisão</a:t>
            </a:r>
            <a:endParaRPr lang="en-US" sz="13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abastecimento de água inadequado ou ausente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+ V00113 + V00114 + V00115 + V00116 + V00117 + V00118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esgotamento sanitário inadequado ou ausente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+ V00313 + V00314 + V00315 + V00316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destino do lixo inadequado ou ausente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+ V00399 + V00400 + V00401 + V00402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água canalizada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que a água não chega encanada até dentro do domicílio (complemento de V00199; equivale a V00200+V00201 sobre V00001)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V00199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não chega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que a água não chega encanada ao domicílio (V00201)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só no terreno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que a água chega encanada apenas ao terreno (V00200)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V00200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sem banheiro de uso exclusivo com chuveiro e vaso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V00495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sem banheiro nem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apenas sanitário ou buraco para dejeções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apenas banheiro de uso 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 de banheiro graduada: 1 ponto para banheiro só de uso comum, 2 para só sanitário, 3 para nem banheiro nem sanitário, sobre 3 vezes os domicílios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V00236 + 2·V00237 + 3·V00238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3·V00001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 por domicílio (reproduz o V0005 do IBGE)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Taxa de analfabetismo entre pessoas de 15 anos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Rendimento nominal médio mensal das pessoas responsáveis (R$)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de cor/raça preta, parda ou indígena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Responsável mulher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com pessoa responsável do sexo feminino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V01063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V01062 + V01063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sem o extremo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dos responsáveis sem o valor extremo de Belo Horizonte (R$ 170.418,06), que vira faltante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(mediana mun.)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dos responsáveis com o valor extremo trocado pela mediana do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 improvisado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particulares improvisados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301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em habitação precária (cortiço, estrutura degradada, improvisados)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 + V00052 + V00053 + V00054 + V00055 + V00056 + V00057 + V00058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moradias convencionais (casa, casa de vila/condomínio, apartamento)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V00047 + V00048 + V00049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não convencional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moradias não convencionais (cortiço, maloca, estrutura degradada)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 + V00051 + V00052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do tipo apartamento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do tipo casa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domicílios do tipo casa de vila ou em condomínio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crianças de 0 a 4 anos na população residente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0–14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com menos de 15 anos na população residente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V01031 + V01032 + V01033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de 60 anos ou mais na população residente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Populacional: 60+ por 100 menores de 15 anos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V01031 + V01032 + V01033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idosa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de Idosos: 60+ por 100 pessoas de 15 a 59 anos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V01034 + V01035 + V01036 + V01037 + V01038 + V01039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70+ entre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Demografia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Proporção de pessoas de 70+ entre os de 60+ (proxy de longevidade; NÃO é o LI, que exigiria a faixa 75+, inexistente nos agregados por setor)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V01040 + V01041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  ·  parte 3 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A2_piso_populacional — Com piso de população</dc:title>
  <dc:subject>PptxGenJS Presentation</dc:subject>
  <dc:creator>Pedro Dias Soares</dc:creator>
  <cp:lastModifiedBy>Pedro Dias Soares</cp:lastModifiedBy>
  <cp:revision>1</cp:revision>
  <dcterms:created xsi:type="dcterms:W3CDTF">2026-10-06T20:46:38Z</dcterms:created>
  <dcterms:modified xsi:type="dcterms:W3CDTF">2026-10-06T20:46:38Z</dcterms:modified>
</cp:coreProperties>
</file>