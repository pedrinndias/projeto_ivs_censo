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que muda se só entram os setores com pelo menos 50 moradores?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Só o recorte: saem os setores urbanos com menos de 50 moradores, em que as proporções dependem de muito poucas pessoas. O piso de 50 é parâmetro exploratório; a tabela T34 repete a versão com piso de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qualquer número, é preciso saber sobre quais setores ele foi calculado. Este bloco segue o caminho dos setores desde a base completa até a amostra do índice: cada filtro tira alguns, e o motivo de cada saída fica registrado. Também mostra, indicador por indicador, quantos setores não têm valor — porque um indicador com muitos faltantes muda a amostra de qualquer análise que 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
Como ler: Cada linha é um filtro, na ordem em que é aplicado: quantos setores ficam, quantos saem e por quê.
O que mostra: A base tem 109.032 setores; 103.280 ficam no recorte da versão e 73.407 têm todos os componentes do índice (29.873 saem nesta última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mesma informação da tabela do funil, em forma de barras. A queda entre o recorte e a amostra do índice é quase toda causada pelos indicadores com sigilo (renda e analfabetismo) e pelas partes do banheiro graduado, como mostra a tabela de perdas por indicador.
Como ler: Cada barra é uma etapa do funil; o comprimento é o número de setores que ainda estão dentro.
O que mostra: A barra final (73.407 setores) é a amostra do índice; a do recorte tem 103.280.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faltante é um setor do recorte em que o indicador não pôde ser calculado: porque o IBGE não divulgou a variável (sigilo), porque o denominador é zero (por exemplo, nenhuma pessoa de 60 anos ou mais para calcular a proporção de 70+ entre elas) ou porque alguma parte da conta faltou. Indicadores com muitos faltantes reduzem a amostra de qualquer análise que os inclua.
Como ler: Uma linha por indicador: setores com valor, setores sem valor e a porcentagem sem valor dentro do recorte.
O que mostra: O maior percentual de faltantes é o de Analfabetismo 15+ (15,7%); o menor, o de Água inadequada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faltante é um setor do recorte em que o indicador não pôde ser calculado: porque o IBGE não divulgou a variável (sigilo), porque o denominador é zero (por exemplo, nenhuma pessoa de 60 anos ou mais para calcular a proporção de 70+ entre elas) ou porque alguma parte da conta faltou. Indicadores com muitos faltantes reduzem a amostra de qualquer análise que os inclua.
Como ler: Uma linha por indicador: setores com valor, setores sem valor e a porcentagem sem valor dentro do recorte.
O que mostra: O maior percentual de faltantes é o de Analfabetismo 15+ (15,7%); o menor, o de Água inadequada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descritivas resumem cada indicador em poucos números: o centro (média e mediana), a dispersão (desvio-padrão, quartis, percentis 10 e 90) e a forma (assimetria e curtose). Elas aparecem para o conjunto, por região e por município, para que diferenças de lugar fiquem visíveis antes de qualquer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média é sensível a valores extremos; a mediana não. Quando as duas se afastam, a distribuição é assimétrica. A assimetria é positiva quando há uma cauda longa à direita (poucos setores com valores muito altos). A curtose mede o peso das caudas: valores altos indicam muitos extremos. O coeficiente de variação (DP dividido pela média, em %) permite comparar a dispersão de indicadores em escalas diferentes. Nos indicadores de saneamento, a maioria dos setores vale zero: a mediana é zero e o intervalo interquartil também, o que explica por que o critério de extremos muda para eles (bloco 5).
Como ler: Uma linha por indicador. n: setores com valor; DP: desvio-padrão; P10…P90: percentis; CV: coeficiente de variação; % zeros: setores com valor exatamente zero.
O que mostra: A maior assimetria é a de Sem banheiro nem sanitário (59,74); o maior percentual de zeros é o de Sem banheiro nem sanitário (99,6%).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média é sensível a valores extremos; a mediana não. Quando as duas se afastam, a distribuição é assimétrica. A assimetria é positiva quando há uma cauda longa à direita (poucos setores com valores muito altos). A curtose mede o peso das caudas: valores altos indicam muitos extremos. O coeficiente de variação (DP dividido pela média, em %) permite comparar a dispersão de indicadores em escalas diferentes. Nos indicadores de saneamento, a maioria dos setores vale zero: a mediana é zero e o intervalo interquartil também, o que explica por que o critério de extremos muda para eles (bloco 5).
Como ler: Uma linha por indicador. n: setores com valor; DP: desvio-padrão; P10…P90: percentis; CV: coeficiente de variação; % zeros: setores com valor exatamente zero.
O que mostra: A maior assimetria é a de Sem banheiro nem sanitário (59,74); o maior percentual de zeros é o de Sem banheiro nem sanitário (99,6%).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região é o primeiro dígito do código da unidade da federação. As diferenças entre regiões mostram o quanto o retrato depende do lugar: um indicador que varia muito entre regiões pode dominar um índice calculado com normalização global, e é por isso que a referência normaliza dentro de cada município.
Como ler: Uma linha por região e indicador, com as mesmas colunas da tabela global.
O que mostra: Para Renda média, a mediana mais alta está no Sul (3.738,28) e a mais baixa no Nordeste (1.720,05).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região é o primeiro dígito do código da unidade da federação. As diferenças entre regiões mostram o quanto o retrato depende do lugar: um indicador que varia muito entre regiões pode dominar um índice calculado com normalização global, e é por isso que a referência normaliza dentro de cada município.
Como ler: Uma linha por região e indicador, com as mesmas colunas da tabela global.
O que mostra: Para Renda média, a mediana mais alta está no Sul (3.738,28) e a mais baixa no Nordeste (1.720,05).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70 municípios de tamanhos muito diferentes: alguns têm poucas dezenas de setores, e a mediana deles é menos estável. A tabela completa serve para consulta; o slide destaca os extremos.
Como ler: Uma linha por município e indicador (tabela longa). No deck, um recorte; a tabela completa está no CSV.
O que mostra: Para Renda média, a maior mediana municipal é a de São Caetano do Sul (5.296,04); a menor, a de Jaqueira (1.062,36).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70 municípios de tamanhos muito diferentes: alguns têm poucas dezenas de setores, e a mediana deles é menos estável. A tabela completa serve para consulta; o slide destaca os extremos.
Como ler: Uma linha por município e indicador (tabela longa). No deck, um recorte; a tabela completa está no CSV.
O que mostra: Para Renda média, a maior mediana municipal é a de São Caetano do Sul (5.296,04); a menor, a de Jaqueira (1.062,36).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números do bloco anterior escondem a forma da distribuição. Histogramas, caixas e curvas de densidade mostram se o indicador se concentra em zero, se tem cauda longa ou se separa regiões. Cada painel reúne os indicadores de uma dimensão.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Saneamento, a maior assimetria é a de Sem banheiro nem sanitário (59,74).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(Água inadequada), a mediana regional vai de 0,0000 (Centro-Oeste) a 0,1745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Água inadequada, a mediana regional vai de 0,0000 (Centro-Oeste) a 0,1745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Socioeconômica, a maior assimetria é a de Renda média (3,73).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(Razão de moradores), a mediana regional vai de 2,6000 (Sul) a 3,1937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Razão de moradores, a mediana regional vai de 2,6000 (Sul) a 3,1937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Morfologia, a maior assimetria é a de Domicílio improvisado (38,25).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(Domicílio improvisado), a mediana regional vai de 0,0000 (Centro-Oeste) a 0,0000 (Centro-Oeste).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Domicílio improvisado, a mediana regional vai de 0,0000 (Centro-Oeste) a 0,0000 (Centro-Oeste).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Demografia, a maior assimetria é a de Índice de envelhecimento (5,75).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(Crianças 0–4), a mediana regional vai de 0,0465 (Sul) a 0,0632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densidade é um histograma suavizado e normalizado: a área sob ela vale 1, qualquer que seja o número de setores da região. Assim, comparam-se formas, não tamanhos. Picos em lugares diferentes indicam regiões com valores típicos diferentes; uma curva mais larga indica mais dispersão.
Como ler: Uma curva por região em cada painel: a altura indica onde os setores daquela região se concentram. As áreas sob as curvas são iguais, para que regiões grandes e pequenas sejam comparáveis.
O que mostra: Em Crianças 0–4, a mediana regional vai de 0,0465 (Sul) a 0,0632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IBGE não divulga alguns valores para proteger o sigilo de setores pequenos. Se a falta fosse aleatória, bastaria descartar os setores sem dado; como ela se concentra em setores pequenos, descartar muda o retrato. Este bloco mostra onde estão os faltantes e como eles se distribuem pelo tamanho do setor.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faltantes não se espalham por igual entre os municípios. Onde eles se concentram, um índice calculado só com setores completos retrata pior o município, porque os setores que saem não são uma amostra ao acaso.
Como ler: Uma linha por município e uma coluna por indicador; cada célula é o percentual de setores do município sem aquele indicador.
O que mostra: A célula mais alta é Banheiro graduado em Placas, com 66,7% dos setores sem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mapa de calor mostra a tabela anterior como cores. Colunas inteiras escuras indicam indicadores com sigilo ou denominador frequentemente zero; linhas escuras indicam municípios com muitos setores pequenos.
Como ler: Mapa de calor: linhas são municípios, colunas são indicadores; quanto mais escura a célula, maior o percentual de setores sem valor.
O que mostra: O ponto mais escuro é Banheiro graduado em Placas (66,7%).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 falta de dados fosse aleatória, o percentual de faltantes seria parecido em todos os décimos. Quando ele se concentra nos setores pequenos, a falta é não aleatória: o IBGE suprime valores para proteger o sigilo de quem mora em setores com poucos domicílios. A consequência é que análises só com setores completos sub-representam setores pequenos.
Como ler: Os setores são divididos em dez grupos iguais pelo número de moradores (1 = os menores). Para cada grupo, o percentual de setores sem renda e sem analfabetismo, e o percentual em FCU.
O que mostra: Sem renda: 0,0% no primeiro décimo e 0,0% no último. Sem analfabetismo: 28,4% e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duas linhas mostram a mesma tabela em forma de gráfico. Uma linha que desce da esquerda para a direita é o sinal do sigilo: quanto menor o setor, mais provável que o valor tenha sido suprimido.
Como ler: Eixo horizontal: décimo de moradores do setor (1 = menores). Eixo vertical: percentual de setores sem o indicador.
O que mostra: Renda: de 0,0% a 0,0%; analfabetismo: de 28,4% a 3,8%, do menor ao maior décimo.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extremo não é um erro por definição: pode ser um setor realmente diferente. O critério muda com o indicador: o intervalo interquartil onde ele funciona, um critério próprio para a renda e, nos indicadores em que a maioria dos setores vale zero, o critério aplicado só aos valores acima de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(6,7%),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(6,7%),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critério de Tukey marca como extremo o valor que fica a mais de 3 intervalos interquartis abaixo do 1º quartil ou acima do 3º (o intervalo interquartil é a distância entre o 1º e o 3º quartil). Nos indicadores com mediana zero esse intervalo é zero, e qualquer valor positivo viraria extremo; por isso, neles, o critério é aplicado só aos valores acima de zero. A renda usa o critério próprio do projeto: limite de Tukey dentro de cada município e um teste de coerência com o perfil do setor, que separa a renda alta de verdade (EXTREMO) da provável inconsistência (SUSPEITO).
Como ler: Uma linha por indicador: o critério usado, os limites, quantos setores passam deles e o percentual de zeros.
O que mostra: O maior percentual de extremos é o de Moradia convencional (6,7%), pelo critério “Tukey k=3 (intervalo interquartil)”.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total soma marcações, não setores: um setor extremo em dois indicadores conta duas vezes. Municípios grandes tendem a ter mais marcações só por terem mais setores; a comparação justa é com o número de setores de cada um (bloco 2).
Como ler: Uma linha por município e uma coluna por indicador, com o número de setores marcados; a coluna total soma todas as marcações.
O que mostra: O município com mais marcações é São Paulo, com 7.567 no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lista serve para conferência caso a caso: abrir o setor, olhar o entorno e decidir se é um setor diferente de verdade ou um erro de registro. Nenhum setor é retirado das análises por estar nesta lista.
Como ler: Até dez setores por indicador, os mais distantes da mediana entre os marcados como extremo: código do setor, município, valor e mediana global.
O que mostra: No topo da lista de Renda média está um setor de Belo Horizonte, com valor 170.418,06.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lista serve para conferência caso a caso: abrir o setor, olhar o entorno e decidir se é um setor diferente de verdade ou um erro de registro. Nenhum setor é retirado das análises por estar nesta lista.
Como ler: Até dez setores por indicador, os mais distantes da mediana entre os marcados como extremo: código do setor, município, valor e mediana global.
O que mostra: No topo da lista de Renda média está um setor de Belo Horizonte, com valor 170.418,06.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classe vem do rastreio da renda do projeto (src/ivs_censo/renda.py). Um setor de renda alta com baixo analfabetismo e pouca população preta, parda ou indígena é coerente; o mesmo valor num setor com perfil oposto é suspeito. A variante de renda “sem o extremo” retira esses valores; a referência usa a renda original.
Como ler: Cada setor com renda recebe uma classe: NORMAL, EXTREMO (acima do limite do município, mas coerente com o perfil) ou SUSPEITO (acima do limite e incoerente).
O que mostra: São 63 setores SUSPEITO (0,06%) e 3.261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percentuais não são comparáveis de forma direta entre critérios diferentes: o critério da inflação de zeros olha só os setores com valor acima de zero. O gráfico serve para localizar os indicadores em que os extremos merecem atenção.
Como ler: Uma barra por indicador, com o percentual de setores marcados; a cor indica o critério (petróleo: Tukey; cinza: inflação de zeros; argila: renda).
O que mostra: A barra mais longa é a de Moradia convencional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mede o quanto dois indicadores sobem e descem juntos, de −1 a 1. Pares muito correlacionados medem quase a mesma coisa; pares sem correlação trazem informação diferente. O bloco mostra as duas medidas usuais (Spearman, por postos, e Pearson, linear) e agrupa os indicadores parecidos.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de Spearman é calculada sobre os postos (a ordem dos setores), não sobre os valores. Por isso é pouco afetada por extremos e capta relações que sobem sempre, mesmo que não em linha reta. Valor perto de 1: os setores ordenados por um indicador ficam quase na mesma ordem pelo outro; perto de −1: ordem invertida; perto de 0: sem relação de ordem. Cada par usa os setores com os dois valores.
Como ler: Matriz de correlação de Spearman: cada célula é a correlação entre o indicador da linha e o da coluna, de −1 a 1.
O que mostra: A maior correlação em módulo é entre Renda média e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correlação de Pearson mede a relação em linha reta entre os valores. Ela é sensível a extremos e a distribuições muito assimétricas, como as do saneamento. Quando Pearson e Spearman divergem muito para um mesmo par, a relação é puxada por poucos setores extremos ou não é linear.
Como ler: Matriz de correlação de Pearson, com a mesma leitura da de Spearman.
O que mostra: A maior correlação de Pearson em módulo é entre Renda média e Renda sem o extremo (r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indicadores com correlação acima de 0,80 medem praticamente a mesma coisa. Pôr os dois no índice dá peso dobrado a essa dimensão. Muitas vezes são variantes de um mesmo conceito (por exemplo, as três rendas ou as várias definições de água), e a escolha entre elas é uma das decisões que as versões do eixo B exploram.
Como ler: Os pares de indicadores com correlação de pelo menos 0,80 em módulo, por Spearman ou por Pearson, do mais forte para o mais fraco.
O que mostra: No topo: Renda média × Renda sem o extremo, com Spearman 1,0000 e Pearson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indicadores com correlação acima de 0,80 medem praticamente a mesma coisa. Pôr os dois no índice dá peso dobrado a essa dimensão. Muitas vezes são variantes de um mesmo conceito (por exemplo, as três rendas ou as várias definições de água), e a escolha entre elas é uma das decisões que as versões do eixo B exploram.
Como ler: Os pares de indicadores com correlação de pelo menos 0,80 em módulo, por Spearman ou por Pearson, do mais forte para o mais fraco.
O que mostra: No topo: Renda média × Renda sem o extremo, com Spearman 1,0000 e Pearson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reordenação põe lado a lado os indicadores que se correlacionam entre si, e os blocos de cor ao longo da diagonal revelam os grupos. Um grupo nítido costuma corresponder a uma dimensão: socioeconômica, saneamento, moradia, idade.
Como ler: 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
O que mostra: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matriz no formato da que a orientadora enviou: o IVS e as variáveis novas lado a lado, com os valores escritos. A correlação de Spearman mede se dois indicadores ordenam os setores do mesmo jeito: 1 é a mesma ordem, −1 a ordem invertida, 0 nenhuma relação. A renda aparece como renda média (não invertida): por isso ela tem correlação negativa com as carências. Variáveis com muitos zeros (água não chega, sem banheiro, moradia não convencional) têm correlações achatadas, porque os empates em zero não têm ordem.
Como ler: Matriz de Spearman só com os componentes do índice (acima e à esquerda da linha) e as variáveis das demandas de setembro (abaixo e à direita). Cada célula traz o ρ; argila é positiva, petróleo negativa.
O que mostra: Entre uma variável nova e um componente de outra família, o par mais forte é Sem água canalizada × Cor/raça PPI (ρ = 0,4216). Pares de variantes da mesma coisa (como banheiro graduado e sem banheiro) ficam de fora do destaque.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Saneamento; cada célula traz o ρ (−1 a 1). Argila é correlação positiva, petróleo negativa.
O que mostra: Na dimensão Saneamento, o par mais forte é Sem banheiro × Banheiro graduado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Socioeconômica; cada célula traz o ρ (−1 a 1). Argila é correlação positiva, petróleo negativa.
O que mostra: Na dimensão Socioeconômica,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Morfologia; cada célula traz o ρ (−1 a 1). Argila é correlação positiva, petróleo negativa.
O que mostra: Na dimensão Morfologia, o par mais forte é Habitação precária × Moradia não convencional (ρ = 0,9649).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Demografia; cada célula traz o ρ (−1 a 1). Argila é correlação positiva, petróleo negativa.
O que mostra: Na dimensão Demografia, o par mais forte é Pessoas 60+ × Dependência idosa (ρ = 0,9962).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dendrograma é o resultado de um agrupamento hierárquico: começa com cada indicador sozinho e, a cada passo, une os dois grupos mais próximos. A distância entre dois indicadores é 1 menos o módulo da correlação de Spearman (0 = idênticos, 1 = sem relação); entre grupos, usa-se a média das distâncias (ligação média). Ele é um retrato descritivo: não substitui a análise fatorial.
Como ler: Cada indicador é uma folha à esquerda; as linhas os unem do mais parecido para o menos. Quanto mais à esquerda a união, mais correlacionados os indicadores.
O que mostra: O par mais próximo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favelas e comunidades urbanas delimitadas pelo IBGE servem de referência externa: um bom indicador de vulnerabilidade deve ter valores mais altos nelas. A comparação usa medianas e a AUC, que mede a capacidade de separar os dois grupos.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(área sob a curva ROC) é a probabilidade de que um setor de favela, sorteado ao acaso, tenha valor maior que um setor de fora, também sorteado. AUC 0,5: o indicador não separa os grupos. Acima de 0,5: valores maiores nas favelas. Abaixo de 0,5: valores menores nas favelas (é o caso da renda, que entra no índice invertida). A AUC aqui é global, com todos os municípios juntos.
Como ler: Uma linha por indicador: setores de FCU e fora, a mediana em cada grupo, a diferença e a AUC do indicador sozinho.
O que mostra: Cor/raça PPI tem AUC 0,8468 (mediana 0,7427 em FCU e 0,5094 fora); a menor AUC é a de Renda sem o extremo (0,1004).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(área sob a curva ROC) é a probabilidade de que um setor de favela, sorteado ao acaso, tenha valor maior que um setor de fora, também sorteado. AUC 0,5: o indicador não separa os grupos. Acima de 0,5: valores maiores nas favelas. Abaixo de 0,5: valores menores nas favelas (é o caso da renda, que entra no índice invertida). A AUC aqui é global, com todos os municípios juntos.
Como ler: Uma linha por indicador: setores de FCU e fora, a mediana em cada grupo, a diferença e a AUC do indicador sozinho.
O que mostra: Cor/raça PPI tem AUC 0,8468 (mediana 0,7427 em FCU e 0,5094 fora); a menor AUC é a de Renda sem o extremo (0,1004).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Barras que partem de 0,5 deixam claro o sentido: argila para a direita, o indicador é maior nas favelas; petróleo para a esquerda, é menor. O painel das medianas mostra a mesma comparação em valores absolutos, o que ajuda a separar uma diferença grande em termos relativos de uma diferença grande de fato.
Como ler: À esquerda, a AUC de cada indicador (barras a partir de 0,5; argila acima, petróleo abaixo). À direita, as medianas em FCU e fora, para os indicadores em proporção.
O que mostra: A maior AUC é a de Cor/raça PPI (0,8468); a menor, a de Renda sem o extremo (0,1004).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projeto olha para a vulnerabilidade do idoso. Este bloco descreve a estrutura etária e quatro indicadores de envelhecimento, e cruza o percentual de pessoas de 60 anos ou mais com os demais indicadores.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faixas etárias do Censo não são todas do mesmo tamanho: de 30 a 59 anos elas têm dez anos, e as anteriores, cinco. Por isso as faixas de dez anos tendem a parecer maiores. O percentual é calculado sobre a soma das faixas, e cada região soma 100%.
Como ler: Uma linha por faixa etária; as colunas são o total e as regiões, com o percentual da população de cada uma em cada faixa.
O que mostra: Pessoas de 70 anos ou mais são 7,4% do total, chegando a 8,5% no 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agregados por setor do Censo trazem as faixas etárias sem a separação por sexo, por isso a figura é uma pirâmide de um lado só. Pontos à direita da barra nas faixas mais velhas indicam regiões mais envelhecidas.
Como ler: Barras: percentual da população total em cada faixa etária. Pontos: o mesmo percentual em cada região.
O que mostra: 70+: 7,4% no total e 8,5% no 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de envelhecimento é a razão entre pessoas de 60 anos ou mais e pessoas de 0 a 14 anos. A razão de dependência idosa é a razão entre pessoas de 60 anos ou mais e pessoas de 15 a 59 anos. A proporção de 70+ entre os 60+ indica o quanto a população idosa do setor é mais velha. Os quatro são calculados por setor.
Como ler: Os quatro indicadores de envelhecimento, para o total e por região: n, média, mediana, quartis e as demais descritivas.
O que mostra: Pessoas 60+: mediana de 0,1935 no Sul e 0,1119 no Norte. Índice de envelhecimento, mediana do total: 96,3636.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de envelhecimento é a razão entre pessoas de 60 anos ou mais e pessoas de 0 a 14 anos. A razão de dependência idosa é a razão entre pessoas de 60 anos ou mais e pessoas de 15 a 59 anos. A proporção de 70+ entre os 60+ indica o quanto a população idosa do setor é mais velha. Os quatro são calculados por setor.
Como ler: Os quatro indicadores de envelhecimento, para o total e por região: n, média, mediana, quartis e as demais descritivas.
O que mostra: Pessoas 60+: mediana de 0,1935 no Sul e 0,1119 no Norte. Índice de envelhecimento, mediana do total: 96,3636.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tabela cruza envelhecimento com vulnerabilidade. Uma correlação positiva com a renda indica que setores mais ricos têm mais idosos (envelhecimento associado à transição demográfica mais avançada); uma correlação negativa com indicadores de carência diz o mesmo pelo outro lado. Isso importa para o IVS-Idoso: se idade e vulnerabilidade andam em sentidos opostos, somá-las num índice só pode cancelar os efeitos.
Como ler: Correlação de Spearman entre os indicadores de envelhecimento (linhas) e os demais (colunas).
O que mostra: Para pessoas 60+, a correlação mais forte é com População 0–14 (ρ = -0,7937); com a renda média, ρ = 0,5207.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tabela cruza envelhecimento com vulnerabilidade. Uma correlação positiva com a renda indica que setores mais ricos têm mais idosos (envelhecimento associado à transição demográfica mais avançada); uma correlação negativa com indicadores de carência diz o mesmo pelo outro lado. Isso importa para o IVS-Idoso: se idade e vulnerabilidade andam em sentidos opostos, somá-las num índice só pode cancelar os efeitos.
Como ler: Correlação de Spearman entre os indicadores de envelhecimento (linhas) e os demais (colunas).
O que mostra: Para pessoas 60+, a correlação mais forte é com População 0–14 (ρ = -0,7937); com a renda média, ρ = 0,5207.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mais de cem mil setores, um gráfico de pontos vira uma mancha. O gráfico de hexágonos conta quantos setores caem em cada célula. A escala logarítmica da renda espalha os setores de renda baixa, que de outro modo ficariam espremidos à esquerda.
Como ler: Cada hexágono reúne setores com valores parecidos; quanto mais escuro, mais setores. Eixo horizontal: renda média em escala logarítmica; vertical: proporção de pessoas de 60 anos ou mais.
O que mostra: A correlação de Spearman entre as duas é 0,5207.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os fatores e os pesos, cada setor recebe um valor de 0 a 1 dentro do seu município. O bloco mostra os pesos, a distribuição do índice, as faixas de vulnerabilidade pelas duas regras, a AUC contra as favelas e se a versão passa nos critérios de elegibilidade fixados no NB05.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pesos seguem a receita do NB04: cada variável vai para a dimensão em que tem a maior carga; o peso da dimensão é repartido entre as variáveis dela em proporção ao quadrado da carga. O peso das dimensões depende do método da versão; na referência é a regra do IVS-BH de 2012 (60% socioeconômica, 40% saneamento).
Como ler: Uma linha por componente: a dimensão em que ele carrega mais, a carga, o peso da dimensão e o peso final no índice (em %).
O que mostra: O maior peso é o de Renda (invertida) (19,3%); a dimensão F1 (socioeconômica) pesa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vai de 0 (o setor menos vulnerável do município) a 1 (o mais vulnerável). Comparar o nível do índice entre municípios não faz sentido nesta normalização; o que se compara é a posição relativa de cada setor dentro da sua cidade.
Como ler: Descritivas do índice para o total e por região. Como o índice é normalizado dentro de cada município, todo município tem mínimo 0 e máximo 1.
O que mostra: 73.406 setores; mediana 0,3322; percentil 90 0,4325.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regra do IVS-BH de 2012 classifica pelo afastamento da média do município em desvios-padrão: abaixo de −0,5 DP é baixo; até +0,5 DP, médio; até +1,5 DP, elevado; acima, muito elevado. Como a distribuição é assimétrica, as faixas não têm o mesmo tamanho. A regra dos quartis divide cada município em quatro partes iguais, por construção com 25% cada.
Como ler: Quantos setores ficam em cada faixa, pelas duas regras: a do IVS-BH (média e desvio-padrão do município) e a dos quartis do município.
O que mostra: IVS-BH: 28,9% baixo e 5,4% muito elevado. Quartis: 25,0% muito elevado.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global junta todos os setores; a municipal calcula a AUC dentro de cada município e toma a mediana, só nos municípios com pelo menos 30 setores de FCU e 30 fora. A municipal é a leitura adequada para um índice normalizado no município. Os critérios de elegibilidade foram fixados antes de rodar a grade do NB05: KMO de pelo menos 0,70, MSA de pelo menos 0,50, comunalidade de pelo menos 0,30 e carga de pelo menos 0,40 em todas as variáveis. A elegibilidade é descritiva: não escolhe a versão.
Como ler: AUC global e municipal, peso da dimensão socioeconômica e os critérios de elegibilidade do NB05, um por linha (1 = atende).
O que mostra: AUC global 0,8438; mediana da AUC municipal 0,8238, em 31 municípios. Pelos critérios do NB05, a versão é elegível.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poucos setores de favela têm AUC instável: um ou dois setores mudam muito o resultado. Por isso a mediana só usa os municípios com pelo menos 30 setores em cada grupo; os demais ficam na tabela, marcados.
Como ler: Uma linha por município: AUC, setores de FCU (n1) e fora (n0) e se o município entra na mediana.
O que mostra: Entre os municípios que entram na mediana, a maior AUC é a de Campinas (0,9543) e a menor, a de Duque de Caxias (0,6040).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Municípios com poucos setores de favela têm AUC instável: um ou dois setores mudam muito o resultado. Por isso a mediana só usa os municípios com pelo menos 30 setores em cada grupo; os demais ficam na tabela, marcados.
Como ler: Uma linha por município: AUC, setores de FCU (n1) e fora (n0) e se o município entra na mediana.
O que mostra: Entre os municípios que entram na mediana, a maior AUC é a de Campinas (0,9543) e a menor, a de Duque de Caxias (0,6040).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as faixas são definidas dentro de cada município, um mesmo valor do índice pode cair em faixas diferentes em cidades diferentes: por isso as cores se sobrepõem nas fronteiras.
Como ler: Histograma do índice, com cada barra dividida pela faixa dos setores (regra do IVS-BH).
O que mostra: 28,9% dos setores ficam em baixo e 5,4% em muito elevado.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Quanto mais a curva se aproxima do canto superior esquerdo, melhor o índice separa os dois grupos. A área sob a curva é a AUC. Esta curva usa todos os setores juntos; como o índice é normalizado no município, a AUC municipal é a medida principal.
Como ler: Cada ponto da curva é um corte do índice: no eixo vertical, a proporção de setores de FCU acima do corte; no horizontal, a dos setores de fora. A diagonal é o acaso.
O que mostra: Área sob a curva: 0,8438 (global); a mediana municipal é 0,8238.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ninguém fixou um parâmetro, a versão roda com um valor-padrão e esta tabela mostra o que muda com o valor alternativo. Correlação de postos perto de 1 e poucas trocas de faixa indicam que a escolha do parâmetro pesa pouco; o contrário indica que ela precisa ser decidida. Nenhum dos valores é decisão: é parâmetro exploratório.
Como ler: Uma linha por valor do parâmetro exploratório: setores no recorte e no índice, KMO, AUC global e municipal, elegibilidade (1 = elegível), correlação de postos com o índice do valor-padrão e % de setores que mudam de faixa.
O que mostra: Com piso de 100 moradores: 72.289 setores no índice (contra 73.407), AUC municipal 0,8344, ρ = 0,9972 com o valor-padrão e 1,0% dos setores comuns mudando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versão muda uma coisa só em relação à referência. Este bloco mede o efeito dessa mudança: a correlação de postos entre os dois índices, a matriz de setores que trocam de faixa e os municípios mais afetados.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correlação de postos perto de 1 indica que a versão ordena os setores quase como a referência, ainda que os valores mudem. Na própria referência, o valor é 1 por construção.
Como ler: Correlação de Spearman entre o índice desta versão e o da referência, nos setores que estão nas duas amostras: total e por município.
O que mostra: Total: ρ = 0,9940. Menor correlação municipal: Taió (0,9214).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diagonal (mesma faixa nas duas) mostra a concordância. Trocas entre faixas vizinhas são esperadas quando os pesos mudam um pouco; trocas de duas faixas ou mais indicam que a versão muda de fato a classificação do setor.
Como ler: Cada linha é um par (faixa na referência, faixa nesta versão), com o número de setores e o percentual do total.
O que mostra: Fora da diagonal, a maior célula é de elevado para medio, com 334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faixa usada é a da regra do IVS-BH. Municípios pequenos tendem a aparecer no topo, porque poucas trocas pesam muito em poucos setores.
Como ler: A primeira linha é o total; as demais, os municípios, do mais afetado para o menos: setores comuns, setores que mudam de faixa e o percentual.
O que mostra: No total, 1,5% dos setores mudam de faixa; o município mais afetado é Canoas (11,9%).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matriz com quase tudo na diagonal indica que a mudança da versão não altera a classificação; células fora da diagonal mostram para onde os setores se movem.
Como ler: Linhas: faixa na referência; colunas: faixa nesta versão; cada célula traz o número de setores.
O que mostra: A maior troca fora da diagonal é de elevado para medio (334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gráfico destaca onde a escolha desta versão faz mais diferença. Na própria referência, todas as barras são zero.
Como ler: Os 20 municípios com o maior percentual de setores que mudam de faixa.
O que mostra: O mais afetado é Canoas (11,9%); no total,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piso tira poucos setores e mexe pouco no índice: a correlação de postos com a referência fica perto de 1 e poucos setores trocam de faixa. A AUC contra as favelas sobe um pouco, sinal de que parte do ruído vinha de setores muito pequenos. Com piso de 100 (T34), o quadro é o mesmo. O piso não é decisão: a pergunta está registrada para a orientadora.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piso é parâmetro exploratório: nem 50 nem 100 moradores foram fixados pelo projeto.
Os setores pequenos são justamente os mais atingidos pelo sigilo (bloco 4); o piso e a exclusão por lista retiram em parte os mesmos setores.
A amostra do índice continua excluindo todo setor com algum componente faltante (exclusão por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ANÁLISES EXPLORATÓRIAS POR VERSÃO · A2_piso_populacional</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Com piso de população</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O que muda se só entram os setores com pelo menos 50 moradores?</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outubro de 2026  ·  103.280 setores no recorte  ·  73.407 na amostra do índice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muda nesta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2011680"/>
                <a:gridCol w="4297680"/>
                <a:gridCol w="4297680"/>
              </a:tblGrid>
              <a:tr h="274320">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Aspecto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Referência (00_referencia)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Esta versão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Base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entrega_orientadora/Base_ELSI_70Municipios_Censo2022.db</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Recorte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urbanos; Dados_sig = OK</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b="1" dirty="0">
                          <a:solidFill>
                            <a:srgbClr val="8C2F27"/>
                          </a:solidFill>
                          <a:latin typeface="Cambria" pitchFamily="34" charset="0"/>
                          <a:ea typeface="Cambria" pitchFamily="34" charset="-122"/>
                          <a:cs typeface="Cambria" pitchFamily="34" charset="-120"/>
                        </a:rPr>
                        <a:t>setores urbanos; Dados_sig = OK; pelo menos 50 moradores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Indicadores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todos os do quadro, com as variantes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Componentes do índice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Água inadequada, Esgoto inadequado, Razão de moradores, Analfabetismo 15+, renda_inv, Cor/raça PPI, Banheiro graduado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original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Rotação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Pesos das dimensões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Normalização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Blocos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1, 2, 3, 4, 5, 6, 7, 8, 9, 10, 11, 12, 13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b="1" dirty="0">
                          <a:solidFill>
                            <a:srgbClr val="8C2F27"/>
                          </a:solidFill>
                          <a:latin typeface="Cambria" pitchFamily="34" charset="0"/>
                          <a:ea typeface="Cambria" pitchFamily="34" charset="-122"/>
                          <a:cs typeface="Cambria" pitchFamily="34" charset="-120"/>
                        </a:rPr>
                        <a:t>1, 2, 3, 4, 5, 6, 7, 8, 10, 13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77240" y="4303014"/>
            <a:ext cx="822960" cy="0"/>
          </a:xfrm>
          <a:prstGeom prst="line">
            <a:avLst/>
          </a:prstGeom>
          <a:noFill/>
          <a:ln w="15875">
            <a:solidFill>
              <a:srgbClr val="8C2F27"/>
            </a:solidFill>
            <a:prstDash val="solid"/>
          </a:ln>
        </p:spPr>
      </p:sp>
      <p:sp>
        <p:nvSpPr>
          <p:cNvPr id="7" name="Text 4"/>
          <p:cNvSpPr/>
          <p:nvPr/>
        </p:nvSpPr>
        <p:spPr>
          <a:xfrm>
            <a:off x="777240" y="4357878"/>
            <a:ext cx="10634472" cy="1677162"/>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muda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Só o recorte: saem os setores urbanos com menos de 50 moradores, em que as proporções dependem de muito poucas pessoas. O piso de 50 é parâmetro exploratório; a tabela T34 repete a versão com piso de 100.</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73.407 setores chegam ao índice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517904"/>
            <a:ext cx="3300984" cy="0"/>
          </a:xfrm>
          <a:prstGeom prst="line">
            <a:avLst/>
          </a:prstGeom>
          <a:noFill/>
          <a:ln w="12700">
            <a:solidFill>
              <a:srgbClr val="1A1A18"/>
            </a:solidFill>
            <a:prstDash val="solid"/>
          </a:ln>
        </p:spPr>
      </p:sp>
      <p:sp>
        <p:nvSpPr>
          <p:cNvPr id="6" name="Text 4"/>
          <p:cNvSpPr/>
          <p:nvPr/>
        </p:nvSpPr>
        <p:spPr>
          <a:xfrm>
            <a:off x="777240"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109.032</a:t>
            </a:r>
            <a:endParaRPr lang="en-US" sz="3000" dirty="0"/>
          </a:p>
        </p:txBody>
      </p:sp>
      <p:sp>
        <p:nvSpPr>
          <p:cNvPr id="7" name="Text 5"/>
          <p:cNvSpPr/>
          <p:nvPr/>
        </p:nvSpPr>
        <p:spPr>
          <a:xfrm>
            <a:off x="777240"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base completa</a:t>
            </a:r>
            <a:endParaRPr lang="en-US" sz="1050" dirty="0"/>
          </a:p>
        </p:txBody>
      </p:sp>
      <p:sp>
        <p:nvSpPr>
          <p:cNvPr id="8" name="Shape 6"/>
          <p:cNvSpPr/>
          <p:nvPr/>
        </p:nvSpPr>
        <p:spPr>
          <a:xfrm>
            <a:off x="4443984" y="1517904"/>
            <a:ext cx="3300984" cy="0"/>
          </a:xfrm>
          <a:prstGeom prst="line">
            <a:avLst/>
          </a:prstGeom>
          <a:noFill/>
          <a:ln w="12700">
            <a:solidFill>
              <a:srgbClr val="1A1A18"/>
            </a:solidFill>
            <a:prstDash val="solid"/>
          </a:ln>
        </p:spPr>
      </p:sp>
      <p:sp>
        <p:nvSpPr>
          <p:cNvPr id="9" name="Text 7"/>
          <p:cNvSpPr/>
          <p:nvPr/>
        </p:nvSpPr>
        <p:spPr>
          <a:xfrm>
            <a:off x="4443984"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103.280</a:t>
            </a:r>
            <a:endParaRPr lang="en-US" sz="3000" dirty="0"/>
          </a:p>
        </p:txBody>
      </p:sp>
      <p:sp>
        <p:nvSpPr>
          <p:cNvPr id="10" name="Text 8"/>
          <p:cNvSpPr/>
          <p:nvPr/>
        </p:nvSpPr>
        <p:spPr>
          <a:xfrm>
            <a:off x="4443984"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no recorte da versão (descritivas, distribuições, correlações)</a:t>
            </a:r>
            <a:endParaRPr lang="en-US" sz="1050" dirty="0"/>
          </a:p>
        </p:txBody>
      </p:sp>
      <p:sp>
        <p:nvSpPr>
          <p:cNvPr id="11" name="Shape 9"/>
          <p:cNvSpPr/>
          <p:nvPr/>
        </p:nvSpPr>
        <p:spPr>
          <a:xfrm>
            <a:off x="8110728" y="1517904"/>
            <a:ext cx="3300984" cy="0"/>
          </a:xfrm>
          <a:prstGeom prst="line">
            <a:avLst/>
          </a:prstGeom>
          <a:noFill/>
          <a:ln w="12700">
            <a:solidFill>
              <a:srgbClr val="8C2F27"/>
            </a:solidFill>
            <a:prstDash val="solid"/>
          </a:ln>
        </p:spPr>
      </p:sp>
      <p:sp>
        <p:nvSpPr>
          <p:cNvPr id="12" name="Text 10"/>
          <p:cNvSpPr/>
          <p:nvPr/>
        </p:nvSpPr>
        <p:spPr>
          <a:xfrm>
            <a:off x="8110728" y="1591056"/>
            <a:ext cx="3300984"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73.407</a:t>
            </a:r>
            <a:endParaRPr lang="en-US" sz="3000" dirty="0"/>
          </a:p>
        </p:txBody>
      </p:sp>
      <p:sp>
        <p:nvSpPr>
          <p:cNvPr id="13" name="Text 11"/>
          <p:cNvSpPr/>
          <p:nvPr/>
        </p:nvSpPr>
        <p:spPr>
          <a:xfrm>
            <a:off x="8110728"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amostra do índice (fatorial e blocos 9 a 13)</a:t>
            </a:r>
            <a:endParaRPr lang="en-US" sz="1050" dirty="0"/>
          </a:p>
        </p:txBody>
      </p:sp>
      <p:sp>
        <p:nvSpPr>
          <p:cNvPr id="14" name="Text 12"/>
          <p:cNvSpPr/>
          <p:nvPr/>
        </p:nvSpPr>
        <p:spPr>
          <a:xfrm>
            <a:off x="777240" y="3026664"/>
            <a:ext cx="10634472" cy="219456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Por que dois números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sz="1250" dirty="0"/>
          </a:p>
        </p:txBody>
      </p:sp>
      <p:sp>
        <p:nvSpPr>
          <p:cNvPr id="15" name="Text 1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T01 · tabelas/T01_funil.csv</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Sumário: os blocos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640080"/>
                <a:gridCol w="2377440"/>
                <a:gridCol w="4937760"/>
                <a:gridCol w="2651760"/>
              </a:tblGrid>
              <a:tr h="274320">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Bloco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Título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Pergunta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Itens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Quantos setores entram nesta versão, quantos saem e por quê?</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T01, F01, 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Descritivas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Qual é o valor típico de cada indicador, e quanto ele varia?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T03, T04, 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Distribuições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forma tem cada indicador, e ela muda de uma região para outra?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F02, F03, F04, F05, F06, F07, F08, F09, F10, F11, F12, F13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Faltantes e sigilo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Onde faltam dados, e a falta é aleatória?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T06, F14, T07, F15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Extremos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setores têm valores fora do comum, e por qual critério?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T08, T09, T10, T11, F16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Correlações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Que indicadores andam juntos?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T12, T13, T14, F17, F31, F32, F33, F34, F35, F18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Favelas e comunidades urbanas (FCU)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Cada indicador, sozinho, separa os setores de favela dos demais?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T15, F19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Como a população idosa se distribui, e com que indicadores ela se relaciona?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T16, F20, T17, T18, F21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 índice da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Como fica o índice, e ele separa os setores de favela?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T23, T24, T25, T26, T27, F24, F25, T34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Comparação com a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 que esta versão muda em relação à referência proposta do NB05?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T31, T32, T33, F28, F29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Recorte</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Quantos setores entram nesta versão, quantos saem e por quê?</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T01 · F01 · T02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73.407 setores chegam ao índice, de 109.032 na base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06640" cy="914400"/>
        </p:xfrm>
        <a:graphic>
          <a:graphicData uri="http://schemas.openxmlformats.org/drawingml/2006/table">
            <a:tbl>
              <a:tblPr/>
              <a:tblGrid>
                <a:gridCol w="2377440"/>
                <a:gridCol w="914400"/>
                <a:gridCol w="822960"/>
                <a:gridCol w="3291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Etapa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Saem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Motivo da saída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Base completa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Setores urbanos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106.347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 rural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Dados_sig = OK</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setor sem dados divulgados (sigilo ou sem domicílio ocupado)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Pelo menos 50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abaixo do piso de população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Componentes do índice completos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29.873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faltante em algum componente do índice (exclusão por lista)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linha é um filtro, na ordem em que é aplicado: quantos setores ficam, quantos saem e por quê.</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base tem 109.032 setores; 103.280 ficam no recorte da versão e 73.407 têm todos os componentes do índice (29.873 saem nesta última etapa).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T01 · tabelas/T01_funil.csv  ·  Bloco 1. Recorte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Do recorte ao índice, 29.873 setores saem por falta de algum componente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1_funil.png">    </p:cNvPr>
          <p:cNvPicPr>
            <a:picLocks noChangeAspect="1"/>
          </p:cNvPicPr>
          <p:nvPr/>
        </p:nvPicPr>
        <p:blipFill>
          <a:blip r:embed="rId1"/>
          <a:stretch>
            <a:fillRect/>
          </a:stretch>
        </p:blipFill>
        <p:spPr>
          <a:xfrm>
            <a:off x="777240" y="1243584"/>
            <a:ext cx="7452360" cy="3016682"/>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barra é uma etapa do funil; o comprimento é o número de setores que ainda estão dentro.</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barra final (73.407 setores) é a amostra do índice; a do recorte tem 103.280.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F01 · figuras/F01_funil.png  ·  Bloco 1. Recorte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Analfabetismo 15+ é o indicador com mais faltantes (15,7% dos setores)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377440"/>
                <a:gridCol w="1371600"/>
                <a:gridCol w="109728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93.633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87.444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99.488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93.616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14.241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87.057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com valor, setores sem valor e a porcentagem sem valor dentro do recorte.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faltantes é o de Analfabetismo 15+ (15,7%); o menor, o de Água inadequada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T02 · tabelas/T02_perdas_por_indicador.csv  ·  Bloco 1. Recorte  ·  parte 1 de 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Analfabetismo 15+ é o indicador com mais faltantes (15,7% dos setores)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377440"/>
                <a:gridCol w="1371600"/>
                <a:gridCol w="109728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94.225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98.846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90.507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101.838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101.647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com valor, setores sem valor e a porcentagem sem valor dentro do recorte.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faltantes é o de Analfabetismo 15+ (15,7%); o menor, o de Água inadequada (0,0%).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T02 · tabelas/T02_perdas_por_indicador.csv  ·  Bloco 1. Recorte  ·  parte 2 de 2</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Descritivas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Qual é o valor típico de cada indicador, e quanto ele varia?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T03 · T04 · T05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Sem banheiro nem sanitário é o indicador mais assimétrico (assimetria 59,74)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30404"/>
                <a:gridCol w="740878"/>
                <a:gridCol w="740878"/>
                <a:gridCol w="740878"/>
                <a:gridCol w="697297"/>
                <a:gridCol w="740878"/>
                <a:gridCol w="740878"/>
                <a:gridCol w="566554"/>
                <a:gridCol w="653716"/>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Assim.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93.633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87.444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99.488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93.616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2,6910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3,1389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87.057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4.194,92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4.153,01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9.507,33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0,5720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n: setores com valor; DP: desvio-padrão; P10…P90: percentis; CV: coeficiente de variação; % zeros: setores com valor exatamente zero.</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assimetria é a de Sem banheiro nem sanitário (59,74); o maior percentual de zeros é o de Sem banheiro nem sanitário (99,6%).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T03 · tabelas/T03_descritivas_global.csv  ·  Bloco 2. Descritivas  ·  parte 1 de 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Sem banheiro nem sanitário é o indicador mais assimétrico (assimetria 59,74)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30404"/>
                <a:gridCol w="740878"/>
                <a:gridCol w="740878"/>
                <a:gridCol w="740878"/>
                <a:gridCol w="697297"/>
                <a:gridCol w="740878"/>
                <a:gridCol w="740878"/>
                <a:gridCol w="566554"/>
                <a:gridCol w="653716"/>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Assim.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4.193,31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4.120,69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9.507,18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4.120,67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9.507,14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94.225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98.846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0,6936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90.507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101.838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134,7690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141,6270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30,9992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96,3636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275,0000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28,0666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25,1656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49,5327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101.647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42,6345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28,9474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55,8824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n: setores com valor; DP: desvio-padrão; P10…P90: percentis; CV: coeficiente de variação; % zeros: setores com valor exatamente zero.</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assimetria é a de Sem banheiro nem sanitário (59,74); o maior percentual de zeros é o de Sem banheiro nem sanitário (99,6%).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T03 · tabelas/T03_descritivas_global.csv  ·  Bloco 2. Descritivas  ·  parte 2 de 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média: a mediana vai de 1.720,05 (Nordeste) a 3.738,28 (Sul)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 mediana por região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Centro-Oeste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3,1937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2,7839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2.734,83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3.738,28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3.128,35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região e indicador, com as mesmas colunas da tabela global.</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mediana mais alta está no Sul (3.738,28) e a mais baixa no Nordeste (1.720,05).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T04 · tabelas/T04_descritivas_regiao.csv  ·  Bloco 2. Descritivas  ·  parte 1 de 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média: a mediana vai de 1.720,05 (Nordeste) a 3.738,28 (Sul)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19456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 mediana por região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Centro-Oeste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3.738,28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3.128,35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2.734,83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3.738,28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3.128,35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53,6000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77,7778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111,1111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123,1732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75,2475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16,5817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21,5000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28,0952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29,9611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20,4365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41,8367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43,7500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43,9560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40,9091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2510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região e indicador, com as mesmas colunas da tabela global.</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mediana mais alta está no Sul (3.738,28) e a mais baixa no Nordeste (1.720,05).</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T04 · tabelas/T04_descritivas_regiao.csv  ·  Bloco 2. Descritivas  ·  parte 2 de 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entre os municípios, a mediana vai de 1.062,36 a 5.296,04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83680" cy="914400"/>
        </p:xfrm>
        <a:graphic>
          <a:graphicData uri="http://schemas.openxmlformats.org/drawingml/2006/table">
            <a:tbl>
              <a:tblPr/>
              <a:tblGrid>
                <a:gridCol w="2743200"/>
                <a:gridCol w="82296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Caetano do 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3.079,00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5.296,04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11.119,20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Curitiba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4.132,30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9.510,92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1.645,27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10.023,53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1.857,01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3.519,06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13.294,01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Pato Branco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2.059,50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3.518,30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6.405,98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Bernardo do Campo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1.675,50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3.407,59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7.711,13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3.392,19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9.828,44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2.047,45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3.301,76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5.551,90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1.866,79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3.116,55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26.309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1.653,95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3.114,99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12.315,88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indicador (tabela longa). No deck, um recorte; a tabela completa está no CSV.</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maior mediana municipal é a de São Caetano do Sul (5.296,04); a menor, a de Jaqueira (1.062,36).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T05 · tabelas/T05_descritivas_municipio.csv  ·  Bloco 2. Descritivas  ·  parte 1 de 2</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entre os municípios, a mediana vai de 1.062,36 a 5.296,04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83680" cy="914400"/>
        </p:xfrm>
        <a:graphic>
          <a:graphicData uri="http://schemas.openxmlformats.org/drawingml/2006/table">
            <a:tbl>
              <a:tblPr/>
              <a:tblGrid>
                <a:gridCol w="2743200"/>
                <a:gridCol w="82296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1.213,20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2.490,49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953,47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1.455,73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2.527,15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Itapetinga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1.445,73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2.837,46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1.414,45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1.256,60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1.397,51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Itajuípe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1.084,70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1.339,82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2.301,00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1.029,15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1.334,01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1.595,92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Rosário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927,87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1.271,66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Preta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959,71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1.661,44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Jaqueira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995,50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1.062,36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40191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indicador (tabela longa). No deck, um recorte; a tabela completa está no CSV.</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Renda média, a maior mediana municipal é a de São Caetano do Sul (5.296,04); a menor, a de Jaqueira (1.062,36).</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T05 · tabelas/T05_descritivas_municipio.csv  ·  Bloco 2. Descritivas  ·  parte 2 de 2</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Distribuições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forma tem cada indicador, e ela muda de uma região para outra?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F02 · F03 · F04 · F05 · F06 · F07 · F08 · F09 · F10 · F11 · F12 · F13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Sem banheiro nem sanitário tem a distribuição mais assimétrica (assimetria 59,74)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2_histogramas_saneamento.png">    </p:cNvPr>
          <p:cNvPicPr>
            <a:picLocks noChangeAspect="1"/>
          </p:cNvPicPr>
          <p:nvPr/>
        </p:nvPicPr>
        <p:blipFill>
          <a:blip r:embed="rId1"/>
          <a:stretch>
            <a:fillRect/>
          </a:stretch>
        </p:blipFill>
        <p:spPr>
          <a:xfrm>
            <a:off x="777240" y="1243584"/>
            <a:ext cx="7452360" cy="415582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Saneamento, a maior assimetria é a de Sem banheiro nem sanitário (59,74).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F02 · figuras/F02_histogramas_saneamento.png  ·  Bloco 3. Distribuições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Água inadequada tem mediana de 0,1745 no Norte e 0,0000 no Centro-Oeste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3_boxplots_regiao_saneamento.png">    </p:cNvPr>
          <p:cNvPicPr>
            <a:picLocks noChangeAspect="1"/>
          </p:cNvPicPr>
          <p:nvPr/>
        </p:nvPicPr>
        <p:blipFill>
          <a:blip r:embed="rId1"/>
          <a:stretch>
            <a:fillRect/>
          </a:stretch>
        </p:blipFill>
        <p:spPr>
          <a:xfrm>
            <a:off x="777240" y="1243584"/>
            <a:ext cx="7452360" cy="4160184"/>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(Água inadequada), a mediana regional vai de 0,0000 (Centro-Oeste) a 0,1745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F03 · figuras/F03_boxplots_regiao_saneamento.png  ·  Bloco 3. Distribuições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Saneamento: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4_densidades_regiao_saneamento.png">    </p:cNvPr>
          <p:cNvPicPr>
            <a:picLocks noChangeAspect="1"/>
          </p:cNvPicPr>
          <p:nvPr/>
        </p:nvPicPr>
        <p:blipFill>
          <a:blip r:embed="rId1"/>
          <a:stretch>
            <a:fillRect/>
          </a:stretch>
        </p:blipFill>
        <p:spPr>
          <a:xfrm>
            <a:off x="777240" y="1243584"/>
            <a:ext cx="7452360" cy="4162368"/>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Água inadequada, a mediana regional vai de 0,0000 (Centro-Oeste) a 0,1745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F04 · figuras/F04_densidades_regiao_saneamento.png  ·  Bloco 3. Distribuições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Renda média tem a distribuição mais assimétrica (assimetria 3,73)</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5_histogramas_socioeconomica.png">    </p:cNvPr>
          <p:cNvPicPr>
            <a:picLocks noChangeAspect="1"/>
          </p:cNvPicPr>
          <p:nvPr/>
        </p:nvPicPr>
        <p:blipFill>
          <a:blip r:embed="rId1"/>
          <a:stretch>
            <a:fillRect/>
          </a:stretch>
        </p:blipFill>
        <p:spPr>
          <a:xfrm>
            <a:off x="777240" y="1243584"/>
            <a:ext cx="7452360" cy="2747252"/>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Socioeconômica, a maior assimetria é a de Renda média (3,73).</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F05 · figuras/F05_histogramas_socioeconomica.png  ·  Bloco 3. Distribuições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Razão de moradores tem mediana de 3,1937 no Norte e 2,6000 no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6_boxplots_regiao_socioeconomic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(Razão de moradores), a mediana regional vai de 2,6000 (Sul) a 3,1937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F06 · figuras/F06_boxplots_regiao_socioeconomica.png  ·  Bloco 3. Distribuições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Socioeconômica: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7_densidades_regiao_socioeconomic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Razão de moradores, a mediana regional vai de 2,6000 (Sul) a 3,1937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F07 · figuras/F07_densidades_regiao_socioeconomica.png  ·  Bloco 3. Distribuições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Domicílio improvisado tem a distribuição mais assimétrica (assimetria 38,25)</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8_histogramas_morfologia.png">    </p:cNvPr>
          <p:cNvPicPr>
            <a:picLocks noChangeAspect="1"/>
          </p:cNvPicPr>
          <p:nvPr/>
        </p:nvPicPr>
        <p:blipFill>
          <a:blip r:embed="rId1"/>
          <a:stretch>
            <a:fillRect/>
          </a:stretch>
        </p:blipFill>
        <p:spPr>
          <a:xfrm>
            <a:off x="777240" y="1243584"/>
            <a:ext cx="7452360" cy="2747252"/>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Morfologia, a maior assimetria é a de Domicílio improvisado (38,25).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F08 · figuras/F08_histogramas_morfologia.png  ·  Bloco 3. Distribuições</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Domicílio improvisado tem mediana de 0,0000 no Centro-Oeste e 0,0000 no Centro-Oeste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09_boxplots_regiao_morfologia.png">    </p:cNvPr>
          <p:cNvPicPr>
            <a:picLocks noChangeAspect="1"/>
          </p:cNvPicPr>
          <p:nvPr/>
        </p:nvPicPr>
        <p:blipFill>
          <a:blip r:embed="rId1"/>
          <a:stretch>
            <a:fillRect/>
          </a:stretch>
        </p:blipFill>
        <p:spPr>
          <a:xfrm>
            <a:off x="777240" y="1243584"/>
            <a:ext cx="7452360" cy="274869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(Domicílio improvisado), a mediana regional vai de 0,0000 (Centro-Oeste) a 0,0000 (Centro-Oeste).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F09 · figuras/F09_boxplots_regiao_morfologia.png  ·  Bloco 3. Distribuições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Morfologia: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0_densidades_regiao_morfologia.png">    </p:cNvPr>
          <p:cNvPicPr>
            <a:picLocks noChangeAspect="1"/>
          </p:cNvPicPr>
          <p:nvPr/>
        </p:nvPicPr>
        <p:blipFill>
          <a:blip r:embed="rId1"/>
          <a:stretch>
            <a:fillRect/>
          </a:stretch>
        </p:blipFill>
        <p:spPr>
          <a:xfrm>
            <a:off x="777240" y="1243584"/>
            <a:ext cx="7452360" cy="275013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Domicílio improvisado, a mediana regional vai de 0,0000 (Centro-Oeste) a 0,0000 (Centro-Oeste).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F10 · figuras/F10_densidades_regiao_morfologia.png  ·  Bloco 3. Distribuições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Índice de envelhecimento tem a distribuição mais assimétrica (assimetria 5,75)</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1_histogramas_demografia.png">    </p:cNvPr>
          <p:cNvPicPr>
            <a:picLocks noChangeAspect="1"/>
          </p:cNvPicPr>
          <p:nvPr/>
        </p:nvPicPr>
        <p:blipFill>
          <a:blip r:embed="rId1"/>
          <a:stretch>
            <a:fillRect/>
          </a:stretch>
        </p:blipFill>
        <p:spPr>
          <a:xfrm>
            <a:off x="777240" y="1243584"/>
            <a:ext cx="7452360" cy="2751160"/>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Demografia, a maior assimetria é a de Índice de envelhecimento (5,75).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F11 · figuras/F11_histogramas_demografia.png  ·  Bloco 3. Distribuições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Crianças 0–4 tem mediana de 0,0632 no Norte e 0,0465 no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2_boxplots_regiao_demografia.png">    </p:cNvPr>
          <p:cNvPicPr>
            <a:picLocks noChangeAspect="1"/>
          </p:cNvPicPr>
          <p:nvPr/>
        </p:nvPicPr>
        <p:blipFill>
          <a:blip r:embed="rId1"/>
          <a:stretch>
            <a:fillRect/>
          </a:stretch>
        </p:blipFill>
        <p:spPr>
          <a:xfrm>
            <a:off x="777240" y="1243584"/>
            <a:ext cx="7452360" cy="2754048"/>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(Crianças 0–4), a mediana regional vai de 0,0465 (Sul) a 0,0632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F12 · figuras/F12_boxplots_regiao_demografia.png  ·  Bloco 3. Distribuições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Demografia: as regiões têm formas diferentes de distribuição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3_densidades_regiao_demografia.png">    </p:cNvPr>
          <p:cNvPicPr>
            <a:picLocks noChangeAspect="1"/>
          </p:cNvPicPr>
          <p:nvPr/>
        </p:nvPicPr>
        <p:blipFill>
          <a:blip r:embed="rId1"/>
          <a:stretch>
            <a:fillRect/>
          </a:stretch>
        </p:blipFill>
        <p:spPr>
          <a:xfrm>
            <a:off x="777240" y="1243584"/>
            <a:ext cx="7452360" cy="2754048"/>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curva por região em cada painel: a altura indica onde os setores daquela região se concentram. As áreas sob as curvas são iguais, para que regiões grandes e pequenas sejam comparáveis.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Crianças 0–4, a mediana regional vai de 0,0465 (Sul) a 0,0632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F13 · figuras/F13_densidades_regiao_demografia.png  ·  Bloco 3. Distribuições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4</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Faltantes e sigilo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Onde faltam dados, e a falta é aleatória?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T06 · F14 · T07 · F15</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maior percentual de faltantes é o de Banheiro graduado em Placas (66,7%)</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69480" cy="914400"/>
        </p:xfrm>
        <a:graphic>
          <a:graphicData uri="http://schemas.openxmlformats.org/drawingml/2006/table">
            <a:tbl>
              <a:tblPr/>
              <a:tblGrid>
                <a:gridCol w="2011680"/>
                <a:gridCol w="1051560"/>
                <a:gridCol w="1051560"/>
                <a:gridCol w="1051560"/>
                <a:gridCol w="1051560"/>
                <a:gridCol w="10515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 sem 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Só sanitário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Domicílio improvisado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de uso comum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Rosário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Itajuípe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Autazes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Jaqueira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Marechal Deodoro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de Ribamar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Preta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Camaragibe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Teresina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64464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uma coluna por indicador; cada célula é o percentual de setores do município sem aquele indicador.</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célula mais alta é Banheiro graduado em Placas, com 66,7% dos setores sem valor.</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T06 · tabelas/T06_faltantes_por_municipio.csv  ·  Bloco 4. Faltantes e sigilo</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faltantes se concentram em poucos indicadores e municípios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4_mapa_faltantes.png">    </p:cNvPr>
          <p:cNvPicPr>
            <a:picLocks noChangeAspect="1"/>
          </p:cNvPicPr>
          <p:nvPr/>
        </p:nvPicPr>
        <p:blipFill>
          <a:blip r:embed="rId1"/>
          <a:stretch>
            <a:fillRect/>
          </a:stretch>
        </p:blipFill>
        <p:spPr>
          <a:xfrm>
            <a:off x="2299870" y="1243584"/>
            <a:ext cx="4407101"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Mapa de calor: linhas são municípios, colunas são indicadores; quanto mais escura a célula, maior o percentual de setores sem valor.</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ponto mais escuro é Banheiro graduado em Placas (66,7%).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F14 · figuras/F14_mapa_faltantes.png  ·  Bloco 4. Faltantes e sigilo</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analfabetismo falta em 28,4% dos menores setores e em 3,8% dos maiores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217920" cy="914400"/>
        </p:xfrm>
        <a:graphic>
          <a:graphicData uri="http://schemas.openxmlformats.org/drawingml/2006/table">
            <a:tbl>
              <a:tblPr/>
              <a:tblGrid>
                <a:gridCol w="731520"/>
                <a:gridCol w="1097280"/>
                <a:gridCol w="1097280"/>
                <a:gridCol w="1097280"/>
                <a:gridCol w="12801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Décimo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Moradores (mín.)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Moradores (máx.)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renda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analfabetismo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em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setores são divididos em dez grupos iguais pelo número de moradores (1 = os menores). Para cada grupo, o percentual de setores sem renda e sem analfabetismo, e o percentual em FCU.</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Sem renda: 0,0% no primeiro décimo e 0,0% no último. Sem analfabetismo: 28,4% e 3,8%.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T07 · tabelas/T07_sigilo_por_porte_do_setor.csv  ·  Bloco 4. Faltantes e sigilo</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falta de dados depende do tamanho do setor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5_sigilo_por_porte_do_setor.png">    </p:cNvPr>
          <p:cNvPicPr>
            <a:picLocks noChangeAspect="1"/>
          </p:cNvPicPr>
          <p:nvPr/>
        </p:nvPicPr>
        <p:blipFill>
          <a:blip r:embed="rId1"/>
          <a:stretch>
            <a:fillRect/>
          </a:stretch>
        </p:blipFill>
        <p:spPr>
          <a:xfrm>
            <a:off x="777240" y="1243584"/>
            <a:ext cx="7452360" cy="4013930"/>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Eixo horizontal: décimo de moradores do setor (1 = menores). Eixo vertical: percentual de setores sem o indicador.</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Renda: de 0,0% a 0,0%; analfabetismo: de 28,4% a 3,8%, do menor ao maior décimo.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F15 · figuras/F15_sigilo_por_porte_do_setor.png  ·  Bloco 4. Faltantes e sigilo</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5</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Extremos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setores têm valores fora do comum, e por qual critério?</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T08 · T09 · T10 · T11 · F16</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(6,7%)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(6,7%),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1 de 3</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(6,7%)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4,2627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Tukey k=3 no município + coerência do perfil do setor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14.135,10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14.134,96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(6,7%),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2 de 3</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Moradia convencional tem a maior proporção de extremos (6,7%)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1737360"/>
                <a:gridCol w="2377440"/>
                <a:gridCol w="914400"/>
                <a:gridCol w="777240"/>
                <a:gridCol w="822960"/>
                <a:gridCol w="7315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Critério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Limite sup.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extremos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inflação de zeros: Tukey k=3 só entre os valores acima de zero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516,5763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97,7970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Tukey k=3 (intervalo interquartil)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93,2692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o critério usado, os limites, quantos setores passam deles e o percentual de zeros.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percentual de extremos é o de Moradia convencional (6,7%), pelo critério “Tukey k=3 (intervalo interquartil)”.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T08 · tabelas/T08_extremos_por_indicador.csv  ·  Bloco 5. Extremos  ·  parte 3 de 3</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São Paulo concentra o maior número de marcações de extremo (7.567)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223760" cy="914400"/>
        </p:xfrm>
        <a:graphic>
          <a:graphicData uri="http://schemas.openxmlformats.org/drawingml/2006/table">
            <a:tbl>
              <a:tblPr/>
              <a:tblGrid>
                <a:gridCol w="2011680"/>
                <a:gridCol w="822960"/>
                <a:gridCol w="1097280"/>
                <a:gridCol w="1097280"/>
                <a:gridCol w="1097280"/>
                <a:gridCol w="109728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Total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sem o extremo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(mediana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Moradia convencional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Duque de Caxias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Maceió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Nova Iguaçu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64464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 uma coluna por indicador, com o número de setores marcados; a coluna total soma todas as marcações.</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município com mais marcações é São Paulo, com 7.567 no total.</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T09 · tabelas/T09_extremos_por_municipio.csv  ·  Bloco 5. Extremos</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828800"/>
                <a:gridCol w="1645920"/>
                <a:gridCol w="15544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130260305100279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Duque de Caxias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330170220000079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130260305100279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261160605230797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0,9627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150140260000260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Campo Grande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500270405110448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261160605230797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150140260000260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330455705080087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6,9135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292740805180776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310620005650366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170.418,06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292740805220226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355030832000202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140.172,64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Até dez setores por indicador, os mais distantes da mediana entre os marcados como extremo: código do setor, município, valor e mediana global.</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da lista de Renda média está um setor de Belo Horizonte, com valor 170.418,06.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T10 · tabelas/T10_extremos_lista.csv  ·  Bloco 5. Extremos  ·  parte 1 de 2</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828800"/>
                <a:gridCol w="1645920"/>
                <a:gridCol w="1554480"/>
                <a:gridCol w="91440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355030832000202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140.172,64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330455705300460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310620060660397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130260305110210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350950235000156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530010805060487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530010805140094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230440005140173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4.750,0000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96,3636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530010805140094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25,1656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130260305080037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451192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Até dez setores por indicador, os mais distantes da mediana entre os marcados como extremo: código do setor, município, valor e mediana global.</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da lista de Renda média está um setor de Belo Horizonte, com valor 170.418,06.</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T10 · tabelas/T10_extremos_lista.csv  ·  Bloco 5. Extremos  ·  parte 2 de 2</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63 setores têm renda suspeita e 3.261 têm renda extrema coerente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4023360" cy="914400"/>
        </p:xfrm>
        <a:graphic>
          <a:graphicData uri="http://schemas.openxmlformats.org/drawingml/2006/table">
            <a:tbl>
              <a:tblPr/>
              <a:tblGrid>
                <a:gridCol w="1828800"/>
                <a:gridCol w="118872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Classe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NORMAL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99.948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SUSPEITO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setor com renda recebe uma classe: NORMAL, EXTREMO (acima do limite do município, mas coerente com o perfil) ou SUSPEITO (acima do limite e incoerente).</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São 63 setores SUSPEITO (0,06%) e 3.261 EXTREMO.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T11 · tabelas/T11_renda_classes.csv  ·  Bloco 5. Extremos</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proporção de extremos varia muito de um indicador para outro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6_extremos_por_indicador.png">    </p:cNvPr>
          <p:cNvPicPr>
            <a:picLocks noChangeAspect="1"/>
          </p:cNvPicPr>
          <p:nvPr/>
        </p:nvPicPr>
        <p:blipFill>
          <a:blip r:embed="rId1"/>
          <a:stretch>
            <a:fillRect/>
          </a:stretch>
        </p:blipFill>
        <p:spPr>
          <a:xfrm>
            <a:off x="2083854" y="1243584"/>
            <a:ext cx="4839132"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indicador, com o percentual de setores marcados; a cor indica o critério (petróleo: Tukey; cinza: inflação de zeros; argila: renda).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barra mais longa é a de Moradia convencional (6,7%).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F16 · figuras/F16_extremos_por_indicador.png  ·  Bloco 5. Extremos</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6</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Correlações</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Que indicadores andam juntos?</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T12 · T13 · T14 · F17 · F31 · F32 · F33 · F34 · F35 · F18</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Renda média e Renda sem o extremo formam o par mais correlacionado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87184" cy="914400"/>
        </p:xfrm>
        <a:graphic>
          <a:graphicData uri="http://schemas.openxmlformats.org/drawingml/2006/table">
            <a:tbl>
              <a:tblPr/>
              <a:tblGrid>
                <a:gridCol w="1554480"/>
                <a:gridCol w="804672"/>
                <a:gridCol w="804672"/>
                <a:gridCol w="804672"/>
                <a:gridCol w="804672"/>
                <a:gridCol w="804672"/>
                <a:gridCol w="804672"/>
                <a:gridCol w="804672"/>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Componentes do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342722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Spearman: cada célula é a correlação entre o indicador da linha e o da coluna, de −1 a 1.</a:t>
            </a:r>
            <a:endParaRPr lang="en-US" sz="1250" dirty="0"/>
          </a:p>
        </p:txBody>
      </p:sp>
      <p:sp>
        <p:nvSpPr>
          <p:cNvPr id="8" name="Shape 5"/>
          <p:cNvSpPr/>
          <p:nvPr/>
        </p:nvSpPr>
        <p:spPr>
          <a:xfrm>
            <a:off x="8549640" y="2575560"/>
            <a:ext cx="822960" cy="0"/>
          </a:xfrm>
          <a:prstGeom prst="line">
            <a:avLst/>
          </a:prstGeom>
          <a:noFill/>
          <a:ln w="15875">
            <a:solidFill>
              <a:srgbClr val="8C2F27"/>
            </a:solidFill>
            <a:prstDash val="solid"/>
          </a:ln>
        </p:spPr>
      </p:sp>
      <p:sp>
        <p:nvSpPr>
          <p:cNvPr id="9" name="Text 6"/>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correlação em módulo é entre Renda média e Renda sem o extremo (ρ = 1,0000).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T12 · tabelas/T12_correlacao_spearman.csv  ·  Bloco 6. Correlações</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46</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Na correlação linear, o par mais forte é Renda média × Renda sem o extremo (r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87184" cy="914400"/>
        </p:xfrm>
        <a:graphic>
          <a:graphicData uri="http://schemas.openxmlformats.org/drawingml/2006/table">
            <a:tbl>
              <a:tblPr/>
              <a:tblGrid>
                <a:gridCol w="1554480"/>
                <a:gridCol w="804672"/>
                <a:gridCol w="804672"/>
                <a:gridCol w="804672"/>
                <a:gridCol w="804672"/>
                <a:gridCol w="804672"/>
                <a:gridCol w="804672"/>
                <a:gridCol w="804672"/>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Componentes do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3427222"/>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Pearson, com a mesma leitura da de Spearman.</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correlação de Pearson em módulo é entre Renda média e Renda sem o extremo (r = 1,0000).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T13 · tabelas/T13_correlacao_pearson.csv  ·  Bloco 6. Correlações</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par mais redundante é Renda média × Renda sem o extremo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377440"/>
                <a:gridCol w="237744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Pearson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0,9634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0,9649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pares de indicadores com correlação de pelo menos 0,80 em módulo, por Spearman ou por Pearson, do mais forte para o mais fraco.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Renda média × Renda sem o extremo, com Spearman 1,0000 e Pearson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T14 · tabelas/T14_pares_acima_de_080.csv  ·  Bloco 6. Correlações  ·  parte 1 de 2</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par mais redundante é Renda média × Renda sem o extremo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377440"/>
                <a:gridCol w="237744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Pearson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-0,6386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pares de indicadores com correlação de pelo menos 0,80 em módulo, por Spearman ou por Pearson, do mais forte para o mais fraco.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Renda média × Renda sem o extremo, com Spearman 1,0000 e Pearson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T14 · tabelas/T14_pares_acima_de_080.csv  ·  Bloco 6. Correlações  ·  parte 2 de 2</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formam grupos de correlação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7_mapa_spearman.png">    </p:cNvPr>
          <p:cNvPicPr>
            <a:picLocks noChangeAspect="1"/>
          </p:cNvPicPr>
          <p:nvPr/>
        </p:nvPicPr>
        <p:blipFill>
          <a:blip r:embed="rId1"/>
          <a:stretch>
            <a:fillRect/>
          </a:stretch>
        </p:blipFill>
        <p:spPr>
          <a:xfrm>
            <a:off x="1851045" y="1243584"/>
            <a:ext cx="5304750" cy="4791456"/>
          </a:xfrm>
          <a:prstGeom prst="rect">
            <a:avLst/>
          </a:prstGeom>
        </p:spPr>
      </p:pic>
      <p:sp>
        <p:nvSpPr>
          <p:cNvPr id="6" name="Text 3"/>
          <p:cNvSpPr/>
          <p:nvPr/>
        </p:nvSpPr>
        <p:spPr>
          <a:xfrm>
            <a:off x="8549640" y="1289304"/>
            <a:ext cx="2862072" cy="25336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a:t>
            </a:r>
            <a:endParaRPr lang="en-US" sz="1250" dirty="0"/>
          </a:p>
        </p:txBody>
      </p:sp>
      <p:sp>
        <p:nvSpPr>
          <p:cNvPr id="7" name="Shape 4"/>
          <p:cNvSpPr/>
          <p:nvPr/>
        </p:nvSpPr>
        <p:spPr>
          <a:xfrm>
            <a:off x="8549640" y="4042410"/>
            <a:ext cx="822960" cy="0"/>
          </a:xfrm>
          <a:prstGeom prst="line">
            <a:avLst/>
          </a:prstGeom>
          <a:noFill/>
          <a:ln w="15875">
            <a:solidFill>
              <a:srgbClr val="8C2F27"/>
            </a:solidFill>
            <a:prstDash val="solid"/>
          </a:ln>
        </p:spPr>
      </p:sp>
      <p:sp>
        <p:nvSpPr>
          <p:cNvPr id="8" name="Text 5"/>
          <p:cNvSpPr/>
          <p:nvPr/>
        </p:nvSpPr>
        <p:spPr>
          <a:xfrm>
            <a:off x="8549640" y="40972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par mais forte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F17 · figuras/F17_mapa_spearman.png  ·  Bloco 6. Correlações</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50</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Entre as variáveis das demandas e os componentes do índice, o par mais forte é Sem água canalizada × Cor/raça PPI (ρ = 0,4216)</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31_mapa_spearman_componentes.png">    </p:cNvPr>
          <p:cNvPicPr>
            <a:picLocks noChangeAspect="1"/>
          </p:cNvPicPr>
          <p:nvPr/>
        </p:nvPicPr>
        <p:blipFill>
          <a:blip r:embed="rId1"/>
          <a:stretch>
            <a:fillRect/>
          </a:stretch>
        </p:blipFill>
        <p:spPr>
          <a:xfrm>
            <a:off x="1708404" y="1243584"/>
            <a:ext cx="5590032" cy="4791456"/>
          </a:xfrm>
          <a:prstGeom prst="rect">
            <a:avLst/>
          </a:prstGeom>
        </p:spPr>
      </p:pic>
      <p:sp>
        <p:nvSpPr>
          <p:cNvPr id="6" name="Text 3"/>
          <p:cNvSpPr/>
          <p:nvPr/>
        </p:nvSpPr>
        <p:spPr>
          <a:xfrm>
            <a:off x="8549640" y="128930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componentes do índice (acima e à esquerda da linha) e as variáveis das demandas de setembro (abaixo e à direita). Cada célula traz o ρ; argila é positiva, petróleo negativa.</a:t>
            </a:r>
            <a:endParaRPr lang="en-US" sz="1250" dirty="0"/>
          </a:p>
        </p:txBody>
      </p:sp>
      <p:sp>
        <p:nvSpPr>
          <p:cNvPr id="7" name="Shape 4"/>
          <p:cNvSpPr/>
          <p:nvPr/>
        </p:nvSpPr>
        <p:spPr>
          <a:xfrm>
            <a:off x="8549640" y="3204210"/>
            <a:ext cx="822960" cy="0"/>
          </a:xfrm>
          <a:prstGeom prst="line">
            <a:avLst/>
          </a:prstGeom>
          <a:noFill/>
          <a:ln w="15875">
            <a:solidFill>
              <a:srgbClr val="8C2F27"/>
            </a:solidFill>
            <a:prstDash val="solid"/>
          </a:ln>
        </p:spPr>
      </p:sp>
      <p:sp>
        <p:nvSpPr>
          <p:cNvPr id="8" name="Text 5"/>
          <p:cNvSpPr/>
          <p:nvPr/>
        </p:nvSpPr>
        <p:spPr>
          <a:xfrm>
            <a:off x="8549640" y="325907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uma variável nova e um componente de outra família, o par mais forte é Sem água canalizada × Cor/raça PPI (ρ = 0,4216). Pares de variantes da mesma coisa (como banheiro graduado e sem banheiro) ficam de fora do destaque.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F31 · figuras/F31_mapa_spearman_componentes.png  ·  Bloco 6. Correlações</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51</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o par mais correlacionado é Sem banheiro × Banheiro graduado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32_mapa_spearman_saneamento.png">    </p:cNvPr>
          <p:cNvPicPr>
            <a:picLocks noChangeAspect="1"/>
          </p:cNvPicPr>
          <p:nvPr/>
        </p:nvPicPr>
        <p:blipFill>
          <a:blip r:embed="rId1"/>
          <a:stretch>
            <a:fillRect/>
          </a:stretch>
        </p:blipFill>
        <p:spPr>
          <a:xfrm>
            <a:off x="1657422" y="1243584"/>
            <a:ext cx="5691995"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Saneamento;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Saneamento, o par mais forte é Sem banheiro × Banheiro graduado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F32 · figuras/F32_mapa_spearman_saneamento.png  ·  Bloco 6. Correlações</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52</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o par mais correlacionado é Renda média × Renda sem o extremo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33_mapa_spearman_socioeconomica.png">    </p:cNvPr>
          <p:cNvPicPr>
            <a:picLocks noChangeAspect="1"/>
          </p:cNvPicPr>
          <p:nvPr/>
        </p:nvPicPr>
        <p:blipFill>
          <a:blip r:embed="rId1"/>
          <a:stretch>
            <a:fillRect/>
          </a:stretch>
        </p:blipFill>
        <p:spPr>
          <a:xfrm>
            <a:off x="1633960" y="1243584"/>
            <a:ext cx="5738919"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Socioeconômica;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Socioeconômica, o par mais forte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F33 · figuras/F33_mapa_spearman_socioeconomica.png  ·  Bloco 6. Correlações</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o par mais correlacionado é Habitação precária × Moradia não convencional (ρ = 0,9649)</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34_mapa_spearman_morfologia.png">    </p:cNvPr>
          <p:cNvPicPr>
            <a:picLocks noChangeAspect="1"/>
          </p:cNvPicPr>
          <p:nvPr/>
        </p:nvPicPr>
        <p:blipFill>
          <a:blip r:embed="rId1"/>
          <a:stretch>
            <a:fillRect/>
          </a:stretch>
        </p:blipFill>
        <p:spPr>
          <a:xfrm>
            <a:off x="1628546" y="1243584"/>
            <a:ext cx="5749747"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Morfologia;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Morfologia, o par mais forte é Habitação precária × Moradia não convencional (ρ = 0,9649).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F34 · figuras/F34_mapa_spearman_morfologia.png  ·  Bloco 6. Correlações</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o par mais correlacionado é Pessoas 60+ × Dependência idosa (ρ = 0,9962)</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35_mapa_spearman_demografia.png">    </p:cNvPr>
          <p:cNvPicPr>
            <a:picLocks noChangeAspect="1"/>
          </p:cNvPicPr>
          <p:nvPr/>
        </p:nvPicPr>
        <p:blipFill>
          <a:blip r:embed="rId1"/>
          <a:stretch>
            <a:fillRect/>
          </a:stretch>
        </p:blipFill>
        <p:spPr>
          <a:xfrm>
            <a:off x="1633397" y="1243584"/>
            <a:ext cx="5740046"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Matriz de Spearman só com os indicadores da dimensão Demografia; cada célula traz o ρ (−1 a 1). Argila é correlação positiva, petróleo negativa.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Na dimensão Demografia, o par mais forte é Pessoas 60+ × Dependência idosa (ρ = 0,9962).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F35 · figuras/F35_mapa_spearman_demografia.png  ·  Bloco 6. Correlações</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dendrograma junta os indicadores que medem coisas parecidas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8_dendrograma.png">    </p:cNvPr>
          <p:cNvPicPr>
            <a:picLocks noChangeAspect="1"/>
          </p:cNvPicPr>
          <p:nvPr/>
        </p:nvPicPr>
        <p:blipFill>
          <a:blip r:embed="rId1"/>
          <a:stretch>
            <a:fillRect/>
          </a:stretch>
        </p:blipFill>
        <p:spPr>
          <a:xfrm>
            <a:off x="2229445" y="1243584"/>
            <a:ext cx="454795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indicador é uma folha à esquerda; as linhas os unem do mais parecido para o menos. Quanto mais à esquerda a união, mais correlacionados os indicadores.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par mais próximo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F18 · figuras/F18_dendrograma.png  ·  Bloco 6. Correlações</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56</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7</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Favelas e comunidades urbanas (FCU)</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Cada indicador, sozinho, separa os setores de favela dos demais?</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T15 · F19</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Cor/raça PPI é o indicador que mais separa as favelas (AUC 0,8468)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011680"/>
                <a:gridCol w="1051560"/>
                <a:gridCol w="1051560"/>
                <a:gridCol w="1005840"/>
                <a:gridCol w="8229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Diferença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18.847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2,6693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0,6975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0,6422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0,5720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de FCU e fora, a mediana em cada grupo, a diferença e a AUC do indicador sozinho.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Cor/raça PPI tem AUC 0,8468 (mediana 0,7427 em FCU e 0,5094 fora); a menor AUC é a de Renda sem o extremo (0,1004).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T15 · tabelas/T15_fcu_por_indicador.csv  ·  Bloco 7. Favelas e comunidades urbanas (FCU)  ·  parte 1 de 2</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Cor/raça PPI é o indicador que mais separa as favelas (AUC 0,8468)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2011680"/>
                <a:gridCol w="1051560"/>
                <a:gridCol w="1051560"/>
                <a:gridCol w="1005840"/>
                <a:gridCol w="82296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Diferença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17.674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16.698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17.964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18.195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0,4668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36,2637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44,3038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-8,0401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15,6627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28,3951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47,9167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114,9425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-67,0259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1.515,31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-1.558,71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1.515,31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-1.558,71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1.515,30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-1.558,73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setores de FCU e fora, a mediana em cada grupo, a diferença e a AUC do indicador sozinho.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Cor/raça PPI tem AUC 0,8468 (mediana 0,7427 em FCU e 0,5094 fora); a menor AUC é a de Renda sem o extremo (0,1004).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T15 · tabelas/T15_fcu_por_indicador.csv  ·  Bloco 7. Favelas e comunidades urbanas (FCU)  ·  parte 2 de 2</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separam as favelas com força muito diferente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19_fcu_por_indicador.png">    </p:cNvPr>
          <p:cNvPicPr>
            <a:picLocks noChangeAspect="1"/>
          </p:cNvPicPr>
          <p:nvPr/>
        </p:nvPicPr>
        <p:blipFill>
          <a:blip r:embed="rId1"/>
          <a:stretch>
            <a:fillRect/>
          </a:stretch>
        </p:blipFill>
        <p:spPr>
          <a:xfrm>
            <a:off x="1614498" y="1243584"/>
            <a:ext cx="5777844"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À esquerda, a AUC de cada indicador (barras a partir de 0,5; argila acima, petróleo abaixo). À direita, as medianas em FCU e fora, para os indicadores em proporção.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é a de Cor/raça PPI (0,8468); a menor, a de Renda sem o extremo (0,1004).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F19 · figuras/F19_fcu_por_indicador.png  ·  Bloco 7. Favelas e comunidades urbanas (FCU)</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60</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8</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Envelhecimento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a população idosa se distribui, e com que indicadores ela se relaciona?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T16 · F20 · T17 · T18 · F21</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faixa de 30–39 anos concentra a maior parte da população (15,9%)</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040880" cy="914400"/>
        </p:xfrm>
        <a:graphic>
          <a:graphicData uri="http://schemas.openxmlformats.org/drawingml/2006/table">
            <a:tbl>
              <a:tblPr/>
              <a:tblGrid>
                <a:gridCol w="1280160"/>
                <a:gridCol w="960120"/>
                <a:gridCol w="960120"/>
                <a:gridCol w="960120"/>
                <a:gridCol w="960120"/>
                <a:gridCol w="960120"/>
                <a:gridCol w="96012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 etária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Total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Nordeste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Sudeste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Sul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Centro-Oeste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faixa etária; as colunas são o total e as regiões, com o percentual da população de cada uma em cada faixa.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de 70 anos ou mais são 7,4% do total, chegando a 8,5% no Sul.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T16 · tabelas/T16_estrutura_etaria.csv  ·  Bloco 8. Envelhecimento</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estrutura etária muda de região para região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20_piramide_etaria.png">    </p:cNvPr>
          <p:cNvPicPr>
            <a:picLocks noChangeAspect="1"/>
          </p:cNvPicPr>
          <p:nvPr/>
        </p:nvPicPr>
        <p:blipFill>
          <a:blip r:embed="rId1"/>
          <a:stretch>
            <a:fillRect/>
          </a:stretch>
        </p:blipFill>
        <p:spPr>
          <a:xfrm>
            <a:off x="777240" y="1243584"/>
            <a:ext cx="7452360" cy="4704523"/>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Barras: percentual da população total em cada faixa etária. Pontos: o mesmo percentual em cada região.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70+: 7,4% no total e 8,5% no Sul.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F20 · figuras/F20_piramide_etaria.png  ·  Bloco 8. Envelhecimento</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mediana de pessoas 60+ por setor vai de 0,1119 (Norte) a 0,1935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280160"/>
                <a:gridCol w="2103120"/>
                <a:gridCol w="822960"/>
                <a:gridCol w="914400"/>
                <a:gridCol w="91440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P25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P75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53,9683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96,3636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169,6203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16,3462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25,1656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36,7089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101.647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35,5769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42,8571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43,6620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75,2475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122,9508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13,0742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20,4365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29,2985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34,0316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40,9091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48,4293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46,6667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77,7778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131,2125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21,5000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30,2969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19.054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35,2941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41,8367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48,3333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quatro indicadores de envelhecimento, para o total e por região: n, média, mediana, quartis e as demais descritivas.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60+: mediana de 0,1935 no Sul e 0,1119 no Norte. Índice de envelhecimento, mediana do total: 96,3636.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T17 · tabelas/T17_envelhecimento_por_regiao.csv  ·  Bloco 8. Envelhecimento  ·  parte 1 de 2</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mediana de pessoas 60+ por setor vai de 0,1119 (Norte) a 0,1935 (Sul)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1280160"/>
                <a:gridCol w="2103120"/>
                <a:gridCol w="822960"/>
                <a:gridCol w="914400"/>
                <a:gridCol w="91440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P25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P75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30,4680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53,6000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92,3077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16,5817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23,9414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32,3529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61.062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62,2474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111,1111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191,3043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18,3251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28,0952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39,8340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60.387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36,2069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43,7500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50,7246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0,2609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68,9616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123,1732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226,3406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19,9391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29,9611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42,2857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37,0370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43,9560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50,7937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quatro indicadores de envelhecimento, para o total e por região: n, média, mediana, quartis e as demais descritivas.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Pessoas 60+: mediana de 0,1935 no Sul e 0,1119 no Norte. Índice de envelhecimento, mediana do total: 96,3636.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T17 · tabelas/T17_envelhecimento_por_regiao.csv  ·  Bloco 8. Envelhecimento  ·  parte 2 de 2</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percentual de pessoas 60+ se relaciona mais com População 0–14 (ρ = -0,7937)</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194560"/>
                <a:gridCol w="1188720"/>
                <a:gridCol w="1188720"/>
                <a:gridCol w="118872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-0,3558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-0,1723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os indicadores de envelhecimento (linhas) e os demais (colunas).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pessoas 60+, a correlação mais forte é com População 0–14 (ρ = -0,7937); com a renda média, ρ = 0,5207.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T18 · tabelas/T18_envelhecimento_correlacoes.csv  ·  Bloco 8. Envelhecimento  ·  parte 1 de 2</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percentual de pessoas 60+ se relaciona mais com População 0–14 (ρ = -0,7937)</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2194560"/>
                <a:gridCol w="1188720"/>
                <a:gridCol w="1188720"/>
                <a:gridCol w="118872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 (ρ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-0,5428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-0,1805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-0,6871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os indicadores de envelhecimento (linhas) e os demais (colunas).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Para pessoas 60+, a correlação mais forte é com População 0–14 (ρ = -0,7937); com a renda média, ρ = 0,5207.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T18 · tabelas/T18_envelhecimento_correlacoes.csv  ·  Bloco 8. Envelhecimento  ·  parte 2 de 2</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Pessoas 60+ e renda média: ρ = 0,5207</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21_dispersao_60mais.png">    </p:cNvPr>
          <p:cNvPicPr>
            <a:picLocks noChangeAspect="1"/>
          </p:cNvPicPr>
          <p:nvPr/>
        </p:nvPicPr>
        <p:blipFill>
          <a:blip r:embed="rId1"/>
          <a:stretch>
            <a:fillRect/>
          </a:stretch>
        </p:blipFill>
        <p:spPr>
          <a:xfrm>
            <a:off x="1262353" y="1243584"/>
            <a:ext cx="6482135" cy="479145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hexágono reúne setores com valores parecidos; quanto mais escuro, mais setores. Eixo horizontal: renda média em escala logarítmica; vertical: proporção de pessoas de 60 anos ou mais.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correlação de Spearman entre as duas é 0,5207.</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F21 · figuras/F21_dispersao_60mais.png  ·  Bloco 8. Envelhecimento</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68</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10</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O índice da versão</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fica o índice, e ele separa os setores de favela?</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T23 · T24 · T25 · T26 · T27 · F24 · F25 · T34</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(invertida) tem o maior peso no índice (19,3%)</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178040" cy="914400"/>
        </p:xfrm>
        <a:graphic>
          <a:graphicData uri="http://schemas.openxmlformats.org/drawingml/2006/table">
            <a:tbl>
              <a:tblPr/>
              <a:tblGrid>
                <a:gridCol w="1828800"/>
                <a:gridCol w="2011680"/>
                <a:gridCol w="868680"/>
                <a:gridCol w="1280160"/>
                <a:gridCol w="118872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Carga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da dimensão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no índice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componente: a dimensão em que ele carrega mais, a carga, o peso da dimensão e o peso final no índice (em %).</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peso é o de Renda (invertida) (19,3%); a dimensão F1 (socioeconômica) pesa 60,0%.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T23 · tabelas/T23_pesos.csv  ·  Bloco 10. O índice da versão</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índice tem mediana 0,3322 e P90 0,4325, em 73.406 setores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537960" cy="914400"/>
        </p:xfrm>
        <a:graphic>
          <a:graphicData uri="http://schemas.openxmlformats.org/drawingml/2006/table">
            <a:tbl>
              <a:tblPr/>
              <a:tblGrid>
                <a:gridCol w="1463040"/>
                <a:gridCol w="914400"/>
                <a:gridCol w="822960"/>
                <a:gridCol w="822960"/>
                <a:gridCol w="822960"/>
                <a:gridCol w="868680"/>
                <a:gridCol w="8229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P10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Centro-Oeste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0,4766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0,3326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0,2763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Descritivas do índice para o total e por região. Como o índice é normalizado dentro de cada município, todo município tem mínimo 0 e máximo 1.</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73.406 setores; mediana 0,3322; percentil 90 0,4325.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T24 · tabelas/T24_indice_descritivas.csv  ·  Bloco 10. O índice da versão</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Pela regra do IVS-BH, 5,4% dos setores ficam em vulnerabilidade muito elevada</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4937760" cy="914400"/>
        </p:xfrm>
        <a:graphic>
          <a:graphicData uri="http://schemas.openxmlformats.org/drawingml/2006/table">
            <a:tbl>
              <a:tblPr/>
              <a:tblGrid>
                <a:gridCol w="1280160"/>
                <a:gridCol w="1645920"/>
                <a:gridCol w="1097280"/>
                <a:gridCol w="9144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Regra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indefinida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30.709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IVS-BH</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indefinida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18.327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18.362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Quartis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Quantos setores ficam em cada faixa, pelas duas regras: a do IVS-BH (média e desvio-padrão do município) e a dos quartis do município.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IVS-BH: 28,9% baixo e 5,4% muito elevado. Quartis: 25,0% muito elevado.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T25 · tabelas/T25_faixas.csv  ·  Bloco 10. O índice da versão</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AUC municipal de 0,8238: o índice separa as favelas — versão elegível</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675120" cy="914400"/>
        </p:xfrm>
        <a:graphic>
          <a:graphicData uri="http://schemas.openxmlformats.org/drawingml/2006/table">
            <a:tbl>
              <a:tblPr/>
              <a:tblGrid>
                <a:gridCol w="3200400"/>
                <a:gridCol w="1097280"/>
                <a:gridCol w="23774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Detalhe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AUC global contra FCU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AUC municipal (mediana)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municípios na AUC municipal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ao menos 30 setores de FCU e fora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peso da dimensão F1 (socioeconômica) (%)</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KMO ≥ 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MSA ≥ 0,50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comunalidade mínima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0,3781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comunalidade ≥ 0,30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maior carga mínima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carga ≥ 0,40 em 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elegível pelos critérios do NB05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AUC global e municipal, peso da dimensão socioeconômica e os critérios de elegibilidade do NB05, um por linha (1 = atende).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AUC global 0,8438; mediana da AUC municipal 0,8238, em 31 municípios. Pelos critérios do NB05, a versão é elegível.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T26 · tabelas/T26_auc_e_elegibilidade.csv  ·  Bloco 10. O índice da versão</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AUC vai de 0,6040 (Duque de Caxias) a 0,9543 (Campinas) entre os municípios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669280" cy="914400"/>
        </p:xfrm>
        <a:graphic>
          <a:graphicData uri="http://schemas.openxmlformats.org/drawingml/2006/table">
            <a:tbl>
              <a:tblPr/>
              <a:tblGrid>
                <a:gridCol w="2560320"/>
                <a:gridCol w="91440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(entra na 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Guarujá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Mauá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Guarulhos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0,9431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Bernardo do Campo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0,9065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Curitiba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Teresina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Ananindeua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dos Pinhais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AUC, setores de FCU (n1) e fora (n0) e se o município entra na mediana.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municípios que entram na mediana, a maior AUC é a de Campinas (0,9543) e a menor, a de Duque de Caxias (0,6040).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T27 · tabelas/T27_auc_por_municipio.csv  ·  Bloco 10. O índice da versão  ·  parte 1 de 2</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AUC vai de 0,6040 (Duque de Caxias) a 0,9543 (Campinas) entre os municípios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669280" cy="914400"/>
        </p:xfrm>
        <a:graphic>
          <a:graphicData uri="http://schemas.openxmlformats.org/drawingml/2006/table">
            <a:tbl>
              <a:tblPr/>
              <a:tblGrid>
                <a:gridCol w="2560320"/>
                <a:gridCol w="914400"/>
                <a:gridCol w="1097280"/>
                <a:gridCol w="10972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 (entra na 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FCU</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fora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Macaé</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Cachoeiro de Itapemirim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Nova Iguaçu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Natal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Camaragibe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Feira de Santana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Maceió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de Ribamar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0,6735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Duque de Caxias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25106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AUC, setores de FCU (n1) e fora (n0) e se o município entra na mediana.</a:t>
            </a:r>
            <a:endParaRPr lang="en-US" sz="1250" dirty="0"/>
          </a:p>
        </p:txBody>
      </p:sp>
      <p:sp>
        <p:nvSpPr>
          <p:cNvPr id="8" name="Shape 5"/>
          <p:cNvSpPr/>
          <p:nvPr/>
        </p:nvSpPr>
        <p:spPr>
          <a:xfrm>
            <a:off x="8549640" y="2366010"/>
            <a:ext cx="822960" cy="0"/>
          </a:xfrm>
          <a:prstGeom prst="line">
            <a:avLst/>
          </a:prstGeom>
          <a:noFill/>
          <a:ln w="15875">
            <a:solidFill>
              <a:srgbClr val="8C2F27"/>
            </a:solidFill>
            <a:prstDash val="solid"/>
          </a:ln>
        </p:spPr>
      </p:sp>
      <p:sp>
        <p:nvSpPr>
          <p:cNvPr id="9" name="Text 6"/>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municípios que entram na mediana, a maior AUC é a de Campinas (0,9543) e a menor, a de Duque de Caxias (0,6040).</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T27 · tabelas/T27_auc_por_municipio.csv  ·  Bloco 10. O índice da versão  ·  parte 2 de 2</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distribuição do índice e as faixas do IVS-BH</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24_histograma_por_faixa.png">    </p:cNvPr>
          <p:cNvPicPr>
            <a:picLocks noChangeAspect="1"/>
          </p:cNvPicPr>
          <p:nvPr/>
        </p:nvPicPr>
        <p:blipFill>
          <a:blip r:embed="rId1"/>
          <a:stretch>
            <a:fillRect/>
          </a:stretch>
        </p:blipFill>
        <p:spPr>
          <a:xfrm>
            <a:off x="777240" y="1243584"/>
            <a:ext cx="7452360" cy="4335919"/>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Histograma do índice, com cada barra dividida pela faixa dos setores (regra do IVS-BH).</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28,9% dos setores ficam em baixo e 5,4% em muito elevado.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F24 · figuras/F24_histograma_por_faixa.png  ·  Bloco 10. O índice da versão</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Curva ROC do índice contra as favelas (AUC global 0,8438)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25_curva_roc.png">    </p:cNvPr>
          <p:cNvPicPr>
            <a:picLocks noChangeAspect="1"/>
          </p:cNvPicPr>
          <p:nvPr/>
        </p:nvPicPr>
        <p:blipFill>
          <a:blip r:embed="rId1"/>
          <a:stretch>
            <a:fillRect/>
          </a:stretch>
        </p:blipFill>
        <p:spPr>
          <a:xfrm>
            <a:off x="2074602" y="1243584"/>
            <a:ext cx="4857636"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ponto da curva é um corte do índice: no eixo vertical, a proporção de setores de FCU acima do corte; no horizontal, a dos setores de fora. A diagonal é o acaso.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Área sob a curva: 0,8438 (global); a mediana municipal é 0,8238.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F25 · figuras/F25_curva_roc.png  ·  Bloco 10. O índice da versão</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77</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Com piso de 100 moradores, o índice fica com 72.289 setores e ρ = 0,9972 com o valor-padrão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636935"/>
                <a:gridCol w="775390"/>
                <a:gridCol w="775390"/>
                <a:gridCol w="646158"/>
                <a:gridCol w="732313"/>
                <a:gridCol w="689236"/>
                <a:gridCol w="646158"/>
                <a:gridCol w="775390"/>
                <a:gridCol w="77539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Recorte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com o padrão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piso de 100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101.446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72.289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valor do parâmetro exploratório: setores no recorte e no índice, KMO, AUC global e municipal, elegibilidade (1 = elegível), correlação de postos com o índice do valor-padrão e % de setores que mudam de faixa.</a:t>
            </a:r>
            <a:endParaRPr lang="en-US" sz="1250" dirty="0"/>
          </a:p>
        </p:txBody>
      </p:sp>
      <p:sp>
        <p:nvSpPr>
          <p:cNvPr id="7" name="Shape 4"/>
          <p:cNvSpPr/>
          <p:nvPr/>
        </p:nvSpPr>
        <p:spPr>
          <a:xfrm>
            <a:off x="8549640" y="3204210"/>
            <a:ext cx="822960" cy="0"/>
          </a:xfrm>
          <a:prstGeom prst="line">
            <a:avLst/>
          </a:prstGeom>
          <a:noFill/>
          <a:ln w="15875">
            <a:solidFill>
              <a:srgbClr val="8C2F27"/>
            </a:solidFill>
            <a:prstDash val="solid"/>
          </a:ln>
        </p:spPr>
      </p:sp>
      <p:sp>
        <p:nvSpPr>
          <p:cNvPr id="8" name="Text 5"/>
          <p:cNvSpPr/>
          <p:nvPr/>
        </p:nvSpPr>
        <p:spPr>
          <a:xfrm>
            <a:off x="8549640" y="325907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Com piso de 100 moradores: 72.289 setores no índice (contra 73.407), AUC municipal 0,8344, ρ = 0,9972 com o valor-padrão e 1,0% dos setores comuns mudando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T34 · tabelas/T34_sensibilidade.csv  ·  Bloco 10. O índice da versão</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78</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Comparação com a referência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esta versão muda em relação à referência proposta do NB05?</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T31 · T32 · T33 · F28 · F29</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correlação de postos com a referência é 0,9940</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120640" cy="914400"/>
        </p:xfrm>
        <a:graphic>
          <a:graphicData uri="http://schemas.openxmlformats.org/drawingml/2006/table">
            <a:tbl>
              <a:tblPr/>
              <a:tblGrid>
                <a:gridCol w="2560320"/>
                <a:gridCol w="1280160"/>
                <a:gridCol w="12801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Escopo (menores ρ)</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comuns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de Spearman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Canoas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Pedro da Aldeia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Natal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Igarapava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Capelinha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Mauá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Guapiaçu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Charqueadas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Limoeiro do 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Preta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dos Pinhais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Caetano do 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4974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o índice desta versão e o da referência, nos setores que estão nas duas amostras: total e por município.</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Total: ρ = 0,9940. Menor correlação municipal: Taió (0,9214).</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T31 · tabelas/T31_spearman_com_referencia.csv  ·  Bloco 13. Comparação com a referência</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maior troca de faixa é de elevado para medio (334 setores)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217920" cy="914400"/>
        </p:xfrm>
        <a:graphic>
          <a:graphicData uri="http://schemas.openxmlformats.org/drawingml/2006/table">
            <a:tbl>
              <a:tblPr/>
              <a:tblGrid>
                <a:gridCol w="219456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Referência ↓ · versão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baixo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muito elevado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21.044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muito elevado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linha é um par (faixa na referência, faixa nesta versão), com o número de setores e o percentual do total.</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Fora da diagonal, a maior célula é de elevado para medio, com 334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T32 · tabelas/T32_matriz_de_faixas.csv  ·  Bloco 13. Comparação com a referência</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1,5% dos setores mudam de faixa em relação à referência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5943600" cy="914400"/>
        </p:xfrm>
        <a:graphic>
          <a:graphicData uri="http://schemas.openxmlformats.org/drawingml/2006/table">
            <a:tbl>
              <a:tblPr/>
              <a:tblGrid>
                <a:gridCol w="2560320"/>
                <a:gridCol w="1188720"/>
                <a:gridCol w="118872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Município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comuns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Mudam de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que muda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Canoas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Natal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Pedro da Aldeia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Igarapava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Guapiaçu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Caetano do 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Mauá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Limoeiro do 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Macaé</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dos Pinhais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5497449"/>
            <a:ext cx="7452360" cy="23774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Recorte da tabela para o slide; a tabela completa está no CSV indicado no rodapé.</a:t>
            </a:r>
            <a:endParaRPr lang="en-US" sz="950" dirty="0"/>
          </a:p>
        </p:txBody>
      </p:sp>
      <p:sp>
        <p:nvSpPr>
          <p:cNvPr id="7" name="Text 4"/>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primeira linha é o total; as demais, os municípios, do mais afetado para o menos: setores comuns, setores que mudam de faixa e o percentual.</a:t>
            </a:r>
            <a:endParaRPr lang="en-US" sz="1250" dirty="0"/>
          </a:p>
        </p:txBody>
      </p:sp>
      <p:sp>
        <p:nvSpPr>
          <p:cNvPr id="8" name="Shape 5"/>
          <p:cNvSpPr/>
          <p:nvPr/>
        </p:nvSpPr>
        <p:spPr>
          <a:xfrm>
            <a:off x="8549640" y="2785110"/>
            <a:ext cx="822960" cy="0"/>
          </a:xfrm>
          <a:prstGeom prst="line">
            <a:avLst/>
          </a:prstGeom>
          <a:noFill/>
          <a:ln w="15875">
            <a:solidFill>
              <a:srgbClr val="8C2F27"/>
            </a:solidFill>
            <a:prstDash val="solid"/>
          </a:ln>
        </p:spPr>
      </p:sp>
      <p:sp>
        <p:nvSpPr>
          <p:cNvPr id="9" name="Text 6"/>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total, 1,5% dos setores mudam de faixa; o município mais afetado é Canoas (11,9%).</a:t>
            </a:r>
            <a:endParaRPr lang="en-US" sz="1250" dirty="0"/>
          </a:p>
        </p:txBody>
      </p:sp>
      <p:sp>
        <p:nvSpPr>
          <p:cNvPr id="10" name="Text 7"/>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T33 · tabelas/T33_municipios_que_mudam.csv  ·  Bloco 13. Comparação com a referência</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Matriz de faixas: referência × 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28_matriz_de_faixas.png">    </p:cNvPr>
          <p:cNvPicPr>
            <a:picLocks noChangeAspect="1"/>
          </p:cNvPicPr>
          <p:nvPr/>
        </p:nvPicPr>
        <p:blipFill>
          <a:blip r:embed="rId1"/>
          <a:stretch>
            <a:fillRect/>
          </a:stretch>
        </p:blipFill>
        <p:spPr>
          <a:xfrm>
            <a:off x="1719196" y="1243584"/>
            <a:ext cx="5568449"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Linhas: faixa na referência; colunas: faixa nesta versão; cada célula traz o número de setores.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troca fora da diagonal é de elevado para medio (334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F28 · figuras/F28_matriz_de_faixas.png  ·  Bloco 13. Comparação com a referência</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municípios mais afetados pela mudança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A2_piso_populacional/figuras/F29_municipios_que_mudam.png">    </p:cNvPr>
          <p:cNvPicPr>
            <a:picLocks noChangeAspect="1"/>
          </p:cNvPicPr>
          <p:nvPr/>
        </p:nvPicPr>
        <p:blipFill>
          <a:blip r:embed="rId1"/>
          <a:stretch>
            <a:fillRect/>
          </a:stretch>
        </p:blipFill>
        <p:spPr>
          <a:xfrm>
            <a:off x="1424688" y="1243584"/>
            <a:ext cx="6157464"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20 municípios com o maior percentual de setores que mudam de faixa.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mais afetado é Canoas (11,9%); no total, 1,5%.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F29 · figuras/F29_municipios_que_mudam.png  ·  Bloco 13. Comparação com a referência</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Síntese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472184"/>
            <a:ext cx="3300984" cy="0"/>
          </a:xfrm>
          <a:prstGeom prst="line">
            <a:avLst/>
          </a:prstGeom>
          <a:noFill/>
          <a:ln w="12700">
            <a:solidFill>
              <a:srgbClr val="1A1A18"/>
            </a:solidFill>
            <a:prstDash val="solid"/>
          </a:ln>
        </p:spPr>
      </p:sp>
      <p:sp>
        <p:nvSpPr>
          <p:cNvPr id="6" name="Text 4"/>
          <p:cNvSpPr/>
          <p:nvPr/>
        </p:nvSpPr>
        <p:spPr>
          <a:xfrm>
            <a:off x="777240" y="154533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73.407</a:t>
            </a:r>
            <a:endParaRPr lang="en-US" sz="3000" dirty="0"/>
          </a:p>
        </p:txBody>
      </p:sp>
      <p:sp>
        <p:nvSpPr>
          <p:cNvPr id="7" name="Text 5"/>
          <p:cNvSpPr/>
          <p:nvPr/>
        </p:nvSpPr>
        <p:spPr>
          <a:xfrm>
            <a:off x="777240" y="213055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amostra do índice (T01)</a:t>
            </a:r>
            <a:endParaRPr lang="en-US" sz="1050" dirty="0"/>
          </a:p>
        </p:txBody>
      </p:sp>
      <p:sp>
        <p:nvSpPr>
          <p:cNvPr id="8" name="Shape 6"/>
          <p:cNvSpPr/>
          <p:nvPr/>
        </p:nvSpPr>
        <p:spPr>
          <a:xfrm>
            <a:off x="4443984" y="1472184"/>
            <a:ext cx="3300984" cy="0"/>
          </a:xfrm>
          <a:prstGeom prst="line">
            <a:avLst/>
          </a:prstGeom>
          <a:noFill/>
          <a:ln w="12700">
            <a:solidFill>
              <a:srgbClr val="1A1A18"/>
            </a:solidFill>
            <a:prstDash val="solid"/>
          </a:ln>
        </p:spPr>
      </p:sp>
      <p:sp>
        <p:nvSpPr>
          <p:cNvPr id="9" name="Text 7"/>
          <p:cNvSpPr/>
          <p:nvPr/>
        </p:nvSpPr>
        <p:spPr>
          <a:xfrm>
            <a:off x="4443984" y="154533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0,8238</a:t>
            </a:r>
            <a:endParaRPr lang="en-US" sz="3000" dirty="0"/>
          </a:p>
        </p:txBody>
      </p:sp>
      <p:sp>
        <p:nvSpPr>
          <p:cNvPr id="10" name="Text 8"/>
          <p:cNvSpPr/>
          <p:nvPr/>
        </p:nvSpPr>
        <p:spPr>
          <a:xfrm>
            <a:off x="4443984" y="213055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AUC municipal contra FCU (mediana) (T26)</a:t>
            </a:r>
            <a:endParaRPr lang="en-US" sz="1050" dirty="0"/>
          </a:p>
        </p:txBody>
      </p:sp>
      <p:sp>
        <p:nvSpPr>
          <p:cNvPr id="11" name="Shape 9"/>
          <p:cNvSpPr/>
          <p:nvPr/>
        </p:nvSpPr>
        <p:spPr>
          <a:xfrm>
            <a:off x="8110728" y="1472184"/>
            <a:ext cx="3300984" cy="0"/>
          </a:xfrm>
          <a:prstGeom prst="line">
            <a:avLst/>
          </a:prstGeom>
          <a:noFill/>
          <a:ln w="12700">
            <a:solidFill>
              <a:srgbClr val="8C2F27"/>
            </a:solidFill>
            <a:prstDash val="solid"/>
          </a:ln>
        </p:spPr>
      </p:sp>
      <p:sp>
        <p:nvSpPr>
          <p:cNvPr id="12" name="Text 10"/>
          <p:cNvSpPr/>
          <p:nvPr/>
        </p:nvSpPr>
        <p:spPr>
          <a:xfrm>
            <a:off x="8110728" y="1545336"/>
            <a:ext cx="3300984"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1,5%</a:t>
            </a:r>
            <a:endParaRPr lang="en-US" sz="3000" dirty="0"/>
          </a:p>
        </p:txBody>
      </p:sp>
      <p:sp>
        <p:nvSpPr>
          <p:cNvPr id="13" name="Text 11"/>
          <p:cNvSpPr/>
          <p:nvPr/>
        </p:nvSpPr>
        <p:spPr>
          <a:xfrm>
            <a:off x="8110728" y="213055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que mudam de faixa em relação à referência (T33)</a:t>
            </a:r>
            <a:endParaRPr lang="en-US" sz="1050" dirty="0"/>
          </a:p>
        </p:txBody>
      </p:sp>
      <p:sp>
        <p:nvSpPr>
          <p:cNvPr id="14" name="Shape 12"/>
          <p:cNvSpPr/>
          <p:nvPr/>
        </p:nvSpPr>
        <p:spPr>
          <a:xfrm>
            <a:off x="777240" y="2926080"/>
            <a:ext cx="822960" cy="0"/>
          </a:xfrm>
          <a:prstGeom prst="line">
            <a:avLst/>
          </a:prstGeom>
          <a:noFill/>
          <a:ln w="15875">
            <a:solidFill>
              <a:srgbClr val="8C2F27"/>
            </a:solidFill>
            <a:prstDash val="solid"/>
          </a:ln>
        </p:spPr>
      </p:sp>
      <p:sp>
        <p:nvSpPr>
          <p:cNvPr id="15" name="Text 13"/>
          <p:cNvSpPr/>
          <p:nvPr/>
        </p:nvSpPr>
        <p:spPr>
          <a:xfrm>
            <a:off x="777240" y="2980944"/>
            <a:ext cx="10634472" cy="3054096"/>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esta versão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piso tira poucos setores e mexe pouco no índice: a correlação de postos com a referência fica perto de 1 e poucos setores trocam de faixa. A AUC contra as favelas sobe um pouco, sinal de que parte do ruído vinha de setores muito pequenos. Com piso de 100 (T34), o quadro é o mesmo. O piso não é decisão: a pergunta está registrada para a orientadora.</a:t>
            </a:r>
            <a:endParaRPr lang="en-US" sz="12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73.407 setores chegam ao índice, de 109.032 na base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Do recorte ao índice, 29.873 setores saem por falta de algum componente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é o indicador com mais faltantes (15,7% dos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 nem sanitário é o indicador mais assimétrico (assimetria 59,74)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a mediana vai de 1.720,05 (Nordeste) a 3.738,28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entre os municípios, a mediana vai de 1.062,36 a 5.296,04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Sem banheiro nem sanitário tem a distribuição mais assimétrica (assimetria 59,74)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Água inadequada tem mediana de 0,1745 no Norte e 0,0000 no Centro-Oeste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Renda média tem a distribuição mais assimétrica (assimetria 3,73)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Razão de moradores tem mediana de 3,1937 no Norte e 2,6000 no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Domicílio improvisado tem a distribuição mais assimétrica (assimetria 38,25)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Domicílio improvisado tem mediana de 0,0000 no Centro-Oeste e 0,0000 no Centro-Oeste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1 de 4</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Índice de envelhecimento tem a distribuição mais assimétrica (assimetria 5,75)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Crianças 0–4 tem mediana de 0,0632 no Norte e 0,0465 no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as regiões têm formas diferentes de distribuição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maior percentual de faltantes é o de Banheiro graduado em Placas (66,7%)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faltantes se concentram em poucos indicadores e municípios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analfabetismo falta em 28,4% dos menores setores e em 3,8% dos maiores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falta de dados depende do tamanho do setor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convencional tem a maior proporção de extremos (6,7%)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T09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 concentra o maior número de marcações de extremo (7.567)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setores mais distantes da mediana, indicador por indicador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63 setores têm renda suspeita e 3.261 têm renda extrema coerente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proporção de extremos varia muito de um indicador para outro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e Renda sem o extremo formam o par mais correlacionado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Na correlação linear, o par mais forte é Renda média × Renda sem o extremo (r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par mais redundante é Renda média × Renda sem o extremo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2 de 4</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indicadores formam grupos de correlação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Entre as variáveis das demandas e os componentes do índice, o par mais forte é Sem água canalizada × Cor/raça PPI (ρ = 0,4216)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 o par mais correlacionado é Sem banheiro × Banheiro graduado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 o par mais correlacionado é Renda média × Renda sem o extremo (ρ = 1,0000)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 o par mais correlacionado é Habitação precária × Moradia não convencional (ρ = 0,9649)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 o par mais correlacionado é Pessoas 60+ × Dependência idosa (ρ = 0,9962)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dendrograma junta os indicadores que medem coisas parecidas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Cor/raça PPI é o indicador que mais separa as favelas (AUC 0,8468)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indicadores separam as favelas com força muito diferente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faixa de 30–39 anos concentra a maior parte da população (15,9%)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estrutura etária muda de região para região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mediana de pessoas 60+ por setor vai de 0,1119 (Norte) a 0,1935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percentual de pessoas 60+ se relaciona mais com População 0–14 (ρ = -0,7937)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Pessoas 60+ e renda média: ρ = 0,5207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(invertida) tem o maior peso no índice (19,3%)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3 de 4</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índice tem mediana 0,3322 e P90 0,4325, em 73.406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Pela regra do IVS-BH, 5,4% dos setores ficam em vulnerabilidade muito elevada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AUC municipal de 0,8238: o índice separa as favelas — versão elegível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AUC vai de 0,6040 (Duque de Caxias) a 0,9543 (Campinas) entre os municípios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distribuição do índice e as faixas do IVS-BH</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Curva ROC do índice contra as favelas (AUC global 0,8438)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correlação de postos com a referência é 0,9940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 maior troca de faixa é de elevado para medio (334 setores)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 dos setores mudam de faixa em relação à referência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Matriz de faixas: referência × esta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municípios mais afetados pela mudança da versão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 piso de 100 moradores, o índice fica com 72.289 setores e ρ = 0,9972 com o valor-padrão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  ·  parte 4 de 4</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Limitações e parâmetros exploratórios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O piso é parâmetro exploratório: nem 50 nem 100 moradores foram fixados pelo projeto.</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Os setores pequenos são justamente os mais atingidos pelo sigilo (bloco 4); o piso e a exclusão por lista retiram em parte os mesmos setores.</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 amostra do índice continua excluindo todo setor com algum componente faltante (exclusão por lista).</a:t>
            </a:r>
            <a:endParaRPr lang="en-US" sz="1300" dirty="0"/>
          </a:p>
          <a:p>
            <a:pPr marL="342900" indent="-342900">
              <a:spcAft>
                <a:spcPts val="800"/>
              </a:spcAft>
              <a:buSzPct val="100000"/>
              <a:buChar char="•"/>
            </a:pPr>
            <a:r>
              <a:rPr lang="en-US" sz="1300" dirty="0">
                <a:solidFill>
                  <a:srgbClr val="8C2F27"/>
                </a:solidFill>
                <a:latin typeface="Cambria" pitchFamily="34" charset="0"/>
                <a:ea typeface="Cambria" pitchFamily="34" charset="-122"/>
                <a:cs typeface="Cambria" pitchFamily="34" charset="-120"/>
              </a:rPr>
              <a:t>piso de população: 50 moradores (sensibilidade com 100 na tabela T34) — parâmetro exploratório — não é decisão</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abastecimento de água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V00112 + V00113 + V00114 + V00115 + V00116 + V00117 + V00118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esgotamento sanitário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V00312 + V00313 + V00314 + V00315 + V00316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destino do lixo inadequado ou ausente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V00398 + V00399 + V00400 + V00401 + V00402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não chega encanada até dentro do domicílio (complemento de V00199; equivale a V00200+V00201 sobre 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V00199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não chega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não chega encanada ao domicílio (V00201)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só no terreno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que a água chega encanada apenas ao terreno (V00200)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sem banheiro de uso exclusivo com chuveiro e vaso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V00495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 nem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sem banheiro nem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Só sanitário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apenas sanitário ou buraco para dejeções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1 de 3</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Banheiro de uso comum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apenas banheiro de uso comum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Banheiro graduado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Saneamento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Falta de banheiro graduada: 1 ponto para banheiro só de uso comum, 2 para só sanitário, 3 para nem banheiro nem sanitário, sobre 3 vezes os domicílios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V00236 + 2·V00237 + 3·V00238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 por domicílio (reproduz o V0005 do IBGE)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V00005 + V00006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Taxa de analfabetismo entre pessoas de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V00901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V00900 + V00901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Rendimento nominal médio mensal das pessoas responsáveis (R$)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Cor/raça PPI</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cor/raça 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V01318 + V01320 + V01321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Responsável mulher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com pessoa responsável do sexo feminino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V01062 + V01063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sem o extremo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dos responsáveis sem o valor extremo de Belo Horizonte (R$ 170.418,06), que vira faltante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(mediana mun.)</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Socioeconômica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dos responsáveis com o valor extremo trocado pela mediana do município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V06004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Domicílio improvisado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particulares improvisados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33019">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Habitação precária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em habitação precária (cortiço, estrutura degradada, improvisados)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V00050 + V00052 + V00053 + V00054 + V00055 + V00056 + V00057 + V00058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 + V00002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2 de 3</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moradias convencionais (casa, casa de vila/condomínio, 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V00047 + V00048 + V00049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moradias não convencionais (cortiço, maloca, estrutura degradada)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V00050 + V00051 + V00052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apartamento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casa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Casa de vila/condomínio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Morfologia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domicílios do tipo casa de vila ou em condomínio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crianças de 0 a 4 anos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População 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com menos de 15 anos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 + V01032 + V01033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Pessoas 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60 anos ou mais na população residente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Índice de envelhecimento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Índice de Envelhecimento Populacional: 60+ por 100 menores de 15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V01031 + V01032 + V01033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Dependência idosa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Dependência de Idosos: 60+ por 100 pessoas de 15 a 59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V01034 + V01035 + V01036 + V01037 + V01038 + V01039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85826">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70+ entre 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Demografia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Proporção de pessoas de 70+ entre os de 60+ (proxy de longevidade; NÃO é o LI, que exigiria a faixa 75+, inexistente nos agregados por setor)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V01040 + V01041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  ·  parte 3 de 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A2_piso_populacional — Com piso de população</dc:title>
  <dc:subject>PptxGenJS Presentation</dc:subject>
  <dc:creator>Pedro Dias Soares</dc:creator>
  <cp:lastModifiedBy>Pedro Dias Soares</cp:lastModifiedBy>
  <cp:revision>1</cp:revision>
  <dcterms:created xsi:type="dcterms:W3CDTF">2026-10-22T23:57:03Z</dcterms:created>
  <dcterms:modified xsi:type="dcterms:W3CDTF">2026-10-22T23:57:03Z</dcterms:modified>
</cp:coreProperties>
</file>