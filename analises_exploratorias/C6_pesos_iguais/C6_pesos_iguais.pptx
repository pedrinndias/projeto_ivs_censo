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que muda no índice com pesos iguais para os componentes ou com a média dos postos, sem a análise fatorial?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pesos: cada componente pesa o mesmo, sem a análise fatorial. A média dos postos percentis no município (também com pesos iguais) e os pesos da fatorial da referência estão na tabela T34.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 os fatores e os pesos, cada setor recebe um valor de 0 a 1 dentro do seu município. O bloco mostra os pesos, a distribuição do índice, as faixas de vulnerabilidade pelas duas regras, a AUC contra as favelas e se a versão passa nos critérios de elegibilidade fixados no NB05.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pesos seguem a receita do NB04: cada variável vai para a dimensão em que tem a maior carga; o peso da dimensão é repartido entre as variáveis dela em proporção ao quadrado da carga. O peso das dimensões depende do método da versão; na referência é a regra do IVS-BH de 2012 (60% socioeconômica, 40% saneamento).
Como ler: Uma linha por componente: a dimensão em que ele carrega mais, a carga, o peso da dimensão e o peso final no índice (em %).
O que mostra: O maior peso é o de Água inadequada (14,3%); a dimensão F1 (socioeconômica) pesa 60,0%.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índice vai de 0 (o setor menos vulnerável do município) a 1 (o mais vulnerável). Comparar o nível do índice entre municípios não faz sentido nesta normalização; o que se compara é a posição relativa de cada setor dentro da sua cidade.
Como ler: Descritivas do índice para o total e por região. Como o índice é normalizado dentro de cada município, todo município tem mínimo 0 e máximo 1.
O que mostra: 73.878 setores; mediana 0,3000; percentil 90 0,4148.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regra do IVS-BH de 2012 classifica pelo afastamento da média do município em desvios-padrão: abaixo de −0,5 DP é baixo; até +0,5 DP, médio; até +1,5 DP, elevado; acima, muito elevado. Como a distribuição é assimétrica, as faixas não têm o mesmo tamanho. A regra dos quartis divide cada município em quatro partes iguais, por construção com 25% cada.
Como ler: Quantos setores ficam em cada faixa, pelas duas regras: a do IVS-BH (média e desvio-padrão do município) e a dos quartis do município.
O que mostra: IVS-BH: 29,1% baixo e 6,3% muito elevado. Quartis: 25,0% muito elevado.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AUC global junta todos os setores; a municipal calcula a AUC dentro de cada município e toma a mediana, só nos municípios com pelo menos 30 setores de FCU e 30 fora. A municipal é a leitura adequada para um índice normalizado no município. Os critérios de elegibilidade foram fixados antes de rodar a grade do NB05: KMO de pelo menos 0,70, MSA de pelo menos 0,50, comunalidade de pelo menos 0,30 e carga de pelo menos 0,40 em todas as variáveis. A elegibilidade é descritiva: não escolhe a versão.
Como ler: AUC global e municipal, peso da dimensão socioeconômica e os critérios de elegibilidade do NB05, um por linha (1 = atende).
O que mostra: AUC global 0,8199; mediana da AUC municipal 0,8263, em 31 municípios. Pelos critérios do NB05, a versão é elegível.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Municípios com poucos setores de favela têm AUC instável: um ou dois setores mudam muito o resultado. Por isso a mediana só usa os municípios com pelo menos 30 setores em cada grupo; os demais ficam na tabela, marcados.
Como ler: Uma linha por município: AUC, setores de FCU (n1) e fora (n0) e se o município entra na mediana.
O que mostra: Entre os municípios que entram na mediana, a maior AUC é a de Campinas (0,9575) e a menor, a de Duque de Caxias (0,6082).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Municípios com poucos setores de favela têm AUC instável: um ou dois setores mudam muito o resultado. Por isso a mediana só usa os municípios com pelo menos 30 setores em cada grupo; os demais ficam na tabela, marcados.
Como ler: Uma linha por município: AUC, setores de FCU (n1) e fora (n0) e se o município entra na mediana.
O que mostra: Entre os municípios que entram na mediana, a maior AUC é a de Campinas (0,9575) e a menor, a de Duque de Caxias (0,6082).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Como as faixas são definidas dentro de cada município, um mesmo valor do índice pode cair em faixas diferentes em cidades diferentes: por isso as cores se sobrepõem nas fronteiras.
Como ler: Histograma do índice, com cada barra dividida pela faixa dos setores (regra do IVS-BH).
O que mostra: 29,1% dos setores ficam em baixo e 6,3% em muito elevado.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Quanto mais a curva se aproxima do canto superior esquerdo, melhor o índice separa os dois grupos. A área sob a curva é a AUC. Esta curva usa todos os setores juntos; como o índice é normalizado no município, a AUC municipal é a medida principal.
Como ler: Cada ponto da curva é um corte do índice: no eixo vertical, a proporção de setores de FCU acima do corte; no horizontal, a dos setores de fora. A diagonal é o acaso.
O que mostra: Área sob a curva: 0,8199 (global); a mediana municipal é 0,8263.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Quando ninguém fixou um parâmetro, a versão roda com um valor-padrão e esta tabela mostra o que muda com o valor alternativo. Correlação de postos perto de 1 e poucas trocas de faixa indicam que a escolha do parâmetro pesa pouco; o contrário indica que ela precisa ser decidida. Nenhum dos valores é decisão: é parâmetro exploratório.
Como ler: Uma linha por valor do parâmetro exploratório: setores no recorte e no índice, KMO, AUC global e municipal, elegibilidade (1 = elegível), correlação de postos com o índice do valor-padrão e % de setores que mudam de faixa.
O que mostra: Com pesos da fatorial (referência): 73.878 setores no índice (contra 73.878), AUC municipal 0,8186, ρ = 0,9885 com o valor-padrão e 9,9% dos setores comuns mudando de faixa.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índice classifica setores, mas a pergunta de política pública é sobre pessoas. Este bloco soma moradores e moradores de 60 anos ou mais em cada faixa do índice, por município.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faixas são relativas ao município: todo município tem setores nas faixas altas, por construção. O que muda de um para outro é quanta gente mora nesses setores, porque os setores têm populações diferentes.
Como ler: Uma linha por município: setores, moradores e moradores de 60+ em cada faixa (regra do IVS-BH) e o percentual de moradores nas duas faixas mais altas.
O que mostra: Maior percentual em elevado ou muito elevado: Jaqueira (56,9%); menor: São Raimundo do Doca Bezerra (0,0%).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faixas são relativas ao município: todo município tem setores nas faixas altas, por construção. O que muda de um para outro é quanta gente mora nesses setores, porque os setores têm populações diferentes.
Como ler: Uma linha por município: setores, moradores e moradores de 60+ em cada faixa (regra do IVS-BH) e o percentual de moradores nas duas faixas mais altas.
O que mostra: Maior percentual em elevado ou muito elevado: Jaqueira (56,9%); menor: São Raimundo do Doca Bezerra (0,0%).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contagem de pessoas usa o total de moradores do setor (v0001) e a soma das faixas de 60 a 69 e de 70 anos ou mais. Só entram os setores da amostra do índice.
Como ler: Uma linha por faixa: setores, moradores e moradores de 60+, com os percentuais.
O que mostra: Na faixa muito elevada: 2.176.138 pessoas (5,8% do total), das quais 214.854 com 60 anos ou mais.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gráfico mostra a tabela por município em forma de barras empilhadas. Um município em que as faixas altas ocupam muito da barra concentra população nos setores mais vulneráveis da cidade.
Como ler: Uma barra por município, dividida pelas faixas do índice; o comprimento de cada parte é o percentual de moradores. Ordem: do maior para o menor percentual nas duas faixas mais altas.
O que mostra: No topo, Jaqueira (56,9% em elevado ou muito elevado); na base, São Raimundo do Doca Bezerra (0,0%).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Como o índice é normalizado dentro de cada município, a comparação entre cidades é sobre a desigualdade interna, não sobre o nível. Três medidas: a razão entre os percentis 90 e 10, o Gini e o Theil.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Gini vai de 0 (todos os setores com o mesmo valor) a 1 (toda a soma concentrada num setor). O Theil também mede concentração, mas é mais sensível à cauda alta. A razão P90/P10 compara o setor no percentil 90 com o do percentil 10; como o índice começa em 0 em todo município, o P10 pode ser muito pequeno e a razão explodir, por isso ela fica vazia quando o P10 é zero.
Como ler: Uma linha por município: setores, média, percentis 10 e 90 do índice, a razão P90/P10, o Gini e o Theil.
O que mostra: Maior Gini: São Paulo das Missões (0,3982); menor: Salvador (0,0690).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Gini vai de 0 (todos os setores com o mesmo valor) a 1 (toda a soma concentrada num setor). O Theil também mede concentração, mas é mais sensível à cauda alta. A razão P90/P10 compara o setor no percentil 90 com o do percentil 10; como o índice começa em 0 em todo município, o P10 pode ser muito pequeno e a razão explodir, por isso ela fica vazia quando o P10 é zero.
Como ler: Uma linha por município: setores, média, percentis 10 e 90 do índice, a razão P90/P10, o Gini e o Theil.
O que mostra: Maior Gini: São Paulo das Missões (0,3982); menor: Salvador (0,0690).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Quando Gini e Theil apontam em sentidos diferentes para um município, a desigualdade dele está mais na cauda (poucos setores muito acima dos demais) do que no meio da distribuição.
Como ler: Barras: Gini do índice dentro de cada município, do maior para o menor. Pontos: Theil.
O que mostra: Do maior Gini, São Paulo das Missões (0,3982), ao menor, Salvador (0,0690).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versão muda uma coisa só em relação à referência. Este bloco mede o efeito dessa mudança: a correlação de postos entre os dois índices, a matriz de setores que trocam de faixa e os municípios mais afetados.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Uma correlação de postos perto de 1 indica que a versão ordena os setores quase como a referência, ainda que os valores mudem. Na própria referência, o valor é 1 por construção.
Como ler: Correlação de Spearman entre o índice desta versão e o da referência, nos setores que estão nas duas amostras: total e por município.
O que mostra: Total: ρ = 0,9885. Menor correlação municipal: Placas (0,8000).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diagonal (mesma faixa nas duas) mostra a concordância. Trocas entre faixas vizinhas são esperadas quando os pesos mudam um pouco; trocas de duas faixas ou mais indicam que a versão muda de fato a classificação do setor.
Como ler: Cada linha é um par (faixa na referência, faixa nesta versão), com o número de setores e o percentual do total.
O que mostra: Fora da diagonal, a maior célula é de elevado para medio, com 2.905 setores.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faixa usada é a da regra do IVS-BH. Municípios pequenos tendem a aparecer no topo, porque poucas trocas pesam muito em poucos setores.
Como ler: A primeira linha é o total; as demais, os municípios, do mais afetado para o menos: setores comuns, setores que mudam de faixa e o percentual.
O que mostra: No total, 9,9% dos setores mudam de faixa; o município mais afetado é São Raimundo do Doca Bezerra (100,0%).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Uma matriz com quase tudo na diagonal indica que a mudança da versão não altera a classificação; células fora da diagonal mostram para onde os setores se movem.
Como ler: Linhas: faixa na referência; colunas: faixa nesta versão; cada célula traz o número de setores.
O que mostra: A maior troca fora da diagonal é de elevado para medio (2.905 setores).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gráfico destaca onde a escolha desta versão faz mais diferença. Na própria referência, todas as barras são zero.
Como ler: Os 20 municípios com o maior percentual de setores que mudam de faixa.
O que mostra: O mais afetado é São Raimundo do Doca Bezerra (100,0%); no total, 9,9%.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 pesos iguais, sem fatorial, o índice ordena os setores quase como a referência e a AUC municipal contra as favelas até sobe um pouco; cerca de um em cada dez setores muda de faixa. A média de postos sobe mais a AUC, mas reordena bastante os setores. A fatorial, aqui, serve mais para justificar a estrutura de duas dimensões do que para ganhar capacidade de separar as favelas.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Pesos iguais dão às quatro variáveis socioeconômicas mais peso conjunto do que às três de saneamento, só pelo número de variáveis.
A amostra do índice exclui todo setor com algum componente faltante (exclusão por lista).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234440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spc="200" kern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ANÁLISES EXPLORATÓRIAS POR VERSÃO · C6_pesos_iguais</a:t>
            </a:r>
            <a:endParaRPr lang="en-US" sz="1150" dirty="0"/>
          </a:p>
        </p:txBody>
      </p:sp>
      <p:sp>
        <p:nvSpPr>
          <p:cNvPr id="3" name="Shape 1"/>
          <p:cNvSpPr/>
          <p:nvPr/>
        </p:nvSpPr>
        <p:spPr>
          <a:xfrm>
            <a:off x="777240" y="162763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77240" y="1783080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Pesos iguais, sem fatorial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77240" y="2788920"/>
            <a:ext cx="8595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muda no índice com pesos iguais para os componentes ou com a média dos postos, sem a análise fatorial?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77240" y="5623560"/>
            <a:ext cx="10634472" cy="0"/>
          </a:xfrm>
          <a:prstGeom prst="line">
            <a:avLst/>
          </a:prstGeom>
          <a:noFill/>
          <a:ln w="9525">
            <a:solidFill>
              <a:srgbClr val="C8C6C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5760720"/>
            <a:ext cx="10634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outubro de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muda nesta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106070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297680"/>
                <a:gridCol w="429768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Aspecto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Referência (00_referencia)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Esta versão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Base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entrega_orientadora/Base_ELSI_70Municipios_Censo2022.db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Recorte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urbanos; Dados_sig = OK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Indicadores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todos os do quadro, com as variantes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681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Componentes do índice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pct_agua_inad, pct_esgoto_inad, razao_moradores, pct_analfab, renda_inv, pct_raca_pretpardind, banheiro_graduado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original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Rotação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promax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Pesos das dimensões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60_40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Normalização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municipal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8B877E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igual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Blocos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1, 2, 3, 4, 5, 6, 7, 8, 9, 10, 11, 12, 13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10, 11, 12, 13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777240" y="4303014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7240" y="4357878"/>
            <a:ext cx="10634472" cy="16771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muda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pesos: cada componente pesa o mesmo, sem a análise fatorial. A média dos postos percentis no município (também com pesos iguais) e os pesos da fatorial da referência estão na tabela T34.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Sumário: os blocos desta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1060704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2377440"/>
                <a:gridCol w="4937760"/>
                <a:gridCol w="265176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Bloco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Título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Pergunta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Itens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índice da versão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Como fica o índice, e ele separa os setores de favela?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T23, T24, T25, T26, T27, F24, F25, T34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Quem está em risco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Quantas pessoas, e quantas pessoas idosas, vivem em cada faixa?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T28, T29, F26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Desigualdade interna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Em que municípios o índice varia mais de um setor para outro?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T30, F27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Comparação com a referência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que esta versão muda em relação à referência proposta do NB05?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T31, T32, T33, F28, F29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índice da versão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fica o índice, e ele separa os setores de favela?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920240" y="4343400"/>
            <a:ext cx="9491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Neste bloco: T23 · T24 · T25 · T26 · T27 · F24 · F25 · T34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Água inadequada tem o maior peso no índice (14,3%)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71780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011680"/>
                <a:gridCol w="868680"/>
                <a:gridCol w="1280160"/>
                <a:gridCol w="1188720"/>
              </a:tblGrid>
              <a:tr h="38582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Componente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Dimensão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Carga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Peso da dimensão (%)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Peso no índice (%)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inadequada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 (saneamento)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0,7829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40,0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14,3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Esgoto inadequado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 (saneamento)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0,5245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40,0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14,3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Razão de moradores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F1 (socioeconômica)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0,5827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60,0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14,3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Analfabetismo 15+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F1 (socioeconômica)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0,8887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60,0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14,3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(invertida)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F1 (socioeconômica)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0,9366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60,0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14,3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Cor/raça PPI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F1 (socioeconômica)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0,8506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60,0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14,3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Banheiro graduado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 (saneamento)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0,7260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40,0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14,3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componente: a dimensão em que ele carrega mais, a carga, o peso da dimensão e o peso final no índice (em %).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maior peso é o de Água inadequada (14,3%); a dimensão F1 (socioeconômica) pesa 60,0%.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T23 · tabelas/T23_pesos.csv  ·  Bloco 10. O índice da versão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índice tem mediana 0,3000 e P90 0,4148, em 73.878 setores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5379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914400"/>
                <a:gridCol w="822960"/>
                <a:gridCol w="822960"/>
                <a:gridCol w="822960"/>
                <a:gridCol w="868680"/>
                <a:gridCol w="82296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Escopo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Média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DP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Mediana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P90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Total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73.878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0,3080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0,0849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0,2064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0,4148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Centro-Oeste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7.329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0,3178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0,0803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0,2191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0,3136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0,4160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Nordeste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13.097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0,3589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0,0886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0,2561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0,3523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0,4772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3.439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0,4081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0,0954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0,3046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0,3902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0,5388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Sudeste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45.352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0,2893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0,0719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0,2009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0,2861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0,3723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4.661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0,2577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0,0668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0,1771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0,2544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0,3339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Descritivas do índice para o total e por região. Como o índice é normalizado dentro de cada município, todo município tem mínimo 0 e máximo 1.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839974"/>
            <a:ext cx="2862072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73.878 setores; mediana 0,3000; percentil 90 0,4148.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T24 · tabelas/T24_indice_descritivas.csv  ·  Bloco 10. O índice da versão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Pela regra do IVS-BH, 6,3% dos setores ficam em vulnerabilidade muito elevada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493776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645920"/>
                <a:gridCol w="1097280"/>
                <a:gridCol w="91440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Regra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Faixa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IVS-BH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indefinida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IVS-BH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baixo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21.526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29,1%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IVS-BH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médio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32.838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44,4%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IVS-BH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elevado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14.832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IVS-BH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muito elevado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4.681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Quartis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baixo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18.449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Quartis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médio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18.472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Quartis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elevado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18.464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Quartis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muito elevado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18.493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Quantos setores ficam em cada faixa, pelas duas regras: a do IVS-BH (média e desvio-padrão do município) e a dos quartis do município.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83997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IVS-BH: 29,1% baixo e 6,3% muito elevado. Quartis: 25,0% muito elevado.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T25 · tabelas/T25_faixas.csv  ·  Bloco 10. O índice da versão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AUC municipal de 0,8263: o índice separa as favelas — versão elegível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67512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097280"/>
                <a:gridCol w="237744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Medida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Valor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Detalhe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AUC global contra FCU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0,8199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AUC municipal (mediana)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0,8263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municípios na AUC municipal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ao menos 30 setores de FCU e fora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peso da dimensão F1 (socioeconômica) (%)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KMO ≥ 0,70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MSA ≥ 0,50 em todas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comunalidade mínima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0,3755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Razão de moradores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comunalidade ≥ 0,30 em todas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maior carga mínima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0,5245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Esgoto inadequado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carga ≥ 0,40 em todas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elegível pelos critérios do NB05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AUC global e municipal, peso da dimensão socioeconômica e os critérios de elegibilidade do NB05, um por linha (1 = atende).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AUC global 0,8199; mediana da AUC municipal 0,8263, em 31 municípios. Pelos critérios do NB05, a versão é elegível.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T26 · tabelas/T26_auc_e_elegibilidade.csv  ·  Bloco 10. O índice da versão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AUC vai de 0,6082 (Duque de Caxias) a 0,9575 (Campinas) entre os municípios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566928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914400"/>
                <a:gridCol w="1097280"/>
                <a:gridCol w="109728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 (entra na mediana)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AUC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FCU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fora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Campinas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0,9575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264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1.601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Guarujá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0,9507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370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Mauá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0,9446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517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Paulo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0,9435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3.108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16.325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Guarulhos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0,9424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319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1.625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Porto Alegre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0,9184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1.365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Brasília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0,9168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3.489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Bernardo do Campo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0,9152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1.024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Belo Horizonte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0,9141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522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2.977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Curitiba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0,8977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2.017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Luís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0,8755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588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Ananindeua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0,8576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240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Rio de Janeiro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0,8550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2.195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7.284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Teresina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0,8494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699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José dos Pinhais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0,8275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325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Goiânia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0,8263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1.694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município: AUC, setores de FCU (n1) e fora (n0) e se o município entra na mediana.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42087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Entre os municípios que entram na mediana, a maior AUC é a de Campinas (0,9575) e a menor, a de Duque de Caxias (0,6082).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T27 · tabelas/T27_auc_por_municipio.csv  ·  Bloco 10. O índice da versão  ·  parte 1 de 2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AUC vai de 0,6082 (Duque de Caxias) a 0,9575 (Campinas) entre os municípios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566928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914400"/>
                <a:gridCol w="1097280"/>
                <a:gridCol w="109728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 (entra na mediana)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AUC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FCU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fora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Nova Iguaçu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0,8090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1.127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Recife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0,8034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445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1.334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Fortaleza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0,8031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928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2.189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Macaé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0,7872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371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Salvador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0,7659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1.310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1.778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Cachoeiro de Itapemirim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0,7638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236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Feira de Santana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0,7615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629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Maceió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0,7549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235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940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Camaragibe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0,7489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Gonçalo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0,7484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1.629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Belém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0,7298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577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539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Manaus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0,7296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970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879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Natal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0,7093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José de Ribamar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0,6969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235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Duque de Caxias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0,6082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1.187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5251069"/>
            <a:ext cx="7452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 da tabela para o slide; a tabela completa está no CSV indicado no rodapé.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município: AUC, setores de FCU (n1) e fora (n0) e se o município entra na mediana.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49640" y="242087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Entre os municípios que entram na mediana, a maior AUC é a de Campinas (0,9575) e a menor, a de Duque de Caxias (0,6082).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T27 · tabelas/T27_auc_por_municipio.csv  ·  Bloco 10. O índice da versão  ·  parte 2 de 2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distribuição do índice e as faixas do IVS-BH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C6_pesos_iguais/figuras/F24_histograma_por_faix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243584"/>
            <a:ext cx="7452360" cy="433591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Histograma do índice, com cada barra dividida pela faixa dos setores (regra do IVS-BH).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420874"/>
            <a:ext cx="2862072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29,1% dos setores ficam em baixo e 6,3% em muito elevado.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F24 · figuras/F24_histograma_por_faixa.png  ·  Bloco 10. O índice da versão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Curva ROC do índice contra as favelas (AUC global 0,8199)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C6_pesos_iguais/figuras/F25_curva_ro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74602" y="1243584"/>
            <a:ext cx="4857636" cy="47914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 ponto da curva é um corte do índice: no eixo vertical, a proporção de setores de FCU acima do corte; no horizontal, a dos setores de fora. A diagonal é o acaso.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83997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Área sob a curva: 0,8199 (global); a mediana municipal é 0,8263.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F25 · figuras/F25_curva_roc.png  ·  Bloco 10. O índice da versão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182880"/>
            <a:ext cx="1063447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pesos da fatorial (referência), o índice fica com 73.878 setores e ρ = 0,9885 com o valor-padrão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7452360" cy="914400"/>
        </p:xfrm>
        <a:graphic>
          <a:graphicData uri="http://schemas.openxmlformats.org/drawingml/2006/table">
            <a:tbl>
              <a:tblPr/>
              <a:tblGrid>
                <a:gridCol w="1636935"/>
                <a:gridCol w="775390"/>
                <a:gridCol w="775390"/>
                <a:gridCol w="646158"/>
                <a:gridCol w="732313"/>
                <a:gridCol w="689236"/>
                <a:gridCol w="646158"/>
                <a:gridCol w="775390"/>
                <a:gridCol w="775390"/>
              </a:tblGrid>
              <a:tr h="38582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Valor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Recorte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Índice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KMO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AUC global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AUC mun.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Elegível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ρ com o padrão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muda faixa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valor-padrão desta versão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104.108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73.878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0,7807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0,8199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0,8263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média dos postos no município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104.108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73.878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0,7807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0,8510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0,8456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0,7943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24,1%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1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pesos da fatorial (referência)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104.108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73.878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0,7807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0,8309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0,8186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0,9885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9,9%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695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valor do parâmetro exploratório: setores no recorte e no índice, KMO, AUC global e municipal, elegibilidade (1 = elegível), correlação de postos com o índice do valor-padrão e % de setores que mudam de faixa.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32042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3259074"/>
            <a:ext cx="2862072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pesos da fatorial (referência): 73.878 setores no índice (contra 73.878), AUC municipal 0,8186, ρ = 0,9885 com o valor-padrão e 9,9% dos setores comuns mudando de faixa.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T34 · tabelas/T34_sensibilidade.csv  ·  Bloco 10. O índice da versão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Quem está em risco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Quantas pessoas, e quantas pessoas idosas, vivem em cada faixa?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920240" y="4343400"/>
            <a:ext cx="9491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Neste bloco: T28 · T29 · F26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182880"/>
            <a:ext cx="1063447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Jaqueira tem a maior parte dos moradores em vulnerabilidade elevada ou muito elevada (56,9%)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492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097280"/>
                <a:gridCol w="1188720"/>
                <a:gridCol w="1097280"/>
                <a:gridCol w="1097280"/>
              </a:tblGrid>
              <a:tr h="38582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Pessoas elevado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Pessoas muito elevado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60+ muito elevado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elevado ou mais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Jaqueira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2.055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56,9%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Chapada dos Guimarães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4.850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49,5%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Vicentinópolis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3.567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44,8%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Coroaci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1.853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792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42,5%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Placas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1.077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41,2%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Marechal Deodoro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8.651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1.743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Autazes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2.395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1.118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Arara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1.631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529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37,5%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Goianésia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16.402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2.815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286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36,6%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Tabatinga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3.951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472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36,1%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…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…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…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…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…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município: setores, moradores e moradores de 60+ em cada faixa (regra do IVS-BH) e o percentual de moradores nas duas faixas mais altas.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83997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Maior percentual em elevado ou muito elevado: Jaqueira (56,9%); menor: São Raimundo do Doca Bezerra (0,0%).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T28 · tabelas/T28_risco_por_municipio.csv  ·  Bloco 11. Quem está em risco  ·  parte 1 de 2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182880"/>
            <a:ext cx="1063447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Jaqueira tem a maior parte dos moradores em vulnerabilidade elevada ou muito elevada (56,9%)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492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097280"/>
                <a:gridCol w="1188720"/>
                <a:gridCol w="1097280"/>
                <a:gridCol w="1097280"/>
              </a:tblGrid>
              <a:tr h="38582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Pessoas elevado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Pessoas muito elevado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60+ muito elevado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elevado ou mais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Fortaleza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239.631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116.873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11.531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Salinas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3.300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1.283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Limoeiro do Norte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3.256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2.763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416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Brasília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263.386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117.704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8.234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Divinópolis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25.674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9.728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1.198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17,6%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Groaíras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399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Santa Maria do Oeste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268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13,7%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Orizânia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343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13,2%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Capelinha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2.496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763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Raimundo do Doca Bezerra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4166362"/>
            <a:ext cx="7452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 da tabela para o slide; a tabela completa está no CSV indicado no rodapé.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município: setores, moradores e moradores de 60+ em cada faixa (regra do IVS-BH) e o percentual de moradores nas duas faixas mais altas.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49640" y="283997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Maior percentual em elevado ou muito elevado: Jaqueira (56,9%); menor: São Raimundo do Doca Bezerra (0,0%).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T28 · tabelas/T28_risco_por_municipio.csv  ·  Bloco 11. Quem está em risco  ·  parte 2 de 2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2.176.138 pessoas vivem em setores de vulnerabilidade muito elevada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492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914400"/>
                <a:gridCol w="1097280"/>
                <a:gridCol w="1097280"/>
                <a:gridCol w="914400"/>
                <a:gridCol w="100584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Faixa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Pessoas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Pessoas 60+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pessoas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pessoas 60+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baixo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21.526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9.806.849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2.125.549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26,1%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34,1%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médio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32.838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17.740.684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2.954.931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47,3%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47,5%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elevado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14.832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7.788.661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930.618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14,9%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muito elevado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4.681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2.176.138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214.854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indefinida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631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faixa: setores, moradores e moradores de 60+, com os percentuais.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42087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 faixa muito elevada: 2.176.138 pessoas (5,8% do total), das quais 214.854 com 60 anos ou mais.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T29 · tabelas/T29_risco_total.csv  ·  Bloco 11. Quem está em risco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parcela de moradores em cada faixa muda de município para município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C6_pesos_iguais/figuras/F26_risco_por_municipi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85208" y="1243584"/>
            <a:ext cx="3436423" cy="47914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48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barra por município, dividida pelas faixas do índice; o comprimento de cada parte é o percentual de moradores. Ordem: do maior para o menor percentual nas duas faixas mais altas.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9946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304952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topo, Jaqueira (56,9% em elevado ou muito elevado); na base, São Raimundo do Doca Bezerra (0,0%).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F26 · figuras/F26_risco_por_municipio.png  ·  Bloco 11. Quem está em risco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Desigualdade interna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 que municípios o índice varia mais de um setor para outro?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920240" y="4343400"/>
            <a:ext cx="9491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Neste bloco: T30 · F27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São Paulo das Missões tem a maior desigualdade interna do índice (Gini 0,3982)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7208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777240"/>
                <a:gridCol w="777240"/>
                <a:gridCol w="777240"/>
                <a:gridCol w="822960"/>
                <a:gridCol w="777240"/>
                <a:gridCol w="77724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P90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P90/P10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Gini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Theil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Paulo das Missões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0,0657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0,5193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7,90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0,3982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0,3561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Groaíras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0,0605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0,5687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9,40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0,3921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0,3321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Orizânia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0,1755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0,6484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3,69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0,3261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0,1901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Itajuípe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0,1410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0,6533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4,63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0,2849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0,1328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Placas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0,2649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0,7956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0,2598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0,1206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Chapada dos Guimarães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0,1763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0,5814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3,30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0,2517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0,0995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Salinas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0,1407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0,4970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3,53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0,2414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0,0963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Coroaci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0,2006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0,5810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2,90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0,2363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0,0929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Japoatã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0,2355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0,6508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2,76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0,2316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0,1360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Santa Maria do Oeste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0,2416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0,5623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2,33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0,2248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0,0962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…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…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…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…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…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…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…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município: setores, média, percentis 10 e 90 do índice, a razão P90/P10, o Gini e o Theil.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Maior Gini: São Paulo das Missões (0,3982); menor: Salvador (0,0690).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T30 · tabelas/T30_desigualdade_interna.csv  ·  Bloco 12. Desigualdade interna  ·  parte 1 de 2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São Paulo das Missões tem a maior desigualdade interna do índice (Gini 0,3982)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7208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777240"/>
                <a:gridCol w="777240"/>
                <a:gridCol w="777240"/>
                <a:gridCol w="822960"/>
                <a:gridCol w="777240"/>
                <a:gridCol w="77724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P90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P90/P10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Gini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Theil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Jaqueira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0,3278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0,5292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1,61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0,1196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0,0344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Salto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0,2404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0,4065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1,69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0,1180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0,0232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Guarulhos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1.944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0,2190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0,3746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1,71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0,1174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0,0232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Manaus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1.849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0,3239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0,5411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1,67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0,1172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0,0220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Curitiba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2.206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0,1863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0,3244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1,74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0,1166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0,0223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Rio de Janeiro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9.479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0,1869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0,3188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1,71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0,1128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0,0222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Fortaleza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3.117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0,2549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0,4273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1,68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0,1110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0,0210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Belo Horizonte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3.499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0,2249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0,3580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1,59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0,0994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0,0168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Salvador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3.088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0,2813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0,3820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1,36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0,0690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0,0097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Raimundo do Doca Bezerra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4019169"/>
            <a:ext cx="7452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 da tabela para o slide; a tabela completa está no CSV indicado no rodapé.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linha por município: setores, média, percentis 10 e 90 do índice, a razão P90/P10, o Gini e o Theil.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49640" y="263042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Maior Gini: São Paulo das Missões (0,3982); menor: Salvador (0,0690).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T30 · tabelas/T30_desigualdade_interna.csv  ·  Bloco 12. Desigualdade interna  ·  parte 2 de 2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desigualdade interna do índice, município por município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C6_pesos_iguais/figuras/F27_desigualdade_intern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76402" y="1243584"/>
            <a:ext cx="3054037" cy="47914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Barras: Gini do índice dentro de cada município, do maior para o menor. Pontos: Theil.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42087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maior Gini, São Paulo das Missões (0,3982), ao menor, Salvador (0,0690).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F27 · figuras/F27_desigualdade_interna.png  ·  Bloco 12. Desigualdade interna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Comparação com a referência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esta versão muda em relação à referência proposta do NB05?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920240" y="4343400"/>
            <a:ext cx="9491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Neste bloco: T31 · T32 · T33 · F28 · F29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correlação de postos com a referência é 0,9885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512064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280160"/>
                <a:gridCol w="128016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Escopo (menores ρ)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comuns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ρ de Spearman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Total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73.878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0,9885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Raimundo do Doca Bezerra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Placas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0,8000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Jaqueira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0,8286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Preta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0,9216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Guapiaçu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0,9376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Marechal Deodoro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0,9580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Vicentinópolis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0,9636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Limoeiro do Norte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0,9657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Camaragibe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0,9664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Caetano do Sul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280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0,9672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Capelinha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0,9695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Maceió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1.175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0,9697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Taió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0,9704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Salvador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3.088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0,9712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Teresina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876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0,9749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5497449"/>
            <a:ext cx="7452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 da tabela para o slide; a tabela completa está no CSV indicado no rodapé.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Correlação de Spearman entre o índice desta versão e o da referência, nos setores que estão nas duas amostras: total e por município.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49640" y="283997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Total: ρ = 0,9885. Menor correlação municipal: Placas (0,8000).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T31 · tabelas/T31_spearman_com_referencia.csv  ·  Bloco 13. Comparação com a referência</a:t>
            </a:r>
            <a:endParaRPr lang="en-US" sz="9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maior troca de faixa é de elevado para medio (2.905 setores)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621792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005840"/>
                <a:gridCol w="1005840"/>
                <a:gridCol w="1005840"/>
                <a:gridCol w="100584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Referência ↓ · versão →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baixo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médio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elevado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muito elevado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baixo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20.409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861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médio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1.117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29.072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863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elevado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2.905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13.557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1.160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muito elevado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412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3.521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 linha é um par (faixa na referência, faixa nesta versão), com o número de setores e o percentual do total.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Fora da diagonal, a maior célula é de elevado para medio, com 2.905 setores.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T32 · tabelas/T32_matriz_de_faixas.csv  ·  Bloco 13. Comparação com a referência</a:t>
            </a:r>
            <a:endParaRPr lang="en-US" sz="9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9,9% dos setores mudam de faixa em relação à referência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594360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188720"/>
                <a:gridCol w="1188720"/>
                <a:gridCol w="1005840"/>
              </a:tblGrid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comuns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Mudam de faixa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que muda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Todos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73.878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7.319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9,9%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Raimundo do Doca Bezerra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Vicentinópolis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27,3%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Camaragibe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44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22,8%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Placas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Santa Maria do Oeste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20,0%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Maceió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1.175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229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19,5%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Marechal Deodoro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19,1%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Itajuípe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18,8%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Natal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819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Anápolis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468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16,7%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Jaqueira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16,7%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Preta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16,7%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Manaus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1.849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285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15,4%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Limoeiro do Norte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15,4%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3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Fortaleza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3.117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478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15,3%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5497449"/>
            <a:ext cx="7452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 da tabela para o slide; a tabela completa está no CSV indicado no rodapé.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8549640" y="1289304"/>
            <a:ext cx="2862072" cy="1276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primeira linha é o total; as demais, os municípios, do mais afetado para o menos: setores comuns, setores que mudam de faixa e o percentual.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8549640" y="27851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549640" y="283997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total, 9,9% dos setores mudam de faixa; o município mais afetado é São Raimundo do Doca Bezerra (100,0%).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T33 · tabelas/T33_municipios_que_mudam.csv  ·  Bloco 13. Comparação com a referência</a:t>
            </a:r>
            <a:endParaRPr lang="en-US" sz="9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Matriz de faixas: referência × esta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C6_pesos_iguais/figuras/F28_matriz_de_faix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19196" y="1243584"/>
            <a:ext cx="5568449" cy="47914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Linhas: faixa na referência; colunas: faixa nesta versão; cada célula traz o número de setores.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57556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63042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maior troca fora da diagonal é de elevado para medio (2.905 setores).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F28 · figuras/F28_matriz_de_faixas.png  ·  Bloco 13. Comparação com a referência</a:t>
            </a:r>
            <a:endParaRPr lang="en-US" sz="9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municípios mais afetados pela mudança da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5" name="Image 0" descr="/Users/pedro/Documents/Iniciacao Cientifica/Projeto_IVS_Censo22/analises_exploratorias/C6_pesos_iguais/figuras/F29_municipios_que_muda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73489" y="1243584"/>
            <a:ext cx="6459863" cy="47914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549640" y="128930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20 municípios com o maior percentual de setores que mudam de faixa.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8549640" y="236601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549640" y="2420874"/>
            <a:ext cx="2862072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mais afetado é São Raimundo do Doca Bezerra (100,0%); no total, 9,9%.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F29 · figuras/F29_municipios_que_mudam.png  ·  Bloco 13. Comparação com a referência</a:t>
            </a:r>
            <a:endParaRPr lang="en-US" sz="9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Síntese da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472184"/>
            <a:ext cx="5134356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545336"/>
            <a:ext cx="51343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0,8263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777240" y="2130552"/>
            <a:ext cx="51343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AUC municipal contra FCU (mediana) (T26)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277356" y="1472184"/>
            <a:ext cx="5134356" cy="0"/>
          </a:xfrm>
          <a:prstGeom prst="line">
            <a:avLst/>
          </a:prstGeom>
          <a:noFill/>
          <a:ln w="12700">
            <a:solidFill>
              <a:srgbClr val="8C2F2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277356" y="1545336"/>
            <a:ext cx="51343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9,9%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6277356" y="2130552"/>
            <a:ext cx="51343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setores que mudam de faixa em relação à referência (T33)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777240" y="292608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2980944"/>
            <a:ext cx="10634472" cy="3054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esta versão mostra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pesos iguais, sem fatorial, o índice ordena os setores quase como a referência e a AUC municipal contra as favelas até sobe um pouco; cerca de um em cada dez setores muda de faixa. A média de postos sobe mais a AUC, mas reordena bastante os setores. A fatorial, aqui, serve mais para justificar a estrutura de duas dimensões do que para ganhar capacidade de separar as favelas.</a:t>
            </a:r>
            <a:endParaRPr lang="en-US" sz="12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Candidatos ao artigo: as tabelas e figuras desta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243584"/>
            <a:ext cx="10634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Marcar no catálogo (colunas “Vai para o artigo?”, “Seção” e “Comentários”); os IDs são os mesmos em todas as versões.</a:t>
            </a:r>
            <a:endParaRPr lang="en-US" sz="11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609344"/>
          <a:ext cx="1060704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731520"/>
                <a:gridCol w="9144000"/>
              </a:tblGrid>
              <a:tr h="230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ID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Bloco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Título no deck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inadequada tem o maior peso no índice (14,3%)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T24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índice tem mediana 0,3000 e P90 0,4148, em 73.878 setores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T25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Pela regra do IVS-BH, 6,3% dos setores ficam em vulnerabilidade muito elevada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T26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AUC municipal de 0,8263: o índice separa as favelas — versão elegível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T27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AUC vai de 0,6082 (Duque de Caxias) a 0,9575 (Campinas) entre os municípios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F24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distribuição do índice e as faixas do IVS-BH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F25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Curva ROC do índice contra as favelas (AUC global 0,8199)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T28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Jaqueira tem a maior parte dos moradores em vulnerabilidade elevada ou muito elevada (56,9%)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T29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2.176.138 pessoas vivem em setores de vulnerabilidade muito elevada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catalogo.csv  ·  parte 1 de 2</a:t>
            </a:r>
            <a:endParaRPr lang="en-US" sz="9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Candidatos ao artigo: as tabelas e figuras desta versão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243584"/>
            <a:ext cx="10634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Marcar no catálogo (colunas “Vai para o artigo?”, “Seção” e “Comentários”); os IDs são os mesmos em todas as versões.</a:t>
            </a:r>
            <a:endParaRPr lang="en-US" sz="11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609344"/>
          <a:ext cx="1060704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731520"/>
                <a:gridCol w="9144000"/>
              </a:tblGrid>
              <a:tr h="230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ID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Bloco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Título no deck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F26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parcela de moradores em cada faixa muda de município para município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T30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Paulo das Missões tem a maior desigualdade interna do índice (Gini 0,3982)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F27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desigualdade interna do índice, município por município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T31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correlação de postos com a referência é 0,9885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T32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maior troca de faixa é de elevado para medio (2.905 setores)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T33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9,9% dos setores mudam de faixa em relação à referência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F28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Matriz de faixas: referência × esta versão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F29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Os municípios mais afetados pela mudança da versão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8633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T34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 pesos da fatorial (referência), o índice fica com 73.878 setores e ρ = 0,9885 com o valor-padrão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catalogo.csv  ·  parte 2 de 2</a:t>
            </a:r>
            <a:endParaRPr lang="en-US" sz="9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Limitações e parâmetros exploratórios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335024"/>
            <a:ext cx="10634472" cy="4700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Pesos iguais dão às quatro variáveis socioeconômicas mais peso conjunto do que às três de saneamento, só pelo número de variáveis.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amostra do índice exclui todo setor com algum componente faltante (exclusão por lista).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i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Nenhum parâmetro exploratório nesta versão.</a:t>
            </a:r>
            <a:endParaRPr lang="en-US" sz="13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Apêndice: dicionário dos indicadores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1042416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243584"/>
          <a:ext cx="106070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188720"/>
                <a:gridCol w="4206240"/>
                <a:gridCol w="1737360"/>
                <a:gridCol w="1645920"/>
              </a:tblGrid>
              <a:tr h="23088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Indicador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Dimensão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que mede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Numerador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Denominador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Quadro_Indicadores.csv (entrega à orientadora)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C6_pesos_iguais — Pesos iguais, sem fatorial</dc:title>
  <dc:subject>PptxGenJS Presentation</dc:subject>
  <dc:creator>Pedro Dias Soares</dc:creator>
  <cp:lastModifiedBy>Pedro Dias Soares</cp:lastModifiedBy>
  <cp:revision>1</cp:revision>
  <dcterms:created xsi:type="dcterms:W3CDTF">2026-10-06T20:56:15Z</dcterms:created>
  <dcterms:modified xsi:type="dcterms:W3CDTF">2026-10-06T20:56:15Z</dcterms:modified>
</cp:coreProperties>
</file>