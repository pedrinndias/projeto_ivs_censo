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Lst>
  <p:notesMasterIdLst>
    <p:notesMasterId r:id="rId9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notesMaster" Target="notesMasters/notesMaster1.xml"/><Relationship Id="rId94" Type="http://schemas.openxmlformats.org/officeDocument/2006/relationships/presProps" Target="presProps.xml"/><Relationship Id="rId95" Type="http://schemas.openxmlformats.org/officeDocument/2006/relationships/viewProps" Target="viewProps.xml"/><Relationship Id="rId96" Type="http://schemas.openxmlformats.org/officeDocument/2006/relationships/theme" Target="theme/theme1.xml"/><Relationship Id="rId9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que muda se os setores rurais com dados divulgados também entram?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Só o recorte: além dos setores urbanos, entram os setores rurais com Dados_sig = OK dos mesmos 70 municípios. Indicadores, componentes do índice, rotação, pesos e normalização são os da referência.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funil mostra o caminho dos setores. A base completa inclui setores rurais e setores sem dados divulgados. O recorte da versão é o conjunto sobre o qual são calculadas as descritivas, as distribuições e as correlações. A amostra do índice é menor, porque a análise fatorial exige que o setor tenha todos os componentes preenchidos (exclusão por lista: basta faltar um componente para o setor sair). Essa diferença de amostra é importante quando se comparam números de blocos diferentes.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qualquer número, é preciso saber sobre quais setores ele foi calculado. Este bloco segue o caminho dos setores desde a base completa até a amostra do índice: cada filtro tira alguns, e o motivo de cada saída fica registrado. Também mostra, indicador por indicador, quantos setores não têm valor — porque um indicador com muitos faltantes muda a amostra de qualquer análise que o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funil mostra o caminho dos setores. A base completa inclui setores rurais e setores sem dados divulgados. O recorte da versão é o conjunto sobre o qual são calculadas as descritivas, as distribuições e as correlações. A amostra do índice é menor, porque a análise fatorial exige que o setor tenha todos os componentes preenchidos (exclusão por lista: basta faltar um componente para o setor sair). Essa diferença de amostra é importante quando se comparam números de blocos diferentes.
Como ler: Cada linha é um filtro, na ordem em que é aplicado: quantos setores ficam, quantos saem e por quê.
O que mostra: A base tem 109.032 setores; 106.281 ficam no recorte da versão e 75.096 têm todos os componentes do índice (31.185 saem nesta última etapa).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 a mesma informação da tabela do funil, em forma de barras. A queda entre o recorte e a amostra do índice é quase toda causada pelos indicadores com sigilo (renda e analfabetismo) e pelas partes do banheiro graduado, como mostra a tabela de perdas por indicador.
Como ler: Cada barra é uma etapa do funil; o comprimento é o número de setores que ainda estão dentro.
O que mostra: A barra final (75.096 setores) é a amostra do índice; a do recorte tem 106.281.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faltante é um setor do recorte em que o indicador não pôde ser calculado: porque o IBGE não divulgou a variável (sigilo), porque o denominador é zero (por exemplo, nenhuma pessoa de 60 anos ou mais para calcular a proporção de 70+ entre elas) ou porque alguma parte da conta faltou. Indicadores com muitos faltantes reduzem a amostra de qualquer análise que os inclua.
Como ler: Uma linha por indicador: setores com valor, setores sem valor e a porcentagem sem valor dentro do recorte.
O que mostra: O maior percentual de faltantes é o de Analfabetismo 15+ (15,8%); o menor, o de Água inadequada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faltante é um setor do recorte em que o indicador não pôde ser calculado: porque o IBGE não divulgou a variável (sigilo), porque o denominador é zero (por exemplo, nenhuma pessoa de 60 anos ou mais para calcular a proporção de 70+ entre elas) ou porque alguma parte da conta faltou. Indicadores com muitos faltantes reduzem a amostra de qualquer análise que os inclua.
Como ler: Uma linha por indicador: setores com valor, setores sem valor e a porcentagem sem valor dentro do recorte.
O que mostra: O maior percentual de faltantes é o de Analfabetismo 15+ (15,8%); o menor, o de Água inadequada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descritivas resumem cada indicador em poucos números: o centro (média e mediana), a dispersão (desvio-padrão, quartis, percentis 10 e 90) e a forma (assimetria e curtose). Elas aparecem para o conjunto, por região e por município, para que diferenças de lugar fiquem visíveis antes de qualquer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média é sensível a valores extremos; a mediana não. Quando as duas se afastam, a distribuição é assimétrica. A assimetria é positiva quando há uma cauda longa à direita (poucos setores com valores muito altos). A curtose mede o peso das caudas: valores altos indicam muitos extremos. O coeficiente de variação (DP dividido pela média, em %) permite comparar a dispersão de indicadores em escalas diferentes. Nos indicadores de saneamento, a maioria dos setores vale zero: a mediana é zero e o intervalo interquartil também, o que explica por que o critério de extremos muda para eles (bloco 5).
Como ler: Uma linha por indicador. n: setores com valor; DP: desvio-padrão; P10…P90: percentis; CV: coeficiente de variação; % zeros: setores com valor exatamente zero.
O que mostra: A maior assimetria é a de Sem banheiro nem sanitário (49,54); o maior percentual de zeros é o de Sem banheiro nem sanitário (99,4%).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média é sensível a valores extremos; a mediana não. Quando as duas se afastam, a distribuição é assimétrica. A assimetria é positiva quando há uma cauda longa à direita (poucos setores com valores muito altos). A curtose mede o peso das caudas: valores altos indicam muitos extremos. O coeficiente de variação (DP dividido pela média, em %) permite comparar a dispersão de indicadores em escalas diferentes. Nos indicadores de saneamento, a maioria dos setores vale zero: a mediana é zero e o intervalo interquartil também, o que explica por que o critério de extremos muda para eles (bloco 5).
Como ler: Uma linha por indicador. n: setores com valor; DP: desvio-padrão; P10…P90: percentis; CV: coeficiente de variação; % zeros: setores com valor exatamente zero.
O que mostra: A maior assimetria é a de Sem banheiro nem sanitário (49,54); o maior percentual de zeros é o de Sem banheiro nem sanitário (99,4%).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região é o primeiro dígito do código da unidade da federação. As diferenças entre regiões mostram o quanto o retrato depende do lugar: um indicador que varia muito entre regiões pode dominar um índice calculado com normalização global, e é por isso que a referência normaliza dentro de cada município.
Como ler: Uma linha por região e indicador, com as mesmas colunas da tabela global.
O que mostra: Para Renda média, a mediana mais alta está no Sul (3.685,88) e a mais baixa no Nordeste (1.692,69).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região é o primeiro dígito do código da unidade da federação. As diferenças entre regiões mostram o quanto o retrato depende do lugar: um indicador que varia muito entre regiões pode dominar um índice calculado com normalização global, e é por isso que a referência normaliza dentro de cada município.
Como ler: Uma linha por região e indicador, com as mesmas colunas da tabela global.
O que mostra: Para Renda média, a mediana mais alta está no Sul (3.685,88) e a mais baixa no Nordeste (1.692,69).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São 70 municípios de tamanhos muito diferentes: alguns têm poucas dezenas de setores, e a mediana deles é menos estável. A tabela completa serve para consulta; o slide destaca os extremos.
Como ler: Uma linha por município e indicador (tabela longa). No deck, um recorte; a tabela completa está no CSV.
O que mostra: Para Renda média, a maior mediana municipal é a de São Caetano do Sul (5.291,89); a menor, a de Portel (1.022,28).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São 70 municípios de tamanhos muito diferentes: alguns têm poucas dezenas de setores, e a mediana deles é menos estável. A tabela completa serve para consulta; o slide destaca os extremos.
Como ler: Uma linha por município e indicador (tabela longa). No deck, um recorte; a tabela completa está no CSV.
O que mostra: Para Renda média, a maior mediana municipal é a de São Caetano do Sul (5.291,89); a menor, a de Portel (1.022,28).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números do bloco anterior escondem a forma da distribuição. Histogramas, caixas e curvas de densidade mostram se o indicador se concentra em zero, se tem cauda longa ou se separa regiões. Cada painel reúne os indicadores de uma dimensão.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histograma divide o intervalo de valores em 50 faixas iguais e conta os setores em cada uma. Uma barra alta junto do zero indica muitos setores sem o problema medido; uma cauda longa à direita indica poucos setores com valores muito altos. Os 0,5% de valores mais altos são omitidos só no desenho, para que a cauda não esmague a escala; as tabelas usam todos os valores.
Como ler: Um histograma por indicador da dimensão: no eixo horizontal, o valor; no vertical, quantos setores têm aquele valor. Os 0,5% maiores ficam de fora para a escala ser legível.
O que mostra: Entre os indicadores de Saneamento, a maior assimetria é a de Sem banheiro nem sanitário (49,54).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diagrama de caixa resume a distribuição em cinco números. A caixa contém a metade central dos setores; se as caixas de duas regiões não se sobrepõem, a diferença entre elas é grande. Quando a mediana e o 1º quartil coincidem com zero, a caixa fica achatada no chão: é o caso dos indicadores com muitos zeros.
Como ler: Uma caixa por região: a linha dentro é a mediana, a caixa vai do 1º ao 3º quartil e as hastes até 1,5 intervalo interquartil. Os pontos extremos não são desenhados (ver bloco 5).
O que mostra: No primeiro indicador da dimensão (Água inadequada), a mediana regional vai de 0,0000 (Centro-Oeste) a 0,1991 (Norte).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curva de densidade é um histograma suavizado e normalizado: a área sob ela vale 1, qualquer que seja o número de setores da região. Assim, comparam-se formas, não tamanhos. Picos em lugares diferentes indicam regiões com valores típicos diferentes; uma curva mais larga indica mais dispersão.
Como ler: Uma curva por região em cada painel: a altura indica onde os setores daquela região se concentram. As áreas sob as curvas são iguais, para que regiões grandes e pequenas sejam comparáveis.
O que mostra: Em Água inadequada, a mediana regional vai de 0,0000 (Centro-Oeste) a 0,1991 (Norte).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histograma divide o intervalo de valores em 50 faixas iguais e conta os setores em cada uma. Uma barra alta junto do zero indica muitos setores sem o problema medido; uma cauda longa à direita indica poucos setores com valores muito altos. Os 0,5% de valores mais altos são omitidos só no desenho, para que a cauda não esmague a escala; as tabelas usam todos os valores.
Como ler: Um histograma por indicador da dimensão: no eixo horizontal, o valor; no vertical, quantos setores têm aquele valor. Os 0,5% maiores ficam de fora para a escala ser legível.
O que mostra: Entre os indicadores de Socioeconômica, a maior assimetria é a de Renda média (3,76).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diagrama de caixa resume a distribuição em cinco números. A caixa contém a metade central dos setores; se as caixas de duas regiões não se sobrepõem, a diferença entre elas é grande. Quando a mediana e o 1º quartil coincidem com zero, a caixa fica achatada no chão: é o caso dos indicadores com muitos zeros.
Como ler: Uma caixa por região: a linha dentro é a mediana, a caixa vai do 1º ao 3º quartil e as hastes até 1,5 intervalo interquartil. Os pontos extremos não são desenhados (ver bloco 5).
O que mostra: No primeiro indicador da dimensão (Razão de moradores), a mediana regional vai de 2,6039 (Sul) a 3,2017 (Norte).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curva de densidade é um histograma suavizado e normalizado: a área sob ela vale 1, qualquer que seja o número de setores da região. Assim, comparam-se formas, não tamanhos. Picos em lugares diferentes indicam regiões com valores típicos diferentes; uma curva mais larga indica mais dispersão.
Como ler: Uma curva por região em cada painel: a altura indica onde os setores daquela região se concentram. As áreas sob as curvas são iguais, para que regiões grandes e pequenas sejam comparáveis.
O que mostra: Em Razão de moradores, a mediana regional vai de 2,6039 (Sul) a 3,2017 (Norte).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histograma divide o intervalo de valores em 50 faixas iguais e conta os setores em cada uma. Uma barra alta junto do zero indica muitos setores sem o problema medido; uma cauda longa à direita indica poucos setores com valores muito altos. Os 0,5% de valores mais altos são omitidos só no desenho, para que a cauda não esmague a escala; as tabelas usam todos os valores.
Como ler: Um histograma por indicador da dimensão: no eixo horizontal, o valor; no vertical, quantos setores têm aquele valor. Os 0,5% maiores ficam de fora para a escala ser legível.
O que mostra: Entre os indicadores de Morfologia, a maior assimetria é a de Domicílio improvisado (36,36).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diagrama de caixa resume a distribuição em cinco números. A caixa contém a metade central dos setores; se as caixas de duas regiões não se sobrepõem, a diferença entre elas é grande. Quando a mediana e o 1º quartil coincidem com zero, a caixa fica achatada no chão: é o caso dos indicadores com muitos zeros.
Como ler: Uma caixa por região: a linha dentro é a mediana, a caixa vai do 1º ao 3º quartil e as hastes até 1,5 intervalo interquartil. Os pontos extremos não são desenhados (ver bloco 5).
O que mostra: No primeiro indicador da dimensão (Domicílio improvisado), a mediana regional vai de 0,0000 (Centro-Oeste) a 0,0000 (Centro-Oeste).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curva de densidade é um histograma suavizado e normalizado: a área sob ela vale 1, qualquer que seja o número de setores da região. Assim, comparam-se formas, não tamanhos. Picos em lugares diferentes indicam regiões com valores típicos diferentes; uma curva mais larga indica mais dispersão.
Como ler: Uma curva por região em cada painel: a altura indica onde os setores daquela região se concentram. As áreas sob as curvas são iguais, para que regiões grandes e pequenas sejam comparáveis.
O que mostra: Em Domicílio improvisado, a mediana regional vai de 0,0000 (Centro-Oeste) a 0,0000 (Centro-Oeste).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histograma divide o intervalo de valores em 50 faixas iguais e conta os setores em cada uma. Uma barra alta junto do zero indica muitos setores sem o problema medido; uma cauda longa à direita indica poucos setores com valores muito altos. Os 0,5% de valores mais altos são omitidos só no desenho, para que a cauda não esmague a escala; as tabelas usam todos os valores.
Como ler: Um histograma por indicador da dimensão: no eixo horizontal, o valor; no vertical, quantos setores têm aquele valor. Os 0,5% maiores ficam de fora para a escala ser legível.
O que mostra: Entre os indicadores de Demografia, a maior assimetria é a de Índice de envelhecimento (5,75).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diagrama de caixa resume a distribuição em cinco números. A caixa contém a metade central dos setores; se as caixas de duas regiões não se sobrepõem, a diferença entre elas é grande. Quando a mediana e o 1º quartil coincidem com zero, a caixa fica achatada no chão: é o caso dos indicadores com muitos zeros.
Como ler: Uma caixa por região: a linha dentro é a mediana, a caixa vai do 1º ao 3º quartil e as hastes até 1,5 intervalo interquartil. Os pontos extremos não são desenhados (ver bloco 5).
O que mostra: No primeiro indicador da dimensão (Crianças 0–4), a mediana regional vai de 0,0468 (Sul) a 0,0644 (Norte).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curva de densidade é um histograma suavizado e normalizado: a área sob ela vale 1, qualquer que seja o número de setores da região. Assim, comparam-se formas, não tamanhos. Picos em lugares diferentes indicam regiões com valores típicos diferentes; uma curva mais larga indica mais dispersão.
Como ler: Uma curva por região em cada painel: a altura indica onde os setores daquela região se concentram. As áreas sob as curvas são iguais, para que regiões grandes e pequenas sejam comparáveis.
O que mostra: Em Crianças 0–4, a mediana regional vai de 0,0468 (Sul) a 0,0644 (Norte).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IBGE não divulga alguns valores para proteger o sigilo de setores pequenos. Se a falta fosse aleatória, bastaria descartar os setores sem dado; como ela se concentra em setores pequenos, descartar muda o retrato. Este bloco mostra onde estão os faltantes e como eles se distribuem pelo tamanho do setor.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faltantes não se espalham por igual entre os municípios. Onde eles se concentram, um índice calculado só com setores completos retrata pior o município, porque os setores que saem não são uma amostra ao acaso.
Como ler: Uma linha por município e uma coluna por indicador; cada célula é o percentual de setores do município sem aquele indicador.
O que mostra: A célula mais alta é Banheiro graduado em Groaíras, com 66,7% dos setores sem valor.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mapa de calor mostra a tabela anterior como cores. Colunas inteiras escuras indicam indicadores com sigilo ou denominador frequentemente zero; linhas escuras indicam municípios com muitos setores pequenos.
Como ler: Mapa de calor: linhas são municípios, colunas são indicadores; quanto mais escura a célula, maior o percentual de setores sem valor.
O que mostra: O ponto mais escuro é Banheiro graduado em Groaíras (66,7%).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 falta de dados fosse aleatória, o percentual de faltantes seria parecido em todos os décimos. Quando ele se concentra nos setores pequenos, a falta é não aleatória: o IBGE suprime valores para proteger o sigilo de quem mora em setores com poucos domicílios. A consequência é que análises só com setores completos sub-representam setores pequenos.
Como ler: Os setores são divididos em dez grupos iguais pelo número de moradores (1 = os menores). Para cada grupo, o percentual de setores sem renda e sem analfabetismo, e o percentual em FCU.
O que mostra: Sem renda: 0,1% no primeiro décimo e 0,0% no último. Sem analfabetismo: 28,3% e 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duas linhas mostram a mesma tabela em forma de gráfico. Uma linha que desce da esquerda para a direita é o sinal do sigilo: quanto menor o setor, mais provável que o valor tenha sido suprimido.
Como ler: Eixo horizontal: décimo de moradores do setor (1 = menores). Eixo vertical: percentual de setores sem o indicador.
O que mostra: Renda: de 0,1% a 0,0%; analfabetismo: de 28,3% a 3,8%, do menor ao maior décimo.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extremo não é um erro por definição: pode ser um setor realmente diferente. O critério muda com o indicador: o intervalo interquartil onde ele funciona, um critério próprio para a renda e, nos indicadores em que a maioria dos setores vale zero, o critério aplicado só aos valores acima de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critério de Tukey marca como extremo o valor que fica a mais de 3 intervalos interquartis abaixo do 1º quartil ou acima do 3º (o intervalo interquartil é a distância entre o 1º e o 3º quartil). Nos indicadores com mediana zero esse intervalo é zero, e qualquer valor positivo viraria extremo; por isso, neles, o critério é aplicado só aos valores acima de zero. A renda usa o critério próprio do projeto: limite de Tukey dentro de cada município e um teste de coerência com o perfil do setor, que separa a renda alta de verdade (EXTREMO) da provável inconsistência (SUSPEITO).
Como ler: Uma linha por indicador: o critério usado, os limites, quantos setores passam deles e o percentual de zeros.
O que mostra: O maior percentual de extremos é o de Moradia convencional (6,8%), pelo critério “Tukey k=3 (intervalo interquartil)”.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critério de Tukey marca como extremo o valor que fica a mais de 3 intervalos interquartis abaixo do 1º quartil ou acima do 3º (o intervalo interquartil é a distância entre o 1º e o 3º quartil). Nos indicadores com mediana zero esse intervalo é zero, e qualquer valor positivo viraria extremo; por isso, neles, o critério é aplicado só aos valores acima de zero. A renda usa o critério próprio do projeto: limite de Tukey dentro de cada município e um teste de coerência com o perfil do setor, que separa a renda alta de verdade (EXTREMO) da provável inconsistência (SUSPEITO).
Como ler: Uma linha por indicador: o critério usado, os limites, quantos setores passam deles e o percentual de zeros.
O que mostra: O maior percentual de extremos é o de Moradia convencional (6,8%), pelo critério “Tukey k=3 (intervalo interquartil)”.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critério de Tukey marca como extremo o valor que fica a mais de 3 intervalos interquartis abaixo do 1º quartil ou acima do 3º (o intervalo interquartil é a distância entre o 1º e o 3º quartil). Nos indicadores com mediana zero esse intervalo é zero, e qualquer valor positivo viraria extremo; por isso, neles, o critério é aplicado só aos valores acima de zero. A renda usa o critério próprio do projeto: limite de Tukey dentro de cada município e um teste de coerência com o perfil do setor, que separa a renda alta de verdade (EXTREMO) da provável inconsistência (SUSPEITO).
Como ler: Uma linha por indicador: o critério usado, os limites, quantos setores passam deles e o percentual de zeros.
O que mostra: O maior percentual de extremos é o de Moradia convencional (6,8%), pelo critério “Tukey k=3 (intervalo interquartil)”.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total soma marcações, não setores: um setor extremo em dois indicadores conta duas vezes. Municípios grandes tendem a ter mais marcações só por terem mais setores; a comparação justa é com o número de setores de cada um (bloco 2).
Como ler: Uma linha por município e uma coluna por indicador, com o número de setores marcados; a coluna total soma todas as marcações.
O que mostra: O município com mais marcações é São Paulo, com 8.067 no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lista serve para conferência caso a caso: abrir o setor, olhar o entorno e decidir se é um setor diferente de verdade ou um erro de registro. Nenhum setor é retirado das análises por estar nesta lista.
Como ler: Até dez setores por indicador, os mais distantes da mediana entre os marcados como extremo: código do setor, município, valor e mediana global.
O que mostra: No topo da lista de Renda média está um setor de Belo Horizonte, com valor 170.418,06.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lista serve para conferência caso a caso: abrir o setor, olhar o entorno e decidir se é um setor diferente de verdade ou um erro de registro. Nenhum setor é retirado das análises por estar nesta lista.
Como ler: Até dez setores por indicador, os mais distantes da mediana entre os marcados como extremo: código do setor, município, valor e mediana global.
O que mostra: No topo da lista de Renda média está um setor de Belo Horizonte, com valor 170.418,06.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classe vem do rastreio da renda do projeto (src/ivs_censo/renda.py). Um setor de renda alta com baixo analfabetismo e pouca população preta, parda ou indígena é coerente; o mesmo valor num setor com perfil oposto é suspeito. A variante de renda “sem o extremo” retira esses valores; a referência usa a renda original.
Como ler: Cada setor com renda recebe uma classe: NORMAL, EXTREMO (acima do limite do município, mas coerente com o perfil) ou SUSPEITO (acima do limite e incoerente).
O que mostra: São 70 setores SUSPEITO (0,07%) e 3.400 EXTREMO.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percentuais não são comparáveis de forma direta entre critérios diferentes: o critério da inflação de zeros olha só os setores com valor acima de zero. O gráfico serve para localizar os indicadores em que os extremos merecem atenção.
Como ler: Uma barra por indicador, com o percentual de setores marcados; a cor indica o critério (petróleo: Tukey; cinza: inflação de zeros; argila: renda).
O que mostra: A barra mais longa é a de Moradia convencional (6,8%).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correlação mede o quanto dois indicadores sobem e descem juntos, de −1 a 1. Pares muito correlacionados medem quase a mesma coisa; pares sem correlação trazem informação diferente. O bloco mostra as duas medidas usuais (Spearman, por postos, e Pearson, linear) e agrupa os indicadores parecidos.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correlação de Spearman é calculada sobre os postos (a ordem dos setores), não sobre os valores. Por isso é pouco afetada por extremos e capta relações que sobem sempre, mesmo que não em linha reta. Valor perto de 1: os setores ordenados por um indicador ficam quase na mesma ordem pelo outro; perto de −1: ordem invertida; perto de 0: sem relação de ordem. Cada par usa os setores com os dois valores.
Como ler: Matriz de correlação de Spearman: cada célula é a correlação entre o indicador da linha e o da coluna, de −1 a 1.
O que mostra: A maior correlação em módulo é entre Renda média e Renda sem o extremo (ρ =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correlação de Pearson mede a relação em linha reta entre os valores. Ela é sensível a extremos e a distribuições muito assimétricas, como as do saneamento. Quando Pearson e Spearman divergem muito para um mesmo par, a relação é puxada por poucos setores extremos ou não é linear.
Como ler: Matriz de correlação de Pearson, com a mesma leitura da de Spearman.
O que mostra: A maior correlação de Pearson em módulo é entre Renda média e Renda sem o extremo (r =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indicadores com correlação acima de 0,80 medem praticamente a mesma coisa. Pôr os dois no índice dá peso dobrado a essa dimensão. Muitas vezes são variantes de um mesmo conceito (por exemplo, as três rendas ou as várias definições de água), e a escolha entre elas é uma das decisões que as versões do eixo B exploram.
Como ler: Os pares de indicadores com correlação de pelo menos 0,80 em módulo, por Spearman ou por Pearson, do mais forte para o mais fraco.
O que mostra: No topo: Renda sem o extremo × Renda (mediana mun.), com Spearman 1,0000 e Pearson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indicadores com correlação acima de 0,80 medem praticamente a mesma coisa. Pôr os dois no índice dá peso dobrado a essa dimensão. Muitas vezes são variantes de um mesmo conceito (por exemplo, as três rendas ou as várias definições de água), e a escolha entre elas é uma das decisões que as versões do eixo B exploram.
Como ler: Os pares de indicadores com correlação de pelo menos 0,80 em módulo, por Spearman ou por Pearson, do mais forte para o mais fraco.
O que mostra: No topo: Renda sem o extremo × Renda (mediana mun.), com Spearman 1,0000 e Pearson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reordenação põe lado a lado os indicadores que se correlacionam entre si, e os blocos de cor ao longo da diagonal revelam os grupos. Um grupo nítido costuma corresponder a uma dimensão: socioeconômica, saneamento, moradia, idade.
Como ler: Matriz de correlação de Spearman entre todos os indicadores, reordenados pelo agrupamento do dendrograma. Cada célula do triângulo inferior traz o valor de ρ (−1 a 1); argila é correlação positiva, petróleo negativa, branco é perto de zero. Com 31 indicadores, os valores só ficam legíveis com a figura ampliada; as matrizes por dimensão vêm a seguir.
O que mostra: O par mais forte é Renda média × Renda sem o extremo (ρ =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 a matriz no formato da que a orientadora enviou: o IVS e as variáveis novas lado a lado, com os valores escritos. A correlação de Spearman mede se dois indicadores ordenam os setores do mesmo jeito: 1 é a mesma ordem, −1 a ordem invertida, 0 nenhuma relação. A renda aparece como renda média (não invertida): por isso ela tem correlação negativa com as carências. Variáveis com muitos zeros (água não chega, sem banheiro, moradia não convencional) têm correlações achatadas, porque os empates em zero não têm ordem.
Como ler: Matriz de Spearman só com os componentes do índice (acima e à esquerda da linha) e as variáveis das demandas de setembro (abaixo e à direita). Cada célula traz o ρ; argila é positiva, petróleo negativa.
O que mostra: Entre uma variável nova e um componente de outra família, o par mais forte é Sem água canalizada × Cor/raça PPI (ρ = 0,4292). Pares de variantes da mesma coisa (como banheiro graduado e sem banheiro) ficam de fora do destaque.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matriz completa tem 31 indicadores e, num slide, os valores ficam pequenos demais; por isso cada dimensão tem a sua. Pares com ρ perto de 1 são, quase sempre, variantes da mesma medida (as três rendas, as definições de banheiro): escolher uma delas é uma das decisões do índice. As correlações entre dimensões estão na matriz completa e na matriz dos componentes.
Como ler: Matriz de Spearman só com os indicadores da dimensão Saneamento; cada célula traz o ρ (−1 a 1). Argila é correlação positiva, petróleo negativa.
O que mostra: Na dimensão Saneamento, o par mais forte é Sem banheiro × Banheiro graduado (ρ =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matriz completa tem 31 indicadores e, num slide, os valores ficam pequenos demais; por isso cada dimensão tem a sua. Pares com ρ perto de 1 são, quase sempre, variantes da mesma medida (as três rendas, as definições de banheiro): escolher uma delas é uma das decisões do índice. As correlações entre dimensões estão na matriz completa e na matriz dos componentes.
Como ler: Matriz de Spearman só com os indicadores da dimensão Socioeconômica; cada célula traz o ρ (−1 a 1). Argila é correlação positiva, petróleo negativa.
O que mostra: Na dimensão Socioeconômica, o par mais forte é Renda média × Renda sem o extremo (ρ =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matriz completa tem 31 indicadores e, num slide, os valores ficam pequenos demais; por isso cada dimensão tem a sua. Pares com ρ perto de 1 são, quase sempre, variantes da mesma medida (as três rendas, as definições de banheiro): escolher uma delas é uma das decisões do índice. As correlações entre dimensões estão na matriz completa e na matriz dos componentes.
Como ler: Matriz de Spearman só com os indicadores da dimensão Morfologia; cada célula traz o ρ (−1 a 1). Argila é correlação positiva, petróleo negativa.
O que mostra: Na dimensão Morfologia, o par mais forte é Habitação precária × Moradia não convencional (ρ = 0,9632).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matriz completa tem 31 indicadores e, num slide, os valores ficam pequenos demais; por isso cada dimensão tem a sua. Pares com ρ perto de 1 são, quase sempre, variantes da mesma medida (as três rendas, as definições de banheiro): escolher uma delas é uma das decisões do índice. As correlações entre dimensões estão na matriz completa e na matriz dos componentes.
Como ler: Matriz de Spearman só com os indicadores da dimensão Demografia; cada célula traz o ρ (−1 a 1). Argila é correlação positiva, petróleo negativa.
O que mostra: Na dimensão Demografia, o par mais forte é Pessoas 60+ × Dependência idosa (ρ = 0,9953).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dendrograma é o resultado de um agrupamento hierárquico: começa com cada indicador sozinho e, a cada passo, une os dois grupos mais próximos. A distância entre dois indicadores é 1 menos o módulo da correlação de Spearman (0 = idênticos, 1 = sem relação); entre grupos, usa-se a média das distâncias (ligação média). Ele é um retrato descritivo: não substitui a análise fatorial.
Como ler: Cada indicador é uma folha à esquerda; as linhas os unem do mais parecido para o menos. Quanto mais à esquerda a união, mais correlacionados os indicadores.
O que mostra: O par mais próximo é Renda média × Renda sem o extremo (ρ =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favelas e comunidades urbanas delimitadas pelo IBGE servem de referência externa: um bom indicador de vulnerabilidade deve ter valores mais altos nelas. A comparação usa medianas e a AUC, que mede a capacidade de separar os dois grupos.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AUC (área sob a curva ROC) é a probabilidade de que um setor de favela, sorteado ao acaso, tenha valor maior que um setor de fora, também sorteado. AUC 0,5: o indicador não separa os grupos. Acima de 0,5: valores maiores nas favelas. Abaixo de 0,5: valores menores nas favelas (é o caso da renda, que entra no índice invertida). A AUC aqui é global, com todos os municípios juntos.
Como ler: Uma linha por indicador: setores de FCU e fora, a mediana em cada grupo, a diferença e a AUC do indicador sozinho.
O que mostra: Cor/raça PPI tem AUC 0,8375 (mediana 0,7427 em FCU e 0,5151 fora); a menor AUC é a de Renda sem o extremo (0,1107).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AUC (área sob a curva ROC) é a probabilidade de que um setor de favela, sorteado ao acaso, tenha valor maior que um setor de fora, também sorteado. AUC 0,5: o indicador não separa os grupos. Acima de 0,5: valores maiores nas favelas. Abaixo de 0,5: valores menores nas favelas (é o caso da renda, que entra no índice invertida). A AUC aqui é global, com todos os municípios juntos.
Como ler: Uma linha por indicador: setores de FCU e fora, a mediana em cada grupo, a diferença e a AUC do indicador sozinho.
O que mostra: Cor/raça PPI tem AUC 0,8375 (mediana 0,7427 em FCU e 0,5151 fora); a menor AUC é a de Renda sem o extremo (0,1107).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Barras que partem de 0,5 deixam claro o sentido: argila para a direita, o indicador é maior nas favelas; petróleo para a esquerda, é menor. O painel das medianas mostra a mesma comparação em valores absolutos, o que ajuda a separar uma diferença grande em termos relativos de uma diferença grande de fato.
Como ler: À esquerda, a AUC de cada indicador (barras a partir de 0,5; argila acima, petróleo abaixo). À direita, as medianas em FCU e fora, para os indicadores em proporção.
O que mostra: A maior AUC é a de Cor/raça PPI (0,8375); a menor, a de Renda sem o extremo (0,1107).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projeto olha para a vulnerabilidade do idoso. Este bloco descreve a estrutura etária e quatro indicadores de envelhecimento, e cruza o percentual de pessoas de 60 anos ou mais com os demais indicadores.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faixas etárias do Censo não são todas do mesmo tamanho: de 30 a 59 anos elas têm dez anos, e as anteriores, cinco. Por isso as faixas de dez anos tendem a parecer maiores. O percentual é calculado sobre a soma das faixas, e cada região soma 100%.
Como ler: Uma linha por faixa etária; as colunas são o total e as regiões, com o percentual da população de cada uma em cada faixa.
O que mostra: Pessoas de 70 anos ou mais são 7,4% do total, chegando a 8,5% no Sul.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agregados por setor do Censo trazem as faixas etárias sem a separação por sexo, por isso a figura é uma pirâmide de um lado só. Pontos à direita da barra nas faixas mais velhas indicam regiões mais envelhecidas.
Como ler: Barras: percentual da população total em cada faixa etária. Pontos: o mesmo percentual em cada região.
O que mostra: 70+: 7,4% no total e 8,5% no Sul.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índice de envelhecimento é a razão entre pessoas de 60 anos ou mais e pessoas de 0 a 14 anos. A razão de dependência idosa é a razão entre pessoas de 60 anos ou mais e pessoas de 15 a 59 anos. A proporção de 70+ entre os 60+ indica o quanto a população idosa do setor é mais velha. Os quatro são calculados por setor.
Como ler: Os quatro indicadores de envelhecimento, para o total e por região: n, média, mediana, quartis e as demais descritivas.
O que mostra: Pessoas 60+: mediana de 0,1935 no Sul e 0,1106 no Norte. Índice de envelhecimento, mediana do total: 95,5556.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índice de envelhecimento é a razão entre pessoas de 60 anos ou mais e pessoas de 0 a 14 anos. A razão de dependência idosa é a razão entre pessoas de 60 anos ou mais e pessoas de 15 a 59 anos. A proporção de 70+ entre os 60+ indica o quanto a população idosa do setor é mais velha. Os quatro são calculados por setor.
Como ler: Os quatro indicadores de envelhecimento, para o total e por região: n, média, mediana, quartis e as demais descritivas.
O que mostra: Pessoas 60+: mediana de 0,1935 no Sul e 0,1106 no Norte. Índice de envelhecimento, mediana do total: 95,5556.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tabela cruza envelhecimento com vulnerabilidade. Uma correlação positiva com a renda indica que setores mais ricos têm mais idosos (envelhecimento associado à transição demográfica mais avançada); uma correlação negativa com indicadores de carência diz o mesmo pelo outro lado. Isso importa para o IVS-Idoso: se idade e vulnerabilidade andam em sentidos opostos, somá-las num índice só pode cancelar os efeitos.
Como ler: Correlação de Spearman entre os indicadores de envelhecimento (linhas) e os demais (colunas).
O que mostra: Para pessoas 60+, a correlação mais forte é com População 0–14 (ρ = -0,7838); com a renda média, ρ = 0,5142.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tabela cruza envelhecimento com vulnerabilidade. Uma correlação positiva com a renda indica que setores mais ricos têm mais idosos (envelhecimento associado à transição demográfica mais avançada); uma correlação negativa com indicadores de carência diz o mesmo pelo outro lado. Isso importa para o IVS-Idoso: se idade e vulnerabilidade andam em sentidos opostos, somá-las num índice só pode cancelar os efeitos.
Como ler: Correlação de Spearman entre os indicadores de envelhecimento (linhas) e os demais (colunas).
O que mostra: Para pessoas 60+, a correlação mais forte é com População 0–14 (ρ = -0,7838); com a renda média, ρ = 0,5142.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mais de cem mil setores, um gráfico de pontos vira uma mancha. O gráfico de hexágonos conta quantos setores caem em cada célula. A escala logarítmica da renda espalha os setores de renda baixa, que de outro modo ficariam espremidos à esquerda.
Como ler: Cada hexágono reúne setores com valores parecidos; quanto mais escuro, mais setores. Eixo horizontal: renda média em escala logarítmica; vertical: proporção de pessoas de 60 anos ou mais.
O que mostra: A correlação de Spearman entre as duas é 0,5142.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os fatores e os pesos, cada setor recebe um valor de 0 a 1 dentro do seu município. O bloco mostra os pesos, a distribuição do índice, as faixas de vulnerabilidade pelas duas regras, a AUC contra as favelas e se a versão passa nos critérios de elegibilidade fixados no NB05.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pesos seguem a receita do NB04: cada variável vai para a dimensão em que tem a maior carga; o peso da dimensão é repartido entre as variáveis dela em proporção ao quadrado da carga. O peso das dimensões depende do método da versão; na referência é a regra do IVS-BH de 2012 (60% socioeconômica, 40% saneamento).
Como ler: Uma linha por componente: a dimensão em que ele carrega mais, a carga, o peso da dimensão e o peso final no índice (em %).
O que mostra: O maior peso é o de Renda (invertida) (19,4%); a dimensão F1 (socioeconômica) pesa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índice vai de 0 (o setor menos vulnerável do município) a 1 (o mais vulnerável). Comparar o nível do índice entre municípios não faz sentido nesta normalização; o que se compara é a posição relativa de cada setor dentro da sua cidade.
Como ler: Descritivas do índice para o total e por região. Como o índice é normalizado dentro de cada município, todo município tem mínimo 0 e máximo 1.
O que mostra: 75.096 setores; mediana 0,3309; percentil 90 0,4358.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regra do IVS-BH de 2012 classifica pelo afastamento da média do município em desvios-padrão: abaixo de −0,5 DP é baixo; até +0,5 DP, médio; até +1,5 DP, elevado; acima, muito elevado. Como a distribuição é assimétrica, as faixas não têm o mesmo tamanho. A regra dos quartis divide cada município em quatro partes iguais, por construção com 25% cada.
Como ler: Quantos setores ficam em cada faixa, pelas duas regras: a do IVS-BH (média e desvio-padrão do município) e a dos quartis do município.
O que mostra: IVS-BH: 28,7% baixo e 5,6% muito elevado. Quartis: 25,0% muito elevado.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AUC global junta todos os setores; a municipal calcula a AUC dentro de cada município e toma a mediana, só nos municípios com pelo menos 30 setores de FCU e 30 fora. A municipal é a leitura adequada para um índice normalizado no município. Os critérios de elegibilidade foram fixados antes de rodar a grade do NB05: KMO de pelo menos 0,70, MSA de pelo menos 0,50, comunalidade de pelo menos 0,30 e carga de pelo menos 0,40 em todas as variáveis. A elegibilidade é descritiva: não escolhe a versão.
Como ler: AUC global e municipal, peso da dimensão socioeconômica e os critérios de elegibilidade do NB05, um por linha (1 = atende).
O que mostra: AUC global 0,8177; mediana da AUC municipal 0,8169, em 31 municípios. Pelos critérios do NB05, a versão é elegível.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Municípios com poucos setores de favela têm AUC instável: um ou dois setores mudam muito o resultado. Por isso a mediana só usa os municípios com pelo menos 30 setores em cada grupo; os demais ficam na tabela, marcados.
Como ler: Uma linha por município: AUC, setores de FCU (n1) e fora (n0) e se o município entra na mediana.
O que mostra: Entre os municípios que entram na mediana, a maior AUC é a de Guarujá (0,9433) e a menor, a de Duque de Caxias (0,5865).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Municípios com poucos setores de favela têm AUC instável: um ou dois setores mudam muito o resultado. Por isso a mediana só usa os municípios com pelo menos 30 setores em cada grupo; os demais ficam na tabela, marcados.
Como ler: Uma linha por município: AUC, setores de FCU (n1) e fora (n0) e se o município entra na mediana.
O que mostra: Entre os municípios que entram na mediana, a maior AUC é a de Guarujá (0,9433) e a menor, a de Duque de Caxias (0,5865).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as faixas são definidas dentro de cada município, um mesmo valor do índice pode cair em faixas diferentes em cidades diferentes: por isso as cores se sobrepõem nas fronteiras.
Como ler: Histograma do índice, com cada barra dividida pela faixa dos setores (regra do IVS-BH).
O que mostra: 28,7% dos setores ficam em baixo e 5,6% em muito elevado.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Quanto mais a curva se aproxima do canto superior esquerdo, melhor o índice separa os dois grupos. A área sob a curva é a AUC. Esta curva usa todos os setores juntos; como o índice é normalizado no município, a AUC municipal é a medida principal.
Como ler: Cada ponto da curva é um corte do índice: no eixo vertical, a proporção de setores de FCU acima do corte; no horizontal, a dos setores de fora. A diagonal é o acaso.
O que mostra: Área sob a curva: 0,8177 (global); a mediana municipal é 0,8169.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versão muda uma coisa só em relação à referência. Este bloco mede o efeito dessa mudança: a correlação de postos entre os dois índices, a matriz de setores que trocam de faixa e os municípios mais afetados.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correlação de postos perto de 1 indica que a versão ordena os setores quase como a referência, ainda que os valores mudem. Na própria referência, o valor é 1 por construção.
Como ler: Correlação de Spearman entre o índice desta versão e o da referência, nos setores que estão nas duas amostras: total e por município.
O que mostra: Total: ρ = 0,9961. Menor correlação municipal: Japoatã (0,8000).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diagonal (mesma faixa nas duas) mostra a concordância. Trocas entre faixas vizinhas são esperadas quando os pesos mudam um pouco; trocas de duas faixas ou mais indicam que a versão muda de fato a classificação do setor.
Como ler: Cada linha é um par (faixa na referência, faixa nesta versão), com o número de setores e o percentual do total.
O que mostra: Fora da diagonal, a maior célula é de medio para elevado, com 287 setores.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faixa usada é a da regra do IVS-BH. Municípios pequenos tendem a aparecer no topo, porque poucas trocas pesam muito em poucos setores.
Como ler: A primeira linha é o total; as demais, os municípios, do mais afetado para o menos: setores comuns, setores que mudam de faixa e o percentual.
O que mostra: No total, 1,6% dos setores mudam de faixa; o município mais afetado é Urandi (28,6%).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matriz com quase tudo na diagonal indica que a mudança da versão não altera a classificação; células fora da diagonal mostram para onde os setores se movem.
Como ler: Linhas: faixa na referência; colunas: faixa nesta versão; cada célula traz o número de setores.
O que mostra: A maior troca fora da diagonal é de medio para elevado (287 setores).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gráfico destaca onde a escolha desta versão faz mais diferença. Na própria referência, todas as barras são zero.
Como ler: Os 20 municípios com o maior percentual de setores que mudam de faixa.
O que mostra: O mais afetado é Urandi (28,6%); no total,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setores rurais são poucos diante dos urbanos, e o índice quase não muda: a correlação de postos com a referência fica perto de 1 e poucos setores trocam de faixa. A AUC contra as favelas cai um pouco, o que é esperado, porque as favelas são urbanas e os setores rurais carentes passam a disputar as faixas altas com elas. Os municípios mais afetados são os pequenos, em que os rurais pesam mais no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favelas e comunidades urbanas só existem em área urbana: com rurais, a AUC compara favelas também com setores rurais, o que muda o sentido da medida.
Os indicadores de saneamento foram pensados para a cidade: poço ou fossa no campo não têm o mesmo significado de carência que na área urbana.
A amostra do índice continua excluindo todo setor com algum componente faltante (exclusão por lista).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234440"/>
            <a:ext cx="10634472" cy="310896"/>
          </a:xfrm>
          <a:prstGeom prst="rect">
            <a:avLst/>
          </a:prstGeom>
          <a:noFill/>
          <a:ln/>
        </p:spPr>
        <p:txBody>
          <a:bodyPr wrap="square" lIns="0" tIns="0" rIns="0" bIns="0" rtlCol="0" anchor="ctr"/>
          <a:lstStyle/>
          <a:p>
            <a:pPr indent="0" marL="0">
              <a:buNone/>
            </a:pPr>
            <a:r>
              <a:rPr lang="en-US" sz="1150" spc="200" kern="0" dirty="0">
                <a:solidFill>
                  <a:srgbClr val="56534C"/>
                </a:solidFill>
                <a:latin typeface="Cambria" pitchFamily="34" charset="0"/>
                <a:ea typeface="Cambria" pitchFamily="34" charset="-122"/>
                <a:cs typeface="Cambria" pitchFamily="34" charset="-120"/>
              </a:rPr>
              <a:t>ANÁLISES EXPLORATÓRIAS POR VERSÃO · A1_com_rurais</a:t>
            </a:r>
            <a:endParaRPr lang="en-US" sz="1150" dirty="0"/>
          </a:p>
        </p:txBody>
      </p:sp>
      <p:sp>
        <p:nvSpPr>
          <p:cNvPr id="3" name="Shape 1"/>
          <p:cNvSpPr/>
          <p:nvPr/>
        </p:nvSpPr>
        <p:spPr>
          <a:xfrm>
            <a:off x="777240" y="1627632"/>
            <a:ext cx="10634472" cy="0"/>
          </a:xfrm>
          <a:prstGeom prst="line">
            <a:avLst/>
          </a:prstGeom>
          <a:noFill/>
          <a:ln w="12700">
            <a:solidFill>
              <a:srgbClr val="1A1A18"/>
            </a:solidFill>
            <a:prstDash val="solid"/>
          </a:ln>
        </p:spPr>
      </p:sp>
      <p:sp>
        <p:nvSpPr>
          <p:cNvPr id="4" name="Text 2"/>
          <p:cNvSpPr/>
          <p:nvPr/>
        </p:nvSpPr>
        <p:spPr>
          <a:xfrm>
            <a:off x="777240" y="1783080"/>
            <a:ext cx="10634472" cy="914400"/>
          </a:xfrm>
          <a:prstGeom prst="rect">
            <a:avLst/>
          </a:prstGeom>
          <a:noFill/>
          <a:ln/>
        </p:spPr>
        <p:txBody>
          <a:bodyPr wrap="square" lIns="0" tIns="0" rIns="0" bIns="0" rtlCol="0" anchor="ctr"/>
          <a:lstStyle/>
          <a:p>
            <a:pPr indent="0" marL="0">
              <a:buNone/>
            </a:pPr>
            <a:r>
              <a:rPr lang="en-US" sz="4000" b="1" dirty="0">
                <a:solidFill>
                  <a:srgbClr val="1A1A18"/>
                </a:solidFill>
                <a:latin typeface="Cambria" pitchFamily="34" charset="0"/>
                <a:ea typeface="Cambria" pitchFamily="34" charset="-122"/>
                <a:cs typeface="Cambria" pitchFamily="34" charset="-120"/>
              </a:rPr>
              <a:t>Com os setores rurais</a:t>
            </a:r>
            <a:endParaRPr lang="en-US" sz="4000" dirty="0"/>
          </a:p>
        </p:txBody>
      </p:sp>
      <p:sp>
        <p:nvSpPr>
          <p:cNvPr id="5" name="Text 3"/>
          <p:cNvSpPr/>
          <p:nvPr/>
        </p:nvSpPr>
        <p:spPr>
          <a:xfrm>
            <a:off x="777240" y="2788920"/>
            <a:ext cx="8595360" cy="1005840"/>
          </a:xfrm>
          <a:prstGeom prst="rect">
            <a:avLst/>
          </a:prstGeom>
          <a:noFill/>
          <a:ln/>
        </p:spPr>
        <p:txBody>
          <a:bodyPr wrap="square" lIns="0" tIns="0" rIns="0" bIns="0" rtlCol="0" anchor="ctr"/>
          <a:lstStyle/>
          <a:p>
            <a:pPr indent="0" marL="0">
              <a:lnSpc>
                <a:spcPts val="2000"/>
              </a:lnSpc>
              <a:buNone/>
            </a:pPr>
            <a:r>
              <a:rPr lang="en-US" sz="1400" dirty="0">
                <a:solidFill>
                  <a:srgbClr val="56534C"/>
                </a:solidFill>
                <a:latin typeface="Cambria" pitchFamily="34" charset="0"/>
                <a:ea typeface="Cambria" pitchFamily="34" charset="-122"/>
                <a:cs typeface="Cambria" pitchFamily="34" charset="-120"/>
              </a:rPr>
              <a:t>O que muda se os setores rurais com dados divulgados também entram?</a:t>
            </a:r>
            <a:endParaRPr lang="en-US" sz="1400" dirty="0"/>
          </a:p>
        </p:txBody>
      </p:sp>
      <p:sp>
        <p:nvSpPr>
          <p:cNvPr id="6" name="Shape 4"/>
          <p:cNvSpPr/>
          <p:nvPr/>
        </p:nvSpPr>
        <p:spPr>
          <a:xfrm>
            <a:off x="777240" y="5623560"/>
            <a:ext cx="10634472" cy="0"/>
          </a:xfrm>
          <a:prstGeom prst="line">
            <a:avLst/>
          </a:prstGeom>
          <a:noFill/>
          <a:ln w="9525">
            <a:solidFill>
              <a:srgbClr val="C8C6C0"/>
            </a:solidFill>
            <a:prstDash val="solid"/>
          </a:ln>
        </p:spPr>
      </p:sp>
      <p:sp>
        <p:nvSpPr>
          <p:cNvPr id="7" name="Text 5"/>
          <p:cNvSpPr/>
          <p:nvPr/>
        </p:nvSpPr>
        <p:spPr>
          <a:xfrm>
            <a:off x="777240" y="5760720"/>
            <a:ext cx="10634472" cy="457200"/>
          </a:xfrm>
          <a:prstGeom prst="rect">
            <a:avLst/>
          </a:prstGeom>
          <a:noFill/>
          <a:ln/>
        </p:spPr>
        <p:txBody>
          <a:bodyPr wrap="square" lIns="0" tIns="0" rIns="0" bIns="0" rtlCol="0" anchor="ctr"/>
          <a:lstStyle/>
          <a:p>
            <a:pPr indent="0" marL="0">
              <a:buNone/>
            </a:pPr>
            <a:r>
              <a:rPr lang="en-US" sz="1100" dirty="0">
                <a:solidFill>
                  <a:srgbClr val="56534C"/>
                </a:solidFill>
                <a:latin typeface="Cambria" pitchFamily="34" charset="0"/>
                <a:ea typeface="Cambria" pitchFamily="34" charset="-122"/>
                <a:cs typeface="Cambria" pitchFamily="34" charset="-120"/>
              </a:rPr>
              <a:t>outubro de 2026  ·  106.281 setores no recorte  ·  75.096 na amostra do índice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 que muda nesta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2011680"/>
                <a:gridCol w="4297680"/>
                <a:gridCol w="4297680"/>
              </a:tblGrid>
              <a:tr h="274320">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Aspecto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Referência (00_referencia)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Esta versão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Base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entrega_orientadora/Base_ELSI_70Municipios_Censo2022.db</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Recorte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setores urbanos; Dados_sig = OK</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b="1" dirty="0">
                          <a:solidFill>
                            <a:srgbClr val="8C2F27"/>
                          </a:solidFill>
                          <a:latin typeface="Cambria" pitchFamily="34" charset="0"/>
                          <a:ea typeface="Cambria" pitchFamily="34" charset="-122"/>
                          <a:cs typeface="Cambria" pitchFamily="34" charset="-120"/>
                        </a:rPr>
                        <a:t>setores urbanos e rurais; Dados_sig = OK</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Indicadores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todos os do quadro, com as variantes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16814">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Componentes do índice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Água inadequada, Esgoto inadequado, Razão de moradores, Analfabetismo 15+, renda_inv, Cor/raça PPI, Banheiro graduado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Renda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original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Rotação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promax</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Pesos das dimensões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60_40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Normalização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municipal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Blocos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1, 2, 3, 4, 5, 6, 7, 8, 9, 10, 11, 12, 13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b="1" dirty="0">
                          <a:solidFill>
                            <a:srgbClr val="8C2F27"/>
                          </a:solidFill>
                          <a:latin typeface="Cambria" pitchFamily="34" charset="0"/>
                          <a:ea typeface="Cambria" pitchFamily="34" charset="-122"/>
                          <a:cs typeface="Cambria" pitchFamily="34" charset="-120"/>
                        </a:rPr>
                        <a:t>1, 2, 3, 4, 5, 6, 7, 8, 10, 13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77240" y="4303014"/>
            <a:ext cx="822960" cy="0"/>
          </a:xfrm>
          <a:prstGeom prst="line">
            <a:avLst/>
          </a:prstGeom>
          <a:noFill/>
          <a:ln w="15875">
            <a:solidFill>
              <a:srgbClr val="8C2F27"/>
            </a:solidFill>
            <a:prstDash val="solid"/>
          </a:ln>
        </p:spPr>
      </p:sp>
      <p:sp>
        <p:nvSpPr>
          <p:cNvPr id="7" name="Text 4"/>
          <p:cNvSpPr/>
          <p:nvPr/>
        </p:nvSpPr>
        <p:spPr>
          <a:xfrm>
            <a:off x="777240" y="4357878"/>
            <a:ext cx="10634472" cy="1677162"/>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muda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Só o recorte: além dos setores urbanos, entram os setores rurais com Dados_sig = OK dos mesmos 70 municípios. Indicadores, componentes do índice, rotação, pesos e normalização são os da referência.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75.096 setores chegam ao índice</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Shape 3"/>
          <p:cNvSpPr/>
          <p:nvPr/>
        </p:nvSpPr>
        <p:spPr>
          <a:xfrm>
            <a:off x="777240" y="1517904"/>
            <a:ext cx="3300984" cy="0"/>
          </a:xfrm>
          <a:prstGeom prst="line">
            <a:avLst/>
          </a:prstGeom>
          <a:noFill/>
          <a:ln w="12700">
            <a:solidFill>
              <a:srgbClr val="1A1A18"/>
            </a:solidFill>
            <a:prstDash val="solid"/>
          </a:ln>
        </p:spPr>
      </p:sp>
      <p:sp>
        <p:nvSpPr>
          <p:cNvPr id="6" name="Text 4"/>
          <p:cNvSpPr/>
          <p:nvPr/>
        </p:nvSpPr>
        <p:spPr>
          <a:xfrm>
            <a:off x="777240" y="1591056"/>
            <a:ext cx="3300984" cy="566928"/>
          </a:xfrm>
          <a:prstGeom prst="rect">
            <a:avLst/>
          </a:prstGeom>
          <a:noFill/>
          <a:ln/>
        </p:spPr>
        <p:txBody>
          <a:bodyPr wrap="square" lIns="0" tIns="0" rIns="0" bIns="0" rtlCol="0" anchor="ctr"/>
          <a:lstStyle/>
          <a:p>
            <a:pPr indent="0" marL="0">
              <a:buNone/>
            </a:pPr>
            <a:r>
              <a:rPr lang="en-US" sz="3000" b="1" dirty="0">
                <a:solidFill>
                  <a:srgbClr val="1A1A18"/>
                </a:solidFill>
                <a:latin typeface="Cambria" pitchFamily="34" charset="0"/>
                <a:ea typeface="Cambria" pitchFamily="34" charset="-122"/>
                <a:cs typeface="Cambria" pitchFamily="34" charset="-120"/>
              </a:rPr>
              <a:t>109.032</a:t>
            </a:r>
            <a:endParaRPr lang="en-US" sz="3000" dirty="0"/>
          </a:p>
        </p:txBody>
      </p:sp>
      <p:sp>
        <p:nvSpPr>
          <p:cNvPr id="7" name="Text 5"/>
          <p:cNvSpPr/>
          <p:nvPr/>
        </p:nvSpPr>
        <p:spPr>
          <a:xfrm>
            <a:off x="777240" y="2176272"/>
            <a:ext cx="3300984"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setores na base completa</a:t>
            </a:r>
            <a:endParaRPr lang="en-US" sz="1050" dirty="0"/>
          </a:p>
        </p:txBody>
      </p:sp>
      <p:sp>
        <p:nvSpPr>
          <p:cNvPr id="8" name="Shape 6"/>
          <p:cNvSpPr/>
          <p:nvPr/>
        </p:nvSpPr>
        <p:spPr>
          <a:xfrm>
            <a:off x="4443984" y="1517904"/>
            <a:ext cx="3300984" cy="0"/>
          </a:xfrm>
          <a:prstGeom prst="line">
            <a:avLst/>
          </a:prstGeom>
          <a:noFill/>
          <a:ln w="12700">
            <a:solidFill>
              <a:srgbClr val="1A1A18"/>
            </a:solidFill>
            <a:prstDash val="solid"/>
          </a:ln>
        </p:spPr>
      </p:sp>
      <p:sp>
        <p:nvSpPr>
          <p:cNvPr id="9" name="Text 7"/>
          <p:cNvSpPr/>
          <p:nvPr/>
        </p:nvSpPr>
        <p:spPr>
          <a:xfrm>
            <a:off x="4443984" y="1591056"/>
            <a:ext cx="3300984" cy="566928"/>
          </a:xfrm>
          <a:prstGeom prst="rect">
            <a:avLst/>
          </a:prstGeom>
          <a:noFill/>
          <a:ln/>
        </p:spPr>
        <p:txBody>
          <a:bodyPr wrap="square" lIns="0" tIns="0" rIns="0" bIns="0" rtlCol="0" anchor="ctr"/>
          <a:lstStyle/>
          <a:p>
            <a:pPr indent="0" marL="0">
              <a:buNone/>
            </a:pPr>
            <a:r>
              <a:rPr lang="en-US" sz="3000" b="1" dirty="0">
                <a:solidFill>
                  <a:srgbClr val="1A1A18"/>
                </a:solidFill>
                <a:latin typeface="Cambria" pitchFamily="34" charset="0"/>
                <a:ea typeface="Cambria" pitchFamily="34" charset="-122"/>
                <a:cs typeface="Cambria" pitchFamily="34" charset="-120"/>
              </a:rPr>
              <a:t>106.281</a:t>
            </a:r>
            <a:endParaRPr lang="en-US" sz="3000" dirty="0"/>
          </a:p>
        </p:txBody>
      </p:sp>
      <p:sp>
        <p:nvSpPr>
          <p:cNvPr id="10" name="Text 8"/>
          <p:cNvSpPr/>
          <p:nvPr/>
        </p:nvSpPr>
        <p:spPr>
          <a:xfrm>
            <a:off x="4443984" y="2176272"/>
            <a:ext cx="3300984"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setores no recorte da versão (descritivas, distribuições, correlações)</a:t>
            </a:r>
            <a:endParaRPr lang="en-US" sz="1050" dirty="0"/>
          </a:p>
        </p:txBody>
      </p:sp>
      <p:sp>
        <p:nvSpPr>
          <p:cNvPr id="11" name="Shape 9"/>
          <p:cNvSpPr/>
          <p:nvPr/>
        </p:nvSpPr>
        <p:spPr>
          <a:xfrm>
            <a:off x="8110728" y="1517904"/>
            <a:ext cx="3300984" cy="0"/>
          </a:xfrm>
          <a:prstGeom prst="line">
            <a:avLst/>
          </a:prstGeom>
          <a:noFill/>
          <a:ln w="12700">
            <a:solidFill>
              <a:srgbClr val="8C2F27"/>
            </a:solidFill>
            <a:prstDash val="solid"/>
          </a:ln>
        </p:spPr>
      </p:sp>
      <p:sp>
        <p:nvSpPr>
          <p:cNvPr id="12" name="Text 10"/>
          <p:cNvSpPr/>
          <p:nvPr/>
        </p:nvSpPr>
        <p:spPr>
          <a:xfrm>
            <a:off x="8110728" y="1591056"/>
            <a:ext cx="3300984" cy="566928"/>
          </a:xfrm>
          <a:prstGeom prst="rect">
            <a:avLst/>
          </a:prstGeom>
          <a:noFill/>
          <a:ln/>
        </p:spPr>
        <p:txBody>
          <a:bodyPr wrap="square" lIns="0" tIns="0" rIns="0" bIns="0" rtlCol="0" anchor="ctr"/>
          <a:lstStyle/>
          <a:p>
            <a:pPr indent="0" marL="0">
              <a:buNone/>
            </a:pPr>
            <a:r>
              <a:rPr lang="en-US" sz="3000" b="1" dirty="0">
                <a:solidFill>
                  <a:srgbClr val="8C2F27"/>
                </a:solidFill>
                <a:latin typeface="Cambria" pitchFamily="34" charset="0"/>
                <a:ea typeface="Cambria" pitchFamily="34" charset="-122"/>
                <a:cs typeface="Cambria" pitchFamily="34" charset="-120"/>
              </a:rPr>
              <a:t>75.096</a:t>
            </a:r>
            <a:endParaRPr lang="en-US" sz="3000" dirty="0"/>
          </a:p>
        </p:txBody>
      </p:sp>
      <p:sp>
        <p:nvSpPr>
          <p:cNvPr id="13" name="Text 11"/>
          <p:cNvSpPr/>
          <p:nvPr/>
        </p:nvSpPr>
        <p:spPr>
          <a:xfrm>
            <a:off x="8110728" y="2176272"/>
            <a:ext cx="3300984"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setores na amostra do índice (fatorial e blocos 9 a 13)</a:t>
            </a:r>
            <a:endParaRPr lang="en-US" sz="1050" dirty="0"/>
          </a:p>
        </p:txBody>
      </p:sp>
      <p:sp>
        <p:nvSpPr>
          <p:cNvPr id="14" name="Text 12"/>
          <p:cNvSpPr/>
          <p:nvPr/>
        </p:nvSpPr>
        <p:spPr>
          <a:xfrm>
            <a:off x="777240" y="3026664"/>
            <a:ext cx="10634472" cy="219456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Por que dois números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funil mostra o caminho dos setores. A base completa inclui setores rurais e setores sem dados divulgados. O recorte da versão é o conjunto sobre o qual são calculadas as descritivas, as distribuições e as correlações. A amostra do índice é menor, porque a análise fatorial exige que o setor tenha todos os componentes preenchidos (exclusão por lista: basta faltar um componente para o setor sair). Essa diferença de amostra é importante quando se comparam números de blocos diferentes.</a:t>
            </a:r>
            <a:endParaRPr lang="en-US" sz="1250" dirty="0"/>
          </a:p>
        </p:txBody>
      </p:sp>
      <p:sp>
        <p:nvSpPr>
          <p:cNvPr id="15" name="Text 13"/>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T01 · tabelas/T01_funil.csv</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Sumário: os blocos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640080"/>
                <a:gridCol w="2377440"/>
                <a:gridCol w="4937760"/>
                <a:gridCol w="2651760"/>
              </a:tblGrid>
              <a:tr h="274320">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Bloco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Título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Pergunta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Itens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Recorte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Quantos setores entram nesta versão, quantos saem e por quê?</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T01, F01, 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Descritivas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Qual é o valor típico de cada indicador, e quanto ele varia?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T03, T04, T05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Distribuições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Que forma tem cada indicador, e ela muda de uma região para outra?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F02, F03, F04, F05, F06, F07, F08, F09, F10, F11, F12, F13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Faltantes e sigilo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Onde faltam dados, e a falta é aleatória?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T06, F14, T07, F15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Extremos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Que setores têm valores fora do comum, e por qual critério?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T08, T09, T10, T11, F16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Correlações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Que indicadores andam juntos?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T12, T13, T14, F17, F31, F32, F33, F34, F35, F18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Favelas e comunidades urbanas (FCU)</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Cada indicador, sozinho, separa os setores de favela dos demais?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T15, F19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Como a população idosa se distribui, e com que indicadores ela se relaciona?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T16, F20, T17, T18, F21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O índice da versão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Como fica o índice, e ele separa os setores de favela?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T23, T24, T25, T26, T27, F24, F25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Comparação com a referência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O que esta versão muda em relação à referência proposta do NB05?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T31, T32, T33, F28, F29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Recorte</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Quantos setores entram nesta versão, quantos saem e por quê?</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T01 · F01 · T02</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75.096 setores chegam ao índice, de 109.032 na base</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06640" cy="914400"/>
        </p:xfrm>
        <a:graphic>
          <a:graphicData uri="http://schemas.openxmlformats.org/drawingml/2006/table">
            <a:tbl>
              <a:tblPr/>
              <a:tblGrid>
                <a:gridCol w="2377440"/>
                <a:gridCol w="914400"/>
                <a:gridCol w="822960"/>
                <a:gridCol w="3291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Etapa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Saem</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Motivo da saída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Base completa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109.032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Dados_sig = OK</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setor sem dados divulgados (sigilo ou sem domicílio ocupado)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Componentes do índice completos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75.096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31.185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faltante em algum componente do índice (exclusão por lista)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linha é um filtro, na ordem em que é aplicado: quantos setores ficam, quantos saem e por quê.</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base tem 109.032 setores; 106.281 ficam no recorte da versão e 75.096 têm todos os componentes do índice (31.185 saem nesta última etapa).</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T01 · tabelas/T01_funil.csv  ·  Bloco 1. Recorte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Do recorte ao índice, 31.185 setores saem por falta de algum componente</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01_funil.png">    </p:cNvPr>
          <p:cNvPicPr>
            <a:picLocks noChangeAspect="1"/>
          </p:cNvPicPr>
          <p:nvPr/>
        </p:nvPicPr>
        <p:blipFill>
          <a:blip r:embed="rId1"/>
          <a:stretch>
            <a:fillRect/>
          </a:stretch>
        </p:blipFill>
        <p:spPr>
          <a:xfrm>
            <a:off x="777240" y="1243584"/>
            <a:ext cx="7452360" cy="2286161"/>
          </a:xfrm>
          <a:prstGeom prst="rect">
            <a:avLst/>
          </a:prstGeom>
        </p:spPr>
      </p:pic>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barra é uma etapa do funil; o comprimento é o número de setores que ainda estão dentro.</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barra final (75.096 setores) é a amostra do índice; a do recorte tem 106.281.</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F01 · figuras/F01_funil.png  ·  Bloco 1. Recorte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Analfabetismo 15+ é o indicador com mais faltantes (15,8% dos setores)</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858000" cy="914400"/>
        </p:xfrm>
        <a:graphic>
          <a:graphicData uri="http://schemas.openxmlformats.org/drawingml/2006/table">
            <a:tbl>
              <a:tblPr/>
              <a:tblGrid>
                <a:gridCol w="2377440"/>
                <a:gridCol w="1371600"/>
                <a:gridCol w="109728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Dimensão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sem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Lixo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106.181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96.167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89.965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16.316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93.693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12.588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103.058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102.152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96.149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91.199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89.527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16.754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106.029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setores com valor, setores sem valor e a porcentagem sem valor dentro do recorte.</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maior percentual de faltantes é o de Analfabetismo 15+ (15,8%); o menor, o de Água inadequada (0,0%).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T02 · tabelas/T02_perdas_por_indicador.csv  ·  Bloco 1. Recorte  ·  parte 1 de 2</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Analfabetismo 15+ é o indicador com mais faltantes (15,8% dos setores)</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858000" cy="914400"/>
        </p:xfrm>
        <a:graphic>
          <a:graphicData uri="http://schemas.openxmlformats.org/drawingml/2006/table">
            <a:tbl>
              <a:tblPr/>
              <a:tblGrid>
                <a:gridCol w="2377440"/>
                <a:gridCol w="1371600"/>
                <a:gridCol w="109728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Dimensão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sem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97.101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9.180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101.813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93.324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12.957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Demografia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Demografia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105.983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Demografia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105.930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Demografia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105.130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Demografia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105.912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Demografia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103.851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setores com valor, setores sem valor e a porcentagem sem valor dentro do recorte.</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maior percentual de faltantes é o de Analfabetismo 15+ (15,8%); o menor, o de Água inadequada (0,0%).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T02 · tabelas/T02_perdas_por_indicador.csv  ·  Bloco 1. Recorte  ·  parte 2 de 2</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2</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Descritivas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Qual é o valor típico de cada indicador, e quanto ele varia?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T03 · T04 · T05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Sem banheiro nem sanitário é o indicador mais assimétrico (assimetria 49,54)</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52360" cy="914400"/>
        </p:xfrm>
        <a:graphic>
          <a:graphicData uri="http://schemas.openxmlformats.org/drawingml/2006/table">
            <a:tbl>
              <a:tblPr/>
              <a:tblGrid>
                <a:gridCol w="1830404"/>
                <a:gridCol w="740878"/>
                <a:gridCol w="740878"/>
                <a:gridCol w="740878"/>
                <a:gridCol w="697297"/>
                <a:gridCol w="740878"/>
                <a:gridCol w="740878"/>
                <a:gridCol w="566554"/>
                <a:gridCol w="653716"/>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DP</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Assim.</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zeros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0,3595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Lixo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0,5784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106.181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96.167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89.965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93.693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103.058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49,54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102.152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96.149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91.199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2,6978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0,3993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2,2069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2,7161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3,1513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89.527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4.141,33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4.123,88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1.371,36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2.545,98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9.392,20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0,5756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0,7974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106.029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0,4083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0,6338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n: setores com valor; DP: desvio-padrão; P10…P90: percentis; CV: coeficiente de variação; % zeros: setores com valor exatamente zero.</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assimetria é a de Sem banheiro nem sanitário (49,54); o maior percentual de zeros é o de Sem banheiro nem sanitário (99,4%).</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T03 · tabelas/T03_descritivas_global.csv  ·  Bloco 2. Descritivas  ·  parte 1 de 2</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Sem banheiro nem sanitário é o indicador mais assimétrico (assimetria 49,54)</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52360" cy="914400"/>
        </p:xfrm>
        <a:graphic>
          <a:graphicData uri="http://schemas.openxmlformats.org/drawingml/2006/table">
            <a:tbl>
              <a:tblPr/>
              <a:tblGrid>
                <a:gridCol w="1830404"/>
                <a:gridCol w="740878"/>
                <a:gridCol w="740878"/>
                <a:gridCol w="740878"/>
                <a:gridCol w="697297"/>
                <a:gridCol w="740878"/>
                <a:gridCol w="740878"/>
                <a:gridCol w="566554"/>
                <a:gridCol w="653716"/>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DP</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Assim.</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zeros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4.139,76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4.092,23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1.371,35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2.545,97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9.391,64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4.139,75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4.092,21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1.371,36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2.545,98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9.391,61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0,9841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97.101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0,3080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0,4030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101.813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0,7009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0,3782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0,9208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93.324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105.983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105.930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0,2921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105.130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133,7686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140,8730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30,5825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95,5556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273,5294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105.912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28,0947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17,0502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10,3448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25,1208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49,6121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103.851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42,6840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11,0892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28,9157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42,8571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56,0000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n: setores com valor; DP: desvio-padrão; P10…P90: percentis; CV: coeficiente de variação; % zeros: setores com valor exatamente zero.</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assimetria é a de Sem banheiro nem sanitário (49,54); o maior percentual de zeros é o de Sem banheiro nem sanitário (99,4%).</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T03 · tabelas/T03_descritivas_global.csv  ·  Bloco 2. Descritivas  ·  parte 2 de 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Renda média: a mediana vai de 1.692,69 (Nordeste) a 3.685,88 (Sul)</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223760" cy="914400"/>
        </p:xfrm>
        <a:graphic>
          <a:graphicData uri="http://schemas.openxmlformats.org/drawingml/2006/table">
            <a:tbl>
              <a:tblPr/>
              <a:tblGrid>
                <a:gridCol w="2194560"/>
                <a:gridCol w="1005840"/>
                <a:gridCol w="100584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 — mediana por região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Norte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Nordeste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Sudeste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Sul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Centro-Oeste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Lixo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2,7890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2,6618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2,6039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2,8079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1.774,10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1.692,69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2.714,00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3.685,88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3.083,05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0,7740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0,7369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0,6072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0,5439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0,5567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região e indicador, com as mesmas colunas da tabela global.</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Para Renda média, a mediana mais alta está no Sul (3.685,88) e a mais baixa no Nordeste (1.692,69).</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T04 · tabelas/T04_descritivas_regiao.csv  ·  Bloco 2. Descritivas  ·  parte 1 de 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Renda média: a mediana vai de 1.692,69 (Nordeste) a 3.685,88 (Sul)</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223760" cy="914400"/>
        </p:xfrm>
        <a:graphic>
          <a:graphicData uri="http://schemas.openxmlformats.org/drawingml/2006/table">
            <a:tbl>
              <a:tblPr/>
              <a:tblGrid>
                <a:gridCol w="2194560"/>
                <a:gridCol w="1005840"/>
                <a:gridCol w="100584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 — mediana por região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Norte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Nordeste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Sudeste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Sul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Centro-Oeste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1.774,10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1.692,69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2.713,93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3.685,88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3.083,05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1.774,10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1.692,69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2.714,00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3.685,88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3.083,05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0,9039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0,9474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0,8515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0,9344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0,1434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51,8519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77,1186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110,8108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122,0559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74,6114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16,4444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21,5385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28,1046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30,0464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20,4918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38,4615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41,9753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43,7500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43,8849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40,8333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25106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região e indicador, com as mesmas colunas da tabela global.</a:t>
            </a:r>
            <a:endParaRPr lang="en-US" sz="1250" dirty="0"/>
          </a:p>
        </p:txBody>
      </p:sp>
      <p:sp>
        <p:nvSpPr>
          <p:cNvPr id="8" name="Shape 5"/>
          <p:cNvSpPr/>
          <p:nvPr/>
        </p:nvSpPr>
        <p:spPr>
          <a:xfrm>
            <a:off x="8549640" y="2366010"/>
            <a:ext cx="822960" cy="0"/>
          </a:xfrm>
          <a:prstGeom prst="line">
            <a:avLst/>
          </a:prstGeom>
          <a:noFill/>
          <a:ln w="15875">
            <a:solidFill>
              <a:srgbClr val="8C2F27"/>
            </a:solidFill>
            <a:prstDash val="solid"/>
          </a:ln>
        </p:spPr>
      </p:sp>
      <p:sp>
        <p:nvSpPr>
          <p:cNvPr id="9" name="Text 6"/>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Para Renda média, a mediana mais alta está no Sul (3.685,88) e a mais baixa no Nordeste (1.692,69).</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T04 · tabelas/T04_descritivas_regiao.csv  ·  Bloco 2. Descritivas  ·  parte 2 de 2</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Renda média: entre os municípios, a mediana vai de 1.022,28 a 5.291,89</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583680" cy="914400"/>
        </p:xfrm>
        <a:graphic>
          <a:graphicData uri="http://schemas.openxmlformats.org/drawingml/2006/table">
            <a:tbl>
              <a:tblPr/>
              <a:tblGrid>
                <a:gridCol w="2743200"/>
                <a:gridCol w="82296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 — Renda 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Caetano do Sul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3.052,32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5.291,89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11.103,24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Curitiba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2.129,00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4.115,50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9.499,64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Porto Alegre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1.627,01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3.951,36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10.001,68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Brasília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1.841,90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3.388,19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12.851,51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Campinas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1.759,03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3.375,08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9.740,62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Pato Branco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2.064,28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3.330,81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6.298,66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Bernardo do Campo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1.647,47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3.316,01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7.681,23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Goiânia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1.866,97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3.108,76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9.429,07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26.672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1.644,68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3.091,00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12.259,10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1.574,21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3.060,31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10.036,09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 indicador (tabela longa). No deck, um recorte; a tabela completa está no CSV.</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Para Renda média, a maior mediana municipal é a de São Caetano do Sul (5.291,89); a menor, a de Portel (1.022,28).</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T05 · tabelas/T05_descritivas_municipio.csv  ·  Bloco 2. Descritivas  ·  parte 1 de 2</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Renda média: entre os municípios, a mediana vai de 1.022,28 a 5.291,89</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583680" cy="914400"/>
        </p:xfrm>
        <a:graphic>
          <a:graphicData uri="http://schemas.openxmlformats.org/drawingml/2006/table">
            <a:tbl>
              <a:tblPr/>
              <a:tblGrid>
                <a:gridCol w="2743200"/>
                <a:gridCol w="82296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 — Renda 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Urandi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1.036,18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1.262,61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1.955,50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Groaíras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910,85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1.218,26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1.673,56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778,00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1.150,89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1.925,34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Japoatã</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1.146,71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1.772,01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Arara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960,44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1.145,57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1.552,44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Raimundo do Doca Bezerra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860,26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1.083,11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1.388,99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Jaqueira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912,97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1.072,50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1.388,28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Preta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845,34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1.055,32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1.461,30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Rosário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831,93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1.039,17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1.545,71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Portel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608,80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1.022,28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1.872,63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401916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 indicador (tabela longa). No deck, um recorte; a tabela completa está no CSV.</a:t>
            </a:r>
            <a:endParaRPr lang="en-US" sz="1250" dirty="0"/>
          </a:p>
        </p:txBody>
      </p:sp>
      <p:sp>
        <p:nvSpPr>
          <p:cNvPr id="8" name="Shape 5"/>
          <p:cNvSpPr/>
          <p:nvPr/>
        </p:nvSpPr>
        <p:spPr>
          <a:xfrm>
            <a:off x="8549640" y="2575560"/>
            <a:ext cx="822960" cy="0"/>
          </a:xfrm>
          <a:prstGeom prst="line">
            <a:avLst/>
          </a:prstGeom>
          <a:noFill/>
          <a:ln w="15875">
            <a:solidFill>
              <a:srgbClr val="8C2F27"/>
            </a:solidFill>
            <a:prstDash val="solid"/>
          </a:ln>
        </p:spPr>
      </p:sp>
      <p:sp>
        <p:nvSpPr>
          <p:cNvPr id="9" name="Text 6"/>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Para Renda média, a maior mediana municipal é a de São Caetano do Sul (5.291,89); a menor, a de Portel (1.022,28).</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T05 · tabelas/T05_descritivas_municipio.csv  ·  Bloco 2. Descritivas  ·  parte 2 de 2</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17</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3</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Distribuições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Que forma tem cada indicador, e ela muda de uma região para outra?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F02 · F03 · F04 · F05 · F06 · F07 · F08 · F09 · F10 · F11 · F12 · F13</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18</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Saneamento: Sem banheiro nem sanitário tem a distribuição mais assimétrica (assimetria 49,54)</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02_histogramas_saneamento.png">    </p:cNvPr>
          <p:cNvPicPr>
            <a:picLocks noChangeAspect="1"/>
          </p:cNvPicPr>
          <p:nvPr/>
        </p:nvPicPr>
        <p:blipFill>
          <a:blip r:embed="rId1"/>
          <a:stretch>
            <a:fillRect/>
          </a:stretch>
        </p:blipFill>
        <p:spPr>
          <a:xfrm>
            <a:off x="777240" y="1243584"/>
            <a:ext cx="7452360" cy="4199847"/>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 histograma por indicador da dimensão: no eixo horizontal, o valor; no vertical, quantos setores têm aquele valor. Os 0,5% maiores ficam de fora para a escala ser legível.</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os indicadores de Saneamento, a maior assimetria é a de Sem banheiro nem sanitário (49,54).</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F02 · figuras/F02_histogramas_saneamento.png  ·  Bloco 3. Distribuições</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19</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Saneamento: Água inadequada tem mediana de 0,1991 no Norte e 0,0000 no Centro-Oeste</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03_boxplots_regiao_saneamento.png">    </p:cNvPr>
          <p:cNvPicPr>
            <a:picLocks noChangeAspect="1"/>
          </p:cNvPicPr>
          <p:nvPr/>
        </p:nvPicPr>
        <p:blipFill>
          <a:blip r:embed="rId1"/>
          <a:stretch>
            <a:fillRect/>
          </a:stretch>
        </p:blipFill>
        <p:spPr>
          <a:xfrm>
            <a:off x="777240" y="1243584"/>
            <a:ext cx="7452360" cy="4160184"/>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caixa por região: a linha dentro é a mediana, a caixa vai do 1º ao 3º quartil e as hastes até 1,5 intervalo interquartil. Os pontos extremos não são desenhados (ver bloco 5).</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primeiro indicador da dimensão (Água inadequada), a mediana regional vai de 0,0000 (Centro-Oeste) a 0,1991 (Norte).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F03 · figuras/F03_boxplots_regiao_saneamento.png  ·  Bloco 3. Distribuições</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Saneamento: as regiões têm formas diferentes de distribuição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04_densidades_regiao_saneamento.png">    </p:cNvPr>
          <p:cNvPicPr>
            <a:picLocks noChangeAspect="1"/>
          </p:cNvPicPr>
          <p:nvPr/>
        </p:nvPicPr>
        <p:blipFill>
          <a:blip r:embed="rId1"/>
          <a:stretch>
            <a:fillRect/>
          </a:stretch>
        </p:blipFill>
        <p:spPr>
          <a:xfrm>
            <a:off x="777240" y="1243584"/>
            <a:ext cx="7452360" cy="4204301"/>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curva por região em cada painel: a altura indica onde os setores daquela região se concentram. As áreas sob as curvas são iguais, para que regiões grandes e pequenas sejam comparáveis.</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Em Água inadequada, a mediana regional vai de 0,0000 (Centro-Oeste) a 0,1991 (Norte).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F04 · figuras/F04_densidades_regiao_saneamento.png  ·  Bloco 3. Distribuições</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Socioeconômica: Renda média tem a distribuição mais assimétrica (assimetria 3,76)</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05_histogramas_socioeconomica.png">    </p:cNvPr>
          <p:cNvPicPr>
            <a:picLocks noChangeAspect="1"/>
          </p:cNvPicPr>
          <p:nvPr/>
        </p:nvPicPr>
        <p:blipFill>
          <a:blip r:embed="rId1"/>
          <a:stretch>
            <a:fillRect/>
          </a:stretch>
        </p:blipFill>
        <p:spPr>
          <a:xfrm>
            <a:off x="777240" y="1243584"/>
            <a:ext cx="7452360" cy="2748693"/>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 histograma por indicador da dimensão: no eixo horizontal, o valor; no vertical, quantos setores têm aquele valor. Os 0,5% maiores ficam de fora para a escala ser legível.</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os indicadores de Socioeconômica, a maior assimetria é a de Renda média (3,76).</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F05 · figuras/F05_histogramas_socioeconomica.png  ·  Bloco 3. Distribuições</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Socioeconômica: Razão de moradores tem mediana de 3,2017 no Norte e 2,6039 no Sul</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06_boxplots_regiao_socioeconomica.png">    </p:cNvPr>
          <p:cNvPicPr>
            <a:picLocks noChangeAspect="1"/>
          </p:cNvPicPr>
          <p:nvPr/>
        </p:nvPicPr>
        <p:blipFill>
          <a:blip r:embed="rId1"/>
          <a:stretch>
            <a:fillRect/>
          </a:stretch>
        </p:blipFill>
        <p:spPr>
          <a:xfrm>
            <a:off x="777240" y="1243584"/>
            <a:ext cx="7452360" cy="2750136"/>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caixa por região: a linha dentro é a mediana, a caixa vai do 1º ao 3º quartil e as hastes até 1,5 intervalo interquartil. Os pontos extremos não são desenhados (ver bloco 5).</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primeiro indicador da dimensão (Razão de moradores), a mediana regional vai de 2,6039 (Sul) a 3,2017 (Norte).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F06 · figuras/F06_boxplots_regiao_socioeconomica.png  ·  Bloco 3. Distribuições</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Socioeconômica: as regiões têm formas diferentes de distribuição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07_densidades_regiao_socioeconomica.png">    </p:cNvPr>
          <p:cNvPicPr>
            <a:picLocks noChangeAspect="1"/>
          </p:cNvPicPr>
          <p:nvPr/>
        </p:nvPicPr>
        <p:blipFill>
          <a:blip r:embed="rId1"/>
          <a:stretch>
            <a:fillRect/>
          </a:stretch>
        </p:blipFill>
        <p:spPr>
          <a:xfrm>
            <a:off x="777240" y="1243584"/>
            <a:ext cx="7452360" cy="2750136"/>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curva por região em cada painel: a altura indica onde os setores daquela região se concentram. As áreas sob as curvas são iguais, para que regiões grandes e pequenas sejam comparáveis.</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Em Razão de moradores, a mediana regional vai de 2,6039 (Sul) a 3,2017 (Norte).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F07 · figuras/F07_densidades_regiao_socioeconomica.png  ·  Bloco 3. Distribuições</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24</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Morfologia: Domicílio improvisado tem a distribuição mais assimétrica (assimetria 36,36)</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08_histogramas_morfologia.png">    </p:cNvPr>
          <p:cNvPicPr>
            <a:picLocks noChangeAspect="1"/>
          </p:cNvPicPr>
          <p:nvPr/>
        </p:nvPicPr>
        <p:blipFill>
          <a:blip r:embed="rId1"/>
          <a:stretch>
            <a:fillRect/>
          </a:stretch>
        </p:blipFill>
        <p:spPr>
          <a:xfrm>
            <a:off x="777240" y="1243584"/>
            <a:ext cx="7452360" cy="2747252"/>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 histograma por indicador da dimensão: no eixo horizontal, o valor; no vertical, quantos setores têm aquele valor. Os 0,5% maiores ficam de fora para a escala ser legível.</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os indicadores de Morfologia, a maior assimetria é a de Domicílio improvisado (36,36).</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F08 · figuras/F08_histogramas_morfologia.png  ·  Bloco 3. Distribuições</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25</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Morfologia: Domicílio improvisado tem mediana de 0,0000 no Centro-Oeste e 0,0000 no Centro-Oeste</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09_boxplots_regiao_morfologia.png">    </p:cNvPr>
          <p:cNvPicPr>
            <a:picLocks noChangeAspect="1"/>
          </p:cNvPicPr>
          <p:nvPr/>
        </p:nvPicPr>
        <p:blipFill>
          <a:blip r:embed="rId1"/>
          <a:stretch>
            <a:fillRect/>
          </a:stretch>
        </p:blipFill>
        <p:spPr>
          <a:xfrm>
            <a:off x="777240" y="1243584"/>
            <a:ext cx="7452360" cy="2748693"/>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caixa por região: a linha dentro é a mediana, a caixa vai do 1º ao 3º quartil e as hastes até 1,5 intervalo interquartil. Os pontos extremos não são desenhados (ver bloco 5).</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primeiro indicador da dimensão (Domicílio improvisado), a mediana regional vai de 0,0000 (Centro-Oeste) a 0,0000 (Centro-Oeste).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F09 · figuras/F09_boxplots_regiao_morfologia.png  ·  Bloco 3. Distribuições</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Morfologia: as regiões têm formas diferentes de distribuição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10_densidades_regiao_morfologia.png">    </p:cNvPr>
          <p:cNvPicPr>
            <a:picLocks noChangeAspect="1"/>
          </p:cNvPicPr>
          <p:nvPr/>
        </p:nvPicPr>
        <p:blipFill>
          <a:blip r:embed="rId1"/>
          <a:stretch>
            <a:fillRect/>
          </a:stretch>
        </p:blipFill>
        <p:spPr>
          <a:xfrm>
            <a:off x="777240" y="1243584"/>
            <a:ext cx="7452360" cy="2750136"/>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curva por região em cada painel: a altura indica onde os setores daquela região se concentram. As áreas sob as curvas são iguais, para que regiões grandes e pequenas sejam comparáveis.</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Em Domicílio improvisado, a mediana regional vai de 0,0000 (Centro-Oeste) a 0,0000 (Centro-Oeste).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F10 · figuras/F10_densidades_regiao_morfologia.png  ·  Bloco 3. Distribuições</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27</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Demografia: Índice de envelhecimento tem a distribuição mais assimétrica (assimetria 5,75)</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11_histogramas_demografia.png">    </p:cNvPr>
          <p:cNvPicPr>
            <a:picLocks noChangeAspect="1"/>
          </p:cNvPicPr>
          <p:nvPr/>
        </p:nvPicPr>
        <p:blipFill>
          <a:blip r:embed="rId1"/>
          <a:stretch>
            <a:fillRect/>
          </a:stretch>
        </p:blipFill>
        <p:spPr>
          <a:xfrm>
            <a:off x="777240" y="1243584"/>
            <a:ext cx="7452360" cy="2751160"/>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 histograma por indicador da dimensão: no eixo horizontal, o valor; no vertical, quantos setores têm aquele valor. Os 0,5% maiores ficam de fora para a escala ser legível.</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os indicadores de Demografia, a maior assimetria é a de Índice de envelhecimento (5,75).</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F11 · figuras/F11_histogramas_demografia.png  ·  Bloco 3. Distribuições</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Demografia: Crianças 0–4 tem mediana de 0,0644 no Norte e 0,0468 no Sul</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12_boxplots_regiao_demografia.png">    </p:cNvPr>
          <p:cNvPicPr>
            <a:picLocks noChangeAspect="1"/>
          </p:cNvPicPr>
          <p:nvPr/>
        </p:nvPicPr>
        <p:blipFill>
          <a:blip r:embed="rId1"/>
          <a:stretch>
            <a:fillRect/>
          </a:stretch>
        </p:blipFill>
        <p:spPr>
          <a:xfrm>
            <a:off x="777240" y="1243584"/>
            <a:ext cx="7452360" cy="2752603"/>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caixa por região: a linha dentro é a mediana, a caixa vai do 1º ao 3º quartil e as hastes até 1,5 intervalo interquartil. Os pontos extremos não são desenhados (ver bloco 5).</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primeiro indicador da dimensão (Crianças 0–4), a mediana regional vai de 0,0468 (Sul) a 0,0644 (Norte).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F12 · figuras/F12_boxplots_regiao_demografia.png  ·  Bloco 3. Distribuições</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Demografia: as regiões têm formas diferentes de distribuição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13_densidades_regiao_demografia.png">    </p:cNvPr>
          <p:cNvPicPr>
            <a:picLocks noChangeAspect="1"/>
          </p:cNvPicPr>
          <p:nvPr/>
        </p:nvPicPr>
        <p:blipFill>
          <a:blip r:embed="rId1"/>
          <a:stretch>
            <a:fillRect/>
          </a:stretch>
        </p:blipFill>
        <p:spPr>
          <a:xfrm>
            <a:off x="777240" y="1243584"/>
            <a:ext cx="7452360" cy="2754048"/>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curva por região em cada painel: a altura indica onde os setores daquela região se concentram. As áreas sob as curvas são iguais, para que regiões grandes e pequenas sejam comparáveis.</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Em Crianças 0–4, a mediana regional vai de 0,0468 (Sul) a 0,0644 (Norte).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F13 · figuras/F13_densidades_regiao_demografia.png  ·  Bloco 3. Distribuições</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30</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4</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Faltantes e sigilo</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Onde faltam dados, e a falta é aleatória?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T06 · F14 · T07 · F15</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O maior percentual de faltantes é o de Banheiro graduado em Groaíras (66,7%)</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269480" cy="914400"/>
        </p:xfrm>
        <a:graphic>
          <a:graphicData uri="http://schemas.openxmlformats.org/drawingml/2006/table">
            <a:tbl>
              <a:tblPr/>
              <a:tblGrid>
                <a:gridCol w="2011680"/>
                <a:gridCol w="1051560"/>
                <a:gridCol w="1051560"/>
                <a:gridCol w="1051560"/>
                <a:gridCol w="1051560"/>
                <a:gridCol w="1051560"/>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 (% sem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Banheiro graduado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Domicílio improvisado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Sem banheiro nem sanitário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70+ entre 60+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Groaíras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Santa Maria do Oeste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Raimundo do Doca Bezerra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Urandi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Itajuípe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Placas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Rosário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Jaqueira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Japoatã</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Preta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Marechal Deodoro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Arara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Coroaci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Luís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Salinas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644642"/>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 uma coluna por indicador; cada célula é o percentual de setores do município sem aquele indicador.</a:t>
            </a:r>
            <a:endParaRPr lang="en-US" sz="1250" dirty="0"/>
          </a:p>
        </p:txBody>
      </p:sp>
      <p:sp>
        <p:nvSpPr>
          <p:cNvPr id="8" name="Shape 5"/>
          <p:cNvSpPr/>
          <p:nvPr/>
        </p:nvSpPr>
        <p:spPr>
          <a:xfrm>
            <a:off x="8549640" y="2575560"/>
            <a:ext cx="822960" cy="0"/>
          </a:xfrm>
          <a:prstGeom prst="line">
            <a:avLst/>
          </a:prstGeom>
          <a:noFill/>
          <a:ln w="15875">
            <a:solidFill>
              <a:srgbClr val="8C2F27"/>
            </a:solidFill>
            <a:prstDash val="solid"/>
          </a:ln>
        </p:spPr>
      </p:sp>
      <p:sp>
        <p:nvSpPr>
          <p:cNvPr id="9" name="Text 6"/>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célula mais alta é Banheiro graduado em Groaíras, com 66,7% dos setores sem valor.</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T06 · tabelas/T06_faltantes_por_municipio.csv  ·  Bloco 4. Faltantes e sigilo</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faltantes se concentram em poucos indicadores e municípios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14_mapa_faltantes.png">    </p:cNvPr>
          <p:cNvPicPr>
            <a:picLocks noChangeAspect="1"/>
          </p:cNvPicPr>
          <p:nvPr/>
        </p:nvPicPr>
        <p:blipFill>
          <a:blip r:embed="rId1"/>
          <a:stretch>
            <a:fillRect/>
          </a:stretch>
        </p:blipFill>
        <p:spPr>
          <a:xfrm>
            <a:off x="2299870" y="1243584"/>
            <a:ext cx="4407101" cy="4791456"/>
          </a:xfrm>
          <a:prstGeom prst="rect">
            <a:avLst/>
          </a:prstGeom>
        </p:spPr>
      </p:pic>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Mapa de calor: linhas são municípios, colunas são indicadores; quanto mais escura a célula, maior o percentual de setores sem valor.</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ponto mais escuro é Banheiro graduado em Groaíras (66,7%).</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F14 · figuras/F14_mapa_faltantes.png  ·  Bloco 4. Faltantes e sigilo</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O analfabetismo falta em 28,3% dos menores setores e em 3,8% dos maiores</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217920" cy="914400"/>
        </p:xfrm>
        <a:graphic>
          <a:graphicData uri="http://schemas.openxmlformats.org/drawingml/2006/table">
            <a:tbl>
              <a:tblPr/>
              <a:tblGrid>
                <a:gridCol w="731520"/>
                <a:gridCol w="1097280"/>
                <a:gridCol w="1097280"/>
                <a:gridCol w="1097280"/>
                <a:gridCol w="1280160"/>
                <a:gridCol w="91440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Décimo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Moradores (mín.)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Moradores (máx.)</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sem renda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sem analfabetismo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em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setores são divididos em dez grupos iguais pelo número de moradores (1 = os menores). Para cada grupo, o percentual de setores sem renda e sem analfabetismo, e o percentual em FCU.</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Sem renda: 0,1% no primeiro décimo e 0,0% no último. Sem analfabetismo: 28,3% e 3,8%.</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T07 · tabelas/T07_sigilo_por_porte_do_setor.csv  ·  Bloco 4. Faltantes e sigilo</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falta de dados depende do tamanho do setor</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15_sigilo_por_porte_do_setor.png">    </p:cNvPr>
          <p:cNvPicPr>
            <a:picLocks noChangeAspect="1"/>
          </p:cNvPicPr>
          <p:nvPr/>
        </p:nvPicPr>
        <p:blipFill>
          <a:blip r:embed="rId1"/>
          <a:stretch>
            <a:fillRect/>
          </a:stretch>
        </p:blipFill>
        <p:spPr>
          <a:xfrm>
            <a:off x="777240" y="1243584"/>
            <a:ext cx="7452360" cy="4013930"/>
          </a:xfrm>
          <a:prstGeom prst="rect">
            <a:avLst/>
          </a:prstGeom>
        </p:spPr>
      </p:pic>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Eixo horizontal: décimo de moradores do setor (1 = menores). Eixo vertical: percentual de setores sem o indicador.</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Renda: de 0,1% a 0,0%; analfabetismo: de 28,3% a 3,8%, do menor ao maior décimo.</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F15 · figuras/F15_sigilo_por_porte_do_setor.png  ·  Bloco 4. Faltantes e sigilo</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35</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5</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Extremos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Que setores têm valores fora do comum, e por qual critério?</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T08 · T09 · T10 · T11 · F16</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Moradia convencional tem a maior proporção de extremos (6,8%)</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360920" cy="914400"/>
        </p:xfrm>
        <a:graphic>
          <a:graphicData uri="http://schemas.openxmlformats.org/drawingml/2006/table">
            <a:tbl>
              <a:tblPr/>
              <a:tblGrid>
                <a:gridCol w="1737360"/>
                <a:gridCol w="2377440"/>
                <a:gridCol w="914400"/>
                <a:gridCol w="777240"/>
                <a:gridCol w="822960"/>
                <a:gridCol w="73152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Critério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Limite sup.</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Extremos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extremos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zeros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2,2227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Lixo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2,2991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0,3338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0,3265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0,2767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o critério usado, os limites, quantos setores passam deles e o percentual de zeros.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maior percentual de extremos é o de Moradia convencional (6,8%), pelo critério “Tukey k=3 (intervalo interquartil)”.</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T08 · tabelas/T08_extremos_por_indicador.csv  ·  Bloco 5. Extremos  ·  parte 1 de 3</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Moradia convencional tem a maior proporção de extremos (6,8%)</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360920" cy="914400"/>
        </p:xfrm>
        <a:graphic>
          <a:graphicData uri="http://schemas.openxmlformats.org/drawingml/2006/table">
            <a:tbl>
              <a:tblPr/>
              <a:tblGrid>
                <a:gridCol w="1737360"/>
                <a:gridCol w="2377440"/>
                <a:gridCol w="914400"/>
                <a:gridCol w="777240"/>
                <a:gridCol w="822960"/>
                <a:gridCol w="73152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Critério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Limite sup.</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Extremos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extremos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zeros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0,4115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0,1404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0,1411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4,2794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Tukey k=3 no município + coerência do perfil do setor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1,7613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0,9354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13.814,77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13.814,57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0,2843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o critério usado, os limites, quantos setores passam deles e o percentual de zeros.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maior percentual de extremos é o de Moradia convencional (6,8%), pelo critério “Tukey k=3 (intervalo interquartil)”.</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T08 · tabelas/T08_extremos_por_indicador.csv  ·  Bloco 5. Extremos  ·  parte 2 de 3</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Moradia convencional tem a maior proporção de extremos (6,8%)</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360920" cy="914400"/>
        </p:xfrm>
        <a:graphic>
          <a:graphicData uri="http://schemas.openxmlformats.org/drawingml/2006/table">
            <a:tbl>
              <a:tblPr/>
              <a:tblGrid>
                <a:gridCol w="1737360"/>
                <a:gridCol w="2377440"/>
                <a:gridCol w="914400"/>
                <a:gridCol w="777240"/>
                <a:gridCol w="822960"/>
                <a:gridCol w="73152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Critério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Limite sup.</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Extremos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extremos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zeros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0,3028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7.219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0,2946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2,9341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2,7607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0,5928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0,4389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0,5879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512,5965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97,8755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93,3333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o critério usado, os limites, quantos setores passam deles e o percentual de zeros.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maior percentual de extremos é o de Moradia convencional (6,8%), pelo critério “Tukey k=3 (intervalo interquartil)”.</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T08 · tabelas/T08_extremos_por_indicador.csv  ·  Bloco 5. Extremos  ·  parte 3 de 3</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São Paulo concentra o maior número de marcações de extremo (8.067)</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223760" cy="914400"/>
        </p:xfrm>
        <a:graphic>
          <a:graphicData uri="http://schemas.openxmlformats.org/drawingml/2006/table">
            <a:tbl>
              <a:tblPr/>
              <a:tblGrid>
                <a:gridCol w="2011680"/>
                <a:gridCol w="822960"/>
                <a:gridCol w="1097280"/>
                <a:gridCol w="1097280"/>
                <a:gridCol w="1097280"/>
                <a:gridCol w="1097280"/>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Total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Renda sem o extremo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Renda (mediana mun.)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Moradia convencional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Índice de envelhecimento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8.067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Rio de Janeiro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Brasília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Luís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Salvador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Fortaleza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Goiânia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Recife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Belém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Gonçalo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Porto Alegre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Duque de Caxias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Campinas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644642"/>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 uma coluna por indicador, com o número de setores marcados; a coluna total soma todas as marcações.</a:t>
            </a:r>
            <a:endParaRPr lang="en-US" sz="1250" dirty="0"/>
          </a:p>
        </p:txBody>
      </p:sp>
      <p:sp>
        <p:nvSpPr>
          <p:cNvPr id="8" name="Shape 5"/>
          <p:cNvSpPr/>
          <p:nvPr/>
        </p:nvSpPr>
        <p:spPr>
          <a:xfrm>
            <a:off x="8549640" y="2575560"/>
            <a:ext cx="822960" cy="0"/>
          </a:xfrm>
          <a:prstGeom prst="line">
            <a:avLst/>
          </a:prstGeom>
          <a:noFill/>
          <a:ln w="15875">
            <a:solidFill>
              <a:srgbClr val="8C2F27"/>
            </a:solidFill>
            <a:prstDash val="solid"/>
          </a:ln>
        </p:spPr>
      </p:sp>
      <p:sp>
        <p:nvSpPr>
          <p:cNvPr id="9" name="Text 6"/>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município com mais marcações é São Paulo, com 8.067 no total.</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T09 · tabelas/T09_extremos_por_municipio.csv  ·  Bloco 5. Extremos</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setores mais distantes da mediana, indicador por indicador</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1828800"/>
                <a:gridCol w="1645920"/>
                <a:gridCol w="1554480"/>
                <a:gridCol w="91440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global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130030005000018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130030005000064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130030005000109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130030005000098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Portel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150580905000102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0,9385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130030005000186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130030010000124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Portel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150580905000102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0,9624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Portel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150580905000081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8,7863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2,7161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Portel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150580905000073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310620005650366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170.418,06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2.545,98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130030005000098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355030832000202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140.172,64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2.545,97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Até dez setores por indicador, os mais distantes da mediana entre os marcados como extremo: código do setor, município, valor e mediana global.</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topo da lista de Renda média está um setor de Belo Horizonte, com valor 170.418,06.</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T10 · tabelas/T10_extremos_lista.csv  ·  Bloco 5. Extremos  ·  parte 1 de 2</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setores mais distantes da mediana, indicador por indicador</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1828800"/>
                <a:gridCol w="1645920"/>
                <a:gridCol w="1554480"/>
                <a:gridCol w="91440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global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355030832000202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140.172,64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2.545,98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Rio de Janeiro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330455705300460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310620060660397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310620060660397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310620060660397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130260305110210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Teresina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221100105080289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0,3333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130030005000185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0,5682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Brasília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530010805140094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0,8571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Fortaleza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230440005140173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4.750,0000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95,5556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Brasília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530010805140094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25,1208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130030005000122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42,8571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451192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Até dez setores por indicador, os mais distantes da mediana entre os marcados como extremo: código do setor, município, valor e mediana global.</a:t>
            </a:r>
            <a:endParaRPr lang="en-US" sz="1250" dirty="0"/>
          </a:p>
        </p:txBody>
      </p:sp>
      <p:sp>
        <p:nvSpPr>
          <p:cNvPr id="8" name="Shape 5"/>
          <p:cNvSpPr/>
          <p:nvPr/>
        </p:nvSpPr>
        <p:spPr>
          <a:xfrm>
            <a:off x="8549640" y="2785110"/>
            <a:ext cx="822960" cy="0"/>
          </a:xfrm>
          <a:prstGeom prst="line">
            <a:avLst/>
          </a:prstGeom>
          <a:noFill/>
          <a:ln w="15875">
            <a:solidFill>
              <a:srgbClr val="8C2F27"/>
            </a:solidFill>
            <a:prstDash val="solid"/>
          </a:ln>
        </p:spPr>
      </p:sp>
      <p:sp>
        <p:nvSpPr>
          <p:cNvPr id="9" name="Text 6"/>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topo da lista de Renda média está um setor de Belo Horizonte, com valor 170.418,06.</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T10 · tabelas/T10_extremos_lista.csv  ·  Bloco 5. Extremos  ·  parte 2 de 2</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70 setores têm renda suspeita e 3.400 têm renda extrema coerente</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4023360" cy="914400"/>
        </p:xfrm>
        <a:graphic>
          <a:graphicData uri="http://schemas.openxmlformats.org/drawingml/2006/table">
            <a:tbl>
              <a:tblPr/>
              <a:tblGrid>
                <a:gridCol w="1828800"/>
                <a:gridCol w="118872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Classe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NORMAL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102.792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SUSPEITO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setor com renda recebe uma classe: NORMAL, EXTREMO (acima do limite do município, mas coerente com o perfil) ou SUSPEITO (acima do limite e incoerente).</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São 70 setores SUSPEITO (0,07%) e 3.400 EXTREMO.</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T11 · tabelas/T11_renda_classes.csv  ·  Bloco 5. Extremos</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proporção de extremos varia muito de um indicador para outro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16_extremos_por_indicador.png">    </p:cNvPr>
          <p:cNvPicPr>
            <a:picLocks noChangeAspect="1"/>
          </p:cNvPicPr>
          <p:nvPr/>
        </p:nvPicPr>
        <p:blipFill>
          <a:blip r:embed="rId1"/>
          <a:stretch>
            <a:fillRect/>
          </a:stretch>
        </p:blipFill>
        <p:spPr>
          <a:xfrm>
            <a:off x="2091800" y="1243584"/>
            <a:ext cx="4823240"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barra por indicador, com o percentual de setores marcados; a cor indica o critério (petróleo: Tukey; cinza: inflação de zeros; argila: renda).</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barra mais longa é a de Moradia convencional (6,8%).</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F16 · figuras/F16_extremos_por_indicador.png  ·  Bloco 5. Extremos</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44</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6</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Correlações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Que indicadores andam juntos?</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T12 · T13 · T14 · F17 · F31 · F32 · F33 · F34 · F35 · F18</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Renda média e Renda sem o extremo formam o par mais correlacionado (ρ = 1,0000)</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187184" cy="914400"/>
        </p:xfrm>
        <a:graphic>
          <a:graphicData uri="http://schemas.openxmlformats.org/drawingml/2006/table">
            <a:tbl>
              <a:tblPr/>
              <a:tblGrid>
                <a:gridCol w="1554480"/>
                <a:gridCol w="804672"/>
                <a:gridCol w="804672"/>
                <a:gridCol w="804672"/>
                <a:gridCol w="804672"/>
                <a:gridCol w="804672"/>
                <a:gridCol w="804672"/>
                <a:gridCol w="804672"/>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Componentes do índice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Analfabetismo 15+</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Renda 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Cor/raça PPI</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Banheiro graduado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3427222"/>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correlação de Spearman: cada célula é a correlação entre o indicador da linha e o da coluna, de −1 a 1.</a:t>
            </a:r>
            <a:endParaRPr lang="en-US" sz="1250" dirty="0"/>
          </a:p>
        </p:txBody>
      </p:sp>
      <p:sp>
        <p:nvSpPr>
          <p:cNvPr id="8" name="Shape 5"/>
          <p:cNvSpPr/>
          <p:nvPr/>
        </p:nvSpPr>
        <p:spPr>
          <a:xfrm>
            <a:off x="8549640" y="2575560"/>
            <a:ext cx="822960" cy="0"/>
          </a:xfrm>
          <a:prstGeom prst="line">
            <a:avLst/>
          </a:prstGeom>
          <a:noFill/>
          <a:ln w="15875">
            <a:solidFill>
              <a:srgbClr val="8C2F27"/>
            </a:solidFill>
            <a:prstDash val="solid"/>
          </a:ln>
        </p:spPr>
      </p:sp>
      <p:sp>
        <p:nvSpPr>
          <p:cNvPr id="9" name="Text 6"/>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correlação em módulo é entre Renda média e Renda sem o extremo (ρ = 1,0000).</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T12 · tabelas/T12_correlacao_spearman.csv  ·  Bloco 6. Correlações</a:t>
            </a:r>
            <a:endParaRPr lang="en-US" sz="9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46</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Na correlação linear, o par mais forte é Renda média × Renda sem o extremo (r = 1,0000)</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187184" cy="914400"/>
        </p:xfrm>
        <a:graphic>
          <a:graphicData uri="http://schemas.openxmlformats.org/drawingml/2006/table">
            <a:tbl>
              <a:tblPr/>
              <a:tblGrid>
                <a:gridCol w="1554480"/>
                <a:gridCol w="804672"/>
                <a:gridCol w="804672"/>
                <a:gridCol w="804672"/>
                <a:gridCol w="804672"/>
                <a:gridCol w="804672"/>
                <a:gridCol w="804672"/>
                <a:gridCol w="804672"/>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Componentes do índice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Analfabetismo 15+</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Renda 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Cor/raça PPI</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Banheiro graduado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3427222"/>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correlação de Pearson, com a mesma leitura da de Spearman.</a:t>
            </a:r>
            <a:endParaRPr lang="en-US" sz="1250" dirty="0"/>
          </a:p>
        </p:txBody>
      </p:sp>
      <p:sp>
        <p:nvSpPr>
          <p:cNvPr id="8" name="Shape 5"/>
          <p:cNvSpPr/>
          <p:nvPr/>
        </p:nvSpPr>
        <p:spPr>
          <a:xfrm>
            <a:off x="8549640" y="2366010"/>
            <a:ext cx="822960" cy="0"/>
          </a:xfrm>
          <a:prstGeom prst="line">
            <a:avLst/>
          </a:prstGeom>
          <a:noFill/>
          <a:ln w="15875">
            <a:solidFill>
              <a:srgbClr val="8C2F27"/>
            </a:solidFill>
            <a:prstDash val="solid"/>
          </a:ln>
        </p:spPr>
      </p:sp>
      <p:sp>
        <p:nvSpPr>
          <p:cNvPr id="9" name="Text 6"/>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correlação de Pearson em módulo é entre Renda média e Renda sem o extremo (r = 1,0000).</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T13 · tabelas/T13_correlacao_pearson.csv  ·  Bloco 6. Correlações</a:t>
            </a:r>
            <a:endParaRPr lang="en-US"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O par mais redundante é Renda sem o extremo × Renda (mediana mun.) (ρ = 1,0000)</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2377440"/>
                <a:gridCol w="2377440"/>
                <a:gridCol w="1097280"/>
                <a:gridCol w="10972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Spearman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Pearson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0,9580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0,9473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0,9632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0,9326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0,9589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0,7523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0,9326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0,7371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0,4298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-0,7232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0,6796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pares de indicadores com correlação de pelo menos 0,80 em módulo, por Spearman ou por Pearson, do mais forte para o mais fraco.</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topo: Renda sem o extremo × Renda (mediana mun.), com Spearman 1,0000 e Pearson 1,0000.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T14 · tabelas/T14_pares_acima_de_080.csv  ·  Bloco 6. Correlações  ·  parte 1 de 2</a:t>
            </a:r>
            <a:endParaRPr lang="en-US" sz="9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O par mais redundante é Renda sem o extremo × Renda (mediana mun.) (ρ = 1,0000)</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2377440"/>
                <a:gridCol w="2377440"/>
                <a:gridCol w="1097280"/>
                <a:gridCol w="10972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Spearman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Pearson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-0,9007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-0,9514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0,8395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0,8251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0,8236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-0,6278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-0,6855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-0,6855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-0,6798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0,6507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0,5613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0,8563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-0,4874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pares de indicadores com correlação de pelo menos 0,80 em módulo, por Spearman ou por Pearson, do mais forte para o mais fraco.</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topo: Renda sem o extremo × Renda (mediana mun.), com Spearman 1,0000 e Pearson 1,0000.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T14 · tabelas/T14_pares_acima_de_080.csv  ·  Bloco 6. Correlações  ·  parte 2 de 2</a:t>
            </a:r>
            <a:endParaRPr lang="en-US" sz="9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indicadores formam grupos de correlação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17_mapa_spearman.png">    </p:cNvPr>
          <p:cNvPicPr>
            <a:picLocks noChangeAspect="1"/>
          </p:cNvPicPr>
          <p:nvPr/>
        </p:nvPicPr>
        <p:blipFill>
          <a:blip r:embed="rId1"/>
          <a:stretch>
            <a:fillRect/>
          </a:stretch>
        </p:blipFill>
        <p:spPr>
          <a:xfrm>
            <a:off x="1851045" y="1243584"/>
            <a:ext cx="5304750" cy="4791456"/>
          </a:xfrm>
          <a:prstGeom prst="rect">
            <a:avLst/>
          </a:prstGeom>
        </p:spPr>
      </p:pic>
      <p:sp>
        <p:nvSpPr>
          <p:cNvPr id="6" name="Text 3"/>
          <p:cNvSpPr/>
          <p:nvPr/>
        </p:nvSpPr>
        <p:spPr>
          <a:xfrm>
            <a:off x="8549640" y="1289304"/>
            <a:ext cx="2862072" cy="25336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correlação de Spearman entre todos os indicadores, reordenados pelo agrupamento do dendrograma. Cada célula do triângulo inferior traz o valor de ρ (−1 a 1); argila é correlação positiva, petróleo negativa, branco é perto de zero. Com 31 indicadores, os valores só ficam legíveis com a figura ampliada; as matrizes por dimensão vêm a seguir.</a:t>
            </a:r>
            <a:endParaRPr lang="en-US" sz="1250" dirty="0"/>
          </a:p>
        </p:txBody>
      </p:sp>
      <p:sp>
        <p:nvSpPr>
          <p:cNvPr id="7" name="Shape 4"/>
          <p:cNvSpPr/>
          <p:nvPr/>
        </p:nvSpPr>
        <p:spPr>
          <a:xfrm>
            <a:off x="8549640" y="4042410"/>
            <a:ext cx="822960" cy="0"/>
          </a:xfrm>
          <a:prstGeom prst="line">
            <a:avLst/>
          </a:prstGeom>
          <a:noFill/>
          <a:ln w="15875">
            <a:solidFill>
              <a:srgbClr val="8C2F27"/>
            </a:solidFill>
            <a:prstDash val="solid"/>
          </a:ln>
        </p:spPr>
      </p:sp>
      <p:sp>
        <p:nvSpPr>
          <p:cNvPr id="8" name="Text 5"/>
          <p:cNvSpPr/>
          <p:nvPr/>
        </p:nvSpPr>
        <p:spPr>
          <a:xfrm>
            <a:off x="8549640" y="40972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par mais forte é Renda média × Renda sem o extremo (ρ = 1,0000).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F17 · figuras/F17_mapa_spearman.png  ·  Bloco 6. Correlações</a:t>
            </a:r>
            <a:endParaRPr lang="en-US" sz="9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50</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Entre as variáveis das demandas e os componentes do índice, o par mais forte é Sem água canalizada × Cor/raça PPI (ρ = 0,4292)</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31_mapa_spearman_componentes.png">    </p:cNvPr>
          <p:cNvPicPr>
            <a:picLocks noChangeAspect="1"/>
          </p:cNvPicPr>
          <p:nvPr/>
        </p:nvPicPr>
        <p:blipFill>
          <a:blip r:embed="rId1"/>
          <a:stretch>
            <a:fillRect/>
          </a:stretch>
        </p:blipFill>
        <p:spPr>
          <a:xfrm>
            <a:off x="1708404" y="1243584"/>
            <a:ext cx="5590032" cy="4791456"/>
          </a:xfrm>
          <a:prstGeom prst="rect">
            <a:avLst/>
          </a:prstGeom>
        </p:spPr>
      </p:pic>
      <p:sp>
        <p:nvSpPr>
          <p:cNvPr id="6" name="Text 3"/>
          <p:cNvSpPr/>
          <p:nvPr/>
        </p:nvSpPr>
        <p:spPr>
          <a:xfrm>
            <a:off x="8549640" y="1289304"/>
            <a:ext cx="2862072" cy="16954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Spearman só com os componentes do índice (acima e à esquerda da linha) e as variáveis das demandas de setembro (abaixo e à direita). Cada célula traz o ρ; argila é positiva, petróleo negativa.</a:t>
            </a:r>
            <a:endParaRPr lang="en-US" sz="1250" dirty="0"/>
          </a:p>
        </p:txBody>
      </p:sp>
      <p:sp>
        <p:nvSpPr>
          <p:cNvPr id="7" name="Shape 4"/>
          <p:cNvSpPr/>
          <p:nvPr/>
        </p:nvSpPr>
        <p:spPr>
          <a:xfrm>
            <a:off x="8549640" y="3204210"/>
            <a:ext cx="822960" cy="0"/>
          </a:xfrm>
          <a:prstGeom prst="line">
            <a:avLst/>
          </a:prstGeom>
          <a:noFill/>
          <a:ln w="15875">
            <a:solidFill>
              <a:srgbClr val="8C2F27"/>
            </a:solidFill>
            <a:prstDash val="solid"/>
          </a:ln>
        </p:spPr>
      </p:sp>
      <p:sp>
        <p:nvSpPr>
          <p:cNvPr id="8" name="Text 5"/>
          <p:cNvSpPr/>
          <p:nvPr/>
        </p:nvSpPr>
        <p:spPr>
          <a:xfrm>
            <a:off x="8549640" y="3259074"/>
            <a:ext cx="2862072" cy="16954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uma variável nova e um componente de outra família, o par mais forte é Sem água canalizada × Cor/raça PPI (ρ = 0,4292). Pares de variantes da mesma coisa (como banheiro graduado e sem banheiro) ficam de fora do destaque.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F31 · figuras/F31_mapa_spearman_componentes.png  ·  Bloco 6. Correlações</a:t>
            </a:r>
            <a:endParaRPr lang="en-US" sz="9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51</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Saneamento: o par mais correlacionado é Sem banheiro × Banheiro graduado (ρ = 1,0000)</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32_mapa_spearman_saneamento.png">    </p:cNvPr>
          <p:cNvPicPr>
            <a:picLocks noChangeAspect="1"/>
          </p:cNvPicPr>
          <p:nvPr/>
        </p:nvPicPr>
        <p:blipFill>
          <a:blip r:embed="rId1"/>
          <a:stretch>
            <a:fillRect/>
          </a:stretch>
        </p:blipFill>
        <p:spPr>
          <a:xfrm>
            <a:off x="1657422" y="1243584"/>
            <a:ext cx="5691995"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Spearman só com os indicadores da dimensão Saneamento; cada célula traz o ρ (−1 a 1). Argila é correlação positiva, petróleo negativa.</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Na dimensão Saneamento, o par mais forte é Sem banheiro × Banheiro graduado (ρ = 1,0000).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F32 · figuras/F32_mapa_spearman_saneamento.png  ·  Bloco 6. Correlações</a:t>
            </a:r>
            <a:endParaRPr lang="en-US" sz="9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52</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Socioeconômica: o par mais correlacionado é Renda média × Renda sem o extremo (ρ = 1,0000)</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33_mapa_spearman_socioeconomica.png">    </p:cNvPr>
          <p:cNvPicPr>
            <a:picLocks noChangeAspect="1"/>
          </p:cNvPicPr>
          <p:nvPr/>
        </p:nvPicPr>
        <p:blipFill>
          <a:blip r:embed="rId1"/>
          <a:stretch>
            <a:fillRect/>
          </a:stretch>
        </p:blipFill>
        <p:spPr>
          <a:xfrm>
            <a:off x="1633960" y="1243584"/>
            <a:ext cx="5738919"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Spearman só com os indicadores da dimensão Socioeconômica; cada célula traz o ρ (−1 a 1). Argila é correlação positiva, petróleo negativa.</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Na dimensão Socioeconômica, o par mais forte é Renda média × Renda sem o extremo (ρ = 1,0000).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F33 · figuras/F33_mapa_spearman_socioeconomica.png  ·  Bloco 6. Correlações</a:t>
            </a:r>
            <a:endParaRPr lang="en-US" sz="9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53</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Morfologia: o par mais correlacionado é Habitação precária × Moradia não convencional (ρ = 0,9632)</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34_mapa_spearman_morfologia.png">    </p:cNvPr>
          <p:cNvPicPr>
            <a:picLocks noChangeAspect="1"/>
          </p:cNvPicPr>
          <p:nvPr/>
        </p:nvPicPr>
        <p:blipFill>
          <a:blip r:embed="rId1"/>
          <a:stretch>
            <a:fillRect/>
          </a:stretch>
        </p:blipFill>
        <p:spPr>
          <a:xfrm>
            <a:off x="1628546" y="1243584"/>
            <a:ext cx="5749747"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Spearman só com os indicadores da dimensão Morfologia; cada célula traz o ρ (−1 a 1). Argila é correlação positiva, petróleo negativa.</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Na dimensão Morfologia, o par mais forte é Habitação precária × Moradia não convencional (ρ = 0,9632).</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F34 · figuras/F34_mapa_spearman_morfologia.png  ·  Bloco 6. Correlações</a:t>
            </a:r>
            <a:endParaRPr lang="en-US" sz="9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54</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Demografia: o par mais correlacionado é Pessoas 60+ × Dependência idosa (ρ = 0,9953)</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35_mapa_spearman_demografia.png">    </p:cNvPr>
          <p:cNvPicPr>
            <a:picLocks noChangeAspect="1"/>
          </p:cNvPicPr>
          <p:nvPr/>
        </p:nvPicPr>
        <p:blipFill>
          <a:blip r:embed="rId1"/>
          <a:stretch>
            <a:fillRect/>
          </a:stretch>
        </p:blipFill>
        <p:spPr>
          <a:xfrm>
            <a:off x="1633397" y="1243584"/>
            <a:ext cx="5740046"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Spearman só com os indicadores da dimensão Demografia; cada célula traz o ρ (−1 a 1). Argila é correlação positiva, petróleo negativa.</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Na dimensão Demografia, o par mais forte é Pessoas 60+ × Dependência idosa (ρ = 0,9953).</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F35 · figuras/F35_mapa_spearman_demografia.png  ·  Bloco 6. Correlações</a:t>
            </a:r>
            <a:endParaRPr lang="en-US" sz="9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 dendrograma junta os indicadores que medem coisas parecidas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18_dendrograma.png">    </p:cNvPr>
          <p:cNvPicPr>
            <a:picLocks noChangeAspect="1"/>
          </p:cNvPicPr>
          <p:nvPr/>
        </p:nvPicPr>
        <p:blipFill>
          <a:blip r:embed="rId1"/>
          <a:stretch>
            <a:fillRect/>
          </a:stretch>
        </p:blipFill>
        <p:spPr>
          <a:xfrm>
            <a:off x="2229445" y="1243584"/>
            <a:ext cx="4547950"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indicador é uma folha à esquerda; as linhas os unem do mais parecido para o menos. Quanto mais à esquerda a união, mais correlacionados os indicadores.</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par mais próximo é Renda média × Renda sem o extremo (ρ = 1,0000).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F18 · figuras/F18_dendrograma.png  ·  Bloco 6. Correlações</a:t>
            </a:r>
            <a:endParaRPr lang="en-US" sz="9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56</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7</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Favelas e comunidades urbanas (FCU)</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Cada indicador, sozinho, separa os setores de favela dos demais?</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T15 · F19</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Cor/raça PPI é o indicador que mais separa as favelas (AUC 0,8375)</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858000" cy="914400"/>
        </p:xfrm>
        <a:graphic>
          <a:graphicData uri="http://schemas.openxmlformats.org/drawingml/2006/table">
            <a:tbl>
              <a:tblPr/>
              <a:tblGrid>
                <a:gridCol w="2011680"/>
                <a:gridCol w="1051560"/>
                <a:gridCol w="1051560"/>
                <a:gridCol w="1005840"/>
                <a:gridCol w="822960"/>
                <a:gridCol w="91440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fora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Diferença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AUC</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0,7427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0,8375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18.904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0,7521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2,9167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2,6750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0,7107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0,9868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0,8714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0,7035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0,6849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Lixo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0,6531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0,5678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0,6462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0,6408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0,5949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0,5596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0,5531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16.179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setores de FCU e fora, a mediana em cada grupo, a diferença e a AUC do indicador sozinho.</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Cor/raça PPI tem AUC 0,8375 (mediana 0,7427 em FCU e 0,5151 fora); a menor AUC é a de Renda sem o extremo (0,1107).</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T15 · tabelas/T15_fcu_por_indicador.csv  ·  Bloco 7. Favelas e comunidades urbanas (FCU)  ·  parte 1 de 2</a:t>
            </a:r>
            <a:endParaRPr lang="en-US" sz="9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Cor/raça PPI é o indicador que mais separa as favelas (AUC 0,8375)</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858000" cy="914400"/>
        </p:xfrm>
        <a:graphic>
          <a:graphicData uri="http://schemas.openxmlformats.org/drawingml/2006/table">
            <a:tbl>
              <a:tblPr/>
              <a:tblGrid>
                <a:gridCol w="2011680"/>
                <a:gridCol w="1051560"/>
                <a:gridCol w="1051560"/>
                <a:gridCol w="1005840"/>
                <a:gridCol w="822960"/>
                <a:gridCol w="91440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fora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Diferença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AUC</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13.956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16.793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18.292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18.061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0,4649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36,2637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44,2857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-8,0220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0,2868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18.631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15,6701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28,2609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-12,5908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47,9127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113,4684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-65,5557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1.515,35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3.014,81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-1.499,46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1.515,35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3.014,81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-1.499,46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1.515,32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3.014,81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-1.499,49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setores de FCU e fora, a mediana em cada grupo, a diferença e a AUC do indicador sozinho.</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Cor/raça PPI tem AUC 0,8375 (mediana 0,7427 em FCU e 0,5151 fora); a menor AUC é a de Renda sem o extremo (0,1107).</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T15 · tabelas/T15_fcu_por_indicador.csv  ·  Bloco 7. Favelas e comunidades urbanas (FCU)  ·  parte 2 de 2</a:t>
            </a:r>
            <a:endParaRPr lang="en-US" sz="9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indicadores separam as favelas com força muito diferente</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19_fcu_por_indicador.png">    </p:cNvPr>
          <p:cNvPicPr>
            <a:picLocks noChangeAspect="1"/>
          </p:cNvPicPr>
          <p:nvPr/>
        </p:nvPicPr>
        <p:blipFill>
          <a:blip r:embed="rId1"/>
          <a:stretch>
            <a:fillRect/>
          </a:stretch>
        </p:blipFill>
        <p:spPr>
          <a:xfrm>
            <a:off x="1614498" y="1243584"/>
            <a:ext cx="5777844"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À esquerda, a AUC de cada indicador (barras a partir de 0,5; argila acima, petróleo abaixo). À direita, as medianas em FCU e fora, para os indicadores em proporção.</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AUC é a de Cor/raça PPI (0,8375); a menor, a de Renda sem o extremo (0,1107).</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F19 · figuras/F19_fcu_por_indicador.png  ·  Bloco 7. Favelas e comunidades urbanas (FCU)</a:t>
            </a:r>
            <a:endParaRPr lang="en-US" sz="9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60</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8</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Envelhecimento</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Como a população idosa se distribui, e com que indicadores ela se relaciona?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T16 · F20 · T17 · T18 · F21</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faixa de 30–39 anos concentra a maior parte da população (15,8%)</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040880" cy="914400"/>
        </p:xfrm>
        <a:graphic>
          <a:graphicData uri="http://schemas.openxmlformats.org/drawingml/2006/table">
            <a:tbl>
              <a:tblPr/>
              <a:tblGrid>
                <a:gridCol w="1280160"/>
                <a:gridCol w="960120"/>
                <a:gridCol w="960120"/>
                <a:gridCol w="960120"/>
                <a:gridCol w="960120"/>
                <a:gridCol w="960120"/>
                <a:gridCol w="96012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Faixa etária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Total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Norte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Nordeste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Sudeste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Sul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Centro-Oeste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faixa etária; as colunas são o total e as regiões, com o percentual da população de cada uma em cada faixa.</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Pessoas de 70 anos ou mais são 7,4% do total, chegando a 8,5% no Sul.</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T16 · tabelas/T16_estrutura_etaria.csv  ·  Bloco 8. Envelhecimento</a:t>
            </a:r>
            <a:endParaRPr lang="en-US" sz="9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estrutura etária muda de região para região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20_piramide_etaria.png">    </p:cNvPr>
          <p:cNvPicPr>
            <a:picLocks noChangeAspect="1"/>
          </p:cNvPicPr>
          <p:nvPr/>
        </p:nvPicPr>
        <p:blipFill>
          <a:blip r:embed="rId1"/>
          <a:stretch>
            <a:fillRect/>
          </a:stretch>
        </p:blipFill>
        <p:spPr>
          <a:xfrm>
            <a:off x="777240" y="1243584"/>
            <a:ext cx="7452360" cy="4704523"/>
          </a:xfrm>
          <a:prstGeom prst="rect">
            <a:avLst/>
          </a:prstGeom>
        </p:spPr>
      </p:pic>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Barras: percentual da população total em cada faixa etária. Pontos: o mesmo percentual em cada região.</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70+: 7,4% no total e 8,5% no Sul.</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F20 · figuras/F20_piramide_etaria.png  ·  Bloco 8. Envelhecimento</a:t>
            </a:r>
            <a:endParaRPr lang="en-US" sz="9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A mediana de pessoas 60+ por setor vai de 0,1106 (Norte) a 0,1935 (Sul)</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1280160"/>
                <a:gridCol w="2103120"/>
                <a:gridCol w="822960"/>
                <a:gridCol w="914400"/>
                <a:gridCol w="914400"/>
                <a:gridCol w="91440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Escopo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P25</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P75</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Total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105.930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Total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105.130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53,4884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95,5556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168,2654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Total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105.912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16,2996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25,1208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36,6935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Total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103.851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35,5556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42,8571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Centro-Oeste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Centro-Oeste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9.869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43,4426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74,6114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121,8182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Centro-Oeste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13,1096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20,4918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29,3064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Centro-Oeste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33,9286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40,8333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48,2993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19.988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0,1434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19.901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46,5409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77,1186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19.986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14,8764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21,5385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30,2942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19.634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35,3846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41,9753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48,5294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quatro indicadores de envelhecimento, para o total e por região: n, média, mediana, quartis e as demais descritivas.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Pessoas 60+: mediana de 0,1935 no Sul e 0,1106 no Norte. Índice de envelhecimento, mediana do total: 95,5556.</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T17 · tabelas/T17_envelhecimento_por_regiao.csv  ·  Bloco 8. Envelhecimento  ·  parte 1 de 2</a:t>
            </a:r>
            <a:endParaRPr lang="en-US" sz="9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A mediana de pessoas 60+ por setor vai de 0,1106 (Norte) a 0,1935 (Sul)</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1280160"/>
                <a:gridCol w="2103120"/>
                <a:gridCol w="822960"/>
                <a:gridCol w="914400"/>
                <a:gridCol w="914400"/>
                <a:gridCol w="91440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Escopo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P25</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P75</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29,3103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51,8519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90,1745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10,9577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16,4444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23,8941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32,2581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38,4615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44,9868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62.417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61.842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62,0690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110,8108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190,8830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62.404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18,3058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28,1046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39,8990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61.122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36,2069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43,7500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50,7463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69,0199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122,0559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223,9348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20,0701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30,0464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42,3174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7.279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36,9565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43,8849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50,7692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quatro indicadores de envelhecimento, para o total e por região: n, média, mediana, quartis e as demais descritivas.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Pessoas 60+: mediana de 0,1935 no Sul e 0,1106 no Norte. Índice de envelhecimento, mediana do total: 95,5556.</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T17 · tabelas/T17_envelhecimento_por_regiao.csv  ·  Bloco 8. Envelhecimento  ·  parte 2 de 2</a:t>
            </a:r>
            <a:endParaRPr lang="en-US" sz="9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O percentual de pessoas 60+ se relaciona mais com População 0–14 (ρ = -0,7838)</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2194560"/>
                <a:gridCol w="1188720"/>
                <a:gridCol w="1188720"/>
                <a:gridCol w="1188720"/>
                <a:gridCol w="1188720"/>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 (ρ de Spearman)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Pessoas 60+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Índice de envelhecimento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Dependência idosa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70+ entre 60+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-0,3468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-0,3876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-0,3275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Lixo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-0,2543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-0,1493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-0,1493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-0,4591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-0,5569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-0,4226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-0,3091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-0,4138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-0,4835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-0,3856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0,5796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0,4850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0,3901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Correlação de Spearman entre os indicadores de envelhecimento (linhas) e os demais (colunas).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Para pessoas 60+, a correlação mais forte é com População 0–14 (ρ = -0,7838); com a renda média, ρ = 0,5142.</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T18 · tabelas/T18_envelhecimento_correlacoes.csv  ·  Bloco 8. Envelhecimento  ·  parte 1 de 2</a:t>
            </a:r>
            <a:endParaRPr lang="en-US" sz="9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O percentual de pessoas 60+ se relaciona mais com População 0–14 (ρ = -0,7838)</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2194560"/>
                <a:gridCol w="1188720"/>
                <a:gridCol w="1188720"/>
                <a:gridCol w="1188720"/>
                <a:gridCol w="1188720"/>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 (ρ de Spearman)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Pessoas 60+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Índice de envelhecimento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Dependência idosa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70+ entre 60+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-0,5792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-0,3836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0,5796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0,4850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0,3901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0,5796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0,4850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0,3901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0,3376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-0,2849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-0,7196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-0,6802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-0,4455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-0,7335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Correlação de Spearman entre os indicadores de envelhecimento (linhas) e os demais (colunas).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Para pessoas 60+, a correlação mais forte é com População 0–14 (ρ = -0,7838); com a renda média, ρ = 0,5142.</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T18 · tabelas/T18_envelhecimento_correlacoes.csv  ·  Bloco 8. Envelhecimento  ·  parte 2 de 2</a:t>
            </a:r>
            <a:endParaRPr lang="en-US" sz="9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Pessoas 60+ e renda média: ρ = 0,5142</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21_dispersao_60mais.png">    </p:cNvPr>
          <p:cNvPicPr>
            <a:picLocks noChangeAspect="1"/>
          </p:cNvPicPr>
          <p:nvPr/>
        </p:nvPicPr>
        <p:blipFill>
          <a:blip r:embed="rId1"/>
          <a:stretch>
            <a:fillRect/>
          </a:stretch>
        </p:blipFill>
        <p:spPr>
          <a:xfrm>
            <a:off x="1244945" y="1243584"/>
            <a:ext cx="6516951" cy="4791456"/>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hexágono reúne setores com valores parecidos; quanto mais escuro, mais setores. Eixo horizontal: renda média em escala logarítmica; vertical: proporção de pessoas de 60 anos ou mais.</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correlação de Spearman entre as duas é 0,5142.</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F21 · figuras/F21_dispersao_60mais.png  ·  Bloco 8. Envelhecimento</a:t>
            </a:r>
            <a:endParaRPr lang="en-US" sz="9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68</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10</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O índice da versão</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Como fica o índice, e ele separa os setores de favela?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T23 · T24 · T25 · T26 · T27 · F24 · F25</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Renda (invertida) tem o maior peso no índice (19,4%)</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178040" cy="914400"/>
        </p:xfrm>
        <a:graphic>
          <a:graphicData uri="http://schemas.openxmlformats.org/drawingml/2006/table">
            <a:tbl>
              <a:tblPr/>
              <a:tblGrid>
                <a:gridCol w="1828800"/>
                <a:gridCol w="2011680"/>
                <a:gridCol w="868680"/>
                <a:gridCol w="1280160"/>
                <a:gridCol w="1188720"/>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Componente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Dimensão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Carga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da dimensão (%)</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no índice (%)</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F2 (saneamento)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0,7900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F2 (saneamento)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0,5479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F1 (socioeconômica)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0,5839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F1 (socioeconômica)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0,8783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(invertida)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F1 (socioeconômica)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0,9390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F1 (socioeconômica)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0,8567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F2 (saneamento)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0,7392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componente: a dimensão em que ele carrega mais, a carga, o peso da dimensão e o peso final no índice (em %).</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maior peso é o de Renda (invertida) (19,4%); a dimensão F1 (socioeconômica) pesa 60,0%.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T23 · tabelas/T23_pesos.csv  ·  Bloco 10. O índice da versão</a:t>
            </a:r>
            <a:endParaRPr lang="en-US" sz="9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 índice tem mediana 0,3309 e P90 0,4358, em 75.096 setores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537960" cy="914400"/>
        </p:xfrm>
        <a:graphic>
          <a:graphicData uri="http://schemas.openxmlformats.org/drawingml/2006/table">
            <a:tbl>
              <a:tblPr/>
              <a:tblGrid>
                <a:gridCol w="1463040"/>
                <a:gridCol w="914400"/>
                <a:gridCol w="822960"/>
                <a:gridCol w="822960"/>
                <a:gridCol w="822960"/>
                <a:gridCol w="868680"/>
                <a:gridCol w="82296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Escopo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DP</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Total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75.096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0,3357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0,3309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0,4358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Centro-Oeste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7.643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0,3449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0,3412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0,4489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13.345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0,3826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0,2793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0,3825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0,4811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0,4317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0,3300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0,5592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45.767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0,3187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0,3184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0,3968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0,2811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0,2761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Descritivas do índice para o total e por região. Como o índice é normalizado dentro de cada município, todo município tem mínimo 0 e máximo 1.</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75.096 setores; mediana 0,3309; percentil 90 0,4358.</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T24 · tabelas/T24_indice_descritivas.csv  ·  Bloco 10. O índice da versão</a:t>
            </a:r>
            <a:endParaRPr lang="en-US" sz="9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Pela regra do IVS-BH, 5,6% dos setores ficam em vulnerabilidade muito elevada</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4937760" cy="914400"/>
        </p:xfrm>
        <a:graphic>
          <a:graphicData uri="http://schemas.openxmlformats.org/drawingml/2006/table">
            <a:tbl>
              <a:tblPr/>
              <a:tblGrid>
                <a:gridCol w="1280160"/>
                <a:gridCol w="1645920"/>
                <a:gridCol w="1097280"/>
                <a:gridCol w="91440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Regra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Faixa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IVS-BH</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baixo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21.520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IVS-BH</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médio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32.532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IVS-BH</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16.875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IVS-BH</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muito 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Quartis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baixo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18.751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Quartis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médio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18.784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Quartis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18.763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Quartis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muito 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18.798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Quantos setores ficam em cada faixa, pelas duas regras: a do IVS-BH (média e desvio-padrão do município) e a dos quartis do município.</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IVS-BH: 28,7% baixo e 5,6% muito elevado. Quartis: 25,0% muito elevado.</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T25 · tabelas/T25_faixas.csv  ·  Bloco 10. O índice da versão</a:t>
            </a:r>
            <a:endParaRPr lang="en-US" sz="9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AUC municipal de 0,8169: o índice separa as favelas — versão elegível</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675120" cy="914400"/>
        </p:xfrm>
        <a:graphic>
          <a:graphicData uri="http://schemas.openxmlformats.org/drawingml/2006/table">
            <a:tbl>
              <a:tblPr/>
              <a:tblGrid>
                <a:gridCol w="3200400"/>
                <a:gridCol w="1097280"/>
                <a:gridCol w="23774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Detalhe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AUC global contra FCU</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AUC municipal (mediana)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municípios na AUC municipal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ao menos 30 setores de FCU e fora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peso da dimensão F1 (socioeconômica) (%)</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KMO ≥ 0,70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MSA ≥ 0,50 em todas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comunalidade mínima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0,3761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comunalidade ≥ 0,30 em todas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maior carga mínima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0,5479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carga ≥ 0,40 em todas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elegível pelos critérios do NB05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AUC global e municipal, peso da dimensão socioeconômica e os critérios de elegibilidade do NB05, um por linha (1 = atende).</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AUC global 0,8177; mediana da AUC municipal 0,8169, em 31 municípios. Pelos critérios do NB05, a versão é elegível.</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T26 · tabelas/T26_auc_e_elegibilidade.csv  ·  Bloco 10. O índice da versão</a:t>
            </a:r>
            <a:endParaRPr lang="en-US" sz="9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A AUC vai de 0,5865 (Duque de Caxias) a 0,9433 (Guarujá) entre os municípios</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5669280" cy="914400"/>
        </p:xfrm>
        <a:graphic>
          <a:graphicData uri="http://schemas.openxmlformats.org/drawingml/2006/table">
            <a:tbl>
              <a:tblPr/>
              <a:tblGrid>
                <a:gridCol w="2560320"/>
                <a:gridCol w="914400"/>
                <a:gridCol w="1097280"/>
                <a:gridCol w="10972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 (entra na 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AUC</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fora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Guarujá</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0,9433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Guarulhos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0,9428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0,9426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16.424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Campinas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0,9413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Mauá</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0,9412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0,9242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Porto Alegre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Bernardo do Campo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Curitiba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0,8946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Rio de Janeiro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0,8685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7.285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Brasília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0,8632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Ananindeua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Luís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Goiânia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0,8360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Fortaleza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Teresina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AUC, setores de FCU (n1) e fora (n0) e se o município entra na mediana.</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os municípios que entram na mediana, a maior AUC é a de Guarujá (0,9433) e a menor, a de Duque de Caxias (0,5865).</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T27 · tabelas/T27_auc_por_municipio.csv  ·  Bloco 10. O índice da versão  ·  parte 1 de 2</a:t>
            </a:r>
            <a:endParaRPr lang="en-US" sz="9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A AUC vai de 0,5865 (Duque de Caxias) a 0,9433 (Guarujá) entre os municípios</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5669280" cy="914400"/>
        </p:xfrm>
        <a:graphic>
          <a:graphicData uri="http://schemas.openxmlformats.org/drawingml/2006/table">
            <a:tbl>
              <a:tblPr/>
              <a:tblGrid>
                <a:gridCol w="2560320"/>
                <a:gridCol w="914400"/>
                <a:gridCol w="1097280"/>
                <a:gridCol w="10972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 (entra na 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AUC</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fora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Recife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Salvador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0,7998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Nova Iguaçu</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0,7790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Camaragibe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0,7716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José dos Pinhais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0,7596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Maceió</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0,7447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Natal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0,7430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Gonçalo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0,7234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Feira de Santana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0,7195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Macaé</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0,7070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Cachoeiro de Itapemirim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0,6994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Belém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0,6926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0,6891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José de Ribamar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0,6713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Duque de Caxias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0,5865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25106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AUC, setores de FCU (n1) e fora (n0) e se o município entra na mediana.</a:t>
            </a:r>
            <a:endParaRPr lang="en-US" sz="1250" dirty="0"/>
          </a:p>
        </p:txBody>
      </p:sp>
      <p:sp>
        <p:nvSpPr>
          <p:cNvPr id="8" name="Shape 5"/>
          <p:cNvSpPr/>
          <p:nvPr/>
        </p:nvSpPr>
        <p:spPr>
          <a:xfrm>
            <a:off x="8549640" y="2366010"/>
            <a:ext cx="822960" cy="0"/>
          </a:xfrm>
          <a:prstGeom prst="line">
            <a:avLst/>
          </a:prstGeom>
          <a:noFill/>
          <a:ln w="15875">
            <a:solidFill>
              <a:srgbClr val="8C2F27"/>
            </a:solidFill>
            <a:prstDash val="solid"/>
          </a:ln>
        </p:spPr>
      </p:sp>
      <p:sp>
        <p:nvSpPr>
          <p:cNvPr id="9" name="Text 6"/>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os municípios que entram na mediana, a maior AUC é a de Guarujá (0,9433) e a menor, a de Duque de Caxias (0,5865).</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T27 · tabelas/T27_auc_por_municipio.csv  ·  Bloco 10. O índice da versão  ·  parte 2 de 2</a:t>
            </a:r>
            <a:endParaRPr lang="en-US" sz="9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distribuição do índice e as faixas do IVS-BH</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24_histograma_por_faixa.png">    </p:cNvPr>
          <p:cNvPicPr>
            <a:picLocks noChangeAspect="1"/>
          </p:cNvPicPr>
          <p:nvPr/>
        </p:nvPicPr>
        <p:blipFill>
          <a:blip r:embed="rId1"/>
          <a:stretch>
            <a:fillRect/>
          </a:stretch>
        </p:blipFill>
        <p:spPr>
          <a:xfrm>
            <a:off x="777240" y="1243584"/>
            <a:ext cx="7452360" cy="4331773"/>
          </a:xfrm>
          <a:prstGeom prst="rect">
            <a:avLst/>
          </a:prstGeom>
        </p:spPr>
      </p:pic>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Histograma do índice, com cada barra dividida pela faixa dos setores (regra do IVS-BH).</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28,7% dos setores ficam em baixo e 5,6% em muito elevado.</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F24 · figuras/F24_histograma_por_faixa.png  ·  Bloco 10. O índice da versão</a:t>
            </a:r>
            <a:endParaRPr lang="en-US" sz="9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Curva ROC do índice contra as favelas (AUC global 0,8177)</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25_curva_roc.png">    </p:cNvPr>
          <p:cNvPicPr>
            <a:picLocks noChangeAspect="1"/>
          </p:cNvPicPr>
          <p:nvPr/>
        </p:nvPicPr>
        <p:blipFill>
          <a:blip r:embed="rId1"/>
          <a:stretch>
            <a:fillRect/>
          </a:stretch>
        </p:blipFill>
        <p:spPr>
          <a:xfrm>
            <a:off x="2074602" y="1243584"/>
            <a:ext cx="4857636"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ponto da curva é um corte do índice: no eixo vertical, a proporção de setores de FCU acima do corte; no horizontal, a dos setores de fora. A diagonal é o acaso.</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Área sob a curva: 0,8177 (global); a mediana municipal é 0,8169.</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F25 · figuras/F25_curva_roc.png  ·  Bloco 10. O índice da versão</a:t>
            </a:r>
            <a:endParaRPr lang="en-US" sz="9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77</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13</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Comparação com a referência</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 que esta versão muda em relação à referência proposta do NB05?</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T31 · T32 · T33 · F28 · F29</a:t>
            </a:r>
            <a:endParaRPr lang="en-US" sz="12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correlação de postos com a referência é 0,9961</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5120640" cy="914400"/>
        </p:xfrm>
        <a:graphic>
          <a:graphicData uri="http://schemas.openxmlformats.org/drawingml/2006/table">
            <a:tbl>
              <a:tblPr/>
              <a:tblGrid>
                <a:gridCol w="2560320"/>
                <a:gridCol w="1280160"/>
                <a:gridCol w="128016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Escopo (menores ρ)</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comuns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ρ de Spearman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Total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Japoatã</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Placas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Preta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0,8287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Vicentinópolis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Charqueadas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0,9370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0,9403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Jaqueira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0,9429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Rosário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0,9643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Arara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0,9650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Tabatinga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0,9676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Itajuípe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Marechal Deodoro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Igarapava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Guapiaçu</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Salinas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49744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Correlação de Spearman entre o índice desta versão e o da referência, nos setores que estão nas duas amostras: total e por município.</a:t>
            </a:r>
            <a:endParaRPr lang="en-US" sz="1250" dirty="0"/>
          </a:p>
        </p:txBody>
      </p:sp>
      <p:sp>
        <p:nvSpPr>
          <p:cNvPr id="8" name="Shape 5"/>
          <p:cNvSpPr/>
          <p:nvPr/>
        </p:nvSpPr>
        <p:spPr>
          <a:xfrm>
            <a:off x="8549640" y="2785110"/>
            <a:ext cx="822960" cy="0"/>
          </a:xfrm>
          <a:prstGeom prst="line">
            <a:avLst/>
          </a:prstGeom>
          <a:noFill/>
          <a:ln w="15875">
            <a:solidFill>
              <a:srgbClr val="8C2F27"/>
            </a:solidFill>
            <a:prstDash val="solid"/>
          </a:ln>
        </p:spPr>
      </p:sp>
      <p:sp>
        <p:nvSpPr>
          <p:cNvPr id="9" name="Text 6"/>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Total: ρ = 0,9961. Menor correlação municipal: Japoatã (0,8000).</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T31 · tabelas/T31_spearman_com_referencia.csv  ·  Bloco 13. Comparação com a referência</a:t>
            </a:r>
            <a:endParaRPr lang="en-US" sz="9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maior troca de faixa é de medio para elevado (287 setores)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217920" cy="914400"/>
        </p:xfrm>
        <a:graphic>
          <a:graphicData uri="http://schemas.openxmlformats.org/drawingml/2006/table">
            <a:tbl>
              <a:tblPr/>
              <a:tblGrid>
                <a:gridCol w="2194560"/>
                <a:gridCol w="100584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Referência ↓ · versão →</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baixo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médio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elevado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muito elevado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baixo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21.034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médio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30.639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17.206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muito 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linha é um par (faixa na referência, faixa nesta versão), com o número de setores e o percentual do total.</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Fora da diagonal, a maior célula é de medio para elevado, com 287 setores.</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T32 · tabelas/T32_matriz_de_faixas.csv  ·  Bloco 13. Comparação com a referência</a:t>
            </a:r>
            <a:endParaRPr lang="en-US" sz="9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1,6% dos setores mudam de faixa em relação à referência</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5943600" cy="914400"/>
        </p:xfrm>
        <a:graphic>
          <a:graphicData uri="http://schemas.openxmlformats.org/drawingml/2006/table">
            <a:tbl>
              <a:tblPr/>
              <a:tblGrid>
                <a:gridCol w="2560320"/>
                <a:gridCol w="1188720"/>
                <a:gridCol w="118872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comuns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Mudam de faixa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que muda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Todos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Urandi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Japoatã</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Placas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Itajuípe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Vicentinópolis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Arara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Jaqueira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Preta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Charqueadas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Igarapava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Limoeiro do Norte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Tabatinga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Coroaci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Marechal Deodoro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Chapada dos Guimarães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49744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primeira linha é o total; as demais, os municípios, do mais afetado para o menos: setores comuns, setores que mudam de faixa e o percentual.</a:t>
            </a:r>
            <a:endParaRPr lang="en-US" sz="1250" dirty="0"/>
          </a:p>
        </p:txBody>
      </p:sp>
      <p:sp>
        <p:nvSpPr>
          <p:cNvPr id="8" name="Shape 5"/>
          <p:cNvSpPr/>
          <p:nvPr/>
        </p:nvSpPr>
        <p:spPr>
          <a:xfrm>
            <a:off x="8549640" y="2785110"/>
            <a:ext cx="822960" cy="0"/>
          </a:xfrm>
          <a:prstGeom prst="line">
            <a:avLst/>
          </a:prstGeom>
          <a:noFill/>
          <a:ln w="15875">
            <a:solidFill>
              <a:srgbClr val="8C2F27"/>
            </a:solidFill>
            <a:prstDash val="solid"/>
          </a:ln>
        </p:spPr>
      </p:sp>
      <p:sp>
        <p:nvSpPr>
          <p:cNvPr id="9" name="Text 6"/>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total, 1,6% dos setores mudam de faixa; o município mais afetado é Urandi (28,6%).</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T33 · tabelas/T33_municipios_que_mudam.csv  ·  Bloco 13. Comparação com a referência</a:t>
            </a:r>
            <a:endParaRPr lang="en-US" sz="9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Matriz de faixas: referência × 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28_matriz_de_faixas.png">    </p:cNvPr>
          <p:cNvPicPr>
            <a:picLocks noChangeAspect="1"/>
          </p:cNvPicPr>
          <p:nvPr/>
        </p:nvPicPr>
        <p:blipFill>
          <a:blip r:embed="rId1"/>
          <a:stretch>
            <a:fillRect/>
          </a:stretch>
        </p:blipFill>
        <p:spPr>
          <a:xfrm>
            <a:off x="1719196" y="1243584"/>
            <a:ext cx="5568449" cy="4791456"/>
          </a:xfrm>
          <a:prstGeom prst="rect">
            <a:avLst/>
          </a:prstGeom>
        </p:spPr>
      </p:pic>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Linhas: faixa na referência; colunas: faixa nesta versão; cada célula traz o número de setores.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troca fora da diagonal é de medio para elevado (287 setores).</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F28 · figuras/F28_matriz_de_faixas.png  ·  Bloco 13. Comparação com a referência</a:t>
            </a:r>
            <a:endParaRPr lang="en-US" sz="9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municípios mais afetados pela mudança da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1_com_rurais/figuras/F29_municipios_que_mudam.png">    </p:cNvPr>
          <p:cNvPicPr>
            <a:picLocks noChangeAspect="1"/>
          </p:cNvPicPr>
          <p:nvPr/>
        </p:nvPicPr>
        <p:blipFill>
          <a:blip r:embed="rId1"/>
          <a:stretch>
            <a:fillRect/>
          </a:stretch>
        </p:blipFill>
        <p:spPr>
          <a:xfrm>
            <a:off x="1396012" y="1243584"/>
            <a:ext cx="6214816" cy="4791456"/>
          </a:xfrm>
          <a:prstGeom prst="rect">
            <a:avLst/>
          </a:prstGeom>
        </p:spPr>
      </p:pic>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20 municípios com o maior percentual de setores que mudam de faixa.</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mais afetado é Urandi (28,6%); no total, 1,6%.</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F29 · figuras/F29_municipios_que_mudam.png  ·  Bloco 13. Comparação com a referência</a:t>
            </a:r>
            <a:endParaRPr lang="en-US" sz="9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Síntese da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Shape 3"/>
          <p:cNvSpPr/>
          <p:nvPr/>
        </p:nvSpPr>
        <p:spPr>
          <a:xfrm>
            <a:off x="777240" y="1472184"/>
            <a:ext cx="3300984" cy="0"/>
          </a:xfrm>
          <a:prstGeom prst="line">
            <a:avLst/>
          </a:prstGeom>
          <a:noFill/>
          <a:ln w="12700">
            <a:solidFill>
              <a:srgbClr val="1A1A18"/>
            </a:solidFill>
            <a:prstDash val="solid"/>
          </a:ln>
        </p:spPr>
      </p:sp>
      <p:sp>
        <p:nvSpPr>
          <p:cNvPr id="6" name="Text 4"/>
          <p:cNvSpPr/>
          <p:nvPr/>
        </p:nvSpPr>
        <p:spPr>
          <a:xfrm>
            <a:off x="777240" y="1545336"/>
            <a:ext cx="3300984" cy="566928"/>
          </a:xfrm>
          <a:prstGeom prst="rect">
            <a:avLst/>
          </a:prstGeom>
          <a:noFill/>
          <a:ln/>
        </p:spPr>
        <p:txBody>
          <a:bodyPr wrap="square" lIns="0" tIns="0" rIns="0" bIns="0" rtlCol="0" anchor="ctr"/>
          <a:lstStyle/>
          <a:p>
            <a:pPr indent="0" marL="0">
              <a:buNone/>
            </a:pPr>
            <a:r>
              <a:rPr lang="en-US" sz="3000" b="1" dirty="0">
                <a:solidFill>
                  <a:srgbClr val="1A1A18"/>
                </a:solidFill>
                <a:latin typeface="Cambria" pitchFamily="34" charset="0"/>
                <a:ea typeface="Cambria" pitchFamily="34" charset="-122"/>
                <a:cs typeface="Cambria" pitchFamily="34" charset="-120"/>
              </a:rPr>
              <a:t>75.096</a:t>
            </a:r>
            <a:endParaRPr lang="en-US" sz="3000" dirty="0"/>
          </a:p>
        </p:txBody>
      </p:sp>
      <p:sp>
        <p:nvSpPr>
          <p:cNvPr id="7" name="Text 5"/>
          <p:cNvSpPr/>
          <p:nvPr/>
        </p:nvSpPr>
        <p:spPr>
          <a:xfrm>
            <a:off x="777240" y="2130552"/>
            <a:ext cx="3300984"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setores na amostra do índice (T01)</a:t>
            </a:r>
            <a:endParaRPr lang="en-US" sz="1050" dirty="0"/>
          </a:p>
        </p:txBody>
      </p:sp>
      <p:sp>
        <p:nvSpPr>
          <p:cNvPr id="8" name="Shape 6"/>
          <p:cNvSpPr/>
          <p:nvPr/>
        </p:nvSpPr>
        <p:spPr>
          <a:xfrm>
            <a:off x="4443984" y="1472184"/>
            <a:ext cx="3300984" cy="0"/>
          </a:xfrm>
          <a:prstGeom prst="line">
            <a:avLst/>
          </a:prstGeom>
          <a:noFill/>
          <a:ln w="12700">
            <a:solidFill>
              <a:srgbClr val="1A1A18"/>
            </a:solidFill>
            <a:prstDash val="solid"/>
          </a:ln>
        </p:spPr>
      </p:sp>
      <p:sp>
        <p:nvSpPr>
          <p:cNvPr id="9" name="Text 7"/>
          <p:cNvSpPr/>
          <p:nvPr/>
        </p:nvSpPr>
        <p:spPr>
          <a:xfrm>
            <a:off x="4443984" y="1545336"/>
            <a:ext cx="3300984" cy="566928"/>
          </a:xfrm>
          <a:prstGeom prst="rect">
            <a:avLst/>
          </a:prstGeom>
          <a:noFill/>
          <a:ln/>
        </p:spPr>
        <p:txBody>
          <a:bodyPr wrap="square" lIns="0" tIns="0" rIns="0" bIns="0" rtlCol="0" anchor="ctr"/>
          <a:lstStyle/>
          <a:p>
            <a:pPr indent="0" marL="0">
              <a:buNone/>
            </a:pPr>
            <a:r>
              <a:rPr lang="en-US" sz="3000" b="1" dirty="0">
                <a:solidFill>
                  <a:srgbClr val="1A1A18"/>
                </a:solidFill>
                <a:latin typeface="Cambria" pitchFamily="34" charset="0"/>
                <a:ea typeface="Cambria" pitchFamily="34" charset="-122"/>
                <a:cs typeface="Cambria" pitchFamily="34" charset="-120"/>
              </a:rPr>
              <a:t>0,8169</a:t>
            </a:r>
            <a:endParaRPr lang="en-US" sz="3000" dirty="0"/>
          </a:p>
        </p:txBody>
      </p:sp>
      <p:sp>
        <p:nvSpPr>
          <p:cNvPr id="10" name="Text 8"/>
          <p:cNvSpPr/>
          <p:nvPr/>
        </p:nvSpPr>
        <p:spPr>
          <a:xfrm>
            <a:off x="4443984" y="2130552"/>
            <a:ext cx="3300984"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AUC municipal contra FCU (mediana) (T26)</a:t>
            </a:r>
            <a:endParaRPr lang="en-US" sz="1050" dirty="0"/>
          </a:p>
        </p:txBody>
      </p:sp>
      <p:sp>
        <p:nvSpPr>
          <p:cNvPr id="11" name="Shape 9"/>
          <p:cNvSpPr/>
          <p:nvPr/>
        </p:nvSpPr>
        <p:spPr>
          <a:xfrm>
            <a:off x="8110728" y="1472184"/>
            <a:ext cx="3300984" cy="0"/>
          </a:xfrm>
          <a:prstGeom prst="line">
            <a:avLst/>
          </a:prstGeom>
          <a:noFill/>
          <a:ln w="12700">
            <a:solidFill>
              <a:srgbClr val="8C2F27"/>
            </a:solidFill>
            <a:prstDash val="solid"/>
          </a:ln>
        </p:spPr>
      </p:sp>
      <p:sp>
        <p:nvSpPr>
          <p:cNvPr id="12" name="Text 10"/>
          <p:cNvSpPr/>
          <p:nvPr/>
        </p:nvSpPr>
        <p:spPr>
          <a:xfrm>
            <a:off x="8110728" y="1545336"/>
            <a:ext cx="3300984" cy="566928"/>
          </a:xfrm>
          <a:prstGeom prst="rect">
            <a:avLst/>
          </a:prstGeom>
          <a:noFill/>
          <a:ln/>
        </p:spPr>
        <p:txBody>
          <a:bodyPr wrap="square" lIns="0" tIns="0" rIns="0" bIns="0" rtlCol="0" anchor="ctr"/>
          <a:lstStyle/>
          <a:p>
            <a:pPr indent="0" marL="0">
              <a:buNone/>
            </a:pPr>
            <a:r>
              <a:rPr lang="en-US" sz="3000" b="1" dirty="0">
                <a:solidFill>
                  <a:srgbClr val="8C2F27"/>
                </a:solidFill>
                <a:latin typeface="Cambria" pitchFamily="34" charset="0"/>
                <a:ea typeface="Cambria" pitchFamily="34" charset="-122"/>
                <a:cs typeface="Cambria" pitchFamily="34" charset="-120"/>
              </a:rPr>
              <a:t>1,6%</a:t>
            </a:r>
            <a:endParaRPr lang="en-US" sz="3000" dirty="0"/>
          </a:p>
        </p:txBody>
      </p:sp>
      <p:sp>
        <p:nvSpPr>
          <p:cNvPr id="13" name="Text 11"/>
          <p:cNvSpPr/>
          <p:nvPr/>
        </p:nvSpPr>
        <p:spPr>
          <a:xfrm>
            <a:off x="8110728" y="2130552"/>
            <a:ext cx="3300984"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setores que mudam de faixa em relação à referência (T33)</a:t>
            </a:r>
            <a:endParaRPr lang="en-US" sz="1050" dirty="0"/>
          </a:p>
        </p:txBody>
      </p:sp>
      <p:sp>
        <p:nvSpPr>
          <p:cNvPr id="14" name="Shape 12"/>
          <p:cNvSpPr/>
          <p:nvPr/>
        </p:nvSpPr>
        <p:spPr>
          <a:xfrm>
            <a:off x="777240" y="2926080"/>
            <a:ext cx="822960" cy="0"/>
          </a:xfrm>
          <a:prstGeom prst="line">
            <a:avLst/>
          </a:prstGeom>
          <a:noFill/>
          <a:ln w="15875">
            <a:solidFill>
              <a:srgbClr val="8C2F27"/>
            </a:solidFill>
            <a:prstDash val="solid"/>
          </a:ln>
        </p:spPr>
      </p:sp>
      <p:sp>
        <p:nvSpPr>
          <p:cNvPr id="15" name="Text 13"/>
          <p:cNvSpPr/>
          <p:nvPr/>
        </p:nvSpPr>
        <p:spPr>
          <a:xfrm>
            <a:off x="777240" y="2980944"/>
            <a:ext cx="10634472" cy="3054096"/>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esta versão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setores rurais são poucos diante dos urbanos, e o índice quase não muda: a correlação de postos com a referência fica perto de 1 e poucos setores trocam de faixa. A AUC contra as favelas cai um pouco, o que é esperado, porque as favelas são urbanas e os setores rurais carentes passam a disputar as faixas altas com elas. Os municípios mais afetados são os pequenos, em que os rurais pesam mais no total.</a:t>
            </a:r>
            <a:endParaRPr lang="en-US" sz="12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Candidatos ao artigo: as tabelas e figuras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243584"/>
            <a:ext cx="10634472" cy="274320"/>
          </a:xfrm>
          <a:prstGeom prst="rect">
            <a:avLst/>
          </a:prstGeom>
          <a:noFill/>
          <a:ln/>
        </p:spPr>
        <p:txBody>
          <a:bodyPr wrap="square" lIns="0" tIns="0" rIns="0" bIns="0" rtlCol="0" anchor="ctr"/>
          <a:lstStyle/>
          <a:p>
            <a:pPr indent="0" marL="0">
              <a:buNone/>
            </a:pPr>
            <a:r>
              <a:rPr lang="en-US" sz="1100" i="1" dirty="0">
                <a:solidFill>
                  <a:srgbClr val="56534C"/>
                </a:solidFill>
                <a:latin typeface="Cambria" pitchFamily="34" charset="0"/>
                <a:ea typeface="Cambria" pitchFamily="34" charset="-122"/>
                <a:cs typeface="Cambria" pitchFamily="34" charset="-120"/>
              </a:rPr>
              <a:t>Marcar no catálogo (colunas “Vai para o artigo?”, “Seção” e “Comentários”); os IDs são os mesmos em todas as versões.</a:t>
            </a:r>
            <a:endParaRPr lang="en-US" sz="11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777240" y="1609344"/>
          <a:ext cx="10607040" cy="914400"/>
        </p:xfrm>
        <a:graphic>
          <a:graphicData uri="http://schemas.openxmlformats.org/drawingml/2006/table">
            <a:tbl>
              <a:tblPr/>
              <a:tblGrid>
                <a:gridCol w="731520"/>
                <a:gridCol w="731520"/>
                <a:gridCol w="914400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ID</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Bloco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Título no deck</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75.096 setores chegam ao índice, de 109.032 na base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Do recorte ao índice, 31.185 setores saem por falta de algum componente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Analfabetismo 15+ é o indicador com mais faltantes (15,8% dos setores)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 nem sanitário é o indicador mais assimétrico (assimetria 49,54)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a mediana vai de 1.692,69 (Nordeste) a 3.685,88 (Sul)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entre os municípios, a mediana vai de 1.022,28 a 5.291,89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 Sem banheiro nem sanitário tem a distribuição mais assimétrica (assimetria 49,54)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 Água inadequada tem mediana de 0,1991 no Norte e 0,0000 no Centro-Oeste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 as regiões têm formas diferentes de distribuição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 Renda média tem a distribuição mais assimétrica (assimetria 3,76)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 Razão de moradores tem mediana de 3,2017 no Norte e 2,6039 no Sul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 as regiões têm formas diferentes de distribuição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 Domicílio improvisado tem a distribuição mais assimétrica (assimetria 36,36)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 Domicílio improvisado tem mediana de 0,0000 no Centro-Oeste e 0,0000 no Centro-Oeste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4"/>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catalogo.csv  ·  parte 1 de 4</a:t>
            </a:r>
            <a:endParaRPr lang="en-US" sz="9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Candidatos ao artigo: as tabelas e figuras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243584"/>
            <a:ext cx="10634472" cy="274320"/>
          </a:xfrm>
          <a:prstGeom prst="rect">
            <a:avLst/>
          </a:prstGeom>
          <a:noFill/>
          <a:ln/>
        </p:spPr>
        <p:txBody>
          <a:bodyPr wrap="square" lIns="0" tIns="0" rIns="0" bIns="0" rtlCol="0" anchor="ctr"/>
          <a:lstStyle/>
          <a:p>
            <a:pPr indent="0" marL="0">
              <a:buNone/>
            </a:pPr>
            <a:r>
              <a:rPr lang="en-US" sz="1100" i="1" dirty="0">
                <a:solidFill>
                  <a:srgbClr val="56534C"/>
                </a:solidFill>
                <a:latin typeface="Cambria" pitchFamily="34" charset="0"/>
                <a:ea typeface="Cambria" pitchFamily="34" charset="-122"/>
                <a:cs typeface="Cambria" pitchFamily="34" charset="-120"/>
              </a:rPr>
              <a:t>Marcar no catálogo (colunas “Vai para o artigo?”, “Seção” e “Comentários”); os IDs são os mesmos em todas as versões.</a:t>
            </a:r>
            <a:endParaRPr lang="en-US" sz="1100" dirty="0"/>
          </a:p>
        </p:txBody>
      </p:sp>
      <p:graphicFrame>
        <p:nvGraphicFramePr>
          <p:cNvPr id="86" name="Table 0"/>
          <p:cNvGraphicFramePr>
            <a:graphicFrameLocks noGrp="1"/>
          </p:cNvGraphicFramePr>
          <p:nvPr>
            <p:extLst>
              <p:ext uri="{D42A27DB-BD31-4B8C-83A1-F6EECF244321}">
                <p14:modId xmlns:p14="http://schemas.microsoft.com/office/powerpoint/2010/main" val="1579011935"/>
              </p:ext>
            </p:extLst>
          </p:nvPr>
        </p:nvGraphicFramePr>
        <p:xfrm>
          <a:off x="777240" y="1609344"/>
          <a:ext cx="10607040" cy="914400"/>
        </p:xfrm>
        <a:graphic>
          <a:graphicData uri="http://schemas.openxmlformats.org/drawingml/2006/table">
            <a:tbl>
              <a:tblPr/>
              <a:tblGrid>
                <a:gridCol w="731520"/>
                <a:gridCol w="731520"/>
                <a:gridCol w="914400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ID</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Bloco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Título no deck</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 as regiões têm formas diferentes de distribuição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 Índice de envelhecimento tem a distribuição mais assimétrica (assimetria 5,75)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 Crianças 0–4 tem mediana de 0,0644 no Norte e 0,0468 no Sul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 as regiões têm formas diferentes de distribuição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maior percentual de faltantes é o de Banheiro graduado em Groaíras (66,7%)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faltantes se concentram em poucos indicadores e municípios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analfabetismo falta em 28,3% dos menores setores e em 3,8% dos maiores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falta de dados depende do tamanho do setor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convencional tem a maior proporção de extremos (6,8%)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Paulo concentra o maior número de marcações de extremo (8.067)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setores mais distantes da mediana, indicador por indicador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70 setores têm renda suspeita e 3.400 têm renda extrema coerente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proporção de extremos varia muito de um indicador para outro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e Renda sem o extremo formam o par mais correlacionado (ρ = 1,0000)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4"/>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catalogo.csv  ·  parte 2 de 4</a:t>
            </a:r>
            <a:endParaRPr lang="en-US" sz="9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Candidatos ao artigo: as tabelas e figuras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243584"/>
            <a:ext cx="10634472" cy="274320"/>
          </a:xfrm>
          <a:prstGeom prst="rect">
            <a:avLst/>
          </a:prstGeom>
          <a:noFill/>
          <a:ln/>
        </p:spPr>
        <p:txBody>
          <a:bodyPr wrap="square" lIns="0" tIns="0" rIns="0" bIns="0" rtlCol="0" anchor="ctr"/>
          <a:lstStyle/>
          <a:p>
            <a:pPr indent="0" marL="0">
              <a:buNone/>
            </a:pPr>
            <a:r>
              <a:rPr lang="en-US" sz="1100" i="1" dirty="0">
                <a:solidFill>
                  <a:srgbClr val="56534C"/>
                </a:solidFill>
                <a:latin typeface="Cambria" pitchFamily="34" charset="0"/>
                <a:ea typeface="Cambria" pitchFamily="34" charset="-122"/>
                <a:cs typeface="Cambria" pitchFamily="34" charset="-120"/>
              </a:rPr>
              <a:t>Marcar no catálogo (colunas “Vai para o artigo?”, “Seção” e “Comentários”); os IDs são os mesmos em todas as versões.</a:t>
            </a:r>
            <a:endParaRPr lang="en-US" sz="1100" dirty="0"/>
          </a:p>
        </p:txBody>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777240" y="1609344"/>
          <a:ext cx="10607040" cy="914400"/>
        </p:xfrm>
        <a:graphic>
          <a:graphicData uri="http://schemas.openxmlformats.org/drawingml/2006/table">
            <a:tbl>
              <a:tblPr/>
              <a:tblGrid>
                <a:gridCol w="731520"/>
                <a:gridCol w="731520"/>
                <a:gridCol w="914400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ID</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Bloco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Título no deck</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Na correlação linear, o par mais forte é Renda média × Renda sem o extremo (r = 1,0000)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par mais redundante é Renda sem o extremo × Renda (mediana mun.) (ρ = 1,0000)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indicadores formam grupos de correlação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Entre as variáveis das demandas e os componentes do índice, o par mais forte é Sem água canalizada × Cor/raça PPI (ρ = 0,4292)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 o par mais correlacionado é Sem banheiro × Banheiro graduado (ρ = 1,0000)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 o par mais correlacionado é Renda média × Renda sem o extremo (ρ = 1,0000)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 o par mais correlacionado é Habitação precária × Moradia não convencional (ρ = 0,9632)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F35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 o par mais correlacionado é Pessoas 60+ × Dependência idosa (ρ = 0,9953)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dendrograma junta os indicadores que medem coisas parecidas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Cor/raça PPI é o indicador que mais separa as favelas (AUC 0,8375)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indicadores separam as favelas com força muito diferente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faixa de 30–39 anos concentra a maior parte da população (15,8%)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estrutura etária muda de região para região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mediana de pessoas 60+ por setor vai de 0,1106 (Norte) a 0,1935 (Sul)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4"/>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catalogo.csv  ·  parte 3 de 4</a:t>
            </a:r>
            <a:endParaRPr lang="en-US" sz="9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Candidatos ao artigo: as tabelas e figuras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243584"/>
            <a:ext cx="10634472" cy="274320"/>
          </a:xfrm>
          <a:prstGeom prst="rect">
            <a:avLst/>
          </a:prstGeom>
          <a:noFill/>
          <a:ln/>
        </p:spPr>
        <p:txBody>
          <a:bodyPr wrap="square" lIns="0" tIns="0" rIns="0" bIns="0" rtlCol="0" anchor="ctr"/>
          <a:lstStyle/>
          <a:p>
            <a:pPr indent="0" marL="0">
              <a:buNone/>
            </a:pPr>
            <a:r>
              <a:rPr lang="en-US" sz="1100" i="1" dirty="0">
                <a:solidFill>
                  <a:srgbClr val="56534C"/>
                </a:solidFill>
                <a:latin typeface="Cambria" pitchFamily="34" charset="0"/>
                <a:ea typeface="Cambria" pitchFamily="34" charset="-122"/>
                <a:cs typeface="Cambria" pitchFamily="34" charset="-120"/>
              </a:rPr>
              <a:t>Marcar no catálogo (colunas “Vai para o artigo?”, “Seção” e “Comentários”); os IDs são os mesmos em todas as versões.</a:t>
            </a:r>
            <a:endParaRPr lang="en-US" sz="11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777240" y="1609344"/>
          <a:ext cx="10607040" cy="914400"/>
        </p:xfrm>
        <a:graphic>
          <a:graphicData uri="http://schemas.openxmlformats.org/drawingml/2006/table">
            <a:tbl>
              <a:tblPr/>
              <a:tblGrid>
                <a:gridCol w="731520"/>
                <a:gridCol w="731520"/>
                <a:gridCol w="914400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ID</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Bloco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Título no deck</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percentual de pessoas 60+ se relaciona mais com População 0–14 (ρ = -0,7838)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Pessoas 60+ e renda média: ρ = 0,5142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(invertida) tem o maior peso no índice (19,4%)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índice tem mediana 0,3309 e P90 0,4358, em 75.096 setores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Pela regra do IVS-BH, 5,6% dos setores ficam em vulnerabilidade muito elevada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AUC municipal de 0,8169: o índice separa as favelas — versão elegível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AUC vai de 0,5865 (Duque de Caxias) a 0,9433 (Guarujá) entre os municípios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distribuição do índice e as faixas do IVS-BH</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Curva ROC do índice contra as favelas (AUC global 0,8177)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correlação de postos com a referência é 0,9961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maior troca de faixa é de medio para elevado (287 setores)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1,6% dos setores mudam de faixa em relação à referência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Matriz de faixas: referência × esta versão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municípios mais afetados pela mudança da versão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4"/>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catalogo.csv  ·  parte 4 de 4</a:t>
            </a:r>
            <a:endParaRPr lang="en-US" sz="9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Limitações e parâmetros exploratórios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335024"/>
            <a:ext cx="10634472" cy="4700016"/>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8"/>
                </a:solidFill>
                <a:latin typeface="Cambria" pitchFamily="34" charset="0"/>
                <a:ea typeface="Cambria" pitchFamily="34" charset="-122"/>
                <a:cs typeface="Cambria" pitchFamily="34" charset="-120"/>
              </a:rPr>
              <a:t>As favelas e comunidades urbanas só existem em área urbana: com rurais, a AUC compara favelas também com setores rurais, o que muda o sentido da medida.</a:t>
            </a:r>
            <a:endParaRPr lang="en-US" sz="1300" dirty="0"/>
          </a:p>
          <a:p>
            <a:pPr marL="342900" indent="-342900">
              <a:spcAft>
                <a:spcPts val="800"/>
              </a:spcAft>
              <a:buSzPct val="100000"/>
              <a:buChar char="•"/>
            </a:pPr>
            <a:r>
              <a:rPr lang="en-US" sz="1300" dirty="0">
                <a:solidFill>
                  <a:srgbClr val="1A1A18"/>
                </a:solidFill>
                <a:latin typeface="Cambria" pitchFamily="34" charset="0"/>
                <a:ea typeface="Cambria" pitchFamily="34" charset="-122"/>
                <a:cs typeface="Cambria" pitchFamily="34" charset="-120"/>
              </a:rPr>
              <a:t>Os indicadores de saneamento foram pensados para a cidade: poço ou fossa no campo não têm o mesmo significado de carência que na área urbana.</a:t>
            </a:r>
            <a:endParaRPr lang="en-US" sz="1300" dirty="0"/>
          </a:p>
          <a:p>
            <a:pPr marL="342900" indent="-342900">
              <a:spcAft>
                <a:spcPts val="800"/>
              </a:spcAft>
              <a:buSzPct val="100000"/>
              <a:buChar char="•"/>
            </a:pPr>
            <a:r>
              <a:rPr lang="en-US" sz="1300" dirty="0">
                <a:solidFill>
                  <a:srgbClr val="1A1A18"/>
                </a:solidFill>
                <a:latin typeface="Cambria" pitchFamily="34" charset="0"/>
                <a:ea typeface="Cambria" pitchFamily="34" charset="-122"/>
                <a:cs typeface="Cambria" pitchFamily="34" charset="-120"/>
              </a:rPr>
              <a:t>A amostra do índice continua excluindo todo setor com algum componente faltante (exclusão por lista).</a:t>
            </a:r>
            <a:endParaRPr lang="en-US" sz="1300" dirty="0"/>
          </a:p>
          <a:p>
            <a:pPr marL="342900" indent="-342900">
              <a:spcAft>
                <a:spcPts val="800"/>
              </a:spcAft>
              <a:buSzPct val="100000"/>
              <a:buChar char="•"/>
            </a:pPr>
            <a:r>
              <a:rPr lang="en-US" sz="1300" i="1" dirty="0">
                <a:solidFill>
                  <a:srgbClr val="1A1A18"/>
                </a:solidFill>
                <a:latin typeface="Cambria" pitchFamily="34" charset="0"/>
                <a:ea typeface="Cambria" pitchFamily="34" charset="-122"/>
                <a:cs typeface="Cambria" pitchFamily="34" charset="-120"/>
              </a:rPr>
              <a:t>Nenhum parâmetro exploratório nesta versão.</a:t>
            </a:r>
            <a:endParaRPr lang="en-US" sz="13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Apêndice: dicionário dos indicadores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1828800"/>
                <a:gridCol w="1188720"/>
                <a:gridCol w="4206240"/>
                <a:gridCol w="1737360"/>
                <a:gridCol w="164592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Dimensão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O que mede</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Numerador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Denominador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533019">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com abastecimento de água inadequado ou ausente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V00112 + V00113 + V00114 + V00115 + V00116 + V00117 + V00118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com esgotamento sanitário inadequado ou ausente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V00312 + V00313 + V00314 + V00315 + V00316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Lixo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com destino do lixo inadequado ou ausente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V00398 + V00399 + V00400 + V00401 + V00402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em que a água não chega encanada até dentro do domicílio (complemento de V00199; equivale a V00200+V00201 sobre 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V00199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não chega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em que a água não chega encanada ao domicílio (V00201)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V00201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só no terreno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em que a água chega encanada apenas ao terreno (V00200)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V00200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sem banheiro de uso exclusivo com chuveiro e vaso sanitário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V00495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 nem sanitário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sem banheiro nem sanitário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V00238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Só sanitário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com apenas sanitário ou buraco para dejeções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V00237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Quadro_Indicadores.csv (entrega à orientadora)  ·  parte 1 de 3</a:t>
            </a:r>
            <a:endParaRPr lang="en-US" sz="9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Apêndice: dicionário dos indicadores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1828800"/>
                <a:gridCol w="1188720"/>
                <a:gridCol w="4206240"/>
                <a:gridCol w="1737360"/>
                <a:gridCol w="164592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Dimensão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O que mede</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Numerador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Denominador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Banheiro de uso comum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com apenas banheiro de uso comum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V00236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533019">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Banheiro graduado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Falta de banheiro graduada: 1 ponto para banheiro só de uso comum, 2 para só sanitário, 3 para nem banheiro nem sanitário, sobre 3 vezes os domicílios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V00236 + 2·V00237 + 3·V00238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 por domicílio (reproduz o V0005 do IBGE)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V00005 + V00006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 + V00002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Analfabetismo 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Taxa de analfabetismo entre pessoas de 15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V00901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V00900 + V00901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Rendimento nominal médio mensal das pessoas responsáveis (R$)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V06004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Cor/raça PPI</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pessoas de cor/raça preta, parda ou indígena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V01318 + V01320 + V01321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Responsável mulher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com pessoa responsável do sexo feminino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V01063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V01062 + V01063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sem o extremo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dos responsáveis sem o valor extremo de Belo Horizonte (R$ 170.418,06), que vira faltante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V06004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(mediana mun.)</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dos responsáveis com o valor extremo trocado pela mediana do município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V06004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Domicílio improvisado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particulares improvisados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 + V00002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533019">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Habitação precária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em habitação precária (cortiço, estrutura degradada, improvisados)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V00050 + V00052 + V00053 + V00054 + V00055 + V00056 + V00057 + V00058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 + V00002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Quadro_Indicadores.csv (entrega à orientadora)  ·  parte 2 de 3</a:t>
            </a:r>
            <a:endParaRPr lang="en-US" sz="9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Apêndice: dicionário dos indicadores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1828800"/>
                <a:gridCol w="1188720"/>
                <a:gridCol w="4206240"/>
                <a:gridCol w="1737360"/>
                <a:gridCol w="164592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Dimensão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O que mede</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Numerador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Denominador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moradias convencionais (casa, casa de vila/condomínio, apartamento)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V00047 + V00048 + V00049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não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moradias não convencionais (cortiço, maloca, estrutura degradada)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V00050 + V00051 + V00052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Apartamento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do tipo apartamento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do tipo casa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V00047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Casa de vila/condomínio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do tipo casa de vila ou em condomínio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V00048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Crianças 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crianças de 0 a 4 anos na população residente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População 0–14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pessoas com menos de 15 anos na população residente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V01031 + V01032 + V01033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Pessoas 60+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pessoas de 60 anos ou mais na população residente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V01040 + V01041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Índice de envelhecimento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Índice de Envelhecimento Populacional: 60+ por 100 menores de 15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V01040 + V01041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V01031 + V01032 + V01033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Dependência idosa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Dependência de Idosos: 60+ por 100 pessoas de 15 a 59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V01040 + V01041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V01034 + V01035 + V01036 + V01037 + V01038 + V01039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70+ entre 60+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pessoas de 70+ entre os de 60+ (proxy de longevidade; NÃO é o LI, que exigiria a faixa 75+, inexistente nos agregados por setor)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V01040 + V01041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Quadro_Indicadores.csv (entrega à orientadora)  ·  parte 3 de 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91</Slides>
  <Notes>91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91</vt:i4>
      </vt:variant>
    </vt:vector>
  </HeadingPairs>
  <TitlesOfParts>
    <vt:vector size="9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A1_com_rurais — Com os setores rurais</dc:title>
  <dc:subject>PptxGenJS Presentation</dc:subject>
  <dc:creator>Pedro Dias Soares</dc:creator>
  <cp:lastModifiedBy>Pedro Dias Soares</cp:lastModifiedBy>
  <cp:revision>1</cp:revision>
  <dcterms:created xsi:type="dcterms:W3CDTF">2026-10-23T00:02:43Z</dcterms:created>
  <dcterms:modified xsi:type="dcterms:W3CDTF">2026-10-23T00:02:43Z</dcterms:modified>
</cp:coreProperties>
</file>