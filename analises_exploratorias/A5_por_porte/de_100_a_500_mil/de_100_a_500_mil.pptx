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ficam os dados e o IVS quando os blocos rodam só com os municípios de de 100 a 500 mil habitantes?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 recorte: entram apenas os setores urbanos com Dados_sig = OK dos municípios de de 100 a 500 mil habitantes. A fatorial, os pesos e as faixas são recalculados com eles; componentes, rotação, pesos 60/40 e normalização são os da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qualquer número, é preciso saber sobre quais setores ele foi calculado. Este bloco segue o caminho dos setores desde a base completa até a amostra do índice: cada filtro tira alguns, e o motivo de cada saída fica registrado. Também mostra, indicador por indicador, quantos setores não têm valor — porque um indicador com muitos faltantes muda a amostra de qualquer análise que 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
Como ler: Cada linha é um filtro, na ordem em que é aplicado: quantos setores ficam, quantos saem e por quê.
O que mostra: A base tem 109.032 setores; 7.674 ficam no recorte da versão e 5.568 têm todos os componentes do índice (2.106 saem nesta última etapa).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informação da tabela do funil, em forma de barras. A queda entre o recorte e a amostra do índice é quase toda causada pelos indicadores com sigilo (renda e analfabetismo) e pelas partes do banheiro graduado, como mostra a tabela de perdas por indicador.
Como ler: Cada barra é uma etapa do funil; o comprimento é o número de setores que ainda estão dentro.
O que mostra: A barra final (5.568 setores) é a amostra do índice; a do recorte tem 7.674.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Água só no terreno (16,2%);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Água só no terreno (16,2%);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Sem banheiro nem sanitário (36,12); o maior percentual de zeros é o de Domicílio improvisado (99,5%).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Sem banheiro nem sanitário (36,12); o maior percentual de zeros é o de Domicílio improvisado (99,5%).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(2.889,91) e a mais baixa no Nordeste (1.616,83).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(2.889,91) e a mais baixa no Nordeste (1.616,83).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São Caetano do Sul (5.291,89); a menor, a de Camaragibe (1.595,08).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Sem banheiro nem sanitário (36,12).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(Água inadequada), a mediana regional vai de 0,0000 (Sudeste) a 0,8251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Água inadequada, a mediana regional vai de 0,0000 (Sudeste) a 0,8251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Renda média (4,49).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(Razão de moradores), a mediana regional vai de 2,6903 (Sudeste) a 3,1146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Razão de moradores, a mediana regional vai de 2,6903 (Sudeste) a 3,1146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Morfologia, a maior assimetria é a de Domicílio improvisado (25,01).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(Domicílio improvisado),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Domicílio improvisado,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Demografia, a maior assimetria é a de Índice de envelhecimento (5,69).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(Crianças 0–4), a mediana regional vai de 0,0548 (Sudeste) a 0,0671 (Nordeste).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Crianças 0–4, a mediana regional vai de 0,0548 (Sudeste) a 0,0671 (Nordeste).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Banheiro graduado em São José de Ribamar, com 37,8%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Banheiro graduado em São José de Ribamar (37,8%).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0,1% no primeiro décimo e 0,0% no último. Sem analfabetismo: 33,2% e 2,9%.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0,1% a 0,0%; analfabetismo: de 33,2% a 2,9%,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Apartamento (8,5%),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Apartamento (8,5%),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Apartamento (8,5%),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São Caetano do Sul, com 415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Salto, com valor 60.597,49.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Salto, com valor 60.597,49.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classe vem do rastreio da renda do projeto (src/ivs_censo/renda.py). Um setor de renda alta com baixo analfabetismo e pouca população preta, parda ou indígena é coerente; o mesmo valor num setor com perfil oposto é suspeito. A variante de renda “sem o extremo” retira esses valores; a referência usa a renda original.
Como ler: Cada setor com renda recebe uma classe: NORMAL, EXTREMO (acima do limite do município, mas coerente com o perfil) ou SUSPEITO (acima do limite e incoerente).
O que mostra: São 12 setores SUSPEITO (0,16%) e 210 EXTREMO.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Apartamento (8,5%).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Renda média e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Renda média e Renda sem o extremo (r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sem o extremo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0,8631 (mediana 0,7430 em FCU e 0,4650 fora); a menor AUC é a de Renda (mediana mun.) (0,1255).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0,8631 (mediana 0,7430 em FCU e 0,4650 fora); a menor AUC é a de Renda (mediana mun.) (0,1255).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Cor/raça PPI (0,8631); a menor, a de Renda (mediana mun.) (0,1255).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olha para a vulnerabilidade do idoso. Este bloco descreve a estrutura etária e quatro indicadores de envelhecimento, e cruza o percentual de pessoas de 60 anos ou mais com os demais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etárias do Censo não são todas do mesmo tamanho: de 30 a 59 anos elas têm dez anos, e as anteriores, cinco. Por isso as faixas de dez anos tendem a parecer maiores. O percentual é calculado sobre a soma das faixas, e cada região soma 100%.
Como ler: Uma linha por faixa etária; as colunas são o total e as regiões, com o percentual da população de cada uma em cada faixa.
O que mostra: Pessoas de 70 anos ou mais são 6,2% do total, chegando a 7,1% no Sudeste.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agregados por setor do Censo trazem as faixas etárias sem a separação por sexo, por isso a figura é uma pirâmide de um lado só. Pontos à direita da barra nas faixas mais velhas indicam regiões mais envelhecidas.
Como ler: Barras: percentual da população total em cada faixa etária. Pontos: o mesmo percentual em cada região.
O que mostra: 70+: 6,2% no total e 7,1% no Sudeste.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0,1700 no Sudeste e 0,1014 no Nordeste. Índice de envelhecimento, mediana do total: 79,6992.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0,1700 no Sudeste e 0,1014 no Nordeste. Índice de envelhecimento, mediana do total: 79,6992.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-0,7875); com a renda média, ρ = 0,4007.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-0,7875); com a renda média, ρ = 0,4007.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mais de cem mil setores, um gráfico de pontos vira uma mancha. O gráfico de hexágonos conta quantos setores caem em cada célula. A escala logarítmica da renda espalha os setores de renda baixa, que de outro modo ficariam espremidos à esquerda.
Como ler: Cada hexágono reúne setores com valores parecidos; quanto mais escuro, mais setores. Eixo horizontal: renda média em escala logarítmica; vertical: proporção de pessoas de 60 anos ou mais.
O que mostra: A correlação de Spearman entre as duas é 0,4007.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Analfabetismo 15+ (23,6%); a dimensão socioeconômica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5.568 setores; mediana 0,3482; percentil 90 0,4960.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29,0% baixo e 6,1% muito elevado. Quartis: 25,1%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0,8472; mediana da AUC municipal 0,8081, em 8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(0,9461) e a menor, a de São José de Ribamar (0,6798).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29,0% dos setores ficam em baixo e 6,1%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0,8472 (global); a mediana municipal é 0,8081.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0,9941. Menor correlação municipal: Salto (0,9857).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baixo para medio, com 84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6,0% dos setores mudam de faixa; o município mais afetado é São Caetano do Sul (10,4%).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baixo para medio (84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São Caetano do Sul (10,4%); no total, 6,0%.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municípios médios o índice é elegível e fica perto da referência, com poucas trocas de faixa. A análise paralela de Horn retém um fator só, sinal de que, nessa faixa, saneamento e condição socioeconômica andam muito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de porte são parâmetro exploratório: até 100 mil, de 100 a 500 mil e mais de 500 mil habitantes, com a população somada nos setores da base.
A fatorial, os pesos e as faixas são recalculados só com os setores da faixa de porte.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A5_por_porte/de_100_a_500_mil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de de 100 a 500 mil habitantes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ficam os dados e o IVS quando os blocos rodam só com os municípios de de 100 a 500 mil habitantes?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  ·  7.674 setores no recorte  ·  5.568 na amostra do índice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renda_inv,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o recorte: entram apenas os setores urbanos com Dados_sig = OK dos municípios de de 100 a 500 mil habitantes. A fatorial, os pesos e as faixas são recalculados com eles; componentes, rotação, pesos 60/40 e normalização são os da referência.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5.568 setores chegam ao índice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109.032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base completa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7.674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 da versão (descritivas, distribuições, correlações)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51790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5.568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(fatorial e blocos 9 a 13)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10634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dois números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Quantos setores entram nesta versão, quantos saem e por quê?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T01, F01, T02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F04, F05, F06, F07, F08, F09, F10, F11, F12, F13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T11,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a população idosa se distribui, e com que indicadores ela se relaciona?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T16, F20, T17, T18, F21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entram nesta versão, quantos saem e por quê?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T01 · F01 · T02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5.568 setores chegam ao índice, de 109.032 na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06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822960"/>
                <a:gridCol w="3291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Motivo da saída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 = OK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 do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96.434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fora da faixa de porte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filtro, na ordem em que é aplicado: quantos setores ficam, quantos saem e por quê.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tem 109.032 setores; 7.674 ficam no recorte da versão e 5.568 têm todos os componentes do índice (2.106 saem nesta última etapa).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recorte ao índice, 2.106 setores saem por falta de algum componente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01_fun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3016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barra é uma etapa do funil; o comprimento é o número de setores que ainda estão dentro.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final (5.568 setores) é a amostra do índice; a do recorte tem 7.674.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F01 · figuras/F01_funil.png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 é o indicador com mais faltantes (16,2%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6.781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6.639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Água só no terreno (16,2%);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 é o indicador com mais faltantes (16,2%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7.526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7.587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Água só no terreno (16,2%);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 é o indicador mais assimétrico (assimetria 36,12)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6.781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3,1764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6.639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3.199,07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2.344,69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1.471,23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2.496,83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5.745,92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Sem banheiro nem sanitário (36,12); o maior percentual de zeros é o de Domicílio improvisado (99,5%).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 é o indicador mais assimétrico (assimetria 36,12)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3.199,07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2.344,69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1.471,23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2.496,83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5.745,92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3.199,07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2.344,69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1.471,23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2.496,83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5.745,92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-16,81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-1,61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7.526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7.587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107,0723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108,3160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26,3158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79,6992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213,4545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25,8968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17,0470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22,5594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46,4286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40,5554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27,6596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53,9293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Sem banheiro nem sanitário (36,12); o maior percentual de zeros é o de Domicílio improvisado (99,5%).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1.616,83 (Nordeste) a 2.889,91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3,1146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1.772,53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1.616,83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2.636,10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2.889,91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2.545,98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(2.889,91) e a mais baixa no Nordeste (1.616,83).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1.616,83 (Nordeste) a 2.889,91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1.772,53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1.616,83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2.636,10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2.889,91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2.545,98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1.772,53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1.616,83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2.636,10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2.889,91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2.545,98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55,0377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45,7385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95,9459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78,4962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74,1259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15,1252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26,2295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22,7273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22,3373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37,4101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39,3443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41,0714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40,1408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(2.889,91) e a mais baixa no Nordeste (1.616,83).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1.595,08 a 5.291,89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3.052,32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5.291,89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11.103,24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2.259,38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3.039,59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5.761,25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2.019,90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2.945,26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4.816,13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1.792,73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2.840,43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5.774,28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1.734,79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2.795,87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6.402,50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1.597,12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2.593,08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6.830,64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1.791,41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2.545,98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5.342,31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1.468,34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2.538,99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6.964,96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1.762,40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2.407,87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4.915,49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1.680,91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2.372,54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4.167,52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1.603,77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2.288,77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3.852,11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1.384,39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2.285,26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5.281,44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1.299,84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1.772,53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3.968,48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1.171,09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1.633,45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3.530,70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1.595,08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3.102,85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São Caetano do Sul (5.291,89); a menor, a de Camaragibe (1.595,08).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 · F05 · F06 · F07 · F08 · F09 · F10 · F11 · F12 · F13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Sem banheiro nem sanitário tem a distribuição mais assimétrica (assimetria 36,12)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449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Sem banheiro nem sanitário (36,12).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Água inadequada tem mediana de 0,8251 no Norte e 0,0000 no Sudeste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0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(Água inadequada), a mediana regional vai de 0,0000 (Sudeste) a 0,8251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427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Água inadequada, a mediana regional vai de 0,0000 (Sudeste) a 0,8251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Renda média tem a distribuição mais assimétrica (assimetria 4,49)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Renda média (4,49).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Razão de moradores tem mediana de 3,1146 no Norte e 2,6903 no Sudeste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(Razão de moradores), a mediana regional vai de 2,6903 (Sudeste) a 3,1146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Razão de moradores, a mediana regional vai de 2,6903 (Sudeste) a 3,1146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a distribuição mais assimétrica (assimetria 25,01)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08_histogramas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7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Morfologia, a maior assimetria é a de Domicílio improvisado (25,01).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F08 · figuras/F08_histogramas_morfologia.png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mediana de 0,0000 no Centro-Oeste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09_boxplot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(Domicílio improvisado),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F09 · figuras/F09_boxplots_regiao_morfologia.png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10_densidade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7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Domicílio improvisado,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 · figuras/F10_densidades_regiao_morfologia.png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Índice de envelhecimento tem a distribuição mais assimétrica (assimetria 5,69)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11_histogramas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26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Demografia, a maior assimetria é a de Índice de envelhecimento (5,69).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 · figuras/F11_histogramas_demografia.png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Crianças 0–4 tem mediana de 0,0671 no Nordeste e 0,0548 no Sudeste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12_boxplot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26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(Crianças 0–4), a mediana regional vai de 0,0548 (Sudeste) a 0,0671 (Nordeste).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 · figuras/F12_boxplots_regiao_demografia.png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13_densidade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Crianças 0–4, a mediana regional vai de 0,0548 (Sudeste) a 0,0671 (Nordeste).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F13 · figuras/F13_densidades_regiao_demografia.png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em São José de Ribamar (37,8%)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69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39826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Banheiro graduado em São José de Ribamar, com 37,8%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004" y="1243584"/>
            <a:ext cx="429283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Banheiro graduado em São José de Ribamar (37,8%).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33,2% dos menores setores e em 2,9%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0,1% no primeiro décimo e 0,0% no último. Sem analfabetismo: 33,2% e 2,9%.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0,1% a 0,0%; analfabetismo: de 33,2% a 2,9%,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T11 · F16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 tem a maior proporção de extremos (8,5%)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2,6012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1,9394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1,9392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Apartamento (8,5%),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 tem a maior proporção de extremos (8,5%)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4,2085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Tukey k=3 no município + coerência do perfil do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8.908,41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8.908,41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Apartamento (8,5%),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 tem a maior proporção de extremos (8,5%)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407,6984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91,1098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88,8889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Apartamento (8,5%),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Caetano do Sul concentra o maior número de marcações de extremo (415)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39826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São Caetano do Sul, com 415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330240305020038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351870110000014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150080005000398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211120110000517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150080005000883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211120110000517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330240305040059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150080005000883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412550605000484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330520805070038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354520905000248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60.597,49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2.496,83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320120916000006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354520905000248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60.597,49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2.496,83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Salto, com valor 60.597,49.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354520905000248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60.597,49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2.496,83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351870110000014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351870110000014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351870110000014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150080005000213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150080005000213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150080005000509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330520805070106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412550605000474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312230605000383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320120905000008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2.166,6667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79,6992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312230605000383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366,6667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22,5594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150080005000680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7583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Salto, com valor 60.597,49.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setores têm renda suspeita e 210 têm renda extrema coerente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97,11%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setor com renda recebe uma classe: NORMAL, EXTREMO (acima do limite do município, mas coerente com o perfil) ou SUSPEITO (acima do limite e incoerente).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12 setores SUSPEITO (0,16%) e 210 EXTREMO.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T11 · tabelas/T11_renda_classes.csv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800" y="1243584"/>
            <a:ext cx="482324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Apartamento (8,5%).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 Renda sem o extremo formam o par mais correlacionado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Renda média e Renda sem o extremo (ρ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Renda média × Renda sem o extremo (r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Renda média e Renda sem o extremo (r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sem o extremo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-0,8897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-0,9323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sem o extremo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757" y="1243584"/>
            <a:ext cx="596532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9445" y="1243584"/>
            <a:ext cx="454795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0,8631)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0,8631 (mediana 0,7430 em FCU e 0,4650 fora); a menor AUC é a de Renda (mediana mun.) (0,1255).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0,8631)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35,4839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41,3043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-5,8205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25,4190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-10,4392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46,0938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93,8162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-47,7225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1.645,15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2.777,96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-1.132,82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1.645,15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2.777,96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-1.132,82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1.645,15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2.777,96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-1.132,82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0,8631 (mediana 0,7430 em FCU e 0,4650 fora); a menor AUC é a de Renda (mediana mun.) (0,1255).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498" y="1243584"/>
            <a:ext cx="577784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Cor/raça PPI (0,8631); a menor, a de Renda (mediana mun.) (0,1255).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população idosa se distribui, e com que indicadores ela se relaciona?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T16 · F20 · T17 · T18 · F21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faixa de 30–39 anos concentra a maior parte da população (16,4%)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040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etária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5–9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15–19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20–24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25–29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30–39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40–49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50–59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60–69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 etária; as colunas são o total e as regiões, com o percentual da população de cada uma em cada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de 70 anos ou mais são 6,2% do total, chegando a 7,1% no Sudeste.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T16 · tabelas/T16_estrutura_etaria.csv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etária muda de região para região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20_piramide_et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704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percentual da população total em cada faixa etária. Pontos: o mesmo percentual em cada região.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70+: 6,2% no total e 7,1% no Sudeste.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F20 · figuras/F20_piramide_etaria.png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0,1014 (Nordeste) a 0,1700 (Sudeste)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7.587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44,7261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79,6992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135,4692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22,5594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33,5089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47,2222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74,1259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131,0434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22,3373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32,4638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34,8837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40,1408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46,3087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45,7385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76,8883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15,1252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39,3443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46,0526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0,1700 no Sudeste e 0,1014 no Nordeste. Índice de envelhecimento, mediana do total: 79,6992.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0,1014 (Nordeste) a 0,1700 (Sudeste)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36,0498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55,0377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85,0647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32,3077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37,4101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42,3529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54,5455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95,9459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154,5996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16,7742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26,2295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37,2807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41,0714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48,6111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46,3311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78,4962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138,1517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22,7273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35,5330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46,9432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0,1700 no Sudeste e 0,1014 no Nordeste. Índice de envelhecimento, mediana do total: 79,6992.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-0,7875)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-0,7875); com a renda média, ρ = 0,4007.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-0,7875)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-0,6747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-0,7875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-0,8897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-0,7875); com a renda média, ρ = 0,4007.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 renda média: ρ = 0,4007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21_dispersao_60m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116" y="1243584"/>
            <a:ext cx="6388608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hexágono reúne setores com valores parecidos; quanto mais escuro, mais setores. Eixo horizontal: renda média em escala logarítmica; vertical: proporção de pessoas de 60 anos ou mais.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Spearman entre as duas é 0,4007.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F21 · figuras/F21_dispersao_60mais.png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tem o maior peso no índice (23,6%)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Analfabetismo 15+ (23,6%); a dimensão socioeconômica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0,3482 e P90 0,4960, em 5.568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5.568 setores; mediana 0,3482; percentil 90 0,4960.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6,1%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29,0% baixo e 6,1% muito elevado. Quartis: 25,1%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0,8081: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socioeconômica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0,8472; mediana da AUC municipal 0,8081, em 8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0,6798 (São José de Ribamar) a 0,9461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5264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(0,9461) e a menor, a de São José de Ribamar (0,6798).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820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29,0% dos setores ficam em baixo e 6,1%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0,8472)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0,8472 (global); a mediana municipal é 0,8081.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0,9941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0,9941. Menor correlação municipal: Salto (0,9857).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baixo para medio (84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baixo para medio, com 84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6,0% dos setores mudam de faixa; o município mais afetado é São Caetano do Sul (10,4%).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baixo para medio (84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de_100_a_500_mil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6994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São Caetano do Sul (10,4%); no total, 6,0%.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5.568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(T01)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0,8081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municípios médios o índice é elegível e fica perto da referência, com poucas trocas de faixa. A análise paralela de Horn retém um fator só, sinal de que, nessa faixa, saneamento e condição socioeconômica andam muito juntos.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5.568 setores chegam ao índice, de 109.032 na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 recorte ao índice, 2.106 setores saem por falta de algum 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 é o indicador com mais faltantes (16,2% dos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 é o indicador mais assimétrico (assimetria 36,12)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a mediana vai de 1.616,83 (Nordeste) a 2.889,91 (Sul)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entre os municípios, a mediana vai de 1.595,08 a 5.291,89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Sem banheiro nem sanitário tem a distribuição mais assimétrica (assimetria 36,12)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Água inadequada tem mediana de 0,8251 no Norte e 0,0000 no 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Renda média tem a distribuição mais assimétrica (assimetria 4,49)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Razão de moradores tem mediana de 3,1146 no Norte e 2,6903 no 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a distribuição mais assimétrica (assimetria 25,01)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mediana de 0,0000 no Centro-Oeste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Índice de envelhecimento tem a distribuição mais assimétrica (assimetria 5,69)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Crianças 0–4 tem mediana de 0,0671 no Nordeste e 0,0548 no 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Banheiro graduado em São José de Ribamar (37,8%)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33,2% dos menores setores e em 2,9%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 tem a maior proporção de extremos (8,5%)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 concentra o maior número de marcações de extremo (415)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setores têm renda suspeita e 210 têm renda extrema coerente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e Renda sem o extremo formam o par mais correlacionado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Renda média × Renda sem o extremo (r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Renda sem o extremo × Renda (mediana mun.)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 é o indicador que mais separa as favelas (AUC 0,8631)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faixa de 30–39 anos concentra a maior parte da população (16,4%)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estrutura etária muda de região para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mediana de pessoas 60+ por setor vai de 0,1014 (Nordeste) a 0,1700 (Sudeste)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percentual de pessoas 60+ se relaciona mais com População 0–14 (ρ = -0,7875)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 e renda média: ρ = 0,4007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 tem o maior peso no índice (23,6%)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0,3482 e P90 0,4960, em 5.568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6,1%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0,8081: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0,6798 (São José de Ribamar) a 0,9461 (Guarujá)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0,8472)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0,9941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baixo para medio (84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faixas de porte são parâmetro exploratório: até 100 mil, de 100 a 500 mil e mais de 500 mil habitantes, com a população somada nos setores da base.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fatorial, os pesos e as faixas são recalculados só com os setores da faixa de porte.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faixas de porte: até 100 mil · de 100 a 500 mil · mais de 500 mil habitantes (moradores somados nos setores da base) — parâmetro exploratório — não é decisão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abastecimento de água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+ V00113 + V00114 + V00115 + V00116 + V00117 + V00118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esgotamento sanitário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+ V00313 + V00314 + V00315 + V00316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destino do lixo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+ V00399 + V00400 + V00401 + V00402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até dentro do domicílio (complemento de V00199; equivale a V00200+V00201 sobre V00001)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ao domicílio (V00201)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chega encanada apenas ao terreno (V00200)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de uso exclusivo com chuveiro e vaso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sanitário ou buraco para dejeções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 de banheiro graduada: 1 ponto para banheiro só de uso comum, 2 para só sanitário, 3 para nem banheiro nem sanitário, sobre 3 vezes os domicílios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+ 2·V00237 + 3·V00238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 por domicílio (reproduz o V0005 do IBGE)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Taxa de analfabetismo entre pessoas de 15 anos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Rendimento nominal médio mensal das pessoas responsáveis (R$)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cor/raça preta, parda ou indígena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pessoa responsável do sexo feminino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+ 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sem o valor extremo de Belo Horizonte (R$ 170.418,06), que vira faltante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com o valor extremo trocado pela mediana do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particulares improvisados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habitação precária (cortiço, estrutura degradada, improvisados)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V00052 + V00053 + V00054 + V00055 + V00056 + V00057 + V00058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convencionais (casa, casa de vila/condomínio, apartamento)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+ V00048 + 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não convencionais (cortiço, maloca, estrutura degradada)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V00051 + V00052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 de vila ou em 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crianças de 0 a 4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com menos de 15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60 anos ou mais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Populacional: 60+ por 100 menores de 15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de Idosos: 60+ por 100 pessoas de 15 a 59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+ V01035 + V01036 + V01037 + V01038 + V01039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70+ entre os de 60+ (proxy de longevidade; NÃO é o LI, que exigiria a faixa 75+, inexistente nos agregados por setor)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3 de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de_100_a_500_mil — Municípios de de 100 a 500 mil habitantes</dc:title>
  <dc:subject>PptxGenJS Presentation</dc:subject>
  <dc:creator>Pedro Dias Soares</dc:creator>
  <cp:lastModifiedBy>Pedro Dias Soares</cp:lastModifiedBy>
  <cp:revision>1</cp:revision>
  <dcterms:created xsi:type="dcterms:W3CDTF">2026-10-06T20:51:55Z</dcterms:created>
  <dcterms:modified xsi:type="dcterms:W3CDTF">2026-10-06T20:51:55Z</dcterms:modified>
</cp:coreProperties>
</file>