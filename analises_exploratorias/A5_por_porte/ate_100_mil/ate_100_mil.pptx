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notesMasterIdLst>
    <p:notesMasterId r:id="rId8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notesMaster" Target="notesMasters/notesMaster1.xml"/><Relationship Id="rId87" Type="http://schemas.openxmlformats.org/officeDocument/2006/relationships/presProps" Target="presProps.xml"/><Relationship Id="rId88" Type="http://schemas.openxmlformats.org/officeDocument/2006/relationships/viewProps" Target="viewProps.xml"/><Relationship Id="rId89" Type="http://schemas.openxmlformats.org/officeDocument/2006/relationships/theme" Target="theme/theme1.xml"/><Relationship Id="rId9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ficam os dados e o IVS quando os blocos rodam só com os municípios de até 100 mil habitantes?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o recorte: entram apenas os setores urbanos com Dados_sig = OK dos municípios de até 100 mil habitantes. A fatorial, os pesos e as faixas são recalculados com eles; componentes, rotação, pesos 60/40 e normalização são os da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qualquer número, é preciso saber sobre quais setores ele foi calculado. Este bloco segue o caminho dos setores desde a base completa até a amostra do índice: cada filtro tira alguns, e o motivo de cada saída fica registrado. Também mostra, indicador por indicador, quantos setores não têm valor — porque um indicador com muitos faltantes muda a amostra de qualquer análise que 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
Como ler: Cada linha é um filtro, na ordem em que é aplicado: quantos setores ficam, quantos saem e por quê.
O que mostra: A base tem 109.032 setores; 1.223 ficam no recorte da versão e 878 têm todos os componentes do índice (345 saem nesta última etapa).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mesma informação da tabela do funil, em forma de barras. A queda entre o recorte e a amostra do índice é quase toda causada pelos indicadores com sigilo (renda e analfabetismo) e pelas partes do banheiro graduado, como mostra a tabela de perdas por indicador.
Como ler: Cada barra é uma etapa do funil; o comprimento é o número de setores que ainda estão dentro.
O que mostra: A barra final (878 setores) é a amostra do índice; a do recorte tem 1.223.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Banheiro graduado (23,6%);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Banheiro graduado (23,6%);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descritivas resumem cada indicador em poucos números: o centro (média e mediana), a dispersão (desvio-padrão, quartis, percentis 10 e 90) e a forma (assimetria e curtose). Elas aparecem para o conjunto, por região e por município, para que diferenças de lugar fiquem visíveis antes de qualquer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Domicílio improvisado (29,19); o maior percentual de zeros é o de Domicílio improvisado (99,7%).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Domicílio improvisado (29,19); o maior percentual de zeros é o de Domicílio improvisado (99,7%).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Sul (3.073,06) e a mais baixa no Nordeste (1.467,70).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Sul (3.073,06) e a mais baixa no Nordeste (1.467,70).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Renda média, a maior mediana municipal é a de Pato Branco (3.466,51); a menor, a de Jaqueira (1.062,36).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Renda média, a maior mediana municipal é a de Pato Branco (3.466,51); a menor, a de Jaqueira (1.062,36).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bloco anterior escondem a forma da distribuição. Histogramas, caixas e curvas de densidade mostram se o indicador se concentra em zero, se tem cauda longa ou se separa regiões. Cada painel reúne os indicadores de uma dimensão.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Saneamento, a maior assimetria é a de Banheiro de uso comum (24,79).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(Água inadequada), a mediana regional vai de 0,0000 (Nordeste) a 0,8341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Água inadequada, a mediana regional vai de 0,0000 (Nordeste) a 0,8341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Socioeconômica, a maior assimetria é a de Renda média (3,20).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(Razão de moradores), a mediana regional vai de 2,6593 (Sul) a 3,6541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Razão de moradores, a mediana regional vai de 2,6593 (Sul) a 3,6541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Morfologia, a maior assimetria é a de Domicílio improvisado (29,19).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(Domicílio improvisado), a mediana regional vai de 0,0000 (Centro-Oeste) a 0,0000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Domicílio improvisado, a mediana regional vai de 0,0000 (Centro-Oeste) a 0,0000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Demografia, a maior assimetria é a de Dependência idosa (4,91).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(Crianças 0–4), a mediana regional vai de 0,0578 (Sul) a 0,0974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Crianças 0–4, a mediana regional vai de 0,0578 (Sul) a 0,0974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IBGE não divulga alguns valores para proteger o sigilo de setores pequenos. Se a falta fosse aleatória, bastaria descartar os setores sem dado; como ela se concentra em setores pequenos, descartar muda o retrato. Este bloco mostra onde estão os faltantes e como eles se distribuem pelo tamanho do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faltantes não se espalham por igual entre os municípios. Onde eles se concentram, um índice calculado só com setores completos retrata pior o município, porque os setores que saem não são uma amostra ao acaso.
Como ler: Uma linha por município e uma coluna por indicador; cada célula é o percentual de setores do município sem aquele indicador.
O que mostra: A célula mais alta é Banheiro graduado em Placas, com 68,8% dos setores sem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calor mostra a tabela anterior como cores. Colunas inteiras escuras indicam indicadores com sigilo ou denominador frequentemente zero; linhas escuras indicam municípios com muitos setores pequenos.
Como ler: Mapa de calor: linhas são municípios, colunas são indicadores; quanto mais escura a célula, maior o percentual de setores sem valor.
O que mostra: O ponto mais escuro é Banheiro graduado em Placas (68,8%).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falta de dados fosse aleatória, o percentual de faltantes seria parecido em todos os décimos. Quando ele se concentra nos setores pequenos, a falta é não aleatória: o IBGE suprime valores para proteger o sigilo de quem mora em setores com poucos domicílios. A consequência é que análises só com setores completos sub-representam setores pequenos.
Como ler: Os setores são divididos em dez grupos iguais pelo número de moradores (1 = os menores). Para cada grupo, o percentual de setores sem renda e sem analfabetismo, e o percentual em FCU.
O que mostra: Sem renda: 0,0% no primeiro décimo e 0,0% no último. Sem analfabetismo: 19,5% e 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linhas mostram a mesma tabela em forma de gráfico. Uma linha que desce da esquerda para a direita é o sinal do sigilo: quanto menor o setor, mais provável que o valor tenha sido suprimido.
Como ler: Eixo horizontal: décimo de moradores do setor (1 = menores). Eixo vertical: percentual de setores sem o indicador.
O que mostra: Renda: de 0,0% a 0,0%; analfabetismo: de 19,5% a 0,0%, do menor ao maior décimo.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extremo não é um erro por definição: pode ser um setor realmente diferente. O critério muda com o indicador: o intervalo interquartil onde ele funciona, um critério próprio para a renda e, nos indicadores em que a maioria dos setores vale zero, o critério aplicado só aos valores acima de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Casa (7,0%),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Casa (7,0%),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Casa (7,0%),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total soma marcações, não setores: um setor extremo em dois indicadores conta duas vezes. Municípios grandes tendem a ter mais marcações só por terem mais setores; a comparação justa é com o número de setores de cada um (bloco 2).
Como ler: Uma linha por município e uma coluna por indicador, com o número de setores marcados; a coluna total soma todas as marcações.
O que mostra: O município com mais marcações é Pato Branco, com 70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Pato Branco, com valor 16.576,46.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Pato Branco, com valor 16.576,46.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classe vem do rastreio da renda do projeto (src/ivs_censo/renda.py). Um setor de renda alta com baixo analfabetismo e pouca população preta, parda ou indígena é coerente; o mesmo valor num setor com perfil oposto é suspeito. A variante de renda “sem o extremo” retira esses valores; a referência usa a renda original.
Como ler: Cada setor com renda recebe uma classe: NORMAL, EXTREMO (acima do limite do município, mas coerente com o perfil) ou SUSPEITO (acima do limite e incoerente).
O que mostra: São 2 setores SUSPEITO (0,16%) e 18 EXTREMO.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percentuais não são comparáveis de forma direta entre critérios diferentes: o critério da inflação de zeros olha só os setores com valor acima de zero. O gráfico serve para localizar os indicadores em que os extremos merecem atenção.
Como ler: Uma barra por indicador, com o percentual de setores marcados; a cor indica o critério (petróleo: Tukey; cinza: inflação de zeros; argila: renda).
O que mostra: A barra mais longa é a de Casa (7,0%).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mede o quanto dois indicadores sobem e descem juntos, de −1 a 1. Pares muito correlacionados medem quase a mesma coisa; pares sem correlação trazem informação diferente. O bloco mostra as duas medidas usuais (Spearman, por postos, e Pearson, linear) e agrupa os indicadores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Spearman é calculada sobre os postos (a ordem dos setores), não sobre os valores. Por isso é pouco afetada por extremos e capta relações que sobem sempre, mesmo que não em linha reta. Valor perto de 1: os setores ordenados por um indicador ficam quase na mesma ordem pelo outro; perto de −1: ordem invertida; perto de 0: sem relação de ordem. Cada par usa os setores com os dois valores.
Como ler: Matriz de correlação de Spearman: cada célula é a correlação entre o indicador da linha e o da coluna, de −1 a 1.
O que mostra: A maior correlação em módulo é entre Renda média e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Pearson mede a relação em linha reta entre os valores. Ela é sensível a extremos e a distribuições muito assimétricas, como as do saneamento. Quando Pearson e Spearman divergem muito para um mesmo par, a relação é puxada por poucos setores extremos ou não é linear.
Como ler: Matriz de correlação de Pearson, com a mesma leitura da de Spearman.
O que mostra: A maior correlação de Pearson em módulo é entre Renda média e Renda sem o extremo (r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média × Renda (mediana mun.),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média × Renda (mediana mun.),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reordenação põe lado a lado os indicadores que se correlacionam entre si, e os blocos de cor ao longo da diagonal revelam os grupos. Um grupo nítido costuma corresponder a uma dimensão: socioeconômica, saneamento, moradia, idade.
Como ler: Mapa de calor da correlação de Spearman, com os indicadores reordenados pelo agrupamento do dendrograma; argila é correlação positiva, petróleo negativa.
O que mostra: O par mais forte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dendrograma é o resultado de um agrupamento hierárquico: começa com cada indicador sozinho e, a cada passo, une os dois grupos mais próximos. A distância entre dois indicadores é 1 menos o módulo da correlação de Spearman (0 = idênticos, 1 = sem relação); entre grupos, usa-se a média das distâncias (ligação média). Ele é um retrato descritivo: não substitui a análise fatorial.
Como ler: Cada indicador é uma folha à esquerda; as linhas os unem do mais parecido para o menos. Quanto mais à esquerda a união, mais correlacionados os indicadores.
O que mostra: O par mais próximo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favelas e comunidades urbanas delimitadas pelo IBGE servem de referência externa: um bom indicador de vulnerabilidade deve ter valores mais altos nelas. A comparação usa medianas e a AUC, que mede a capacidade de separar os dois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Analfabetismo 15+ tem AUC 0,8409 (mediana 0,1707 em FCU e 0,0749 fora); a menor AUC é a de Renda (mediana mun.) (0,1822).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Analfabetismo 15+ tem AUC 0,8409 (mediana 0,1707 em FCU e 0,0749 fora); a menor AUC é a de Renda (mediana mun.) (0,1822).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Barras que partem de 0,5 deixam claro o sentido: argila para a direita, o indicador é maior nas favelas; petróleo para a esquerda, é menor. O painel das medianas mostra a mesma comparação em valores absolutos, o que ajuda a separar uma diferença grande em termos relativos de uma diferença grande de fato.
Como ler: À esquerda, a AUC de cada indicador (barras a partir de 0,5; argila acima, petróleo abaixo). À direita, as medianas em FCU e fora, para os indicadores em proporção.
O que mostra: A maior AUC é a de Analfabetismo 15+ (0,8409); a menor, a de Renda (mediana mun.) (0,1822).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olha para a vulnerabilidade do idoso. Este bloco descreve a estrutura etária e quatro indicadores de envelhecimento, e cruza o percentual de pessoas de 60 anos ou mais com os demais indicadores.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etárias do Censo não são todas do mesmo tamanho: de 30 a 59 anos elas têm dez anos, e as anteriores, cinco. Por isso as faixas de dez anos tendem a parecer maiores. O percentual é calculado sobre a soma das faixas, e cada região soma 100%.
Como ler: Uma linha por faixa etária; as colunas são o total e as regiões, com o percentual da população de cada uma em cada faixa.
O que mostra: Pessoas de 70 anos ou mais são 6,6% do total, chegando a 7,6% no Sudeste.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agregados por setor do Censo trazem as faixas etárias sem a separação por sexo, por isso a figura é uma pirâmide de um lado só. Pontos à direita da barra nas faixas mais velhas indicam regiões mais envelhecidas.
Como ler: Barras: percentual da população total em cada faixa etária. Pontos: o mesmo percentual em cada região.
O que mostra: 70+: 6,6% no total e 7,6% no Sudeste.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de envelhecimento é a razão entre pessoas de 60 anos ou mais e pessoas de 0 a 14 anos. A razão de dependência idosa é a razão entre pessoas de 60 anos ou mais e pessoas de 15 a 59 anos. A proporção de 70+ entre os 60+ indica o quanto a população idosa do setor é mais velha. Os quatro são calculados por setor.
Como ler: Os quatro indicadores de envelhecimento, para o total e por região: n, média, mediana, quartis e as demais descritivas.
O que mostra: Pessoas 60+: mediana de 0,1645 no Sul e 0,0895 no Norte. Índice de envelhecimento, mediana do total: 76,5101.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de envelhecimento é a razão entre pessoas de 60 anos ou mais e pessoas de 0 a 14 anos. A razão de dependência idosa é a razão entre pessoas de 60 anos ou mais e pessoas de 15 a 59 anos. A proporção de 70+ entre os 60+ indica o quanto a população idosa do setor é mais velha. Os quatro são calculados por setor.
Como ler: Os quatro indicadores de envelhecimento, para o total e por região: n, média, mediana, quartis e as demais descritivas.
O que mostra: Pessoas 60+: mediana de 0,1645 no Sul e 0,0895 no Norte. Índice de envelhecimento, mediana do total: 76,5101.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-0,7900); com a renda média, ρ = 0,2521.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-0,7900); com a renda média, ρ = 0,2521.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mais de cem mil setores, um gráfico de pontos vira uma mancha. O gráfico de hexágonos conta quantos setores caem em cada célula. A escala logarítmica da renda espalha os setores de renda baixa, que de outro modo ficariam espremidos à esquerda.
Como ler: Cada hexágono reúne setores com valores parecidos; quanto mais escuro, mais setores. Eixo horizontal: renda média em escala logarítmica; vertical: proporção de pessoas de 60 anos ou mais.
O que mostra: A correlação de Spearman entre as duas é 0,2521.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Renda (invertida) (20,3%); a dimensão socioeconômica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878 setores; mediana 0,3727; percentil 90 0,5529.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30,5% baixo e 5,4% muito elevado. Quartis: 26,3%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0,8346; mediana da AUC municipal —, em 0 municípios. Pelos critérios do NB05, a versão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— (—) e a menor, a de — (—).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30,5% dos setores ficam em baixo e 5,4%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0,8346 (global); a mediana municipal é 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0,9982. Menor correlação municipal: Placas (0,9000).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baixo para medio, com 9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3,4% dos setores mudam de faixa; o município mais afetado é São Raimundo do Doca Bezerra (100,0%).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baixo para medio (9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São Raimundo do Doca Bezerra (100,0%); no total, 3,4%.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municípios pequenos somam poucos setores, e nenhum deles tem setores de favela suficientes para entrar na AUC municipal; a AUC global é a única leitura possível. Mesmo assim, o índice é elegível e ordena os setores quase como a referência. A dimensão mais frágil aqui é a razão de moradores.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de porte são parâmetro exploratório: até 100 mil, de 100 a 500 mil e mais de 500 mil habitantes, com a população somada nos setores da base.
A fatorial, os pesos e as faixas são recalculados só com os setores da faixa de porte.
A amostra do índice exclui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A5_por_porte/ate_100_mil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Municípios de até 100 mil habitantes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ficam os dados e o IVS quando os blocos rodam só com os municípios de até 100 mil habitantes?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  ·  1.223 setores no recorte  ·  878 na amostra do índice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renda_inv,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1, 2, 3, 4, 5, 6, 7, 8, 10, 13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o recorte: entram apenas os setores urbanos com Dados_sig = OK dos municípios de até 100 mil habitantes. A fatorial, os pesos e as faixas são recalculados com eles; componentes, rotação, pesos 60/40 e normalização são os da referência.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878 setores chegam ao índice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109.032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base completa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1.223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no recorte da versão (descritivas, distribuições, correlações)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51790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(fatorial e blocos 9 a 13)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026664"/>
            <a:ext cx="10634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dois números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Quantos setores entram nesta versão, quantos saem e por quê?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T01, F01, T02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Descritivas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Qual é o valor típico de cada indicador, e quanto ele varia?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T03, T04, T05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forma tem cada indicador, e ela muda de uma região para outra?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F02, F03, F04, F05, F06, F07, F08, F09, F10, F11, F12, F13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e sigilo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faltam dados, e a falta é aleatória?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T06, F14, T07, F15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setores têm valores fora do comum, e por qual critério?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T08, T09, T10, T11, F16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indicadores andam juntos?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T12, T13, T14, F17, F18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 (FCU)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indicador, sozinho, separa os setores de favela dos demais?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T15, F19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a população idosa se distribui, e com que indicadores ela se relaciona?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T16, F20, T17, T18, F21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entram nesta versão, quantos saem e por quê?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T01 · F01 · T02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878 setores chegam ao índice, de 109.032 na 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06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822960"/>
                <a:gridCol w="3291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Saem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Motivo da saída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 completa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109.032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rural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Dados_sig = OK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sem dados divulgados (sigilo ou sem domicílio ocupado)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 do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102.885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fora da faixa de porte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 completos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 em algum componente do índice (exclusão por lista)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filtro, na ordem em que é aplicado: quantos setores ficam, quantos saem e por quê.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tem 109.032 setores; 1.223 ficam no recorte da versão e 878 têm todos os componentes do índice (345 saem nesta última etapa).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recorte ao índice, 345 setores saem por falta de algum componente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01_fun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3016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barra é uma etapa do funil; o comprimento é o número de setores que ainda estão dentro.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final (878 setores) é a amostra do índice; a do recorte tem 1.223.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F01 · figuras/F01_funil.png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 é o indicador com mais faltantes (23,6%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Banheiro graduado (23,6%);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 é o indicador com mais faltantes (23,6%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Banheiro graduado (23,6%);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valor típico de cada indicador, e quanto ele varia?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T03 · T04 · T05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 é o indicador mais assimétrico (assimetria 29,19)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2,4573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2,7823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2.467,43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1.561,60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1.168,72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2.077,62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4.084,38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Domicílio improvisado (29,19); o maior percentual de zeros é o de Domicílio improvisado (99,7%).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 é o indicador mais assimétrico (assimetria 29,19)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2.467,43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1.561,60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1.168,72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2.077,62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4.084,38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2.467,43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1.561,60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1.168,72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2.077,62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4.084,38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-6,97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-3,50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92,0961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72,0422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25,8754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76,5101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172,0277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25,6032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16,4133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10,3684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23,3560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41,6667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44,1352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10,3106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32,5843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44,4444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55,2083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Domicílio improvisado (29,19); o maior percentual de zeros é o de Domicílio improvisado (99,7%).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1.467,70 (Nordeste) a 3.073,06 (Sul)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3,6541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2,8663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2,7062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2,6593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2,7642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1.539,83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1.467,70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2.055,30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3.073,06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2.578,55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Sul (3.073,06) e a mais baixa no Nordeste (1.467,70).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1.467,70 (Nordeste) a 3.073,06 (Sul)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1.539,83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1.467,70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2.055,30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3.073,06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2.578,55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1.539,83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1.467,70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2.055,30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3.073,06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2.578,55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32,5289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75,5407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87,2340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90,0832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78,7815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14,8635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23,3560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25,0744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23,4079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43,9978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45,8810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45,1535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42,6598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41,1765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Sul (3.073,06) e a mais baixa no Nordeste (1.467,70).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entre os municípios, a mediana vai de 1.062,36 a 3.466,51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2.057,90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3.466,51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6.384,93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1.927,99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3.219,85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5.535,53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2.142,48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3.058,07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4.067,31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2.087,37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2.839,32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3.816,37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2.175,93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2.637,83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3.171,99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1.894,55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2.589,17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3.714,38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Igarapava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1.832,97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2.408,86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3.848,06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1.893,33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2.403,02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3.217,06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1.764,81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2.323,24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4.618,46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1.446,44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2.228,86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2.952,14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maior mediana municipal é a de Pato Branco (3.466,51); a menor, a de Jaqueira (1.062,36).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entre os municípios, a mediana vai de 1.062,36 a 3.466,51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1.192,52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1.494,02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2.489,10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1.105,19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1.445,73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2.837,46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1.093,58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1.414,45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1.681,57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959,68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1.390,26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2.516,97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1.256,60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1.386,15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1.397,51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1.084,70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1.339,82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2.301,00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1.029,15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1.595,92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927,87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1.271,66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2.071,69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959,71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1.240,34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1.661,44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995,50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1.062,36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1.500,55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maior mediana municipal é a de Pato Branco (3.466,51); a menor, a de Jaqueira (1.062,36).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forma tem cada indicador, e ela muda de uma região para outra?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F02 · F03 · F04 · F05 · F06 · F07 · F08 · F09 · F10 · F11 · F12 · F13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Banheiro de uso comum tem a distribuição mais assimétrica (assimetria 24,79)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02_histogramas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580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Saneamento, a maior assimetria é a de Banheiro de uso comum (24,79).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F02 · figuras/F02_histogramas_saneamento.png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Água inadequada tem mediana de 0,8341 no Norte e 0,0000 no Nordeste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03_boxplot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384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(Água inadequada), a mediana regional vai de 0,0000 (Nordeste) a 0,8341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F03 · figuras/F03_boxplots_regiao_saneamento.png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04_densidade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27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Água inadequada, a mediana regional vai de 0,0000 (Nordeste) a 0,8341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F04 · figuras/F04_densidades_regiao_saneamento.png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Renda média tem a distribuição mais assimétrica (assimetria 3,20)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05_histogramas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Socioeconômica, a maior assimetria é a de Renda média (3,20).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F05 · figuras/F05_histogramas_socioeconomica.png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Razão de moradores tem mediana de 3,6541 no Norte e 2,6593 no Sul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06_boxplot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(Razão de moradores), a mediana regional vai de 2,6593 (Sul) a 3,6541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F06 · figuras/F06_boxplots_regiao_socioeconomica.png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07_densidade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Razão de moradores, a mediana regional vai de 2,6593 (Sul) a 3,6541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F07 · figuras/F07_densidades_regiao_socioeconomica.png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a distribuição mais assimétrica (assimetria 29,19)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08_histogramas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Morfologia, a maior assimetria é a de Domicílio improvisado (29,19).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F08 · figuras/F08_histogramas_morfologia.png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mediana de 0,0000 no Centro-Oeste e 0,0000 no Centro-Oeste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09_boxplot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(Domicílio improvisado), a mediana regional vai de 0,0000 (Centro-Oeste) a 0,0000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F09 · figuras/F09_boxplots_regiao_morfologia.png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10_densidade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44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Domicílio improvisado, a mediana regional vai de 0,0000 (Centro-Oeste) a 0,0000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F10 · figuras/F10_densidades_regiao_morfologia.png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Dependência idosa tem a distribuição mais assimétrica (assimetria 4,91)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11_histogramas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26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Demografia, a maior assimetria é a de Dependência idosa (4,91).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F11 · figuras/F11_histogramas_demografia.png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Crianças 0–4 tem mediana de 0,0974 no Norte e 0,0578 no Sul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12_boxplot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(Crianças 0–4), a mediana regional vai de 0,0578 (Sul) a 0,0974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F12 · figuras/F12_boxplots_regiao_demografia.png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13_densidade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Crianças 0–4, a mediana regional vai de 0,0578 (Sul) a 0,0974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F13 · figuras/F13_densidades_regiao_demografia.png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Faltantes e sigilo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faltam dados, e a falta é aleatória?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T06 · F14 · T07 · F15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Banheiro graduado em Placas (68,8%)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69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51560"/>
                <a:gridCol w="1051560"/>
                <a:gridCol w="105156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(% sem valor)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indicador; cada célula é o percentual de setores do município sem aquele indicador.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célula mais alta é Banheiro graduado em Placas, com 68,8% dos setores sem valor.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T06 · tabelas/T06_faltantes_por_municipio.csv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faltantes se concentram em poucos indicadores e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14_mapa_falt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9870" y="1243584"/>
            <a:ext cx="4407101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calor: linhas são municípios, colunas são indicadores; quanto mais escura a célula, maior o percentual de setores sem valor.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mais escuro é Banheiro graduado em Placas (68,8%).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F14 · figuras/F14_mapa_faltantes.png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falta em 19,5% dos menores setores e em 0,0% dos maiores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  <a:gridCol w="1097280"/>
                <a:gridCol w="12801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Décimo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(mín.)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(máx.)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analfabetismo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em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são divididos em dez grupos iguais pelo número de moradores (1 = os menores). Para cada grupo, o percentual de setores sem renda e sem analfabetismo, e o percentual em FCU.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renda: 0,0% no primeiro décimo e 0,0% no último. Sem analfabetismo: 19,5% e 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T07 · tabelas/T07_sigilo_por_porte_do_setor.csv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falta de dados depende do tamanho do setor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15_sigilo_por_porte_do_s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39521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horizontal: décimo de moradores do setor (1 = menores). Eixo vertical: percentual de setores sem o indicador.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Renda: de 0,0% a 0,0%; analfabetismo: de 19,5% a 0,0%, do menor ao maior décimo.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F15 · figuras/F15_sigilo_por_porte_do_setor.png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setores têm valores fora do comum, e por qual critério?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T08 · T09 · T10 · T11 · F16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tem a maior proporção de extremos (7,0%)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1,6647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Casa (7,0%),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tem a maior proporção de extremos (7,0%)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renda: Tukey k=3 no município + coerência do perfil do setor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1,7494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1,0575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7.314,67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7.314,67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Casa (7,0%),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tem a maior proporção de extremos (7,0%)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350,1807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79,8771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86,5206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Casa (7,0%),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Pato Branco concentra o maior número de marcações de extremo (70)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97280"/>
                <a:gridCol w="109728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Igarapava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indicador, com o número de setores marcados; a coluna total soma todas as marcações.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município com mais marcações é Pato Branco, com 70 no total.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T09 · tabelas/T09_extremos_por_municipio.csv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130030005000083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250090805000001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150580905000010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150580905000085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2,7823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411850105000244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16.576,46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2.077,62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411850105000244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16.576,46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2.077,62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Pato Branco, com valor 16.576,46.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411850105000244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16.576,46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2.077,62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411850105000219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411850105000004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291640105000084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291640105000084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421780805000038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510300705000041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833,3333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76,5101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421780805000038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23,3560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230760105000122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44,4444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2655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Pato Branco, com valor 16.576,46.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setores têm renda suspeita e 18 têm renda extrema coerente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98,36%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setor com renda recebe uma classe: NORMAL, EXTREMO (acima do limite do município, mas coerente com o perfil) ou SUSPEITO (acima do limite e incoerente).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2 setores SUSPEITO (0,16%) e 18 EXTREMO.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T11 · tabelas/T11_renda_classes.csv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proporção de extremos varia muito de um indicador para outro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16_extremos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1800" y="1243584"/>
            <a:ext cx="4823240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indicador, com o percentual de setores marcados; a cor indica o critério (petróleo: Tukey; cinza: inflação de zeros; argila: renda).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mais longa é a de Casa (7,0%).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F16 · figuras/F16_extremos_por_indicador.png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indicadores andam juntos?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T12 · T13 · T14 · F17 · F18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e Renda sem o extremo formam o par mais correlacionado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Spearman: cada célula é a correlação entre o indicador da linha e o da coluna, de −1 a 1.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em módulo é entre Renda média e Renda sem o extremo (ρ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T12 · tabelas/T12_correlacao_spearman.csv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correlação linear, o par mais forte é Renda média × Renda sem o extremo (r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Pearson, com a mesma leitura da de Spearman.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de Pearson em módulo é entre Renda média e Renda sem o extremo (r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T13 · tabelas/T13_correlacao_pearson.csv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média × Renda (mediana mun.)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-0,9025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-0,7798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média × Renda (mediana mun.),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média × Renda (mediana mun.)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-0,8436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-0,6561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-0,8043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-0,5561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-0,8043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-0,5561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-0,8043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-0,5561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média × Renda (mediana mun.),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formam grupos de correlação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17_mapa_spear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757" y="1243584"/>
            <a:ext cx="596532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 da correlação de Spearman, com os indicadores reordenados pelo agrupamento do dendrograma; argila é correlação positiva, petróleo negativa.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forte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F17 · figuras/F17_mapa_spearman.png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dendrograma junta os indicadores que medem coisas parecidas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18_dendr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2587" y="1243584"/>
            <a:ext cx="458166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 é uma folha à esquerda; as linhas os unem do mais parecido para o menos. Quanto mais à esquerda a união, mais correlacionados os indicadores.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próximo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F18 · figuras/F18_dendrograma.png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 (FCU)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indicador, sozinho, separa os setores de favela dos demais?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T15 · F19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é o indicador que mais separa as favelas (AUC 0,8409)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2,9405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tem AUC 0,8409 (mediana 0,1707 em FCU e 0,0749 fora); a menor AUC é a de Renda (mediana mun.) (0,1822).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é o indicador que mais separa as favelas (AUC 0,8409)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37,7778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44,4850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-6,7072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16,6667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23,5111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-6,8444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46,1538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77,2346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-31,0807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1.341,39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2.095,91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-754,52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1.341,39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2.095,91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-754,52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1.341,39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2.095,91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-754,52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tem AUC 0,8409 (mediana 0,1707 em FCU e 0,0749 fora); a menor AUC é a de Renda (mediana mun.) (0,1822).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separam as favelas com força muito diferente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19_fcu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498" y="1243584"/>
            <a:ext cx="5777844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esquerda, a AUC de cada indicador (barras a partir de 0,5; argila acima, petróleo abaixo). À direita, as medianas em FCU e fora, para os indicadores em proporção.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AUC é a de Analfabetismo 15+ (0,8409); a menor, a de Renda (mediana mun.) (0,1822).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F19 · figuras/F19_fcu_por_indicador.png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Envelhecimento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população idosa se distribui, e com que indicadores ela se relaciona?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T16 · F20 · T17 · T18 · F21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faixa de 30–39 anos concentra a maior parte da população (15,7%)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0408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etária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5–9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15–19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20–24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25–29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30–39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40–49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50–59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60–69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 etária; as colunas são o total e as regiões, com o percentual da população de cada uma em cada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de 70 anos ou mais são 6,6% do total, chegando a 7,6% no Sudeste.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T16 · tabelas/T16_estrutura_etaria.csv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etária muda de região para região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20_piramide_eta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7045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percentual da população total em cada faixa etária. Pontos: o mesmo percentual em cada região.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70+: 6,6% no total e 7,6% no Sudeste.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F20 · figuras/F20_piramide_etaria.png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de pessoas 60+ por setor vai de 0,0895 (Norte) a 0,1645 (Sul)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822960"/>
                <a:gridCol w="914400"/>
                <a:gridCol w="91440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44,1805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76,5101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120,6805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23,3560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31,9853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37,8265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44,4444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45,3558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78,7815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122,3295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15,7799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23,4079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33,6336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36,0328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41,1765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46,6667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46,1825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75,5407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115,8784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23,3560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31,0580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39,1576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45,8810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51,4355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indicadores de envelhecimento, para o total e por região: n, média, mediana, quartis e as demais descritivas.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60+: mediana de 0,1645 no Sul e 0,0895 no Norte. Índice de envelhecimento, mediana do total: 76,5101.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T17 · tabelas/T17_envelhecimento_por_regiao.csv  ·  Bloco 8. Envelhecimento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de pessoas 60+ por setor vai de 0,0895 (Norte) a 0,1645 (Sul)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822960"/>
                <a:gridCol w="914400"/>
                <a:gridCol w="91440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20,3833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32,5289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43,9375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11,0134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14,8635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17,7890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43,9978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48,3971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56,2500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87,2340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131,3996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34,4322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38,4615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45,1535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90,0832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131,1998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16,8920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25,0744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34,1071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37,1429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42,6598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47,9486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indicadores de envelhecimento, para o total e por região: n, média, mediana, quartis e as demais descritivas.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60+: mediana de 0,1645 no Sul e 0,0895 no Norte. Índice de envelhecimento, mediana do total: 76,5101.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T17 · tabelas/T17_envelhecimento_por_regiao.csv  ·  Bloco 8. Envelhecimento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-0,7900)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-0,2773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-0,2704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-0,6234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-0,5872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-0,2726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-0,7900); com a renda média, ρ = 0,2521.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-0,7900)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-0,3623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-0,7036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-0,7900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-0,9025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-0,7345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-0,7900); com a renda média, ρ = 0,2521.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 e renda média: ρ = 0,2521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21_dispersao_60ma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239" y="1243584"/>
            <a:ext cx="6220362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hexágono reúne setores com valores parecidos; quanto mais escuro, mais setores. Eixo horizontal: renda média em escala logarítmica; vertical: proporção de pessoas de 60 anos ou mais.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Spearman entre as duas é 0,2521.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F21 · figuras/F21_dispersao_60mais.png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o maior peso no índice (20,3%)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Renda (invertida) (20,3%); a dimensão socioeconômica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0,3727 e P90 0,5529, em 878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878 setores; mediana 0,3727; percentil 90 0,5529.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5,4%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30,5% baixo e 5,4% muito elevado. Quartis: 26,3%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—: o índice separa as favelas — versão elegível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socioeconômica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0,8346; mediana da AUC municipal —, em 0 municípios. Pelos critérios do NB05, a versão é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— (—) a — (—) entre os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26464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vazia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linha atende ao critério desta tabela nesta versão.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— (—) e a menor, a de — (—).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4291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30,5% dos setores ficam em baixo e 5,4%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0,8346)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0,8346 (global); a mediana municipal é —.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0,9982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0,9982. Menor correlação municipal: Placas (0,9000).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baixo para medio (9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baixo para medio, com 9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3,4% dos setores mudam de faixa; o município mais afetado é São Raimundo do Doca Bezerra (100,0%).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baixo para medio (9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ate_100_mil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489" y="1243584"/>
            <a:ext cx="645986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São Raimundo do Doca Bezerra (100,0%); no total, 3,4%.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(T01)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pequenos somam poucos setores, e nenhum deles tem setores de favela suficientes para entrar na AUC municipal; a AUC global é a única leitura possível. Mesmo assim, o índice é elegível e ordena os setores quase como a referência. A dimensão mais frágil aqui é a razão de moradores.</a:t>
            </a:r>
            <a:endParaRPr lang="en-US" sz="12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878 setores chegam ao índice, de 109.032 na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 recorte ao índice, 345 setores saem por falta de algum 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 é o indicador com mais faltantes (23,6% dos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 é o indicador mais assimétrico (assimetria 29,19)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a mediana vai de 1.467,70 (Nordeste) a 3.073,06 (Sul)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entre os municípios, a mediana vai de 1.062,36 a 3.466,51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Banheiro de uso comum tem a distribuição mais assimétrica (assimetria 24,79)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Água inadequada tem mediana de 0,8341 no Norte e 0,0000 no 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Renda média tem a distribuição mais assimétrica (assimetria 3,20)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Razão de moradores tem mediana de 3,6541 no Norte e 2,6593 no 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a distribuição mais assimétrica (assimetria 29,19)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mediana de 0,0000 no Centro-Oeste e 0,0000 no 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Dependência idosa tem a distribuição mais assimétrica (assimetria 4,91)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Crianças 0–4 tem mediana de 0,0974 no Norte e 0,0578 no 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maior percentual de faltantes é o de Banheiro graduado em Placas (68,8%)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faltantes se concentram em poucos indicadores e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analfabetismo falta em 19,5% dos menores setores e em 0,0% dos maiores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falta de dados depende do tamanho do 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tem a maior proporção de extremos (7,0%)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 concentra o maior número de marcações de extremo (70)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setores mais distantes da mediana, indicador por 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setores têm renda suspeita e 18 têm renda extrema coerente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proporção de extremos varia muito de um indicador para outro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e Renda sem o extremo formam o par mais correlacionado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 correlação linear, o par mais forte é Renda média × Renda sem o extremo (r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par mais redundante é Renda média × Renda (mediana mun.)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formam grupos de correlação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dendrograma junta os indicadores que medem coisas parecidas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 é o indicador que mais separa as favelas (AUC 0,8409)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separam as favelas com força muito diferente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faixa de 30–39 anos concentra a maior parte da população (15,7%)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estrutura etária muda de região para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mediana de pessoas 60+ por setor vai de 0,0895 (Norte) a 0,1645 (Sul)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percentual de pessoas 60+ se relaciona mais com População 0–14 (ρ = -0,7900)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 e renda média: ρ = 0,2521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o maior peso no índice (20,3%)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0,3727 e P90 0,5529, em 878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5,4%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—: o índice separa as favelas — versão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— (—) a — (—)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0,8346)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0,9982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baixo para medio (9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faixas de porte são parâmetro exploratório: até 100 mil, de 100 a 500 mil e mais de 500 mil habitantes, com a população somada nos setores da base.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fatorial, os pesos e as faixas são recalculados só com os setores da faixa de porte.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faixas de porte: até 100 mil · de 100 a 500 mil · mais de 500 mil habitantes (moradores somados nos setores da base) — parâmetro exploratório — não é decisão</a:t>
            </a:r>
            <a:endParaRPr lang="en-US" sz="13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abastecimento de água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V00112 + V00113 + V00114 + V00115 + V00116 + V00117 + V00118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esgotamento sanitário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V00312 + V00313 + V00314 + V00315 + V00316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destino do lixo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V00398 + V00399 + V00400 + V00401 + V00402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até dentro do domicílio (complemento de V00199; equivale a V00200+V00201 sobre V00001)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V00199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ao domicílio (V00201)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chega encanada apenas ao terreno (V00200)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de uso exclusivo com chuveiro e vaso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sanitário ou buraco para dejeções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 de banheiro graduada: 1 ponto para banheiro só de uso comum, 2 para só sanitário, 3 para nem banheiro nem sanitário, sobre 3 vezes os domicílios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 + 2·V00237 + 3·V00238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3·V00001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 por domicílio (reproduz o V0005 do IBGE)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V00005 + V00006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Taxa de analfabetismo entre pessoas de 15 anos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+ 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Rendimento nominal médio mensal das pessoas responsáveis (R$)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cor/raça preta, parda ou indígena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 + V01320 + V01321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pessoa responsável do sexo feminino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V01062 + 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sem o valor extremo de Belo Horizonte (R$ 170.418,06), que vira faltante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com o valor extremo trocado pela mediana do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particulares improvisados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habitação precária (cortiço, estrutura degradada, improvisados)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V00052 + V00053 + V00054 + V00055 + V00056 + V00057 + V00058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convencionais (casa, casa de vila/condomínio, apartamento)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+ V00048 + 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não convencionais (cortiço, maloca, estrutura degradada)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V00051 + V00052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 de vila ou em 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crianças de 0 a 4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com menos de 15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60 anos ou mais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 Populacional: 60+ por 100 menores de 15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Dependência de Idosos: 60+ por 100 pessoas de 15 a 59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V01034 + V01035 + V01036 + V01037 + V01038 + V01039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70+ entre os de 60+ (proxy de longevidade; NÃO é o LI, que exigiria a faixa 75+, inexistente nos agregados por setor)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3 de 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ate_100_mil — Municípios de até 100 mil habitantes</dc:title>
  <dc:subject>PptxGenJS Presentation</dc:subject>
  <dc:creator>Pedro Dias Soares</dc:creator>
  <cp:lastModifiedBy>Pedro Dias Soares</cp:lastModifiedBy>
  <cp:revision>1</cp:revision>
  <dcterms:created xsi:type="dcterms:W3CDTF">2026-10-06T20:51:25Z</dcterms:created>
  <dcterms:modified xsi:type="dcterms:W3CDTF">2026-10-06T20:51:25Z</dcterms:modified>
</cp:coreProperties>
</file>