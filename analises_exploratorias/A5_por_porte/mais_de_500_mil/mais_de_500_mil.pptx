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ficam os dados e o IVS quando os blocos rodam só com os municípios de mais de 500 mil habitantes?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recorte: entram apenas os setores urbanos com Dados_sig = OK dos municípios de mais de 500 mil habitantes. A fatorial, os pesos e as faixas são recalculados com eles; componentes, rotação, pesos 60/40 e normalização são os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número, é preciso saber sobre quais setores ele foi calculado. Este bloco segue o caminho dos setores desde a base completa até a amostra do índice: cada filtro tira alguns, e o motivo de cada saída fica registrado. Também mostra, indicador por indicador, quantos setores não têm valor — porque um indicador com muitos faltantes muda a amostra de qualquer análise que 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
Como ler: Cada linha é um filtro, na ordem em que é aplicado: quantos setores ficam, quantos saem e por quê.
O que mostra: A base tem 109.032 setores; 95.211 ficam no recorte da versão e 67.432 têm todos os componentes do índice (27.779 saem nesta última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informação da tabela do funil, em forma de barras. A queda entre o recorte e a amostra do índice é quase toda causada pelos indicadores com sigilo (renda e analfabetismo) e pelas partes do banheiro graduado, como mostra a tabela de perdas por indicador.
Como ler: Cada barra é uma etapa do funil; o comprimento é o número de setores que ainda estão dentro.
O que mostra: A barra final (67.432 setores) é a amostra do índice; a do recorte tem 95.211.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Analfabetismo 15+ (16,2%);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Analfabetismo 15+ (16,2%);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Sem banheiro nem sanitário (72,40); o maior percentual de zeros é o de Sem banheiro nem sanitário (99,7%).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Sem banheiro nem sanitário (72,40); o maior percentual de zeros é o de Sem banheiro nem sanitário (99,7%).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(4.058,63) e a mais baixa no Nordeste (1.735,96).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(4.058,63) e a mais baixa no Nordeste (1.735,96).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Curitiba (4.115,49); a menor, a de Salvador (1.637,87).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Curitiba (4.115,49); a menor, a de Salvador (1.637,87).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Sem banheiro nem sanitário (72,40).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0,0000 (Centro-Oeste) a 0,1364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0,0000 (Centro-Oeste) a 0,1364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Renda média (3,64).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2,5667 (Sul) a 3,2064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2,5667 (Sul) a 3,2064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(36,13).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Índice de envelhecimento (5,71).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0,0441 (Sul) a 0,0635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0,0441 (Sul) a 0,0635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Banheiro graduado em São Luís, com 43,8%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Banheiro graduado em São Luís (43,8%).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29,2% e 4,0%.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29,2% a 4,0%,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(6,8%),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(6,8%),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(6,8%),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São Paulo, com 7.097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Belo Horizonte, com valor 170.418,06.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Belo Horizonte, com valor 170.418,06.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52 setores SUSPEITO (0,05%) e 3.064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Moradia convencional (6,8%).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0,8465 (mediana 0,7427 em FCU e 0,5122 fora); a menor AUC é a de Renda sem o extremo (0,0972).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0,8465 (mediana 0,7427 em FCU e 0,5122 fora); a menor AUC é a de Renda sem o extremo (0,0972).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Cor/raça PPI (0,8465); a menor, a de Renda sem o extremo (0,0972).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olha para a vulnerabilidade do idoso. Este bloco descreve a estrutura etária e quatro indicadores de envelhecimento, e cruza o percentual de pessoas de 60 anos ou mais com os demais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etárias do Censo não são todas do mesmo tamanho: de 30 a 59 anos elas têm dez anos, e as anteriores, cinco. Por isso as faixas de dez anos tendem a parecer maiores. O percentual é calculado sobre a soma das faixas, e cada região soma 100%.
Como ler: Uma linha por faixa etária; as colunas são o total e as regiões, com o percentual da população de cada uma em cada faixa.
O que mostra: Pessoas de 70 anos ou mais são 7,5% do total, chegando a 9,1% no Sul.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agregados por setor do Censo trazem as faixas etárias sem a separação por sexo, por isso a figura é uma pirâmide de um lado só. Pontos à direita da barra nas faixas mais velhas indicam regiões mais envelhecidas.
Como ler: Barras: percentual da população total em cada faixa etária. Pontos: o mesmo percentual em cada região.
O que mostra: 70+: 7,5% no total e 9,1% no Sul.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0,2038 no Sul e 0,1128 no Norte. Índice de envelhecimento, mediana do total: 98,1308.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0,2038 no Sul e 0,1128 no Norte. Índice de envelhecimento, mediana do total: 98,1308.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-0,7866); com a renda média, ρ = 0,5286.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-0,7866); com a renda média, ρ = 0,5286.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mais de cem mil setores, um gráfico de pontos vira uma mancha. O gráfico de hexágonos conta quantos setores caem em cada célula. A escala logarítmica da renda espalha os setores de renda baixa, que de outro modo ficariam espremidos à esquerda.
Como ler: Cada hexágono reúne setores com valores parecidos; quanto mais escuro, mais setores. Eixo horizontal: renda média em escala logarítmica; vertical: proporção de pessoas de 60 anos ou mais.
O que mostra: A correlação de Spearman entre as duas é 0,5286.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(19,0%);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67.432 setores; mediana 0,3290; percentil 90 0,4247.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28,7% baixo e 5,3%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0,8344; mediana da AUC municipal 0,8463, em 23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(0,9544) e a menor, a de Duque de Caxias (0,6017).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(0,9544) e a menor, a de Duque de Caxias (0,6017).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28,7% dos setores ficam em baixo e 5,3%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0,8344 (global); a mediana municipal é 0,8463.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1,0000. Menor correlação municipal: Salvador (0,9999).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49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0,3% dos setores mudam de faixa; o município mais afetado é Belém (0,6%).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(49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Belém (0,6%); no total, 0,3%.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grandes cidades concentram a maior parte dos setores do ELSI e, por isso, praticamente definem a referência: a correlação de postos é quase 1 e quase nenhum setor muda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de porte são parâmetro exploratório: até 100 mil, de 100 a 500 mil e mais de 500 mil habitantes, com a população somada nos setores da base.
A fatorial, os pesos e as faixas são recalculados só com os setores da faixa de porte.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A5_por_porte/mais_de_500_mil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de mais de 500 mil habitantes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ficam os dados e o IVS quando os blocos rodam só com os municípios de mais de 500 mil habitantes?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  ·  95.211 setores no recorte  ·  67.432 na amostra do índice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renda_inv,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o recorte: entram apenas os setores urbanos com Dados_sig = OK dos municípios de mais de 500 mil habitantes. A fatorial, os pesos e as faixas são recalculados com eles; componentes, rotação, pesos 60/40 e normalização são os da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67.432 setores chegam ao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base completa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95.211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 da versão (descritivas, distribuições, correlações)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51790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67.432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(fatorial e blocos 9 a 13)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dois números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Quantos setores entram nesta versão, quantos saem e por quê?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T01, F01, T02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F04, F05, F06, F07, F08, F09, F10,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a população idosa se distribui, e com que indicadores ela se relaciona?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T16, F20, T17, T18, F21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entram nesta versão, quantos saem e por quê?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T01 · F01 · T02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67.432 setores chegam ao índice, de 109.032 na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822960"/>
                <a:gridCol w="3291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Motivo da saída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 do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fora da faixa de porte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filtro, na ordem em que é aplicado: quantos setores ficam, quantos saem e por quê.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109.032 setores; 95.211 ficam no recorte da versão e 67.432 têm todos os componentes do índice (27.779 saem nesta última etapa).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ao índice, 27.779 setores saem por falta de algum componente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01_fun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016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barra é uma etapa do funil; o comprimento é o número de setores que ainda estão dentro.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final (67.432 setores) é a amostra do índice; a do recorte tem 95.211.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F01 · figuras/F01_funil.png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é o indicador com mais faltantes (16,2%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80.790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92.562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91.847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86.421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82.307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12.904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79.751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Analfabetismo 15+ (16,2%);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é o indicador com mais faltantes (16,2%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86.952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93.569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94.979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94.966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Analfabetismo 15+ (16,2%);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 é o indicador mais assimétrico (assimetria 72,40)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80.790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92.562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91.847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86.421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82.307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2,1892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79.751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4.289,16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4.270,41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1.386,06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2.593,06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9.867,05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Sem banheiro nem sanitário (72,40); o maior percentual de zeros é o de Sem banheiro nem sanitário (99,7%).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 é o indicador mais assimétrico (assimetria 72,40)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4.287,42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4.236,35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1.386,05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2.593,05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9.866,76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4.287,41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4.236,33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1.386,06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2.593,06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9.866,73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-12,04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86.952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93.569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94.979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94.966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137,4189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144,2723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98,1308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280,5556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28,3318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29,0323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43,0168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56,0976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Sem banheiro nem sanitário (72,40); o maior percentual de zeros é o de Sem banheiro nem sanitário (99,7%).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1.735,96 (Nordeste) a 4.058,63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1.735,96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2.748,12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4.058,63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3.204,02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(4.058,63) e a mais baixa no Nordeste (1.735,96).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1.735,96 (Nordeste) a 4.058,63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1.735,96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2.748,10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4.058,63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3.204,02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1.735,96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2.748,12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4.058,63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3.204,02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79,5181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112,5463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136,2271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21,7391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38,5965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41,8605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(4.058,63) e a mais baixa no Nordeste (1.735,96).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1.637,87 a 4.115,49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2.129,00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4.115,50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9.499,64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1.632,70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3.986,89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10.019,53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1.857,51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3.518,50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13.287,89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1.754,68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3.391,86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9.834,38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1.667,08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3.371,95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7.707,48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1.866,95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3.112,75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9.455,31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1.650,05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12.289,02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1.574,21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10.036,09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1.728,82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2.744,05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7.339,64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13.367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1.405,33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2.702,45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10.715,14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Curitiba (4.115,49); a menor, a de Salvador (1.637,87).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1.637,87 a 4.115,49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1.303,77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1.852,55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5.385,20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1.313,36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1.832,17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2.866,33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1.213,22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1.802,79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7.101,82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1.163,36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9.930,69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1.288,95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1.773,89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3.044,64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1.086,21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1.753,99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4.229,23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1.213,27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1.745,25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6.149,56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1.115,78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1.721,69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6.414,23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1.145,09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6.138,42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1.168,26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1.637,87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7.574,91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Curitiba (4.115,49); a menor, a de Salvador (1.637,87).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 · F05 · F06 · F07 · F08 · F09 · F10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Sem banheiro nem sanitário tem a distribuição mais assimétrica (assimetria 72,40)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58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Sem banheiro nem sanitário (72,40).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0,1364 no Norte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0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0,0000 (Centro-Oeste) a 0,1364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2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0,0000 (Centro-Oeste) a 0,1364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a distribuição mais assimétrica (assimetria 3,64)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7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Renda média (3,64).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3,2064 no Norte e 2,5667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2,5667 (Sul) a 3,2064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2,5667 (Sul) a 3,2064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36,13)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7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(36,13).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Centro-Oeste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Índice de envelhecimento tem a distribuição mais assimétrica (assimetria 5,71)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1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Índice de envelhecimento (5,71).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0,0635 no Norte e 0,0441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0,0441 (Sul) a 0,0635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0,0441 (Sul) a 0,0635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em São Luís (43,8%)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Banheiro graduado em São Luís, com 43,8%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198" y="1243584"/>
            <a:ext cx="428244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Banheiro graduado em São Luís (43,8%).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29,2% dos menores setores e em 4,0%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29,2% e 4,0%.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29,2% a 4,0%,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(6,8%)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1,9258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(6,8%),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(6,8%)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14.886,53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14.886,50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(6,8%),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(6,8%)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2,9713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528,5381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(6,8%),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concentra o maior número de marcações de extremo (7.097)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São Paulo, com 7.097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130260305100279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330170220000079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130260305100279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330455705250341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355030830001117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500270405110448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330455705250341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355030830001117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330455705080087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292740805180776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310620005650366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2.593,06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130260305100324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355030832000202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2.593,05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Belo Horizonte, com valor 170.418,06.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355030832000202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2.593,06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330455705300460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130260305110210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221100105080289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530010805060487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530010805140094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230440005140173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98,1308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530010805140094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130260305080037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43,0168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51192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Belo Horizonte, com valor 170.418,06.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setores têm renda suspeita e 3.064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92.084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96,73%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52 setores SUSPEITO (0,05%) e 3.064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800" y="1243584"/>
            <a:ext cx="482324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Moradia convencional (6,8%).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9445" y="1243584"/>
            <a:ext cx="454795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0,8465)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17.948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14.753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0,8465 (mediana 0,7427 em FCU e 0,5122 fora); a menor AUC é a de Renda sem o extremo (0,0972).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0,8465)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36,3636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44,5161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-8,1525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-13,0078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48,0695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117,6471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-69,5776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1.506,24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3.133,80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-1.627,56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1.506,24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3.133,80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-1.627,56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1.506,23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3.133,80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-1.627,58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0,8465 (mediana 0,7427 em FCU e 0,5122 fora); a menor AUC é a de Renda sem o extremo (0,0972).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98" y="1243584"/>
            <a:ext cx="57778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Cor/raça PPI (0,8465); a menor, a de Renda sem o extremo (0,0972).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população idosa se distribui, e com que indicadores ela se relaciona?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T16 · F20 · T17 · T18 · F21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de 30–39 anos concentra a maior parte da população (15,8%)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040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etária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5–9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20–24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25–29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30–39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40–49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50–59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60–69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etária; as colunas são o total e as regiões, com o percentual da população de cada uma em cada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de 70 anos ou mais são 7,5% do total, chegando a 9,1% no Sul.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T16 · tabelas/T16_estrutura_etaria.csv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etária muda de região para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20_piramide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70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percentual da população total em cada faixa etária. Pontos: o mesmo percentual em cada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70+: 7,5% no total e 9,1% no Sul.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 · figuras/F20_piramide_etaria.png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0,1128 (Norte) a 0,2038 (Sul)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94.966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54,9318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98,1308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173,3333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37,0541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35,7143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43,0168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43,6159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122,6770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33,9623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48,6486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79,5181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135,0000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21,7391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30,6966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41,8605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48,3516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0,2038 no Sul e 0,1128 no Norte. Índice de envelhecimento, mediana do total: 98,1308.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0,1128 (Norte) a 0,2038 (Sul)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5.092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29,8933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94,7168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5.092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24,3608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32,2581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38,5965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45,1043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57.112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62,8205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112,5463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194,7368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57.106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18,4116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40,1130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36,3636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136,2271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249,8596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44,0734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37,8378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51,5152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0,2038 no Sul e 0,1128 no Norte. Índice de envelhecimento, mediana do total: 98,1308.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-0,7866)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-0,7866); com a renda média, ρ = 0,5286.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-0,7866)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-0,7866); com a renda média, ρ = 0,5286.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 renda média: ρ = 0,5286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21_dispersao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353" y="1243584"/>
            <a:ext cx="648213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valores parecidos; quanto mais escuro, mais setores. Eixo horizontal: renda média em escala logarítmica; vertical: proporção de pessoas de 60 anos ou mais.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Spearman entre as duas é 0,5286.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F21 · figuras/F21_dispersao_60mais.png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(19,0%)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(19,0%);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0,3290 e P90 0,4247, em 67.432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6.757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41.670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67.432 setores; mediana 0,3290; percentil 90 0,4247.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5,3%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28.341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28,7% baixo e 5,3%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0,8463: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0,8344; mediana da AUC municipal 0,8463, em 23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0,6017 (Duque de Caxias) a 0,9544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(0,9544) e a menor, a de Duque de Caxias (0,6017).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0,6017 (Duque de Caxias) a 0,9544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2655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(0,9544) e a menor, a de Duque de Caxias (0,6017).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28,7% dos setores ficam em baixo e 5,3%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0,8344)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0,8344 (global); a mediana municipal é 0,8463.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1,0000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1,0000. Menor correlação municipal: Salvador (0,9999).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(49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49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0,3% dos setores mudam de faixa; o município mais afetado é Belém (0,6%).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(49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5_por_porte/mais_de_500_mil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509" y="1243584"/>
            <a:ext cx="61418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Belém (0,6%); no total, 0,3%.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67.432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(T01)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0,8463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grandes cidades concentram a maior parte dos setores do ELSI e, por isso, praticamente definem a referência: a correlação de postos é quase 1 e quase nenhum setor muda de faixa.</a:t>
            </a:r>
            <a:endParaRPr lang="en-US" sz="12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67.432 setores chegam ao índice, de 109.032 na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 recorte ao índice, 27.779 setores saem por falta de algum 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 é o indicador com mais faltantes (16,2% dos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 é o indicador mais assimétrico (assimetria 72,40)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1.735,96 (Nordeste) a 4.058,63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1.637,87 a 4.115,49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Sem banheiro nem sanitário tem a distribuição mais assimétrica (assimetria 72,40)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0,1364 no Norte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a distribuição mais assimétrica (assimetria 3,64)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3,2064 no Norte e 2,5667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36,13)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Centro-Oeste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Índice de envelhecimento tem a distribuição mais assimétrica (assimetria 5,71)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0,0635 no Norte e 0,0441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Banheiro graduado em São Luís (43,8%)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29,2% dos menores setores e em 4,0%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 tem a maior proporção de extremos (6,8%)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concentra o maior número de marcações de extremo (7.097)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 setores têm renda suspeita e 3.064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sem o extremo × Renda (mediana mun.)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 é o indicador que mais separa as favelas (AUC 0,8465)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faixa de 30–39 anos concentra a maior parte da população (15,8%)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estrutura etária muda de região para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pessoas 60+ por setor vai de 0,1128 (Norte) a 0,2038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percentual de pessoas 60+ se relaciona mais com População 0–14 (ρ = -0,7866)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e renda média: ρ = 0,5286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(19,0%)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0,3290 e P90 0,4247, em 67.432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5,3%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0,8463: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0,6017 (Duque de Caxias) a 0,9544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0,8344)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1,0000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(49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faixas de porte são parâmetro exploratório: até 100 mil, de 100 a 500 mil e mais de 500 mil habitantes, com a população somada nos setores da base.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fatorial, os pesos e as faixas são recalculados só com os setores da faixa de porte.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faixas de porte: até 100 mil · de 100 a 500 mil · mais de 500 mil habitantes (moradores somados nos setores da base) — parâmetro exploratório — não é decisão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abastecimento de água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+ V00113 + V00114 + V00115 + V00116 + V00117 + V00118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esgotamento sanitário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+ V00313 + V00314 + V00315 + V00316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destino do lixo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+ V00399 + V00400 + V00401 + V00402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até dentro do domicílio (complemento de V00199; equivale a V00200+V00201 sobre V00001)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ao domicílio (V00201)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chega encanada apenas ao terreno (V00200)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de uso exclusivo com chuveiro e vaso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sanitário ou buraco para dejeções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 de banheiro graduada: 1 ponto para banheiro só de uso comum, 2 para só sanitário, 3 para nem banheiro nem sanitário, sobre 3 vezes os domicílios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+ 2·V00237 + 3·V00238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por domicílio (reproduz o V0005 do IBGE)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Taxa de analfabetismo entre pessoas de 15 anos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Rendimento nominal médio mensal das pessoas responsáveis (R$)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cor/raça preta, parda ou indígena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pessoa responsável do sexo feminino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+ 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sem o valor extremo de Belo Horizonte (R$ 170.418,06), que vira faltante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com o valor extremo trocado pela mediana do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particulares improvisados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habitação precária (cortiço, estrutura degradada, improvisados)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V00052 + V00053 + V00054 + V00055 + V00056 + V00057 + V00058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convencionais (casa, casa de vila/condomínio, apartamento)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+ V00048 + 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não convencionais (cortiço, maloca, estrutura degradada)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V00051 + V00052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 de vila ou em 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crianças de 0 a 4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com menos de 15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60 anos ou mais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Populacional: 60+ por 100 menores de 15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de Idosos: 60+ por 100 pessoas de 15 a 59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+ V01035 + V01036 + V01037 + V01038 + V01039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70+ entre os de 60+ (proxy de longevidade; NÃO é o LI, que exigiria a faixa 75+, inexistente nos agregados por setor)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3 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mais_de_500_mil — Municípios de mais de 500 mil habitantes</dc:title>
  <dc:subject>PptxGenJS Presentation</dc:subject>
  <dc:creator>Pedro Dias Soares</dc:creator>
  <cp:lastModifiedBy>Pedro Dias Soares</cp:lastModifiedBy>
  <cp:revision>1</cp:revision>
  <dcterms:created xsi:type="dcterms:W3CDTF">2026-10-06T20:52:24Z</dcterms:created>
  <dcterms:modified xsi:type="dcterms:W3CDTF">2026-10-06T20:52:24Z</dcterms:modified>
</cp:coreProperties>
</file>