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que muda no índice quando a água inadequada é trocada por outra definição de falta de água?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componente de água do índice: a falta de água canalizada entra no lugar da água inadequada. As outras definições (água não chega ao domicílio, água só no terreno) e a água inadequada da referência estão na tabela T34. Os blocos 2 a 7 descrevem só as quatro definições de água.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descritivas resumem cada indicador em poucos números: o centro (média e mediana), a dispersão (desvio-padrão, quartis, percentis 10 e 90) e a forma (assimetria e curtose). Elas aparecem para o conjunto, por região e por município, para que diferenças de lugar fiquem visíveis antes de qualquer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média é sensível a valores extremos; a mediana não. Quando as duas se afastam, a distribuição é assimétrica. A assimetria é positiva quando há uma cauda longa à direita (poucos setores com valores muito altos). A curtose mede o peso das caudas: valores altos indicam muitos extremos. O coeficiente de variação (DP dividido pela média, em %) permite comparar a dispersão de indicadores em escalas diferentes. Nos indicadores de saneamento, a maioria dos setores vale zero: a mediana é zero e o intervalo interquartil também, o que explica por que o critério de extremos muda para eles (bloco 5).
Como ler: Uma linha por indicador. n: setores com valor; DP: desvio-padrão; P10…P90: percentis; CV: coeficiente de variação; % zeros: setores com valor exatamente zero.
O que mostra: A maior assimetria é a de Água não chega (15,71); o maior percentual de zeros é o de Água não chega (94,5%).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região é o primeiro dígito do código da unidade da federação. As diferenças entre regiões mostram o quanto o retrato depende do lugar: um indicador que varia muito entre regiões pode dominar um índice calculado com normalização global, e é por isso que a referência normaliza dentro de cada município.
Como ler: Uma linha por região e indicador, com as mesmas colunas da tabela global.
O que mostra: Para Água inadequada, a mediana mais alta está no Norte (0,1759) e a mais baixa no Centro-Oeste (0,0000).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São 70 municípios de tamanhos muito diferentes: alguns têm poucas dezenas de setores, e a mediana deles é menos estável. A tabela completa serve para consulta; o slide destaca os extremos.
Como ler: Uma linha por município e indicador (tabela longa). No deck, um recorte; a tabela completa está no CSV.
O que mostra: Para Água inadequada, a maior mediana municipal é a de Portel (0,9188); a menor, a de Araçatuba (0,0000).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São 70 municípios de tamanhos muito diferentes: alguns têm poucas dezenas de setores, e a mediana deles é menos estável. A tabela completa serve para consulta; o slide destaca os extremos.
Como ler: Uma linha por município e indicador (tabela longa). No deck, um recorte; a tabela completa está no CSV.
O que mostra: Para Água inadequada, a maior mediana municipal é a de Portel (0,9188); a menor, a de Araçatuba (0,0000).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números do bloco anterior escondem a forma da distribuição. Histogramas, caixas e curvas de densidade mostram se o indicador se concentra em zero, se tem cauda longa ou se separa regiões. Cada painel reúne os indicadores de uma dimensão.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histograma divide o intervalo de valores em 50 faixas iguais e conta os setores em cada uma. Uma barra alta junto do zero indica muitos setores sem o problema medido; uma cauda longa à direita indica poucos setores com valores muito altos. Os 0,5% de valores mais altos são omitidos só no desenho, para que a cauda não esmague a escala; as tabelas usam todos os valores.
Como ler: Um histograma por indicador da dimensão: no eixo horizontal, o valor; no vertical, quantos setores têm aquele valor. Os 0,5% maiores ficam de fora para a escala ser legível.
O que mostra: Entre os indicadores de Saneamento, a maior assimetria é a de Água não chega (15,71).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diagrama de caixa resume a distribuição em cinco números. A caixa contém a metade central dos setores; se as caixas de duas regiões não se sobrepõem, a diferença entre elas é grande. Quando a mediana e o 1º quartil coincidem com zero, a caixa fica achatada no chão: é o caso dos indicadores com muitos zeros.
Como ler: Uma caixa por região: a linha dentro é a mediana, a caixa vai do 1º ao 3º quartil e as hastes até 1,5 intervalo interquartil. Os pontos extremos não são desenhados (ver bloco 5).
O que mostra: No primeiro indicador da dimensão (Água inadequada), a mediana regional vai de 0,0000 (Centro-Oeste) a 0,1759 (Norte).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curva de densidade é um histograma suavizado e normalizado: a área sob ela vale 1, qualquer que seja o número de setores da região. Assim, comparam-se formas, não tamanhos. Picos em lugares diferentes indicam regiões com valores típicos diferentes; uma curva mais larga indica mais dispersão.
Como ler: Uma curva por região em cada painel: a altura indica onde os setores daquela região se concentram. As áreas sob as curvas são iguais, para que regiões grandes e pequenas sejam comparáveis.
O que mostra: Em Água inadequada, a mediana regional vai de 0,0000 (Centro-Oeste) a 0,1759 (Norte).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IBGE não divulga alguns valores para proteger o sigilo de setores pequenos. Se a falta fosse aleatória, bastaria descartar os setores sem dado; como ela se concentra em setores pequenos, descartar muda o retrato. Este bloco mostra onde estão os faltantes e como eles se distribuem pelo tamanho do setor.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faltantes não se espalham por igual entre os municípios. Onde eles se concentram, um índice calculado só com setores completos retrata pior o município, porque os setores que saem não são uma amostra ao acaso.
Como ler: Uma linha por município e uma coluna por indicador; cada célula é o percentual de setores do município sem aquele indicador.
O que mostra: A célula mais alta é Água só no terreno em Arara, com 42,1% dos setores sem valor.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mapa de calor mostra a tabela anterior como cores. Colunas inteiras escuras indicam indicadores com sigilo ou denominador frequentemente zero; linhas escuras indicam municípios com muitos setores pequenos.
Como ler: Mapa de calor: linhas são municípios, colunas são indicadores; quanto mais escura a célula, maior o percentual de setores sem valor.
O que mostra: O ponto mais escuro é Água só no terreno em Arara (42,1%).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a falta de dados fosse aleatória, o percentual de faltantes seria parecido em todos os décimos. Quando ele se concentra nos setores pequenos, a falta é não aleatória: o IBGE suprime valores para proteger o sigilo de quem mora em setores com poucos domicílios. A consequência é que análises só com setores completos sub-representam setores pequenos.
Como ler: Os setores são divididos em dez grupos iguais pelo número de moradores (1 = os menores). Para cada grupo, o percentual de setores sem renda e sem analfabetismo, e o percentual em FCU.
O que mostra: Sem renda: 0,1% no primeiro décimo e 0,0% no último. Sem analfabetismo: 29,4% e 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duas linhas mostram a mesma tabela em forma de gráfico. Uma linha que desce da esquerda para a direita é o sinal do sigilo: quanto menor o setor, mais provável que o valor tenha sido suprimido.
Como ler: Eixo horizontal: décimo de moradores do setor (1 = menores). Eixo vertical: percentual de setores sem o indicador.
O que mostra: Renda: de 0,1% a 0,0%; analfabetismo: de 29,4% a 3,9%, do menor ao maior décimo.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extremo não é um erro por definição: pode ser um setor realmente diferente. O critério muda com o indicador: o intervalo interquartil onde ele funciona, um critério próprio para a renda e, nos indicadores em que a maioria dos setores vale zero, o critério aplicado só aos valores acima de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critério de Tukey marca como extremo o valor que fica a mais de 3 intervalos interquartis abaixo do 1º quartil ou acima do 3º (o intervalo interquartil é a distância entre o 1º e o 3º quartil). Nos indicadores com mediana zero esse intervalo é zero, e qualquer valor positivo viraria extremo; por isso, neles, o critério é aplicado só aos valores acima de zero. A renda usa o critério próprio do projeto: limite de Tukey dentro de cada município e um teste de coerência com o perfil do setor, que separa a renda alta de verdade (EXTREMO) da provável inconsistência (SUSPEITO).
Como ler: Uma linha por indicador: o critério usado, os limites, quantos setores passam deles e o percentual de zeros.
O que mostra: O maior percentual de extremos é o de Sem água canalizada (2,8%), pelo critério “inflação de zeros: Tukey k=3 só entre os valores acima de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total soma marcações, não setores: um setor extremo em dois indicadores conta duas vezes. Municípios grandes tendem a ter mais marcações só por terem mais setores; a comparação justa é com o número de setores de cada um (bloco 2).
Como ler: Uma linha por município e uma coluna por indicador, com o número de setores marcados; a coluna total soma todas as marcações.
O que mostra: O município com mais marcações é São Gonçalo, com 504 no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lista serve para conferência caso a caso: abrir o setor, olhar o entorno e decidir se é um setor diferente de verdade ou um erro de registro. Nenhum setor é retirado das análises por estar nesta lista.
Como ler: Até dez setores por indicador, os mais distantes da mediana entre os marcados como extremo: código do setor, município, valor e mediana global.
O que mostra: No topo da lista de Sem água canalizada está um setor de Manaus, com valor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percentuais não são comparáveis de forma direta entre critérios diferentes: o critério da inflação de zeros olha só os setores com valor acima de zero. O gráfico serve para localizar os indicadores em que os extremos merecem atenção.
Como ler: Uma barra por indicador, com o percentual de setores marcados; a cor indica o critério (petróleo: Tukey; cinza: inflação de zeros; argila: renda).
O que mostra: A barra mais longa é a de Sem água canalizada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correlação mede o quanto dois indicadores sobem e descem juntos, de −1 a 1. Pares muito correlacionados medem quase a mesma coisa; pares sem correlação trazem informação diferente. O bloco mostra as duas medidas usuais (Spearman, por postos, e Pearson, linear) e agrupa os indicadores parecidos.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correlação de Spearman é calculada sobre os postos (a ordem dos setores), não sobre os valores. Por isso é pouco afetada por extremos e capta relações que sobem sempre, mesmo que não em linha reta. Valor perto de 1: os setores ordenados por um indicador ficam quase na mesma ordem pelo outro; perto de −1: ordem invertida; perto de 0: sem relação de ordem. Cada par usa os setores com os dois valores.
Como ler: Matriz de correlação de Spearman: cada célula é a correlação entre o indicador da linha e o da coluna, de −1 a 1.
O que mostra: A maior correlação em módulo é entre Sem água canalizada e Água só no terreno (ρ = 0,8253).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correlação de Pearson mede a relação em linha reta entre os valores. Ela é sensível a extremos e a distribuições muito assimétricas, como as do saneamento. Quando Pearson e Spearman divergem muito para um mesmo par, a relação é puxada por poucos setores extremos ou não é linear.
Como ler: Matriz de correlação de Pearson, com a mesma leitura da de Spearman.
O que mostra: A maior correlação de Pearson em módulo é entre Sem água canalizada e Água só no terreno (r = 0,8695).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indicadores com correlação acima de 0,80 medem praticamente a mesma coisa. Pôr os dois no índice dá peso dobrado a essa dimensão. Muitas vezes são variantes de um mesmo conceito (por exemplo, as três rendas ou as várias definições de água), e a escolha entre elas é uma das decisões que as versões do eixo B exploram.
Como ler: Os pares de indicadores com correlação de pelo menos 0,80 em módulo, por Spearman ou por Pearson, do mais forte para o mais fraco.
O que mostra: No topo: Sem água canalizada × Água só no terreno, com Spearman 0,8253 e Pearson 0,8695.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reordenação põe lado a lado os indicadores que se correlacionam entre si, e os blocos de cor ao longo da diagonal revelam os grupos. Um grupo nítido costuma corresponder a uma dimensão: socioeconômica, saneamento, moradia, idade.
Como ler: Matriz de correlação de Spearman entre todos os indicadores, reordenados pelo agrupamento do dendrograma. Cada célula do triângulo inferior traz o valor de ρ (−1 a 1); argila é correlação positiva, petróleo negativa, branco é perto de zero. Com 31 indicadores, os valores só ficam legíveis com a figura ampliada; as matrizes por dimensão vêm a seguir.
O que mostra: O par mais forte é Sem água canalizada × Água só no terreno (ρ = 0,8253).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 a matriz no formato da que a orientadora enviou: o IVS e as variáveis novas lado a lado, com os valores escritos. A correlação de Spearman mede se dois indicadores ordenam os setores do mesmo jeito: 1 é a mesma ordem, −1 a ordem invertida, 0 nenhuma relação. A renda aparece como renda média (não invertida): por isso ela tem correlação negativa com as carências. Variáveis com muitos zeros (água não chega, sem banheiro, moradia não convencional) têm correlações achatadas, porque os empates em zero não têm ordem.
Como ler: Matriz de Spearman só com os componentes do índice (acima e à esquerda da linha) e as variáveis das demandas de setembro (abaixo e à direita). Cada célula traz o ρ; argila é positiva, petróleo negativa.
O que mostra: Entre uma variável nova e um componente de outra família, o par mais forte é — × — (ρ = —). Pares de variantes da mesma coisa (como banheiro graduado e sem banheiro) ficam de fora do destaque.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matriz completa tem 31 indicadores e, num slide, os valores ficam pequenos demais; por isso cada dimensão tem a sua. Pares com ρ perto de 1 são, quase sempre, variantes da mesma medida (as três rendas, as definições de banheiro): escolher uma delas é uma das decisões do índice. As correlações entre dimensões estão na matriz completa e na matriz dos componentes.
Como ler: Matriz de Spearman só com os indicadores da dimensão Saneamento; cada célula traz o ρ (−1 a 1). Argila é correlação positiva, petróleo negativa.
O que mostra: Na dimensão Saneamento, o par mais forte é Sem água canalizada × Água só no terreno (ρ = 0,8253).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dendrograma é o resultado de um agrupamento hierárquico: começa com cada indicador sozinho e, a cada passo, une os dois grupos mais próximos. A distância entre dois indicadores é 1 menos o módulo da correlação de Spearman (0 = idênticos, 1 = sem relação); entre grupos, usa-se a média das distâncias (ligação média). Ele é um retrato descritivo: não substitui a análise fatorial.
Como ler: Cada indicador é uma folha à esquerda; as linhas os unem do mais parecido para o menos. Quanto mais à esquerda a união, mais correlacionados os indicadores.
O que mostra: O par mais próximo é Sem água canalizada × Água só no terreno (ρ = 0,8253).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favelas e comunidades urbanas delimitadas pelo IBGE servem de referência externa: um bom indicador de vulnerabilidade deve ter valores mais altos nelas. A comparação usa medianas e a AUC, que mede a capacidade de separar os dois grupos.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AUC (área sob a curva ROC) é a probabilidade de que um setor de favela, sorteado ao acaso, tenha valor maior que um setor de fora, também sorteado. AUC 0,5: o indicador não separa os grupos. Acima de 0,5: valores maiores nas favelas. Abaixo de 0,5: valores menores nas favelas (é o caso da renda, que entra no índice invertida). A AUC aqui é global, com todos os municípios juntos.
Como ler: Uma linha por indicador: setores de FCU e fora, a mediana em cada grupo, a diferença e a AUC do indicador sozinho.
O que mostra: Sem água canalizada tem AUC 0,6484 (mediana 0,0036 em FCU e 0,0000 fora); a menor AUC é a de Água não chega (0,5424).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Barras que partem de 0,5 deixam claro o sentido: argila para a direita, o indicador é maior nas favelas; petróleo para a esquerda, é menor. O painel das medianas mostra a mesma comparação em valores absolutos, o que ajuda a separar uma diferença grande em termos relativos de uma diferença grande de fato.
Como ler: À esquerda, a AUC de cada indicador (barras a partir de 0,5; argila acima, petróleo abaixo). À direita, as medianas em FCU e fora, para os indicadores em proporção.
O que mostra: A maior AUC é a de Sem água canalizada (0,6484); a menor, a de Água não chega (0,5424).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análise fatorial resume vários indicadores correlacionados em poucas dimensões (fatores). Antes de usá-la, testa-se se os dados se prestam a isso (KMO, MSA, Bartlett) e quantos fatores reter (Kaiser e análise paralela de Horn). Depois, as cargas dizem o quanto cada indicador pertence a cada fator.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KMO (Kaiser-Meyer-Olkin) compara as correlações entre as variáveis com as correlações parciais: perto de 1, as variáveis compartilham muita informação e a fatorial faz sentido; o critério do projeto é pelo menos 0,70. O teste de Bartlett verifica se a matriz de correlação é diferente da identidade (variáveis sem relação); com tantos setores, ele sempre rejeita. O critério de Kaiser retém fatores com autovalor acima de 1; a análise paralela de Horn, mais conservadora, retém os fatores cujo autovalor supera o que dados aleatórios do mesmo tamanho produziriam. A correlação usada é a de Spearman, como no NB04.
Como ler: As medidas de adequação da matriz de correlação dos componentes do índice, na amostra do índice.
O que mostra: KMO 0,8019, com 73.854 setores; Kaiser retém 2 fatores e Horn, 2; 2 fatores explicam 61,4% da variância.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MSA é o KMO de cada variável: abaixo de 0,50, a variável compartilha pouco com as outras. A comunalidade é a parte da variância da variável explicada pelos fatores retidos (critério do projeto: pelo menos 0,30). A carga é a correlação da variável com o fator (critério: pelo menos 0,40 no fator principal). A rotação gira os fatores para que cada variável carregue forte em um só: a Varimax mantém os fatores independentes; a promax permite que eles se correlacionem. Na promax, a matriz padrão dá o efeito próprio de cada fator e a matriz estrutura, a correlação simples.
Como ler: Uma linha por componente: MSA, comunalidades e as cargas em cada fator, sem rotação, na Varimax e na promax (padrão e estrutura).
O que mostra: Menor MSA: Renda (invertida) (0,7267). Menor comunalidade (promax): Razão de moradores (0,3957).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autovalor mede quanta variância um componente resume, em unidades de variável: autovalor 2 equivale a duas variáveis inteiras. A análise paralela de Horn gera dados aleatórios com o mesmo número de setores e variáveis e calcula os autovalores que surgiriam só por acaso; um componente merece ser retido quando o seu autovalor supera esse valor.
Como ler: Um componente por linha: autovalor, valor de referência da análise paralela de Horn e variância explicada, simples e acumulada.
O que mostra: Primeiro autovalor 3,2410, segundo 1,0582 (Horn: 1,0155); os dois primeiros explicam 61,4% da variância.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rotação oblíqua (promax), os fatores podem se correlacionar. Uma correlação alta entre a dimensão socioeconômica e a de saneamento indica que as carências tendem a ocorrer juntas no mesmo setor. É por isso que, na promax, se usa a matriz padrão para distribuir pesos: ela separa o efeito próprio de cada fator.
Como ler: Matriz Φ: a correlação entre os fatores depois da rotação promax.
O que mostra: A correlação entre F1 e F2 é 0,3744.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nome vem da imagem de uma encosta: os primeiros componentes formam o paredão e os demais, o entulho no pé. Os componentes que ficam acima da linha tracejada trazem estrutura real; os que ficam abaixo, ruído.
Como ler: Linha cheia: autovalores em ordem decrescente. Tracejada: o que dados aleatórios produziriam (Horn). Pontilhada: o critério de Kaiser (autovalor 1).
O que mostra: O segundo autovalor é 1,0582, contra 1,0155 da linha de Horn.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mapa de cargas mostra a que fator cada variável pertence. Setas ao longo do eixo horizontal pertencem a F1; ao longo do vertical, a F2; setas na diagonal dividem-se entre os dois. Setas curtas indicam variáveis mal explicadas pelos dois fatores (comunalidade baixa).
Como ler: Cada seta é um componente; a ponta fica nas cargas padrão da promax em F1 (horizontal) e F2 (vertical). O círculo marca carga 1.
O que mostra: Maior carga em F1: Renda (invertida) (0,9139); em F2: Banheiro graduado (0,8977).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os fatores e os pesos, cada setor recebe um valor de 0 a 1 dentro do seu município. O bloco mostra os pesos, a distribuição do índice, as faixas de vulnerabilidade pelas duas regras, a AUC contra as favelas e se a versão passa nos critérios de elegibilidade fixados no NB05.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pesos seguem a receita do NB04: cada variável vai para a dimensão em que tem a maior carga; o peso da dimensão é repartido entre as variáveis dela em proporção ao quadrado da carga. O peso das dimensões depende do método da versão; na referência é a regra do IVS-BH de 2012 (60% socioeconômica, 40% saneamento).
Como ler: Uma linha por componente: a dimensão em que ele carrega mais, a carga, o peso da dimensão e o peso final no índice (em %).
O que mostra: O maior peso é o de Banheiro graduado (27,3%); a dimensão F1 (socioeconômica) pesa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índice vai de 0 (o setor menos vulnerável do município) a 1 (o mais vulnerável). Comparar o nível do índice entre municípios não faz sentido nesta normalização; o que se compara é a posição relativa de cada setor dentro da sua cidade.
Como ler: Descritivas do índice para o total e por região. Como o índice é normalizado dentro de cada município, todo município tem mínimo 0 e máximo 1.
O que mostra: 73.853 setores; mediana 0,2981; percentil 90 0,3704.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regra do IVS-BH de 2012 classifica pelo afastamento da média do município em desvios-padrão: abaixo de −0,5 DP é baixo; até +0,5 DP, médio; até +1,5 DP, elevado; acima, muito elevado. Como a distribuição é assimétrica, as faixas não têm o mesmo tamanho. A regra dos quartis divide cada município em quatro partes iguais, por construção com 25% cada.
Como ler: Quantos setores ficam em cada faixa, pelas duas regras: a do IVS-BH (média e desvio-padrão do município) e a dos quartis do município.
O que mostra: IVS-BH: 28,0% baixo e 4,4% muito elevado. Quartis: 25,0% muito elevado.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AUC global junta todos os setores; a municipal calcula a AUC dentro de cada município e toma a mediana, só nos municípios com pelo menos 30 setores de FCU e 30 fora. A municipal é a leitura adequada para um índice normalizado no município. Os critérios de elegibilidade foram fixados antes de rodar a grade do NB05: KMO de pelo menos 0,70, MSA de pelo menos 0,50, comunalidade de pelo menos 0,30 e carga de pelo menos 0,40 em todas as variáveis. A elegibilidade é descritiva: não escolhe a versão.
Como ler: AUC global e municipal, peso da dimensão socioeconômica e os critérios de elegibilidade do NB05, um por linha (1 = atende).
O que mostra: AUC global 0,8517; mediana da AUC municipal 0,8626, em 31 municípios. Pelos critérios do NB05, a versão é elegível.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Municípios com poucos setores de favela têm AUC instável: um ou dois setores mudam muito o resultado. Por isso a mediana só usa os municípios com pelo menos 30 setores em cada grupo; os demais ficam na tabela, marcados.
Como ler: Uma linha por município: AUC, setores de FCU (n1) e fora (n0) e se o município entra na mediana.
O que mostra: Entre os municípios que entram na mediana, a maior AUC é a de Campinas (0,9580) e a menor, a de São José de Ribamar (0,6855).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Municípios com poucos setores de favela têm AUC instável: um ou dois setores mudam muito o resultado. Por isso a mediana só usa os municípios com pelo menos 30 setores em cada grupo; os demais ficam na tabela, marcados.
Como ler: Uma linha por município: AUC, setores de FCU (n1) e fora (n0) e se o município entra na mediana.
O que mostra: Entre os municípios que entram na mediana, a maior AUC é a de Campinas (0,9580) e a menor, a de São José de Ribamar (0,6855).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as faixas são definidas dentro de cada município, um mesmo valor do índice pode cair em faixas diferentes em cidades diferentes: por isso as cores se sobrepõem nas fronteiras.
Como ler: Histograma do índice, com cada barra dividida pela faixa dos setores (regra do IVS-BH).
O que mostra: 28,0% dos setores ficam em baixo e 4,4% em muito elevado.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Quanto mais a curva se aproxima do canto superior esquerdo, melhor o índice separa os dois grupos. A área sob a curva é a AUC. Esta curva usa todos os setores juntos; como o índice é normalizado no município, a AUC municipal é a medida principal.
Como ler: Cada ponto da curva é um corte do índice: no eixo vertical, a proporção de setores de FCU acima do corte; no horizontal, a dos setores de fora. A diagonal é o acaso.
O que mostra: Área sob a curva: 0,8517 (global); a mediana municipal é 0,8626.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ninguém fixou um parâmetro, a versão roda com um valor-padrão e esta tabela mostra o que muda com o valor alternativo. Correlação de postos perto de 1 e poucas trocas de faixa indicam que a escolha do parâmetro pesa pouco; o contrário indica que ela precisa ser decidida. Nenhum dos valores é decisão: é parâmetro exploratório.
Como ler: Uma linha por valor do parâmetro exploratório: setores no recorte e no índice, KMO, AUC global e municipal, elegibilidade (1 = elegível), correlação de postos com o índice do valor-padrão e % de setores que mudam de faixa.
O que mostra: Com água inadequada (referência): 73.878 setores no índice (contra 73.854), AUC municipal 0,8186, ρ = 0,9503 com o valor-padrão e 13,9% dos setores comuns mudando de faixa.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versão muda uma coisa só em relação à referência. Este bloco mede o efeito dessa mudança: a correlação de postos entre os dois índices, a matriz de setores que trocam de faixa e os municípios mais afetados.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correlação de postos perto de 1 indica que a versão ordena os setores quase como a referência, ainda que os valores mudem. Na própria referência, o valor é 1 por construção.
Como ler: Correlação de Spearman entre o índice desta versão e o da referência, nos setores que estão nas duas amostras: total e por município.
O que mostra: Total: ρ = 0,9503. Menor correlação municipal: Santa Maria do Oeste (0,4000).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diagonal (mesma faixa nas duas) mostra a concordância. Trocas entre faixas vizinhas são esperadas quando os pesos mudam um pouco; trocas de duas faixas ou mais indicam que a versão muda de fato a classificação do setor.
Como ler: Cada linha é um par (faixa na referência, faixa nesta versão), com o número de setores e o percentual do total.
O que mostra: Fora da diagonal, a maior célula é de medio para elevado, com 3.692 setores.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faixa usada é a da regra do IVS-BH. Municípios pequenos tendem a aparecer no topo, porque poucas trocas pesam muito em poucos setores.
Como ler: A primeira linha é o total; as demais, os municípios, do mais afetado para o menos: setores comuns, setores que mudam de faixa e o percentual.
O que mostra: No total, 13,9% dos setores mudam de faixa; o município mais afetado é Santa Maria do Oeste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matriz com quase tudo na diagonal indica que a mudança da versão não altera a classificação; células fora da diagonal mostram para onde os setores se movem.
Como ler: Linhas: faixa na referência; colunas: faixa nesta versão; cada célula traz o número de setores.
O que mostra: A maior troca fora da diagonal é de medio para elevado (3.692 setores).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gráfico destaca onde a escolha desta versão faz mais diferença. Na própria referência, todas as barras são zero.
Como ler: Os 20 municípios com o maior percentual de setores que mudam de faixa.
O que mostra: O mais afetado é Santa Maria do Oeste (60,0%); no total, 13,9%.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Trocar a definição de água é uma das mudanças que mais mexem no índice entre as versões do eixo B: a correlação de postos com a referência cai e mais de um em cada dez setores muda de faixa. Com a falta de água canalizada, o KMO e a AUC contra as favelas sobem em relação à referência; as outras duas definições (T34) ficam muito próximas desta versão — correlação de postos perto de 1, poucas trocas de faixa e AUC também acima da referência —, mas reduzem a amostra do índice. As quatro definições medem coisas diferentes: a água inadequada inclui poço e outras fontes; as outras olham se a água chega canalizada à casa.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definições de água têm mediana zero e muitos zeros: a correlação entre elas e a fatorial dependem de poucos setores com valor.
Água não chega e água só no terreno têm mais faltantes e reduzem a amostra do índice.
A amostra do índice exclui todo setor com algum componente faltante (exclusão por lista); trocar um componente muda também a amostra.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234440"/>
            <a:ext cx="10634472" cy="310896"/>
          </a:xfrm>
          <a:prstGeom prst="rect">
            <a:avLst/>
          </a:prstGeom>
          <a:noFill/>
          <a:ln/>
        </p:spPr>
        <p:txBody>
          <a:bodyPr wrap="square" lIns="0" tIns="0" rIns="0" bIns="0" rtlCol="0" anchor="ctr"/>
          <a:lstStyle/>
          <a:p>
            <a:pPr indent="0" marL="0">
              <a:buNone/>
            </a:pPr>
            <a:r>
              <a:rPr lang="en-US" sz="1150" spc="200" kern="0" dirty="0">
                <a:solidFill>
                  <a:srgbClr val="56534C"/>
                </a:solidFill>
                <a:latin typeface="Cambria" pitchFamily="34" charset="0"/>
                <a:ea typeface="Cambria" pitchFamily="34" charset="-122"/>
                <a:cs typeface="Cambria" pitchFamily="34" charset="-120"/>
              </a:rPr>
              <a:t>ANÁLISES EXPLORATÓRIAS POR VERSÃO · B2_agua</a:t>
            </a:r>
            <a:endParaRPr lang="en-US" sz="1150" dirty="0"/>
          </a:p>
        </p:txBody>
      </p:sp>
      <p:sp>
        <p:nvSpPr>
          <p:cNvPr id="3" name="Shape 1"/>
          <p:cNvSpPr/>
          <p:nvPr/>
        </p:nvSpPr>
        <p:spPr>
          <a:xfrm>
            <a:off x="777240" y="1627632"/>
            <a:ext cx="10634472" cy="0"/>
          </a:xfrm>
          <a:prstGeom prst="line">
            <a:avLst/>
          </a:prstGeom>
          <a:noFill/>
          <a:ln w="12700">
            <a:solidFill>
              <a:srgbClr val="1A1A18"/>
            </a:solidFill>
            <a:prstDash val="solid"/>
          </a:ln>
        </p:spPr>
      </p:sp>
      <p:sp>
        <p:nvSpPr>
          <p:cNvPr id="4" name="Text 2"/>
          <p:cNvSpPr/>
          <p:nvPr/>
        </p:nvSpPr>
        <p:spPr>
          <a:xfrm>
            <a:off x="777240" y="1783080"/>
            <a:ext cx="10634472" cy="914400"/>
          </a:xfrm>
          <a:prstGeom prst="rect">
            <a:avLst/>
          </a:prstGeom>
          <a:noFill/>
          <a:ln/>
        </p:spPr>
        <p:txBody>
          <a:bodyPr wrap="square" lIns="0" tIns="0" rIns="0" bIns="0" rtlCol="0" anchor="ctr"/>
          <a:lstStyle/>
          <a:p>
            <a:pPr indent="0" marL="0">
              <a:buNone/>
            </a:pPr>
            <a:r>
              <a:rPr lang="en-US" sz="4000" b="1" dirty="0">
                <a:solidFill>
                  <a:srgbClr val="1A1A18"/>
                </a:solidFill>
                <a:latin typeface="Cambria" pitchFamily="34" charset="0"/>
                <a:ea typeface="Cambria" pitchFamily="34" charset="-122"/>
                <a:cs typeface="Cambria" pitchFamily="34" charset="-120"/>
              </a:rPr>
              <a:t>As definições de água</a:t>
            </a:r>
            <a:endParaRPr lang="en-US" sz="4000" dirty="0"/>
          </a:p>
        </p:txBody>
      </p:sp>
      <p:sp>
        <p:nvSpPr>
          <p:cNvPr id="5" name="Text 3"/>
          <p:cNvSpPr/>
          <p:nvPr/>
        </p:nvSpPr>
        <p:spPr>
          <a:xfrm>
            <a:off x="777240" y="2788920"/>
            <a:ext cx="8595360" cy="1005840"/>
          </a:xfrm>
          <a:prstGeom prst="rect">
            <a:avLst/>
          </a:prstGeom>
          <a:noFill/>
          <a:ln/>
        </p:spPr>
        <p:txBody>
          <a:bodyPr wrap="square" lIns="0" tIns="0" rIns="0" bIns="0" rtlCol="0" anchor="ctr"/>
          <a:lstStyle/>
          <a:p>
            <a:pPr indent="0" marL="0">
              <a:lnSpc>
                <a:spcPts val="2000"/>
              </a:lnSpc>
              <a:buNone/>
            </a:pPr>
            <a:r>
              <a:rPr lang="en-US" sz="1400" dirty="0">
                <a:solidFill>
                  <a:srgbClr val="56534C"/>
                </a:solidFill>
                <a:latin typeface="Cambria" pitchFamily="34" charset="0"/>
                <a:ea typeface="Cambria" pitchFamily="34" charset="-122"/>
                <a:cs typeface="Cambria" pitchFamily="34" charset="-120"/>
              </a:rPr>
              <a:t>O que muda no índice quando a água inadequada é trocada por outra definição de falta de água?</a:t>
            </a:r>
            <a:endParaRPr lang="en-US" sz="1400" dirty="0"/>
          </a:p>
        </p:txBody>
      </p:sp>
      <p:sp>
        <p:nvSpPr>
          <p:cNvPr id="6" name="Shape 4"/>
          <p:cNvSpPr/>
          <p:nvPr/>
        </p:nvSpPr>
        <p:spPr>
          <a:xfrm>
            <a:off x="777240" y="5623560"/>
            <a:ext cx="10634472" cy="0"/>
          </a:xfrm>
          <a:prstGeom prst="line">
            <a:avLst/>
          </a:prstGeom>
          <a:noFill/>
          <a:ln w="9525">
            <a:solidFill>
              <a:srgbClr val="C8C6C0"/>
            </a:solidFill>
            <a:prstDash val="solid"/>
          </a:ln>
        </p:spPr>
      </p:sp>
      <p:sp>
        <p:nvSpPr>
          <p:cNvPr id="7" name="Text 5"/>
          <p:cNvSpPr/>
          <p:nvPr/>
        </p:nvSpPr>
        <p:spPr>
          <a:xfrm>
            <a:off x="777240" y="5760720"/>
            <a:ext cx="10634472" cy="457200"/>
          </a:xfrm>
          <a:prstGeom prst="rect">
            <a:avLst/>
          </a:prstGeom>
          <a:noFill/>
          <a:ln/>
        </p:spPr>
        <p:txBody>
          <a:bodyPr wrap="square" lIns="0" tIns="0" rIns="0" bIns="0" rtlCol="0" anchor="ctr"/>
          <a:lstStyle/>
          <a:p>
            <a:pPr indent="0" marL="0">
              <a:buNone/>
            </a:pPr>
            <a:r>
              <a:rPr lang="en-US" sz="1100" dirty="0">
                <a:solidFill>
                  <a:srgbClr val="56534C"/>
                </a:solidFill>
                <a:latin typeface="Cambria" pitchFamily="34" charset="0"/>
                <a:ea typeface="Cambria" pitchFamily="34" charset="-122"/>
                <a:cs typeface="Cambria" pitchFamily="34" charset="-120"/>
              </a:rPr>
              <a:t>outubro de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 que muda nesta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2011680"/>
                <a:gridCol w="4297680"/>
                <a:gridCol w="4297680"/>
              </a:tblGrid>
              <a:tr h="274320">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Aspecto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Referência (00_referencia)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Esta versão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Base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entrega_orientadora/Base_ELSI_70Municipios_Censo2022.db</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Recorte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setores urbanos; Dados_sig = OK</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16814">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Indicadores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todos os do quadro, com as variantes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b="1" dirty="0">
                          <a:solidFill>
                            <a:srgbClr val="8C2F27"/>
                          </a:solidFill>
                          <a:latin typeface="Cambria" pitchFamily="34" charset="0"/>
                          <a:ea typeface="Cambria" pitchFamily="34" charset="-122"/>
                          <a:cs typeface="Cambria" pitchFamily="34" charset="-120"/>
                        </a:rPr>
                        <a:t>pct_agua_inad, Sem água canalizada, pct_agua_nao_encanada, pct_agua_so_terreno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579501">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Componentes do índice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pct_agua_inad, Esgoto inadequado, Razão de moradores, Analfabetismo 15+, Renda (invertida), Cor/raça PPI, Banheiro graduado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b="1" dirty="0">
                          <a:solidFill>
                            <a:srgbClr val="8C2F27"/>
                          </a:solidFill>
                          <a:latin typeface="Cambria" pitchFamily="34" charset="0"/>
                          <a:ea typeface="Cambria" pitchFamily="34" charset="-122"/>
                          <a:cs typeface="Cambria" pitchFamily="34" charset="-120"/>
                        </a:rPr>
                        <a:t>Sem água canalizada, Esgoto inadequado, Razão de moradores, Analfabetismo 15+, Renda (invertida), Cor/raça PPI, Banheiro graduado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Renda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original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Rotação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promax</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Pesos das dimensões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60_40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Normalização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municipal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Blocos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1, 2, 3, 4, 5, 6, 7, 8, 9, 10, 11, 12, 13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b="1" dirty="0">
                          <a:solidFill>
                            <a:srgbClr val="8C2F27"/>
                          </a:solidFill>
                          <a:latin typeface="Cambria" pitchFamily="34" charset="0"/>
                          <a:ea typeface="Cambria" pitchFamily="34" charset="-122"/>
                          <a:cs typeface="Cambria" pitchFamily="34" charset="-120"/>
                        </a:rPr>
                        <a:t>2, 3, 4, 5, 6, 7, 9, 10, 13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77240" y="4608195"/>
            <a:ext cx="822960" cy="0"/>
          </a:xfrm>
          <a:prstGeom prst="line">
            <a:avLst/>
          </a:prstGeom>
          <a:noFill/>
          <a:ln w="15875">
            <a:solidFill>
              <a:srgbClr val="8C2F27"/>
            </a:solidFill>
            <a:prstDash val="solid"/>
          </a:ln>
        </p:spPr>
      </p:sp>
      <p:sp>
        <p:nvSpPr>
          <p:cNvPr id="7" name="Text 4"/>
          <p:cNvSpPr/>
          <p:nvPr/>
        </p:nvSpPr>
        <p:spPr>
          <a:xfrm>
            <a:off x="777240" y="4663059"/>
            <a:ext cx="10634472" cy="1371981"/>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muda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componente de água do índice: a falta de água canalizada entra no lugar da água inadequada. As outras definições (água não chega ao domicílio, água só no terreno) e a água inadequada da referência estão na tabela T34. Os blocos 2 a 7 descrevem só as quatro definições de água.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Sumário: os blocos desta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640080"/>
                <a:gridCol w="2377440"/>
                <a:gridCol w="4937760"/>
                <a:gridCol w="2651760"/>
              </a:tblGrid>
              <a:tr h="274320">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Bloco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Título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Pergunta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Itens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Descritivas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Qual é o valor típico de cada indicador, e quanto ele varia?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T03, T04, T05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Distribuições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Que forma tem cada indicador, e ela muda de uma região para outra?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F02, F03, F04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Faltantes e sigilo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Onde faltam dados, e a falta é aleatória?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T06, F14, T07, F15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Extremos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Que setores têm valores fora do comum, e por qual critério?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T08, T09, T10, F16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Correlações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Que indicadores andam juntos?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T12, T13, T14, F17, F31, F32, F18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Favelas e comunidades urbanas (FCU)</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Cada indicador, sozinho, separa os setores de favela dos demais?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T15, F19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Adequação fatorial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Os componentes do índice se prestam a uma análise fatorial, e quantos fatores ela sustenta?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T19, T20, T21, T22, F22, F23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O índice da versão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Como fica o índice, e ele separa os setores de favela?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T23, T24, T25, T26, T27, F24, F25, T34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Comparação com a referência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O que esta versão muda em relação à referência proposta do NB05?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T31, T32, T33, F28, F29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2</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Descritivas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Qual é o valor típico de cada indicador, e quanto ele varia?</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T03 · T04 · T05</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Água não chega é o indicador mais assimétrico (assimetria 15,71)</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452360" cy="914400"/>
        </p:xfrm>
        <a:graphic>
          <a:graphicData uri="http://schemas.openxmlformats.org/drawingml/2006/table">
            <a:tbl>
              <a:tblPr/>
              <a:tblGrid>
                <a:gridCol w="1830404"/>
                <a:gridCol w="740878"/>
                <a:gridCol w="740878"/>
                <a:gridCol w="740878"/>
                <a:gridCol w="697297"/>
                <a:gridCol w="740878"/>
                <a:gridCol w="740878"/>
                <a:gridCol w="566554"/>
                <a:gridCol w="653716"/>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Média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DP</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P10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Assim.</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zeros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104.067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94.402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88.211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n: setores com valor; DP: desvio-padrão; P10…P90: percentis; CV: coeficiente de variação; % zeros: setores com valor exatamente zero.</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assimetria é a de Água não chega (15,71); o maior percentual de zeros é o de Água não chega (94,5%).</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T03 · tabelas/T03_descritivas_global.csv  ·  Bloco 2. Descritivas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Água inadequada: a mediana vai de 0,0000 (Centro-Oeste) a 0,1759 (Norte)</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223760" cy="914400"/>
        </p:xfrm>
        <a:graphic>
          <a:graphicData uri="http://schemas.openxmlformats.org/drawingml/2006/table">
            <a:tbl>
              <a:tblPr/>
              <a:tblGrid>
                <a:gridCol w="2194560"/>
                <a:gridCol w="1005840"/>
                <a:gridCol w="100584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 — mediana por região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Norte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Nordeste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Sudeste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Sul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Centro-Oeste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254088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região e indicador, com as mesmas colunas da tabela global.</a:t>
            </a:r>
            <a:endParaRPr lang="en-US" sz="1250" dirty="0"/>
          </a:p>
        </p:txBody>
      </p:sp>
      <p:sp>
        <p:nvSpPr>
          <p:cNvPr id="8" name="Shape 5"/>
          <p:cNvSpPr/>
          <p:nvPr/>
        </p:nvSpPr>
        <p:spPr>
          <a:xfrm>
            <a:off x="8549640" y="2366010"/>
            <a:ext cx="822960" cy="0"/>
          </a:xfrm>
          <a:prstGeom prst="line">
            <a:avLst/>
          </a:prstGeom>
          <a:noFill/>
          <a:ln w="15875">
            <a:solidFill>
              <a:srgbClr val="8C2F27"/>
            </a:solidFill>
            <a:prstDash val="solid"/>
          </a:ln>
        </p:spPr>
      </p:sp>
      <p:sp>
        <p:nvSpPr>
          <p:cNvPr id="9" name="Text 6"/>
          <p:cNvSpPr/>
          <p:nvPr/>
        </p:nvSpPr>
        <p:spPr>
          <a:xfrm>
            <a:off x="8549640" y="24208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Para Água inadequada, a mediana mais alta está no Norte (0,1759) e a mais baixa no Centro-Oeste (0,0000).</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T04 · tabelas/T04_descritivas_regiao.csv  ·  Bloco 2. Descritivas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Água inadequada: entre os municípios, a mediana vai de 0,0000 a 0,9188</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583680" cy="914400"/>
        </p:xfrm>
        <a:graphic>
          <a:graphicData uri="http://schemas.openxmlformats.org/drawingml/2006/table">
            <a:tbl>
              <a:tblPr/>
              <a:tblGrid>
                <a:gridCol w="2743200"/>
                <a:gridCol w="82296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 — Água inadequada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P10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Portel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0,6734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0,9188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0,9891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Placas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0,5017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0,8320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0,9747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Ananindeua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0,8251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Autazes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0,6429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Arara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0,4395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0,6764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Rosário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0,3306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0,7419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Duque de Caxias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0,9525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Belém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0,9044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Ibatiba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0,8957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Camaragibe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0,9335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 indicador (tabela longa). No deck, um recorte; a tabela completa está no CSV.</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Para Água inadequada, a maior mediana municipal é a de Portel (0,9188); a menor, a de Araçatuba (0,0000).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T05 · tabelas/T05_descritivas_municipio.csv  ·  Bloco 2. Descritivas  ·  parte 1 de 2</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Água inadequada: entre os municípios, a mediana vai de 0,0000 a 0,9188</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583680" cy="914400"/>
        </p:xfrm>
        <a:graphic>
          <a:graphicData uri="http://schemas.openxmlformats.org/drawingml/2006/table">
            <a:tbl>
              <a:tblPr/>
              <a:tblGrid>
                <a:gridCol w="2743200"/>
                <a:gridCol w="82296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 — Água inadequada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P10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Bernardo do Campo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Caetano do Sul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José dos Pinhais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26.512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 das Missões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Pedro da Aldeia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Raimundo do Doca Bezerra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Tabatinga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Teresina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Urandi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401916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 indicador (tabela longa). No deck, um recorte; a tabela completa está no CSV.</a:t>
            </a:r>
            <a:endParaRPr lang="en-US" sz="1250" dirty="0"/>
          </a:p>
        </p:txBody>
      </p:sp>
      <p:sp>
        <p:nvSpPr>
          <p:cNvPr id="8" name="Shape 5"/>
          <p:cNvSpPr/>
          <p:nvPr/>
        </p:nvSpPr>
        <p:spPr>
          <a:xfrm>
            <a:off x="8549640" y="2575560"/>
            <a:ext cx="822960" cy="0"/>
          </a:xfrm>
          <a:prstGeom prst="line">
            <a:avLst/>
          </a:prstGeom>
          <a:noFill/>
          <a:ln w="15875">
            <a:solidFill>
              <a:srgbClr val="8C2F27"/>
            </a:solidFill>
            <a:prstDash val="solid"/>
          </a:ln>
        </p:spPr>
      </p:sp>
      <p:sp>
        <p:nvSpPr>
          <p:cNvPr id="9" name="Text 6"/>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Para Água inadequada, a maior mediana municipal é a de Portel (0,9188); a menor, a de Araçatuba (0,0000).</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T05 · tabelas/T05_descritivas_municipio.csv  ·  Bloco 2. Descritivas  ·  parte 2 de 2</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3</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Distribuições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Que forma tem cada indicador, e ela muda de uma região para outra?</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F02 · F03 · F04</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Saneamento: Água não chega tem a distribuição mais assimétrica (assimetria 15,71)</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B2_agua/figuras/F02_histogramas_saneamento.png">    </p:cNvPr>
          <p:cNvPicPr>
            <a:picLocks noChangeAspect="1"/>
          </p:cNvPicPr>
          <p:nvPr/>
        </p:nvPicPr>
        <p:blipFill>
          <a:blip r:embed="rId1"/>
          <a:stretch>
            <a:fillRect/>
          </a:stretch>
        </p:blipFill>
        <p:spPr>
          <a:xfrm>
            <a:off x="777240" y="1243584"/>
            <a:ext cx="7452360" cy="1344317"/>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 histograma por indicador da dimensão: no eixo horizontal, o valor; no vertical, quantos setores têm aquele valor. Os 0,5% maiores ficam de fora para a escala ser legível.</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os indicadores de Saneamento, a maior assimetria é a de Água não chega (15,71).</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F02 · figuras/F02_histogramas_saneamento.png  ·  Bloco 3. Distribuições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11</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Saneamento: Água inadequada tem mediana de 0,1759 no Norte e 0,0000 no Centro-Oeste</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B2_agua/figuras/F03_boxplots_regiao_saneamento.png">    </p:cNvPr>
          <p:cNvPicPr>
            <a:picLocks noChangeAspect="1"/>
          </p:cNvPicPr>
          <p:nvPr/>
        </p:nvPicPr>
        <p:blipFill>
          <a:blip r:embed="rId1"/>
          <a:stretch>
            <a:fillRect/>
          </a:stretch>
        </p:blipFill>
        <p:spPr>
          <a:xfrm>
            <a:off x="777240" y="1243584"/>
            <a:ext cx="7452360" cy="1345728"/>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caixa por região: a linha dentro é a mediana, a caixa vai do 1º ao 3º quartil e as hastes até 1,5 intervalo interquartil. Os pontos extremos não são desenhados (ver bloco 5).</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primeiro indicador da dimensão (Água inadequada), a mediana regional vai de 0,0000 (Centro-Oeste) a 0,1759 (Norte).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F03 · figuras/F03_boxplots_regiao_saneamento.png  ·  Bloco 3. Distribuições</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Saneamento: as regiões têm formas diferentes de distribuição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B2_agua/figuras/F04_densidades_regiao_saneamento.png">    </p:cNvPr>
          <p:cNvPicPr>
            <a:picLocks noChangeAspect="1"/>
          </p:cNvPicPr>
          <p:nvPr/>
        </p:nvPicPr>
        <p:blipFill>
          <a:blip r:embed="rId1"/>
          <a:stretch>
            <a:fillRect/>
          </a:stretch>
        </p:blipFill>
        <p:spPr>
          <a:xfrm>
            <a:off x="777240" y="1243584"/>
            <a:ext cx="7452360" cy="1345022"/>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curva por região em cada painel: a altura indica onde os setores daquela região se concentram. As áreas sob as curvas são iguais, para que regiões grandes e pequenas sejam comparáveis.</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Em Água inadequada, a mediana regional vai de 0,0000 (Centro-Oeste) a 0,1759 (Norte).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F04 · figuras/F04_densidades_regiao_saneamento.png  ·  Bloco 3. Distribuições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13</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4</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Faltantes e sigilo</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Onde faltam dados, e a falta é aleatória?</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T06 · F14 · T07 · F15</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O maior percentual de faltantes é o de Água só no terreno em Arara (42,1%)</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217920" cy="914400"/>
        </p:xfrm>
        <a:graphic>
          <a:graphicData uri="http://schemas.openxmlformats.org/drawingml/2006/table">
            <a:tbl>
              <a:tblPr/>
              <a:tblGrid>
                <a:gridCol w="2011680"/>
                <a:gridCol w="1051560"/>
                <a:gridCol w="1051560"/>
                <a:gridCol w="1051560"/>
                <a:gridCol w="1051560"/>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 (% sem 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pct_agua_so_terreno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pct_agua_nao_encanada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Sem água canalizada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pct_agua_inad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Arara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Chapada dos Guimarães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Vicentinópolis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Itajuípe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Preta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Placas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Groaíras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Japoatã</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Manaus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Ananindeua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Salinas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Goianésia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Feira de Santana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Natal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Fortaleza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José de Ribamar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5644642"/>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 uma coluna por indicador; cada célula é o percentual de setores do município sem aquele indicador.</a:t>
            </a:r>
            <a:endParaRPr lang="en-US" sz="1250" dirty="0"/>
          </a:p>
        </p:txBody>
      </p:sp>
      <p:sp>
        <p:nvSpPr>
          <p:cNvPr id="8" name="Shape 5"/>
          <p:cNvSpPr/>
          <p:nvPr/>
        </p:nvSpPr>
        <p:spPr>
          <a:xfrm>
            <a:off x="8549640" y="2575560"/>
            <a:ext cx="822960" cy="0"/>
          </a:xfrm>
          <a:prstGeom prst="line">
            <a:avLst/>
          </a:prstGeom>
          <a:noFill/>
          <a:ln w="15875">
            <a:solidFill>
              <a:srgbClr val="8C2F27"/>
            </a:solidFill>
            <a:prstDash val="solid"/>
          </a:ln>
        </p:spPr>
      </p:sp>
      <p:sp>
        <p:nvSpPr>
          <p:cNvPr id="9" name="Text 6"/>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célula mais alta é Água só no terreno em Arara, com 42,1% dos setores sem valor.</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T06 · tabelas/T06_faltantes_por_municipio.csv  ·  Bloco 4. Faltantes e sigilo</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faltantes se concentram em poucos indicadores e municípios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B2_agua/figuras/F14_mapa_faltantes.png">    </p:cNvPr>
          <p:cNvPicPr>
            <a:picLocks noChangeAspect="1"/>
          </p:cNvPicPr>
          <p:nvPr/>
        </p:nvPicPr>
        <p:blipFill>
          <a:blip r:embed="rId1"/>
          <a:stretch>
            <a:fillRect/>
          </a:stretch>
        </p:blipFill>
        <p:spPr>
          <a:xfrm>
            <a:off x="2244781" y="1243584"/>
            <a:ext cx="4517278" cy="4791456"/>
          </a:xfrm>
          <a:prstGeom prst="rect">
            <a:avLst/>
          </a:prstGeom>
        </p:spPr>
      </p:pic>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Mapa de calor: linhas são municípios, colunas são indicadores; quanto mais escura a célula, maior o percentual de setores sem valor.</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ponto mais escuro é Água só no terreno em Arara (42,1%).</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F14 · figuras/F14_mapa_faltantes.png  ·  Bloco 4. Faltantes e sigilo</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O analfabetismo falta em 29,4% dos menores setores e em 3,9% dos maiores</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217920" cy="914400"/>
        </p:xfrm>
        <a:graphic>
          <a:graphicData uri="http://schemas.openxmlformats.org/drawingml/2006/table">
            <a:tbl>
              <a:tblPr/>
              <a:tblGrid>
                <a:gridCol w="731520"/>
                <a:gridCol w="1097280"/>
                <a:gridCol w="1097280"/>
                <a:gridCol w="1097280"/>
                <a:gridCol w="1280160"/>
                <a:gridCol w="91440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Décimo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Moradores (mín.)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Moradores (máx.)</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sem renda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sem analfabetismo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em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Os setores são divididos em dez grupos iguais pelo número de moradores (1 = os menores). Para cada grupo, o percentual de setores sem renda e sem analfabetismo, e o percentual em FCU.</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Sem renda: 0,1% no primeiro décimo e 0,0% no último. Sem analfabetismo: 29,4% e 3,9%.</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T07 · tabelas/T07_sigilo_por_porte_do_setor.csv  ·  Bloco 4. Faltantes e sigilo</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falta de dados depende do tamanho do setor</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B2_agua/figuras/F15_sigilo_por_porte_do_setor.png">    </p:cNvPr>
          <p:cNvPicPr>
            <a:picLocks noChangeAspect="1"/>
          </p:cNvPicPr>
          <p:nvPr/>
        </p:nvPicPr>
        <p:blipFill>
          <a:blip r:embed="rId1"/>
          <a:stretch>
            <a:fillRect/>
          </a:stretch>
        </p:blipFill>
        <p:spPr>
          <a:xfrm>
            <a:off x="777240" y="1243584"/>
            <a:ext cx="7452360" cy="4013930"/>
          </a:xfrm>
          <a:prstGeom prst="rect">
            <a:avLst/>
          </a:prstGeom>
        </p:spPr>
      </p:pic>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Eixo horizontal: décimo de moradores do setor (1 = menores). Eixo vertical: percentual de setores sem o indicador.</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Renda: de 0,1% a 0,0%; analfabetismo: de 29,4% a 3,9%, do menor ao maior décimo.</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F15 · figuras/F15_sigilo_por_porte_do_setor.png  ·  Bloco 4. Faltantes e sigilo</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18</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5</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Extremos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Que setores têm valores fora do comum, e por qual critério?</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T08 · T09 · T10 · F16</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Sem água canalizada tem a maior proporção de extremos (2,8%)</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360920" cy="914400"/>
        </p:xfrm>
        <a:graphic>
          <a:graphicData uri="http://schemas.openxmlformats.org/drawingml/2006/table">
            <a:tbl>
              <a:tblPr/>
              <a:tblGrid>
                <a:gridCol w="1737360"/>
                <a:gridCol w="2377440"/>
                <a:gridCol w="914400"/>
                <a:gridCol w="777240"/>
                <a:gridCol w="822960"/>
                <a:gridCol w="73152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Critério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Limite sup.</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Extremos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extremos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zeros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1,5275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0,1206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0,2874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o critério usado, os limites, quantos setores passam deles e o percentual de zeros.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maior percentual de extremos é o de Sem água canalizada (2,8%), pelo critério “inflação de zeros: Tukey k=3 só entre os valores acima de zero”.</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T08 · tabelas/T08_extremos_por_indicador.csv  ·  Bloco 5. Extremos</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São Gonçalo concentra o maior número de marcações de extremo (504)</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223760" cy="914400"/>
        </p:xfrm>
        <a:graphic>
          <a:graphicData uri="http://schemas.openxmlformats.org/drawingml/2006/table">
            <a:tbl>
              <a:tblPr/>
              <a:tblGrid>
                <a:gridCol w="2011680"/>
                <a:gridCol w="822960"/>
                <a:gridCol w="1097280"/>
                <a:gridCol w="1097280"/>
                <a:gridCol w="1097280"/>
                <a:gridCol w="1097280"/>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Total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Sem água canalizada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pct_agua_so_terreno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pct_agua_nao_encanada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pct_agua_inad</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Gonçalo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Duque de Caxias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Luís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Nova Iguaçu</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Belém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Rio de Janeiro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Recife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Manaus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Macaé</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José de Ribamar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Fortaleza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Ananindeua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Brasília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Guarujá</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Maceió</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5644642"/>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 uma coluna por indicador, com o número de setores marcados; a coluna total soma todas as marcações.</a:t>
            </a:r>
            <a:endParaRPr lang="en-US" sz="1250" dirty="0"/>
          </a:p>
        </p:txBody>
      </p:sp>
      <p:sp>
        <p:nvSpPr>
          <p:cNvPr id="8" name="Shape 5"/>
          <p:cNvSpPr/>
          <p:nvPr/>
        </p:nvSpPr>
        <p:spPr>
          <a:xfrm>
            <a:off x="8549640" y="2575560"/>
            <a:ext cx="822960" cy="0"/>
          </a:xfrm>
          <a:prstGeom prst="line">
            <a:avLst/>
          </a:prstGeom>
          <a:noFill/>
          <a:ln w="15875">
            <a:solidFill>
              <a:srgbClr val="8C2F27"/>
            </a:solidFill>
            <a:prstDash val="solid"/>
          </a:ln>
        </p:spPr>
      </p:sp>
      <p:sp>
        <p:nvSpPr>
          <p:cNvPr id="9" name="Text 6"/>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município com mais marcações é São Gonçalo, com 504 no total.</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T09 · tabelas/T09_extremos_por_municipio.csv  ·  Bloco 5. Extremos</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setores mais distantes da mediana, indicador por indicador</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49440" cy="914400"/>
        </p:xfrm>
        <a:graphic>
          <a:graphicData uri="http://schemas.openxmlformats.org/drawingml/2006/table">
            <a:tbl>
              <a:tblPr/>
              <a:tblGrid>
                <a:gridCol w="1828800"/>
                <a:gridCol w="1645920"/>
                <a:gridCol w="1554480"/>
                <a:gridCol w="91440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global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Manaus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130260305100279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Portel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150580905000077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Manaus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130260305100279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229450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Até dez setores por indicador, os mais distantes da mediana entre os marcados como extremo: código do setor, município, valor e mediana global.</a:t>
            </a:r>
            <a:endParaRPr lang="en-US" sz="1250" dirty="0"/>
          </a:p>
        </p:txBody>
      </p:sp>
      <p:sp>
        <p:nvSpPr>
          <p:cNvPr id="8" name="Shape 5"/>
          <p:cNvSpPr/>
          <p:nvPr/>
        </p:nvSpPr>
        <p:spPr>
          <a:xfrm>
            <a:off x="8549640" y="2785110"/>
            <a:ext cx="822960" cy="0"/>
          </a:xfrm>
          <a:prstGeom prst="line">
            <a:avLst/>
          </a:prstGeom>
          <a:noFill/>
          <a:ln w="15875">
            <a:solidFill>
              <a:srgbClr val="8C2F27"/>
            </a:solidFill>
            <a:prstDash val="solid"/>
          </a:ln>
        </p:spPr>
      </p:sp>
      <p:sp>
        <p:nvSpPr>
          <p:cNvPr id="9" name="Text 6"/>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topo da lista de Sem água canalizada está um setor de Manaus, com valor 1,0000.</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T10 · tabelas/T10_extremos_lista.csv  ·  Bloco 5. Extremos</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proporção de extremos varia muito de um indicador para outro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B2_agua/figuras/F16_extremos_por_indicador.png">    </p:cNvPr>
          <p:cNvPicPr>
            <a:picLocks noChangeAspect="1"/>
          </p:cNvPicPr>
          <p:nvPr/>
        </p:nvPicPr>
        <p:blipFill>
          <a:blip r:embed="rId1"/>
          <a:stretch>
            <a:fillRect/>
          </a:stretch>
        </p:blipFill>
        <p:spPr>
          <a:xfrm>
            <a:off x="777240" y="1243584"/>
            <a:ext cx="7452360" cy="2150464"/>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barra por indicador, com o percentual de setores marcados; a cor indica o critério (petróleo: Tukey; cinza: inflação de zeros; argila: renda).</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barra mais longa é a de Sem água canalizada (2,8%).</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F16 · figuras/F16_extremos_por_indicador.png  ·  Bloco 5. Extremos</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23</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6</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Correlações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Que indicadores andam juntos?</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T12 · T13 · T14 · F17 · F31 · F32 · F18</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24</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Sem água canalizada e Água só no terreno formam o par mais correlacionado (ρ = 0,8253)</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2359152" cy="914400"/>
        </p:xfrm>
        <a:graphic>
          <a:graphicData uri="http://schemas.openxmlformats.org/drawingml/2006/table">
            <a:tbl>
              <a:tblPr/>
              <a:tblGrid>
                <a:gridCol w="1554480"/>
                <a:gridCol w="804672"/>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Componentes do índice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Sem água canalizada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1948942"/>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correlação de Spearman: cada célula é a correlação entre o indicador da linha e o da coluna, de −1 a 1.</a:t>
            </a:r>
            <a:endParaRPr lang="en-US" sz="1250" dirty="0"/>
          </a:p>
        </p:txBody>
      </p:sp>
      <p:sp>
        <p:nvSpPr>
          <p:cNvPr id="8" name="Shape 5"/>
          <p:cNvSpPr/>
          <p:nvPr/>
        </p:nvSpPr>
        <p:spPr>
          <a:xfrm>
            <a:off x="8549640" y="2575560"/>
            <a:ext cx="822960" cy="0"/>
          </a:xfrm>
          <a:prstGeom prst="line">
            <a:avLst/>
          </a:prstGeom>
          <a:noFill/>
          <a:ln w="15875">
            <a:solidFill>
              <a:srgbClr val="8C2F27"/>
            </a:solidFill>
            <a:prstDash val="solid"/>
          </a:ln>
        </p:spPr>
      </p:sp>
      <p:sp>
        <p:nvSpPr>
          <p:cNvPr id="9" name="Text 6"/>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correlação em módulo é entre Sem água canalizada e Água só no terreno (ρ = 0,8253).</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T12 · tabelas/T12_correlacao_spearman.csv  ·  Bloco 6. Correlações</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25</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Na correlação linear, o par mais forte é Sem água canalizada × Água só no terreno (r = 0,8695)</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2359152" cy="914400"/>
        </p:xfrm>
        <a:graphic>
          <a:graphicData uri="http://schemas.openxmlformats.org/drawingml/2006/table">
            <a:tbl>
              <a:tblPr/>
              <a:tblGrid>
                <a:gridCol w="1554480"/>
                <a:gridCol w="804672"/>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Componentes do índice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Sem água canalizada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1948942"/>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correlação de Pearson, com a mesma leitura da de Spearman.</a:t>
            </a:r>
            <a:endParaRPr lang="en-US" sz="1250" dirty="0"/>
          </a:p>
        </p:txBody>
      </p:sp>
      <p:sp>
        <p:nvSpPr>
          <p:cNvPr id="8" name="Shape 5"/>
          <p:cNvSpPr/>
          <p:nvPr/>
        </p:nvSpPr>
        <p:spPr>
          <a:xfrm>
            <a:off x="8549640" y="2366010"/>
            <a:ext cx="822960" cy="0"/>
          </a:xfrm>
          <a:prstGeom prst="line">
            <a:avLst/>
          </a:prstGeom>
          <a:noFill/>
          <a:ln w="15875">
            <a:solidFill>
              <a:srgbClr val="8C2F27"/>
            </a:solidFill>
            <a:prstDash val="solid"/>
          </a:ln>
        </p:spPr>
      </p:sp>
      <p:sp>
        <p:nvSpPr>
          <p:cNvPr id="9" name="Text 6"/>
          <p:cNvSpPr/>
          <p:nvPr/>
        </p:nvSpPr>
        <p:spPr>
          <a:xfrm>
            <a:off x="8549640" y="24208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correlação de Pearson em módulo é entre Sem água canalizada e Água só no terreno (r = 0,8695).</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T13 · tabelas/T13_correlacao_pearson.csv  ·  Bloco 6. Correlações</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O par mais redundante é Sem água canalizada × Água só no terreno (ρ = 0,8253)</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49440" cy="914400"/>
        </p:xfrm>
        <a:graphic>
          <a:graphicData uri="http://schemas.openxmlformats.org/drawingml/2006/table">
            <a:tbl>
              <a:tblPr/>
              <a:tblGrid>
                <a:gridCol w="2377440"/>
                <a:gridCol w="2377440"/>
                <a:gridCol w="1097280"/>
                <a:gridCol w="109728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Spearman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Pearson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0,8253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0,8695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Os pares de indicadores com correlação de pelo menos 0,80 em módulo, por Spearman ou por Pearson, do mais forte para o mais fraco.</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topo: Sem água canalizada × Água só no terreno, com Spearman 0,8253 e Pearson 0,8695.</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T14 · tabelas/T14_pares_acima_de_080.csv  ·  Bloco 6. Correlações</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indicadores formam grupos de correlação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B2_agua/figuras/F17_mapa_spearman.png">    </p:cNvPr>
          <p:cNvPicPr>
            <a:picLocks noChangeAspect="1"/>
          </p:cNvPicPr>
          <p:nvPr/>
        </p:nvPicPr>
        <p:blipFill>
          <a:blip r:embed="rId1"/>
          <a:stretch>
            <a:fillRect/>
          </a:stretch>
        </p:blipFill>
        <p:spPr>
          <a:xfrm>
            <a:off x="1640431" y="1243584"/>
            <a:ext cx="5725979" cy="4791456"/>
          </a:xfrm>
          <a:prstGeom prst="rect">
            <a:avLst/>
          </a:prstGeom>
        </p:spPr>
      </p:pic>
      <p:sp>
        <p:nvSpPr>
          <p:cNvPr id="6" name="Text 3"/>
          <p:cNvSpPr/>
          <p:nvPr/>
        </p:nvSpPr>
        <p:spPr>
          <a:xfrm>
            <a:off x="8549640" y="1289304"/>
            <a:ext cx="2862072" cy="25336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correlação de Spearman entre todos os indicadores, reordenados pelo agrupamento do dendrograma. Cada célula do triângulo inferior traz o valor de ρ (−1 a 1); argila é correlação positiva, petróleo negativa, branco é perto de zero. Com 31 indicadores, os valores só ficam legíveis com a figura ampliada; as matrizes por dimensão vêm a seguir.</a:t>
            </a:r>
            <a:endParaRPr lang="en-US" sz="1250" dirty="0"/>
          </a:p>
        </p:txBody>
      </p:sp>
      <p:sp>
        <p:nvSpPr>
          <p:cNvPr id="7" name="Shape 4"/>
          <p:cNvSpPr/>
          <p:nvPr/>
        </p:nvSpPr>
        <p:spPr>
          <a:xfrm>
            <a:off x="8549640" y="4042410"/>
            <a:ext cx="822960" cy="0"/>
          </a:xfrm>
          <a:prstGeom prst="line">
            <a:avLst/>
          </a:prstGeom>
          <a:noFill/>
          <a:ln w="15875">
            <a:solidFill>
              <a:srgbClr val="8C2F27"/>
            </a:solidFill>
            <a:prstDash val="solid"/>
          </a:ln>
        </p:spPr>
      </p:sp>
      <p:sp>
        <p:nvSpPr>
          <p:cNvPr id="8" name="Text 5"/>
          <p:cNvSpPr/>
          <p:nvPr/>
        </p:nvSpPr>
        <p:spPr>
          <a:xfrm>
            <a:off x="8549640" y="40972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par mais forte é Sem água canalizada × Água só no terreno (ρ = 0,8253).</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F17 · figuras/F17_mapa_spearman.png  ·  Bloco 6. Correlações</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28</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Entre as variáveis das demandas e os componentes do índice, o par mais forte é — × — (ρ = —)</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B2_agua/figuras/F31_mapa_spearman_componentes.png">    </p:cNvPr>
          <p:cNvPicPr>
            <a:picLocks noChangeAspect="1"/>
          </p:cNvPicPr>
          <p:nvPr/>
        </p:nvPicPr>
        <p:blipFill>
          <a:blip r:embed="rId1"/>
          <a:stretch>
            <a:fillRect/>
          </a:stretch>
        </p:blipFill>
        <p:spPr>
          <a:xfrm>
            <a:off x="1640431" y="1243584"/>
            <a:ext cx="5725979" cy="4791456"/>
          </a:xfrm>
          <a:prstGeom prst="rect">
            <a:avLst/>
          </a:prstGeom>
        </p:spPr>
      </p:pic>
      <p:sp>
        <p:nvSpPr>
          <p:cNvPr id="6" name="Text 3"/>
          <p:cNvSpPr/>
          <p:nvPr/>
        </p:nvSpPr>
        <p:spPr>
          <a:xfrm>
            <a:off x="8549640" y="1289304"/>
            <a:ext cx="2862072" cy="16954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Spearman só com os componentes do índice (acima e à esquerda da linha) e as variáveis das demandas de setembro (abaixo e à direita). Cada célula traz o ρ; argila é positiva, petróleo negativa.</a:t>
            </a:r>
            <a:endParaRPr lang="en-US" sz="1250" dirty="0"/>
          </a:p>
        </p:txBody>
      </p:sp>
      <p:sp>
        <p:nvSpPr>
          <p:cNvPr id="7" name="Shape 4"/>
          <p:cNvSpPr/>
          <p:nvPr/>
        </p:nvSpPr>
        <p:spPr>
          <a:xfrm>
            <a:off x="8549640" y="3204210"/>
            <a:ext cx="822960" cy="0"/>
          </a:xfrm>
          <a:prstGeom prst="line">
            <a:avLst/>
          </a:prstGeom>
          <a:noFill/>
          <a:ln w="15875">
            <a:solidFill>
              <a:srgbClr val="8C2F27"/>
            </a:solidFill>
            <a:prstDash val="solid"/>
          </a:ln>
        </p:spPr>
      </p:sp>
      <p:sp>
        <p:nvSpPr>
          <p:cNvPr id="8" name="Text 5"/>
          <p:cNvSpPr/>
          <p:nvPr/>
        </p:nvSpPr>
        <p:spPr>
          <a:xfrm>
            <a:off x="8549640" y="325907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uma variável nova e um componente de outra família, o par mais forte é — × — (ρ = —). Pares de variantes da mesma coisa (como banheiro graduado e sem banheiro) ficam de fora do destaque.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F31 · figuras/F31_mapa_spearman_componentes.png  ·  Bloco 6. Correlações</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29</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Saneamento: o par mais correlacionado é Sem água canalizada × Água só no terreno (ρ = 0,8253)</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B2_agua/figuras/F32_mapa_spearman_saneamento.png">    </p:cNvPr>
          <p:cNvPicPr>
            <a:picLocks noChangeAspect="1"/>
          </p:cNvPicPr>
          <p:nvPr/>
        </p:nvPicPr>
        <p:blipFill>
          <a:blip r:embed="rId1"/>
          <a:stretch>
            <a:fillRect/>
          </a:stretch>
        </p:blipFill>
        <p:spPr>
          <a:xfrm>
            <a:off x="1640431" y="1243584"/>
            <a:ext cx="5725979"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Spearman só com os indicadores da dimensão Saneamento; cada célula traz o ρ (−1 a 1). Argila é correlação positiva, petróleo negativa.</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Na dimensão Saneamento, o par mais forte é Sem água canalizada × Água só no terreno (ρ = 0,8253).</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F32 · figuras/F32_mapa_spearman_saneamento.png  ·  Bloco 6. Correlações</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 dendrograma junta os indicadores que medem coisas parecidas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B2_agua/figuras/F18_dendrograma.png">    </p:cNvPr>
          <p:cNvPicPr>
            <a:picLocks noChangeAspect="1"/>
          </p:cNvPicPr>
          <p:nvPr/>
        </p:nvPicPr>
        <p:blipFill>
          <a:blip r:embed="rId1"/>
          <a:stretch>
            <a:fillRect/>
          </a:stretch>
        </p:blipFill>
        <p:spPr>
          <a:xfrm>
            <a:off x="777240" y="1243584"/>
            <a:ext cx="7452360" cy="2215043"/>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indicador é uma folha à esquerda; as linhas os unem do mais parecido para o menos. Quanto mais à esquerda a união, mais correlacionados os indicadores.</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par mais próximo é Sem água canalizada × Água só no terreno (ρ = 0,8253).</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F18 · figuras/F18_dendrograma.png  ·  Bloco 6. Correlações</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31</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7</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Favelas e comunidades urbanas (FCU)</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Cada indicador, sozinho, separa os setores de favela dos demais?</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T15 · F19</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Sem água canalizada é o indicador que mais separa as favelas (AUC 0,6484)</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858000" cy="914400"/>
        </p:xfrm>
        <a:graphic>
          <a:graphicData uri="http://schemas.openxmlformats.org/drawingml/2006/table">
            <a:tbl>
              <a:tblPr/>
              <a:tblGrid>
                <a:gridCol w="2011680"/>
                <a:gridCol w="1051560"/>
                <a:gridCol w="1051560"/>
                <a:gridCol w="1005840"/>
                <a:gridCol w="822960"/>
                <a:gridCol w="91440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fora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Diferença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AUC</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0,6484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0,5993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0,5711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0,5424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16.179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setores de FCU e fora, a mediana em cada grupo, a diferença e a AUC do indicador sozinho.</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Sem água canalizada tem AUC 0,6484 (mediana 0,0036 em FCU e 0,0000 fora); a menor AUC é a de Água não chega (0,5424).</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T15 · tabelas/T15_fcu_por_indicador.csv  ·  Bloco 7. Favelas e comunidades urbanas (FCU)</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indicadores separam as favelas com força muito diferente</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B2_agua/figuras/F19_fcu_por_indicador.png">    </p:cNvPr>
          <p:cNvPicPr>
            <a:picLocks noChangeAspect="1"/>
          </p:cNvPicPr>
          <p:nvPr/>
        </p:nvPicPr>
        <p:blipFill>
          <a:blip r:embed="rId1"/>
          <a:stretch>
            <a:fillRect/>
          </a:stretch>
        </p:blipFill>
        <p:spPr>
          <a:xfrm>
            <a:off x="777240" y="1243584"/>
            <a:ext cx="7452360" cy="1495869"/>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À esquerda, a AUC de cada indicador (barras a partir de 0,5; argila acima, petróleo abaixo). À direita, as medianas em FCU e fora, para os indicadores em proporção.</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AUC é a de Sem água canalizada (0,6484); a menor, a de Água não chega (0,5424).</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F19 · figuras/F19_fcu_por_indicador.png  ·  Bloco 7. Favelas e comunidades urbanas (FCU)</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34</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9</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Adequação fatorial</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Os componentes do índice se prestam a uma análise fatorial, e quantos fatores ela sustenta?</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T19 · T20 · T21 · T22 · F22 · F23</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KMO de 0,8019: os componentes se prestam à análise fatorial</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5486400" cy="914400"/>
        </p:xfrm>
        <a:graphic>
          <a:graphicData uri="http://schemas.openxmlformats.org/drawingml/2006/table">
            <a:tbl>
              <a:tblPr/>
              <a:tblGrid>
                <a:gridCol w="3840480"/>
                <a:gridCol w="164592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setores (n)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variáveis (p)</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KMO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0,8019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Bartlett qui-quadrado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184.719,2803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Bartlett graus de liberdade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determinante de 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fatores pelo critério de Kaiser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fatores pela análise paralela de Horn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variância explicada por 2 fatores (%)</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61,4166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As medidas de adequação da matriz de correlação dos componentes do índice, na amostra do índice.</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KMO 0,8019, com 73.854 setores; Kaiser retém 2 fatores e Horn, 2; 2 fatores explicam 61,4% da variância.</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T19 · tabelas/T19_adequacao_fatorial.csv  ·  Bloco 9. Adequação fatorial</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Renda (invertida) tem a menor adequação individual (MSA 0,7267)</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03720" cy="914400"/>
        </p:xfrm>
        <a:graphic>
          <a:graphicData uri="http://schemas.openxmlformats.org/drawingml/2006/table">
            <a:tbl>
              <a:tblPr/>
              <a:tblGrid>
                <a:gridCol w="1737360"/>
                <a:gridCol w="822960"/>
                <a:gridCol w="868680"/>
                <a:gridCol w="868680"/>
                <a:gridCol w="868680"/>
                <a:gridCol w="868680"/>
                <a:gridCol w="86868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Componente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MSA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Comunal.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Padrão F1</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Padrão F2</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Estrut. F1</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Estrut. F2</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0,8494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0,6113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0,4424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0,6913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0,8956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0,4084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0,4780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0,2815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0,5833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0,4604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0,8957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0,3957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0,6682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-0,1416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0,6152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0,7264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0,8749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0,8501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(invertida)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0,7267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0,8029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0,9139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0,8948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0,2911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0,7912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0,7375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0,8680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0,8585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0,2996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0,8012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0,7112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0,8977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0,8225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componente: MSA, comunalidades e as cargas em cada fator, sem rotação, na Varimax e na promax (padrão e estrutura).</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Menor MSA: Renda (invertida) (0,7267). Menor comunalidade (promax): Razão de moradores (0,3957).</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T20 · tabelas/T20_variaveis_cargas.csv  ·  Bloco 9. Adequação fatorial</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 segundo autovalor (1,0582) fica acima da linha de Horn (1,0155)</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5486400" cy="914400"/>
        </p:xfrm>
        <a:graphic>
          <a:graphicData uri="http://schemas.openxmlformats.org/drawingml/2006/table">
            <a:tbl>
              <a:tblPr/>
              <a:tblGrid>
                <a:gridCol w="1097280"/>
                <a:gridCol w="1097280"/>
                <a:gridCol w="1097280"/>
                <a:gridCol w="1097280"/>
                <a:gridCol w="109728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Componente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Autovalor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Horn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variância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acumulada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3,2410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0,7409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0,6246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0,3685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0,9848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0,9731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 componente por linha: autovalor, valor de referência da análise paralela de Horn e variância explicada, simples e acumulada.</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Primeiro autovalor 3,2410, segundo 1,0582 (Horn: 1,0155); os dois primeiros explicam 61,4% da variância.</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T21 · tabelas/T21_autovalores.csv  ·  Bloco 9. Adequação fatorial</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dois fatores da promax se correlacionam em 0,3744</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3291840" cy="914400"/>
        </p:xfrm>
        <a:graphic>
          <a:graphicData uri="http://schemas.openxmlformats.org/drawingml/2006/table">
            <a:tbl>
              <a:tblPr/>
              <a:tblGrid>
                <a:gridCol w="1097280"/>
                <a:gridCol w="1097280"/>
                <a:gridCol w="109728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Fator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F1</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F2</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0,3744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0,3744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Φ: a correlação entre os fatores depois da rotação promax.</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correlação entre F1 e F2 é 0,3744.</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T22 · tabelas/T22_phi.csv  ·  Bloco 9. Adequação fatorial</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Gráfico de sedimentação: dois componentes acima do acaso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B2_agua/figuras/F22_sedimentacao_horn.png">    </p:cNvPr>
          <p:cNvPicPr>
            <a:picLocks noChangeAspect="1"/>
          </p:cNvPicPr>
          <p:nvPr/>
        </p:nvPicPr>
        <p:blipFill>
          <a:blip r:embed="rId1"/>
          <a:stretch>
            <a:fillRect/>
          </a:stretch>
        </p:blipFill>
        <p:spPr>
          <a:xfrm>
            <a:off x="777240" y="1243584"/>
            <a:ext cx="7452360" cy="449429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Linha cheia: autovalores em ordem decrescente. Tracejada: o que dados aleatórios produziriam (Horn). Pontilhada: o critério de Kaiser (autovalor 1).</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segundo autovalor é 1,0582, contra 1,0155 da linha de Horn.</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F22 · figuras/F22_sedimentacao_horn.png  ·  Bloco 9. Adequação fatorial</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Renda (invertida) define F1 e Banheiro graduado define F2</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B2_agua/figuras/F23_mapa_cargas.png">    </p:cNvPr>
          <p:cNvPicPr>
            <a:picLocks noChangeAspect="1"/>
          </p:cNvPicPr>
          <p:nvPr/>
        </p:nvPicPr>
        <p:blipFill>
          <a:blip r:embed="rId1"/>
          <a:stretch>
            <a:fillRect/>
          </a:stretch>
        </p:blipFill>
        <p:spPr>
          <a:xfrm>
            <a:off x="1756471" y="1243584"/>
            <a:ext cx="5493898" cy="4791456"/>
          </a:xfrm>
          <a:prstGeom prst="rect">
            <a:avLst/>
          </a:prstGeom>
        </p:spPr>
      </p:pic>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seta é um componente; a ponta fica nas cargas padrão da promax em F1 (horizontal) e F2 (vertical). O círculo marca carga 1.</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Maior carga em F1: Renda (invertida) (0,9139); em F2: Banheiro graduado (0,8977).</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F23 · figuras/F23_mapa_cargas.png  ·  Bloco 9. Adequação fatorial</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41</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10</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O índice da versão</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Como fica o índice, e ele separa os setores de favela?</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T23 · T24 · T25 · T26 · T27 · F24 · F25 · T34</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Banheiro graduado tem o maior peso no índice (27,3%)</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178040" cy="914400"/>
        </p:xfrm>
        <a:graphic>
          <a:graphicData uri="http://schemas.openxmlformats.org/drawingml/2006/table">
            <a:tbl>
              <a:tblPr/>
              <a:tblGrid>
                <a:gridCol w="1828800"/>
                <a:gridCol w="2011680"/>
                <a:gridCol w="868680"/>
                <a:gridCol w="1280160"/>
                <a:gridCol w="1188720"/>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Componente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Dimensão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Carga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da dimensão (%)</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Peso no índice (%)</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F2 (saneamento)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0,6113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F1 (socioeconômica)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0,4780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F1 (socioeconômica)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0,6682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F1 (socioeconômica)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0,8749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(invertida)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F1 (socioeconômica)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0,9139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F1 (socioeconômica)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0,8680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F2 (saneamento)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0,8977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componente: a dimensão em que ele carrega mais, a carga, o peso da dimensão e o peso final no índice (em %).</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maior peso é o de Banheiro graduado (27,3%); a dimensão F1 (socioeconômica) pesa 60,0%.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T23 · tabelas/T23_pesos.csv  ·  Bloco 10. O índice da versão</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 índice tem mediana 0,2981 e P90 0,3704, em 73.853 setores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537960" cy="914400"/>
        </p:xfrm>
        <a:graphic>
          <a:graphicData uri="http://schemas.openxmlformats.org/drawingml/2006/table">
            <a:tbl>
              <a:tblPr/>
              <a:tblGrid>
                <a:gridCol w="1463040"/>
                <a:gridCol w="914400"/>
                <a:gridCol w="822960"/>
                <a:gridCol w="822960"/>
                <a:gridCol w="822960"/>
                <a:gridCol w="868680"/>
                <a:gridCol w="82296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Escopo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Média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DP</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P10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Total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0,2956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0,2981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0,3704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Centro-Oeste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0,3023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0,3093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0,3712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Nordeste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0,3313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0,3404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0,4018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0,3479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0,2591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0,3488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0,4254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Sudeste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45.337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0,2847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0,2891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0,3499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4.661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0,2522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0,3221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Descritivas do índice para o total e por região. Como o índice é normalizado dentro de cada município, todo município tem mínimo 0 e máximo 1.</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73.853 setores; mediana 0,2981; percentil 90 0,3704.</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T24 · tabelas/T24_indice_descritivas.csv  ·  Bloco 10. O índice da versão</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Pela regra do IVS-BH, 4,4% dos setores ficam em vulnerabilidade muito elevada</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4937760" cy="914400"/>
        </p:xfrm>
        <a:graphic>
          <a:graphicData uri="http://schemas.openxmlformats.org/drawingml/2006/table">
            <a:tbl>
              <a:tblPr/>
              <a:tblGrid>
                <a:gridCol w="1280160"/>
                <a:gridCol w="1645920"/>
                <a:gridCol w="1097280"/>
                <a:gridCol w="91440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Regra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Faixa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IVS-BH</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indefinida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IVS-BH</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baixo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20.713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IVS-BH</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médio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29.752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IVS-BH</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elevado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20.125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IVS-BH</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muito elevado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Quartis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indefinida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Quartis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baixo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18.441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Quartis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médio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18.467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Quartis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elevado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18.459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Quartis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muito elevado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18.486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Quantos setores ficam em cada faixa, pelas duas regras: a do IVS-BH (média e desvio-padrão do município) e a dos quartis do município.</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IVS-BH: 28,0% baixo e 4,4% muito elevado. Quartis: 25,0% muito elevado.</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T25 · tabelas/T25_faixas.csv  ·  Bloco 10. O índice da versão</a:t>
            </a:r>
            <a:endParaRPr lang="en-US" sz="9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AUC municipal de 0,8626: o índice separa as favelas — versão elegível</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675120" cy="914400"/>
        </p:xfrm>
        <a:graphic>
          <a:graphicData uri="http://schemas.openxmlformats.org/drawingml/2006/table">
            <a:tbl>
              <a:tblPr/>
              <a:tblGrid>
                <a:gridCol w="3200400"/>
                <a:gridCol w="1097280"/>
                <a:gridCol w="23774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Detalhe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AUC global contra FCU</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0,8517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AUC municipal (mediana)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0,8626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municípios na AUC municipal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ao menos 30 setores de FCU e fora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peso da dimensão F1 (socioeconômica) (%)</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KMO ≥ 0,70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sim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MSA ≥ 0,50 em todas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sim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comunalidade mínima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0,3957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comunalidade ≥ 0,30 em todas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sim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maior carga mínima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0,4780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carga ≥ 0,40 em todas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sim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elegível pelos critérios do NB05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sim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AUC global e municipal, peso da dimensão socioeconômica e os critérios de elegibilidade do NB05, um por linha (1 = atende).</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AUC global 0,8517; mediana da AUC municipal 0,8626, em 31 municípios. Pelos critérios do NB05, a versão é elegível.</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T26 · tabelas/T26_auc_e_elegibilidade.csv  ·  Bloco 10. O índice da versão</a:t>
            </a:r>
            <a:endParaRPr lang="en-US" sz="9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A AUC vai de 0,6855 (São José de Ribamar) a 0,9580 (Campinas) entre os municípios</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5669280" cy="914400"/>
        </p:xfrm>
        <a:graphic>
          <a:graphicData uri="http://schemas.openxmlformats.org/drawingml/2006/table">
            <a:tbl>
              <a:tblPr/>
              <a:tblGrid>
                <a:gridCol w="2560320"/>
                <a:gridCol w="914400"/>
                <a:gridCol w="1097280"/>
                <a:gridCol w="109728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 (entra na 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AUC</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fora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Campinas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0,9580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Guarujá</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0,9526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Paulo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0,9510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16.325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Mauá</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0,9465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Guarulhos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0,9447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Bernardo do Campo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0,9291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Belo Horizonte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0,9259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Porto Alegre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0,9224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Brasília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Teresina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0,9083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Curitiba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0,9073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Ananindeua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0,8921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Maceió</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0,8821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Luís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0,8819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Rio de Janeiro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0,8742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7.284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Fortaleza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0,8626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AUC, setores de FCU (n1) e fora (n0) e se o município entra na mediana.</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os municípios que entram na mediana, a maior AUC é a de Campinas (0,9580) e a menor, a de São José de Ribamar (0,6855).</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T27 · tabelas/T27_auc_por_municipio.csv  ·  Bloco 10. O índice da versão  ·  parte 1 de 2</a:t>
            </a:r>
            <a:endParaRPr lang="en-US" sz="9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A AUC vai de 0,6855 (São José de Ribamar) a 0,9580 (Campinas) entre os municípios</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5669280" cy="914400"/>
        </p:xfrm>
        <a:graphic>
          <a:graphicData uri="http://schemas.openxmlformats.org/drawingml/2006/table">
            <a:tbl>
              <a:tblPr/>
              <a:tblGrid>
                <a:gridCol w="2560320"/>
                <a:gridCol w="914400"/>
                <a:gridCol w="1097280"/>
                <a:gridCol w="109728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 (entra na 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AUC</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fora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José dos Pinhais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0,8539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Goiânia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0,8484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Recife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0,8476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Nova Iguaçu</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0,8475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Belém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0,8466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Macaé</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0,8403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Manaus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0,8068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Feira de Santana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0,8038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Camaragibe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0,8030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Salvador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Cachoeiro de Itapemirim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Duque de Caxias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Natal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Gonçalo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0,7755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José de Ribamar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0,6855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525106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AUC, setores de FCU (n1) e fora (n0) e se o município entra na mediana.</a:t>
            </a:r>
            <a:endParaRPr lang="en-US" sz="1250" dirty="0"/>
          </a:p>
        </p:txBody>
      </p:sp>
      <p:sp>
        <p:nvSpPr>
          <p:cNvPr id="8" name="Shape 5"/>
          <p:cNvSpPr/>
          <p:nvPr/>
        </p:nvSpPr>
        <p:spPr>
          <a:xfrm>
            <a:off x="8549640" y="2366010"/>
            <a:ext cx="822960" cy="0"/>
          </a:xfrm>
          <a:prstGeom prst="line">
            <a:avLst/>
          </a:prstGeom>
          <a:noFill/>
          <a:ln w="15875">
            <a:solidFill>
              <a:srgbClr val="8C2F27"/>
            </a:solidFill>
            <a:prstDash val="solid"/>
          </a:ln>
        </p:spPr>
      </p:sp>
      <p:sp>
        <p:nvSpPr>
          <p:cNvPr id="9" name="Text 6"/>
          <p:cNvSpPr/>
          <p:nvPr/>
        </p:nvSpPr>
        <p:spPr>
          <a:xfrm>
            <a:off x="8549640" y="24208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os municípios que entram na mediana, a maior AUC é a de Campinas (0,9580) e a menor, a de São José de Ribamar (0,6855).</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T27 · tabelas/T27_auc_por_municipio.csv  ·  Bloco 10. O índice da versão  ·  parte 2 de 2</a:t>
            </a:r>
            <a:endParaRPr lang="en-US" sz="9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distribuição do índice e as faixas do IVS-BH</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B2_agua/figuras/F24_histograma_por_faixa.png">    </p:cNvPr>
          <p:cNvPicPr>
            <a:picLocks noChangeAspect="1"/>
          </p:cNvPicPr>
          <p:nvPr/>
        </p:nvPicPr>
        <p:blipFill>
          <a:blip r:embed="rId1"/>
          <a:stretch>
            <a:fillRect/>
          </a:stretch>
        </p:blipFill>
        <p:spPr>
          <a:xfrm>
            <a:off x="777240" y="1243584"/>
            <a:ext cx="7452360" cy="4254493"/>
          </a:xfrm>
          <a:prstGeom prst="rect">
            <a:avLst/>
          </a:prstGeom>
        </p:spPr>
      </p:pic>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Histograma do índice, com cada barra dividida pela faixa dos setores (regra do IVS-BH).</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28,0% dos setores ficam em baixo e 4,4% em muito elevado.</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F24 · figuras/F24_histograma_por_faixa.png  ·  Bloco 10. O índice da versão</a:t>
            </a:r>
            <a:endParaRPr lang="en-US" sz="9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Curva ROC do índice contra as favelas (AUC global 0,8517)</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B2_agua/figuras/F25_curva_roc.png">    </p:cNvPr>
          <p:cNvPicPr>
            <a:picLocks noChangeAspect="1"/>
          </p:cNvPicPr>
          <p:nvPr/>
        </p:nvPicPr>
        <p:blipFill>
          <a:blip r:embed="rId1"/>
          <a:stretch>
            <a:fillRect/>
          </a:stretch>
        </p:blipFill>
        <p:spPr>
          <a:xfrm>
            <a:off x="2074602" y="1243584"/>
            <a:ext cx="4857636"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ponto da curva é um corte do índice: no eixo vertical, a proporção de setores de FCU acima do corte; no horizontal, a dos setores de fora. A diagonal é o acaso.</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Área sob a curva: 0,8517 (global); a mediana municipal é 0,8626.</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F25 · figuras/F25_curva_roc.png  ·  Bloco 10. O índice da versão</a:t>
            </a:r>
            <a:endParaRPr lang="en-US" sz="9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50</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Com água inadequada (referência), o índice fica com 73.878 setores e ρ = 0,9503 com o valor-padrão</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452360" cy="914400"/>
        </p:xfrm>
        <a:graphic>
          <a:graphicData uri="http://schemas.openxmlformats.org/drawingml/2006/table">
            <a:tbl>
              <a:tblPr/>
              <a:tblGrid>
                <a:gridCol w="1636935"/>
                <a:gridCol w="775390"/>
                <a:gridCol w="775390"/>
                <a:gridCol w="646158"/>
                <a:gridCol w="732313"/>
                <a:gridCol w="689236"/>
                <a:gridCol w="646158"/>
                <a:gridCol w="775390"/>
                <a:gridCol w="775390"/>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Recorte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Índice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KMO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AUC global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AUC mun.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Elegível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ρ com o padrão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muda faixa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valor-padrão desta versão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0,8019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0,8517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0,8626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 ao domicílio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68.001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0,8574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0,8712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62.843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0,7960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0,8511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0,8774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 (referência)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0,8309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0,9503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6954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valor do parâmetro exploratório: setores no recorte e no índice, KMO, AUC global e municipal, elegibilidade (1 = elegível), correlação de postos com o índice do valor-padrão e % de setores que mudam de faixa.</a:t>
            </a:r>
            <a:endParaRPr lang="en-US" sz="1250" dirty="0"/>
          </a:p>
        </p:txBody>
      </p:sp>
      <p:sp>
        <p:nvSpPr>
          <p:cNvPr id="7" name="Shape 4"/>
          <p:cNvSpPr/>
          <p:nvPr/>
        </p:nvSpPr>
        <p:spPr>
          <a:xfrm>
            <a:off x="8549640" y="3204210"/>
            <a:ext cx="822960" cy="0"/>
          </a:xfrm>
          <a:prstGeom prst="line">
            <a:avLst/>
          </a:prstGeom>
          <a:noFill/>
          <a:ln w="15875">
            <a:solidFill>
              <a:srgbClr val="8C2F27"/>
            </a:solidFill>
            <a:prstDash val="solid"/>
          </a:ln>
        </p:spPr>
      </p:sp>
      <p:sp>
        <p:nvSpPr>
          <p:cNvPr id="8" name="Text 5"/>
          <p:cNvSpPr/>
          <p:nvPr/>
        </p:nvSpPr>
        <p:spPr>
          <a:xfrm>
            <a:off x="8549640" y="325907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Com água inadequada (referência): 73.878 setores no índice (contra 73.854), AUC municipal 0,8186, ρ = 0,9503 com o valor-padrão e 13,9% dos setores comuns mudando de faixa.</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T34 · tabelas/T34_sensibilidade.csv  ·  Bloco 10. O índice da versão</a:t>
            </a:r>
            <a:endParaRPr lang="en-US" sz="9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51</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13</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Comparação com a referência</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 que esta versão muda em relação à referência proposta do NB05?</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T31 · T32 · T33 · F28 · F29</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correlação de postos com a referência é 0,9503</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5120640" cy="914400"/>
        </p:xfrm>
        <a:graphic>
          <a:graphicData uri="http://schemas.openxmlformats.org/drawingml/2006/table">
            <a:tbl>
              <a:tblPr/>
              <a:tblGrid>
                <a:gridCol w="2560320"/>
                <a:gridCol w="1280160"/>
                <a:gridCol w="128016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Escopo (menores ρ)</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comuns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ρ de Spearman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Total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0,9503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Santa Maria do Oeste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Preta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0,6512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Duque de Caxias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0,6580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Belém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0,7413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Nova Iguaçu</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0,7420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Maceió</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0,7717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Japoatã</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Ananindeua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0,8049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Manaus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0,8246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Vicentinópolis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0,8545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Luís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0,8660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Camaragibe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0,8664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Coroaci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0,8818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Taió</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0,8838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José de Ribamar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0,8869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549744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Correlação de Spearman entre o índice desta versão e o da referência, nos setores que estão nas duas amostras: total e por município.</a:t>
            </a:r>
            <a:endParaRPr lang="en-US" sz="1250" dirty="0"/>
          </a:p>
        </p:txBody>
      </p:sp>
      <p:sp>
        <p:nvSpPr>
          <p:cNvPr id="8" name="Shape 5"/>
          <p:cNvSpPr/>
          <p:nvPr/>
        </p:nvSpPr>
        <p:spPr>
          <a:xfrm>
            <a:off x="8549640" y="2785110"/>
            <a:ext cx="822960" cy="0"/>
          </a:xfrm>
          <a:prstGeom prst="line">
            <a:avLst/>
          </a:prstGeom>
          <a:noFill/>
          <a:ln w="15875">
            <a:solidFill>
              <a:srgbClr val="8C2F27"/>
            </a:solidFill>
            <a:prstDash val="solid"/>
          </a:ln>
        </p:spPr>
      </p:sp>
      <p:sp>
        <p:nvSpPr>
          <p:cNvPr id="9" name="Text 6"/>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Total: ρ = 0,9503. Menor correlação municipal: Santa Maria do Oeste (0,4000).</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T31 · tabelas/T31_spearman_com_referencia.csv  ·  Bloco 13. Comparação com a referência</a:t>
            </a:r>
            <a:endParaRPr lang="en-US" sz="9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maior troca de faixa é de medio para elevado (3.692 setores)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217920" cy="914400"/>
        </p:xfrm>
        <a:graphic>
          <a:graphicData uri="http://schemas.openxmlformats.org/drawingml/2006/table">
            <a:tbl>
              <a:tblPr/>
              <a:tblGrid>
                <a:gridCol w="2194560"/>
                <a:gridCol w="100584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Referência ↓ · versão →</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baixo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médio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elevado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muito elevado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baixo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19.534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médio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26.312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elevado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15.239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muito elevado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linha é um par (faixa na referência, faixa nesta versão), com o número de setores e o percentual do total.</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Fora da diagonal, a maior célula é de medio para elevado, com 3.692 setores.</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T32 · tabelas/T32_matriz_de_faixas.csv  ·  Bloco 13. Comparação com a referência</a:t>
            </a:r>
            <a:endParaRPr lang="en-US" sz="9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13,9% dos setores mudam de faixa em relação à referência</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5943600" cy="914400"/>
        </p:xfrm>
        <a:graphic>
          <a:graphicData uri="http://schemas.openxmlformats.org/drawingml/2006/table">
            <a:tbl>
              <a:tblPr/>
              <a:tblGrid>
                <a:gridCol w="2560320"/>
                <a:gridCol w="1188720"/>
                <a:gridCol w="118872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comuns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Mudam de faixa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que muda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Todos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Santa Maria do Oeste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Duque de Caxias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Japoatã</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Maceió</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Nova Iguaçu</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Belém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Ananindeua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Arara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Luís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Manaus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Portel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Jaqueira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Camaragibe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Ibatiba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Autazes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549744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primeira linha é o total; as demais, os municípios, do mais afetado para o menos: setores comuns, setores que mudam de faixa e o percentual.</a:t>
            </a:r>
            <a:endParaRPr lang="en-US" sz="1250" dirty="0"/>
          </a:p>
        </p:txBody>
      </p:sp>
      <p:sp>
        <p:nvSpPr>
          <p:cNvPr id="8" name="Shape 5"/>
          <p:cNvSpPr/>
          <p:nvPr/>
        </p:nvSpPr>
        <p:spPr>
          <a:xfrm>
            <a:off x="8549640" y="2785110"/>
            <a:ext cx="822960" cy="0"/>
          </a:xfrm>
          <a:prstGeom prst="line">
            <a:avLst/>
          </a:prstGeom>
          <a:noFill/>
          <a:ln w="15875">
            <a:solidFill>
              <a:srgbClr val="8C2F27"/>
            </a:solidFill>
            <a:prstDash val="solid"/>
          </a:ln>
        </p:spPr>
      </p:sp>
      <p:sp>
        <p:nvSpPr>
          <p:cNvPr id="9" name="Text 6"/>
          <p:cNvSpPr/>
          <p:nvPr/>
        </p:nvSpPr>
        <p:spPr>
          <a:xfrm>
            <a:off x="8549640" y="28399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total, 13,9% dos setores mudam de faixa; o município mais afetado é Santa Maria do Oeste (60,0%).</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T33 · tabelas/T33_municipios_que_mudam.csv  ·  Bloco 13. Comparação com a referência</a:t>
            </a:r>
            <a:endParaRPr lang="en-US" sz="9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Matriz de faixas: referência × 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B2_agua/figuras/F28_matriz_de_faixas.png">    </p:cNvPr>
          <p:cNvPicPr>
            <a:picLocks noChangeAspect="1"/>
          </p:cNvPicPr>
          <p:nvPr/>
        </p:nvPicPr>
        <p:blipFill>
          <a:blip r:embed="rId1"/>
          <a:stretch>
            <a:fillRect/>
          </a:stretch>
        </p:blipFill>
        <p:spPr>
          <a:xfrm>
            <a:off x="1719196" y="1243584"/>
            <a:ext cx="5568449" cy="4791456"/>
          </a:xfrm>
          <a:prstGeom prst="rect">
            <a:avLst/>
          </a:prstGeom>
        </p:spPr>
      </p:pic>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Linhas: faixa na referência; colunas: faixa nesta versão; cada célula traz o número de setores.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troca fora da diagonal é de medio para elevado (3.692 setores).</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F28 · figuras/F28_matriz_de_faixas.png  ·  Bloco 13. Comparação com a referência</a:t>
            </a:r>
            <a:endParaRPr lang="en-US" sz="9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municípios mais afetados pela mudança da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B2_agua/figuras/F29_municipios_que_mudam.png">    </p:cNvPr>
          <p:cNvPicPr>
            <a:picLocks noChangeAspect="1"/>
          </p:cNvPicPr>
          <p:nvPr/>
        </p:nvPicPr>
        <p:blipFill>
          <a:blip r:embed="rId1"/>
          <a:stretch>
            <a:fillRect/>
          </a:stretch>
        </p:blipFill>
        <p:spPr>
          <a:xfrm>
            <a:off x="1492467" y="1243584"/>
            <a:ext cx="6021906" cy="4791456"/>
          </a:xfrm>
          <a:prstGeom prst="rect">
            <a:avLst/>
          </a:prstGeom>
        </p:spPr>
      </p:pic>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Os 20 municípios com o maior percentual de setores que mudam de faixa.</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mais afetado é Santa Maria do Oeste (60,0%); no total, 13,9%.</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F29 · figuras/F29_municipios_que_mudam.png  ·  Bloco 13. Comparação com a referência</a:t>
            </a:r>
            <a:endParaRPr lang="en-US" sz="9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Síntese da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Shape 3"/>
          <p:cNvSpPr/>
          <p:nvPr/>
        </p:nvSpPr>
        <p:spPr>
          <a:xfrm>
            <a:off x="777240" y="1472184"/>
            <a:ext cx="3300984" cy="0"/>
          </a:xfrm>
          <a:prstGeom prst="line">
            <a:avLst/>
          </a:prstGeom>
          <a:noFill/>
          <a:ln w="12700">
            <a:solidFill>
              <a:srgbClr val="1A1A18"/>
            </a:solidFill>
            <a:prstDash val="solid"/>
          </a:ln>
        </p:spPr>
      </p:sp>
      <p:sp>
        <p:nvSpPr>
          <p:cNvPr id="6" name="Text 4"/>
          <p:cNvSpPr/>
          <p:nvPr/>
        </p:nvSpPr>
        <p:spPr>
          <a:xfrm>
            <a:off x="777240" y="1545336"/>
            <a:ext cx="3300984" cy="566928"/>
          </a:xfrm>
          <a:prstGeom prst="rect">
            <a:avLst/>
          </a:prstGeom>
          <a:noFill/>
          <a:ln/>
        </p:spPr>
        <p:txBody>
          <a:bodyPr wrap="square" lIns="0" tIns="0" rIns="0" bIns="0" rtlCol="0" anchor="ctr"/>
          <a:lstStyle/>
          <a:p>
            <a:pPr indent="0" marL="0">
              <a:buNone/>
            </a:pPr>
            <a:r>
              <a:rPr lang="en-US" sz="3000" b="1" dirty="0">
                <a:solidFill>
                  <a:srgbClr val="1A1A18"/>
                </a:solidFill>
                <a:latin typeface="Cambria" pitchFamily="34" charset="0"/>
                <a:ea typeface="Cambria" pitchFamily="34" charset="-122"/>
                <a:cs typeface="Cambria" pitchFamily="34" charset="-120"/>
              </a:rPr>
              <a:t>0,8019</a:t>
            </a:r>
            <a:endParaRPr lang="en-US" sz="3000" dirty="0"/>
          </a:p>
        </p:txBody>
      </p:sp>
      <p:sp>
        <p:nvSpPr>
          <p:cNvPr id="7" name="Text 5"/>
          <p:cNvSpPr/>
          <p:nvPr/>
        </p:nvSpPr>
        <p:spPr>
          <a:xfrm>
            <a:off x="777240" y="2130552"/>
            <a:ext cx="3300984" cy="384048"/>
          </a:xfrm>
          <a:prstGeom prst="rect">
            <a:avLst/>
          </a:prstGeom>
          <a:noFill/>
          <a:ln/>
        </p:spPr>
        <p:txBody>
          <a:bodyPr wrap="square" lIns="0" tIns="0" rIns="0" bIns="0" rtlCol="0" anchor="ctr"/>
          <a:lstStyle/>
          <a:p>
            <a:pPr indent="0" marL="0">
              <a:buNone/>
            </a:pPr>
            <a:r>
              <a:rPr lang="en-US" sz="1050" dirty="0">
                <a:solidFill>
                  <a:srgbClr val="56534C"/>
                </a:solidFill>
                <a:latin typeface="Cambria" pitchFamily="34" charset="0"/>
                <a:ea typeface="Cambria" pitchFamily="34" charset="-122"/>
                <a:cs typeface="Cambria" pitchFamily="34" charset="-120"/>
              </a:rPr>
              <a:t>KMO dos componentes (T19)</a:t>
            </a:r>
            <a:endParaRPr lang="en-US" sz="1050" dirty="0"/>
          </a:p>
        </p:txBody>
      </p:sp>
      <p:sp>
        <p:nvSpPr>
          <p:cNvPr id="8" name="Shape 6"/>
          <p:cNvSpPr/>
          <p:nvPr/>
        </p:nvSpPr>
        <p:spPr>
          <a:xfrm>
            <a:off x="4443984" y="1472184"/>
            <a:ext cx="3300984" cy="0"/>
          </a:xfrm>
          <a:prstGeom prst="line">
            <a:avLst/>
          </a:prstGeom>
          <a:noFill/>
          <a:ln w="12700">
            <a:solidFill>
              <a:srgbClr val="1A1A18"/>
            </a:solidFill>
            <a:prstDash val="solid"/>
          </a:ln>
        </p:spPr>
      </p:sp>
      <p:sp>
        <p:nvSpPr>
          <p:cNvPr id="9" name="Text 7"/>
          <p:cNvSpPr/>
          <p:nvPr/>
        </p:nvSpPr>
        <p:spPr>
          <a:xfrm>
            <a:off x="4443984" y="1545336"/>
            <a:ext cx="3300984" cy="566928"/>
          </a:xfrm>
          <a:prstGeom prst="rect">
            <a:avLst/>
          </a:prstGeom>
          <a:noFill/>
          <a:ln/>
        </p:spPr>
        <p:txBody>
          <a:bodyPr wrap="square" lIns="0" tIns="0" rIns="0" bIns="0" rtlCol="0" anchor="ctr"/>
          <a:lstStyle/>
          <a:p>
            <a:pPr indent="0" marL="0">
              <a:buNone/>
            </a:pPr>
            <a:r>
              <a:rPr lang="en-US" sz="3000" b="1" dirty="0">
                <a:solidFill>
                  <a:srgbClr val="1A1A18"/>
                </a:solidFill>
                <a:latin typeface="Cambria" pitchFamily="34" charset="0"/>
                <a:ea typeface="Cambria" pitchFamily="34" charset="-122"/>
                <a:cs typeface="Cambria" pitchFamily="34" charset="-120"/>
              </a:rPr>
              <a:t>0,8626</a:t>
            </a:r>
            <a:endParaRPr lang="en-US" sz="3000" dirty="0"/>
          </a:p>
        </p:txBody>
      </p:sp>
      <p:sp>
        <p:nvSpPr>
          <p:cNvPr id="10" name="Text 8"/>
          <p:cNvSpPr/>
          <p:nvPr/>
        </p:nvSpPr>
        <p:spPr>
          <a:xfrm>
            <a:off x="4443984" y="2130552"/>
            <a:ext cx="3300984" cy="384048"/>
          </a:xfrm>
          <a:prstGeom prst="rect">
            <a:avLst/>
          </a:prstGeom>
          <a:noFill/>
          <a:ln/>
        </p:spPr>
        <p:txBody>
          <a:bodyPr wrap="square" lIns="0" tIns="0" rIns="0" bIns="0" rtlCol="0" anchor="ctr"/>
          <a:lstStyle/>
          <a:p>
            <a:pPr indent="0" marL="0">
              <a:buNone/>
            </a:pPr>
            <a:r>
              <a:rPr lang="en-US" sz="1050" dirty="0">
                <a:solidFill>
                  <a:srgbClr val="56534C"/>
                </a:solidFill>
                <a:latin typeface="Cambria" pitchFamily="34" charset="0"/>
                <a:ea typeface="Cambria" pitchFamily="34" charset="-122"/>
                <a:cs typeface="Cambria" pitchFamily="34" charset="-120"/>
              </a:rPr>
              <a:t>AUC municipal contra FCU (mediana) (T26)</a:t>
            </a:r>
            <a:endParaRPr lang="en-US" sz="1050" dirty="0"/>
          </a:p>
        </p:txBody>
      </p:sp>
      <p:sp>
        <p:nvSpPr>
          <p:cNvPr id="11" name="Shape 9"/>
          <p:cNvSpPr/>
          <p:nvPr/>
        </p:nvSpPr>
        <p:spPr>
          <a:xfrm>
            <a:off x="8110728" y="1472184"/>
            <a:ext cx="3300984" cy="0"/>
          </a:xfrm>
          <a:prstGeom prst="line">
            <a:avLst/>
          </a:prstGeom>
          <a:noFill/>
          <a:ln w="12700">
            <a:solidFill>
              <a:srgbClr val="8C2F27"/>
            </a:solidFill>
            <a:prstDash val="solid"/>
          </a:ln>
        </p:spPr>
      </p:sp>
      <p:sp>
        <p:nvSpPr>
          <p:cNvPr id="12" name="Text 10"/>
          <p:cNvSpPr/>
          <p:nvPr/>
        </p:nvSpPr>
        <p:spPr>
          <a:xfrm>
            <a:off x="8110728" y="1545336"/>
            <a:ext cx="3300984" cy="566928"/>
          </a:xfrm>
          <a:prstGeom prst="rect">
            <a:avLst/>
          </a:prstGeom>
          <a:noFill/>
          <a:ln/>
        </p:spPr>
        <p:txBody>
          <a:bodyPr wrap="square" lIns="0" tIns="0" rIns="0" bIns="0" rtlCol="0" anchor="ctr"/>
          <a:lstStyle/>
          <a:p>
            <a:pPr indent="0" marL="0">
              <a:buNone/>
            </a:pPr>
            <a:r>
              <a:rPr lang="en-US" sz="3000" b="1" dirty="0">
                <a:solidFill>
                  <a:srgbClr val="8C2F27"/>
                </a:solidFill>
                <a:latin typeface="Cambria" pitchFamily="34" charset="0"/>
                <a:ea typeface="Cambria" pitchFamily="34" charset="-122"/>
                <a:cs typeface="Cambria" pitchFamily="34" charset="-120"/>
              </a:rPr>
              <a:t>13,9%</a:t>
            </a:r>
            <a:endParaRPr lang="en-US" sz="3000" dirty="0"/>
          </a:p>
        </p:txBody>
      </p:sp>
      <p:sp>
        <p:nvSpPr>
          <p:cNvPr id="13" name="Text 11"/>
          <p:cNvSpPr/>
          <p:nvPr/>
        </p:nvSpPr>
        <p:spPr>
          <a:xfrm>
            <a:off x="8110728" y="2130552"/>
            <a:ext cx="3300984" cy="384048"/>
          </a:xfrm>
          <a:prstGeom prst="rect">
            <a:avLst/>
          </a:prstGeom>
          <a:noFill/>
          <a:ln/>
        </p:spPr>
        <p:txBody>
          <a:bodyPr wrap="square" lIns="0" tIns="0" rIns="0" bIns="0" rtlCol="0" anchor="ctr"/>
          <a:lstStyle/>
          <a:p>
            <a:pPr indent="0" marL="0">
              <a:buNone/>
            </a:pPr>
            <a:r>
              <a:rPr lang="en-US" sz="1050" dirty="0">
                <a:solidFill>
                  <a:srgbClr val="56534C"/>
                </a:solidFill>
                <a:latin typeface="Cambria" pitchFamily="34" charset="0"/>
                <a:ea typeface="Cambria" pitchFamily="34" charset="-122"/>
                <a:cs typeface="Cambria" pitchFamily="34" charset="-120"/>
              </a:rPr>
              <a:t>setores que mudam de faixa em relação à referência (T33)</a:t>
            </a:r>
            <a:endParaRPr lang="en-US" sz="1050" dirty="0"/>
          </a:p>
        </p:txBody>
      </p:sp>
      <p:sp>
        <p:nvSpPr>
          <p:cNvPr id="14" name="Shape 12"/>
          <p:cNvSpPr/>
          <p:nvPr/>
        </p:nvSpPr>
        <p:spPr>
          <a:xfrm>
            <a:off x="777240" y="2926080"/>
            <a:ext cx="822960" cy="0"/>
          </a:xfrm>
          <a:prstGeom prst="line">
            <a:avLst/>
          </a:prstGeom>
          <a:noFill/>
          <a:ln w="15875">
            <a:solidFill>
              <a:srgbClr val="8C2F27"/>
            </a:solidFill>
            <a:prstDash val="solid"/>
          </a:ln>
        </p:spPr>
      </p:sp>
      <p:sp>
        <p:nvSpPr>
          <p:cNvPr id="15" name="Text 13"/>
          <p:cNvSpPr/>
          <p:nvPr/>
        </p:nvSpPr>
        <p:spPr>
          <a:xfrm>
            <a:off x="777240" y="2980944"/>
            <a:ext cx="10634472" cy="3054096"/>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esta versão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Trocar a definição de água é uma das mudanças que mais mexem no índice entre as versões do eixo B: a correlação de postos com a referência cai e mais de um em cada dez setores muda de faixa. Com a falta de água canalizada, o KMO e a AUC contra as favelas sobem em relação à referência; as outras duas definições (T34) ficam muito próximas desta versão — correlação de postos perto de 1, poucas trocas de faixa e AUC também acima da referência —, mas reduzem a amostra do índice. As quatro definições medem coisas diferentes: a água inadequada inclui poço e outras fontes; as outras olham se a água chega canalizada à casa.</a:t>
            </a:r>
            <a:endParaRPr lang="en-US" sz="12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Candidatos ao artigo: as tabelas e figuras desta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Text 3"/>
          <p:cNvSpPr/>
          <p:nvPr/>
        </p:nvSpPr>
        <p:spPr>
          <a:xfrm>
            <a:off x="777240" y="1243584"/>
            <a:ext cx="10634472" cy="274320"/>
          </a:xfrm>
          <a:prstGeom prst="rect">
            <a:avLst/>
          </a:prstGeom>
          <a:noFill/>
          <a:ln/>
        </p:spPr>
        <p:txBody>
          <a:bodyPr wrap="square" lIns="0" tIns="0" rIns="0" bIns="0" rtlCol="0" anchor="ctr"/>
          <a:lstStyle/>
          <a:p>
            <a:pPr indent="0" marL="0">
              <a:buNone/>
            </a:pPr>
            <a:r>
              <a:rPr lang="en-US" sz="1100" i="1" dirty="0">
                <a:solidFill>
                  <a:srgbClr val="56534C"/>
                </a:solidFill>
                <a:latin typeface="Cambria" pitchFamily="34" charset="0"/>
                <a:ea typeface="Cambria" pitchFamily="34" charset="-122"/>
                <a:cs typeface="Cambria" pitchFamily="34" charset="-120"/>
              </a:rPr>
              <a:t>Marcar no catálogo (colunas “Vai para o artigo?”, “Seção” e “Comentários”); os IDs são os mesmos em todas as versões.</a:t>
            </a:r>
            <a:endParaRPr lang="en-US" sz="11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777240" y="1609344"/>
          <a:ext cx="10607040" cy="914400"/>
        </p:xfrm>
        <a:graphic>
          <a:graphicData uri="http://schemas.openxmlformats.org/drawingml/2006/table">
            <a:tbl>
              <a:tblPr/>
              <a:tblGrid>
                <a:gridCol w="731520"/>
                <a:gridCol w="731520"/>
                <a:gridCol w="914400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ID</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Bloco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Título no deck</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não chega é o indicador mais assimétrico (assimetria 15,71)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 a mediana vai de 0,0000 (Centro-Oeste) a 0,1759 (Norte)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 entre os municípios, a mediana vai de 0,0000 a 0,9188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 Água não chega tem a distribuição mais assimétrica (assimetria 15,71)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 Água inadequada tem mediana de 0,1759 no Norte e 0,0000 no Centro-Oeste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 as regiões têm formas diferentes de distribuição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maior percentual de faltantes é o de Água só no terreno em Arara (42,1%)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faltantes se concentram em poucos indicadores e municípios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analfabetismo falta em 29,4% dos menores setores e em 3,9% dos maiores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falta de dados depende do tamanho do setor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 tem a maior proporção de extremos (2,8%)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Gonçalo concentra o maior número de marcações de extremo (504)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setores mais distantes da mediana, indicador por indicador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proporção de extremos varia muito de um indicador para outro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4"/>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catalogo.csv  ·  parte 1 de 3</a:t>
            </a:r>
            <a:endParaRPr lang="en-US" sz="9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Candidatos ao artigo: as tabelas e figuras desta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Text 3"/>
          <p:cNvSpPr/>
          <p:nvPr/>
        </p:nvSpPr>
        <p:spPr>
          <a:xfrm>
            <a:off x="777240" y="1243584"/>
            <a:ext cx="10634472" cy="274320"/>
          </a:xfrm>
          <a:prstGeom prst="rect">
            <a:avLst/>
          </a:prstGeom>
          <a:noFill/>
          <a:ln/>
        </p:spPr>
        <p:txBody>
          <a:bodyPr wrap="square" lIns="0" tIns="0" rIns="0" bIns="0" rtlCol="0" anchor="ctr"/>
          <a:lstStyle/>
          <a:p>
            <a:pPr indent="0" marL="0">
              <a:buNone/>
            </a:pPr>
            <a:r>
              <a:rPr lang="en-US" sz="1100" i="1" dirty="0">
                <a:solidFill>
                  <a:srgbClr val="56534C"/>
                </a:solidFill>
                <a:latin typeface="Cambria" pitchFamily="34" charset="0"/>
                <a:ea typeface="Cambria" pitchFamily="34" charset="-122"/>
                <a:cs typeface="Cambria" pitchFamily="34" charset="-120"/>
              </a:rPr>
              <a:t>Marcar no catálogo (colunas “Vai para o artigo?”, “Seção” e “Comentários”); os IDs são os mesmos em todas as versões.</a:t>
            </a:r>
            <a:endParaRPr lang="en-US" sz="11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777240" y="1609344"/>
          <a:ext cx="10607040" cy="914400"/>
        </p:xfrm>
        <a:graphic>
          <a:graphicData uri="http://schemas.openxmlformats.org/drawingml/2006/table">
            <a:tbl>
              <a:tblPr/>
              <a:tblGrid>
                <a:gridCol w="731520"/>
                <a:gridCol w="731520"/>
                <a:gridCol w="914400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ID</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Bloco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Título no deck</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 e Água só no terreno formam o par mais correlacionado (ρ = 0,8253)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Na correlação linear, o par mais forte é Sem água canalizada × Água só no terreno (r = 0,8695)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par mais redundante é Sem água canalizada × Água só no terreno (ρ = 0,8253)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indicadores formam grupos de correlação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Entre as variáveis das demandas e os componentes do índice, o par mais forte é — × — (ρ = —)</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 o par mais correlacionado é Sem água canalizada × Água só no terreno (ρ = 0,8253)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dendrograma junta os indicadores que medem coisas parecidas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 é o indicador que mais separa as favelas (AUC 0,6484)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indicadores separam as favelas com força muito diferente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KMO de 0,8019: os componentes se prestam à análise fatorial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(invertida) tem a menor adequação individual (MSA 0,7267)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segundo autovalor (1,0582) fica acima da linha de Horn (1,0155)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dois fatores da promax se correlacionam em 0,3744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Gráfico de sedimentação: dois componentes acima do acaso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4"/>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catalogo.csv  ·  parte 2 de 3</a:t>
            </a:r>
            <a:endParaRPr lang="en-US" sz="9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Candidatos ao artigo: as tabelas e figuras desta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Text 3"/>
          <p:cNvSpPr/>
          <p:nvPr/>
        </p:nvSpPr>
        <p:spPr>
          <a:xfrm>
            <a:off x="777240" y="1243584"/>
            <a:ext cx="10634472" cy="274320"/>
          </a:xfrm>
          <a:prstGeom prst="rect">
            <a:avLst/>
          </a:prstGeom>
          <a:noFill/>
          <a:ln/>
        </p:spPr>
        <p:txBody>
          <a:bodyPr wrap="square" lIns="0" tIns="0" rIns="0" bIns="0" rtlCol="0" anchor="ctr"/>
          <a:lstStyle/>
          <a:p>
            <a:pPr indent="0" marL="0">
              <a:buNone/>
            </a:pPr>
            <a:r>
              <a:rPr lang="en-US" sz="1100" i="1" dirty="0">
                <a:solidFill>
                  <a:srgbClr val="56534C"/>
                </a:solidFill>
                <a:latin typeface="Cambria" pitchFamily="34" charset="0"/>
                <a:ea typeface="Cambria" pitchFamily="34" charset="-122"/>
                <a:cs typeface="Cambria" pitchFamily="34" charset="-120"/>
              </a:rPr>
              <a:t>Marcar no catálogo (colunas “Vai para o artigo?”, “Seção” e “Comentários”); os IDs são os mesmos em todas as versões.</a:t>
            </a:r>
            <a:endParaRPr lang="en-US" sz="11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777240" y="1609344"/>
          <a:ext cx="10607040" cy="914400"/>
        </p:xfrm>
        <a:graphic>
          <a:graphicData uri="http://schemas.openxmlformats.org/drawingml/2006/table">
            <a:tbl>
              <a:tblPr/>
              <a:tblGrid>
                <a:gridCol w="731520"/>
                <a:gridCol w="731520"/>
                <a:gridCol w="914400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ID</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Bloco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Título no deck</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(invertida) define F1 e Banheiro graduado define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Banheiro graduado tem o maior peso no índice (27,3%)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índice tem mediana 0,2981 e P90 0,3704, em 73.853 setores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Pela regra do IVS-BH, 4,4% dos setores ficam em vulnerabilidade muito elevada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AUC municipal de 0,8626: o índice separa as favelas — versão elegível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AUC vai de 0,6855 (São José de Ribamar) a 0,9580 (Campinas) entre os municípios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distribuição do índice e as faixas do IVS-BH</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Curva ROC do índice contra as favelas (AUC global 0,8517)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correlação de postos com a referência é 0,9503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maior troca de faixa é de medio para elevado (3.692 setores)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13,9% dos setores mudam de faixa em relação à referência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Matriz de faixas: referência × esta versão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municípios mais afetados pela mudança da versão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Com água inadequada (referência), o índice fica com 73.878 setores e ρ = 0,9503 com o valor-padrão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4"/>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catalogo.csv  ·  parte 3 de 3</a:t>
            </a:r>
            <a:endParaRPr lang="en-US" sz="9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Limitações e parâmetros exploratórios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Text 3"/>
          <p:cNvSpPr/>
          <p:nvPr/>
        </p:nvSpPr>
        <p:spPr>
          <a:xfrm>
            <a:off x="777240" y="1335024"/>
            <a:ext cx="10634472" cy="4700016"/>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8"/>
                </a:solidFill>
                <a:latin typeface="Cambria" pitchFamily="34" charset="0"/>
                <a:ea typeface="Cambria" pitchFamily="34" charset="-122"/>
                <a:cs typeface="Cambria" pitchFamily="34" charset="-120"/>
              </a:rPr>
              <a:t>As definições de água têm mediana zero e muitos zeros: a correlação entre elas e a fatorial dependem de poucos setores com valor.</a:t>
            </a:r>
            <a:endParaRPr lang="en-US" sz="1300" dirty="0"/>
          </a:p>
          <a:p>
            <a:pPr marL="342900" indent="-342900">
              <a:spcAft>
                <a:spcPts val="800"/>
              </a:spcAft>
              <a:buSzPct val="100000"/>
              <a:buChar char="•"/>
            </a:pPr>
            <a:r>
              <a:rPr lang="en-US" sz="1300" dirty="0">
                <a:solidFill>
                  <a:srgbClr val="1A1A18"/>
                </a:solidFill>
                <a:latin typeface="Cambria" pitchFamily="34" charset="0"/>
                <a:ea typeface="Cambria" pitchFamily="34" charset="-122"/>
                <a:cs typeface="Cambria" pitchFamily="34" charset="-120"/>
              </a:rPr>
              <a:t>Água não chega e água só no terreno têm mais faltantes e reduzem a amostra do índice.</a:t>
            </a:r>
            <a:endParaRPr lang="en-US" sz="1300" dirty="0"/>
          </a:p>
          <a:p>
            <a:pPr marL="342900" indent="-342900">
              <a:spcAft>
                <a:spcPts val="800"/>
              </a:spcAft>
              <a:buSzPct val="100000"/>
              <a:buChar char="•"/>
            </a:pPr>
            <a:r>
              <a:rPr lang="en-US" sz="1300" dirty="0">
                <a:solidFill>
                  <a:srgbClr val="1A1A18"/>
                </a:solidFill>
                <a:latin typeface="Cambria" pitchFamily="34" charset="0"/>
                <a:ea typeface="Cambria" pitchFamily="34" charset="-122"/>
                <a:cs typeface="Cambria" pitchFamily="34" charset="-120"/>
              </a:rPr>
              <a:t>A amostra do índice exclui todo setor com algum componente faltante (exclusão por lista); trocar um componente muda também a amostra.</a:t>
            </a:r>
            <a:endParaRPr lang="en-US" sz="1300" dirty="0"/>
          </a:p>
          <a:p>
            <a:pPr marL="342900" indent="-342900">
              <a:spcAft>
                <a:spcPts val="800"/>
              </a:spcAft>
              <a:buSzPct val="100000"/>
              <a:buChar char="•"/>
            </a:pPr>
            <a:r>
              <a:rPr lang="en-US" sz="1300" i="1" dirty="0">
                <a:solidFill>
                  <a:srgbClr val="1A1A18"/>
                </a:solidFill>
                <a:latin typeface="Cambria" pitchFamily="34" charset="0"/>
                <a:ea typeface="Cambria" pitchFamily="34" charset="-122"/>
                <a:cs typeface="Cambria" pitchFamily="34" charset="-120"/>
              </a:rPr>
              <a:t>Nenhum parâmetro exploratório nesta versão.</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Apêndice: dicionário dos indicadores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1828800"/>
                <a:gridCol w="1188720"/>
                <a:gridCol w="4206240"/>
                <a:gridCol w="1737360"/>
                <a:gridCol w="164592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Dimensão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O que mede</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Numerador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Denominador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Quadro_Indicadores.csv (entrega à orientadora)</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B2_agua — As definições de água</dc:title>
  <dc:subject>PptxGenJS Presentation</dc:subject>
  <dc:creator>Pedro Dias Soares</dc:creator>
  <cp:lastModifiedBy>Pedro Dias Soares</cp:lastModifiedBy>
  <cp:revision>1</cp:revision>
  <dcterms:created xsi:type="dcterms:W3CDTF">2026-10-23T00:07:21Z</dcterms:created>
  <dcterms:modified xsi:type="dcterms:W3CDTF">2026-10-23T00:07:21Z</dcterms:modified>
</cp:coreProperties>
</file>