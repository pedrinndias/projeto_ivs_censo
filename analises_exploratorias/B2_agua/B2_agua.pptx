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muda no índice quando a água inadequada é trocada por outra definição de falta de água?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componente de água do índice: a falta de água canalizada entra no lugar da água inadequada. As outras definições (água não chega ao domicílio, água só no terreno) e a água inadequada da referência estão na tabela T34. Os blocos 2 a 7 descrevem só as quatro definições de água.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descritivas resumem cada indicador em poucos números: o centro (média e mediana), a dispersão (desvio-padrão, quartis, percentis 10 e 90) e a forma (assimetria e curtose). Elas aparecem para o conjunto, por região e por município, para que diferenças de lugar fiquem visíveis antes de qualquer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Água não chega (15,71); o maior percentual de zeros é o de Água não chega (94,5%).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Água inadequada, a mediana mais alta está no Norte (0,1759) e a mais baixa no Centro-Oeste (0,0000).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Água inadequada, a maior mediana municipal é a de Portel (0,9188); a menor, a de Araçatuba (0,0000).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Água inadequada, a maior mediana municipal é a de Portel (0,9188); a menor, a de Araçatuba (0,0000).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bloco anterior escondem a forma da distribuição. Histogramas, caixas e curvas de densidade mostram se o indicador se concentra em zero, se tem cauda longa ou se separa regiões. Cada painel reúne os indicadores de uma dimensão.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Saneamento, a maior assimetria é a de Água não chega (15,71).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(Água inadequada), a mediana regional vai de 0,0000 (Centro-Oeste) a 0,1759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Água inadequada, a mediana regional vai de 0,0000 (Centro-Oeste) a 0,1759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IBGE não divulga alguns valores para proteger o sigilo de setores pequenos. Se a falta fosse aleatória, bastaria descartar os setores sem dado; como ela se concentra em setores pequenos, descartar muda o retrato. Este bloco mostra onde estão os faltantes e como eles se distribuem pelo tamanho do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faltantes não se espalham por igual entre os municípios. Onde eles se concentram, um índice calculado só com setores completos retrata pior o município, porque os setores que saem não são uma amostra ao acaso.
Como ler: Uma linha por município e uma coluna por indicador; cada célula é o percentual de setores do município sem aquele indicador.
O que mostra: A célula mais alta é Água só no terreno em Arara, com 42,1% dos setores sem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calor mostra a tabela anterior como cores. Colunas inteiras escuras indicam indicadores com sigilo ou denominador frequentemente zero; linhas escuras indicam municípios com muitos setores pequenos.
Como ler: Mapa de calor: linhas são municípios, colunas são indicadores; quanto mais escura a célula, maior o percentual de setores sem valor.
O que mostra: O ponto mais escuro é Água só no terreno em Arara (42,1%).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falta de dados fosse aleatória, o percentual de faltantes seria parecido em todos os décimos. Quando ele se concentra nos setores pequenos, a falta é não aleatória: o IBGE suprime valores para proteger o sigilo de quem mora em setores com poucos domicílios. A consequência é que análises só com setores completos sub-representam setores pequenos.
Como ler: Os setores são divididos em dez grupos iguais pelo número de moradores (1 = os menores). Para cada grupo, o percentual de setores sem renda e sem analfabetismo, e o percentual em FCU.
O que mostra: Sem renda: 0,1% no primeiro décimo e 0,0% no último. Sem analfabetismo: 29,4% e 3,9%.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linhas mostram a mesma tabela em forma de gráfico. Uma linha que desce da esquerda para a direita é o sinal do sigilo: quanto menor o setor, mais provável que o valor tenha sido suprimido.
Como ler: Eixo horizontal: décimo de moradores do setor (1 = menores). Eixo vertical: percentual de setores sem o indicador.
O que mostra: Renda: de 0,1% a 0,0%; analfabetismo: de 29,4% a 3,9%, do menor ao maior décimo.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extremo não é um erro por definição: pode ser um setor realmente diferente. O critério muda com o indicador: o intervalo interquartil onde ele funciona, um critério próprio para a renda e, nos indicadores em que a maioria dos setores vale zero, o critério aplicado só aos valores acima de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Sem água canalizada (2,8%), pelo critério “inflação de zeros: Tukey k=3 só entre os valores acima de zero”.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total soma marcações, não setores: um setor extremo em dois indicadores conta duas vezes. Municípios grandes tendem a ter mais marcações só por terem mais setores; a comparação justa é com o número de setores de cada um (bloco 2).
Como ler: Uma linha por município e uma coluna por indicador, com o número de setores marcados; a coluna total soma todas as marcações.
O que mostra: O município com mais marcações é São Gonçalo, com 504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Sem água canalizada está um setor de Manaus, com valor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percentuais não são comparáveis de forma direta entre critérios diferentes: o critério da inflação de zeros olha só os setores com valor acima de zero. O gráfico serve para localizar os indicadores em que os extremos merecem atenção.
Como ler: Uma barra por indicador, com o percentual de setores marcados; a cor indica o critério (petróleo: Tukey; cinza: inflação de zeros; argila: renda).
O que mostra: A barra mais longa é a de Sem água canalizada (2,8%).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mede o quanto dois indicadores sobem e descem juntos, de −1 a 1. Pares muito correlacionados medem quase a mesma coisa; pares sem correlação trazem informação diferente. O bloco mostra as duas medidas usuais (Spearman, por postos, e Pearson, linear) e agrupa os indicadores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Spearman é calculada sobre os postos (a ordem dos setores), não sobre os valores. Por isso é pouco afetada por extremos e capta relações que sobem sempre, mesmo que não em linha reta. Valor perto de 1: os setores ordenados por um indicador ficam quase na mesma ordem pelo outro; perto de −1: ordem invertida; perto de 0: sem relação de ordem. Cada par usa os setores com os dois valores.
Como ler: Matriz de correlação de Spearman: cada célula é a correlação entre o indicador da linha e o da coluna, de −1 a 1.
O que mostra: A maior correlação em módulo é entre Sem água canalizada e Água só no terreno (ρ = 0,8253).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Pearson mede a relação em linha reta entre os valores. Ela é sensível a extremos e a distribuições muito assimétricas, como as do saneamento. Quando Pearson e Spearman divergem muito para um mesmo par, a relação é puxada por poucos setores extremos ou não é linear.
Como ler: Matriz de correlação de Pearson, com a mesma leitura da de Spearman.
O que mostra: A maior correlação de Pearson em módulo é entre Sem água canalizada e Água só no terreno (r = 0,8695).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Sem água canalizada × Água só no terreno, com Spearman 0,8253 e Pearson 0,8695.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reordenação põe lado a lado os indicadores que se correlacionam entre si, e os blocos de cor ao longo da diagonal revelam os grupos. Um grupo nítido costuma corresponder a uma dimensão: socioeconômica, saneamento, moradia, idade.
Como ler: Mapa de calor da correlação de Spearman, com os indicadores reordenados pelo agrupamento do dendrograma; argila é correlação positiva, petróleo negativa.
O que mostra: O par mais forte é Sem água canalizada × Água só no terreno (ρ = 0,8253).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dendrograma é o resultado de um agrupamento hierárquico: começa com cada indicador sozinho e, a cada passo, une os dois grupos mais próximos. A distância entre dois indicadores é 1 menos o módulo da correlação de Spearman (0 = idênticos, 1 = sem relação); entre grupos, usa-se a média das distâncias (ligação média). Ele é um retrato descritivo: não substitui a análise fatorial.
Como ler: Cada indicador é uma folha à esquerda; as linhas os unem do mais parecido para o menos. Quanto mais à esquerda a união, mais correlacionados os indicadores.
O que mostra: O par mais próximo é Sem água canalizada × Água só no terreno (ρ = 0,8253).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favelas e comunidades urbanas delimitadas pelo IBGE servem de referência externa: um bom indicador de vulnerabilidade deve ter valores mais altos nelas. A comparação usa medianas e a AUC, que mede a capacidade de separar os dois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Sem água canalizada tem AUC 0,6484 (mediana 0,0036 em FCU e 0,0000 fora); a menor AUC é a de Água não chega (0,5424).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Barras que partem de 0,5 deixam claro o sentido: argila para a direita, o indicador é maior nas favelas; petróleo para a esquerda, é menor. O painel das medianas mostra a mesma comparação em valores absolutos, o que ajuda a separar uma diferença grande em termos relativos de uma diferença grande de fato.
Como ler: À esquerda, a AUC de cada indicador (barras a partir de 0,5; argila acima, petróleo abaixo). À direita, as medianas em FCU e fora, para os indicadores em proporção.
O que mostra: A maior AUC é a de Sem água canalizada (0,6484); a menor, a de Água não chega (0,5424).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análise fatorial resume vários indicadores correlacionados em poucas dimensões (fatores). Antes de usá-la, testa-se se os dados se prestam a isso (KMO, MSA, Bartlett) e quantos fatores reter (Kaiser e análise paralela de Horn). Depois, as cargas dizem o quanto cada indicador pertence a cada fator.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KMO (Kaiser-Meyer-Olkin) compara as correlações entre as variáveis com as correlações parciais: perto de 1, as variáveis compartilham muita informação e a fatorial faz sentido; o critério do projeto é pelo menos 0,70. O teste de Bartlett verifica se a matriz de correlação é diferente da identidade (variáveis sem relação); com tantos setores, ele sempre rejeita. O critério de Kaiser retém fatores com autovalor acima de 1; a análise paralela de Horn, mais conservadora, retém os fatores cujo autovalor supera o que dados aleatórios do mesmo tamanho produziriam. A correlação usada é a de Spearman, como no NB04.
Como ler: As medidas de adequação da matriz de correlação dos componentes do índice, na amostra do índice.
O que mostra: KMO 0,8019, com 73.854 setores; Kaiser retém 2 fatores e Horn, 2; dois fatores explicam 61,4%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MSA é o KMO de cada variável: abaixo de 0,50, a variável compartilha pouco com as outras. A comunalidade é a parte da variância da variável explicada pelos fatores retidos (critério do projeto: pelo menos 0,30). A carga é a correlação da variável com o fator (critério: pelo menos 0,40 no fator principal). A rotação gira os fatores para que cada variável carregue forte em um só: a Varimax mantém os fatores independentes; a promax permite que eles se correlacionem. Na promax, a matriz padrão dá o efeito próprio de cada fator e a matriz estrutura, a correlação simples.
Como ler: Uma linha por componente: MSA, comunalidades e as cargas em cada fator, sem rotação, na Varimax e na promax (padrão e estrutura).
O que mostra: Menor MSA: Renda (invertida) (0,7267). Menor comunalidade (promax): Razão de moradores (0,3957).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autovalor mede quanta variância um componente resume, em unidades de variável: autovalor 2 equivale a duas variáveis inteiras. A análise paralela de Horn gera dados aleatórios com o mesmo número de setores e variáveis e calcula os autovalores que surgiriam só por acaso; um componente merece ser retido quando o seu autovalor supera esse valor.
Como ler: Um componente por linha: autovalor, valor de referência da análise paralela de Horn e variância explicada, simples e acumulada.
O que mostra: Primeiro autovalor 3,2410, segundo 1,0582 (Horn: 1,0155); os dois primeiros explicam 61,4%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rotação oblíqua (promax), os fatores podem se correlacionar. Uma correlação alta entre a dimensão socioeconômica e a de saneamento indica que as carências tendem a ocorrer juntas no mesmo setor. É por isso que, na promax, se usa a matriz padrão para distribuir pesos: ela separa o efeito próprio de cada fator.
Como ler: Matriz Φ: a correlação entre os fatores depois da rotação promax.
O que mostra: A correlação entre F1 e F2 é 0,3744.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nome vem da imagem de uma encosta: os primeiros componentes formam o paredão e os demais, o entulho no pé. Os componentes que ficam acima da linha tracejada trazem estrutura real; os que ficam abaixo, ruído.
Como ler: Linha cheia: autovalores em ordem decrescente. Tracejada: o que dados aleatórios produziriam (Horn). Pontilhada: o critério de Kaiser (autovalor 1).
O que mostra: O segundo autovalor é 1,0582, contra 1,0155 da linha de Horn.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cargas mostra a que fator cada variável pertence. Setas ao longo do eixo horizontal pertencem a F1; ao longo do vertical, a F2; setas na diagonal dividem-se entre os dois. Setas curtas indicam variáveis mal explicadas pelos dois fatores (comunalidade baixa).
Como ler: Cada seta é um componente; a ponta fica nas cargas padrão da promax em F1 (horizontal) e F2 (vertical). O círculo marca carga 1.
O que mostra: Maior carga em F1: Renda (invertida) (0,9139); em F2: Banheiro graduado (0,8977).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Banheiro graduado (27,3%); a dimensão socioeconômica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73.854 setores; mediana 0,2981; percentil 90 0,3704.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28,0% baixo e 4,4%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0,8517; mediana da AUC municipal 0,8626, em 31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(0,9580) e a menor, a de São José de Ribamar (0,6855).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(0,9580) e a menor, a de São José de Ribamar (0,6855).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28,0% dos setores ficam em baixo e 4,4%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0,8517 (global); a mediana municipal é 0,8626.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ninguém fixou um parâmetro, a versão roda com um valor-padrão e esta tabela mostra o que muda com o valor alternativo. Correlação de postos perto de 1 e poucas trocas de faixa indicam que a escolha do parâmetro pesa pouco; o contrário indica que ela precisa ser decidida. Nenhum dos valores é decisão: é parâmetro exploratório.
Como ler: Uma linha por valor do parâmetro exploratório: setores no recorte e no índice, KMO, AUC global e municipal, elegibilidade (1 = elegível), correlação de postos com o índice do valor-padrão e % de setores que mudam de faixa.
O que mostra: Com água inadequada (referência): 73.878 setores no índice (contra 73.854), AUC municipal 0,8186, ρ = 0,9503 com o valor-padrão e 13,9% dos setores comuns mudando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0,9503. Menor correlação municipal: Santa Maria do Oeste (0,4000).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medio para elevado, com 3.710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13,9% dos setores mudam de faixa; o município mais afetado é São Raimundo do Doca Bezerra (100,0%).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medio para elevado (3.710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São Raimundo do Doca Bezerra (100,0%); no total, 13,9%.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Trocar a definição de água é uma das mudanças que mais mexem no índice entre as versões do eixo B: a correlação de postos com a referência cai e mais de um em cada dez setores muda de faixa. Com a falta de água canalizada, o KMO e a AUC contra as favelas sobem em relação à referência; as outras duas definições (T34) ficam muito próximas desta versão — correlação de postos perto de 1, poucas trocas de faixa e AUC também acima da referência —, mas reduzem a amostra do índice. As quatro definições medem coisas diferentes: a água inadequada inclui poço e outras fontes; as outras olham se a água chega canalizada à casa.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definições de água têm mediana zero e muitos zeros: a correlação entre elas e a fatorial dependem de poucos setores com valor.
Água não chega e água só no terreno têm mais faltantes e reduzem a amostra do índice.
A amostra do índice exclui todo setor com algum componente faltante (exclusão por lista); trocar um componente muda também a amostra.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B2_agua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definições de água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índice quando a água inadequada é trocada por outra definição de falta de água?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pct_agua_inad, Sem água canalizada, pct_agua_nao_encanada, pct_agua_so_terreno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pct_agua_inad, Esgoto inadequado, Razão de moradores, Analfabetismo 15+, Renda (invertida),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canalizada, Esgoto inadequado, Razão de moradores, Analfabetismo 15+, Renda (invertida),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2, 3, 4, 5, 6, 7, 9, 10, 13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608195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663059"/>
            <a:ext cx="10634472" cy="137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componente de água do índice: a falta de água canalizada entra no lugar da água inadequada. As outras definições (água não chega ao domicílio, água só no terreno) e a água inadequada da referência estão na tabela T34. Os blocos 2 a 7 descrevem só as quatro definições de água.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Qual é o valor típico de cada indicador, e quanto ele varia?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T03, T04, T05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forma tem cada indicador, e ela muda de uma região para outra?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F02, F03, F04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e sigilo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faltam dados, e a falta é aleatória?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T06, F14, T07, F15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setores têm valores fora do comum, e por qual critério?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T08, T09, T10, F16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indicadores andam juntos?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T12, T13, T14, F17, F18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(FCU)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indicador, sozinho, separa os setores de favela dos demais?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T15, F19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Adequação fatorial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componentes do índice se prestam a uma análise fatorial, e quantos fatores ela sustenta?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T19, T20, T21, T22, F22, F23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F25, T34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valor típico de cada indicador, e quanto ele varia?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T03 · T04 · T05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não chega é o indicador mais assimétrico (assimetria 15,71)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88.211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Água não chega (15,71); o maior percentual de zeros é o de Água não chega (94,5%).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inadequada: a mediana vai de 0,0000 (Centro-Oeste) a 0,1759 (Norte)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254088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Água inadequada, a mediana mais alta está no Norte (0,1759) e a mais baixa no Centro-Oeste (0,0000).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inadequada: entre os municípios, a mediana vai de 0,0000 a 0,9188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Água inadequada, a maior mediana municipal é a de Portel (0,9188); a menor, a de Araçatuba (0,0000).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inadequada: entre os municípios, a mediana vai de 0,0000 a 0,9188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26.512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Água inadequada, a maior mediana municipal é a de Portel (0,9188); a menor, a de Araçatuba (0,0000).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forma tem cada indicador, e ela muda de uma região para outra?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F02 · F03 · F04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Água não chega tem a distribuição mais assimétrica (assimetria 15,71)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2_agua/figuras/F02_histogramas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13443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Saneamento, a maior assimetria é a de Água não chega (15,71).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F02 · figuras/F02_histogramas_saneamento.png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Água inadequada tem mediana de 0,1759 no Norte e 0,0000 no Centro-Oeste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2_agua/figuras/F03_boxplot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13457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(Água inadequada), a mediana regional vai de 0,0000 (Centro-Oeste) a 0,1759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F03 · figuras/F03_boxplots_regiao_saneamento.png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2_agua/figuras/F04_densidade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13450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Água inadequada, a mediana regional vai de 0,0000 (Centro-Oeste) a 0,1759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F04 · figuras/F04_densidades_regiao_saneamento.png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Faltantes e sigilo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faltam dados, e a falta é aleatória?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T06 · F14 · T07 · F15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Água só no terreno em Arara (42,1%)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51560"/>
                <a:gridCol w="105156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(% sem valor)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pct_agua_so_terreno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pct_agua_nao_encanada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indicador; cada célula é o percentual de setores do município sem aquele indicador.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célula mais alta é Água só no terreno em Arara, com 42,1% dos setores sem valor.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T06 · tabelas/T06_faltantes_por_municipio.csv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faltantes se concentram em poucos indicadores e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2_agua/figuras/F14_mapa_falt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4781" y="1243584"/>
            <a:ext cx="4517278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calor: linhas são municípios, colunas são indicadores; quanto mais escura a célula, maior o percentual de setores sem valor.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mais escuro é Água só no terreno em Arara (42,1%).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F14 · figuras/F14_mapa_faltantes.png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falta em 29,4% dos menores setores e em 3,9% dos maiores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12801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Décimo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(mín.)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(máx.)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analfabetismo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em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são divididos em dez grupos iguais pelo número de moradores (1 = os menores). Para cada grupo, o percentual de setores sem renda e sem analfabetismo, e o percentual em FCU.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renda: 0,1% no primeiro décimo e 0,0% no último. Sem analfabetismo: 29,4% e 3,9%.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T07 · tabelas/T07_sigilo_por_porte_do_setor.csv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falta de dados depende do tamanho do setor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2_agua/figuras/F15_sigilo_por_porte_do_s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013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horizontal: décimo de moradores do setor (1 = menores). Eixo vertical: percentual de setores sem o indicador.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Renda: de 0,1% a 0,0%; analfabetismo: de 29,4% a 3,9%, do menor ao maior décimo.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F15 · figuras/F15_sigilo_por_porte_do_setor.png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setores têm valores fora do comum, e por qual critério?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T08 · T09 · T10 · F16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água canalizada tem a maior proporção de extremos (2,8%)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1,5275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Sem água canalizada (2,8%), pelo critério “inflação de zeros: Tukey k=3 só entre os valores acima de zero”.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Gonçalo concentra o maior número de marcações de extremo (504)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  <a:gridCol w="109728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pct_agua_so_terreno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pct_agua_nao_encanada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indicador, com o número de setores marcados; a coluna total soma todas as marcações.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município com mais marcações é São Gonçalo, com 504 no total.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T09 · tabelas/T09_extremos_por_municipio.csv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130260305100279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130260305100279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229450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Sem água canalizada está um setor de Manaus, com valor 1,0000.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de extremos varia muito de um indicador para outro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2_agua/figuras/F16_extremos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150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indicador, com o percentual de setores marcados; a cor indica o critério (petróleo: Tukey; cinza: inflação de zeros; argila: renda).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mais longa é a de Sem água canalizada (2,8%).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F16 · figuras/F16_extremos_por_indicador.png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indicadores andam juntos?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T12 · T13 · T14 · F17 · F18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água canalizada e Água só no terreno formam o par mais correlacionado (ρ = 0,8253)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23591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19489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Spearman: cada célula é a correlação entre o indicador da linha e o da coluna, de −1 a 1.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em módulo é entre Sem água canalizada e Água só no terreno (ρ = 0,8253).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T12 · tabelas/T12_correlacao_spearman.csv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correlação linear, o par mais forte é Sem água canalizada × Água só no terreno (r = 0,8695)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23591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19489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Pearson, com a mesma leitura da de Spearman.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de Pearson em módulo é entre Sem água canalizada e Água só no terreno (r = 0,8695).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T13 · tabelas/T13_correlacao_pearson.csv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Sem água canalizada × Água só no terreno (ρ = 0,8253)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Sem água canalizada × Água só no terreno, com Spearman 0,8253 e Pearson 0,8695.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formam grupos de correlação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2_agua/figuras/F17_mapa_spear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8185" y="1243584"/>
            <a:ext cx="6010470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 da correlação de Spearman, com os indicadores reordenados pelo agrupamento do dendrograma; argila é correlação positiva, petróleo negativa.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forte é Sem água canalizada × Água só no terreno (ρ = 0,8253).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F17 · figuras/F17_mapa_spearman.png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dendrograma junta os indicadores que medem coisas parecidas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2_agua/figuras/F18_dend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2150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uma folha à esquerda; as linhas os unem do mais parecido para o menos. Quanto mais à esquerda a união, mais correlacionados os indicadores.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próximo é Sem água canalizada × Água só no terreno (ρ = 0,8253).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F18 · figuras/F18_dendrograma.png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 (FCU)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indicador, sozinho, separa os setores de favela dos demais?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T15 · F19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água canalizada é o indicador que mais separa as favelas (AUC 0,6484)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15.070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16.179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água canalizada tem AUC 0,6484 (mediana 0,0036 em FCU e 0,0000 fora); a menor AUC é a de Água não chega (0,5424).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separam as favelas com força muito diferente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2_agua/figuras/F19_fcu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14958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esquerda, a AUC de cada indicador (barras a partir de 0,5; argila acima, petróleo abaixo). À direita, as medianas em FCU e fora, para os indicadores em proporção.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AUC é a de Sem água canalizada (0,6484); a menor, a de Água não chega (0,5424).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F19 · figuras/F19_fcu_por_indicador.png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fatorial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índice se prestam a uma análise fatorial, e quantos fatores ela sustenta?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T19 · T20 · T21 · T22 · F22 · F23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de 0,8019: os componentes se prestam à análise fatorial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(n)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 (p)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qui-quadrado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184.719,2803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graus de liberdade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determinante de 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paralela de Horn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explicada por 2 fatores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61,4166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medidas de adequação da matriz de correlação dos componentes do índice, na amostra do índice.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0,8019, com 73.854 setores; Kaiser retém 2 fatores e Horn, 2; dois fatores explicam 61,4%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T19 · tabelas/T19_adequacao_fatorial.csv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a menor adequação individual (MSA 0,7267)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03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68680"/>
                <a:gridCol w="868680"/>
                <a:gridCol w="868680"/>
                <a:gridCol w="868680"/>
                <a:gridCol w="8686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MSA, comunalidades e as cargas em cada fator, sem rotação, na Varimax e na promax (padrão e estrutura).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MSA: Renda (invertida) (0,7267). Menor comunalidade (promax): Razão de moradores (0,3957).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T20 · tabelas/T20_variaveis_cargas.csv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(1,0582) fica acima da linha de Horn (1,0155)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variância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acumulada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3,2410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1,0582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componente por linha: autovalor, valor de referência da análise paralela de Horn e variância explicada, simples e acumulada.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autovalor 3,2410, segundo 1,0582 (Horn: 1,0155); os dois primeiros explicam 61,4%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T21 · tabelas/T21_autovalores.csv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fatores da promax se correlacionam em 0,3744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Φ: a correlação entre os fatores depois da rotação promax.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entre F1 e F2 é 0,3744.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T22 · tabelas/T22_phi.csv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de sedimentação: dois componentes acima do acaso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2_agua/figuras/F22_sedimentacao_ho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4942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cheia: autovalores em ordem decrescente. Tracejada: o que dados aleatórios produziriam (Horn). Pontilhada: o critério de Kaiser (autovalor 1).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é 1,0582, contra 1,0155 da linha de Horn.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F22 · figuras/F22_sedimentacao_horn.png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define F1 e Banheiro graduado define F2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2_agua/figuras/F23_mapa_carg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6471" y="1243584"/>
            <a:ext cx="5493898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seta é um componente; a ponta fica nas cargas padrão da promax em F1 (horizontal) e F2 (vertical). O círculo marca carga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 (0,9139); em F2: Banheiro graduado (0,8977).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F23 · figuras/F23_mapa_cargas.png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 · T34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 tem o maior peso no índice (27,3%)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Banheiro graduado (27,3%); a dimensão socioeconômica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0,2981 e P90 0,3704, em 73.854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73.854 setores; mediana 0,2981; percentil 90 0,3704.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4,4%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20.713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29.752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20.125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28,0% baixo e 4,4%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0,8626: o índice separa as favelas — versão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socioeconômica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0,8517; mediana da AUC municipal 0,8626, em 31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0,6855 (São José de Ribamar) a 0,9580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(0,9580) e a menor, a de São José de Ribamar (0,6855).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0,6855 (São José de Ribamar) a 0,9580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(0,9580) e a menor, a de São José de Ribamar (0,6855).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2_agua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2544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28,0% dos setores ficam em baixo e 4,4%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0,8517)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2_agua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0,8517 (global); a mediana municipal é 0,8626.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água inadequada (referência), o índice fica com 73.878 setores e ρ = 0,9503 com o valor-padrão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636935"/>
                <a:gridCol w="775390"/>
                <a:gridCol w="775390"/>
                <a:gridCol w="646158"/>
                <a:gridCol w="732313"/>
                <a:gridCol w="689236"/>
                <a:gridCol w="646158"/>
                <a:gridCol w="775390"/>
                <a:gridCol w="77539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o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valor-padrão desta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 ao domicílio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62.843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 (referência)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valor do parâmetro exploratório: setores no recorte e no índice, KMO, AUC global e municipal, elegibilidade (1 = elegível), correlação de postos com o índice do valor-padrão e %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32042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25907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água inadequada (referência): 73.878 setores no índice (contra 73.854), AUC municipal 0,8186, ρ = 0,9503 com o valor-padrão e 13,9% dos setores comuns mudando de faixa.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T34 · tabelas/T34_sensibilidade.csv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0,9503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0,9503. Menor correlação municipal: Santa Maria do Oeste (0,4000).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medio para elevado (3.710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19.534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26.313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15.230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medio para elevado, com 3.710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13,9%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10.266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13,9% dos setores mudam de faixa; o município mais afetado é São Raimundo do Doca Bezerra (100,0%).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2_agua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medio para elevado (3.710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2_agua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489" y="1243584"/>
            <a:ext cx="645986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São Raimundo do Doca Bezerra (100,0%); no total, 13,9%.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0,8019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dos componentes (T19)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0,8626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13,9%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Trocar a definição de água é uma das mudanças que mais mexem no índice entre as versões do eixo B: a correlação de postos com a referência cai e mais de um em cada dez setores muda de faixa. Com a falta de água canalizada, o KMO e a AUC contra as favelas sobem em relação à referência; as outras duas definições (T34) ficam muito próximas desta versão — correlação de postos perto de 1, poucas trocas de faixa e AUC também acima da referência —, mas reduzem a amostra do índice. As quatro definições medem coisas diferentes: a água inadequada inclui poço e outras fontes; as outras olham se a água chega canalizada à casa.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 é o indicador mais assimétrico (assimetria 15,71)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inadequada: a mediana vai de 0,0000 (Centro-Oeste) a 0,1759 (Norte)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inadequada: entre os municípios, a mediana vai de 0,0000 a 0,9188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Água não chega tem a distribuição mais assimétrica (assimetria 15,71)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Água inadequada tem mediana de 0,1759 no Norte e 0,0000 no 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maior percentual de faltantes é o de Água só no terreno em Arara (42,1%)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faltantes se concentram em poucos indicadores e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analfabetismo falta em 29,4% dos menores setores e em 3,9% dos maiores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falta de dados depende do tamanho do 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 tem a maior proporção de extremos (2,8%)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 concentra o maior número de marcações de extremo (504)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setores mais distantes da mediana, indicador por 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proporção de extremos varia muito de um indicador para outro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 e Água só no terreno formam o par mais correlacionado (ρ = 0,8253)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 correlação linear, o par mais forte é Sem água canalizada × Água só no terreno (r = 0,8695)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par mais redundante é Sem água canalizada × Água só no terreno (ρ = 0,8253)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formam grupos de correlação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dendrograma junta os indicadores que medem coisas parecidas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 é o indicador que mais separa as favelas (AUC 0,6484)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separam as favelas com força muito diferente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de 0,8019: os componentes se prestam à análise fatorial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a menor adequação individual (MSA 0,7267)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segundo autovalor (1,0582) fica acima da linha de Horn (1,0155)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dois fatores da promax se correlacionam em 0,3744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Gráfico de sedimentação: dois componentes acima do acaso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define F1 e Banheiro graduado define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 tem o maior peso no índice (27,3%)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0,2981 e P90 0,3704, em 73.854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4,4%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0,8626: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0,6855 (São José de Ribamar) a 0,9580 (Campinas)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0,8517)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0,9503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medio para elevado (3.710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13,9%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água inadequada (referência), o índice fica com 73.878 setores e ρ = 0,9503 com o valor-padrão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definições de água têm mediana zero e muitos zeros: a correlação entre elas e a fatorial dependem de poucos setores com valor.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não chega e água só no terreno têm mais faltantes e reduzem a amostra do índice.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lista); trocar um componente muda também a amostra.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B2_agua — As definições de água</dc:title>
  <dc:subject>PptxGenJS Presentation</dc:subject>
  <dc:creator>Pedro Dias Soares</dc:creator>
  <cp:lastModifiedBy>Pedro Dias Soares</cp:lastModifiedBy>
  <cp:revision>1</cp:revision>
  <dcterms:created xsi:type="dcterms:W3CDTF">2026-10-06T20:53:30Z</dcterms:created>
  <dcterms:modified xsi:type="dcterms:W3CDTF">2026-10-06T20:53:30Z</dcterms:modified>
</cp:coreProperties>
</file>