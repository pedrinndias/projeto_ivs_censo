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mudam as faixas de vulnerabilidade do mesmo índice com quartis, quintis, quebras naturais ou agrupamento?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as faixas: o índice é o da referência, classificado também por quartis, quintis, quebras naturais (por município) e agrupamento dos setores pelos componentes. As tabelas T36 a T38 e a figura F30 comparam as regras; os blocos 11 e 12 continuam com a regra do IVS-BH.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Renda (invertida) (19,3%); a dimensão F1 (socioeconômica)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73.877 setores; mediana 0,3306; percentil 90 0,4311.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28,8% baixo e 5,3% muito elevado. Quartis: 25,0%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0,8309; mediana da AUC municipal 0,8186, em 31 municípios. Pelos critérios do NB05, a versão é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(0,9544) e a menor, a de Duque de Caxias (0,6037).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(0,9544) e a menor, a de Duque de Caxias (0,6037).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28,8% dos setores ficam em baixo e 5,3%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0,8309 (global); a mediana municipal é 0,8186.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as regras classificam o mesmo índice. A do IVS-BH usa média e desvio-padrão do município; quartis e quintis dividem o município em partes iguais; as quebras naturais procuram, dentro de cada município, os cortes que deixam as classes mais homogêneas (aqui, k-médias numa dimensão com 4 classes); o agrupamento junta setores com perfil parecido nos componentes normalizados, sem olhar o valor do índice, e as classes são ordenadas depois pela média do índice. O número de grupos do agrupamento é parâmetro exploratório (silhueta entre 3 e 6, e sempre 4).
Como ler: Uma linha por regra e classe (1 = menos vulnerável): setores e percentual. Quartis e quintis repartem por igual; as demais regras, não.
O que mostra: A regra que menos concorda com a do IVS-BH é “agrupamento (k = 4, silhueta)” (ρ = 0,6799 entre as classes).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as regras classificam o mesmo índice. A do IVS-BH usa média e desvio-padrão do município; quartis e quintis dividem o município em partes iguais; as quebras naturais procuram, dentro de cada município, os cortes que deixam as classes mais homogêneas (aqui, k-médias numa dimensão com 4 classes); o agrupamento junta setores com perfil parecido nos componentes normalizados, sem olhar o valor do índice, e as classes são ordenadas depois pela média do índice. O número de grupos do agrupamento é parâmetro exploratório (silhueta entre 3 e 6, e sempre 4).
Como ler: Uma linha por regra e classe (1 = menos vulnerável): setores e percentual. Quartis e quintis repartem por igual; as demais regras, não.
O que mostra: A regra que menos concorda com a do IVS-BH é “agrupamento (k = 4, silhueta)” (ρ = 0,6799 entre as classes).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postos entre classes mede se as duas regras ordenam os setores do mesmo jeito, mesmo com números de classes diferentes. A concordância exata só faz sentido entre regras com o mesmo número de classes.
Como ler: Uma linha por regra: número de classes, correlação de postos entre a classe da regra e a faixa do IVS-BH e, nas regras de 4 classes, o percentual de setores na mesma classe.
O que mostra: A menor correlação com a faixa do IVS-BH é a de “agrupamento (k = 4, silhueta)” (0,6799).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silhueta compara, para cada setor, a distância média aos setores do próprio grupo com a distância média ao grupo vizinho mais próximo: vai de −1 a 1, e valores maiores indicam grupos mais bem separados. Ela é calculada numa amostra fixa (semente 42), porque a conta completa cresce com o quadrado do número de setores.
Como ler: Uma linha por número de grupos (k), com a silhueta média numa amostra de 5 mil setores.
O que mostra: A maior silhueta é a de k = 4 (0,3631).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Regras de partes iguais (quartis, quintis) produzem barras com divisões regulares; a regra do IVS-BH e as quebras naturais deixam a classe mais alta pequena, porque o índice tem cauda à direita.
Como ler: Uma barra por regra, dividida pelas classes (da mais clara, menos vulnerável, à mais escura); o comprimento de cada parte é o percentual de setores.
O que mostra: A regra que menos concorda com a do IVS-BH é “agrupamento (k = 4, silhueta)” (ρ = 0,6799).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classifica setores, mas a pergunta de política pública é sobre pessoas. Este bloco soma moradores e moradores de 60 anos ou mais em cada faixa do índice, por município.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são relativas ao município: todo município tem setores nas faixas altas, por construção. O que muda de um para outro é quanta gente mora nesses setores, porque os setores têm populações diferentes.
Como ler: Uma linha por município: setores, moradores e moradores de 60+ em cada faixa (regra do IVS-BH) e o percentual de moradores nas duas faixas mais altas.
O que mostra: Maior percentual em elevado ou muito elevado: Jaqueira (56,9%); menor: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são relativas ao município: todo município tem setores nas faixas altas, por construção. O que muda de um para outro é quanta gente mora nesses setores, porque os setores têm populações diferentes.
Como ler: Uma linha por município: setores, moradores e moradores de 60+ em cada faixa (regra do IVS-BH) e o percentual de moradores nas duas faixas mais altas.
O que mostra: Maior percentual em elevado ou muito elevado: Jaqueira (56,9%); menor: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contagem de pessoas usa o total de moradores do setor (v0001) e a soma das faixas de 60 a 69 e de 70 anos ou mais. Só entram os setores da amostra do índice.
Como ler: Uma linha por faixa: setores, moradores e moradores de 60+, com os percentuais.
O que mostra: Na faixa muito elevada: 1.771.121 pessoas (4,7% do total), das quais 173.718 com 60 anos ou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mostra a tabela por município em forma de barras empilhadas. Um município em que as faixas altas ocupam muito da barra concentra população nos setores mais vulneráveis da cidade.
Como ler: Uma barra por município, dividida pelas faixas do índice; o comprimento de cada parte é o percentual de moradores. Ordem: do maior para o menor percentual nas duas faixas mais altas.
O que mostra: No topo, Jaqueira (56,9% em elevado ou muito elevado); na base,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o índice é normalizado dentro de cada município, a comparação entre cidades é sobre a desigualdade interna, não sobre o nível. Três medidas: a razão entre os percentis 90 e 10, o Gini e o Theil.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Gini vai de 0 (todos os setores com o mesmo valor) a 1 (toda a soma concentrada num setor). O Theil também mede concentração, mas é mais sensível à cauda alta. A razão P90/P10 compara o setor no percentil 90 com o do percentil 10; como o índice começa em 0 em todo município, o P10 pode ser muito pequeno e a razão explodir, por isso ela fica vazia quando o P10 é zero.
Como ler: Uma linha por município: setores, média, percentis 10 e 90 do índice, a razão P90/P10, o Gini e o Theil.
O que mostra: Maior Gini: São Paulo das Missões (0,4163); menor: Salvador (0,0608).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Gini vai de 0 (todos os setores com o mesmo valor) a 1 (toda a soma concentrada num setor). O Theil também mede concentração, mas é mais sensível à cauda alta. A razão P90/P10 compara o setor no percentil 90 com o do percentil 10; como o índice começa em 0 em todo município, o P10 pode ser muito pequeno e a razão explodir, por isso ela fica vazia quando o P10 é zero.
Como ler: Uma linha por município: setores, média, percentis 10 e 90 do índice, a razão P90/P10, o Gini e o Theil.
O que mostra: Maior Gini: São Paulo das Missões (0,4163); menor: Salvador (0,0608).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Gini e Theil apontam em sentidos diferentes para um município, a desigualdade dele está mais na cauda (poucos setores muito acima dos demais) do que no meio da distribuição.
Como ler: Barras: Gini do índice dentro de cada município, do maior para o menor. Pontos: Theil.
O que mostra: Do maior Gini, São Paulo das Missões (0,4163), ao menor, Salvador (0,0608).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Quartis, quintis e quebras naturais ordenam os setores de modo parecido com a regra do IVS-BH, mas repartem as classes de outro jeito: quartis põem um quarto dos setores em cada classe, enquanto a regra do IVS-BH deixa a classe mais alta pequena. O agrupamento pelos componentes é o que mais se afasta,: ele junta setores pelo perfil dos componentes, sem passar pelos pesos do índice. A silhueta indica 4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quebras naturais foram aproximadas por k-médias numa dimensão, com 4 classes, só em municípios com pelo menos 8 setores.
O número de grupos do agrupamento é parâmetro exploratório — não é decisão.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C5_faixas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de faixa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mudam as faixas de vulnerabilidade do mesmo índice com quartis, quintis, quebras naturais ou agrupamento?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pct_agua_inad, pct_esgoto_inad, razao_moradores, pct_analfab, renda_inv, pct_raca_pretpardind, banheiro_graduado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10, 11, 12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30301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57878"/>
            <a:ext cx="10634472" cy="167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as faixas: o índice é o da referência, classificado também por quartis, quintis, quebras naturais (por município) e agrupamento dos setores pelos componentes. As tabelas T36 a T38 e a figura F30 comparam as regras; os blocos 11 e 12 continuam com a regra do IVS-BH.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F25, T36, T37, T38, F30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Quem está em risco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Quantas pessoas, e quantas pessoas idosas, vivem em cada faixa?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T28, T29, F26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Desigualdade interna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Em que municípios o índice varia mais de um setor para outro?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T30, F27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 · T36 · T37 · T38 · F30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tem o maior peso no índice (19,3%)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Renda (invertida) (19,3%); a dimensão F1 (socioeconômica)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0,3306 e P90 0,4311, em 73.877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73.877 setores; mediana 0,3306; percentil 90 0,4311.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5,3%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21.270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31.052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17.622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28,8% baixo e 5,3% muito elevado. Quartis: 25,0%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0,8186: o índice separa as favelas — versão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F1 (socioeconômica)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0,8309; mediana da AUC municipal 0,8186, em 31 municípios. Pelos critérios do NB05, a versão é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0,6037 (Duque de Caxias) a 0,9544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(0,9544) e a menor, a de Duque de Caxias (0,6037).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0,6037 (Duque de Caxias) a 0,9544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(0,9544) e a menor, a de Duque de Caxias (0,6037).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5_faixas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3359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28,8% dos setores ficam em baixo e 5,3%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0,8309)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5_faixas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0,8309 (global); a mediana municipal é 0,8186.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regras de faixa repartem os setores de jeitos diferentes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760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2296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 (média ± DP)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 (média ± DP)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21.270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 (média ± DP)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31.052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 (média ± DP)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17.622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 (média ± DP)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quintis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quintis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14.749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quintis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14.776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regra e classe (1 = menos vulnerável): setores e percentual. Quartis e quintis repartem por igual; as demais regras, não.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regra que menos concorda com a do IVS-BH é “agrupamento (k = 4, silhueta)” (ρ = 0,6799 entre as classes).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T36 · tabelas/T36_faixas_alternativas.csv  ·  Bloco 10. O índice da versão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regras de faixa repartem os setores de jeitos diferentes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760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2296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quintis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14.772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quintis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14.776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quintis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14.804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quebras naturais (4 classes)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quebras naturais (4 classes)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14.423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quebras naturais (4 classes)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25.803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quebras naturais (4 classes)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27.531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quebras naturais (4 classes)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6.080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agrupamento (k = 4, silhueta)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24.076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agrupamento (k = 4, silhueta)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40.918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agrupamento (k = 4, silhueta)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5.054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agrupamento (k = 4, silhueta)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regra e classe (1 = menos vulnerável): setores e percentual. Quartis e quintis repartem por igual; as demais regras, não.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regra que menos concorda com a do IVS-BH é “agrupamento (k = 4, silhueta)” (ρ = 0,6799 entre as classes).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T36 · tabelas/T36_faixas_alternativas.csv  ·  Bloco 10. O índice da versão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“agrupamento (k = 4, silhueta)” é a regra que mais se afasta da do IVS-BH (ρ = 0,6799)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126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22960"/>
                <a:gridCol w="1188720"/>
                <a:gridCol w="11887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com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mesma classe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 (média ± DP)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quintis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quebras naturais (4 classes)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agrupamento (k = 4, silhueta)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regra: número de classes, correlação de postos entre a classe da regra e a faixa do IVS-BH e, nas regras de 4 classes, o percentual de setores na mesma classe.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menor correlação com a faixa do IVS-BH é a de “agrupamento (k = 4, silhueta)” (0,6799).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T37 · tabelas/T37_faixas_concordancia.csv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silhueta indica 4 grupos para o agrupamento dos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21945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Silhueta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número de grupos (k), com a silhueta média numa amostra de 5 mil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silhueta é a de k = 4 (0,3631).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T38 · tabelas/T38_silhueta.csv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cada regra reparte os setores entre as classes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5_faixas/figuras/F30_faixas_alternati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8548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regra, dividida pelas classes (da mais clara, menos vulnerável, à mais escura); o comprimento de cada parte é o percentual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regra que menos concorda com a do IVS-BH é “agrupamento (k = 4, silhueta)” (ρ = 0,6799).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F30 · figuras/F30_faixas_alternativas.png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está em risco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Quantas pessoas, e quantas pessoas idosas, vivem em cada faixa?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T28 · T29 · F26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Jaqueira tem a maior parte dos moradores em vulnerabilidade elevada ou muito elevada (56,9%)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60+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elevado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16.855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moradores e moradores de 60+ em cada faixa (regra do IVS-BH) e o percentual de moradores nas duas faixas mais altas.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percentual em elevado ou muito elevado: Jaqueira (56,9%); menor: São Raimundo do Doca Bezerra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T28 · tabelas/T28_risco_por_municipio.csv  ·  Bloco 11. Quem está em risco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Jaqueira tem a maior parte dos moradores em vulnerabilidade elevada ou muito elevada (56,9%)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60+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elevado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99.060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58.031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8.938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372.124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95.500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6.737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36.418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6.924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16636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moradores e moradores de 60+ em cada faixa (regra do IVS-BH) e o percentual de moradores nas duas faixas mais altas.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percentual em elevado ou muito elevado: Jaqueira (56,9%); menor: São Raimundo do Doca Bezerra (0,0%).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T28 · tabelas/T28_risco_por_municipio.csv  ·  Bloco 11. Quem está em risco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1.771.121 pessoas vivem em setores de vulnerabilidade muito elevada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097280"/>
                <a:gridCol w="10972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pessoas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21.270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9.762.871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2.120.633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31.052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16.738.074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2.820.532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17.622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9.240.266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1.111.069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1.771.121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173.718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faixa: setores, moradores e moradores de 60+, com os percentuais.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faixa muito elevada: 1.771.121 pessoas (4,7% do total), das quais 173.718 com 60 anos ou mais.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T29 · tabelas/T29_risco_total.csv  ·  Bloco 11. Quem está em risco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parcela de moradores em cada faixa muda de município para município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5_faixas/figuras/F26_risco_por_municip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5208" y="1243584"/>
            <a:ext cx="343642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município, dividida pelas faixas do índice; o comprimento de cada parte é o percentual de moradores. Ordem: do maior para o menor percentual nas duas faixas mais altas.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topo, Jaqueira (56,9% em elevado ou muito elevado); na base, São Raimundo do Doca Bezerra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F26 · figuras/F26_risco_por_municipio.png  ·  Bloco 11. Quem está em risco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Desigualdade interna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que municípios o índice varia mais de um setor para outro?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T30 · F27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das Missões tem a maior desigualdade interna do índice (Gini 0,4163)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720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777240"/>
                <a:gridCol w="822960"/>
                <a:gridCol w="777240"/>
                <a:gridCol w="7772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P90/P10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Theil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média, percentis 10 e 90 do índice, a razão P90/P10, o Gini e o Theil.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Gini: São Paulo das Missões (0,4163); menor: Salvador (0,0608).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T30 · tabelas/T30_desigualdade_interna.csv  ·  Bloco 12. Desigualdade interna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das Missões tem a maior desigualdade interna do índice (Gini 0,4163)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720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777240"/>
                <a:gridCol w="822960"/>
                <a:gridCol w="777240"/>
                <a:gridCol w="7772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P90/P10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Theil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média, percentis 10 e 90 do índice, a razão P90/P10, o Gini e o Theil.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Gini: São Paulo das Missões (0,4163); menor: Salvador (0,0608).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T30 · tabelas/T30_desigualdade_interna.csv  ·  Bloco 12. Desigualdade interna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desigualdade interna do índice, município por município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5_faixas/figuras/F27_desigualdade_inter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402" y="1243584"/>
            <a:ext cx="3054037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Barras: Gini do índice dentro de cada município, do maior para o menor. Pontos: Theil.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maior Gini, São Paulo das Missões (0,4163), ao menor, Salvador (0,0608).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F27 · figuras/F27_desigualdade_interna.png  ·  Bloco 12. Desigualdade interna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10634472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0,8186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10634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Quartis, quintis e quebras naturais ordenam os setores de modo parecido com a regra do IVS-BH, mas repartem as classes de outro jeito: quartis põem um quarto dos setores em cada classe, enquanto a regra do IVS-BH deixa a classe mais alta pequena. O agrupamento pelos componentes é o que mais se afasta,: ele junta setores pelo perfil dos componentes, sem passar pelos pesos do índice. A silhueta indica 4 grupos.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tem o maior peso no índice (19,3%)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0,3306 e P90 0,4311, em 73.877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5,3%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0,8186: o índice separa as favelas — versão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0,6037 (Duque de Caxias) a 0,9544 (Campinas)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0,8309)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 tem a maior parte dos moradores em vulnerabilidade elevada ou muito elevada (56,9%)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1.771.121 pessoas vivem em setores de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parcela de moradores em cada faixa muda de município para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 tem a maior desigualdade interna do índice (Gini 0,4163)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desigualdade interna do índice, município por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 regras de faixa repartem os setores de jeitos diferentes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“agrupamento (k = 4, silhueta)” é a regra que mais se afasta da do IVS-BH (ρ = 0,6799)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silhueta indica 4 grupos para o agrupamento dos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F30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cada regra reparte os setores entre as classes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quebras naturais foram aproximadas por k-médias numa dimensão, com 4 classes, só em municípios com pelo menos 8 setores.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número de grupos do agrupamento é parâmetro exploratório — não é decisão.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 de grupos: o da silhueta entre 3 e 6, e sempre 4 — parâmetro exploratório — não é decisão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quebras naturais: k-médias numa dimensão, 4 classes, por município (municípios com pelo menos 8 setores) — parâmetro exploratório — não é decisão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C5_faixas — Regras de faixa</dc:title>
  <dc:subject>PptxGenJS Presentation</dc:subject>
  <dc:creator>Pedro Dias Soares</dc:creator>
  <cp:lastModifiedBy>Pedro Dias Soares</cp:lastModifiedBy>
  <cp:revision>1</cp:revision>
  <dcterms:created xsi:type="dcterms:W3CDTF">2026-10-22T23:59:16Z</dcterms:created>
  <dcterms:modified xsi:type="dcterms:W3CDTF">2026-10-22T23:59:16Z</dcterms:modified>
</cp:coreProperties>
</file>