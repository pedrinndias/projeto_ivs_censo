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fica um índice só de moradia, com as variáveis de adensamento e de tipo de domicílio?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índice só de moradia, sem os componentes da referência: razão de moradores, domicílio improvisado, habitação precária, moradia não convencional e banheiro de uso comum, com pesos pela fatorial (promax, dois fatores). A composição é parâmetro exploratório.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análise fatorial resume vários indicadores correlacionados em poucas dimensões (fatores). Antes de usá-la, testa-se se os dados se prestam a isso (KMO, MSA, Bartlett) e quantos fatores reter (Kaiser e análise paralela de Horn). Depois, as cargas dizem o quanto cada indicador pertence a cada fator.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KMO (Kaiser-Meyer-Olkin) compara as correlações entre as variáveis com as correlações parciais: perto de 1, as variáveis compartilham muita informação e a fatorial faz sentido; o critério do projeto é pelo menos 0,70. O teste de Bartlett verifica se a matriz de correlação é diferente da identidade (variáveis sem relação); com tantos setores, ele sempre rejeita. O critério de Kaiser retém fatores com autovalor acima de 1; a análise paralela de Horn, mais conservadora, retém os fatores cujo autovalor supera o que dados aleatórios do mesmo tamanho produziriam. A correlação usada é a de Spearman, como no NB04.
Como ler: As medidas de adequação da matriz de correlação dos componentes do índice, na amostra do índice.
O que mostra: KMO 0,3117, com 90.035 setores; Kaiser retém 2 fatores e Horn, 2; 2 fatores explicam 62,5%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MSA é o KMO de cada variável: abaixo de 0,50, a variável compartilha pouco com as outras. A comunalidade é a parte da variância da variável explicada pelos fatores retidos (critério do projeto: pelo menos 0,30). A carga é a correlação da variável com o fator (critério: pelo menos 0,40 no fator principal). A rotação gira os fatores para que cada variável carregue forte em um só: a Varimax mantém os fatores independentes; a promax permite que eles se correlacionem. Na promax, a matriz padrão dá o efeito próprio de cada fator e a matriz estrutura, a correlação simples.
Como ler: Uma linha por componente: MSA, comunalidades e as cargas em cada fator, sem rotação, na Varimax e na promax (padrão e estrutura).
O que mostra: Menor MSA: Domicílio improvisado (0,0546). Menor comunalidade (promax): Domicílio improvisado (0,0950).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autovalor mede quanta variância um componente resume, em unidades de variável: autovalor 2 equivale a duas variáveis inteiras. A análise paralela de Horn gera dados aleatórios com o mesmo número de setores e variáveis e calcula os autovalores que surgiriam só por acaso; um componente merece ser retido quando o seu autovalor supera esse valor.
Como ler: Um componente por linha: autovalor, valor de referência da análise paralela de Horn e variância explicada, simples e acumulada.
O que mostra: Primeiro autovalor 2,0523, segundo 1,0710 (Horn: 1,0100); os dois primeiros explicam 62,5%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rotação oblíqua (promax), os fatores podem se correlacionar. Uma correlação alta entre a dimensão socioeconômica e a de saneamento indica que as carências tendem a ocorrer juntas no mesmo setor. É por isso que, na promax, se usa a matriz padrão para distribuir pesos: ela separa o efeito próprio de cada fator.
Como ler: Matriz Φ: a correlação entre os fatores depois da rotação promax.
O que mostra: A correlação entre F1 e F2 é 0,1398.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nome vem da imagem de uma encosta: os primeiros componentes formam o paredão e os demais, o entulho no pé. Os componentes que ficam acima da linha tracejada trazem estrutura real; os que ficam abaixo, ruído.
Como ler: Linha cheia: autovalores em ordem decrescente. Tracejada: o que dados aleatórios produziriam (Horn). Pontilhada: o critério de Kaiser (autovalor 1).
O que mostra: O segundo autovalor é 1,0710, contra 1,0100 da linha de Horn.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cargas mostra a que fator cada variável pertence. Setas ao longo do eixo horizontal pertencem a F1; ao longo do vertical, a F2; setas na diagonal dividem-se entre os dois. Setas curtas indicam variáveis mal explicadas pelos dois fatores (comunalidade baixa).
Como ler: Cada seta é um componente; a ponta fica nas cargas padrão da promax em F1 (horizontal) e F2 (vertical). O círculo marca carga 1.
O que mostra: Maior carga em F1: Habitação precária (0,9965); em F2: Razão de moradores (0,7998).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Habitação precária (32,0%); a dimensão F1 pesa 64,8%.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90.035 setores; mediana 0,0898; percentil 90 0,1296.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20,4% baixo e 3,0%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0,6623; mediana da AUC municipal 0,6776, em 31 municípios. Pelos critérios do NB05, a versão é não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Porto Alegre (0,8908) e a menor, a de Camaragibe (0,5671).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Porto Alegre (0,8908) e a menor, a de Camaragibe (0,5671).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20,4% dos setores ficam em baixo e 3,0%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0,6623 (global); a mediana municipal é 0,6776.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classifica setores, mas a pergunta de política pública é sobre pessoas. Este bloco soma moradores e moradores de 60 anos ou mais em cada faixa do índice, por município.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São Raimundo do Doca Bezerra (53,9%); menor: Igarapava (2,0%).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São Raimundo do Doca Bezerra (53,9%); menor: Igarapava (2,0%).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contagem de pessoas usa o total de moradores do setor (v0001) e a soma das faixas de 60 a 69 e de 70 anos ou mais. Só entram os setores da amostra do índice.
Como ler: Uma linha por faixa: setores, moradores e moradores de 60+, com os percentuais.
O que mostra: Na faixa muito elevada: 1.326.014 pessoas (3,0% do total), das quais 174.486 com 60 anos ou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tabela por município em forma de barras empilhadas. Um município em que as faixas altas ocupam muito da barra concentra população nos setores mais vulneráveis da cidade.
Como ler: Uma barra por município, dividida pelas faixas do índice; o comprimento de cada parte é o percentual de moradores. Ordem: do maior para o menor percentual nas duas faixas mais altas.
O que mostra: No topo, São Raimundo do Doca Bezerra (53,9% em elevado ou muito elevado); na base, Igarapava (2,0%).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índice é normalizado dentro de cada município, a comparação entre cidades é sobre a desigualdade interna, não sobre o nível. Três medidas: a razão entre os percentis 90 e 10, o Gini e o Theil.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Arara (0,5699); menor: São Raimundo do Doca Bezerra (0,0809).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Arara (0,5699); menor: São Raimundo do Doca Bezerra (0,0809).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Gini e Theil apontam em sentidos diferentes para um município, a desigualdade dele está mais na cauda (poucos setores muito acima dos demais) do que no meio da distribuição.
Como ler: Barras: Gini do índice dentro de cada município, do maior para o menor. Pontos: Theil.
O que mostra: Do maior Gini, Arara (0,5699), ao menor, São Raimundo do Doca Bezerra (0,0809).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0,4884. Menor correlação municipal: Capelinha (-0,0378).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elevado para medio, com 12.570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48,5% dos setores mudam de faixa; o município mais afetado é Placas (80,0%).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elevado para medio (12.570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Placas (80,0%); no total, 48,5%.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variáveis de moradia não se prestam a uma fatorial: o KMO fica muito abaixo de 0,70 e a versão falha em todos os critérios de elegibilidade. Habitação precária e moradia não convencional quase coincidem e dominam o índice, enquanto o domicílio improvisado quase não compartilha variância com as demais. O índice separa as favelas bem menos do que a referência e ordena os setores de modo muito diferente.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composição do índice de moradia é parâmetro exploratório — não é decisão.
As variáveis de moradia têm mediana zero e poucos setores com valor; a fatorial depende de poucos setores.
A amostra do índice exclui todo setor com algum componente faltante (exclusão por lista).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D3_indice_moradia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 de moradia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um índice só de moradia, com as variáveis de adensamento e de tipo de domicílio?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68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pct_agua_inad, pct_esgoto_inad, Razão de moradores, pct_analfab, renda_inv, pct_raca_pretpardind, banheiro_graduado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moradores, Domicílio improvisado, Habitação precária, Moradia não convencional, Banheiro de uso comum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ss_padrao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30301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357878"/>
            <a:ext cx="10634472" cy="167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índice só de moradia, sem os componentes da referência: razão de moradores, domicílio improvisado, habitação precária, moradia não convencional e banheiro de uso comum, com pesos pela fatorial (promax, dois fatores). A composição é parâmetro exploratório.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Adequação fatorial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componentes do índice se prestam a uma análise fatorial, e quantos fatores ela sustenta?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T19, T20, T21, T22, F22, F23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Quem está em risco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Quantas pessoas, e quantas pessoas idosas, vivem em cada faixa?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T28, T29, F26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Desigualdade interna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que municípios o índice varia mais de um setor para outro?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T30, F27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Adequação fatorial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componentes do índice se prestam a uma análise fatorial, e quantos fatores ela sustenta?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T19 · T20 · T21 · T22 · F22 · F23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de 0,3117: os componentes se prestam à análise fatorial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(n)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90.035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variáveis (p)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qui-quadrado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340.125,0073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graus de liberdade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determinante de 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pelo critério de Kaiser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pela análise paralela de Horn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explicada por 2 fatores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62,4671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medidas de adequação da matriz de correlação dos componentes do índice, na amostra do índice.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0,3117, com 90.035 setores; Kaiser retém 2 fatores e Horn, 2; 2 fatores explicam 62,5%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T19 · tabelas/T19_adequacao_fatorial.csv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Domicílio improvisado tem a menor adequação individual (MSA 0,0546)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037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868680"/>
                <a:gridCol w="868680"/>
                <a:gridCol w="868680"/>
                <a:gridCol w="868680"/>
                <a:gridCol w="8686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-0,1036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-0,0185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-0,0273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MSA, comunalidades e as cargas em cada fator, sem rotação, na Varimax e na promax (padrão e estrutura).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MSA: Domicílio improvisado (0,0546). Menor comunalidade (promax): Domicílio improvisado (0,0950).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T20 · tabelas/T20_variaveis_cargas.csv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(1,0710) fica acima da linha de Horn (1,0100)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variância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acumulada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2,0523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1,0710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82,0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componente por linha: autovalor, valor de referência da análise paralela de Horn e variância explicada, simples e acumulada.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Primeiro autovalor 2,0523, segundo 1,0710 (Horn: 1,0100); os dois primeiros explicam 62,5%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T21 · tabelas/T21_autovalores.csv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fatores da promax se correlacionam em 0,1398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Φ: a correlação entre os fatores depois da rotação promax.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F1 e F2 é 0,1398.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T22 · tabelas/T22_phi.csv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Gráfico de sedimentação: dois componentes acima do acaso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3_indice_moradia/figuras/F22_sedimentacao_ho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4407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cheia: autovalores em ordem decrescente. Tracejada: o que dados aleatórios produziriam (Horn). Pontilhada: o critério de Kaiser (autovalor 1).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é 1,0710, contra 1,0100 da linha de Horn.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F22 · figuras/F22_sedimentacao_horn.png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 precária define F1 e Razão de moradores define F2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3_indice_moradia/figuras/F23_mapa_carg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0902" y="1243584"/>
            <a:ext cx="5985037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seta é um componente; a ponta fica nas cargas padrão da promax em F1 (horizontal) e F2 (vertical). O círculo marca carga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carga em F1: Habitação precária (0,9965); em F2: Razão de moradores (0,7998).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F23 · figuras/F23_mapa_cargas.png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 precária tem o maior peso no índice (32,0%)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Habitação precária (32,0%); a dimensão F1 pesa 64,8%.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0,0898 e P90 0,1296, em 90.035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90.035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8.323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15.755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4.243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55.573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90.035 setores; mediana 0,0898; percentil 90 0,1296.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3,0%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18.333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59.079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9.963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22.482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22.516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22.502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22.533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20,4% baixo e 3,0%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0,6776: o índice separa as favelas — versão não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F1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64,7804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0,6623; mediana da AUC municipal 0,6776, em 31 municípios. Pelos critérios do NB05, a versão é não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0,5671 (Camaragibe) a 0,8908 (Porto Alegre)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20.760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4.083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Porto Alegre (0,8908) e a menor, a de Camaragibe (0,5671).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0,5671 (Camaragibe) a 0,8908 (Porto Alegre)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9.578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2.495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Porto Alegre (0,8908) e a menor, a de Camaragibe (0,5671).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3_indice_moradia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29075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20,4% dos setores ficam em baixo e 3,0%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0,6623)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3_indice_moradia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0,6623 (global); a mediana municipal é 0,6776.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está em risco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pessoas, e quantas pessoas idosas, vivem em cada faixa?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T28 · T29 · F26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Raimundo do Doca Bezerra tem a maior parte dos moradores em vulnerabilidade elevada ou muito elevada (53,9%)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11.348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287.987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27.973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3.666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402.650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52.918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7.095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São Raimundo do Doca Bezerra (53,9%); menor: Igarapava (2,0%).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Raimundo do Doca Bezerra tem a maior parte dos moradores em vulnerabilidade elevada ou muito elevada (53,9%)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6.103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4.201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9.784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Pato Branco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295.249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113.675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15.760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8.630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10.434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Itapetinga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Campo Grande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20.663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21.924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Igarapava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16636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São Raimundo do Doca Bezerra (53,9%); menor: Igarapava (2,0%).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1.326.014 pessoas vivem em setores de vulnerabilidade muito elevada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1097280"/>
                <a:gridCol w="10972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18.333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7.134.664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1.465.524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59.079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30.251.021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5.160.000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9.963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5.180.735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674.040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1.326.014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174.486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faixa: setores, moradores e moradores de 60+, com os percentuais.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faixa muito elevada: 1.326.014 pessoas (3,0% do total), das quais 174.486 com 60 anos ou mais.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T29 · tabelas/T29_risco_total.csv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parcela de moradores em cada faixa muda de município para município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3_indice_moradia/figuras/F26_risco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5208" y="1243584"/>
            <a:ext cx="343642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município, dividida pelas faixas do índice; o comprimento de cada parte é o percentual de moradores. Ordem: do maior para o menor percentual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topo, São Raimundo do Doca Bezerra (53,9% em elevado ou muito elevado); na base, Igarapava (2,0%).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F26 · figuras/F26_risco_por_municipio.png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Desigualdade interna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que municípios o índice varia mais de um setor para outro?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T30 · F27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Arara tem a maior desigualdade interna do índice (Gini 0,5699)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Arara (0,5699); menor: São Raimundo do Doca Bezerra (0,0809).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Arara tem a maior desigualdade interna do índice (Gini 0,5699)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Pedro da Aldeia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0191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Arara (0,5699); menor: São Raimundo do Doca Bezerra (0,0809).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desigualdade interna do índice, município por município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3_indice_moradia/figuras/F27_desigualdade_inter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3693" y="1243584"/>
            <a:ext cx="3159454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Barras: Gini do índice dentro de cada município, do maior para o menor. Pontos: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maior Gini, Arara (0,5699), ao menor, São Raimundo do Doca Bezerra (0,0809).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F27 · figuras/F27_desigualdade_interna.png  ·  Bloco 12. Desigualdade interna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0,4884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70.285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Caetano do 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0,4884. Menor correlação municipal: Capelinha (-0,0378).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elevado para medio (12.570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9.771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23.418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12.570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elevado para medio, com 12.570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48,5%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70.285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34.077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Igarapava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48,5% dos setores mudam de faixa; o município mais afetado é Placas (80,0%).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3_indice_moradia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elevado para medio (12.570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3_indice_moradia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9474" y="1243584"/>
            <a:ext cx="6167892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Placas (80,0%); no total, 48,5%.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0,3117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dos componentes (T19)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43984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0,6776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43984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10728" y="1472184"/>
            <a:ext cx="3300984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10728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48,5%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110728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variáveis de moradia não se prestam a uma fatorial: o KMO fica muito abaixo de 0,70 e a versão falha em todos os critérios de elegibilidade. Habitação precária e moradia não convencional quase coincidem e dominam o índice, enquanto o domicílio improvisado quase não compartilha variância com as demais. O índice separa as favelas bem menos do que a referência e ordena os setores de modo muito diferente.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de 0,3117: os componentes se prestam à análise fatorial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 tem a menor adequação individual (MSA 0,0546)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segundo autovalor (1,0710) fica acima da linha de Horn (1,0100)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dois fatores da promax se correlacionam em 0,1398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Gráfico de sedimentação: dois componentes acima do acaso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 define F1 e Razão de moradores define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 tem o maior peso no índice (32,0%)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0,0898 e P90 0,1296, em 90.035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3,0%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0,6776: o índice separa as favelas — versão não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0,5671 (Camaragibe) a 0,8908 (Porto Alegre)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0,6623)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 tem a maior parte dos moradores em vulnerabilidade elevada ou muito elevada (53,9%)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1.326.014 pessoas vivem em setores de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parcela de moradores em cada faixa muda de município para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 tem a maior desigualdade interna do índice (Gini 0,5699)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desigualdade interna do índice, município por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0,4884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elevado para medio (12.570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48,5%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composição do índice de moradia é parâmetro exploratório — não é decisão.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variáveis de moradia têm mediana zero e poucos setores com valor; a fatorial depende de poucos setores.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do índice de moradia: razão de moradores, domicílio improvisado, habitação precária, moradia não convencional e banheiro de uso comum; pesos pela fatorial (promax, 2 fatores) — parâmetro exploratório — não é decisão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D3_indice_moradia — Índice de moradia</dc:title>
  <dc:subject>PptxGenJS Presentation</dc:subject>
  <dc:creator>Pedro Dias Soares</dc:creator>
  <cp:lastModifiedBy>Pedro Dias Soares</cp:lastModifiedBy>
  <cp:revision>1</cp:revision>
  <dcterms:created xsi:type="dcterms:W3CDTF">2026-10-22T23:47:55Z</dcterms:created>
  <dcterms:modified xsi:type="dcterms:W3CDTF">2026-10-22T23:47:55Z</dcterms:modified>
</cp:coreProperties>
</file>