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Quantas pessoas e quantas pessoas idosas ficam em risco elevado em cada versão?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é uma versão do índice: soma, versão por versão, os moradores e os moradores de 60 anos ou mais em setores de risco elevado ou muito elevado, nos setores da referência.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 de pessoas em setores de risco elevado ou muito elevado, versão por versão, nos setores da referência. As versões por estrato (região, porte, Belo Horizonte) ficam de fora, porque cobrem só parte dos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as faixas são relativas ao município, a população em risco muda pouco de nível entre versões; o que muda é quem está nela.
Como ler: Uma linha por versão: setores, pessoas, pessoas e pessoas de 60+ em risco elevado ou muito elevado, e os percentuais.
O que mostra: Na referência, 29,4% dos moradores e 1.284.787 pessoas de 60+ estão em risco elevado; o mínimo é 15,5% (D3_indice_moradia) e o máximo 35,5% (D1_subindices).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as faixas são relativas ao município, a população em risco muda pouco de nível entre versões; o que muda é quem está nela.
Como ler: Uma linha por versão: setores, pessoas, pessoas e pessoas de 60+ em risco elevado ou muito elevado, e os percentuais.
O que mostra: Na referência, 29,4% dos moradores e 1.284.787 pessoas de 60+ estão em risco elevado; o mínimo é 15,5% (D3_indice_moradia) e o máximo 35,5% (D1_subindices).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grande amplitude são os que mais dependem da escolha de método para dizer quanta gente está em risco.
Como ler: Uma linha por município: menor, maior e referência do percentual de moradores em risco elevado entre as versões elegíveis.
O que mostra: A maior amplitude é a de Taió: de 8,2% a 58,1%. Destaques entre os municípios com pelo menos 30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grande amplitude são os que mais dependem da escolha de método para dizer quanta gente está em risco.
Como ler: Uma linha por município: menor, maior e referência do percentual de moradores em risco elevado entre as versões elegíveis.
O que mostra: A maior amplitude é a de Taió: de 8,2% a 58,1%. Destaques entre os municípios com pelo menos 30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grande amplitude são os que mais dependem da escolha de método para dizer quanta gente está em risco.
Como ler: Uma linha por município: menor, maior e referência do percentual de moradores em risco elevado entre as versões elegíveis.
O que mostra: A maior amplitude é a de Taió: de 8,2% a 58,1%. Destaques entre os municípios com pelo menos 30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grande amplitude são os que mais dependem da escolha de método para dizer quanta gente está em risco.
Como ler: Uma linha por município: menor, maior e referência do percentual de moradores em risco elevado entre as versões elegíveis.
O que mostra: A maior amplitude é a de Taió: de 8,2% a 58,1%. Destaques entre os municípios com pelo menos 30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barras mostram que as faixas relativas ao município estabilizam o total; diferenças grandes aparecem nas versões que mudam a forma da distribuição do índice.
Como ler: Uma barra por versão com o percentual de moradores em risco elevado ou muito elevado; em argila, a referência.
O que mostra: Referência: 29,4%; mínimo 15,5%, máximo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referência, cerca de três em cada dez moradores vivem em setores de risco elevado ou muito elevado. Entre as versões, esse percentual varia de forma moderada: o menor é o do índice de moradia (D3) e o maior, o do subíndice socioeconômico (D1). Em alguns municípios, a parcela de moradores em risco muda muito com a versão.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versões por estrato (A3, A4, A5) ficam de fora porque cobrem só parte dos setores.
A contagem usa os moradores dos setores da amostra do índice; setores excluídos por falta de dado não entram.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ANÁLISES EXPLORATÓRIAS POR VERSÃO · E4_populacao_em_risco</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População em risco entre versões</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Quantas pessoas e quantas pessoas idosas ficam em risco elevado em cada versão?</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outubro de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que muda nesta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2011680"/>
                <a:gridCol w="4297680"/>
                <a:gridCol w="4297680"/>
              </a:tblGrid>
              <a:tr h="274320">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Aspecto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Referência (00_referencia)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Esta versão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Base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entrega_orientadora/Base_ELSI_70Municipios_Censo2022.db</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Recorte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urbanos;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Indicadores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todos os do quadro, com as variantes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Componentes do índice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pct_agua_inad, pct_esgoto_inad, razao_moradores, pct_analfab, renda_inv, pct_raca_pretpardind, banheiro_graduado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original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Pesos das dimensões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Normalização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Blocos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1, 2, 3, 4, 5, 6, 7, 8, 9, 10, 11, 12, 13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77240" y="4303014"/>
            <a:ext cx="822960" cy="0"/>
          </a:xfrm>
          <a:prstGeom prst="line">
            <a:avLst/>
          </a:prstGeom>
          <a:noFill/>
          <a:ln w="15875">
            <a:solidFill>
              <a:srgbClr val="8C2F27"/>
            </a:solidFill>
            <a:prstDash val="solid"/>
          </a:ln>
        </p:spPr>
      </p:sp>
      <p:sp>
        <p:nvSpPr>
          <p:cNvPr id="7" name="Text 4"/>
          <p:cNvSpPr/>
          <p:nvPr/>
        </p:nvSpPr>
        <p:spPr>
          <a:xfrm>
            <a:off x="777240" y="4357878"/>
            <a:ext cx="10634472" cy="1677162"/>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muda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Não é uma versão do índice: soma, versão por versão, os moradores e os moradores de 60 anos ou mais em setores de risco elevado ou muito elevado, nos setores da referência.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Sumário: os blocos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640080"/>
                <a:gridCol w="2377440"/>
                <a:gridCol w="4937760"/>
                <a:gridCol w="2651760"/>
              </a:tblGrid>
              <a:tr h="274320">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Bloco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Título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Pergunta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Itens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em risco entre versões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Quantas pessoas e quantas pessoas idosas ficam em risco elevado em cada versão?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T48, T49, F45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17</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População em risco entre versões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Quantas pessoas e quantas pessoas idosas ficam em risco elevado em cada versão?</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T48 · T49 · F45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Entre as versões, a população em risco elevado vai de 15,5% a 35,5%</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770858"/>
                <a:gridCol w="811643"/>
                <a:gridCol w="811643"/>
                <a:gridCol w="811643"/>
                <a:gridCol w="811643"/>
                <a:gridCol w="811643"/>
                <a:gridCol w="811643"/>
                <a:gridCol w="811643"/>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versao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elegivel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pessoas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60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60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D3_indice_moradia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35.500.012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5.492.962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718.202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C4_agregacao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7.760.420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918.080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B3_banheiro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8.110.603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920.702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D4_ibp_aproximado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8.822.494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1.016.319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B7_raca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9.092.509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1.059.815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C2_extracao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9.556.848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1.113.255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D2_ivs_idoso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37.461.925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9.572.369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1.903.581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B5_lixo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9.659.252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1.087.750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C6_pesos_iguais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9.964.799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1.145.472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B4_esgoto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10.033.121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1.146.067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B8_complementares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73.794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37.510.624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10.050.524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1.166.366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A1_com_rurais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10.109.357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1.181.248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versão: setores, pessoas, pessoas e pessoas de 60+ em risco elevado ou muito elevado, e os percentuais.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referência, 29,4% dos moradores e 1.284.787 pessoas de 60+ estão em risco elevado; o mínimo é 15,5% (D3_indice_moradia) e o máximo 35,5% (D1_subindices).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T48 · tabelas/T48_pessoas_em_risco_por_versao.csv  ·  Bloco 17. População em risco entre versões  ·  parte 1 de 2</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Entre as versões, a população em risco elevado vai de 15,5% a 35,5%</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770858"/>
                <a:gridCol w="811643"/>
                <a:gridCol w="811643"/>
                <a:gridCol w="811643"/>
                <a:gridCol w="811643"/>
                <a:gridCol w="811643"/>
                <a:gridCol w="811643"/>
                <a:gridCol w="811643"/>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versao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elegivel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pessoas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60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60 alto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C3_normalizacao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10.291.290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1.208.258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A6_brasil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10.583.370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1.230.659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C1_rotacao_e_pesos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10.863.900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1.263.715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00_referencia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11.011.387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1.284.787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C5_faixas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11.011.387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1.284.787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B1_renda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37.512.445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11.031.480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1.288.669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A2_piso_populacional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73.407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37.498.781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11.040.749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1.285.504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D5_especialista_x_dados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11.676.638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1.369.217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B6_moradia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11.720.459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1.383.551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B2_agua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37.506.723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12.057.223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1.412.883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D1_subindices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37.512.963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13.309.412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1.586.253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versão: setores, pessoas, pessoas e pessoas de 60+ em risco elevado ou muito elevado, e os percentuais.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referência, 29,4% dos moradores e 1.284.787 pessoas de 60+ estão em risco elevado; o mínimo é 15,5% (D3_indice_moradia) e o máximo 35,5% (D1_subindices).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T48 · tabelas/T48_pessoas_em_risco_por_versao.csv  ·  Bloco 17. População em risco entre versões  ·  parte 2 de 2</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Em Taió, a população em risco elevado vai de 8,2% a 58,1% conforme a versão</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NM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min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max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amplitude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63,8379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56,8937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56,0360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51,8495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49,9468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Chapada dos Guimarães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47,8068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47,3819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43,4820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 das Missões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43,4383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42,0782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41,9475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41,2012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32,4113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31,8536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Limoeiro do 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31,4974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Itapetinga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29,2153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menor, maior e referência do percentual de moradores em risco elevado entre as versões elegíveis.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amplitude é a de Taió: de 8,2% a 58,1%. Destaques entre os municípios com pelo menos 30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T49 · tabelas/T49_pessoas_em_risco_por_municipio.csv  ·  Bloco 17. População em risco entre versões  ·  parte 1 de 4</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Em Taió, a população em risco elevado vai de 8,2% a 58,1% conforme a versão</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NM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min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max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amplitude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Marechal Deodoro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28,0633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Guapiaçu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26,0100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25,7613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Cachoeiro de Itapemirim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25,1347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Guarujá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24,9122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24,1842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23,2191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Pato Branco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23,1482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Charqueadas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22,6811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Capelinha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21,7307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20,2467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Divinópolis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19,9243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Feira de Santana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19,1800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18,8263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Igarapava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dos Pinhais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17,1879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menor, maior e referência do percentual de moradores em risco elevado entre as versões elegíveis.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amplitude é a de Taió: de 8,2% a 58,1%. Destaques entre os municípios com pelo menos 30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T49 · tabelas/T49_pessoas_em_risco_por_municipio.csv  ·  Bloco 17. População em risco entre versões  ·  parte 2 de 4</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Em Taió, a população em risco elevado vai de 8,2% a 58,1% conforme a versão</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NM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min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max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amplitude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16,4853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Macaé</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16,4649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16,3119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Mauá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15,9777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15,9271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Guarulhos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14,6953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Goianésia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14,3619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13,8690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13,3705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Ibatiba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Orizânia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13,2330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12,9400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Canoas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12,4343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menor, maior e referência do percentual de moradores em risco elevado entre as versões elegíveis.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amplitude é a de Taió: de 8,2% a 58,1%. Destaques entre os municípios com pelo menos 30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T49 · tabelas/T49_pessoas_em_risco_por_municipio.csv  ·  Bloco 17. População em risco entre versões  ·  parte 3 de 4</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Em Taió, a população em risco elevado vai de 8,2% a 58,1% conforme a versão</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NM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min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max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amplitude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12,4158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Campo Grande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12,2494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12,1943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Pedro da Aldeia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11,9128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Anápolis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11,4424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10,7918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Araçatuba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10,4430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9,8314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9,4354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9,4353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Caetano do 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6,6094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5,2696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menor, maior e referência do percentual de moradores em risco elevado entre as versões elegíveis.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amplitude é a de Taió: de 8,2% a 58,1%. Destaques entre os municípios com pelo menos 30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T49 · tabelas/T49_pessoas_em_risco_por_municipio.csv  ·  Bloco 17. População em risco entre versões  ·  parte 4 de 4</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população em risco elevado em cada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E4_populacao_em_risco/figuras/F45_pessoas_em_risco_por_versao.png">    </p:cNvPr>
          <p:cNvPicPr>
            <a:picLocks noChangeAspect="1"/>
          </p:cNvPicPr>
          <p:nvPr/>
        </p:nvPicPr>
        <p:blipFill>
          <a:blip r:embed="rId1"/>
          <a:stretch>
            <a:fillRect/>
          </a:stretch>
        </p:blipFill>
        <p:spPr>
          <a:xfrm>
            <a:off x="1574210" y="1243584"/>
            <a:ext cx="5858419"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barra por versão com o percentual de moradores em risco elevado ou muito elevado; em argila, a referência.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Referência: 29,4%; mínimo 15,5%, máximo 35,5%.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F45 · figuras/F45_pessoas_em_risco_por_versao.png  ·  Bloco 17. População em risco entre versões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Síntese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2926080"/>
            <a:ext cx="822960" cy="0"/>
          </a:xfrm>
          <a:prstGeom prst="line">
            <a:avLst/>
          </a:prstGeom>
          <a:noFill/>
          <a:ln w="15875">
            <a:solidFill>
              <a:srgbClr val="8C2F27"/>
            </a:solidFill>
            <a:prstDash val="solid"/>
          </a:ln>
        </p:spPr>
      </p:sp>
      <p:sp>
        <p:nvSpPr>
          <p:cNvPr id="6" name="Text 4"/>
          <p:cNvSpPr/>
          <p:nvPr/>
        </p:nvSpPr>
        <p:spPr>
          <a:xfrm>
            <a:off x="777240" y="2980944"/>
            <a:ext cx="10634472" cy="3054096"/>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esta versão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referência, cerca de três em cada dez moradores vivem em setores de risco elevado ou muito elevado. Entre as versões, esse percentual varia de forma moderada: o menor é o do índice de moradia (D3) e o maior, o do subíndice socioeconômico (D1). Em alguns municípios, a parcela de moradores em risco muda muito com a versão.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Entre as versões, a população em risco elevado vai de 15,5% a 35,5%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Em Taió, a população em risco elevado vai de 8,2% a 58,1% conforme 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população em risco elevado em cada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Limitações e parâmetros exploratórios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335024"/>
            <a:ext cx="10634472" cy="4700016"/>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As versões por estrato (A3, A4, A5) ficam de fora porque cobrem só parte dos setores.</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contagem usa os moradores dos setores da amostra do índice; setores excluídos por falta de dado não entram.</a:t>
            </a:r>
            <a:endParaRPr lang="en-US" sz="1300" dirty="0"/>
          </a:p>
          <a:p>
            <a:pPr marL="342900" indent="-342900">
              <a:spcAft>
                <a:spcPts val="800"/>
              </a:spcAft>
              <a:buSzPct val="100000"/>
              <a:buChar char="•"/>
            </a:pPr>
            <a:r>
              <a:rPr lang="en-US" sz="1300" i="1" dirty="0">
                <a:solidFill>
                  <a:srgbClr val="1A1A18"/>
                </a:solidFill>
                <a:latin typeface="Cambria" pitchFamily="34" charset="0"/>
                <a:ea typeface="Cambria" pitchFamily="34" charset="-122"/>
                <a:cs typeface="Cambria" pitchFamily="34" charset="-120"/>
              </a:rPr>
              <a:t>Nenhum parâmetro exploratório nesta versão.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E4_populacao_em_risco — População em risco entre versões</dc:title>
  <dc:subject>PptxGenJS Presentation</dc:subject>
  <dc:creator>Pedro Dias Soares</dc:creator>
  <cp:lastModifiedBy>Pedro Dias Soares</cp:lastModifiedBy>
  <cp:revision>1</cp:revision>
  <dcterms:created xsi:type="dcterms:W3CDTF">2026-10-06T20:58:00Z</dcterms:created>
  <dcterms:modified xsi:type="dcterms:W3CDTF">2026-10-06T20:58:00Z</dcterms:modified>
</cp:coreProperties>
</file>