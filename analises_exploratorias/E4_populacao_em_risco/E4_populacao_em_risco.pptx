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Quantas pessoas e quantas pessoas idosas ficam em risco elevado em cada versão?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Não é uma versão do índice: soma, versão por versão, os moradores e os moradores de 60 anos ou mais em setores de risco elevado ou muito elevado, nos setores da referência.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conta de pessoas em setores de risco elevado ou muito elevado, versão por versão, nos setores da referência. As versões por estrato (região, porte, Belo Horizonte) ficam de fora, porque cobrem só parte dos setores.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as faixas são relativas ao município, a população em risco muda pouco de nível entre versões; o que muda é quem está nela.
Como ler: Uma linha por versão: setores, pessoas, pessoas e pessoas de 60+ em risco elevado ou muito elevado, e os percentuais.
O que mostra: Na referência, 29,4% dos moradores e 1.284.787 pessoas de 60+ estão em risco elevado; o mínimo é 15,5% (D3_indice_moradia) e o máximo 35,5% (D1_subindices).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as faixas são relativas ao município, a população em risco muda pouco de nível entre versões; o que muda é quem está nela.
Como ler: Uma linha por versão: setores, pessoas, pessoas e pessoas de 60+ em risco elevado ou muito elevado, e os percentuais.
O que mostra: Na referência, 29,4% dos moradores e 1.284.787 pessoas de 60+ estão em risco elevado; o mínimo é 15,5% (D3_indice_moradia) e o máximo 35,5% (D1_subindices).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Municípios com grande amplitude são os que mais dependem da escolha de método para dizer quanta gente está em risco.
Como ler: Uma linha por município: menor, maior e referência do percentual de moradores em risco elevado entre as versões elegíveis.
O que mostra: A maior amplitude é a de Taió: de 8,2% a 58,1%. Destaques entre os municípios com pelo menos 30 setores.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Municípios com grande amplitude são os que mais dependem da escolha de método para dizer quanta gente está em risco.
Como ler: Uma linha por município: menor, maior e referência do percentual de moradores em risco elevado entre as versões elegíveis.
O que mostra: A maior amplitude é a de Taió: de 8,2% a 58,1%. Destaques entre os municípios com pelo menos 30 setores.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Municípios com grande amplitude são os que mais dependem da escolha de método para dizer quanta gente está em risco.
Como ler: Uma linha por município: menor, maior e referência do percentual de moradores em risco elevado entre as versões elegíveis.
O que mostra: A maior amplitude é a de Taió: de 8,2% a 58,1%. Destaques entre os municípios com pelo menos 30 setores.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Municípios com grande amplitude são os que mais dependem da escolha de método para dizer quanta gente está em risco.
Como ler: Uma linha por município: menor, maior e referência do percentual de moradores em risco elevado entre as versões elegíveis.
O que mostra: A maior amplitude é a de Taió: de 8,2% a 58,1%. Destaques entre os municípios com pelo menos 30 setores.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barras mostram que as faixas relativas ao município estabilizam o total; diferenças grandes aparecem nas versões que mudam a forma da distribuição do índice.
Como ler: Uma barra por versão com o percentual de moradores em risco elevado ou muito elevado; em argila, a referência.
O que mostra: Referência: 29,4%; mínimo 15,5%, máximo 35,5%.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referência, cerca de três em cada dez moradores vivem em setores de risco elevado ou muito elevado. Entre as versões, esse percentual varia de forma moderada: o menor é o do índice de moradia (D3) e o maior, o do subíndice socioeconômico (D1). Em alguns municípios, a parcela de moradores em risco muda muito com a versão.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versões por estrato (A3, A4, A5) ficam de fora porque cobrem só parte dos setores.
A contagem usa os moradores dos setores da amostra do índice; setores excluídos por falta de dado não entram.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1234440"/>
            <a:ext cx="10634472" cy="310896"/>
          </a:xfrm>
          <a:prstGeom prst="rect">
            <a:avLst/>
          </a:prstGeom>
          <a:noFill/>
          <a:ln/>
        </p:spPr>
        <p:txBody>
          <a:bodyPr wrap="square" lIns="0" tIns="0" rIns="0" bIns="0" rtlCol="0" anchor="ctr"/>
          <a:lstStyle/>
          <a:p>
            <a:pPr indent="0" marL="0">
              <a:buNone/>
            </a:pPr>
            <a:r>
              <a:rPr lang="en-US" sz="1150" spc="200" kern="0" dirty="0">
                <a:solidFill>
                  <a:srgbClr val="56534C"/>
                </a:solidFill>
                <a:latin typeface="Cambria" pitchFamily="34" charset="0"/>
                <a:ea typeface="Cambria" pitchFamily="34" charset="-122"/>
                <a:cs typeface="Cambria" pitchFamily="34" charset="-120"/>
              </a:rPr>
              <a:t>ANÁLISES EXPLORATÓRIAS POR VERSÃO · E4_populacao_em_risco</a:t>
            </a:r>
            <a:endParaRPr lang="en-US" sz="1150" dirty="0"/>
          </a:p>
        </p:txBody>
      </p:sp>
      <p:sp>
        <p:nvSpPr>
          <p:cNvPr id="3" name="Shape 1"/>
          <p:cNvSpPr/>
          <p:nvPr/>
        </p:nvSpPr>
        <p:spPr>
          <a:xfrm>
            <a:off x="777240" y="1627632"/>
            <a:ext cx="10634472" cy="0"/>
          </a:xfrm>
          <a:prstGeom prst="line">
            <a:avLst/>
          </a:prstGeom>
          <a:noFill/>
          <a:ln w="12700">
            <a:solidFill>
              <a:srgbClr val="1A1A18"/>
            </a:solidFill>
            <a:prstDash val="solid"/>
          </a:ln>
        </p:spPr>
      </p:sp>
      <p:sp>
        <p:nvSpPr>
          <p:cNvPr id="4" name="Text 2"/>
          <p:cNvSpPr/>
          <p:nvPr/>
        </p:nvSpPr>
        <p:spPr>
          <a:xfrm>
            <a:off x="777240" y="1783080"/>
            <a:ext cx="10634472" cy="914400"/>
          </a:xfrm>
          <a:prstGeom prst="rect">
            <a:avLst/>
          </a:prstGeom>
          <a:noFill/>
          <a:ln/>
        </p:spPr>
        <p:txBody>
          <a:bodyPr wrap="square" lIns="0" tIns="0" rIns="0" bIns="0" rtlCol="0" anchor="ctr"/>
          <a:lstStyle/>
          <a:p>
            <a:pPr indent="0" marL="0">
              <a:buNone/>
            </a:pPr>
            <a:r>
              <a:rPr lang="en-US" sz="4000" b="1" dirty="0">
                <a:solidFill>
                  <a:srgbClr val="1A1A18"/>
                </a:solidFill>
                <a:latin typeface="Cambria" pitchFamily="34" charset="0"/>
                <a:ea typeface="Cambria" pitchFamily="34" charset="-122"/>
                <a:cs typeface="Cambria" pitchFamily="34" charset="-120"/>
              </a:rPr>
              <a:t>População em risco entre versões</a:t>
            </a:r>
            <a:endParaRPr lang="en-US" sz="4000" dirty="0"/>
          </a:p>
        </p:txBody>
      </p:sp>
      <p:sp>
        <p:nvSpPr>
          <p:cNvPr id="5" name="Text 3"/>
          <p:cNvSpPr/>
          <p:nvPr/>
        </p:nvSpPr>
        <p:spPr>
          <a:xfrm>
            <a:off x="777240" y="2788920"/>
            <a:ext cx="8595360" cy="1005840"/>
          </a:xfrm>
          <a:prstGeom prst="rect">
            <a:avLst/>
          </a:prstGeom>
          <a:noFill/>
          <a:ln/>
        </p:spPr>
        <p:txBody>
          <a:bodyPr wrap="square" lIns="0" tIns="0" rIns="0" bIns="0" rtlCol="0" anchor="ctr"/>
          <a:lstStyle/>
          <a:p>
            <a:pPr indent="0" marL="0">
              <a:lnSpc>
                <a:spcPts val="2000"/>
              </a:lnSpc>
              <a:buNone/>
            </a:pPr>
            <a:r>
              <a:rPr lang="en-US" sz="1400" dirty="0">
                <a:solidFill>
                  <a:srgbClr val="56534C"/>
                </a:solidFill>
                <a:latin typeface="Cambria" pitchFamily="34" charset="0"/>
                <a:ea typeface="Cambria" pitchFamily="34" charset="-122"/>
                <a:cs typeface="Cambria" pitchFamily="34" charset="-120"/>
              </a:rPr>
              <a:t>Quantas pessoas e quantas pessoas idosas ficam em risco elevado em cada versão?</a:t>
            </a:r>
            <a:endParaRPr lang="en-US" sz="1400" dirty="0"/>
          </a:p>
        </p:txBody>
      </p:sp>
      <p:sp>
        <p:nvSpPr>
          <p:cNvPr id="6" name="Shape 4"/>
          <p:cNvSpPr/>
          <p:nvPr/>
        </p:nvSpPr>
        <p:spPr>
          <a:xfrm>
            <a:off x="777240" y="5623560"/>
            <a:ext cx="10634472" cy="0"/>
          </a:xfrm>
          <a:prstGeom prst="line">
            <a:avLst/>
          </a:prstGeom>
          <a:noFill/>
          <a:ln w="9525">
            <a:solidFill>
              <a:srgbClr val="C8C6C0"/>
            </a:solidFill>
            <a:prstDash val="solid"/>
          </a:ln>
        </p:spPr>
      </p:sp>
      <p:sp>
        <p:nvSpPr>
          <p:cNvPr id="7" name="Text 5"/>
          <p:cNvSpPr/>
          <p:nvPr/>
        </p:nvSpPr>
        <p:spPr>
          <a:xfrm>
            <a:off x="777240" y="5760720"/>
            <a:ext cx="10634472" cy="457200"/>
          </a:xfrm>
          <a:prstGeom prst="rect">
            <a:avLst/>
          </a:prstGeom>
          <a:noFill/>
          <a:ln/>
        </p:spPr>
        <p:txBody>
          <a:bodyPr wrap="square" lIns="0" tIns="0" rIns="0" bIns="0" rtlCol="0" anchor="ctr"/>
          <a:lstStyle/>
          <a:p>
            <a:pPr indent="0" marL="0">
              <a:buNone/>
            </a:pPr>
            <a:r>
              <a:rPr lang="en-US" sz="1100" dirty="0">
                <a:solidFill>
                  <a:srgbClr val="56534C"/>
                </a:solidFill>
                <a:latin typeface="Cambria" pitchFamily="34" charset="0"/>
                <a:ea typeface="Cambria" pitchFamily="34" charset="-122"/>
                <a:cs typeface="Cambria" pitchFamily="34" charset="-120"/>
              </a:rPr>
              <a:t>outubro de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 que muda nesta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10607040" cy="914400"/>
        </p:xfrm>
        <a:graphic>
          <a:graphicData uri="http://schemas.openxmlformats.org/drawingml/2006/table">
            <a:tbl>
              <a:tblPr/>
              <a:tblGrid>
                <a:gridCol w="2011680"/>
                <a:gridCol w="4297680"/>
                <a:gridCol w="4297680"/>
              </a:tblGrid>
              <a:tr h="274320">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Aspecto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Referência (00_referencia)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Esta versão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Base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entrega_orientadora/Base_ELSI_70Municipios_Censo2022.db</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Recorte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setores urbanos; Dados_sig = OK</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Indicadores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todos os do quadro, com as variantes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16814">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Componentes do índice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pct_agua_inad, pct_esgoto_inad, razao_moradores, pct_analfab, renda_inv, pct_raca_pretpardind, banheiro_graduado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Renda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original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Rotação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promax</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Pesos das dimensões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60_40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Normalização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municipal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Blocos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1, 2, 3, 4, 5, 6, 7, 8, 9, 10, 11, 12, 13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b="1" dirty="0">
                          <a:solidFill>
                            <a:srgbClr val="8C2F27"/>
                          </a:solidFill>
                          <a:latin typeface="Cambria" pitchFamily="34" charset="0"/>
                          <a:ea typeface="Cambria" pitchFamily="34" charset="-122"/>
                          <a:cs typeface="Cambria" pitchFamily="34" charset="-120"/>
                        </a:rPr>
                        <a:t>17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77240" y="4303014"/>
            <a:ext cx="822960" cy="0"/>
          </a:xfrm>
          <a:prstGeom prst="line">
            <a:avLst/>
          </a:prstGeom>
          <a:noFill/>
          <a:ln w="15875">
            <a:solidFill>
              <a:srgbClr val="8C2F27"/>
            </a:solidFill>
            <a:prstDash val="solid"/>
          </a:ln>
        </p:spPr>
      </p:sp>
      <p:sp>
        <p:nvSpPr>
          <p:cNvPr id="7" name="Text 4"/>
          <p:cNvSpPr/>
          <p:nvPr/>
        </p:nvSpPr>
        <p:spPr>
          <a:xfrm>
            <a:off x="777240" y="4357878"/>
            <a:ext cx="10634472" cy="1677162"/>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muda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Não é uma versão do índice: soma, versão por versão, os moradores e os moradores de 60 anos ou mais em setores de risco elevado ou muito elevado, nos setores da referência.</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Sumário: os blocos desta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10607040" cy="914400"/>
        </p:xfrm>
        <a:graphic>
          <a:graphicData uri="http://schemas.openxmlformats.org/drawingml/2006/table">
            <a:tbl>
              <a:tblPr/>
              <a:tblGrid>
                <a:gridCol w="640080"/>
                <a:gridCol w="2377440"/>
                <a:gridCol w="4937760"/>
                <a:gridCol w="2651760"/>
              </a:tblGrid>
              <a:tr h="274320">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Bloco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Título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Pergunta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Itens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74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População em risco entre versões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Quantas pessoas e quantas pessoas idosas ficam em risco elevado em cada versão?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T48, T49, F45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17</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População em risco entre versões</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Quantas pessoas e quantas pessoas idosas ficam em risco elevado em cada versão?</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T48 · T49 · F45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Entre as versões, a população em risco elevado vai de 15,5% a 35,5%</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52360" cy="914400"/>
        </p:xfrm>
        <a:graphic>
          <a:graphicData uri="http://schemas.openxmlformats.org/drawingml/2006/table">
            <a:tbl>
              <a:tblPr/>
              <a:tblGrid>
                <a:gridCol w="1770858"/>
                <a:gridCol w="811643"/>
                <a:gridCol w="811643"/>
                <a:gridCol w="811643"/>
                <a:gridCol w="811643"/>
                <a:gridCol w="811643"/>
                <a:gridCol w="811643"/>
                <a:gridCol w="811643"/>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versao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elegivel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pessoas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pessoas alto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pessoas alto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pessoas 60 alto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60 alto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D3_indice_moradia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70.286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35.500.012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5.492.962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718.202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C4_agregacao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37.512.963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7.760.420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918.080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B3_banheiro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37.512.963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8.110.603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920.702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D4_ibp_aproximado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37.512.963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8.822.494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1.016.319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B7_raca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37.512.963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9.092.509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1.059.815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C2_extracao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37.512.963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9.556.848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1.113.255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D2_ivs_idoso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73.250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37.461.925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9.572.369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1.903.581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B5_lixo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37.512.963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9.659.252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1.087.750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C6_pesos_iguais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37.512.963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9.964.799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1.145.472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B4_esgoto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37.512.963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10.033.121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1.146.067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B8_complementares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73.794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37.510.624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10.050.524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1.166.366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A1_com_rurais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37.512.963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10.109.357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1.181.248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versão: setores, pessoas, pessoas e pessoas de 60+ em risco elevado ou muito elevado, e os percentuais.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Na referência, 29,4% dos moradores e 1.284.787 pessoas de 60+ estão em risco elevado; o mínimo é 15,5% (D3_indice_moradia) e o máximo 35,5% (D1_subindices).</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T48 · tabelas/T48_pessoas_em_risco_por_versao.csv  ·  Bloco 17. População em risco entre versões  ·  parte 1 de 2</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Entre as versões, a população em risco elevado vai de 15,5% a 35,5%</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52360" cy="914400"/>
        </p:xfrm>
        <a:graphic>
          <a:graphicData uri="http://schemas.openxmlformats.org/drawingml/2006/table">
            <a:tbl>
              <a:tblPr/>
              <a:tblGrid>
                <a:gridCol w="1770858"/>
                <a:gridCol w="811643"/>
                <a:gridCol w="811643"/>
                <a:gridCol w="811643"/>
                <a:gridCol w="811643"/>
                <a:gridCol w="811643"/>
                <a:gridCol w="811643"/>
                <a:gridCol w="811643"/>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versao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elegivel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pessoas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pessoas alto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pessoas alto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pessoas 60 alto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60 alto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C3_normalizacao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37.512.963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10.291.290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1.208.258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A6_brasil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37.512.963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10.583.370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1.230.659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C1_rotacao_e_pesos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37.512.963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10.863.900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1.263.715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00_referencia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37.512.963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11.011.387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1.284.787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C5_faixas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37.512.963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11.011.387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1.284.787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B1_renda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37.512.445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11.031.480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1.288.669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A2_piso_populacional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73.407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37.498.781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11.040.749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1.285.504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D5_especialista_x_dados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37.512.963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11.676.638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1.369.217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B6_moradia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37.512.963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11.720.459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1.383.551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B2_agua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37.506.723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12.057.223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1.412.883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D1_subindices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37.512.963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13.309.412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1.586.253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versão: setores, pessoas, pessoas e pessoas de 60+ em risco elevado ou muito elevado, e os percentuais.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Na referência, 29,4% dos moradores e 1.284.787 pessoas de 60+ estão em risco elevado; o mínimo é 15,5% (D3_indice_moradia) e o máximo 35,5% (D1_subindices).</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T48 · tabelas/T48_pessoas_em_risco_por_versao.csv  ·  Bloco 17. População em risco entre versões  ·  parte 2 de 2</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Em Taió, a população em risco elevado vai de 8,2% a 58,1% conforme a versão</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223760" cy="914400"/>
        </p:xfrm>
        <a:graphic>
          <a:graphicData uri="http://schemas.openxmlformats.org/drawingml/2006/table">
            <a:tbl>
              <a:tblPr/>
              <a:tblGrid>
                <a:gridCol w="2194560"/>
                <a:gridCol w="1005840"/>
                <a:gridCol w="1005840"/>
                <a:gridCol w="1005840"/>
                <a:gridCol w="100584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NM MUN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min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max</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referencia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amplitude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Raimundo do Doca Bezerra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Japoatã</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63,8379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Jaqueira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56,8937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Autazes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56,0360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Coroaci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51,8495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Taió</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49,9468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Chapada dos Guimarães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47,8068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Rosário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47,3819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Arara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43,4820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Paulo das Missões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43,4383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Portel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42,0782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Preta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41,9475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Placas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41,2012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Itajuípe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32,4113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Urandi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31,8536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Limoeiro do Norte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31,4974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Itapetinga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30,0171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Brasília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29,2153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menor, maior e referência do percentual de moradores em risco elevado entre as versões elegíveis.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maior amplitude é a de Taió: de 8,2% a 58,1%. Destaques entre os municípios com pelo menos 30 setores.</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T49 · tabelas/T49_pessoas_em_risco_por_municipio.csv  ·  Bloco 17. População em risco entre versões  ·  parte 1 de 4</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Em Taió, a população em risco elevado vai de 8,2% a 58,1% conforme a versão</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223760" cy="914400"/>
        </p:xfrm>
        <a:graphic>
          <a:graphicData uri="http://schemas.openxmlformats.org/drawingml/2006/table">
            <a:tbl>
              <a:tblPr/>
              <a:tblGrid>
                <a:gridCol w="2194560"/>
                <a:gridCol w="1005840"/>
                <a:gridCol w="1005840"/>
                <a:gridCol w="1005840"/>
                <a:gridCol w="100584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NM MUN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min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max</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referencia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amplitude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Marechal Deodoro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28,0633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Guapiaçu</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26,0100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Salinas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25,7613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Cachoeiro de Itapemirim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25,1347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Guarujá</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24,9122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Vicentinópolis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24,1842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Salvador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23,2191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Pato Branco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23,1482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Charqueadas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22,6811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Capelinha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21,7307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Rio de Janeiro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20,2467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Divinópolis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19,9243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Feira de Santana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19,1800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Paulo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18,8263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19.433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Igarapava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18,7404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Groaíras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17,5154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José dos Pinhais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17,3443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Salto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17,1879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menor, maior e referência do percentual de moradores em risco elevado entre as versões elegíveis.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maior amplitude é a de Taió: de 8,2% a 58,1%. Destaques entre os municípios com pelo menos 30 setores.</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T49 · tabelas/T49_pessoas_em_risco_por_municipio.csv  ·  Bloco 17. População em risco entre versões  ·  parte 2 de 4</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Em Taió, a população em risco elevado vai de 8,2% a 58,1% conforme a versão</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223760" cy="914400"/>
        </p:xfrm>
        <a:graphic>
          <a:graphicData uri="http://schemas.openxmlformats.org/drawingml/2006/table">
            <a:tbl>
              <a:tblPr/>
              <a:tblGrid>
                <a:gridCol w="2194560"/>
                <a:gridCol w="1005840"/>
                <a:gridCol w="1005840"/>
                <a:gridCol w="1005840"/>
                <a:gridCol w="100584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NM MUN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min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max</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referencia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amplitude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Luís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16,4853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Macaé</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16,4649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Porto Alegre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16,3119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Mauá</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15,9777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José de Ribamar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15,9271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Campinas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15,8189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Bernardo do Campo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15,5922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Teresina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15,5391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Guarulhos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14,6953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Tabatinga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14,6017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Goianésia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14,3619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13,8690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Santa Maria do Oeste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13,6804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Goiânia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13,3705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Ibatiba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13,2438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Orizânia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13,2330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Ananindeua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12,9400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Canoas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12,4343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menor, maior e referência do percentual de moradores em risco elevado entre as versões elegíveis.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maior amplitude é a de Taió: de 8,2% a 58,1%. Destaques entre os municípios com pelo menos 30 setores.</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T49 · tabelas/T49_pessoas_em_risco_por_municipio.csv  ·  Bloco 17. População em risco entre versões  ·  parte 3 de 4</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Em Taió, a população em risco elevado vai de 8,2% a 58,1% conforme a versão</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223760" cy="914400"/>
        </p:xfrm>
        <a:graphic>
          <a:graphicData uri="http://schemas.openxmlformats.org/drawingml/2006/table">
            <a:tbl>
              <a:tblPr/>
              <a:tblGrid>
                <a:gridCol w="2194560"/>
                <a:gridCol w="1005840"/>
                <a:gridCol w="1005840"/>
                <a:gridCol w="1005840"/>
                <a:gridCol w="100584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NM MUN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min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max</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referencia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amplitude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Recife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12,4158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Campo Grande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12,2494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Curitiba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12,1943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Pedro da Aldeia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11,9128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Anápolis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11,4424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Camaragibe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10,7918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Araçatuba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10,4430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Duque de Caxias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9,8314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Fortaleza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9,6026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Gonçalo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9,4354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Manaus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9,4353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Belém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8,6004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Natal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7,7834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Caetano do Sul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6,6094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Nova Iguaçu</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5,2696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Maceió</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3,9493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menor, maior e referência do percentual de moradores em risco elevado entre as versões elegíveis.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maior amplitude é a de Taió: de 8,2% a 58,1%. Destaques entre os municípios com pelo menos 30 setores.</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T49 · tabelas/T49_pessoas_em_risco_por_municipio.csv  ·  Bloco 17. População em risco entre versões  ·  parte 4 de 4</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população em risco elevado em cada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E4_populacao_em_risco/figuras/F45_pessoas_em_risco_por_versao.png">    </p:cNvPr>
          <p:cNvPicPr>
            <a:picLocks noChangeAspect="1"/>
          </p:cNvPicPr>
          <p:nvPr/>
        </p:nvPicPr>
        <p:blipFill>
          <a:blip r:embed="rId1"/>
          <a:stretch>
            <a:fillRect/>
          </a:stretch>
        </p:blipFill>
        <p:spPr>
          <a:xfrm>
            <a:off x="1574210" y="1243584"/>
            <a:ext cx="5858419" cy="4791456"/>
          </a:xfrm>
          <a:prstGeom prst="rect">
            <a:avLst/>
          </a:prstGeom>
        </p:spPr>
      </p:pic>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barra por versão com o percentual de moradores em risco elevado ou muito elevado; em argila, a referência.</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Referência: 29,4%; mínimo 15,5%, máximo 35,5%.</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F45 · figuras/F45_pessoas_em_risco_por_versao.png  ·  Bloco 17. População em risco entre versões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Síntese da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Shape 3"/>
          <p:cNvSpPr/>
          <p:nvPr/>
        </p:nvSpPr>
        <p:spPr>
          <a:xfrm>
            <a:off x="777240" y="2926080"/>
            <a:ext cx="822960" cy="0"/>
          </a:xfrm>
          <a:prstGeom prst="line">
            <a:avLst/>
          </a:prstGeom>
          <a:noFill/>
          <a:ln w="15875">
            <a:solidFill>
              <a:srgbClr val="8C2F27"/>
            </a:solidFill>
            <a:prstDash val="solid"/>
          </a:ln>
        </p:spPr>
      </p:sp>
      <p:sp>
        <p:nvSpPr>
          <p:cNvPr id="6" name="Text 4"/>
          <p:cNvSpPr/>
          <p:nvPr/>
        </p:nvSpPr>
        <p:spPr>
          <a:xfrm>
            <a:off x="777240" y="2980944"/>
            <a:ext cx="10634472" cy="3054096"/>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esta versão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Na referência, cerca de três em cada dez moradores vivem em setores de risco elevado ou muito elevado. Entre as versões, esse percentual varia de forma moderada: o menor é o do índice de moradia (D3) e o maior, o do subíndice socioeconômico (D1). Em alguns municípios, a parcela de moradores em risco muda muito com a versão.</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Candidatos ao artigo: as tabelas e figuras desta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Text 3"/>
          <p:cNvSpPr/>
          <p:nvPr/>
        </p:nvSpPr>
        <p:spPr>
          <a:xfrm>
            <a:off x="777240" y="1243584"/>
            <a:ext cx="10634472" cy="274320"/>
          </a:xfrm>
          <a:prstGeom prst="rect">
            <a:avLst/>
          </a:prstGeom>
          <a:noFill/>
          <a:ln/>
        </p:spPr>
        <p:txBody>
          <a:bodyPr wrap="square" lIns="0" tIns="0" rIns="0" bIns="0" rtlCol="0" anchor="ctr"/>
          <a:lstStyle/>
          <a:p>
            <a:pPr indent="0" marL="0">
              <a:buNone/>
            </a:pPr>
            <a:r>
              <a:rPr lang="en-US" sz="1100" i="1" dirty="0">
                <a:solidFill>
                  <a:srgbClr val="56534C"/>
                </a:solidFill>
                <a:latin typeface="Cambria" pitchFamily="34" charset="0"/>
                <a:ea typeface="Cambria" pitchFamily="34" charset="-122"/>
                <a:cs typeface="Cambria" pitchFamily="34" charset="-120"/>
              </a:rPr>
              <a:t>Marcar no catálogo (colunas “Vai para o artigo?”, “Seção” e “Comentários”); os IDs são os mesmos em todas as versões.</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77240" y="1609344"/>
          <a:ext cx="10607040" cy="914400"/>
        </p:xfrm>
        <a:graphic>
          <a:graphicData uri="http://schemas.openxmlformats.org/drawingml/2006/table">
            <a:tbl>
              <a:tblPr/>
              <a:tblGrid>
                <a:gridCol w="731520"/>
                <a:gridCol w="731520"/>
                <a:gridCol w="9144000"/>
              </a:tblGrid>
              <a:tr h="230886">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ID</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Bloco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Título no deck</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T48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Entre as versões, a população em risco elevado vai de 15,5% a 35,5%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T49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Em Taió, a população em risco elevado vai de 8,2% a 58,1% conforme a versão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F45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população em risco elevado em cada versão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4"/>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catalogo.csv</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Limitações e parâmetros exploratórios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Text 3"/>
          <p:cNvSpPr/>
          <p:nvPr/>
        </p:nvSpPr>
        <p:spPr>
          <a:xfrm>
            <a:off x="777240" y="1335024"/>
            <a:ext cx="10634472" cy="4700016"/>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A1A18"/>
                </a:solidFill>
                <a:latin typeface="Cambria" pitchFamily="34" charset="0"/>
                <a:ea typeface="Cambria" pitchFamily="34" charset="-122"/>
                <a:cs typeface="Cambria" pitchFamily="34" charset="-120"/>
              </a:rPr>
              <a:t>As versões por estrato (A3, A4, A5) ficam de fora porque cobrem só parte dos setores.</a:t>
            </a:r>
            <a:endParaRPr lang="en-US" sz="1300" dirty="0"/>
          </a:p>
          <a:p>
            <a:pPr marL="342900" indent="-342900">
              <a:spcAft>
                <a:spcPts val="800"/>
              </a:spcAft>
              <a:buSzPct val="100000"/>
              <a:buChar char="•"/>
            </a:pPr>
            <a:r>
              <a:rPr lang="en-US" sz="1300" dirty="0">
                <a:solidFill>
                  <a:srgbClr val="1A1A18"/>
                </a:solidFill>
                <a:latin typeface="Cambria" pitchFamily="34" charset="0"/>
                <a:ea typeface="Cambria" pitchFamily="34" charset="-122"/>
                <a:cs typeface="Cambria" pitchFamily="34" charset="-120"/>
              </a:rPr>
              <a:t>A contagem usa os moradores dos setores da amostra do índice; setores excluídos por falta de dado não entram.</a:t>
            </a:r>
            <a:endParaRPr lang="en-US" sz="1300" dirty="0"/>
          </a:p>
          <a:p>
            <a:pPr marL="342900" indent="-342900">
              <a:spcAft>
                <a:spcPts val="800"/>
              </a:spcAft>
              <a:buSzPct val="100000"/>
              <a:buChar char="•"/>
            </a:pPr>
            <a:r>
              <a:rPr lang="en-US" sz="1300" i="1" dirty="0">
                <a:solidFill>
                  <a:srgbClr val="1A1A18"/>
                </a:solidFill>
                <a:latin typeface="Cambria" pitchFamily="34" charset="0"/>
                <a:ea typeface="Cambria" pitchFamily="34" charset="-122"/>
                <a:cs typeface="Cambria" pitchFamily="34" charset="-120"/>
              </a:rPr>
              <a:t>Nenhum parâmetro exploratório nesta versão.</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Apêndice: dicionário dos indicadores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10607040" cy="914400"/>
        </p:xfrm>
        <a:graphic>
          <a:graphicData uri="http://schemas.openxmlformats.org/drawingml/2006/table">
            <a:tbl>
              <a:tblPr/>
              <a:tblGrid>
                <a:gridCol w="1828800"/>
                <a:gridCol w="1188720"/>
                <a:gridCol w="4206240"/>
                <a:gridCol w="1737360"/>
                <a:gridCol w="1645920"/>
              </a:tblGrid>
              <a:tr h="230886">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Indicador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Dimensão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O que mede</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Numerador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Denominador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Quadro_Indicadores.csv (entrega à orientadora)</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E4_populacao_em_risco — População em risco entre versões</dc:title>
  <dc:subject>PptxGenJS Presentation</dc:subject>
  <dc:creator>Pedro Dias Soares</dc:creator>
  <cp:lastModifiedBy>Pedro Dias Soares</cp:lastModifiedBy>
  <cp:revision>1</cp:revision>
  <dcterms:created xsi:type="dcterms:W3CDTF">2026-10-23T01:08:54Z</dcterms:created>
  <dcterms:modified xsi:type="dcterms:W3CDTF">2026-10-23T01:08:54Z</dcterms:modified>
</cp:coreProperties>
</file>