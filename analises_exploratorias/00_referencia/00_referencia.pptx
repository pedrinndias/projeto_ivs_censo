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Lst>
  <p:notesMasterIdLst>
    <p:notesMasterId r:id="rId10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notesMaster" Target="notesMasters/notesMaster1.xml"/><Relationship Id="rId110" Type="http://schemas.openxmlformats.org/officeDocument/2006/relationships/presProps" Target="presProps.xml"/><Relationship Id="rId111" Type="http://schemas.openxmlformats.org/officeDocument/2006/relationships/viewProps" Target="viewProps.xml"/><Relationship Id="rId112" Type="http://schemas.openxmlformats.org/officeDocument/2006/relationships/theme" Target="theme/theme1.xml"/><Relationship Id="rId1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são os dados e o IVS da referência proposta do NB05, sem nada mudado?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Nada. Esta é a base de comparação de todas as outras versões: o recorte da EDA (setores urbanos com Dados_sig = OK nos 70 municípios), todos os indicadores e variantes, e o IVS da referência proposta no NB05 — renda original, sem lixo, banheiro graduado, rotação promax, pesos 60/40 da regra do IVS-BH e normalização dentro do município. Cada versão seguinte muda uma coisa só em relação a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qualquer número, é preciso saber sobre quais setores ele foi calculado. Este bloco segue o caminho dos setores desde a base completa até a amostra do índice: cada filtro tira alguns, e o motivo de cada saída fica registrado. Também mostra, indicador por indicador, quantos setores não têm valor — porque um indicador com muitos faltantes muda a amostra de qualquer análise que 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
Como ler: Cada linha é um filtro, na ordem em que é aplicado: quantos setores ficam, quantos saem e por quê.
O que mostra: A base tem 109.032 setores; 104.108 ficam no recorte da versão e 73.878 têm todos os componentes do índice (30.230 saem nesta última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mesma informação da tabela do funil, em forma de barras. A queda entre o recorte e a amostra do índice é quase toda causada pelos indicadores com sigilo (renda e analfabetismo) e pelas partes do banheiro graduado, como mostra a tabela de perdas por indicador.
Como ler: Cada barra é uma etapa do funil; o comprimento é o número de setores que ainda estão dentro.
O que mostra: A barra final (73.878 setores) é a amostra do índice; a do recorte tem 104.108.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Analfabetismo 15+ (15,9%);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Analfabetismo 15+ (15,9%);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descritivas resumem cada indicador em poucos números: o centro (média e mediana), a dispersão (desvio-padrão, quartis, percentis 10 e 90) e a forma (assimetria e curtose). Elas aparecem para o conjunto, por região e por município, para que diferenças de lugar fiquem visíveis antes de qualquer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Sem banheiro nem sanitário (68,98); o maior percentual de zeros é o de Sem banheiro nem sanitário (99,7%).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Sem banheiro nem sanitário (68,98); o maior percentual de zeros é o de Sem banheiro nem sanitário (99,7%).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(3.722,28) e a mais baixa no Nordeste (1.719,20).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(3.722,28) e a mais baixa no Nordeste (1.719,20).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São Caetano do Sul (5.291,89); a menor, a de Jaqueira (1.062,36).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São Caetano do Sul (5.291,89); a menor, a de Jaqueira (1.062,36).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do bloco anterior escondem a forma da distribuição. Histogramas, caixas e curvas de densidade mostram se o indicador se concentra em zero, se tem cauda longa ou se separa regiões. Cada painel reúne os indicadores de uma dimensão.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Saneamento, a maior assimetria é a de Sem banheiro nem sanitário (68,98).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(Água inadequada), a mediana regional vai de 0,0000 (Centro-Oeste) a 0,1759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Água inadequada, a mediana regional vai de 0,0000 (Centro-Oeste) a 0,1759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Socioeconômica, a maior assimetria é a de Renda média (3,74).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(Razão de moradores), a mediana regional vai de 2,5992 (Sul) a 3,1938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Razão de moradores, a mediana regional vai de 2,5992 (Sul) a 3,1938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Morfologia, a maior assimetria é a de Domicílio improvisado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Demografia, a maior assimetria é a de Índice de envelhecimento (5,74).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(Crianças 0–4), a mediana regional vai de 0,0465 (Sul) a 0,0632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Crianças 0–4, a mediana regional vai de 0,0465 (Sul) a 0,0632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IBGE não divulga alguns valores para proteger o sigilo de setores pequenos. Se a falta fosse aleatória, bastaria descartar os setores sem dado; como ela se concentra em setores pequenos, descartar muda o retrato. Este bloco mostra onde estão os faltantes e como eles se distribuem pelo tamanho do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faltantes não se espalham por igual entre os municípios. Onde eles se concentram, um índice calculado só com setores completos retrata pior o município, porque os setores que saem não são uma amostra ao acaso.
Como ler: Uma linha por município e uma coluna por indicador; cada célula é o percentual de setores do município sem aquele indicador.
O que mostra: A célula mais alta é Banheiro graduado em Placas, com 68,8% dos setores sem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calor mostra a tabela anterior como cores. Colunas inteiras escuras indicam indicadores com sigilo ou denominador frequentemente zero; linhas escuras indicam municípios com muitos setores pequenos.
Como ler: Mapa de calor: linhas são municípios, colunas são indicadores; quanto mais escura a célula, maior o percentual de setores sem valor.
O que mostra: O ponto mais escuro é Banheiro graduado em Placas (68,8%).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falta de dados fosse aleatória, o percentual de faltantes seria parecido em todos os décimos. Quando ele se concentra nos setores pequenos, a falta é não aleatória: o IBGE suprime valores para proteger o sigilo de quem mora em setores com poucos domicílios. A consequência é que análises só com setores completos sub-representam setores pequenos.
Como ler: Os setores são divididos em dez grupos iguais pelo número de moradores (1 = os menores). Para cada grupo, o percentual de setores sem renda e sem analfabetismo, e o percentual em FCU.
O que mostra: Sem renda: 0,1% no primeiro décimo e 0,0% no último. Sem analfabetismo: 29,4% e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linhas mostram a mesma tabela em forma de gráfico. Uma linha que desce da esquerda para a direita é o sinal do sigilo: quanto menor o setor, mais provável que o valor tenha sido suprimido.
Como ler: Eixo horizontal: décimo de moradores do setor (1 = menores). Eixo vertical: percentual de setores sem o indicador.
O que mostra: Renda: de 0,1% a 0,0%; analfabetismo: de 29,4% a 3,9%, do menor ao maior décimo.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extremo não é um erro por definição: pode ser um setor realmente diferente. O critério muda com o indicador: o intervalo interquartil onde ele funciona, um critério próprio para a renda e, nos indicadores em que a maioria dos setores vale zero, o critério aplicado só aos valores acima de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total soma marcações, não setores: um setor extremo em dois indicadores conta duas vezes. Municípios grandes tendem a ter mais marcações só por terem mais setores; a comparação justa é com o número de setores de cada um (bloco 2).
Como ler: Uma linha por município e uma coluna por indicador, com o número de setores marcados; a coluna total soma todas as marcações.
O que mostra: O município com mais marcações é São Paulo, com 7.734 no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Belo Horizonte, com valor 170.418,06.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Belo Horizonte, com valor 170.418,06.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classe vem do rastreio da renda do projeto (src/ivs_censo/renda.py). Um setor de renda alta com baixo analfabetismo e pouca população preta, parda ou indígena é coerente; o mesmo valor num setor com perfil oposto é suspeito. A variante de renda “sem o extremo” retira esses valores; a referência usa a renda original.
Como ler: Cada setor com renda recebe uma classe: NORMAL, EXTREMO (acima do limite do município, mas coerente com o perfil) ou SUSPEITO (acima do limite e incoerente).
O que mostra: São 66 setores SUSPEITO (0,06%) e 3.292 EXTREMO.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percentuais não são comparáveis de forma direta entre critérios diferentes: o critério da inflação de zeros olha só os setores com valor acima de zero. O gráfico serve para localizar os indicadores em que os extremos merecem atenção.
Como ler: Uma barra por indicador, com o percentual de setores marcados; a cor indica o critério (petróleo: Tukey; cinza: inflação de zeros; argila: renda).
O que mostra: A barra mais longa é a de Moradia convencional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mede o quanto dois indicadores sobem e descem juntos, de −1 a 1. Pares muito correlacionados medem quase a mesma coisa; pares sem correlação trazem informação diferente. O bloco mostra as duas medidas usuais (Spearman, por postos, e Pearson, linear) e agrupa os indicadores parecidos.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Spearman é calculada sobre os postos (a ordem dos setores), não sobre os valores. Por isso é pouco afetada por extremos e capta relações que sobem sempre, mesmo que não em linha reta. Valor perto de 1: os setores ordenados por um indicador ficam quase na mesma ordem pelo outro; perto de −1: ordem invertida; perto de 0: sem relação de ordem. Cada par usa os setores com os dois valores.
Como ler: Matriz de correlação de Spearman: cada célula é a correlação entre o indicador da linha e o da coluna, de −1 a 1.
O que mostra: A maior correlação em módulo é entre Renda média e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Pearson mede a relação em linha reta entre os valores. Ela é sensível a extremos e a distribuições muito assimétricas, como as do saneamento. Quando Pearson e Spearman divergem muito para um mesmo par, a relação é puxada por poucos setores extremos ou não é linear.
Como ler: Matriz de correlação de Pearson, com a mesma leitura da de Spearman.
O que mostra: A maior correlação de Pearson em módulo é entre Renda média e Renda sem o extremo (r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sem o extremo × Renda (mediana mun.),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sem o extremo × Renda (mediana mun.),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reordenação põe lado a lado os indicadores que se correlacionam entre si, e os blocos de cor ao longo da diagonal revelam os grupos. Um grupo nítido costuma corresponder a uma dimensão: socioeconômica, saneamento, moradia, idade.
Como ler: 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
O que mostra: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matriz no formato da que a orientadora enviou: o IVS e as variáveis novas lado a lado, com os valores escritos. A correlação de Spearman mede se dois indicadores ordenam os setores do mesmo jeito: 1 é a mesma ordem, −1 a ordem invertida, 0 nenhuma relação. A renda aparece como renda média (não invertida): por isso ela tem correlação negativa com as carências. Variáveis com muitos zeros (água não chega, sem banheiro, moradia não convencional) têm correlações achatadas, porque os empates em zero não têm ordem.
Como ler: Matriz de Spearman só com os componentes do índice (acima e à esquerda da linha) e as variáveis das demandas de setembro (abaixo e à direita). Cada célula traz o ρ; argila é positiva, petróleo negativa.
O que mostra: Entre uma variável nova e um componente de outra família, o par mais forte é Sem água canalizada × Cor/raça PPI (ρ = 0,4193). Pares de variantes da mesma coisa (como banheiro graduado e sem banheiro) ficam de fora do destaque.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Saneamento; cada célula traz o ρ (−1 a 1). Argila é correlação positiva, petróleo negativa.
O que mostra: Na dimensão Saneamento, o par mais forte é Sem banheiro × Banheiro graduado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Socioeconômica; cada célula traz o ρ (−1 a 1). Argila é correlação positiva, petróleo negativa.
O que mostra: Na dimensão Socioeconômica,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Morfologia; cada célula traz o ρ (−1 a 1). Argila é correlação positiva, petróleo negativa.
O que mostra: Na dimensão Morfologia, o par mais forte é Habitação precária × Moradia não convencional (ρ = 0,9646).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Demografia; cada célula traz o ρ (−1 a 1). Argila é correlação positiva, petróleo negativa.
O que mostra: Na dimensão Demografia, o par mais forte é Pessoas 60+ × Dependência idosa (ρ = 0,9957).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dendrograma é o resultado de um agrupamento hierárquico: começa com cada indicador sozinho e, a cada passo, une os dois grupos mais próximos. A distância entre dois indicadores é 1 menos o módulo da correlação de Spearman (0 = idênticos, 1 = sem relação); entre grupos, usa-se a média das distâncias (ligação média). Ele é um retrato descritivo: não substitui a análise fatorial.
Como ler: Cada indicador é uma folha à esquerda; as linhas os unem do mais parecido para o menos. Quanto mais à esquerda a união, mais correlacionados os indicadores.
O que mostra: O par mais próximo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favelas e comunidades urbanas delimitadas pelo IBGE servem de referência externa: um bom indicador de vulnerabilidade deve ter valores mais altos nelas. A comparação usa medianas e a AUC, que mede a capacidade de separar os dois grupos.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0,8456 (mediana 0,7427 em FCU e 0,5096 fora); a menor AUC é a de Renda sem o extremo (0,1018).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0,8456 (mediana 0,7427 em FCU e 0,5096 fora); a menor AUC é a de Renda sem o extremo (0,1018).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Barras que partem de 0,5 deixam claro o sentido: argila para a direita, o indicador é maior nas favelas; petróleo para a esquerda, é menor. O painel das medianas mostra a mesma comparação em valores absolutos, o que ajuda a separar uma diferença grande em termos relativos de uma diferença grande de fato.
Como ler: À esquerda, a AUC de cada indicador (barras a partir de 0,5; argila acima, petróleo abaixo). À direita, as medianas em FCU e fora, para os indicadores em proporção.
O que mostra: A maior AUC é a de Cor/raça PPI (0,8456); a menor, a de Renda sem o extremo (0,1018).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projeto olha para a vulnerabilidade do idoso. Este bloco descreve a estrutura etária e quatro indicadores de envelhecimento, e cruza o percentual de pessoas de 60 anos ou mais com os demais indicadores.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faixas etárias do Censo não são todas do mesmo tamanho: de 30 a 59 anos elas têm dez anos, e as anteriores, cinco. Por isso as faixas de dez anos tendem a parecer maiores. O percentual é calculado sobre a soma das faixas, e cada região soma 100%.
Como ler: Uma linha por faixa etária; as colunas são o total e as regiões, com o percentual da população de cada uma em cada faixa.
O que mostra: Pessoas de 70 anos ou mais são 7,4% do total, chegando a 8,5% no 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agregados por setor do Censo trazem as faixas etárias sem a separação por sexo, por isso a figura é uma pirâmide de um lado só. Pontos à direita da barra nas faixas mais velhas indicam regiões mais envelhecidas.
Como ler: Barras: percentual da população total em cada faixa etária. Pontos: o mesmo percentual em cada região.
O que mostra: 70+: 7,4% no total e 8,5% no 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de envelhecimento é a razão entre pessoas de 60 anos ou mais e pessoas de 0 a 14 anos. A razão de dependência idosa é a razão entre pessoas de 60 anos ou mais e pessoas de 15 a 59 anos. A proporção de 70+ entre os 60+ indica o quanto a população idosa do setor é mais velha. Os quatro são calculados por setor.
Como ler: Os quatro indicadores de envelhecimento, para o total e por região: n, média, mediana, quartis e as demais descritivas.
O que mostra: Pessoas 60+: mediana de 0,1934 no Sul e 0,1118 no Norte. Índice de envelhecimento, mediana do total: 96,2963.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de envelhecimento é a razão entre pessoas de 60 anos ou mais e pessoas de 0 a 14 anos. A razão de dependência idosa é a razão entre pessoas de 60 anos ou mais e pessoas de 15 a 59 anos. A proporção de 70+ entre os 60+ indica o quanto a população idosa do setor é mais velha. Os quatro são calculados por setor.
Como ler: Os quatro indicadores de envelhecimento, para o total e por região: n, média, mediana, quartis e as demais descritivas.
O que mostra: Pessoas 60+: mediana de 0,1934 no Sul e 0,1118 no Norte. Índice de envelhecimento, mediana do total: 96,2963.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cruza envelhecimento com vulnerabilidade. Uma correlação positiva com a renda indica que setores mais ricos têm mais idosos (envelhecimento associado à transição demográfica mais avançada); uma correlação negativa com indicadores de carência diz o mesmo pelo outro lado. Isso importa para o IVS-Idoso: se idade e vulnerabilidade andam em sentidos opostos, somá-las num índice só pode cancelar os efeitos.
Como ler: Correlação de Spearman entre os indicadores de envelhecimento (linhas) e os demais (colunas).
O que mostra: Para pessoas 60+, a correlação mais forte é com População 0–14 (ρ = -0,7878); com a renda média, ρ = 0,5189.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cruza envelhecimento com vulnerabilidade. Uma correlação positiva com a renda indica que setores mais ricos têm mais idosos (envelhecimento associado à transição demográfica mais avançada); uma correlação negativa com indicadores de carência diz o mesmo pelo outro lado. Isso importa para o IVS-Idoso: se idade e vulnerabilidade andam em sentidos opostos, somá-las num índice só pode cancelar os efeitos.
Como ler: Correlação de Spearman entre os indicadores de envelhecimento (linhas) e os demais (colunas).
O que mostra: Para pessoas 60+, a correlação mais forte é com População 0–14 (ρ = -0,7878); com a renda média, ρ = 0,5189.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mais de cem mil setores, um gráfico de pontos vira uma mancha. O gráfico de hexágonos conta quantos setores caem em cada célula. A escala logarítmica da renda espalha os setores de renda baixa, que de outro modo ficariam espremidos à esquerda.
Como ler: Cada hexágono reúne setores com valores parecidos; quanto mais escuro, mais setores. Eixo horizontal: renda média em escala logarítmica; vertical: proporção de pessoas de 60 anos ou mais.
O que mostra: A correlação de Spearman entre as duas é 0,5189.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análise fatorial resume vários indicadores correlacionados em poucas dimensões (fatores). Antes de usá-la, testa-se se os dados se prestam a isso (KMO, MSA, Bartlett) e quantos fatores reter (Kaiser e análise paralela de Horn). Depois, as cargas dizem o quanto cada indicador pertence a cada fator.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KMO (Kaiser-Meyer-Olkin) compara as correlações entre as variáveis com as correlações parciais: perto de 1, as variáveis compartilham muita informação e a fatorial faz sentido; o critério do projeto é pelo menos 0,70. O teste de Bartlett verifica se a matriz de correlação é diferente da identidade (variáveis sem relação); com tantos setores, ele sempre rejeita. O critério de Kaiser retém fatores com autovalor acima de 1; a análise paralela de Horn, mais conservadora, retém os fatores cujo autovalor supera o que dados aleatórios do mesmo tamanho produziriam. A correlação usada é a de Spearman, como no NB04.
Como ler: As medidas de adequação da matriz de correlação dos componentes do índice, na amostra do índice.
O que mostra: KMO 0,7807, com 73.878 setores; Kaiser retém 2 fatores e Horn, 2; 2 fatores explicam 60,8%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MSA é o KMO de cada variável: abaixo de 0,50, a variável compartilha pouco com as outras. A comunalidade é a parte da variância da variável explicada pelos fatores retidos (critério do projeto: pelo menos 0,30). A carga é a correlação da variável com o fator (critério: pelo menos 0,40 no fator principal). A rotação gira os fatores para que cada variável carregue forte em um só: a Varimax mantém os fatores independentes; a promax permite que eles se correlacionem. Na promax, a matriz padrão dá o efeito próprio de cada fator e a matriz estrutura, a correlação simples.
Como ler: Uma linha por componente: MSA, comunalidades e as cargas em cada fator, sem rotação, na Varimax e na promax (padrão e estrutura).
O que mostra: Menor MSA: Renda (invertida) (0,7088). Menor comunalidade (promax): Razão de moradores (0,3755).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autovalor mede quanta variância um componente resume, em unidades de variável: autovalor 2 equivale a duas variáveis inteiras. A análise paralela de Horn gera dados aleatórios com o mesmo número de setores e variáveis e calcula os autovalores que surgiriam só por acaso; um componente merece ser retido quando o seu autovalor supera esse valor.
Como ler: Um componente por linha: autovalor, valor de referência da análise paralela de Horn e variância explicada, simples e acumulada.
O que mostra: Primeiro autovalor 3,1864, segundo 1,0708 (Horn: 1,0155); os dois primeiros explicam 60,8%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rotação oblíqua (promax), os fatores podem se correlacionar. Uma correlação alta entre a dimensão socioeconômica e a de saneamento indica que as carências tendem a ocorrer juntas no mesmo setor. É por isso que, na promax, se usa a matriz padrão para distribuir pesos: ela separa o efeito próprio de cada fator.
Como ler: Matriz Φ: a correlação entre os fatores depois da rotação promax.
O que mostra: A correlação entre F1 e F2 é 0,4109.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nome vem da imagem de uma encosta: os primeiros componentes formam o paredão e os demais, o entulho no pé. Os componentes que ficam acima da linha tracejada trazem estrutura real; os que ficam abaixo, ruído.
Como ler: Linha cheia: autovalores em ordem decrescente. Tracejada: o que dados aleatórios produziriam (Horn). Pontilhada: o critério de Kaiser (autovalor 1).
O que mostra: O segundo autovalor é 1,0708, contra 1,0155 da linha de Horn.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cargas mostra a que fator cada variável pertence. Setas ao longo do eixo horizontal pertencem a F1; ao longo do vertical, a F2; setas na diagonal dividem-se entre os dois. Setas curtas indicam variáveis mal explicadas pelos dois fatores (comunalidade baixa).
Como ler: Cada seta é um componente; a ponta fica nas cargas padrão da promax em F1 (horizontal) e F2 (vertical). O círculo marca carga 1.
O que mostra: Maior carga em F1: Renda (invertida) (0,9366); em F2: Água inadequada (0,7829).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os fatores e os pesos, cada setor recebe um valor de 0 a 1 dentro do seu município. O bloco mostra os pesos, a distribuição do índice, as faixas de vulnerabilidade pelas duas regras, a AUC contra as favelas e se a versão passa nos critérios de elegibilidade fixados no NB05.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pesos seguem a receita do NB04: cada variável vai para a dimensão em que tem a maior carga; o peso da dimensão é repartido entre as variáveis dela em proporção ao quadrado da carga. O peso das dimensões depende do método da versão; na referência é a regra do IVS-BH de 2012 (60% socioeconômica, 40% saneamento).
Como ler: Uma linha por componente: a dimensão em que ele carrega mais, a carga, o peso da dimensão e o peso final no índice (em %).
O que mostra: O maior peso é o de Renda (invertida) (19,3%); a dimensão F1 (socioeconômica) pesa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vai de 0 (o setor menos vulnerável do município) a 1 (o mais vulnerável). Comparar o nível do índice entre municípios não faz sentido nesta normalização; o que se compara é a posição relativa de cada setor dentro da sua cidade.
Como ler: Descritivas do índice para o total e por região. Como o índice é normalizado dentro de cada município, todo município tem mínimo 0 e máximo 1.
O que mostra: 73.878 setores; mediana 0,3306; percentil 90 0,4311.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regra do IVS-BH de 2012 classifica pelo afastamento da média do município em desvios-padrão: abaixo de −0,5 DP é baixo; até +0,5 DP, médio; até +1,5 DP, elevado; acima, muito elevado. Como a distribuição é assimétrica, as faixas não têm o mesmo tamanho. A regra dos quartis divide cada município em quatro partes iguais, por construção com 25% cada.
Como ler: Quantos setores ficam em cada faixa, pelas duas regras: a do IVS-BH (média e desvio-padrão do município) e a dos quartis do município.
O que mostra: IVS-BH: 28,8% baixo e 5,3% muito elevado. Quartis: 25,0%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global junta todos os setores; a municipal calcula a AUC dentro de cada município e toma a mediana, só nos municípios com pelo menos 30 setores de FCU e 30 fora. A municipal é a leitura adequada para um índice normalizado no município. Os critérios de elegibilidade foram fixados antes de rodar a grade do NB05: KMO de pelo menos 0,70, MSA de pelo menos 0,50, comunalidade de pelo menos 0,30 e carga de pelo menos 0,40 em todas as variáveis. A elegibilidade é descritiva: não escolhe a versão.
Como ler: AUC global e municipal, peso da dimensão socioeconômica e os critérios de elegibilidade do NB05, um por linha (1 = atende).
O que mostra: AUC global 0,8309; mediana da AUC municipal 0,8186, em 31 municípios. Pelos critérios do NB05, a versão é elegível.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Campinas (0,9544) e a menor, a de Duque de Caxias (0,6037).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Campinas (0,9544) e a menor, a de Duque de Caxias (0,6037).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as faixas são definidas dentro de cada município, um mesmo valor do índice pode cair em faixas diferentes em cidades diferentes: por isso as cores se sobrepõem nas fronteiras.
Como ler: Histograma do índice, com cada barra dividida pela faixa dos setores (regra do IVS-BH).
O que mostra: 28,8% dos setores ficam em baixo e 5,3% em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mais a curva se aproxima do canto superior esquerdo, melhor o índice separa os dois grupos. A área sob a curva é a AUC. Esta curva usa todos os setores juntos; como o índice é normalizado no município, a AUC municipal é a medida principal.
Como ler: Cada ponto da curva é um corte do índice: no eixo vertical, a proporção de setores de FCU acima do corte; no horizontal, a dos setores de fora. A diagonal é o acaso.
O que mostra: Área sob a curva: 0,8309 (global); a mediana municipal é 0,8186.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classifica setores, mas a pergunta de política pública é sobre pessoas. Este bloco soma moradores e moradores de 60 anos ou mais em cada faixa do índice, por município.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faixas são relativas ao município: todo município tem setores nas faixas altas, por construção. O que muda de um para outro é quanta gente mora nesses setores, porque os setores têm populações diferentes.
Como ler: Uma linha por município: setores, moradores e moradores de 60+ em cada faixa (regra do IVS-BH) e o percentual de moradores nas duas faixas mais altas.
O que mostra: Maior percentual em elevado ou muito elevado: Jaqueira (56,9%); menor: São Raimundo do Doca Bezerra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faixas são relativas ao município: todo município tem setores nas faixas altas, por construção. O que muda de um para outro é quanta gente mora nesses setores, porque os setores têm populações diferentes.
Como ler: Uma linha por município: setores, moradores e moradores de 60+ em cada faixa (regra do IVS-BH) e o percentual de moradores nas duas faixas mais altas.
O que mostra: Maior percentual em elevado ou muito elevado: Jaqueira (56,9%); menor: São Raimundo do Doca Bezerra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contagem de pessoas usa o total de moradores do setor (v0001) e a soma das faixas de 60 a 69 e de 70 anos ou mais. Só entram os setores da amostra do índice.
Como ler: Uma linha por faixa: setores, moradores e moradores de 60+, com os percentuais.
O que mostra: Na faixa muito elevada: 1.771.121 pessoas (4,7% do total), das quais 173.718 com 60 anos ou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mostra a tabela por município em forma de barras empilhadas. Um município em que as faixas altas ocupam muito da barra concentra população nos setores mais vulneráveis da cidade.
Como ler: Uma barra por município, dividida pelas faixas do índice; o comprimento de cada parte é o percentual de moradores. Ordem: do maior para o menor percentual nas duas faixas mais altas.
O que mostra: No topo, Jaqueira (56,9% em elevado ou muito elevado); na base, São Raimundo do Doca Bezerra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índice é normalizado dentro de cada município, a comparação entre cidades é sobre a desigualdade interna, não sobre o nível. Três medidas: a razão entre os percentis 90 e 10, o Gini e o Theil.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Gini vai de 0 (todos os setores com o mesmo valor) a 1 (toda a soma concentrada num setor). O Theil também mede concentração, mas é mais sensível à cauda alta. A razão P90/P10 compara o setor no percentil 90 com o do percentil 10; como o índice começa em 0 em todo município, o P10 pode ser muito pequeno e a razão explodir, por isso ela fica vazia quando o P10 é zero.
Como ler: Uma linha por município: setores, média, percentis 10 e 90 do índice, a razão P90/P10, o Gini e o Theil.
O que mostra: Maior Gini: São Paulo das Missões (0,4163); menor: Salvador (0,0608).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Gini vai de 0 (todos os setores com o mesmo valor) a 1 (toda a soma concentrada num setor). O Theil também mede concentração, mas é mais sensível à cauda alta. A razão P90/P10 compara o setor no percentil 90 com o do percentil 10; como o índice começa em 0 em todo município, o P10 pode ser muito pequeno e a razão explodir, por isso ela fica vazia quando o P10 é zero.
Como ler: Uma linha por município: setores, média, percentis 10 e 90 do índice, a razão P90/P10, o Gini e o Theil.
O que mostra: Maior Gini: São Paulo das Missões (0,4163); menor: Salvador (0,0608).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Gini e Theil apontam em sentidos diferentes para um município, a desigualdade dele está mais na cauda (poucos setores muito acima dos demais) do que no meio da distribuição.
Como ler: Barras: Gini do índice dentro de cada município, do maior para o menor. Pontos: Theil.
O que mostra: Do maior Gini, São Paulo das Missões (0,4163), ao menor, Salvador (0,0608).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versão muda uma coisa só em relação à referência. Este bloco mede o efeito dessa mudança: a correlação de postos entre os dois índices, a matriz de setores que trocam de faixa e os municípios mais afetados.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correlação de postos perto de 1 indica que a versão ordena os setores quase como a referência, ainda que os valores mudem. Na própria referência, o valor é 1 por construção.
Como ler: Correlação de Spearman entre o índice desta versão e o da referência, nos setores que estão nas duas amostras: total e por município.
O que mostra: Total: ρ = 1,0000. Menor correlação municipal: Teresina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diagonal (mesma faixa nas duas) mostra a concordância. Trocas entre faixas vizinhas são esperadas quando os pesos mudam um pouco; trocas de duas faixas ou mais indicam que a versão muda de fato a classificação do setor.
Como ler: Cada linha é um par (faixa na referência, faixa nesta versão), com o número de setores e o percentual do total.
O que mostra: Fora da diagonal, a maior célula é de — para —, com 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faixa usada é a da regra do IVS-BH. Municípios pequenos tendem a aparecer no topo, porque poucas trocas pesam muito em poucos setores.
Como ler: A primeira linha é o total; as demais, os municípios, do mais afetado para o menos: setores comuns, setores que mudam de faixa e o percentual.
O que mostra: No total, 0,0% dos setores mudam de faixa; o município mais afetado é São Raimundo do Doca Bezerra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matriz com quase tudo na diagonal indica que a mudança da versão não altera a classificação; células fora da diagonal mostram para onde os setores se movem.
Como ler: Linhas: faixa na referência; colunas: faixa nesta versão; cada célula traz o número de setores.
O que mostra: A maior troca fora da diagonal é de — para — (0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destaca onde a escolha desta versão faz mais diferença. Na própria referência, todas as barras são zero.
Como ler: Os 20 municípios com o maior percentual de setores que mudam de faixa.
O que mostra: O mais afetado é São Raimundo do Doca Bezerra (100,0%); no total,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referência é o ponto de partida, não uma escolha: ela foi proposta no NB05 pela melhor posição média entre as especificações elegíveis, e continua valendo até a orientadora decidir. Os números desta versão reproduzem os publicados no NB05 (amostra do índice, índice por setor, faixas e AUC municipal). O bloco 13 compara a referência com ela mesma e serve só para mostrar como o bloco se lê nas outras versões: correlação 1 e nenhum setor mudando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amostra do índice exclui todo setor com algum componente faltante (exclusão por lista). Como o sigilo se concentra nos setores pequenos (bloco 4), a amostra sub-representa esses setores.
O índice é normalizado dentro de cada município: compara setores da mesma cidade, não cidades entre si.
A AUC usa as favelas e comunidades urbanas do IBGE como referência externa; elas não esgotam a vulnerabilidade, e municípios com poucos setores de FCU ficam fora da AUC municipal.
Não há malha dos setores no computador: nenhuma análise espacial ou mapa entra nesta versão.
As faixas etárias dos agregados por setor não separam sexo; a pirâmide é de um lado só.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00_referencia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Referência</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Como são os dados e o IVS da referência proposta do NB05, sem nada mudado?</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  ·  104.108 setores no recorte  ·  73.878 na amostra do índice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79501">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 Esgoto inadequado, Razão de moradores, Analfabetismo 15+, Renda (invertida), Cor/raça PPI, Banheiro 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465701"/>
            <a:ext cx="822960" cy="0"/>
          </a:xfrm>
          <a:prstGeom prst="line">
            <a:avLst/>
          </a:prstGeom>
          <a:noFill/>
          <a:ln w="15875">
            <a:solidFill>
              <a:srgbClr val="8C2F27"/>
            </a:solidFill>
            <a:prstDash val="solid"/>
          </a:ln>
        </p:spPr>
      </p:sp>
      <p:sp>
        <p:nvSpPr>
          <p:cNvPr id="7" name="Text 4"/>
          <p:cNvSpPr/>
          <p:nvPr/>
        </p:nvSpPr>
        <p:spPr>
          <a:xfrm>
            <a:off x="777240" y="4520565"/>
            <a:ext cx="10634472" cy="1514475"/>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Nada. Esta é a base de comparação de todas as outras versões: o recorte da EDA (setores urbanos com Dados_sig = OK nos 70 municípios), todos os indicadores e variantes, e o IVS da referência proposta no NB05 — renda original, sem lixo, banheiro graduado, rotação promax, pesos 60/40 da regra do IVS-BH e normalização dentro do município. Cada versão seguinte muda uma coisa só em relação a esta.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73.878 setores chegam ao índice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517904"/>
            <a:ext cx="3300984" cy="0"/>
          </a:xfrm>
          <a:prstGeom prst="line">
            <a:avLst/>
          </a:prstGeom>
          <a:noFill/>
          <a:ln w="12700">
            <a:solidFill>
              <a:srgbClr val="1A1A18"/>
            </a:solidFill>
            <a:prstDash val="solid"/>
          </a:ln>
        </p:spPr>
      </p:sp>
      <p:sp>
        <p:nvSpPr>
          <p:cNvPr id="6" name="Text 4"/>
          <p:cNvSpPr/>
          <p:nvPr/>
        </p:nvSpPr>
        <p:spPr>
          <a:xfrm>
            <a:off x="777240"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109.032</a:t>
            </a:r>
            <a:endParaRPr lang="en-US" sz="3000" dirty="0"/>
          </a:p>
        </p:txBody>
      </p:sp>
      <p:sp>
        <p:nvSpPr>
          <p:cNvPr id="7" name="Text 5"/>
          <p:cNvSpPr/>
          <p:nvPr/>
        </p:nvSpPr>
        <p:spPr>
          <a:xfrm>
            <a:off x="777240"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base completa</a:t>
            </a:r>
            <a:endParaRPr lang="en-US" sz="1050" dirty="0"/>
          </a:p>
        </p:txBody>
      </p:sp>
      <p:sp>
        <p:nvSpPr>
          <p:cNvPr id="8" name="Shape 6"/>
          <p:cNvSpPr/>
          <p:nvPr/>
        </p:nvSpPr>
        <p:spPr>
          <a:xfrm>
            <a:off x="4443984" y="1517904"/>
            <a:ext cx="3300984" cy="0"/>
          </a:xfrm>
          <a:prstGeom prst="line">
            <a:avLst/>
          </a:prstGeom>
          <a:noFill/>
          <a:ln w="12700">
            <a:solidFill>
              <a:srgbClr val="1A1A18"/>
            </a:solidFill>
            <a:prstDash val="solid"/>
          </a:ln>
        </p:spPr>
      </p:sp>
      <p:sp>
        <p:nvSpPr>
          <p:cNvPr id="9" name="Text 7"/>
          <p:cNvSpPr/>
          <p:nvPr/>
        </p:nvSpPr>
        <p:spPr>
          <a:xfrm>
            <a:off x="4443984"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104.108</a:t>
            </a:r>
            <a:endParaRPr lang="en-US" sz="3000" dirty="0"/>
          </a:p>
        </p:txBody>
      </p:sp>
      <p:sp>
        <p:nvSpPr>
          <p:cNvPr id="10" name="Text 8"/>
          <p:cNvSpPr/>
          <p:nvPr/>
        </p:nvSpPr>
        <p:spPr>
          <a:xfrm>
            <a:off x="4443984"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no recorte da versão (descritivas, distribuições, correlações)</a:t>
            </a:r>
            <a:endParaRPr lang="en-US" sz="1050" dirty="0"/>
          </a:p>
        </p:txBody>
      </p:sp>
      <p:sp>
        <p:nvSpPr>
          <p:cNvPr id="11" name="Shape 9"/>
          <p:cNvSpPr/>
          <p:nvPr/>
        </p:nvSpPr>
        <p:spPr>
          <a:xfrm>
            <a:off x="8110728" y="1517904"/>
            <a:ext cx="3300984" cy="0"/>
          </a:xfrm>
          <a:prstGeom prst="line">
            <a:avLst/>
          </a:prstGeom>
          <a:noFill/>
          <a:ln w="12700">
            <a:solidFill>
              <a:srgbClr val="8C2F27"/>
            </a:solidFill>
            <a:prstDash val="solid"/>
          </a:ln>
        </p:spPr>
      </p:sp>
      <p:sp>
        <p:nvSpPr>
          <p:cNvPr id="12" name="Text 10"/>
          <p:cNvSpPr/>
          <p:nvPr/>
        </p:nvSpPr>
        <p:spPr>
          <a:xfrm>
            <a:off x="8110728" y="159105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73.878</a:t>
            </a:r>
            <a:endParaRPr lang="en-US" sz="3000" dirty="0"/>
          </a:p>
        </p:txBody>
      </p:sp>
      <p:sp>
        <p:nvSpPr>
          <p:cNvPr id="13" name="Text 11"/>
          <p:cNvSpPr/>
          <p:nvPr/>
        </p:nvSpPr>
        <p:spPr>
          <a:xfrm>
            <a:off x="8110728"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(fatorial e blocos 9 a 13)</a:t>
            </a:r>
            <a:endParaRPr lang="en-US" sz="1050" dirty="0"/>
          </a:p>
        </p:txBody>
      </p:sp>
      <p:sp>
        <p:nvSpPr>
          <p:cNvPr id="14" name="Text 12"/>
          <p:cNvSpPr/>
          <p:nvPr/>
        </p:nvSpPr>
        <p:spPr>
          <a:xfrm>
            <a:off x="777240" y="3026664"/>
            <a:ext cx="10634472" cy="219456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Por que dois números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sz="1250" dirty="0"/>
          </a:p>
        </p:txBody>
      </p:sp>
      <p:sp>
        <p:nvSpPr>
          <p:cNvPr id="15" name="Text 1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Quantos setores entram nesta versão, quantos saem e por quê?</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T01, F01, 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Descritivas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Qual é o valor típico de cada indicador, e quanto ele varia?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T03, T04, 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Distribuições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forma tem cada indicador, e ela muda de uma região para outra?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F02, F03, F04, F05, F06, F07, F08, F09, F10, F11, F12, F13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Faltantes e sigilo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Onde faltam dados, e a falta é aleatória?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T06, F14, T07, F15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setores têm valores fora do comum, e por qual critério?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T08, T09, T10, T11, F16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Correlações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indicadores andam juntos?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T12, T13, T14, F17, F31, F32, F33, F34, F35, F18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Favelas e comunidades urbanas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Cada indicador, sozinho, separa os setores de favela dos demais?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T15, F19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Como a população idosa se distribui, e com que indicadores ela se relaciona?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T16, F20, T17, T18, F21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Adequação fatorial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Os componentes do índice se prestam a uma análise fatorial, e quantos fatores ela sustenta?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T19, T20, T21, T22, F22, F23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índice da versão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Como fica o índice, e ele separa os setores de favela?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T23, T24, T25, T26, T27, F24, F25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Quem está em risco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Quantas pessoas, e quantas pessoas idosas, vivem em cada faixa?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T28, T29, F26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Desigualdade interna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Em que municípios o índice varia mais de um setor para outro?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T30, F27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Comparação com a referência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que esta versão muda em relação à referência proposta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T31, T32, T33, F28, F29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Recorte</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Quantos setores entram nesta versão, quantos saem e por quê?</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T01 · F01 · T02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73.878 setores chegam ao índice, de 109.032 na base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06640" cy="914400"/>
        </p:xfrm>
        <a:graphic>
          <a:graphicData uri="http://schemas.openxmlformats.org/drawingml/2006/table">
            <a:tbl>
              <a:tblPr/>
              <a:tblGrid>
                <a:gridCol w="2377440"/>
                <a:gridCol w="914400"/>
                <a:gridCol w="822960"/>
                <a:gridCol w="3291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Etapa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Saem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Motivo da saída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Base completa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Setores urbanos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106.347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 rural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Dados_sig = OK</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 sem dados divulgados (sigilo ou sem domicílio ocupado)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Componentes do índice completos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 em algum componente do índice (exclusão por lista)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filtro, na ordem em que é aplicado: quantos setores ficam, quantos saem e por quê.</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base tem 109.032 setores; 104.108 ficam no recorte da versão e 73.878 têm todos os componentes do índice (30.230 saem nesta última etapa).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  ·  Bloco 1. Recorte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Do recorte ao índice, 30.230 setores saem por falta de algum componente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1_funil.png">    </p:cNvPr>
          <p:cNvPicPr>
            <a:picLocks noChangeAspect="1"/>
          </p:cNvPicPr>
          <p:nvPr/>
        </p:nvPicPr>
        <p:blipFill>
          <a:blip r:embed="rId1"/>
          <a:stretch>
            <a:fillRect/>
          </a:stretch>
        </p:blipFill>
        <p:spPr>
          <a:xfrm>
            <a:off x="777240" y="1243584"/>
            <a:ext cx="7452360" cy="2648794"/>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barra é uma etapa do funil; o comprimento é o número de setores que ainda estão dentro.</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final (73.878 setores) é a amostra do índice; a do recorte tem 104.108.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F01 · figuras/F01_funil.png  ·  Bloco 1. Recorte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Analfabetismo 15+ é o indicador com mais faltantes (15,9%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89.816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Analfabetismo 15+ (15,9%);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1 de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Analfabetismo 15+ é o indicador com mais faltantes (15,9%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99.642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Analfabetismo 15+ (15,9%);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2 de 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Descritivas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Qual é o valor típico de cada indicador, e quanto ele varia?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T03 · T04 · T05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banheiro nem sanitário é o indicador mais assimétrico (assimetria 68,98)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89.816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4.187,41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4.150,66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Sem banheiro nem sanitário (68,98); o maior percentual de zeros é o de Sem banheiro nem sanitário (99,7%).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1 de 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banheiro nem sanitário é o indicador mais assimétrico (assimetria 68,98)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4.118,57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4.118,56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9.490,40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99.642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134,6608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141,5944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30,7692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16,8607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49,6599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42,6719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10,9837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55,9524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Sem banheiro nem sanitário (68,98); o maior percentual de zeros é o de Sem banheiro nem sanitário (99,7%).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2 de 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1.719,20 (Nordeste) a 3.722,28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2,7834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2.730,60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0,7699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(3.722,28) e a mais baixa no Nordeste (1.719,20).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1 de 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1.719,20 (Nordeste) a 3.722,28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2.730,60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53,5504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77,7778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110,9589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122,9337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75,2381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16,5766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28,0899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29,9650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20,4335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43,7932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43,9655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(3.722,28) e a mais baixa no Nordeste (1.719,20).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2 de 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1.062,36 a 5.291,89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Caetano do 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5.291,89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11.103,24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2.129,00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4.115,50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9.499,64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3.986,89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10.019,53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3.518,50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13.287,89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Pato Branco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2.057,90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3.466,51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6.384,93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3.391,86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9.834,38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1.667,08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3.371,95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7.707,48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3.219,85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5.535,53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9.455,31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26.508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3.108,90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12.289,02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São Caetano do Sul (5.291,89); a menor, a de Jaqueira (1.062,36).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1 de 2</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1.062,36 a 5.291,89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1.192,52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1.494,02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Itapetinga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1.445,73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2.837,46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959,68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1.256,60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1.084,70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1.339,82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1.334,01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1.595,92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927,87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1.271,66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959,71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1.661,44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0191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São Caetano do Sul (5.291,89); a menor, a de Jaqueira (1.062,36).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2 de 2</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Distribuições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forma tem cada indicador, e ela muda de uma região para outra?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F02 · F03 · F04 · F05 · F06 · F07 · F08 · F09 · F10 · F11 · F12 · F13</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68,98)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2_histogramas_saneamento.png">    </p:cNvPr>
          <p:cNvPicPr>
            <a:picLocks noChangeAspect="1"/>
          </p:cNvPicPr>
          <p:nvPr/>
        </p:nvPicPr>
        <p:blipFill>
          <a:blip r:embed="rId1"/>
          <a:stretch>
            <a:fillRect/>
          </a:stretch>
        </p:blipFill>
        <p:spPr>
          <a:xfrm>
            <a:off x="777240" y="1243584"/>
            <a:ext cx="7452360" cy="415582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Saneamento, a maior assimetria é a de Sem banheiro nem sanitário (68,98).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F02 · figuras/F02_histogramas_saneamento.png  ·  Bloco 3. Distribuições</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Água inadequada tem mediana de 0,1759 no Norte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3_boxplots_regiao_saneamento.png">    </p:cNvPr>
          <p:cNvPicPr>
            <a:picLocks noChangeAspect="1"/>
          </p:cNvPicPr>
          <p:nvPr/>
        </p:nvPicPr>
        <p:blipFill>
          <a:blip r:embed="rId1"/>
          <a:stretch>
            <a:fillRect/>
          </a:stretch>
        </p:blipFill>
        <p:spPr>
          <a:xfrm>
            <a:off x="777240" y="1243584"/>
            <a:ext cx="7452360" cy="4160184"/>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(Água inadequada), a mediana regional vai de 0,0000 (Centro-Oeste) a 0,1759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F03 · figuras/F03_boxplots_regiao_saneamento.png  ·  Bloco 3. Distribuições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4_densidades_regiao_saneamento.png">    </p:cNvPr>
          <p:cNvPicPr>
            <a:picLocks noChangeAspect="1"/>
          </p:cNvPicPr>
          <p:nvPr/>
        </p:nvPicPr>
        <p:blipFill>
          <a:blip r:embed="rId1"/>
          <a:stretch>
            <a:fillRect/>
          </a:stretch>
        </p:blipFill>
        <p:spPr>
          <a:xfrm>
            <a:off x="777240" y="1243584"/>
            <a:ext cx="7452360" cy="416236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Água inadequada, a mediana regional vai de 0,0000 (Centro-Oeste) a 0,1759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F04 · figuras/F04_densidades_regiao_saneamento.png  ·  Bloco 3. Distribuições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Renda média tem a distribuição mais assimétrica (assimetria 3,74)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5_histogramas_socioeconomica.png">    </p:cNvPr>
          <p:cNvPicPr>
            <a:picLocks noChangeAspect="1"/>
          </p:cNvPicPr>
          <p:nvPr/>
        </p:nvPicPr>
        <p:blipFill>
          <a:blip r:embed="rId1"/>
          <a:stretch>
            <a:fillRect/>
          </a:stretch>
        </p:blipFill>
        <p:spPr>
          <a:xfrm>
            <a:off x="777240" y="1243584"/>
            <a:ext cx="7452360" cy="274725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Socioeconômica, a maior assimetria é a de Renda média (3,74).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F05 · figuras/F05_histogramas_socioeconomica.png  ·  Bloco 3. Distribuições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Razão de moradores tem mediana de 3,1938 no Norte e 2,5992 no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6_boxplot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(Razão de moradores), a mediana regional vai de 2,5992 (Sul) a 3,1938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F06 · figuras/F06_boxplots_regiao_socioeconomica.png  ·  Bloco 3. Distribuições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7_densidade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Razão de moradores, a mediana regional vai de 2,5992 (Sul) a 3,1938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F07 · figuras/F07_densidades_regiao_socioeconomica.png  ·  Bloco 3. Distribuições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a distribuição mais assimétrica (assimetria 37,38)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8_histogramas_morfologia.png">    </p:cNvPr>
          <p:cNvPicPr>
            <a:picLocks noChangeAspect="1"/>
          </p:cNvPicPr>
          <p:nvPr/>
        </p:nvPicPr>
        <p:blipFill>
          <a:blip r:embed="rId1"/>
          <a:stretch>
            <a:fillRect/>
          </a:stretch>
        </p:blipFill>
        <p:spPr>
          <a:xfrm>
            <a:off x="777240" y="1243584"/>
            <a:ext cx="7452360" cy="274725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Morfologia, a maior assimetria é a de Domicílio improvisado (37,38).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F08 · figuras/F08_histogramas_morfologia.png  ·  Bloco 3. Distribuições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09_boxplots_regiao_morfologia.png">    </p:cNvPr>
          <p:cNvPicPr>
            <a:picLocks noChangeAspect="1"/>
          </p:cNvPicPr>
          <p:nvPr/>
        </p:nvPicPr>
        <p:blipFill>
          <a:blip r:embed="rId1"/>
          <a:stretch>
            <a:fillRect/>
          </a:stretch>
        </p:blipFill>
        <p:spPr>
          <a:xfrm>
            <a:off x="777240" y="1243584"/>
            <a:ext cx="7452360" cy="274869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F09 · figuras/F09_boxplots_regiao_morfologia.png  ·  Bloco 3. Distribuições</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0_densidades_regiao_morfologi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F10 · figuras/F10_densidades_regiao_morfologia.png  ·  Bloco 3. Distribuições</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Índice de envelhecimento tem a distribuição mais assimétrica (assimetria 5,74)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1_histogramas_demografia.png">    </p:cNvPr>
          <p:cNvPicPr>
            <a:picLocks noChangeAspect="1"/>
          </p:cNvPicPr>
          <p:nvPr/>
        </p:nvPicPr>
        <p:blipFill>
          <a:blip r:embed="rId1"/>
          <a:stretch>
            <a:fillRect/>
          </a:stretch>
        </p:blipFill>
        <p:spPr>
          <a:xfrm>
            <a:off x="777240" y="1243584"/>
            <a:ext cx="7452360" cy="2751160"/>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Demografia, a maior assimetria é a de Índice de envelhecimento (5,74).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F11 · figuras/F11_histogramas_demografia.png  ·  Bloco 3. Distribuições</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Crianças 0–4 tem mediana de 0,0632 no Norte e 0,0465 no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2_boxplots_regiao_demografia.png">    </p:cNvPr>
          <p:cNvPicPr>
            <a:picLocks noChangeAspect="1"/>
          </p:cNvPicPr>
          <p:nvPr/>
        </p:nvPicPr>
        <p:blipFill>
          <a:blip r:embed="rId1"/>
          <a:stretch>
            <a:fillRect/>
          </a:stretch>
        </p:blipFill>
        <p:spPr>
          <a:xfrm>
            <a:off x="777240" y="1243584"/>
            <a:ext cx="7452360" cy="275404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(Crianças 0–4), a mediana regional vai de 0,0465 (Sul) a 0,0632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F12 · figuras/F12_boxplots_regiao_demografia.png  ·  Bloco 3. Distribuições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3_densidades_regiao_demografia.png">    </p:cNvPr>
          <p:cNvPicPr>
            <a:picLocks noChangeAspect="1"/>
          </p:cNvPicPr>
          <p:nvPr/>
        </p:nvPicPr>
        <p:blipFill>
          <a:blip r:embed="rId1"/>
          <a:stretch>
            <a:fillRect/>
          </a:stretch>
        </p:blipFill>
        <p:spPr>
          <a:xfrm>
            <a:off x="777240" y="1243584"/>
            <a:ext cx="7452360" cy="275404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Crianças 0–4, a mediana regional vai de 0,0465 (Sul) a 0,0632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F13 · figuras/F13_densidades_regiao_demografia.png  ·  Bloco 3. Distribuições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4</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Faltantes e sigilo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Onde faltam dados, e a falta é aleatória?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T06 · F14 · T07 · F15</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maior percentual de faltantes é o de Banheiro graduado em Placas (68,8%)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69480" cy="914400"/>
        </p:xfrm>
        <a:graphic>
          <a:graphicData uri="http://schemas.openxmlformats.org/drawingml/2006/table">
            <a:tbl>
              <a:tblPr/>
              <a:tblGrid>
                <a:gridCol w="2011680"/>
                <a:gridCol w="1051560"/>
                <a:gridCol w="1051560"/>
                <a:gridCol w="1051560"/>
                <a:gridCol w="1051560"/>
                <a:gridCol w="105156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Só sanitário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Domicílio improvisado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de uso comum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cada célula é o percentual de setores do município sem aquele indicador.</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célula mais alta é Banheiro graduado em Placas, com 68,8% dos setores sem valor.</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T06 · tabelas/T06_faltantes_por_municipio.csv  ·  Bloco 4. Faltantes e sigilo</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4_mapa_faltantes.png">    </p:cNvPr>
          <p:cNvPicPr>
            <a:picLocks noChangeAspect="1"/>
          </p:cNvPicPr>
          <p:nvPr/>
        </p:nvPicPr>
        <p:blipFill>
          <a:blip r:embed="rId1"/>
          <a:stretch>
            <a:fillRect/>
          </a:stretch>
        </p:blipFill>
        <p:spPr>
          <a:xfrm>
            <a:off x="2299870" y="1243584"/>
            <a:ext cx="4407101"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Mapa de calor: linhas são municípios, colunas são indicadores; quanto mais escura a célula, maior o percentual de setores sem valor.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ponto mais escuro é Banheiro graduado em Placas (68,8%).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F14 · figuras/F14_mapa_faltantes.png  ·  Bloco 4. Faltantes e sigilo</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analfabetismo falta em 29,4% dos menores setores e em 3,9% dos maiores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731520"/>
                <a:gridCol w="1097280"/>
                <a:gridCol w="1097280"/>
                <a:gridCol w="1097280"/>
                <a:gridCol w="12801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Décimo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(mín.)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(máx.)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renda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analfabetismo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em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setores são divididos em dez grupos iguais pelo número de moradores (1 = os menores). Para cada grupo, o percentual de setores sem renda e sem analfabetismo, e o percentual em FCU.</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Sem renda: 0,1% no primeiro décimo e 0,0% no último. Sem analfabetismo: 29,4% e 3,9%.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T07 · tabelas/T07_sigilo_por_porte_do_setor.csv  ·  Bloco 4. Faltantes e sigilo</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falta de dados depende do tamanho do setor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5_sigilo_por_porte_do_setor.png">    </p:cNvPr>
          <p:cNvPicPr>
            <a:picLocks noChangeAspect="1"/>
          </p:cNvPicPr>
          <p:nvPr/>
        </p:nvPicPr>
        <p:blipFill>
          <a:blip r:embed="rId1"/>
          <a:stretch>
            <a:fillRect/>
          </a:stretch>
        </p:blipFill>
        <p:spPr>
          <a:xfrm>
            <a:off x="777240" y="1243584"/>
            <a:ext cx="7452360" cy="4013930"/>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Eixo horizontal: décimo de moradores do setor (1 = menores). Eixo vertical: percentual de setores sem o indicador.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Renda: de 0,1% a 0,0%; analfabetismo: de 29,4% a 3,9%, do menor ao maior décimo.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F15 · figuras/F15_sigilo_por_porte_do_setor.png  ·  Bloco 4. Faltantes e sigilo</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Extremos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setores têm valores fora do comum, e por qual critério?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T08 · T09 · T10 · T11 · F16</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2,0962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1 de 3</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4,2676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Tukey k=3 no município + coerência do perfil do setor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14.085,88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14.085,84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2 de 3</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516,7224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98,1457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93,2886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3 de 3</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São Paulo concentra o maior número de marcações de extremo (7.734)</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011680"/>
                <a:gridCol w="822960"/>
                <a:gridCol w="1097280"/>
                <a:gridCol w="109728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com o número de setores marcados; a coluna total soma todas as marcações.</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município com mais marcações é São Paulo, com 7.734 no total.</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T09 · tabelas/T09_extremos_por_municipio.csv  ·  Bloco 5. Extremos</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130260305100279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130260305100279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330455705250341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355030830001117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Campo Grande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500270405110448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330455705250341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355030830001117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330455705080087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292740805180776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310620005650366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170.418,06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130260305100324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355030832000202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140.172,64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Belo Horizonte, com valor 170.418,06.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1 de 2</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355030832000202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140.172,64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330455705300460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130260305110210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221100105080289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530010805140094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230440005140173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530010805140094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130260305080037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51192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Belo Horizonte, com valor 170.418,06.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2 de 2</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66 setores têm renda suspeita e 3.292 têm renda extrema coerente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023360" cy="914400"/>
        </p:xfrm>
        <a:graphic>
          <a:graphicData uri="http://schemas.openxmlformats.org/drawingml/2006/table">
            <a:tbl>
              <a:tblPr/>
              <a:tblGrid>
                <a:gridCol w="182880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Classe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NORMAL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SUSPEITO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setor com renda recebe uma classe: NORMAL, EXTREMO (acima do limite do município, mas coerente com o perfil) ou SUSPEITO (acima do limite e incoerente).</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São 66 setores SUSPEITO (0,06%) e 3.292 EXTREMO.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T11 · tabelas/T11_renda_classes.csv  ·  Bloco 5. Extremos</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6_extremos_por_indicador.png">    </p:cNvPr>
          <p:cNvPicPr>
            <a:picLocks noChangeAspect="1"/>
          </p:cNvPicPr>
          <p:nvPr/>
        </p:nvPicPr>
        <p:blipFill>
          <a:blip r:embed="rId1"/>
          <a:stretch>
            <a:fillRect/>
          </a:stretch>
        </p:blipFill>
        <p:spPr>
          <a:xfrm>
            <a:off x="2091800" y="1243584"/>
            <a:ext cx="4823240"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indicador, com o percentual de setores marcados; a cor indica o critério (petróleo: Tukey; cinza: inflação de zeros; argila: renda).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mais longa é a de Moradia convencional (6,8%).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F16 · figuras/F16_extremos_por_indicador.png  ·  Bloco 5. Extremos</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6</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Correlações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indicadores andam juntos?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T12 · T13 · T14 · F17 · F31 · F32 · F33 · F34 · F35 · F18</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cada célula é a correlação entre o indicador da linha e o da coluna, de −1 a 1.</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em módulo é entre Renda média e Renda sem o extremo (ρ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T12 · tabelas/T12_correlacao_spearman.csv  ·  Bloco 6. Correlações</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46</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Pearson, com a mesma leitura da de Spearman.</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de Pearson em módulo é entre Renda média e Renda sem o extremo (r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T13 · tabelas/T13_correlacao_pearson.csv  ·  Bloco 6. Correlações</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sem o extremo × Renda (mediana mun.),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1 de 2</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sem o extremo × Renda (mediana mun.),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2 de 2</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formam grupos de correlação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7_mapa_spearman.png">    </p:cNvPr>
          <p:cNvPicPr>
            <a:picLocks noChangeAspect="1"/>
          </p:cNvPicPr>
          <p:nvPr/>
        </p:nvPicPr>
        <p:blipFill>
          <a:blip r:embed="rId1"/>
          <a:stretch>
            <a:fillRect/>
          </a:stretch>
        </p:blipFill>
        <p:spPr>
          <a:xfrm>
            <a:off x="1851045" y="1243584"/>
            <a:ext cx="5304750" cy="4791456"/>
          </a:xfrm>
          <a:prstGeom prst="rect">
            <a:avLst/>
          </a:prstGeom>
        </p:spPr>
      </p:pic>
      <p:sp>
        <p:nvSpPr>
          <p:cNvPr id="6" name="Text 3"/>
          <p:cNvSpPr/>
          <p:nvPr/>
        </p:nvSpPr>
        <p:spPr>
          <a:xfrm>
            <a:off x="8549640" y="1289304"/>
            <a:ext cx="2862072" cy="25336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a:t>
            </a:r>
            <a:endParaRPr lang="en-US" sz="1250" dirty="0"/>
          </a:p>
        </p:txBody>
      </p:sp>
      <p:sp>
        <p:nvSpPr>
          <p:cNvPr id="7" name="Shape 4"/>
          <p:cNvSpPr/>
          <p:nvPr/>
        </p:nvSpPr>
        <p:spPr>
          <a:xfrm>
            <a:off x="8549640" y="4042410"/>
            <a:ext cx="822960" cy="0"/>
          </a:xfrm>
          <a:prstGeom prst="line">
            <a:avLst/>
          </a:prstGeom>
          <a:noFill/>
          <a:ln w="15875">
            <a:solidFill>
              <a:srgbClr val="8C2F27"/>
            </a:solidFill>
            <a:prstDash val="solid"/>
          </a:ln>
        </p:spPr>
      </p:sp>
      <p:sp>
        <p:nvSpPr>
          <p:cNvPr id="8" name="Text 5"/>
          <p:cNvSpPr/>
          <p:nvPr/>
        </p:nvSpPr>
        <p:spPr>
          <a:xfrm>
            <a:off x="8549640" y="40972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F17 · figuras/F17_mapa_spearman.png  ·  Bloco 6. Correlações</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50</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0,4193)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31_mapa_spearman_componentes.png">    </p:cNvPr>
          <p:cNvPicPr>
            <a:picLocks noChangeAspect="1"/>
          </p:cNvPicPr>
          <p:nvPr/>
        </p:nvPicPr>
        <p:blipFill>
          <a:blip r:embed="rId1"/>
          <a:stretch>
            <a:fillRect/>
          </a:stretch>
        </p:blipFill>
        <p:spPr>
          <a:xfrm>
            <a:off x="1708404" y="1243584"/>
            <a:ext cx="5590032" cy="4791456"/>
          </a:xfrm>
          <a:prstGeom prst="rect">
            <a:avLst/>
          </a:prstGeom>
        </p:spPr>
      </p:pic>
      <p:sp>
        <p:nvSpPr>
          <p:cNvPr id="6" name="Text 3"/>
          <p:cNvSpPr/>
          <p:nvPr/>
        </p:nvSpPr>
        <p:spPr>
          <a:xfrm>
            <a:off x="8549640" y="128930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componentes do índice (acima e à esquerda da linha) e as variáveis das demandas de setembro (abaixo e à direita). Cada célula traz o ρ; argila é positiva, petróleo negativa.</a:t>
            </a:r>
            <a:endParaRPr lang="en-US" sz="1250" dirty="0"/>
          </a:p>
        </p:txBody>
      </p:sp>
      <p:sp>
        <p:nvSpPr>
          <p:cNvPr id="7" name="Shape 4"/>
          <p:cNvSpPr/>
          <p:nvPr/>
        </p:nvSpPr>
        <p:spPr>
          <a:xfrm>
            <a:off x="8549640" y="3204210"/>
            <a:ext cx="822960" cy="0"/>
          </a:xfrm>
          <a:prstGeom prst="line">
            <a:avLst/>
          </a:prstGeom>
          <a:noFill/>
          <a:ln w="15875">
            <a:solidFill>
              <a:srgbClr val="8C2F27"/>
            </a:solidFill>
            <a:prstDash val="solid"/>
          </a:ln>
        </p:spPr>
      </p:sp>
      <p:sp>
        <p:nvSpPr>
          <p:cNvPr id="8" name="Text 5"/>
          <p:cNvSpPr/>
          <p:nvPr/>
        </p:nvSpPr>
        <p:spPr>
          <a:xfrm>
            <a:off x="8549640" y="325907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uma variável nova e um componente de outra família, o par mais forte é Sem água canalizada × Cor/raça PPI (ρ = 0,4193). Pares de variantes da mesma coisa (como banheiro graduado e sem banheiro) ficam de fora do destaque.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F31 · figuras/F31_mapa_spearman_componentes.png  ·  Bloco 6. Correlações</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51</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32_mapa_spearman_saneamento.png">    </p:cNvPr>
          <p:cNvPicPr>
            <a:picLocks noChangeAspect="1"/>
          </p:cNvPicPr>
          <p:nvPr/>
        </p:nvPicPr>
        <p:blipFill>
          <a:blip r:embed="rId1"/>
          <a:stretch>
            <a:fillRect/>
          </a:stretch>
        </p:blipFill>
        <p:spPr>
          <a:xfrm>
            <a:off x="1657422" y="1243584"/>
            <a:ext cx="5691995"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Saneamento;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Saneamento, o par mais forte é Sem banheiro × Banheiro graduado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F32 · figuras/F32_mapa_spearman_saneamento.png  ·  Bloco 6. Correlações</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52</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33_mapa_spearman_socioeconomica.png">    </p:cNvPr>
          <p:cNvPicPr>
            <a:picLocks noChangeAspect="1"/>
          </p:cNvPicPr>
          <p:nvPr/>
        </p:nvPicPr>
        <p:blipFill>
          <a:blip r:embed="rId1"/>
          <a:stretch>
            <a:fillRect/>
          </a:stretch>
        </p:blipFill>
        <p:spPr>
          <a:xfrm>
            <a:off x="1633960" y="1243584"/>
            <a:ext cx="5738919"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Socioeconômica;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Socioeconômica, 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F33 · figuras/F33_mapa_spearman_socioeconomica.png  ·  Bloco 6. Correlações</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53</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0,9646)</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34_mapa_spearman_morfologia.png">    </p:cNvPr>
          <p:cNvPicPr>
            <a:picLocks noChangeAspect="1"/>
          </p:cNvPicPr>
          <p:nvPr/>
        </p:nvPicPr>
        <p:blipFill>
          <a:blip r:embed="rId1"/>
          <a:stretch>
            <a:fillRect/>
          </a:stretch>
        </p:blipFill>
        <p:spPr>
          <a:xfrm>
            <a:off x="1628546" y="1243584"/>
            <a:ext cx="5749747"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Morfologia;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Morfologia, o par mais forte é Habitação precária × Moradia não convencional (ρ = 0,9646).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F34 · figuras/F34_mapa_spearman_morfologia.png  ·  Bloco 6. Correlações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o par mais correlacionado é Pessoas 60+ × Dependência idosa (ρ = 0,9957)</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35_mapa_spearman_demografia.png">    </p:cNvPr>
          <p:cNvPicPr>
            <a:picLocks noChangeAspect="1"/>
          </p:cNvPicPr>
          <p:nvPr/>
        </p:nvPicPr>
        <p:blipFill>
          <a:blip r:embed="rId1"/>
          <a:stretch>
            <a:fillRect/>
          </a:stretch>
        </p:blipFill>
        <p:spPr>
          <a:xfrm>
            <a:off x="1633397" y="1243584"/>
            <a:ext cx="574004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Demografia;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Demografia, o par mais forte é Pessoas 60+ × Dependência idosa (ρ = 0,9957).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F35 · figuras/F35_mapa_spearman_demografia.png  ·  Bloco 6. Correlações</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8_dendrograma.png">    </p:cNvPr>
          <p:cNvPicPr>
            <a:picLocks noChangeAspect="1"/>
          </p:cNvPicPr>
          <p:nvPr/>
        </p:nvPicPr>
        <p:blipFill>
          <a:blip r:embed="rId1"/>
          <a:stretch>
            <a:fillRect/>
          </a:stretch>
        </p:blipFill>
        <p:spPr>
          <a:xfrm>
            <a:off x="2229445" y="1243584"/>
            <a:ext cx="4547950"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indicador é uma folha à esquerda; as linhas os unem do mais parecido para o menos. Quanto mais à esquerda a união, mais correlacionados os indicadores.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próximo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F18 · figuras/F18_dendrograma.png  ·  Bloco 6. Correlações</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56</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Favelas e comunidades urbanas (FCU)</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Cada indicador, sozinho, separa os setores de favela dos demais?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T15 · F19</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0,8456)</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0,8456 (mediana 0,7427 em FCU e 0,5096 fora); a menor AUC é a de Renda sem o extremo (0,1018).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1 de 2</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0,8456)</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36,2637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44,3182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-8,0544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15,6701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47,9127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114,8148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-66,9021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0,8456 (mediana 0,7427 em FCU e 0,5096 fora); a menor AUC é a de Renda sem o extremo (0,1018).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2 de 2</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19_fcu_por_indicador.png">    </p:cNvPr>
          <p:cNvPicPr>
            <a:picLocks noChangeAspect="1"/>
          </p:cNvPicPr>
          <p:nvPr/>
        </p:nvPicPr>
        <p:blipFill>
          <a:blip r:embed="rId1"/>
          <a:stretch>
            <a:fillRect/>
          </a:stretch>
        </p:blipFill>
        <p:spPr>
          <a:xfrm>
            <a:off x="1614498" y="1243584"/>
            <a:ext cx="5777844"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À esquerda, a AUC de cada indicador (barras a partir de 0,5; argila acima, petróleo abaixo). À direita, as medianas em FCU e fora, para os indicadores em proporção.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AUC é a de Cor/raça PPI (0,8456); a menor, a de Renda sem o extremo (0,1018).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F19 · figuras/F19_fcu_por_indicador.png  ·  Bloco 7. Favelas e comunidades urbanas (FCU)</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8</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Envelhecimento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a população idosa se distribui, e com que indicadores ela se relaciona?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T16 · F20 · T17 · T18 · F21</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faixa de 30–39 anos concentra a maior parte da população (15,9%)</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040880" cy="914400"/>
        </p:xfrm>
        <a:graphic>
          <a:graphicData uri="http://schemas.openxmlformats.org/drawingml/2006/table">
            <a:tbl>
              <a:tblPr/>
              <a:tblGrid>
                <a:gridCol w="1280160"/>
                <a:gridCol w="960120"/>
                <a:gridCol w="960120"/>
                <a:gridCol w="960120"/>
                <a:gridCol w="960120"/>
                <a:gridCol w="960120"/>
                <a:gridCol w="9601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 etária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faixa etária; as colunas são o total e as regiões, com o percentual da população de cada uma em cada faixa.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de 70 anos ou mais são 7,4% do total, chegando a 8,5% no Sul.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T16 · tabelas/T16_estrutura_etaria.csv  ·  Bloco 8. Envelhecimento</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estrutura etária muda de região para região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0_piramide_etaria.png">    </p:cNvPr>
          <p:cNvPicPr>
            <a:picLocks noChangeAspect="1"/>
          </p:cNvPicPr>
          <p:nvPr/>
        </p:nvPicPr>
        <p:blipFill>
          <a:blip r:embed="rId1"/>
          <a:stretch>
            <a:fillRect/>
          </a:stretch>
        </p:blipFill>
        <p:spPr>
          <a:xfrm>
            <a:off x="777240" y="1243584"/>
            <a:ext cx="7452360" cy="4704523"/>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Barras: percentual da população total em cada faixa etária. Pontos: o mesmo percentual em cada região.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70+: 7,4% no total e 8,5% no Sul.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F20 · figuras/F20_piramide_etaria.png  ·  Bloco 8. Envelhecimento</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mediana de pessoas 60+ por setor vai de 0,1118 (Norte) a 0,1934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280160"/>
                <a:gridCol w="2103120"/>
                <a:gridCol w="822960"/>
                <a:gridCol w="914400"/>
                <a:gridCol w="91440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P75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53,8462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169,5652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36,7695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43,5972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75,2381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122,9161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13,0465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20,4335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48,4375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46,5535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77,7778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131,2500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30,3279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35,2941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48,3516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quatro indicadores de envelhecimento, para o total e por região: n, média, mediana, quartis e as demais descritivas.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60+: mediana de 0,1934 no Sul e 0,1118 no Norte. Índice de envelhecimento, mediana do total: 96,2963.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T17 · tabelas/T17_envelhecimento_por_regiao.csv  ·  Bloco 8. Envelhecimento  ·  parte 1 de 2</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mediana de pessoas 60+ por setor vai de 0,1118 (Norte) a 0,1934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280160"/>
                <a:gridCol w="2103120"/>
                <a:gridCol w="822960"/>
                <a:gridCol w="914400"/>
                <a:gridCol w="91440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P75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30,3487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53,5504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92,2015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16,5766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23,9407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32,3232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44,8819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62,1053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110,9589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191,2088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28,0899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39,8814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60.602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36,2069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43,7932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50,7463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68,7611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122,9337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225,5690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29,9650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42,3205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43,9655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50,8439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quatro indicadores de envelhecimento, para o total e por região: n, média, mediana, quartis e as demais descritivas.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60+: mediana de 0,1934 no Sul e 0,1118 no Norte. Índice de envelhecimento, mediana do total: 96,2963.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T17 · tabelas/T17_envelhecimento_por_regiao.csv  ·  Bloco 8. Envelhecimento  ·  parte 2 de 2</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percentual de pessoas 60+ se relaciona mais com População 0–14 (ρ = -0,7878)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194560"/>
                <a:gridCol w="1188720"/>
                <a:gridCol w="1188720"/>
                <a:gridCol w="118872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os indicadores de envelhecimento (linhas) e os demais (colunas).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pessoas 60+, a correlação mais forte é com População 0–14 (ρ = -0,7878); com a renda média, ρ = 0,5189.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T18 · tabelas/T18_envelhecimento_correlacoes.csv  ·  Bloco 8. Envelhecimento  ·  parte 1 de 2</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percentual de pessoas 60+ se relaciona mais com População 0–14 (ρ = -0,7878)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194560"/>
                <a:gridCol w="1188720"/>
                <a:gridCol w="1188720"/>
                <a:gridCol w="118872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os indicadores de envelhecimento (linhas) e os demais (colunas).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pessoas 60+, a correlação mais forte é com População 0–14 (ρ = -0,7878); com a renda média, ρ = 0,5189.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T18 · tabelas/T18_envelhecimento_correlacoes.csv  ·  Bloco 8. Envelhecimento  ·  parte 2 de 2</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Pessoas 60+ e renda média: ρ = 0,5189</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1_dispersao_60mais.png">    </p:cNvPr>
          <p:cNvPicPr>
            <a:picLocks noChangeAspect="1"/>
          </p:cNvPicPr>
          <p:nvPr/>
        </p:nvPicPr>
        <p:blipFill>
          <a:blip r:embed="rId1"/>
          <a:stretch>
            <a:fillRect/>
          </a:stretch>
        </p:blipFill>
        <p:spPr>
          <a:xfrm>
            <a:off x="1262353" y="1243584"/>
            <a:ext cx="6482135" cy="479145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hexágono reúne setores com valores parecidos; quanto mais escuro, mais setores. Eixo horizontal: renda média em escala logarítmica; vertical: proporção de pessoas de 60 anos ou mais.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correlação de Spearman entre as duas é 0,5189.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F21 · figuras/F21_dispersao_60mais.png  ·  Bloco 8. Envelhecimento</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68</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9</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Adequação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Os componentes do índice se prestam a uma análise fatorial, e quantos fatores ela sustenta?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T19 · T20 · T21 · T22 · F22 · F23</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KMO de 0,7807: os componentes se prestam à análise fatorial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3840480"/>
                <a:gridCol w="16459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setores (n)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variáveis (p)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qui-quadrado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185.197,0195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graus de liberdade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determinante de 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pelo critério de Kaiser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pela análise paralela de Horn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variância explicada por 2 fatores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60,8164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As medidas de adequação da matriz de correlação dos componentes do índice, na amostra do índice.</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KMO 0,7807, com 73.878 setores; Kaiser retém 2 fatores e Horn, 2; 2 fatores explicam 60,8%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T19 · tabelas/T19_adequacao_fatorial.csv  ·  Bloco 9. Adequação fatorial</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tem a menor adequação individual (MSA 0,7088)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03720" cy="914400"/>
        </p:xfrm>
        <a:graphic>
          <a:graphicData uri="http://schemas.openxmlformats.org/drawingml/2006/table">
            <a:tbl>
              <a:tblPr/>
              <a:tblGrid>
                <a:gridCol w="1737360"/>
                <a:gridCol w="822960"/>
                <a:gridCol w="868680"/>
                <a:gridCol w="868680"/>
                <a:gridCol w="868680"/>
                <a:gridCol w="868680"/>
                <a:gridCol w="8686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Comunal.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MSA, comunalidades e as cargas em cada fator, sem rotação, na Varimax e na promax (padrão e estrutura).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Menor MSA: Renda (invertida) (0,7088). Menor comunalidade (promax): Razão de moradores (0,3755).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T20 · tabelas/T20_variaveis_cargas.csv  ·  Bloco 9. Adequação fatorial</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segundo autovalor (1,0708) fica acima da linha de Horn (1,0155)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1097280"/>
                <a:gridCol w="1097280"/>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Autovalor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Horn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variância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acumulada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3,1864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componente por linha: autovalor, valor de referência da análise paralela de Horn e variância explicada, simples e acumulada.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Primeiro autovalor 3,1864, segundo 1,0708 (Horn: 1,0155); os dois primeiros explicam 60,8%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T21 · tabelas/T21_autovalores.csv  ·  Bloco 9. Adequação fatorial</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dois fatores da promax se correlacionam em 0,4109</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3291840" cy="914400"/>
        </p:xfrm>
        <a:graphic>
          <a:graphicData uri="http://schemas.openxmlformats.org/drawingml/2006/table">
            <a:tbl>
              <a:tblPr/>
              <a:tblGrid>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Φ: a correlação entre os fatores depois da rotação promax.</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correlação entre F1 e F2 é 0,4109.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T22 · tabelas/T22_phi.csv  ·  Bloco 9. Adequação fatorial</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Gráfico de sedimentação: dois componentes acima do acaso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2_sedimentacao_horn.png">    </p:cNvPr>
          <p:cNvPicPr>
            <a:picLocks noChangeAspect="1"/>
          </p:cNvPicPr>
          <p:nvPr/>
        </p:nvPicPr>
        <p:blipFill>
          <a:blip r:embed="rId1"/>
          <a:stretch>
            <a:fillRect/>
          </a:stretch>
        </p:blipFill>
        <p:spPr>
          <a:xfrm>
            <a:off x="777240" y="1243584"/>
            <a:ext cx="7452360" cy="449429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 cheia: autovalores em ordem decrescente. Tracejada: o que dados aleatórios produziriam (Horn). Pontilhada: o critério de Kaiser (autovalor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segundo autovalor é 1,0708, contra 1,0155 da linha de Horn.</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F22 · figuras/F22_sedimentacao_horn.png  ·  Bloco 9. Adequação fatorial</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define F1 e Água inadequada define F2</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3_mapa_cargas.png">    </p:cNvPr>
          <p:cNvPicPr>
            <a:picLocks noChangeAspect="1"/>
          </p:cNvPicPr>
          <p:nvPr/>
        </p:nvPicPr>
        <p:blipFill>
          <a:blip r:embed="rId1"/>
          <a:stretch>
            <a:fillRect/>
          </a:stretch>
        </p:blipFill>
        <p:spPr>
          <a:xfrm>
            <a:off x="1742194" y="1243584"/>
            <a:ext cx="5522453"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seta é um componente; a ponta fica nas cargas padrão da promax em F1 (horizontal) e F2 (vertical). O círculo marca carga 1.</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carga em F1: Renda (invertida) (0,9366); em F2: Água inadequada (0,7829).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F23 · figuras/F23_mapa_cargas.png  ·  Bloco 9. Adequação fatorial</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10</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 índice da versão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fica o índice, e ele separa os setores de favela?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T23 · T24 · T25 · T26 · T27 · F24 · F25</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tem o maior peso no índice (19,3%)</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78040" cy="914400"/>
        </p:xfrm>
        <a:graphic>
          <a:graphicData uri="http://schemas.openxmlformats.org/drawingml/2006/table">
            <a:tbl>
              <a:tblPr/>
              <a:tblGrid>
                <a:gridCol w="1828800"/>
                <a:gridCol w="2011680"/>
                <a:gridCol w="868680"/>
                <a:gridCol w="128016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Carga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da dimensão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no índice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a dimensão em que ele carrega mais, a carga, o peso da dimensão e o peso final no índice (em %).</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peso é o de Renda (invertida) (19,3%); a dimensão F1 (socioeconômica) pesa 60,0%.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T23 · tabelas/T23_pesos.csv  ·  Bloco 10. O índice da versão</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índice tem mediana 0,3306 e P90 0,4311, em 73.878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37960" cy="914400"/>
        </p:xfrm>
        <a:graphic>
          <a:graphicData uri="http://schemas.openxmlformats.org/drawingml/2006/table">
            <a:tbl>
              <a:tblPr/>
              <a:tblGrid>
                <a:gridCol w="1463040"/>
                <a:gridCol w="914400"/>
                <a:gridCol w="822960"/>
                <a:gridCol w="822960"/>
                <a:gridCol w="822960"/>
                <a:gridCol w="868680"/>
                <a:gridCol w="8229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45.352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Descritivas do índice para o total e por região. Como o índice é normalizado dentro de cada município, todo município tem mínimo 0 e máximo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73.878 setores; mediana 0,3306; percentil 90 0,4311.</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T24 · tabelas/T24_indice_descritivas.csv  ·  Bloco 10. O índice da versão</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Pela regra do IVS-BH, 5,3% dos setores ficam em vulnerabilidade muito elevada</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937760" cy="914400"/>
        </p:xfrm>
        <a:graphic>
          <a:graphicData uri="http://schemas.openxmlformats.org/drawingml/2006/table">
            <a:tbl>
              <a:tblPr/>
              <a:tblGrid>
                <a:gridCol w="1280160"/>
                <a:gridCol w="1645920"/>
                <a:gridCol w="109728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Regra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indefinida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Quantos setores ficam em cada faixa, pelas duas regras: a do IVS-BH (média e desvio-padrão do município) e a dos quartis do município.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IVS-BH: 28,8% baixo e 5,3% muito elevado. Quartis: 25,0%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T25 · tabelas/T25_faixas.csv  ·  Bloco 10. O índice da versão</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AUC municipal de 0,8186: o índice separa as favelas — versão elegível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675120" cy="914400"/>
        </p:xfrm>
        <a:graphic>
          <a:graphicData uri="http://schemas.openxmlformats.org/drawingml/2006/table">
            <a:tbl>
              <a:tblPr/>
              <a:tblGrid>
                <a:gridCol w="3200400"/>
                <a:gridCol w="1097280"/>
                <a:gridCol w="23774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Detalhe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global contra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municipal (mediana)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municípios na AUC municipal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ao menos 30 setores de FCU e fora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peso da dimensão F1 (socioeconômica)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 ≥ 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MSA ≥ 0,50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 0,30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maior carga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carga ≥ 0,40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elegível pelos critérios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e municipal, peso da dimensão socioeconômica e os critérios de elegibilidade do NB05, um por linha (1 = atende).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0,8309; mediana da AUC municipal 0,8186, em 31 municípios. Pelos critérios do NB05, a versão é elegível.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T26 · tabelas/T26_auc_e_elegibilidade.csv  ·  Bloco 10. O índice da versão</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0,6037 (Duque de Caxias) a 0,9544 (Campinas)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Mauá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Campinas (0,9544) e a menor, a de Duque de Caxias (0,6037).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1 de 2</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0,6037 (Duque de Caxias) a 0,9544 (Campinas)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Campinas (0,9544) e a menor, a de Duque de Caxias (0,6037).</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2 de 2</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distribuição do índice e as faixas do IVS-BH</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4_histograma_por_faixa.png">    </p:cNvPr>
          <p:cNvPicPr>
            <a:picLocks noChangeAspect="1"/>
          </p:cNvPicPr>
          <p:nvPr/>
        </p:nvPicPr>
        <p:blipFill>
          <a:blip r:embed="rId1"/>
          <a:stretch>
            <a:fillRect/>
          </a:stretch>
        </p:blipFill>
        <p:spPr>
          <a:xfrm>
            <a:off x="777240" y="1243584"/>
            <a:ext cx="7452360" cy="4335919"/>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Histograma do índice, com cada barra dividida pela faixa dos setores (regra do IVS-BH).</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28,8% dos setores ficam em baixo e 5,3% em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F24 · figuras/F24_histograma_por_faixa.png  ·  Bloco 10. O índice da versão</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Curva ROC do índice contra as favelas (AUC global 0,8309)</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5_curva_roc.png">    </p:cNvPr>
          <p:cNvPicPr>
            <a:picLocks noChangeAspect="1"/>
          </p:cNvPicPr>
          <p:nvPr/>
        </p:nvPicPr>
        <p:blipFill>
          <a:blip r:embed="rId1"/>
          <a:stretch>
            <a:fillRect/>
          </a:stretch>
        </p:blipFill>
        <p:spPr>
          <a:xfrm>
            <a:off x="2074602" y="1243584"/>
            <a:ext cx="485763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ponto da curva é um corte do índice: no eixo vertical, a proporção de setores de FCU acima do corte; no horizontal, a dos setores de fora. A diagonal é o acaso.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Área sob a curva: 0,8309 (global); a mediana municipal é 0,8186.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F25 · figuras/F25_curva_roc.png  ·  Bloco 10. O índice da versão</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Quem está em risco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Quantas pessoas, e quantas pessoas idosas, vivem em cada faixa?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T28 · T29 · F26</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85</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Jaqueira tem a maior parte dos moradores em vulnerabilidade elevada ou muito elevada (56,9%)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492240" cy="914400"/>
        </p:xfrm>
        <a:graphic>
          <a:graphicData uri="http://schemas.openxmlformats.org/drawingml/2006/table">
            <a:tbl>
              <a:tblPr/>
              <a:tblGrid>
                <a:gridCol w="2011680"/>
                <a:gridCol w="1097280"/>
                <a:gridCol w="118872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60+ 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elevado ou mais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setores, moradores e moradores de 60+ em cada faixa (regra do IVS-BH) e o percentual de moradores nas duas faixas mais altas.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percentual em elevado ou muito elevado: Jaqueira (56,9%); menor: São Raimundo do Doca Bezerra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T28 · tabelas/T28_risco_por_municipio.csv  ·  Bloco 11. Quem está em risco  ·  parte 1 de 2</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86</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Jaqueira tem a maior parte dos moradores em vulnerabilidade elevada ou muito elevada (56,9%)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492240" cy="914400"/>
        </p:xfrm>
        <a:graphic>
          <a:graphicData uri="http://schemas.openxmlformats.org/drawingml/2006/table">
            <a:tbl>
              <a:tblPr/>
              <a:tblGrid>
                <a:gridCol w="2011680"/>
                <a:gridCol w="1097280"/>
                <a:gridCol w="118872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60+ 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elevado ou mais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99.060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Divinópolis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36.418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Guapiaçu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Capelinha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Orizânia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16636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setores, moradores e moradores de 60+ em cada faixa (regra do IVS-BH) e o percentual de moradores nas duas faixas mais altas.</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percentual em elevado ou muito elevado: Jaqueira (56,9%); menor: São Raimundo do Doca Bezerra (0,0%).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T28 · tabelas/T28_risco_por_municipio.csv  ·  Bloco 11. Quem está em risco  ·  parte 2 de 2</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1.771.121 pessoas vivem em setores de vulnerabilidade muito elevada</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492240" cy="914400"/>
        </p:xfrm>
        <a:graphic>
          <a:graphicData uri="http://schemas.openxmlformats.org/drawingml/2006/table">
            <a:tbl>
              <a:tblPr/>
              <a:tblGrid>
                <a:gridCol w="1463040"/>
                <a:gridCol w="914400"/>
                <a:gridCol w="1097280"/>
                <a:gridCol w="10972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pessoas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9.762.871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2.120.633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16.738.074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2.820.532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9.240.266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1.111.069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1.771.121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indefinida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faixa: setores, moradores e moradores de 60+, com os percentuais.</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faixa muito elevada: 1.771.121 pessoas (4,7% do total), das quais 173.718 com 60 anos ou mais.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T29 · tabelas/T29_risco_total.csv  ·  Bloco 11. Quem está em risco</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parcela de moradores em cada faixa muda de município para município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6_risco_por_municipio.png">    </p:cNvPr>
          <p:cNvPicPr>
            <a:picLocks noChangeAspect="1"/>
          </p:cNvPicPr>
          <p:nvPr/>
        </p:nvPicPr>
        <p:blipFill>
          <a:blip r:embed="rId1"/>
          <a:stretch>
            <a:fillRect/>
          </a:stretch>
        </p:blipFill>
        <p:spPr>
          <a:xfrm>
            <a:off x="2785208" y="1243584"/>
            <a:ext cx="3436423" cy="479145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município, dividida pelas faixas do índice; o comprimento de cada parte é o percentual de moradores. Ordem: do maior para o menor percentual nas duas faixas mais altas.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Jaqueira (56,9% em elevado ou muito elevado); na base, São Raimundo do Doca Bezerra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F26 · figuras/F26_risco_por_municipio.png  ·  Bloco 11. Quem está em risco</a:t>
            </a:r>
            <a:endParaRPr lang="en-US" sz="9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89</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Desigualdade interna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Em que municípios o índice varia mais de um setor para outro?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T30 · F27</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São Paulo das Missões tem a maior desigualdade interna do índice (Gini 0,4163)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720840" cy="914400"/>
        </p:xfrm>
        <a:graphic>
          <a:graphicData uri="http://schemas.openxmlformats.org/drawingml/2006/table">
            <a:tbl>
              <a:tblPr/>
              <a:tblGrid>
                <a:gridCol w="2011680"/>
                <a:gridCol w="777240"/>
                <a:gridCol w="777240"/>
                <a:gridCol w="777240"/>
                <a:gridCol w="822960"/>
                <a:gridCol w="777240"/>
                <a:gridCol w="7772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Gini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Theil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 das Missões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Orizânia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setores, média, percentis 10 e 90 do índice, a razão P90/P10, o Gini e o Theil.</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Gini: São Paulo das Missões (0,4163); menor: Salvador (0,0608).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T30 · tabelas/T30_desigualdade_interna.csv  ·  Bloco 12. Desigualdade interna  ·  parte 1 de 2</a:t>
            </a:r>
            <a:endParaRPr lang="en-US" sz="9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São Paulo das Missões tem a maior desigualdade interna do índice (Gini 0,4163)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720840" cy="914400"/>
        </p:xfrm>
        <a:graphic>
          <a:graphicData uri="http://schemas.openxmlformats.org/drawingml/2006/table">
            <a:tbl>
              <a:tblPr/>
              <a:tblGrid>
                <a:gridCol w="2011680"/>
                <a:gridCol w="777240"/>
                <a:gridCol w="777240"/>
                <a:gridCol w="777240"/>
                <a:gridCol w="822960"/>
                <a:gridCol w="777240"/>
                <a:gridCol w="7772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Gini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Theil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0191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setores, média, percentis 10 e 90 do índice, a razão P90/P10, o Gini e o Theil.</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Gini: São Paulo das Missões (0,4163); menor: Salvador (0,0608).</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T30 · tabelas/T30_desigualdade_interna.csv  ·  Bloco 12. Desigualdade interna  ·  parte 2 de 2</a:t>
            </a:r>
            <a:endParaRPr lang="en-US" sz="9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desigualdade interna do índice, município por município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7_desigualdade_interna.png">    </p:cNvPr>
          <p:cNvPicPr>
            <a:picLocks noChangeAspect="1"/>
          </p:cNvPicPr>
          <p:nvPr/>
        </p:nvPicPr>
        <p:blipFill>
          <a:blip r:embed="rId1"/>
          <a:stretch>
            <a:fillRect/>
          </a:stretch>
        </p:blipFill>
        <p:spPr>
          <a:xfrm>
            <a:off x="2976402" y="1243584"/>
            <a:ext cx="3054037"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Barras: Gini do índice dentro de cada município, do maior para o menor. Pontos: Theil.</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Do maior Gini, São Paulo das Missões (0,4163), ao menor, Salvador (0,0608).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F27 · figuras/F27_desigualdade_interna.png  ·  Bloco 12. Desigualdade interna</a:t>
            </a:r>
            <a:endParaRPr lang="en-US" sz="9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Comparação com a referência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esta versão muda em relação à referência proposta do NB05?</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T31 · T32 · T33 · F28 · F29</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correlação de postos com a referência é 1,0000</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120640" cy="914400"/>
        </p:xfrm>
        <a:graphic>
          <a:graphicData uri="http://schemas.openxmlformats.org/drawingml/2006/table">
            <a:tbl>
              <a:tblPr/>
              <a:tblGrid>
                <a:gridCol w="2560320"/>
                <a:gridCol w="1280160"/>
                <a:gridCol w="12801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 (menores ρ)</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Anápolis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 índice desta versão e o da referência, nos setores que estão nas duas amostras: total e por município.</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Total: ρ = 1,0000. Menor correlação municipal: Teresina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T31 · tabelas/T31_spearman_com_referencia.csv  ·  Bloco 13. Comparação com a referência</a:t>
            </a:r>
            <a:endParaRPr lang="en-US" sz="9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maior troca de faixa é de — para — (0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219456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Referência ↓ · versão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baixo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par (faixa na referência, faixa nesta versão), com o número de setores e o percentual do total.</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Fora da diagonal, a maior célula é de — para —, com 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T32 · tabelas/T32_matriz_de_faixas.csv  ·  Bloco 13. Comparação com a referência</a:t>
            </a:r>
            <a:endParaRPr lang="en-US" sz="9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0,0% dos setores mudam de faixa em relação à referência</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943600" cy="914400"/>
        </p:xfrm>
        <a:graphic>
          <a:graphicData uri="http://schemas.openxmlformats.org/drawingml/2006/table">
            <a:tbl>
              <a:tblPr/>
              <a:tblGrid>
                <a:gridCol w="2560320"/>
                <a:gridCol w="118872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Mudam de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que muda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Anápolis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Araçatuba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Campo Grande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Canoas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Capelinha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primeira linha é o total; as demais, os municípios, do mais afetado para o menos: setores comuns, setores que mudam de faixa e o percentual.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total, 0,0% dos setores mudam de faixa; o município mais afetado é São Raimundo do Doca Bezerra (100,0%).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T33 · tabelas/T33_municipios_que_mudam.csv  ·  Bloco 13. Comparação com a referência</a:t>
            </a:r>
            <a:endParaRPr lang="en-US" sz="9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Matriz de faixas: referência × 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8_matriz_de_faixas.png">    </p:cNvPr>
          <p:cNvPicPr>
            <a:picLocks noChangeAspect="1"/>
          </p:cNvPicPr>
          <p:nvPr/>
        </p:nvPicPr>
        <p:blipFill>
          <a:blip r:embed="rId1"/>
          <a:stretch>
            <a:fillRect/>
          </a:stretch>
        </p:blipFill>
        <p:spPr>
          <a:xfrm>
            <a:off x="1719196" y="1243584"/>
            <a:ext cx="5568449"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Linhas: faixa na referência; colunas: faixa nesta versão; cada célula traz o número de setores.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troca fora da diagonal é de — para — (0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F28 · figuras/F28_matriz_de_faixas.png  ·  Bloco 13. Comparação com a referência</a:t>
            </a:r>
            <a:endParaRPr lang="en-US" sz="9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municípios mais afetados pela mudança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00_referencia/figuras/F29_municipios_que_mudam.png">    </p:cNvPr>
          <p:cNvPicPr>
            <a:picLocks noChangeAspect="1"/>
          </p:cNvPicPr>
          <p:nvPr/>
        </p:nvPicPr>
        <p:blipFill>
          <a:blip r:embed="rId1"/>
          <a:stretch>
            <a:fillRect/>
          </a:stretch>
        </p:blipFill>
        <p:spPr>
          <a:xfrm>
            <a:off x="1273489" y="1243584"/>
            <a:ext cx="6459863"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20 municípios com o maior percentual de setores que mudam de faixa.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mais afetado é São Raimundo do Doca Bezerra (100,0%); no total,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F29 · figuras/F29_municipios_que_mudam.png  ·  Bloco 13. Comparação com a referência</a:t>
            </a:r>
            <a:endParaRPr lang="en-US" sz="9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472184"/>
            <a:ext cx="2384298" cy="0"/>
          </a:xfrm>
          <a:prstGeom prst="line">
            <a:avLst/>
          </a:prstGeom>
          <a:noFill/>
          <a:ln w="12700">
            <a:solidFill>
              <a:srgbClr val="1A1A18"/>
            </a:solidFill>
            <a:prstDash val="solid"/>
          </a:ln>
        </p:spPr>
      </p:sp>
      <p:sp>
        <p:nvSpPr>
          <p:cNvPr id="6" name="Text 4"/>
          <p:cNvSpPr/>
          <p:nvPr/>
        </p:nvSpPr>
        <p:spPr>
          <a:xfrm>
            <a:off x="777240" y="1545336"/>
            <a:ext cx="2384298"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73.878</a:t>
            </a:r>
            <a:endParaRPr lang="en-US" sz="3000" dirty="0"/>
          </a:p>
        </p:txBody>
      </p:sp>
      <p:sp>
        <p:nvSpPr>
          <p:cNvPr id="7" name="Text 5"/>
          <p:cNvSpPr/>
          <p:nvPr/>
        </p:nvSpPr>
        <p:spPr>
          <a:xfrm>
            <a:off x="777240" y="2130552"/>
            <a:ext cx="2384298"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(T01)</a:t>
            </a:r>
            <a:endParaRPr lang="en-US" sz="1050" dirty="0"/>
          </a:p>
        </p:txBody>
      </p:sp>
      <p:sp>
        <p:nvSpPr>
          <p:cNvPr id="8" name="Shape 6"/>
          <p:cNvSpPr/>
          <p:nvPr/>
        </p:nvSpPr>
        <p:spPr>
          <a:xfrm>
            <a:off x="3527298" y="1472184"/>
            <a:ext cx="2384298" cy="0"/>
          </a:xfrm>
          <a:prstGeom prst="line">
            <a:avLst/>
          </a:prstGeom>
          <a:noFill/>
          <a:ln w="12700">
            <a:solidFill>
              <a:srgbClr val="1A1A18"/>
            </a:solidFill>
            <a:prstDash val="solid"/>
          </a:ln>
        </p:spPr>
      </p:sp>
      <p:sp>
        <p:nvSpPr>
          <p:cNvPr id="9" name="Text 7"/>
          <p:cNvSpPr/>
          <p:nvPr/>
        </p:nvSpPr>
        <p:spPr>
          <a:xfrm>
            <a:off x="3527298" y="1545336"/>
            <a:ext cx="2384298"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0,7807</a:t>
            </a:r>
            <a:endParaRPr lang="en-US" sz="3000" dirty="0"/>
          </a:p>
        </p:txBody>
      </p:sp>
      <p:sp>
        <p:nvSpPr>
          <p:cNvPr id="10" name="Text 8"/>
          <p:cNvSpPr/>
          <p:nvPr/>
        </p:nvSpPr>
        <p:spPr>
          <a:xfrm>
            <a:off x="3527298" y="2130552"/>
            <a:ext cx="2384298"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KMO dos componentes (T19)</a:t>
            </a:r>
            <a:endParaRPr lang="en-US" sz="1050" dirty="0"/>
          </a:p>
        </p:txBody>
      </p:sp>
      <p:sp>
        <p:nvSpPr>
          <p:cNvPr id="11" name="Shape 9"/>
          <p:cNvSpPr/>
          <p:nvPr/>
        </p:nvSpPr>
        <p:spPr>
          <a:xfrm>
            <a:off x="6277356" y="1472184"/>
            <a:ext cx="2384298" cy="0"/>
          </a:xfrm>
          <a:prstGeom prst="line">
            <a:avLst/>
          </a:prstGeom>
          <a:noFill/>
          <a:ln w="12700">
            <a:solidFill>
              <a:srgbClr val="1A1A18"/>
            </a:solidFill>
            <a:prstDash val="solid"/>
          </a:ln>
        </p:spPr>
      </p:sp>
      <p:sp>
        <p:nvSpPr>
          <p:cNvPr id="12" name="Text 10"/>
          <p:cNvSpPr/>
          <p:nvPr/>
        </p:nvSpPr>
        <p:spPr>
          <a:xfrm>
            <a:off x="6277356" y="1545336"/>
            <a:ext cx="2384298"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0,8186</a:t>
            </a:r>
            <a:endParaRPr lang="en-US" sz="3000" dirty="0"/>
          </a:p>
        </p:txBody>
      </p:sp>
      <p:sp>
        <p:nvSpPr>
          <p:cNvPr id="13" name="Text 11"/>
          <p:cNvSpPr/>
          <p:nvPr/>
        </p:nvSpPr>
        <p:spPr>
          <a:xfrm>
            <a:off x="6277356" y="2130552"/>
            <a:ext cx="2384298"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AUC municipal contra FCU (mediana) (T26)</a:t>
            </a:r>
            <a:endParaRPr lang="en-US" sz="1050" dirty="0"/>
          </a:p>
        </p:txBody>
      </p:sp>
      <p:sp>
        <p:nvSpPr>
          <p:cNvPr id="14" name="Shape 12"/>
          <p:cNvSpPr/>
          <p:nvPr/>
        </p:nvSpPr>
        <p:spPr>
          <a:xfrm>
            <a:off x="9027414" y="1472184"/>
            <a:ext cx="2384298" cy="0"/>
          </a:xfrm>
          <a:prstGeom prst="line">
            <a:avLst/>
          </a:prstGeom>
          <a:noFill/>
          <a:ln w="12700">
            <a:solidFill>
              <a:srgbClr val="8C2F27"/>
            </a:solidFill>
            <a:prstDash val="solid"/>
          </a:ln>
        </p:spPr>
      </p:sp>
      <p:sp>
        <p:nvSpPr>
          <p:cNvPr id="15" name="Text 13"/>
          <p:cNvSpPr/>
          <p:nvPr/>
        </p:nvSpPr>
        <p:spPr>
          <a:xfrm>
            <a:off x="9027414" y="1545336"/>
            <a:ext cx="2384298"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0,0%</a:t>
            </a:r>
            <a:endParaRPr lang="en-US" sz="3000" dirty="0"/>
          </a:p>
        </p:txBody>
      </p:sp>
      <p:sp>
        <p:nvSpPr>
          <p:cNvPr id="16" name="Text 14"/>
          <p:cNvSpPr/>
          <p:nvPr/>
        </p:nvSpPr>
        <p:spPr>
          <a:xfrm>
            <a:off x="9027414" y="2130552"/>
            <a:ext cx="2384298"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que mudam de faixa em relação à referência (T33)</a:t>
            </a:r>
            <a:endParaRPr lang="en-US" sz="1050" dirty="0"/>
          </a:p>
        </p:txBody>
      </p:sp>
      <p:sp>
        <p:nvSpPr>
          <p:cNvPr id="17" name="Shape 15"/>
          <p:cNvSpPr/>
          <p:nvPr/>
        </p:nvSpPr>
        <p:spPr>
          <a:xfrm>
            <a:off x="777240" y="2926080"/>
            <a:ext cx="822960" cy="0"/>
          </a:xfrm>
          <a:prstGeom prst="line">
            <a:avLst/>
          </a:prstGeom>
          <a:noFill/>
          <a:ln w="15875">
            <a:solidFill>
              <a:srgbClr val="8C2F27"/>
            </a:solidFill>
            <a:prstDash val="solid"/>
          </a:ln>
        </p:spPr>
      </p:sp>
      <p:sp>
        <p:nvSpPr>
          <p:cNvPr id="18" name="Text 16"/>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referência é o ponto de partida, não uma escolha: ela foi proposta no NB05 pela melhor posição média entre as especificações elegíveis, e continua valendo até a orientadora decidir. Os números desta versão reproduzem os publicados no NB05 (amostra do índice, índice por setor, faixas e AUC municipal). O bloco 13 compara a referência com ela mesma e serve só para mostrar como o bloco se lê nas outras versões: correlação 1 e nenhum setor mudando de faixa.</a:t>
            </a:r>
            <a:endParaRPr lang="en-US" sz="12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73.878 setores chegam ao índice, de 109.032 na base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 recorte ao índice, 30.230 setores saem por falta de algum componente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é o indicador com mais faltantes (15,9% dos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 nem sanitário é o indicador mais assimétrico (assimetria 68,98)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a mediana vai de 1.719,20 (Nordeste) a 3.722,28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entre os municípios, a mediana vai de 1.062,36 a 5.291,89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68,98)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Água inadequada tem mediana de 0,1759 no Norte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Renda média tem a distribuição mais assimétrica (assimetria 3,74)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Razão de moradores tem mediana de 3,1938 no Norte e 2,5992 no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a distribuição mais assimétrica (assimetria 37,38)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Índice de envelhecimento tem a distribuição mais assimétrica (assimetria 5,74)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Crianças 0–4 tem mediana de 0,0632 no Norte e 0,0465 no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1 de 4</a:t>
            </a:r>
            <a:endParaRPr lang="en-US" sz="9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maior percentual de faltantes é o de Banheiro graduado em Placas (68,8%)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analfabetismo falta em 29,4% dos menores setores e em 3,9% dos maiores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falta de dados depende do tamanho do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 concentra o maior número de marcações de extremo (7.734)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66 setores têm renda suspeita e 3.292 têm renda extrema coerente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formam grupos de correlação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0,4193)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2 de 4</a:t>
            </a:r>
            <a:endParaRPr lang="en-US" sz="9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0,9646)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o par mais correlacionado é Pessoas 60+ × Dependência idosa (ρ = 0,9957)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 é o indicador que mais separa as favelas (AUC 0,8456)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faixa de 30–39 anos concentra a maior parte da população (15,9%)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estrutura etária muda de região para região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mediana de pessoas 60+ por setor vai de 0,1118 (Norte) a 0,1934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percentual de pessoas 60+ se relaciona mais com População 0–14 (ρ = -0,7878)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Pessoas 60+ e renda média: ρ = 0,5189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KMO de 0,7807: os componentes se prestam à análise fatorial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tem a menor adequação individual (MSA 0,7088)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segundo autovalor (1,0708) fica acima da linha de Horn (1,0155)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dois fatores da promax se correlacionam em 0,4109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Gráfico de sedimentação: dois componentes acima do acaso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define F1 e Água inadequada define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tem o maior peso no índice (19,3%)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3 de 4</a:t>
            </a:r>
            <a:endParaRPr lang="en-US" sz="9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índice tem mediana 0,3306 e P90 0,4311, em 73.878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Pela regra do IVS-BH, 5,3% dos setores ficam em vulnerabilidade muito elevada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AUC municipal de 0,8186: o índice separa as favelas — versão elegível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AUC vai de 0,6037 (Duque de Caxias) a 0,9544 (Campinas) entre os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distribuição do índice e as faixas do IVS-BH</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Curva ROC do índice contra as favelas (AUC global 0,8309)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Jaqueira tem a maior parte dos moradores em vulnerabilidade elevada ou muito elevada (56,9%)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1.771.121 pessoas vivem em setores de vulnerabilidade muito elevada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parcela de moradores em cada faixa muda de município para município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 das Missões tem a maior desigualdade interna do índice (Gini 0,4163)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desigualdade interna do índice, município por município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correlação de postos com a referência é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maior troca de faixa é de — para — (0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 dos setores mudam de faixa em relação à referência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Matriz de faixas: referência × esta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municípios mais afetados pela mudança da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4 de 4</a:t>
            </a:r>
            <a:endParaRPr lang="en-US" sz="9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amostra do índice exclui todo setor com algum componente faltante (exclusão por lista). Como o sigilo se concentra nos setores pequenos (bloco 4), a amostra sub-representa esses setores.</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O índice é normalizado dentro de cada município: compara setores da mesma cidade, não cidades entre si.</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AUC usa as favelas e comunidades urbanas do IBGE como referência externa; elas não esgotam a vulnerabilidade, e municípios com poucos setores de FCU ficam fora da AUC municipal.</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Não há malha dos setores no computador: nenhuma análise espacial ou mapa entra nesta versão.</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As faixas etárias dos agregados por setor não separam sexo; a pirâmide é de um lado só.</a:t>
            </a:r>
            <a:endParaRPr lang="en-US" sz="1300" dirty="0"/>
          </a:p>
          <a:p>
            <a:pPr marL="342900" indent="-342900">
              <a:spcAft>
                <a:spcPts val="800"/>
              </a:spcAft>
              <a:buSzPct val="100000"/>
              <a:buChar char="•"/>
            </a:pPr>
            <a:r>
              <a:rPr lang="en-US" sz="1300" i="1" dirty="0">
                <a:solidFill>
                  <a:srgbClr val="1A1A18"/>
                </a:solidFill>
                <a:latin typeface="Cambria" pitchFamily="34" charset="0"/>
                <a:ea typeface="Cambria" pitchFamily="34" charset="-122"/>
                <a:cs typeface="Cambria" pitchFamily="34" charset="-120"/>
              </a:rPr>
              <a:t>Nenhum parâmetro exploratório nesta versão.</a:t>
            </a:r>
            <a:endParaRPr lang="en-US" sz="13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abastecimento de água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V00112 + V00113 + V00114 + V00115 + V00116 + V00117 + V00118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esgotamento sanitário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V00312 + V00313 + V00314 + V00315 + V00316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destino do lixo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V00398 + V00399 + V00400 + V00401 + V00402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até dentro do domicílio (complemento de V00199; equivale a V00200+V00201 sobre 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não chega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ao domicílio (V00201)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só no terreno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chega encanada apenas ao terreno (V00200)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de uso exclusivo com chuveiro e vaso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V00495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Só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sanitário ou buraco para dejeções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1 de 3</a:t>
            </a:r>
            <a:endParaRPr lang="en-US" sz="9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Falta de banheiro graduada: 1 ponto para banheiro só de uso comum, 2 para só sanitário, 3 para nem banheiro nem sanitário, sobre 3 vezes os domicílios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 + 2·V00237 + 3·V00238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 por domicílio (reproduz o V0005 do IBGE)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V00005 + V00006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Taxa de analfabetismo entre pessoas de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V00900 + 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Rendimento nominal médio mensal das pessoas responsáveis (R$)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cor/raça 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V01318 + V01320 + V01321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Responsável mulher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pessoa responsável do sexo feminino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V01062 + 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sem o valor extremo de Belo Horizonte (R$ 170.418,06), que vira faltante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com o valor extremo trocado pela mediana do município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Domicílio improvisado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particulares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Habitação precária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habitação precária (cortiço, estrutura degradada,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V00052 + V00053 + V00054 + V00055 + V00056 + V00057 + V00058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2 de 3</a:t>
            </a:r>
            <a:endParaRPr lang="en-US" sz="9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convencionais (casa, casa de vila/condomínio,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 + V00048 + 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não convencionais (cortiço, maloca, estrutura degradada)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V00051 + V00052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 de vila/condomínio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 de vila ou em 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crianças de 0 a 4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População 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com menos de 15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60 anos ou mais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 Populacional: 60+ por 100 menores de 15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Dependência de Idosos: 60+ por 100 pessoas de 15 a 59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V01034 + V01035 + V01036 + V01037 + V01038 + V01039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70+ entre os de 60+ (proxy de longevidade; NÃO é o LI, que exigiria a faixa 75+, inexistente nos agregados por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3 de 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107</Slides>
  <Notes>107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107</vt:i4>
      </vt:variant>
    </vt:vector>
  </HeadingPairs>
  <TitlesOfParts>
    <vt:vector size="11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00_referencia — Referência</dc:title>
  <dc:subject>PptxGenJS Presentation</dc:subject>
  <dc:creator>Pedro Dias Soares</dc:creator>
  <cp:lastModifiedBy>Pedro Dias Soares</cp:lastModifiedBy>
  <cp:revision>1</cp:revision>
  <dcterms:created xsi:type="dcterms:W3CDTF">2026-10-06T21:43:42Z</dcterms:created>
  <dcterms:modified xsi:type="dcterms:W3CDTF">2026-10-06T21:43:42Z</dcterms:modified>
</cp:coreProperties>
</file>