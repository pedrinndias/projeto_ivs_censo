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</p:sldIdLst>
  <p:notesMasterIdLst>
    <p:notesMasterId r:id="rId8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notesMaster" Target="notesMasters/notesMaster1.xml"/><Relationship Id="rId86" Type="http://schemas.openxmlformats.org/officeDocument/2006/relationships/presProps" Target="presProps.xml"/><Relationship Id="rId87" Type="http://schemas.openxmlformats.org/officeDocument/2006/relationships/viewProps" Target="viewProps.xml"/><Relationship Id="rId88" Type="http://schemas.openxmlformats.org/officeDocument/2006/relationships/theme" Target="theme/theme1.xml"/><Relationship Id="rId8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ficam os dados e o IVS quando os blocos rodam só com os municípios da região Sudeste?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 recorte: entram apenas os setores urbanos com Dados_sig = OK dos municípios da região Sudeste. A fatorial, os pesos e as faixas são recalculados com eles; componentes, rotação, pesos 60/40 e normalização são os da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qualquer número, é preciso saber sobre quais setores ele foi calculado. Este bloco segue o caminho dos setores desde a base completa até a amostra do índice: cada filtro tira alguns, e o motivo de cada saída fica registrado. Também mostra, indicador por indicador, quantos setores não têm valor — porque um indicador com muitos faltantes muda a amostra de qualquer análise que 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
Como ler: Cada linha é um filtro, na ordem em que é aplicado: quantos setores ficam, quantos saem e por quê.
O que mostra: A base tem 109.032 setores; 61.989 ficam no recorte da versão e 45.352 têm todos os componentes do índice (16.637 saem nesta última etapa).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informação da tabela do funil, em forma de barras. A queda entre o recorte e a amostra do índice é quase toda causada pelos indicadores com sigilo (renda e analfabetismo) e pelas partes do banheiro graduado, como mostra a tabela de perdas por indicador.
Como ler: Cada barra é uma etapa do funil; o comprimento é o número de setores que ainda estão dentro.
O que mostra: A barra final (45.352 setores) é a amostra do índice; a do recorte tem 61.989.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Analfabetismo 15+ (18,4%);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Analfabetismo 15+ (18,4%);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Sem banheiro nem sanitário (193,52); o maior percentual de zeros é o de Sem banheiro nem sanitário (99,9%).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Sem banheiro nem sanitário (193,52); o maior percentual de zeros é o de Sem banheiro nem sanitário (99,9%).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Sudeste (2.730,60) e a mais baixa no Sudeste (2.730,60).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Sudeste (2.730,60) e a mais baixa no Sudeste (2.730,60).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São Caetano do Sul (5.291,89); a menor, a de Salinas (1.571,92).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São Caetano do Sul (5.291,89); a menor, a de Salinas (1.571,92).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Sem banheiro nem sanitário (193,52).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(Água inadequada), a mediana regional vai de 0,0000 (Sudeste) a 0,0000 (Sudeste).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Água inadequada, a mediana regional vai de 0,0000 (Sudeste) a 0,0000 (Sudeste).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Renda média (3,93).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(Razão de moradores), a mediana regional vai de 2,6607 (Sudeste) a 2,6607 (Sudeste).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Razão de moradores, a mediana regional vai de 2,6607 (Sudeste) a 2,6607 (Sudeste).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Morfologia, a maior assimetria é a de Domicílio improvisado (33,32).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(Domicílio improvisado), a mediana regional vai de 0,0000 (Sudeste) a 0,0000 (Sudeste).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Domicílio improvisado, a mediana regional vai de 0,0000 (Sudeste) a 0,0000 (Sudeste).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Demografia, a maior assimetria é a de Índice de envelhecimento (5,21).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(Crianças 0–4), a mediana regional vai de 0,0496 (Sudeste) a 0,0496 (Sudeste).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Crianças 0–4, a mediana regional vai de 0,0496 (Sudeste) a 0,0496 (Sudeste).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Analfabetismo 15+ em São Caetano do Sul, com 29,7%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Analfabetismo 15+ em São Caetano do Sul (29,7%).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0,1% no primeiro décimo e 0,0% no último. Sem analfabetismo: 31,8% e 3,7%.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0,1% a 0,0%; analfabetismo: de 31,8% a 3,7%,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(6,7%),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(6,7%),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Moradia convencional (6,7%),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São Paulo, com 6.628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Belo Horizonte, com valor 170.418,06.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Belo Horizonte, com valor 170.418,06.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classe vem do rastreio da renda do projeto (src/ivs_censo/renda.py). Um setor de renda alta com baixo analfabetismo e pouca população preta, parda ou indígena é coerente; o mesmo valor num setor com perfil oposto é suspeito. A variante de renda “sem o extremo” retira esses valores; a referência usa a renda original.
Como ler: Cada setor com renda recebe uma classe: NORMAL, EXTREMO (acima do limite do município, mas coerente com o perfil) ou SUSPEITO (acima do limite e incoerente).
O que mostra: São 27 setores SUSPEITO (0,04%) e 1.350 EXTREMO.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Moradia convencional (6,7%).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Renda média e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Renda média e Renda sem o extremo (r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média × Renda sem o extremo,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média × Renda sem o extremo,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0,8664 (mediana 0,6861 em FCU e 0,4598 fora); a menor AUC é a de Renda sem o extremo (0,0844).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0,8664 (mediana 0,6861 em FCU e 0,4598 fora); a menor AUC é a de Renda sem o extremo (0,0844).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Cor/raça PPI (0,8664); a menor, a de Renda sem o extremo (0,0844).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olha para a vulnerabilidade do idoso. Este bloco descreve a estrutura etária e quatro indicadores de envelhecimento, e cruza o percentual de pessoas de 60 anos ou mais com os demais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etárias do Censo não são todas do mesmo tamanho: de 30 a 59 anos elas têm dez anos, e as anteriores, cinco. Por isso as faixas de dez anos tendem a parecer maiores. O percentual é calculado sobre a soma das faixas, e cada região soma 100%.
Como ler: Uma linha por faixa etária; as colunas são o total e as regiões, com o percentual da população de cada uma em cada faixa.
O que mostra: Pessoas de 70 anos ou mais são 8,2% do total, chegando a 8,2% no Sudeste.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agregados por setor do Censo trazem as faixas etárias sem a separação por sexo, por isso a figura é uma pirâmide de um lado só. Pontos à direita da barra nas faixas mais velhas indicam regiões mais envelhecidas.
Como ler: Barras: percentual da população total em cada faixa etária. Pontos: o mesmo percentual em cada região.
O que mostra: 70+: 8,2% no total e 8,2% no Sudeste.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0,1825 no Sudeste e 0,1825 no Sudeste. Índice de envelhecimento, mediana do total: 110,9589.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-0,7771); com a renda média, ρ = 0,5212.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-0,7771); com a renda média, ρ = 0,5212.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mais de cem mil setores, um gráfico de pontos vira uma mancha. O gráfico de hexágonos conta quantos setores caem em cada célula. A escala logarítmica da renda espalha os setores de renda baixa, que de outro modo ficariam espremidos à esquerda.
Como ler: Cada hexágono reúne setores com valores parecidos; quanto mais escuro, mais setores. Eixo horizontal: renda média em escala logarítmica; vertical: proporção de pessoas de 60 anos ou mais.
O que mostra: A correlação de Spearman entre as duas é 0,5212.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Água inadequada (19,2%); a dimensão socioeconômica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45.352 setores; mediana 0,3143; percentil 90 0,3954.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29,3% baixo e 5,2% muito elevado. Quartis: 25,0%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0,8417; mediana da AUC municipal 0,9214, em 13 municípios. Pelos critérios do NB05, a versão é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Campinas (0,9558) e a menor, a de Duque de Caxias (0,5831).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29,3% dos setores ficam em baixo e 5,2%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0,8417 (global); a mediana municipal é 0,9214.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0,9976. Menor correlação municipal: Guapiaçu (0,9798).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elevado para medio, com 352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2,7% dos setores mudam de faixa; o município mais afetado é São Caetano do Sul (6,4%).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elevado para medio (352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São Caetano do Sul (6,4%); no total, 2,7%.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com mais setores do ELSI fica muito perto da referência: correlação de postos quase 1 e poucas trocas de faixa. A versão é elegível, e a AUC municipal contra as favelas é mais alta que a da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fatorial, os pesos e as faixas são recalculados só com os setores da região; os índices de regiões diferentes não são comparáveis entre si.
Regiões com poucos municípios no ELSI têm descritivas regionais apoiadas em poucas cidades.
A AUC municipal só usa municípios com pelo menos 30 setores de FCU e 30 fora; em algumas regiões, são poucos.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A4_por_regiao/sudeste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Região Sudeste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ficam os dados e o IVS quando os blocos rodam só com os municípios da região Sudeste?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  ·  61.989 setores no recorte  ·  45.352 na amostra do índice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renda_inv,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o recorte: entram apenas os setores urbanos com Dados_sig = OK dos municípios da região Sudeste. A fatorial, os pesos e as faixas são recalculados com eles; componentes, rotação, pesos 60/40 e normalização são os da referência.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45.352 setores chegam ao índice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109.032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base completa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61.989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 da versão (descritivas, distribuições, correlações)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51790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45.352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(fatorial e blocos 9 a 13)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10634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dois números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Quantos setores entram nesta versão, quantos saem e por quê?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T01, F01, T02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F04, F05, F06, F07, F08, F09, F10, F11, F12, F13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T11,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a população idosa se distribui, e com que indicadores ela se relaciona?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T16, F20, T17, T18, F21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entram nesta versão, quantos saem e por quê?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T01 · F01 · T02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45.352 setores chegam ao índice, de 109.032 na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06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822960"/>
                <a:gridCol w="3291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Motivo da saída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 = OK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Região: 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42.119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da região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16.637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filtro, na ordem em que é aplicado: quantos setores ficam, quantos saem e por quê.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tem 109.032 setores; 61.989 ficam no recorte da versão e 45.352 têm todos os componentes do índice (16.637 saem nesta última etapa).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recorte ao índice, 16.637 setores saem por falta de algum componente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01_fun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3016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barra é uma etapa do funil; o comprimento é o número de setores que ainda estão dentro.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final (45.352 setores) é a amostra do índice; a do recorte tem 61.989.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F01 · figuras/F01_funil.png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é o indicador com mais faltantes (18,4%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54.406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7.583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57.872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56.336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5.653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Analfabetismo 15+ (18,4%);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15+ é o indicador com mais faltantes (18,4%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59.390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54.803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Analfabetismo 15+ (18,4%);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 é o indicador mais assimétrico (assimetria 193,52)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54.406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60.940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57.872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56.336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2,1633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50.608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4.490,82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4.411,46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1.523,57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10.302,20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Sem banheiro nem sanitário (193,52); o maior percentual de zeros é o de Sem banheiro nem sanitário (99,9%).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nem sanitário é o indicador mais assimétrico (assimetria 193,52)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4.488,14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4.360,86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1.523,57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10.301,37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4.488,12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4.360,83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1.523,57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10.301,28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59.390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-11,63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56.971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58.935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54.803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151,3181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154,8251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35,3846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110,9589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30,5791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17,3682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11,4130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52,7027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43,4063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11,2895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56,9767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Sem banheiro nem sanitário (193,52); o maior percentual de zeros é o de Sem banheiro nem sanitário (99,9%).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2.730,60 (Sudeste) a 2.730,60 (Sudeste)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Sudeste (2.730,60) e a mais baixa no Sudeste (2.730,60).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2.730,60 (Sudeste) a 2.730,60 (Sudeste)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110,9589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Sudeste (2.730,60) e a mais baixa no Sudeste (2.730,60).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1.571,92 a 5.291,89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3.052,32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5.291,89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11.103,24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1.754,68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3.391,86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9.834,38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1.667,08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3.371,95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7.707,48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26.508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1.650,05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12.289,02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1.574,21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3.060,31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10.036,09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2.259,38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3.039,59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5.761,25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1.734,79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2.795,87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6.402,50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13.367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1.405,33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2.702,45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10.715,14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1.597,12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2.593,08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6.830,64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1.894,55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2.589,17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3.714,38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…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São Caetano do Sul (5.291,89); a menor, a de Salinas (1.571,92).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1.571,92 a 5.291,89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1.384,39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2.285,26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5.281,44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1.446,44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2.228,86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2.952,14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1.543,31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1.878,01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2.283,06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1.322,44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1.853,30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3.084,99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1.301,37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1.838,62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3.074,68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1.313,36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1.832,17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2.866,33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1.279,99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1.812,05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2.564,71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1.288,95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1.773,89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3.044,64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Orizânia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1.573,30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1.717,63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1.768,74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1.571,92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3.118,05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0191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São Caetano do Sul (5.291,89); a menor, a de Salinas (1.571,92).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 · F05 · F06 · F07 · F08 · F09 · F10 · F11 · F12 · F13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Sem banheiro nem sanitário tem a distribuição mais assimétrica (assimetria 193,52)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580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Sem banheiro nem sanitário (193,52).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Água inadequada tem mediana de 0,0000 no Sudeste e 0,0000 no Sudeste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0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(Água inadequada), a mediana regional vai de 0,0000 (Sudeste) a 0,0000 (Sudeste).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45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Água inadequada, a mediana regional vai de 0,0000 (Sudeste) a 0,0000 (Sudeste).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Renda média tem a distribuição mais assimétrica (assimetria 3,93)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7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Renda média (3,93).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Razão de moradores tem mediana de 2,6607 no Sudeste e 2,6607 no Sudeste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(Razão de moradores), a mediana regional vai de 2,6607 (Sudeste) a 2,6607 (Sudeste).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Razão de moradores, a mediana regional vai de 2,6607 (Sudeste) a 2,6607 (Sudeste).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a distribuição mais assimétrica (assimetria 33,32)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08_histogramas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72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Morfologia, a maior assimetria é a de Domicílio improvisado (33,32).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F08 · figuras/F08_histogramas_morfologia.png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mediana de 0,0000 no Sudeste e 0,0000 no Sudeste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09_boxplot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(Domicílio improvisado), a mediana regional vai de 0,0000 (Sudeste) a 0,0000 (Sudeste).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F09 · figuras/F09_boxplots_regiao_morfologia.png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10_densidade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Domicílio improvisado, a mediana regional vai de 0,0000 (Sudeste) a 0,0000 (Sudeste).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 · figuras/F10_densidades_regiao_morfologia.png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Índice de envelhecimento tem a distribuição mais assimétrica (assimetria 5,21)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11_histogramas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1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Demografia, a maior assimetria é a de Índice de envelhecimento (5,21).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 · figuras/F11_histogramas_demografia.png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Crianças 0–4 tem mediana de 0,0496 no Sudeste e 0,0496 no Sudeste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12_boxplot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(Crianças 0–4), a mediana regional vai de 0,0496 (Sudeste) a 0,0496 (Sudeste).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 · figuras/F12_boxplots_regiao_demografia.png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13_densidade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26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Crianças 0–4, a mediana regional vai de 0,0496 (Sudeste) a 0,0496 (Sudeste).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F13 · figuras/F13_densidades_regiao_demografia.png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Analfabetismo 15+ em São Caetano do Sul (29,7%)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69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Analfabetismo 15+ em São Caetano do Sul, com 29,7%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7004" y="1243584"/>
            <a:ext cx="4292833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Analfabetismo 15+ em São Caetano do Sul (29,7%).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31,8% dos menores setores e em 3,7%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0,1% no primeiro décimo e 0,0% no último. Sem analfabetismo: 31,8% e 3,7%.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0,1% a 0,0%; analfabetismo: de 31,8% a 3,7%,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T11 · F16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(6,7%)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1,9882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2,0590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(6,7%),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(6,7%)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4,1158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Tukey k=3 no município + coerência do perfil do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15.190,81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15.190,64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(6,7%),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Moradia convencional tem a maior proporção de extremos (6,7%)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3,2080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578,5194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104,6684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94,3644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Moradia convencional (6,7%),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Paulo concentra o maior número de marcações de extremo (6.628)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6.628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3.562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6446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São Paulo, com 6.628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330170220000079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330170220000079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330350005210075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330455705250341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355030830001117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355030830001613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330455705250341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355030830001117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330455705080087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330455705250341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310620005650366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170.418,06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320120916000006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355030832000202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2.730,59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Belo Horizonte, com valor 170.418,06.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355030832000202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140.172,64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2.730,60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330455705300460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310620060660397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310620060640027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355030817000604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330350005110227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330455705150066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330455705100218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110,9589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330455705150066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722,7273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310620005630483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51192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Belo Horizonte, com valor 170.418,06.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 setores têm renda suspeita e 1.350 têm renda extrema coerente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97,78%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setor com renda recebe uma classe: NORMAL, EXTREMO (acima do limite do município, mas coerente com o perfil) ou SUSPEITO (acima do limite e incoerente).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27 setores SUSPEITO (0,04%) e 1.350 EXTREMO.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T11 · tabelas/T11_renda_classes.csv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800" y="1243584"/>
            <a:ext cx="482324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Moradia convencional (6,7%).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 Renda sem o extremo formam o par mais correlacionado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Renda média e Renda sem o extremo (ρ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Renda média × Renda sem o extremo (r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Renda média e Renda sem o extremo (r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média × Renda sem o extremo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média × Renda sem o extremo,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média × Renda sem o extremo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-0,9562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-0,8705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-0,8705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-0,4764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média × Renda sem o extremo,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757" y="1243584"/>
            <a:ext cx="596532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6968" y="1243584"/>
            <a:ext cx="4592905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0,8664)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0,6889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7.567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7.859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0,8664 (mediana 0,6861 em FCU e 0,4598 fora); a menor AUC é a de Renda sem o extremo (0,0844).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0,8664)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7.694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34,2857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45,2055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-10,9198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8.335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15,2392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30,9446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-15,7054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46,2339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129,1139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-82,8801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1.588,73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3.153,42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-1.564,69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1.588,73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3.153,42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-1.564,69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1.588,64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3.153,42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-1.564,78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9.363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0,8664 (mediana 0,6861 em FCU e 0,4598 fora); a menor AUC é a de Renda sem o extremo (0,0844).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498" y="1243584"/>
            <a:ext cx="577784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Cor/raça PPI (0,8664); a menor, a de Renda sem o extremo (0,0844).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população idosa se distribui, e com que indicadores ela se relaciona?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T16 · F20 · T17 · T18 · F21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faixa de 30–39 anos concentra a maior parte da população (15,6%)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601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etária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5–9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15–19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20–24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25–29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30–39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40–49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50–59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60–69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 etária; as colunas são o total e as regiões, com o percentual da população de cada uma em cada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de 70 anos ou mais são 8,2% do total, chegando a 8,2% no Sudeste.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T16 · tabelas/T16_estrutura_etaria.csv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etária muda de região para região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20_piramide_et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704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percentual da população total em cada faixa etária. Pontos: o mesmo percentual em cada região.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70+: 8,2% no total e 8,2% no Sudeste.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F20 · figuras/F20_piramide_etaria.png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0,1825 (Sudeste) a 0,1825 (Sudeste)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62,1053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110,9589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191,2088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39,8814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36,2069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50,7463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61.291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62,1053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110,9589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191,2088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61.800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18,2857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28,0899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39,8814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60.602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36,2069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43,7932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50,7463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0,1825 no Sudeste e 0,1825 no Sudeste. Índice de envelhecimento, mediana do total: 110,9589.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-0,7771)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-0,0161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-0,3541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-0,5201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-0,7771); com a renda média, ρ = 0,5212.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-0,7771)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-0,5415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-0,6046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-0,5132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-0,2859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-0,6618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-0,4583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-0,7771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-0,7250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-0,5274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-0,7771); com a renda média, ρ = 0,5212.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 renda média: ρ = 0,5212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21_dispersao_60m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2353" y="1243584"/>
            <a:ext cx="6482135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hexágono reúne setores com valores parecidos; quanto mais escuro, mais setores. Eixo horizontal: renda média em escala logarítmica; vertical: proporção de pessoas de 60 anos ou mais.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Spearman entre as duas é 0,5212.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F21 · figuras/F21_dispersao_60mais.png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tem o maior peso no índice (19,2%)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0,8535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Água inadequada (19,2%); a dimensão socioeconômica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0,3143 e P90 0,3954, em 45.352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45.352 setores; mediana 0,3143; percentil 90 0,3954.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5,2%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18.537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11.157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11.331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11.339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11.337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11.345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29,3% baixo e 5,2% muito elevado. Quartis: 25,0%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0,9214: o índice separa as favelas — versão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socioeconômica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0,8417; mediana da AUC municipal 0,9214, em 13 municípios. Pelos critérios do NB05, a versão é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0,5831 (Duque de Caxias) a 0,9558 (Campinas)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Guarujá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Guarulhos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0,9427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Rio de Janeiro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0,7711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7583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Campinas (0,9558) e a menor, a de Duque de Caxias (0,5831).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359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29,3% dos setores ficam em baixo e 5,2%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0,8417)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0,8417 (global); a mediana municipal é 0,9214.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0,9976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Guapiaçu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Capelinha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Coroaci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Igarapava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Tabatinga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0,9976. Menor correlação municipal: Guapiaçu (0,9798).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elevado para medio (352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13.056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17.993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elevado para medio, com 352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Caetano do Sul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Ibatiba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Cachoeiro de Itapemirim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Macaé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Araçatuba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Divinópolis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Nova Iguaçu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Duque de Caxias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Campinas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Pedro da Aldeia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Mauá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Bernardo do Campo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4974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2,7% dos setores mudam de faixa; o município mais afetado é São Caetano do Sul (6,4%).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elevado para medio (352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sudeste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9474" y="1243584"/>
            <a:ext cx="6167892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São Caetano do Sul (6,4%); no total, 2,7%.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45.352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(T01)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0,9214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2,7%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região com mais setores do ELSI fica muito perto da referência: correlação de postos quase 1 e poucas trocas de faixa. A versão é elegível, e a AUC municipal contra as favelas é mais alta que a da referência.</a:t>
            </a:r>
            <a:endParaRPr lang="en-US" sz="12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45.352 setores chegam ao índice, de 109.032 na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 recorte ao índice, 16.637 setores saem por falta de algum 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 é o indicador com mais faltantes (18,4% dos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 é o indicador mais assimétrico (assimetria 193,52)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a mediana vai de 2.730,60 (Sudeste) a 2.730,60 (Sudeste)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entre os municípios, a mediana vai de 1.571,92 a 5.291,89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Sem banheiro nem sanitário tem a distribuição mais assimétrica (assimetria 193,52)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Água inadequada tem mediana de 0,0000 no Sudeste e 0,0000 no 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Renda média tem a distribuição mais assimétrica (assimetria 3,93)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Razão de moradores tem mediana de 2,6607 no Sudeste e 2,6607 no 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a distribuição mais assimétrica (assimetria 33,32)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mediana de 0,0000 no Sudeste e 0,0000 no 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Índice de envelhecimento tem a distribuição mais assimétrica (assimetria 5,21)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Crianças 0–4 tem mediana de 0,0496 no Sudeste e 0,0496 no Sudeste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Analfabetismo 15+ em São Caetano do Sul (29,7%)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31,8% dos menores setores e em 3,7%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 tem a maior proporção de extremos (6,7%)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Paulo concentra o maior número de marcações de extremo (6.628)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 setores têm renda suspeita e 1.350 têm renda extrema coerente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e Renda sem o extremo formam o par mais correlacionado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Renda média × Renda sem o extremo (r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Renda média × Renda sem o extremo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 é o indicador que mais separa as favelas (AUC 0,8664)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8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faixa de 30–39 anos concentra a maior parte da população (15,6%)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estrutura etária muda de região para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mediana de pessoas 60+ por setor vai de 0,1825 (Sudeste) a 0,1825 (Sudeste)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percentual de pessoas 60+ se relaciona mais com População 0–14 (ρ = -0,7771)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 e renda média: ρ = 0,5212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 tem o maior peso no índice (19,2%)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0,3143 e P90 0,3954, em 45.352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5,2%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0,9214: o índice separa as favelas — versão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0,5831 (Duque de Caxias) a 0,9558 (Campinas)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0,8417)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0,9976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elevado para medio (352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fatorial, os pesos e as faixas são recalculados só com os setores da região; os índices de regiões diferentes não são comparáveis entre si.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Regiões com poucos municípios no ELSI têm descritivas regionais apoiadas em poucas cidades.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municipal só usa municípios com pelo menos 30 setores de FCU e 30 fora; em algumas regiões, são poucos.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abastecimento de água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+ V00113 + V00114 + V00115 + V00116 + V00117 + V00118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esgotamento sanitário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+ V00313 + V00314 + V00315 + V00316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destino do lixo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+ V00399 + V00400 + V00401 + V00402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até dentro do domicílio (complemento de V00199; equivale a V00200+V00201 sobre V00001)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ao domicílio (V00201)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chega encanada apenas ao terreno (V00200)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de uso exclusivo com chuveiro e vaso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sanitário ou buraco para dejeções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 de banheiro graduada: 1 ponto para banheiro só de uso comum, 2 para só sanitário, 3 para nem banheiro nem sanitário, sobre 3 vezes os domicílios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+ 2·V00237 + 3·V00238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 por domicílio (reproduz o V0005 do IBGE)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Taxa de analfabetismo entre pessoas de 15 anos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Rendimento nominal médio mensal das pessoas responsáveis (R$)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cor/raça preta, parda ou indígena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pessoa responsável do sexo feminino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+ 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sem o valor extremo de Belo Horizonte (R$ 170.418,06), que vira faltante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com o valor extremo trocado pela mediana do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particulares improvisados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habitação precária (cortiço, estrutura degradada, improvisados)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V00052 + V00053 + V00054 + V00055 + V00056 + V00057 + V00058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convencionais (casa, casa de vila/condomínio, apartamento)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+ V00048 + 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não convencionais (cortiço, maloca, estrutura degradada)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V00051 + V00052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 de vila ou em 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crianças de 0 a 4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com menos de 15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60 anos ou mais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Populacional: 60+ por 100 menores de 15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de Idosos: 60+ por 100 pessoas de 15 a 59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+ V01035 + V01036 + V01037 + V01038 + V01039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70+ entre os de 60+ (proxy de longevidade; NÃO é o LI, que exigiria a faixa 75+, inexistente nos agregados por setor)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3 de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83</Slides>
  <Notes>83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sudeste — Região Sudeste</dc:title>
  <dc:subject>PptxGenJS Presentation</dc:subject>
  <dc:creator>Pedro Dias Soares</dc:creator>
  <cp:lastModifiedBy>Pedro Dias Soares</cp:lastModifiedBy>
  <cp:revision>1</cp:revision>
  <dcterms:created xsi:type="dcterms:W3CDTF">2026-10-06T20:50:10Z</dcterms:created>
  <dcterms:modified xsi:type="dcterms:W3CDTF">2026-10-06T20:50:10Z</dcterms:modified>
</cp:coreProperties>
</file>