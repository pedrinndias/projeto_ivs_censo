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</p:sldIdLst>
  <p:notesMasterIdLst>
    <p:notesMasterId r:id="rId8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notesMaster" Target="notesMasters/notesMaster1.xml"/><Relationship Id="rId85" Type="http://schemas.openxmlformats.org/officeDocument/2006/relationships/presProps" Target="presProps.xml"/><Relationship Id="rId86" Type="http://schemas.openxmlformats.org/officeDocument/2006/relationships/viewProps" Target="viewProps.xml"/><Relationship Id="rId87" Type="http://schemas.openxmlformats.org/officeDocument/2006/relationships/theme" Target="theme/theme1.xml"/><Relationship Id="rId8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ficam os dados e o IVS quando os blocos rodam só com os municípios da região Norte?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Só o recorte: entram apenas os setores urbanos com Dados_sig = OK dos municípios da região Norte. A fatorial, os pesos e as faixas são recalculados com eles; componentes, rotação, pesos 60/40 e normalização são os da referência.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funil mostra o caminho dos setores. A base completa inclui setores rurais e setores sem dados divulgados. O recorte da versão é o conjunto sobre o qual são calculadas as descritivas, as distribuições e as correlações. A amostra do índice é menor, porque a análise fatorial exige que o setor tenha todos os componentes preenchidos (exclusão por lista: basta faltar um componente para o setor sair). Essa diferença de amostra é importante quando se comparam números de blocos diferentes.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Antes de qualquer número, é preciso saber sobre quais setores ele foi calculado. Este bloco segue o caminho dos setores desde a base completa até a amostra do índice: cada filtro tira alguns, e o motivo de cada saída fica registrado. Também mostra, indicador por indicador, quantos setores não têm valor — porque um indicador com muitos faltantes muda a amostra de qualquer análise que o 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funil mostra o caminho dos setores. A base completa inclui setores rurais e setores sem dados divulgados. O recorte da versão é o conjunto sobre o qual são calculadas as descritivas, as distribuições e as correlações. A amostra do índice é menor, porque a análise fatorial exige que o setor tenha todos os componentes preenchidos (exclusão por lista: basta faltar um componente para o setor sair). Essa diferença de amostra é importante quando se comparam números de blocos diferentes.
Como ler: Cada linha é um filtro, na ordem em que é aplicado: quantos setores ficam, quantos saem e por quê.
O que mostra: A base tem 109.032 setores; 5.915 ficam no recorte da versão e 3.439 têm todos os componentes do índice (2.476 saem nesta última etapa).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a mesma informação da tabela do funil, em forma de barras. A queda entre o recorte e a amostra do índice é quase toda causada pelos indicadores com sigilo (renda e analfabetismo) e pelas partes do banheiro graduado, como mostra a tabela de perdas por indicador.
Como ler: Cada barra é uma etapa do funil; o comprimento é o número de setores que ainda estão dentro.
O que mostra: A barra final (3.439 setores) é a amostra do índice; a do recorte tem 5.915.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faltante é um setor do recorte em que o indicador não pôde ser calculado: porque o IBGE não divulgou a variável (sigilo), porque o denominador é zero (por exemplo, nenhuma pessoa de 60 anos ou mais para calcular a proporção de 70+ entre elas) ou porque alguma parte da conta faltou. Indicadores com muitos faltantes reduzem a amostra de qualquer análise que os inclua.
Como ler: Uma linha por indicador: setores com valor, setores sem valor e a porcentagem sem valor dentro do recorte.
O que mostra: O maior percentual de faltantes é o de Banheiro graduado (34,0%); o menor, o de Água inadequada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faltante é um setor do recorte em que o indicador não pôde ser calculado: porque o IBGE não divulgou a variável (sigilo), porque o denominador é zero (por exemplo, nenhuma pessoa de 60 anos ou mais para calcular a proporção de 70+ entre elas) ou porque alguma parte da conta faltou. Indicadores com muitos faltantes reduzem a amostra de qualquer análise que os inclua.
Como ler: Uma linha por indicador: setores com valor, setores sem valor e a porcentagem sem valor dentro do recorte.
O que mostra: O maior percentual de faltantes é o de Banheiro graduado (34,0%); o menor, o de Água inadequada (0,0%).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descritivas resumem cada indicador em poucos números: o centro (média e mediana), a dispersão (desvio-padrão, quartis, percentis 10 e 90) e a forma (assimetria e curtose). Elas aparecem para o conjunto, por região e por município, para que diferenças de lugar fiquem visíveis antes de qualquer modelo.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média é sensível a valores extremos; a mediana não. Quando as duas se afastam, a distribuição é assimétrica. A assimetria é positiva quando há uma cauda longa à direita (poucos setores com valores muito altos). A curtose mede o peso das caudas: valores altos indicam muitos extremos. O coeficiente de variação (DP dividido pela média, em %) permite comparar a dispersão de indicadores em escalas diferentes. Nos indicadores de saneamento, a maioria dos setores vale zero: a mediana é zero e o intervalo interquartil também, o que explica por que o critério de extremos muda para eles (bloco 5).
Como ler: Uma linha por indicador. n: setores com valor; DP: desvio-padrão; P10…P90: percentis; CV: coeficiente de variação; % zeros: setores com valor exatamente zero.
O que mostra: A maior assimetria é a de Domicílio improvisado (49,13); o maior percentual de zeros é o de Domicílio improvisado (99,3%).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média é sensível a valores extremos; a mediana não. Quando as duas se afastam, a distribuição é assimétrica. A assimetria é positiva quando há uma cauda longa à direita (poucos setores com valores muito altos). A curtose mede o peso das caudas: valores altos indicam muitos extremos. O coeficiente de variação (DP dividido pela média, em %) permite comparar a dispersão de indicadores em escalas diferentes. Nos indicadores de saneamento, a maioria dos setores vale zero: a mediana é zero e o intervalo interquartil também, o que explica por que o critério de extremos muda para eles (bloco 5).
Como ler: Uma linha por indicador. n: setores com valor; DP: desvio-padrão; P10…P90: percentis; CV: coeficiente de variação; % zeros: setores com valor exatamente zero.
O que mostra: A maior assimetria é a de Domicílio improvisado (49,13); o maior percentual de zeros é o de Domicílio improvisado (99,3%).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região é o primeiro dígito do código da unidade da federação. As diferenças entre regiões mostram o quanto o retrato depende do lugar: um indicador que varia muito entre regiões pode dominar um índice calculado com normalização global, e é por isso que a referência normaliza dentro de cada município.
Como ler: Uma linha por região e indicador, com as mesmas colunas da tabela global.
O que mostra: Para Renda média, a mediana mais alta está no Norte (1.820,99) e a mais baixa no Norte (1.820,99).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região é o primeiro dígito do código da unidade da federação. As diferenças entre regiões mostram o quanto o retrato depende do lugar: um indicador que varia muito entre regiões pode dominar um índice calculado com normalização global, e é por isso que a referência normaliza dentro de cada município.
Como ler: Uma linha por região e indicador, com as mesmas colunas da tabela global.
O que mostra: Para Renda média, a mediana mais alta está no Norte (1.820,99) e a mais baixa no Norte (1.820,99).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70 municípios de tamanhos muito diferentes: alguns têm poucas dezenas de setores, e a mediana deles é menos estável. A tabela completa serve para consulta; o slide destaca os extremos.
Como ler: Uma linha por município e indicador (tabela longa). No deck, um recorte; a tabela completa está no CSV.
O que mostra: Para Renda média, a maior mediana municipal é a de Manaus (1.852,55); a menor, a de Portel (1.390,26).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números do bloco anterior escondem a forma da distribuição. Histogramas, caixas e curvas de densidade mostram se o indicador se concentra em zero, se tem cauda longa ou se separa regiões. Cada painel reúne os indicadores de uma dimensão.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Saneamento, a maior assimetria é a de Sem banheiro nem sanitário (31,22).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(Água inadequada), a mediana regional vai de 0,1759 (Norte) a 0,1759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Água inadequada, a mediana regional vai de 0,1759 (Norte) a 0,1759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Socioeconômica, a maior assimetria é a de Renda média (6,15).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(Razão de moradores), a mediana regional vai de 3,1938 (Norte) a 3,1938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Razão de moradores, a mediana regional vai de 3,1938 (Norte) a 3,1938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Morfologia, a maior assimetria é a de Domicílio improvisado (49,13).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(Domicílio improvisado), a mediana regional vai de 0,0000 (Norte) a 0,0000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Domicílio improvisado, a mediana regional vai de 0,0000 (Norte) a 0,0000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histograma divide o intervalo de valores em 50 faixas iguais e conta os setores em cada uma. Uma barra alta junto do zero indica muitos setores sem o problema medido; uma cauda longa à direita indica poucos setores com valores muito altos. Os 0,5% de valores mais altos são omitidos só no desenho, para que a cauda não esmague a escala; as tabelas usam todos os valores.
Como ler: Um histograma por indicador da dimensão: no eixo horizontal, o valor; no vertical, quantos setores têm aquele valor. Os 0,5% maiores ficam de fora para a escala ser legível.
O que mostra: Entre os indicadores de Demografia, a maior assimetria é a de Índice de envelhecimento (2,26).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de caixa resume a distribuição em cinco números. A caixa contém a metade central dos setores; se as caixas de duas regiões não se sobrepõem, a diferença entre elas é grande. Quando a mediana e o 1º quartil coincidem com zero, a caixa fica achatada no chão: é o caso dos indicadores com muitos zeros.
Como ler: Uma caixa por região: a linha dentro é a mediana, a caixa vai do 1º ao 3º quartil e as hastes até 1,5 intervalo interquartil. Os pontos extremos não são desenhados (ver bloco 5).
O que mostra: No primeiro indicador da dimensão (Crianças 0–4), a mediana regional vai de 0,0632 (Norte) a 0,0632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curva de densidade é um histograma suavizado e normalizado: a área sob ela vale 1, qualquer que seja o número de setores da região. Assim, comparam-se formas, não tamanhos. Picos em lugares diferentes indicam regiões com valores típicos diferentes; uma curva mais larga indica mais dispersão.
Como ler: Uma curva por região em cada painel: a altura indica onde os setores daquela região se concentram. As áreas sob as curvas são iguais, para que regiões grandes e pequenas sejam comparáveis.
O que mostra: Em Crianças 0–4, a mediana regional vai de 0,0632 (Norte) a 0,0632 (Norte).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IBGE não divulga alguns valores para proteger o sigilo de setores pequenos. Se a falta fosse aleatória, bastaria descartar os setores sem dado; como ela se concentra em setores pequenos, descartar muda o retrato. Este bloco mostra onde estão os faltantes e como eles se distribuem pelo tamanho do setor.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faltantes não se espalham por igual entre os municípios. Onde eles se concentram, um índice calculado só com setores completos retrata pior o município, porque os setores que saem não são uma amostra ao acaso.
Como ler: Uma linha por município e uma coluna por indicador; cada célula é o percentual de setores do município sem aquele indicador.
O que mostra: A célula mais alta é Banheiro graduado em Placas, com 68,8% dos setores sem valor.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mapa de calor mostra a tabela anterior como cores. Colunas inteiras escuras indicam indicadores com sigilo ou denominador frequentemente zero; linhas escuras indicam municípios com muitos setores pequenos.
Como ler: Mapa de calor: linhas são municípios, colunas são indicadores; quanto mais escura a célula, maior o percentual de setores sem valor.
O que mostra: O ponto mais escuro é Banheiro graduado em Placas (68,8%).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a falta de dados fosse aleatória, o percentual de faltantes seria parecido em todos os décimos. Quando ele se concentra nos setores pequenos, a falta é não aleatória: o IBGE suprime valores para proteger o sigilo de quem mora em setores com poucos domicílios. A consequência é que análises só com setores completos sub-representam setores pequenos.
Como ler: Os setores são divididos em dez grupos iguais pelo número de moradores (1 = os menores). Para cada grupo, o percentual de setores sem renda e sem analfabetismo, e o percentual em FCU.
O que mostra: Sem renda: 0,0% no primeiro décimo e 0,0% no último. Sem analfabetismo: 27,2% e 1,9%.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duas linhas mostram a mesma tabela em forma de gráfico. Uma linha que desce da esquerda para a direita é o sinal do sigilo: quanto menor o setor, mais provável que o valor tenha sido suprimido.
Como ler: Eixo horizontal: décimo de moradores do setor (1 = menores). Eixo vertical: percentual de setores sem o indicador.
O que mostra: Renda: de 0,0% a 0,0%; analfabetismo: de 27,2% a 1,9%, do menor ao maior décimo.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extremo não é um erro por definição: pode ser um setor realmente diferente. O critério muda com o indicador: o intervalo interquartil onde ele funciona, um critério próprio para a renda e, nos indicadores em que a maioria dos setores vale zero, o critério aplicado só aos valores acima de zero.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Apartamento (11,5%),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Apartamento (11,5%),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de Tukey marca como extremo o valor que fica a mais de 3 intervalos interquartis abaixo do 1º quartil ou acima do 3º (o intervalo interquartil é a distância entre o 1º e o 3º quartil). Nos indicadores com mediana zero esse intervalo é zero, e qualquer valor positivo viraria extremo; por isso, neles, o critério é aplicado só aos valores acima de zero. A renda usa o critério próprio do projeto: limite de Tukey dentro de cada município e um teste de coerência com o perfil do setor, que separa a renda alta de verdade (EXTREMO) da provável inconsistência (SUSPEITO).
Como ler: Uma linha por indicador: o critério usado, os limites, quantos setores passam deles e o percentual de zeros.
O que mostra: O maior percentual de extremos é o de Apartamento (11,5%), pelo critério “Tukey k=3 (intervalo interquartil)”.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total soma marcações, não setores: um setor extremo em dois indicadores conta duas vezes. Municípios grandes tendem a ter mais marcações só por terem mais setores; a comparação justa é com o número de setores de cada um (bloco 2).
Como ler: Uma linha por município e uma coluna por indicador, com o número de setores marcados; a coluna total soma todas as marcações.
O que mostra: O município com mais marcações é Manaus, com 2.058 no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lista serve para conferência caso a caso: abrir o setor, olhar o entorno e decidir se é um setor diferente de verdade ou um erro de registro. Nenhum setor é retirado das análises por estar nesta lista.
Como ler: Até dez setores por indicador, os mais distantes da mediana entre os marcados como extremo: código do setor, município, valor e mediana global.
O que mostra: No topo da lista de Renda média está um setor de Belém, com valor 78.444,47.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lista serve para conferência caso a caso: abrir o setor, olhar o entorno e decidir se é um setor diferente de verdade ou um erro de registro. Nenhum setor é retirado das análises por estar nesta lista.
Como ler: Até dez setores por indicador, os mais distantes da mediana entre os marcados como extremo: código do setor, município, valor e mediana global.
O que mostra: No topo da lista de Renda média está um setor de Belém, com valor 78.444,47.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classe vem do rastreio da renda do projeto (src/ivs_censo/renda.py). Um setor de renda alta com baixo analfabetismo e pouca população preta, parda ou indígena é coerente; o mesmo valor num setor com perfil oposto é suspeito. A variante de renda “sem o extremo” retira esses valores; a referência usa a renda original.
Como ler: Cada setor com renda recebe uma classe: NORMAL, EXTREMO (acima do limite do município, mas coerente com o perfil) ou SUSPEITO (acima do limite e incoerente).
O que mostra: São 22 setores SUSPEITO (0,37%) e 416 EXTREMO.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percentuais não são comparáveis de forma direta entre critérios diferentes: o critério da inflação de zeros olha só os setores com valor acima de zero. O gráfico serve para localizar os indicadores em que os extremos merecem atenção.
Como ler: Uma barra por indicador, com o percentual de setores marcados; a cor indica o critério (petróleo: Tukey; cinza: inflação de zeros; argila: renda).
O que mostra: A barra mais longa é a de Apartamento (11,5%).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mede o quanto dois indicadores sobem e descem juntos, de −1 a 1. Pares muito correlacionados medem quase a mesma coisa; pares sem correlação trazem informação diferente. O bloco mostra as duas medidas usuais (Spearman, por postos, e Pearson, linear) e agrupa os indicadores parecidos.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Spearman é calculada sobre os postos (a ordem dos setores), não sobre os valores. Por isso é pouco afetada por extremos e capta relações que sobem sempre, mesmo que não em linha reta. Valor perto de 1: os setores ordenados por um indicador ficam quase na mesma ordem pelo outro; perto de −1: ordem invertida; perto de 0: sem relação de ordem. Cada par usa os setores com os dois valores.
Como ler: Matriz de correlação de Spearman: cada célula é a correlação entre o indicador da linha e o da coluna, de −1 a 1.
O que mostra: A maior correlação em módulo é entre Renda média e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correlação de Pearson mede a relação em linha reta entre os valores. Ela é sensível a extremos e a distribuições muito assimétricas, como as do saneamento. Quando Pearson e Spearman divergem muito para um mesmo par, a relação é puxada por poucos setores extremos ou não é linear.
Como ler: Matriz de correlação de Pearson, com a mesma leitura da de Spearman.
O que mostra: A maior correlação de Pearson em módulo é entre Renda média e Renda sem o extremo (r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indicadores com correlação acima de 0,80 medem praticamente a mesma coisa. Pôr os dois no índice dá peso dobrado a essa dimensão. Muitas vezes são variantes de um mesmo conceito (por exemplo, as três rendas ou as várias definições de água), e a escolha entre elas é uma das decisões que as versões do eixo B exploram.
Como ler: Os pares de indicadores com correlação de pelo menos 0,80 em módulo, por Spearman ou por Pearson, do mais forte para o mais fraco.
O que mostra: No topo: Renda média × Renda sem o extremo, com Spearman 1,0000 e Pearson 1,0000.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indicadores com correlação acima de 0,80 medem praticamente a mesma coisa. Pôr os dois no índice dá peso dobrado a essa dimensão. Muitas vezes são variantes de um mesmo conceito (por exemplo, as três rendas ou as várias definições de água), e a escolha entre elas é uma das decisões que as versões do eixo B exploram.
Como ler: Os pares de indicadores com correlação de pelo menos 0,80 em módulo, por Spearman ou por Pearson, do mais forte para o mais fraco.
O que mostra: No topo: Renda média × Renda sem o extremo, com Spearman 1,0000 e Pearson 1,0000.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reordenação põe lado a lado os indicadores que se correlacionam entre si, e os blocos de cor ao longo da diagonal revelam os grupos. Um grupo nítido costuma corresponder a uma dimensão: socioeconômica, saneamento, moradia, idade.
Como ler: Mapa de calor da correlação de Spearman, com os indicadores reordenados pelo agrupamento do dendrograma; argila é correlação positiva, petróleo negativa.
O que mostra: O par mais forte é Renda média ×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dendrograma é o resultado de um agrupamento hierárquico: começa com cada indicador sozinho e, a cada passo, une os dois grupos mais próximos. A distância entre dois indicadores é 1 menos o módulo da correlação de Spearman (0 = idênticos, 1 = sem relação); entre grupos, usa-se a média das distâncias (ligação média). Ele é um retrato descritivo: não substitui a análise fatorial.
Como ler: Cada indicador é uma folha à esquerda; as linhas os unem do mais parecido para o menos. Quanto mais à esquerda a união, mais correlacionados os indicadores.
O que mostra: O par mais próximo é Renda média × Renda sem o extremo (ρ = 1,0000).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favelas e comunidades urbanas delimitadas pelo IBGE servem de referência externa: um bom indicador de vulnerabilidade deve ter valores mais altos nelas. A comparação usa medianas e a AUC, que mede a capacidade de separar os dois grupos.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(área sob a curva ROC) é a probabilidade de que um setor de favela, sorteado ao acaso, tenha valor maior que um setor de fora, também sorteado. AUC 0,5: o indicador não separa os grupos. Acima de 0,5: valores maiores nas favelas. Abaixo de 0,5: valores menores nas favelas (é o caso da renda, que entra no índice invertida). A AUC aqui é global, com todos os municípios juntos.
Como ler: Uma linha por indicador: setores de FCU e fora, a mediana em cada grupo, a diferença e a AUC do indicador sozinho.
O que mostra: Cor/raça PPI tem AUC 0,7904 (mediana 0,7923 em FCU e 0,7149 fora); a menor AUC é a de Renda (mediana mun.) (0,1612).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(área sob a curva ROC) é a probabilidade de que um setor de favela, sorteado ao acaso, tenha valor maior que um setor de fora, também sorteado. AUC 0,5: o indicador não separa os grupos. Acima de 0,5: valores maiores nas favelas. Abaixo de 0,5: valores menores nas favelas (é o caso da renda, que entra no índice invertida). A AUC aqui é global, com todos os municípios juntos.
Como ler: Uma linha por indicador: setores de FCU e fora, a mediana em cada grupo, a diferença e a AUC do indicador sozinho.
O que mostra: Cor/raça PPI tem AUC 0,7904 (mediana 0,7923 em FCU e 0,7149 fora); a menor AUC é a de Renda (mediana mun.) (0,1612).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Barras que partem de 0,5 deixam claro o sentido: argila para a direita, o indicador é maior nas favelas; petróleo para a esquerda, é menor. O painel das medianas mostra a mesma comparação em valores absolutos, o que ajuda a separar uma diferença grande em termos relativos de uma diferença grande de fato.
Como ler: À esquerda, a AUC de cada indicador (barras a partir de 0,5; argila acima, petróleo abaixo). À direita, as medianas em FCU e fora, para os indicadores em proporção.
O que mostra: A maior AUC é a de Cor/raça PPI (0,7904); a menor, a de Renda (mediana mun.) (0,1612).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projeto olha para a vulnerabilidade do idoso. Este bloco descreve a estrutura etária e quatro indicadores de envelhecimento, e cruza o percentual de pessoas de 60 anos ou mais com os demais indicadores.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faixas etárias do Censo não são todas do mesmo tamanho: de 30 a 59 anos elas têm dez anos, e as anteriores, cinco. Por isso as faixas de dez anos tendem a parecer maiores. O percentual é calculado sobre a soma das faixas, e cada região soma 100%.
Como ler: Uma linha por faixa etária; as colunas são o total e as regiões, com o percentual da população de cada uma em cada faixa.
O que mostra: Pessoas de 70 anos ou mais são 4,9% do total, chegando a 4,9% no Norte.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agregados por setor do Censo trazem as faixas etárias sem a separação por sexo, por isso a figura é uma pirâmide de um lado só. Pontos à direita da barra nas faixas mais velhas indicam regiões mais envelhecidas.
Como ler: Barras: percentual da população total em cada faixa etária. Pontos: o mesmo percentual em cada região.
O que mostra: 70+: 4,9% no total e 4,9% no Norte.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de envelhecimento é a razão entre pessoas de 60 anos ou mais e pessoas de 0 a 14 anos. A razão de dependência idosa é a razão entre pessoas de 60 anos ou mais e pessoas de 15 a 59 anos. A proporção de 70+ entre os 60+ indica o quanto a população idosa do setor é mais velha. Os quatro são calculados por setor.
Como ler: Os quatro indicadores de envelhecimento, para o total e por região: n, média, mediana, quartis e as demais descritivas.
O que mostra: Pessoas 60+: mediana de 0,1118 no Norte e 0,1118 no Norte. Índice de envelhecimento, mediana do total: 53,5504.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cruza envelhecimento com vulnerabilidade. Uma correlação positiva com a renda indica que setores mais ricos têm mais idosos (envelhecimento associado à transição demográfica mais avançada); uma correlação negativa com indicadores de carência diz o mesmo pelo outro lado. Isso importa para o IVS-Idoso: se idade e vulnerabilidade andam em sentidos opostos, somá-las num índice só pode cancelar os efeitos.
Como ler: Correlação de Spearman entre os indicadores de envelhecimento (linhas) e os demais (colunas).
O que mostra: Para pessoas 60+, a correlação mais forte é com População 0–14 (ρ = -0,8348); com a renda média, ρ = 0,5130.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tabela cruza envelhecimento com vulnerabilidade. Uma correlação positiva com a renda indica que setores mais ricos têm mais idosos (envelhecimento associado à transição demográfica mais avançada); uma correlação negativa com indicadores de carência diz o mesmo pelo outro lado. Isso importa para o IVS-Idoso: se idade e vulnerabilidade andam em sentidos opostos, somá-las num índice só pode cancelar os efeitos.
Como ler: Correlação de Spearman entre os indicadores de envelhecimento (linhas) e os demais (colunas).
O que mostra: Para pessoas 60+, a correlação mais forte é com População 0–14 (ρ = -0,8348); com a renda média, ρ = 0,5130.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mais de cem mil setores, um gráfico de pontos vira uma mancha. O gráfico de hexágonos conta quantos setores caem em cada célula. A escala logarítmica da renda espalha os setores de renda baixa, que de outro modo ficariam espremidos à esquerda.
Como ler: Cada hexágono reúne setores com valores parecidos; quanto mais escuro, mais setores. Eixo horizontal: renda média em escala logarítmica; vertical: proporção de pessoas de 60 anos ou mais.
O que mostra: A correlação de Spearman entre as duas é 0,5130.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os fatores e os pesos, cada setor recebe um valor de 0 a 1 dentro do seu município. O bloco mostra os pesos, a distribuição do índice, as faixas de vulnerabilidade pelas duas regras, a AUC contra as favelas e se a versão passa nos critérios de elegibilidade fixados no NB05.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Os pesos seguem a receita do NB04: cada variável vai para a dimensão em que tem a maior carga; o peso da dimensão é repartido entre as variáveis dela em proporção ao quadrado da carga. O peso das dimensões depende do método da versão; na referência é a regra do IVS-BH de 2012 (60% socioeconômica, 40% saneamento).
Como ler: Uma linha por componente: a dimensão em que ele carrega mais, a carga, o peso da dimensão e o peso final no índice (em %).
O que mostra: O maior peso é o de Água inadequada (40,0%); a dimensão socioeconômica pesa 60,0%.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índice vai de 0 (o setor menos vulnerável do município) a 1 (o mais vulnerável). Comparar o nível do índice entre municípios não faz sentido nesta normalização; o que se compara é a posição relativa de cada setor dentro da sua cidade.
Como ler: Descritivas do índice para o total e por região. Como o índice é normalizado dentro de cada município, todo município tem mínimo 0 e máximo 1.
O que mostra: 3.439 setores; mediana 0,3903; percentil 90 0,6607.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do IVS-BH de 2012 classifica pelo afastamento da média do município em desvios-padrão: abaixo de −0,5 DP é baixo; até +0,5 DP, médio; até +1,5 DP, elevado; acima, muito elevado. Como a distribuição é assimétrica, as faixas não têm o mesmo tamanho. A regra dos quartis divide cada município em quatro partes iguais, por construção com 25% cada.
Como ler: Quantos setores ficam em cada faixa, pelas duas regras: a do IVS-BH (média e desvio-padrão do município) e a dos quartis do município.
O que mostra: IVS-BH: 39,6% baixo e 8,7% muito elevado. Quartis: 25,1%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AUC global junta todos os setores; a municipal calcula a AUC dentro de cada município e toma a mediana, só nos municípios com pelo menos 30 setores de FCU e 30 fora. A municipal é a leitura adequada para um índice normalizado no município. Os critérios de elegibilidade foram fixados antes de rodar a grade do NB05: KMO de pelo menos 0,70, MSA de pelo menos 0,50, comunalidade de pelo menos 0,30 e carga de pelo menos 0,40 em todas as variáveis. A elegibilidade é descritiva: não escolhe a versão.
Como ler: AUC global e municipal, peso da dimensão socioeconômica e os critérios de elegibilidade do NB05, um por linha (1 = atende).
O que mostra: AUC global 0,6035; mediana da AUC municipal 0,6040, em 3 municípios. Pelos critérios do NB05, a versão é não elegível.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Municípios com poucos setores de favela têm AUC instável: um ou dois setores mudam muito o resultado. Por isso a mediana só usa os municípios com pelo menos 30 setores em cada grupo; os demais ficam na tabela, marcados.
Como ler: Uma linha por município: AUC, setores de FCU (n1) e fora (n0) e se o município entra na mediana.
O que mostra: Entre os municípios que entram na mediana, a maior AUC é a de Ananindeua (0,7910) e a menor, a de Belém (0,5686).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as faixas são definidas dentro de cada município, um mesmo valor do índice pode cair em faixas diferentes em cidades diferentes: por isso as cores se sobrepõem nas fronteiras.
Como ler: Histograma do índice, com cada barra dividida pela faixa dos setores (regra do IVS-BH).
O que mostra: 39,6% dos setores ficam em baixo e 8,7% em muito elevado.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Quanto mais a curva se aproxima do canto superior esquerdo, melhor o índice separa os dois grupos. A área sob a curva é a AUC. Esta curva usa todos os setores juntos; como o índice é normalizado no município, a AUC municipal é a medida principal.
Como ler: Cada ponto da curva é um corte do índice: no eixo vertical, a proporção de setores de FCU acima do corte; no horizontal, a dos setores de fora. A diagonal é o acaso.
O que mostra: Área sob a curva: 0,6035 (global); a mediana municipal é 0,6040.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versão muda uma coisa só em relação à referência. Este bloco mede o efeito dessa mudança: a correlação de postos entre os dois índices, a matriz de setores que trocam de faixa e os municípios mais afetados.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correlação de postos perto de 1 indica que a versão ordena os setores quase como a referência, ainda que os valores mudem. Na própria referência, o valor é 1 por construção.
Como ler: Correlação de Spearman entre o índice desta versão e o da referência, nos setores que estão nas duas amostras: total e por município.
O que mostra: Total: ρ = 0,8689. Menor correlação municipal: Placas (0,7000).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diagonal (mesma faixa nas duas) mostra a concordância. Trocas entre faixas vizinhas são esperadas quando os pesos mudam um pouco; trocas de duas faixas ou mais indicam que a versão muda de fato a classificação do setor.
Como ler: Cada linha é um par (faixa na referência, faixa nesta versão), com o número de setores e o percentual do total.
O que mostra: Fora da diagonal, a maior célula é de medio para baixo, com 379 setores.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faixa usada é a da regra do IVS-BH. Municípios pequenos tendem a aparecer no topo, porque poucas trocas pesam muito em poucos setores.
Como ler: A primeira linha é o total; as demais, os municípios, do mais afetado para o menos: setores comuns, setores que mudam de faixa e o percentual.
O que mostra: No total, 31,2% dos setores mudam de faixa; o município mais afetado é Belém (33,3%).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matriz com quase tudo na diagonal indica que a mudança da versão não altera a classificação; células fora da diagonal mostram para onde os setores se movem.
Como ler: Linhas: faixa na referência; colunas: faixa nesta versão; cada célula traz o número de setores.
O que mostra: A maior troca fora da diagonal é de medio para baixo (379 setores).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gráfico destaca onde a escolha desta versão faz mais diferença. Na própria referência, todas as barras são zero.
Como ler: Os 20 municípios com o maior percentual de setores que mudam de faixa.
O que mostra: O mais afetado é Belém (33,3%); no total, 31,2%.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a região em que o índice mais se afasta da referência: a correlação de postos cai e cerca de um terço dos setores muda de faixa. A versão não é elegível (MSA e comunalidade do banheiro graduado abaixo dos critérios). O índice separa mal as favelas em Manaus e Belém, onde as FCU são uma parte muito grande dos setores e se parecem com o entorno; em Ananindeua a separação é boa. Falha registrada como falha.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fatorial, os pesos e as faixas são recalculados só com os setores da região; os índices de regiões diferentes não são comparáveis entre si.
Regiões com poucos municípios no ELSI têm descritivas regionais apoiadas em poucas cidades.
A AUC municipal só usa municípios com pelo menos 30 setores de FCU e 30 fora; em algumas regiões, são poucos.
A amostra do índice exclui todo setor com algum componente faltante (exclusão por lista).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200" kern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ANÁLISES EXPLORATÓRIAS POR VERSÃO · A4_por_regiao/norte</a:t>
            </a:r>
            <a:endParaRPr lang="en-US" sz="115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Região Norte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ficam os dados e o IVS quando os blocos rodam só com os municípios da região Norte?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outubro de 2026  ·  5.915 setores no recorte  ·  3.439 na amostra do índice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nesta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297680"/>
                <a:gridCol w="42976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Aspecto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(00_referencia)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entrega_orientadora/Base_ELSI_70Municipios_Censo2022.db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urbanos; Dados_sig = OK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 os do quadro, com as variantes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681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inadequada, Esgoto inadequado, Razão de moradores, Analfabetismo 15+, renda_inv, Cor/raça PPI, Banheiro graduado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original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Rotação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promax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Pesos das dimensões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60_40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Normalização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municipal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8B877E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igual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Blocos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1, 2, 3, 4, 5, 6, 7, 8, 9, 10, 11, 12, 13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1, 2, 3, 4, 5, 6, 7, 8, 10, 13</a:t>
                      </a:r>
                      <a:endParaRPr lang="en-US" sz="10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77240" y="430301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77240" y="4357878"/>
            <a:ext cx="10634472" cy="16771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muda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o recorte: entram apenas os setores urbanos com Dados_sig = OK dos municípios da região Norte. A fatorial, os pesos e as faixas são recalculados com eles; componentes, rotação, pesos 60/40 e normalização são os da referência.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3.439 setores chegam ao índice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1790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9105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109.032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7627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base completa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51790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59105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5.915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17627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no recorte da versão (descritivas, distribuições, correlações)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517904"/>
            <a:ext cx="3300984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59105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3.439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10728" y="217627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amostra do índice (fatorial e blocos 9 a 13)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026664"/>
            <a:ext cx="1063447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dois números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funil mostra o caminho dos setores. A base completa inclui setores rurais e setores sem dados divulgados. O recorte da versão é o conjunto sobre o qual são calculadas as descritivas, as distribuições e as correlações. A amostra do índice é menor, porque a análise fatorial exige que o setor tenha todos os componentes preenchidos (exclusão por lista: basta faltar um componente para o setor sair). Essa diferença de amostra é importante quando se comparam números de blocos diferentes.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T01 · tabelas/T01_funil.csv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Sumário: os blocos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2377440"/>
                <a:gridCol w="4937760"/>
                <a:gridCol w="26517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Pergunta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Itens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Quantos setores entram nesta versão, quantos saem e por quê?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T01, F01, T02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Descritivas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Qual é o valor típico de cada indicador, e quanto ele varia?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T03, T04, T05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Distribuições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forma tem cada indicador, e ela muda de uma região para outra?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F02, F03, F04, F05, F06, F07, F08, F09, F10, F11, F12, F13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Faltantes e sigilo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Onde faltam dados, e a falta é aleatória?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T06, F14, T07, F15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setores têm valores fora do comum, e por qual critério?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T08, T09, T10, T11, F16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Correlações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Que indicadores andam juntos?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T12, T13, T14, F17, F18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Favelas e comunidades urbanas (FCU)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Cada indicador, sozinho, separa os setores de favela dos demais?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T15, F19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a população idosa se distribui, e com que indicadores ela se relaciona?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T16, F20, T17, T18, F21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Como fica o índice, e ele separa os setores de favela?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T23, T24, T25, T26, T27, F24, F25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Comparação com a referência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esta versão muda em relação à referência proposta do NB05?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T31, T32, T33, F28, F29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entram nesta versão, quantos saem e por quê?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T01 · F01 · T02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3.439 setores chegam ao índice, de 109.032 na base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066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822960"/>
                <a:gridCol w="3291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Etapa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Saem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Motivo da saída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Base completa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109.032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urbanos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106.347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 rural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Dados_sig = OK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 sem dados divulgados (sigilo ou sem domicílio ocupado)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Região: 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98.193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fora da região da versão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 completos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faltante em algum componente do índice (exclusão por lista)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filtro, na ordem em que é aplicado: quantos setores ficam, quantos saem e por quê.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 tem 109.032 setores; 5.915 ficam no recorte da versão e 3.439 têm todos os componentes do índice (2.476 saem nesta última etapa).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T01 · tabelas/T01_funil.csv  ·  Bloco 1. Recorte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recorte ao índice, 2.476 setores saem por falta de algum componente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te/figuras/F01_fun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301668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barra é uma etapa do funil; o comprimento é o número de setores que ainda estão dentro.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barra final (3.439 setores) é a amostra do índice; a do recorte tem 5.915.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F01 · figuras/F01_funil.png  ·  Bloco 1. Recorte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graduado é o indicador com mais faltantes (34,0% dos setores)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09728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4.396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5.450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5.311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5.411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com valor, setores sem valor e a porcentagem sem valor dentro do recorte.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Banheiro graduado (34,0%); o menor, o de Água inadequada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T02 · tabelas/T02_perdas_por_indicador.csv  ·  Bloco 1. Recorte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graduado é o indicador com mais faltantes (34,0% dos setores)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371600"/>
                <a:gridCol w="109728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5.306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4.994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com valor, setores sem valor e a porcentagem sem valor dentro do recorte.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Banheiro graduado (34,0%); o menor, o de Água inadequada (0,0%).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T02 · tabelas/T02_perdas_por_indicador.csv  ·  Bloco 1. Recorte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Qual é o valor típico de cada indicador, e quanto ele varia?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T03 · T04 · T05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Domicílio improvisado é o indicador mais assimétrico (assimetria 49,13)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830404"/>
                <a:gridCol w="740878"/>
                <a:gridCol w="740878"/>
                <a:gridCol w="740878"/>
                <a:gridCol w="697297"/>
                <a:gridCol w="740878"/>
                <a:gridCol w="740878"/>
                <a:gridCol w="566554"/>
                <a:gridCol w="653716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0,3170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4.669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4.396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5.450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5.311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4.522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3,1944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2,7801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3,1938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3,6201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5.411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2.880,50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3.133,41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1.264,65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1.820,99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5.717,10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0,8452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0,4451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indicador. n: setores com valor; DP: desvio-padrão; P10…P90: percentis; CV: coeficiente de variação; % zeros: setores com valor exatamente zero.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assimetria é a de Domicílio improvisado (49,13); o maior percentual de zeros é o de Domicílio improvisado (99,3%).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T03 · tabelas/T03_descritivas_global.csv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Domicílio improvisado é o indicador mais assimétrico (assimetria 49,13)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452360" cy="914400"/>
        </p:xfrm>
        <a:graphic>
          <a:graphicData uri="http://schemas.openxmlformats.org/drawingml/2006/table">
            <a:tbl>
              <a:tblPr/>
              <a:tblGrid>
                <a:gridCol w="1830404"/>
                <a:gridCol w="740878"/>
                <a:gridCol w="740878"/>
                <a:gridCol w="740878"/>
                <a:gridCol w="697297"/>
                <a:gridCol w="740878"/>
                <a:gridCol w="740878"/>
                <a:gridCol w="566554"/>
                <a:gridCol w="653716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2.880,50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3.133,41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1.264,65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1.820,99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5.717,10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2.880,50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3.133,41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1.264,65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1.820,99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5.717,10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5.530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0,9762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-6,19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5.306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-1,82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4.994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71,3588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59,9326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19,0123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53,5504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146,8749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18,7170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10,4063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7,7658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16,5766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33,2487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38,6092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9,7496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26,8293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38,4615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50,3226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indicador. n: setores com valor; DP: desvio-padrão; P10…P90: percentis; CV: coeficiente de variação; % zeros: setores com valor exatamente zero.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assimetria é a de Domicílio improvisado (49,13); o maior percentual de zeros é o de Domicílio improvisado (99,3%).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T03 · tabelas/T03_descritivas_global.csv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a mediana vai de 1.820,99 (Norte) a 1.820,99 (Norte)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3200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— mediana por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3,1938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1.820,99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região e indicador, com as mesmas colunas da tabela global.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mediana mais alta está no Norte (1.820,99) e a mais baixa no Norte (1.820,99).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T04 · tabelas/T04_descritivas_regiao.csv  ·  Bloco 2. Descritivas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a mediana vai de 1.820,99 (Norte) a 1.820,99 (Norte)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320040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— mediana por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1.820,99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1.820,99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53,5504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16,5766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38,4615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525106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região e indicador, com as mesmas colunas da tabela global.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mediana mais alta está no Norte (1.820,99) e a mais baixa no Norte (1.820,99).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T04 · tabelas/T04_descritivas_regiao.csv  ·  Bloco 2. Descritivas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média: entre os municípios, a mediana vai de 1.390,26 a 1.852,55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8368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82296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— 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1.303,77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1.852,55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5.385,20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1.213,22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1.802,79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7.101,82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1.299,84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1.772,53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3.968,48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1.142,38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1.694,50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2.896,30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1.192,52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1.494,02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2.489,10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959,68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1.390,26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2.516,97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03364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indicador (tabela longa). No deck, um recorte; a tabela completa está no CSV.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Renda média, a maior mediana municipal é a de Manaus (1.852,55); a menor, a de Portel (1.390,26).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T05 · tabelas/T05_descritivas_municipio.csv  ·  Bloco 2. Descritivas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forma tem cada indicador, e ela muda de uma região para outra?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F02 · F03 · F04 · F05 · F06 · F07 · F08 · F09 · F10 · F11 · F12 · F13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Sem banheiro nem sanitário tem a distribuição mais assimétrica (assimetria 31,22)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te/figuras/F02_histogramas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16236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Saneamento, a maior assimetria é a de Sem banheiro nem sanitário (31,22).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F02 · figuras/F02_histogramas_saneamento.png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Água inadequada tem mediana de 0,1759 no Norte e 0,1759 no Norte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te/figuras/F03_boxplots_regiao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160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(Água inadequada), a mediana regional vai de 0,1759 (Norte) a 0,1759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F03 · figuras/F03_boxplots_regiao_saneamento.png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te/figuras/F04_densidades_regiao_sane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16455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Água inadequada, a mediana regional vai de 0,1759 (Norte) a 0,1759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F04 · figuras/F04_densidades_regiao_saneamento.png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Renda média tem a distribuição mais assimétrica (assimetria 6,15)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te/figuras/F05_histogramas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86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Socioeconômica, a maior assimetria é a de Renda média (6,15).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F05 · figuras/F05_histogramas_socioeconomica.png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Razão de moradores tem mediana de 3,1938 no Norte e 3,1938 no Norte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te/figuras/F06_boxplots_regiao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0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(Razão de moradores), a mediana regional vai de 3,1938 (Norte) a 3,1938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F06 · figuras/F06_boxplots_regiao_socioeconomica.png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Socioeconômica: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te/figuras/F07_densidades_regiao_socioeconomi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01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Razão de moradores, a mediana regional vai de 3,1938 (Norte) a 3,1938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F07 · figuras/F07_densidades_regiao_socioeconomica.png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Domicílio improvisado tem a distribuição mais assimétrica (assimetria 49,13)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te/figuras/F08_histogramas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15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Morfologia, a maior assimetria é a de Domicílio improvisado (49,13).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F08 · figuras/F08_histogramas_morfologia.png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Domicílio improvisado tem mediana de 0,0000 no Norte e 0,0000 no Norte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te/figuras/F09_boxplots_regiao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869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(Domicílio improvisado), a mediana regional vai de 0,0000 (Norte) a 0,0000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F09 · figuras/F09_boxplots_regiao_morfologia.png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te/figuras/F10_densidades_regiao_morfolog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4150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Domicílio improvisado, a mediana regional vai de 0,0000 (Norte) a 0,0000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F10 · figuras/F10_densidades_regiao_morfologia.png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Índice de envelhecimento tem a distribuição mais assimétrica (assimetria 2,26)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te/figuras/F11_histogramas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3253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histograma por indicador da dimensão: no eixo horizontal, o valor; no vertical, quantos setores têm aquele valor. Os 0,5% maiores ficam de fora para a escala ser legível.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indicadores de Demografia, a maior assimetria é a de Índice de envelhecimento (2,26).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F11 · figuras/F11_histogramas_demografia.png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Crianças 0–4 tem mediana de 0,0632 no Norte e 0,0632 no Norte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te/figuras/F12_boxplots_regiao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caixa por região: a linha dentro é a mediana, a caixa vai do 1º ao 3º quartil e as hastes até 1,5 intervalo interquartil. Os pontos extremos não são desenhados (ver bloco 5).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primeiro indicador da dimensão (Crianças 0–4), a mediana regional vai de 0,0632 (Norte) a 0,0632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F12 · figuras/F12_boxplots_regiao_demografia.png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Demografia: as regiões têm formas diferentes de distribuição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te/figuras/F13_densidades_regiao_demograf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75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curva por região em cada painel: a altura indica onde os setores daquela região se concentram. As áreas sob as curvas são iguais, para que regiões grandes e pequenas sejam comparáveis.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Crianças 0–4, a mediana regional vai de 0,0632 (Norte) a 0,0632 (Norte).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F13 · figuras/F13_densidades_regiao_demografia.png  ·  Bloco 3. Distribuições</a:t>
            </a:r>
            <a:endParaRPr lang="en-US" sz="9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Faltantes e sigilo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faltam dados, e a falta é aleatória?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T06 · F14 · T07 · F15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faltantes é o de Banheiro graduado em Placas (68,8%)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69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51560"/>
                <a:gridCol w="1051560"/>
                <a:gridCol w="105156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(% sem valor)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18084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uma coluna por indicador; cada célula é o percentual de setores do município sem aquele indicador.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célula mais alta é Banheiro graduado em Placas, com 68,8% dos setores sem valor.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T06 · tabelas/T06_faltantes_por_municipio.csv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faltantes se concentram em poucos indicadores e municípios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te/figuras/F14_mapa_faltant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4779" y="1243584"/>
            <a:ext cx="4077282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calor: linhas são municípios, colunas são indicadores; quanto mais escura a célula, maior o percentual de setores sem valor.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ponto mais escuro é Banheiro graduado em Placas (68,8%).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F14 · figuras/F14_mapa_faltantes.png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analfabetismo falta em 27,2% dos menores setores e em 1,9% dos maiores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097280"/>
                <a:gridCol w="1097280"/>
                <a:gridCol w="12801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Décimo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Moradores (mín.)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Moradores (máx.)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renda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sem analfabetismo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em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58,4%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são divididos em dez grupos iguais pelo número de moradores (1 = os menores). Para cada grupo, o percentual de setores sem renda e sem analfabetismo, e o percentual em FCU.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renda: 0,0% no primeiro décimo e 0,0% no último. Sem analfabetismo: 27,2% e 1,9%.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T07 · tabelas/T07_sigilo_por_porte_do_setor.csv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falta de dados depende do tamanho do setor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te/figuras/F15_sigilo_por_porte_do_se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01393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Eixo horizontal: décimo de moradores do setor (1 = menores). Eixo vertical: percentual de setores sem o indicador.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Renda: de 0,0% a 0,0%; analfabetismo: de 27,2% a 1,9%, do menor ao maior décimo.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F15 · figuras/F15_sigilo_por_porte_do_setor.png  ·  Bloco 4. Faltantes e sigilo</a:t>
            </a:r>
            <a:endParaRPr lang="en-US" sz="9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Extremos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setores têm valores fora do comum, e por qual critério?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T08 · T09 · T10 · T11 · F16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Apartamento tem a maior proporção de extremos (11,5%)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2,0273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1,5609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1,2609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Apartamento (11,5%),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Apartamento tem a maior proporção de extremos (11,5%)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4,6332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renda: Tukey k=3 no município + coerência do perfil do setor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1,1004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6.863,21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6.863,21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Apartamento (11,5%),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Apartamento tem a maior proporção de extremos (11,5%)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36092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2377440"/>
                <a:gridCol w="914400"/>
                <a:gridCol w="777240"/>
                <a:gridCol w="822960"/>
                <a:gridCol w="7315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extremos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zeros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1,0265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1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inflação de zeros: Tukey k=3 só entre os valores acima de zero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11,5%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1,5690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0,4092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277,7598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62,5643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Tukey k=3 (intervalo interquartil)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82,5579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o critério usado, os limites, quantos setores passam deles e o percentual de zeros.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percentual de extremos é o de Apartamento (11,5%), pelo critério “Tukey k=3 (intervalo interquartil)”.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T08 · tabelas/T08_extremos_por_indicador.csv  ·  Bloco 5. Extremos  ·  parte 3 de 3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Manaus concentra o maior número de marcações de extremo (2.058)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223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822960"/>
                <a:gridCol w="1097280"/>
                <a:gridCol w="1097280"/>
                <a:gridCol w="1097280"/>
                <a:gridCol w="109728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18084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 e uma coluna por indicador, com o número de setores marcados; a coluna total soma todas as marcações.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município com mais marcações é Manaus, com 2.058 no total.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T09 · tabelas/T09_extremos_por_municipio.csv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mais distantes da mediana, indicador por indicador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5544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130260305100279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150580905000077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130260305100279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150580905000077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150140260000260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130260305130192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150580905000077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150140260000260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0,6124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130260305100324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5,8333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3,1938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150140267000058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0,3571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150140255000432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78.444,47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1.820,99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150140250000022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0,7699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130260305100324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150140255000432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78.444,47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1.820,99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dez setores por indicador, os mais distantes da mediana entre os marcados como extremo: código do setor, município, valor e mediana global.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 da lista de Renda média está um setor de Belém, com valor 78.444,47.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T10 · tabelas/T10_extremos_lista.csv  ·  Bloco 5. Extremos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setores mais distantes da mediana, indicador por indicador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645920"/>
                <a:gridCol w="1554480"/>
                <a:gridCol w="91440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global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150140255000432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78.444,47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1.820,99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150140250000193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150140250000193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150080005000883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150080005000883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130260305000064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130260305000064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0,8943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130260305110210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150080005000550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150580905000077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150140255000330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683,3333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53,5504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150140205000190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77,1930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16,5766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130260305080037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38,4615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475830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Até dez setores por indicador, os mais distantes da mediana entre os marcados como extremo: código do setor, município, valor e mediana global.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 da lista de Renda média está um setor de Belém, com valor 78.444,47.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T10 · tabelas/T10_extremos_lista.csv  ·  Bloco 5. Extremos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 setores têm renda suspeita e 416 têm renda extrema coerente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023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Classe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5.477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92,60%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7,03%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SUSPEITO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setor com renda recebe uma classe: NORMAL, EXTREMO (acima do limite do município, mas coerente com o perfil) ou SUSPEITO (acima do limite e incoerente).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São 22 setores SUSPEITO (0,37%) e 416 EXTREMO.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T11 · tabelas/T11_renda_classes.csv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proporção de extremos varia muito de um indicador para outro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te/figuras/F16_extremos_por_indic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5908" y="1243584"/>
            <a:ext cx="4855024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barra por indicador, com o percentual de setores marcados; a cor indica o critério (petróleo: Tukey; cinza: inflação de zeros; argila: renda).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barra mais longa é a de Apartamento (11,5%).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F16 · figuras/F16_extremos_por_indicador.png  ·  Bloco 5. Extremos</a:t>
            </a:r>
            <a:endParaRPr lang="en-US" sz="9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Correlações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 indicadores andam juntos?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T12 · T13 · T14 · F17 · F18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média e Renda sem o extremo formam o par mais correlacionado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87184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04672"/>
                <a:gridCol w="804672"/>
                <a:gridCol w="804672"/>
                <a:gridCol w="804672"/>
                <a:gridCol w="804672"/>
                <a:gridCol w="804672"/>
                <a:gridCol w="804672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42722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Spearman: cada célula é a correlação entre o indicador da linha e o da coluna, de −1 a 1.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em módulo é entre Renda média e Renda sem o extremo (ρ = 1,0000).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T12 · tabelas/T12_correlacao_spearman.csv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182880"/>
            <a:ext cx="10634472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 correlação linear, o par mais forte é Renda média × Renda sem o extremo (r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87184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804672"/>
                <a:gridCol w="804672"/>
                <a:gridCol w="804672"/>
                <a:gridCol w="804672"/>
                <a:gridCol w="804672"/>
                <a:gridCol w="804672"/>
                <a:gridCol w="804672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Componentes do índice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427222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de Pearson, com a mesma leitura da de Spearman.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correlação de Pearson em módulo é entre Renda média e Renda sem o extremo (r = 1,0000).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T13 · tabelas/T13_correlacao_pearson.csv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redundante é Renda média × Renda sem o extremo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Pearson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0,9563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0,9621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0,9287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pares de indicadores com correlação de pelo menos 0,80 em módulo, por Spearman ou por Pearson, do mais forte para o mais fraco.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topo: Renda média × Renda sem o extremo, com Spearman 1,0000 e Pearson 1,0000.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T14 · tabelas/T14_pares_acima_de_080.csv  ·  Bloco 6. Correlações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redundante é Renda média × Renda sem o extremo (ρ = 1,0000)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4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37744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Pearson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-0,9209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-0,8082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-0,8438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-0,7031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-0,8348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-0,8049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-0,7564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-0,8906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-0,6073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-0,9505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-0,6017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-0,8925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0,4674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pares de indicadores com correlação de pelo menos 0,80 em módulo, por Spearman ou por Pearson, do mais forte para o mais fraco.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topo: Renda média × Renda sem o extremo, com Spearman 1,0000 e Pearson 1,0000.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T14 · tabelas/T14_pares_acima_de_080.csv  ·  Bloco 6. Correlações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formam grupos de correlação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te/figuras/F17_mapa_spearm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0757" y="1243584"/>
            <a:ext cx="596532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de calor da correlação de Spearman, com os indicadores reordenados pelo agrupamento do dendrograma; argila é correlação positiva, petróleo negativa.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forte é Renda média × Renda sem o extremo (ρ = 1,0000).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F17 · figuras/F17_mapa_spearman.png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dendrograma junta os indicadores que medem coisas parecidas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te/figuras/F18_dendrogra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9445" y="1243584"/>
            <a:ext cx="4547950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 é uma folha à esquerda; as linhas os unem do mais parecido para o menos. Quanto mais à esquerda a união, mais correlacionados os indicadores.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par mais próximo é Renda média × Renda sem o extremo (ρ = 1,0000).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F18 · figuras/F18_dendrograma.png  ·  Bloco 6. Correlações</a:t>
            </a:r>
            <a:endParaRPr lang="en-US" sz="9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Favelas e comunidades urbanas (FCU)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indicador, sozinho, separa os setores de favela dos demais?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T15 · F19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é o indicador que mais separa as favelas (AUC 0,7904)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05840"/>
                <a:gridCol w="8229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Diferença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0,7923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0,6919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0,6700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3,2500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0,6536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2.279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0,0342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1.856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2.765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0,5480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de FCU e fora, a mediana em cada grupo, a diferença e a AUC do indicador sozinho.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tem AUC 0,7904 (mediana 0,7923 em FCU e 0,7149 fora); a menor AUC é a de Renda (mediana mun.) (0,1612).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T15 · tabelas/T15_fcu_por_indicador.csv  ·  Bloco 7. Favelas e comunidades urbanas (FCU)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é o indicador que mais separa as favelas (AUC 0,7904)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8580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051560"/>
                <a:gridCol w="1051560"/>
                <a:gridCol w="1005840"/>
                <a:gridCol w="82296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Diferença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0,5181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0,5012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0,2022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-0,0518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37,5000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40,2597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-2,7597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14,6447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20,0698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-5,4251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0,3445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-0,0365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44,7460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72,0759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-27,3299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2.913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1.564,57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2.899,27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-1.334,70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1.564,57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2.899,27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-1.334,70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1.564,57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2.899,27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-1.334,70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indicador: setores de FCU e fora, a mediana em cada grupo, a diferença e a AUC do indicador sozinho.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Cor/raça PPI tem AUC 0,7904 (mediana 0,7923 em FCU e 0,7149 fora); a menor AUC é a de Renda (mediana mun.) (0,1612).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T15 · tabelas/T15_fcu_por_indicador.csv  ·  Bloco 7. Favelas e comunidades urbanas (FCU)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indicadores separam as favelas com força muito diferente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te/figuras/F19_fcu_por_indicad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4498" y="1243584"/>
            <a:ext cx="5777844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esquerda, a AUC de cada indicador (barras a partir de 0,5; argila acima, petróleo abaixo). À direita, as medianas em FCU e fora, para os indicadores em proporção.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AUC é a de Cor/raça PPI (0,7904); a menor, a de Renda (mediana mun.) (0,1612).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F19 · figuras/F19_fcu_por_indicador.png  ·  Bloco 7. Favelas e comunidades urbanas (FCU)</a:t>
            </a:r>
            <a:endParaRPr lang="en-US" sz="9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Envelhecimento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população idosa se distribui, e com que indicadores ela se relaciona?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T16 · F20 · T17 · T18 · F21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faixa de 30–39 anos concentra a maior parte da população (16,0%)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32004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960120"/>
                <a:gridCol w="96012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 etária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5–9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15–19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20–24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25–29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30–39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40–49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50–59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60–69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faixa etária; as colunas são o total e as regiões, com o percentual da população de cada uma em cada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de 70 anos ou mais são 4,9% do total, chegando a 4,9% no Norte.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T16 · tabelas/T16_estrutura_etaria.csv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estrutura etária muda de região para região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te/figuras/F20_piramide_etari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70452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Barras: percentual da população total em cada faixa etária. Pontos: o mesmo percentual em cada região.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70+: 4,9% no total e 4,9% no Norte.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F20 · figuras/F20_piramide_etaria.png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mediana de pessoas 60+ por setor vai de 0,1118 (Norte) a 0,1118 (Norte)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2103120"/>
                <a:gridCol w="822960"/>
                <a:gridCol w="914400"/>
                <a:gridCol w="91440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30,3487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53,5504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92,2015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11,0661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16,5766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23,9407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32,3232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38,4615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44,8819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30,3487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53,5504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92,2015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11,0661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16,5766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23,9407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32,3232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38,4615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44,8819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quatro indicadores de envelhecimento, para o total e por região: n, média, mediana, quartis e as demais descritivas.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60+: mediana de 0,1118 no Norte e 0,1118 no Norte. Índice de envelhecimento, mediana do total: 53,5504.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T17 · tabelas/T17_envelhecimento_por_regiao.csv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percentual de pessoas 60+ se relaciona mais com População 0–14 (ρ = -0,8348)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5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118872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(ρ de Spearman)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-0,1219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-0,0811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-0,3624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-0,3421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-0,2143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-0,1704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-0,0428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-0,2024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-0,2338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-0,1864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-0,1155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-0,2068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-0,2547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-0,1962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-0,0652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-0,1166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-0,1054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-0,0257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-0,0675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-0,1651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-0,1972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-0,1477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-0,1506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-0,1794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-0,0278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-0,4089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-0,4787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-0,3759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-0,2107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-0,3400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-0,3988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-0,3112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os indicadores de envelhecimento (linhas) e os demais (colunas).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pessoas 60+, a correlação mais forte é com População 0–14 (ρ = -0,8348); com a renda média, ρ = 0,5130.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T18 · tabelas/T18_envelhecimento_correlacoes.csv  ·  Bloco 8. Envelhecimento  ·  parte 1 de 2</a:t>
            </a:r>
            <a:endParaRPr lang="en-US" sz="9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percentual de pessoas 60+ se relaciona mais com População 0–14 (ρ = -0,8348)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9494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188720"/>
                <a:gridCol w="1188720"/>
                <a:gridCol w="118872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 (ρ de Spearman)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-0,5296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-0,5739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-0,5050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-0,3037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-0,1550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-0,1253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-0,0398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0,5130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0,5593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0,4877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0,2820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-0,0413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-0,0469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-0,0382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-0,0239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-0,1022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-0,0867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0,0834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0,0944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0,0783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0,0701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-0,0868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-0,0970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-0,0822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-0,0773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0,1676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0,1141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-0,1959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-0,2396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-0,1749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-0,1390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0,2336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-0,7788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-0,8438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-0,7425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-0,3996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-0,8348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-0,9209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-0,7905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-0,4326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os indicadores de envelhecimento (linhas) e os demais (colunas).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pessoas 60+, a correlação mais forte é com População 0–14 (ρ = -0,8348); com a renda média, ρ = 0,5130.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T18 · tabelas/T18_envelhecimento_correlacoes.csv  ·  Bloco 8. Envelhecimento  ·  parte 2 de 2</a:t>
            </a:r>
            <a:endParaRPr lang="en-US" sz="9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Pessoas 60+ e renda média: ρ = 0,5130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te/figuras/F21_dispersao_60ma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69547" y="1243584"/>
            <a:ext cx="646774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hexágono reúne setores com valores parecidos; quanto mais escuro, mais setores. Eixo horizontal: renda média em escala logarítmica; vertical: proporção de pessoas de 60 anos ou mais.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9946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304952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Spearman entre as duas é 0,5130.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F21 · figuras/F21_dispersao_60mais.png  ·  Bloco 8. Envelhecimento</a:t>
            </a:r>
            <a:endParaRPr lang="en-US" sz="95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da versão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fica o índice, e ele separa os setores de favela?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T23 · T24 · T25 · T26 · T27 · F24 · F25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inadequada tem o maior peso no índice (40,0%)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7178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011680"/>
                <a:gridCol w="868680"/>
                <a:gridCol w="1280160"/>
                <a:gridCol w="1188720"/>
              </a:tblGrid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no índice (%)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 (saneamento)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0,9159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0,5575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0,6405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0,8208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(invertida)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0,8750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 (socioeconômica)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60,0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componente: a dimensão em que ele carrega mais, a carga, o peso da dimensão e o peso final no índice (em %).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peso é o de Água inadequada (40,0%); a dimensão socioeconômica pesa 60,0%.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T23 · tabelas/T23_pesos.csv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índice tem mediana 0,3903 e P90 0,6607, em 3.439 setores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537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14400"/>
                <a:gridCol w="822960"/>
                <a:gridCol w="822960"/>
                <a:gridCol w="822960"/>
                <a:gridCol w="868680"/>
                <a:gridCol w="8229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DP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P90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0,4351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0,2984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0,3903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0,6607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 do índice para o total e por região. Como o índice é normalizado dentro de cada município, todo município tem mínimo 0 e máximo 1.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3.439 setores; mediana 0,3903; percentil 90 0,6607.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T24 · tabelas/T24_indice_descritivas.csv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Pela regra do IVS-BH, 8,7% dos setores ficam em vulnerabilidade muito elevada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645920"/>
                <a:gridCol w="1097280"/>
                <a:gridCol w="91440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1.361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39,6%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1.132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32,9%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646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18,8%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IVS-BH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8,7%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24,9%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859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Quartis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25,1%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Quantos setores ficam em cada faixa, pelas duas regras: a do IVS-BH (média e desvio-padrão do município) e a dos quartis do município.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IVS-BH: 39,6% baixo e 8,7% muito elevado. Quartis: 25,1%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T25 · tabelas/T25_faixas.csv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de 0,6040: o índice separa as favelas — versão não elegível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67512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1097280"/>
                <a:gridCol w="23774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Valor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Detalhe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global contra FCU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0,6035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(mediana)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na AUC municipal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ao menos 30 setores de FCU e fora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peso da dimensão socioeconômica (%)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KMO ≥ 0,70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MSA ≥ 0,50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0,2663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comunalidade ≥ 0,30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carga mínima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0,4590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carga ≥ 0,40 em todas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elegível pelos critérios do NB05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e municipal, peso da dimensão socioeconômica e os critérios de elegibilidade do NB05, um por linha (1 = atende).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global 0,6035; mediana da AUC municipal 0,6040, em 3 municípios. Pelos critérios do NB05, a versão é não elegível.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T26 · tabelas/T26_auc_e_elegibilidade.csv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vai de 0,5686 (Belém) a 0,7910 (Ananindeua) entre os municípios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6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6692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914400"/>
                <a:gridCol w="1097280"/>
                <a:gridCol w="109728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 (entra na mediana)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FCU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fora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0,7910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0,6040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0,5686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229450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linha por município: AUC, setores de FCU (n1) e fora (n0) e se o município entra na mediana.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42087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Entre os municípios que entram na mediana, a maior AUC é a de Ananindeua (0,7910) e a menor, a de Belém (0,5686).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T27 · tabelas/T27_auc_por_municipio.csv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do índice e as faixas do IVS-BH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te/figuras/F24_histograma_por_faix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438204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 do índice, com cada barra dividida pela faixa dos setores (regra do IVS-BH).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39,6% dos setores ficam em baixo e 8,7% em muito elevado.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F24 · figuras/F24_histograma_por_faixa.png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Curva ROC do índice contra as favelas (AUC global 0,6035)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te/figuras/F25_curva_ro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74602" y="1243584"/>
            <a:ext cx="4857636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ponto da curva é um corte do índice: no eixo vertical, a proporção de setores de FCU acima do corte; no horizontal, a dos setores de fora. A diagonal é o acaso.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Área sob a curva: 0,6035 (global); a mediana municipal é 0,6040.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F25 · figuras/F25_curva_roc.png  ·  Bloco 10. O índice da versão</a:t>
            </a:r>
            <a:endParaRPr lang="en-US" sz="95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Comparação com a referência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muda em relação à referência proposta do NB05?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920240" y="4343400"/>
            <a:ext cx="9491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Neste bloco: T31 · T32 · T33 · F28 · F29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correlação de postos com a referência é 0,8689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12064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280160"/>
                <a:gridCol w="128016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Escopo (menores ρ)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ρ de Spearman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0,8689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0,7000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0,8039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0,8695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0,8715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0,8805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0,9396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28002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Spearman entre o índice desta versão e o da referência, nos setores que estão nas duas amostras: total e por município.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Total: ρ = 0,8689. Menor correlação municipal: Placas (0,7000).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T31 · tabelas/T31_spearman_com_referencia.csv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de faixa é de medio para baixo (379 setores)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6217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005840"/>
                <a:gridCol w="1005840"/>
                <a:gridCol w="100584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Referência ↓ · versão →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baixo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muito elevado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linha é um par (faixa na referência, faixa nesta versão), com o número de setores e o percentual do total.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Fora da diagonal, a maior célula é de medio para baixo, com 379 setores.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T32 · tabelas/T32_matriz_de_faixas.csv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31,2% dos setores mudam de faixa em relação à referência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7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59436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188720"/>
                <a:gridCol w="1188720"/>
                <a:gridCol w="1005840"/>
              </a:tblGrid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comuns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Mudam de faixa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que muda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Todos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3.439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1.073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31,2%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1.116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372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33,3%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1.849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574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Portel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Ananindeua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118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27,4%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Placas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63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14,3%</a:t>
                      </a:r>
                      <a:endParaRPr lang="en-US" sz="10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3280029"/>
            <a:ext cx="7452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 da tabela para o slide; a tabela completa está no CSV indicado no rodapé.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8549640" y="1289304"/>
            <a:ext cx="2862072" cy="1276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primeira linha é o total; as demais, os municípios, do mais afetado para o menos: setores comuns, setores que mudam de faixa e o percentual.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549640" y="27851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549640" y="283997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total, 31,2% dos setores mudam de faixa; o município mais afetado é Belém (33,3%).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T33 · tabelas/T33_municipios_que_mudam.csv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faixas: referência × 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te/figuras/F28_matriz_de_faixa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9196" y="1243584"/>
            <a:ext cx="5568449" cy="47914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Linhas: faixa na referência; colunas: faixa nesta versão; cada célula traz o número de setores.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5755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63042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 troca fora da diagonal é de medio para baixo (379 setores).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F28 · figuras/F28_matriz_de_faixas.png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municípios mais afetados pela mudança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pic>
        <p:nvPicPr>
          <p:cNvPr id="5" name="Image 0" descr="/Users/pedro/Documents/Iniciacao Cientifica/Projeto_IVS_Censo22/analises_exploratorias/A4_por_regiao/norte/figuras/F29_municipios_que_mud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243584"/>
            <a:ext cx="7452360" cy="29754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549640" y="1289304"/>
            <a:ext cx="2862072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ler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20 municípios com o maior percentual de setores que mudam de faixa.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8549640" y="236601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549640" y="2420874"/>
            <a:ext cx="2862072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mais afetado é Belém (33,3%); no total, 31,2%.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F29 · figuras/F29_municipios_que_mudam.png  ·  Bloco 13. Comparação com a referência</a:t>
            </a:r>
            <a:endParaRPr lang="en-US" sz="9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Síntese da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3.439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777240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na amostra do índice (T01)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43984" y="1472184"/>
            <a:ext cx="3300984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43984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0,6040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443984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AUC municipal contra FCU (mediana) (T26)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110728" y="1472184"/>
            <a:ext cx="3300984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10728" y="1545336"/>
            <a:ext cx="33009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31,2%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110728" y="2130552"/>
            <a:ext cx="33009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que mudam de faixa em relação à referência (T33)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77240" y="292608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980944"/>
            <a:ext cx="10634472" cy="3054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50"/>
              </a:lnSpc>
              <a:buNone/>
            </a:pPr>
            <a:r>
              <a:rPr lang="en-US" sz="1250" b="1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esta versão mostra  </a:t>
            </a:r>
            <a:pPr indent="0" marL="0">
              <a:lnSpc>
                <a:spcPts val="1650"/>
              </a:lnSpc>
              <a:buNone/>
            </a:pPr>
            <a:r>
              <a:rPr lang="en-US" sz="125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a região em que o índice mais se afasta da referência: a correlação de postos cai e cerca de um terço dos setores muda de faixa. A versão não é elegível (MSA e comunalidade do banheiro graduado abaixo dos critérios). O índice separa mal as favelas em Manaus e Belém, onde as FCU são uma parte muito grande dos setores e se parecem com o entorno; em Ananindeua a separação é boa. Falha registrada como falha.</a:t>
            </a:r>
            <a:endParaRPr lang="en-US" sz="12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3.439 setores chegam ao índice, de 109.032 na base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 recorte ao índice, 2.476 setores saem por falta de algum componente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 é o indicador com mais faltantes (34,0% dos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 é o indicador mais assimétrico (assimetria 49,13)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média: a mediana vai de 1.820,99 (Norte) a 1.820,99 (Norte)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média: entre os municípios, a mediana vai de 1.390,26 a 1.852,55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Sem banheiro nem sanitário tem a distribuição mais assimétrica (assimetria 31,22)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Água inadequada tem mediana de 0,1759 no Norte e 0,1759 no 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Renda média tem a distribuição mais assimétrica (assimetria 6,15)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Razão de moradores tem mediana de 3,1938 no Norte e 3,1938 no 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Domicílio improvisado tem a distribuição mais assimétrica (assimetria 49,13)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Domicílio improvisado tem mediana de 0,0000 no Norte e 0,0000 no 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Índice de envelhecimento tem a distribuição mais assimétrica (assimetria 2,26)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Crianças 0–4 tem mediana de 0,0632 no Norte e 0,0632 no Norte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7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Demografia: as regiões têm formas diferentes de distribuição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maior percentual de faltantes é o de Banheiro graduado em Placas (68,8%)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faltantes se concentram em poucos indicadores e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analfabetismo falta em 27,2% dos menores setores e em 1,9% dos maiores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falta de dados depende do tamanho do setor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 tem a maior proporção de extremos (11,5%)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T09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Manaus concentra o maior número de marcações de extremo (2.058)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setores mais distantes da mediana, indicador por indicador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 setores têm renda suspeita e 416 têm renda extrema coerente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proporção de extremos varia muito de um indicador para outro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e Renda sem o extremo formam o par mais correlacionado (ρ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 correlação linear, o par mais forte é Renda média × Renda sem o extremo (r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par mais redundante é Renda média × Renda sem o extremo (ρ = 1,0000)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indicadores formam grupos de correlação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dendrograma junta os indicadores que medem coisas parecidas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 é o indicador que mais separa as favelas (AUC 0,7904)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F19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indicadores separam as favelas com força muito diferente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Candidatos ao artigo: as tabelas e figuras desta versão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43584"/>
            <a:ext cx="10634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Marcar no catálogo (colunas “Vai para o artigo?”, “Seção” e “Comentários”); os IDs são os mesmos em todas as versões.</a:t>
            </a:r>
            <a:endParaRPr lang="en-US" sz="1100" dirty="0"/>
          </a:p>
        </p:txBody>
      </p:sp>
      <p:graphicFrame>
        <p:nvGraphicFramePr>
          <p:cNvPr id="7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609344"/>
          <a:ext cx="1060704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731520"/>
                <a:gridCol w="914400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Bloco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Título no deck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faixa de 30–39 anos concentra a maior parte da população (16,0%)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estrutura etária muda de região para região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mediana de pessoas 60+ por setor vai de 0,1118 (Norte) a 0,1118 (Norte)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percentual de pessoas 60+ se relaciona mais com População 0–14 (ρ = -0,8348)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 e renda média: ρ = 0,5130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 tem o maior peso no índice (40,0%)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índice tem mediana 0,3903 e P90 0,6607, em 3.439 setores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Pela regra do IVS-BH, 8,7% dos setores ficam em vulnerabilidade muito elevada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AUC municipal de 0,6040: o índice separa as favelas — versão não elegível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T27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AUC vai de 0,5686 (Belém) a 0,7910 (Ananindeua) entre os municípios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distribuição do índice e as faixas do IVS-BH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Curva ROC do índice contra as favelas (AUC global 0,6035)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correlação de postos com a referência é 0,8689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maior troca de faixa é de medio para baixo (379 setores)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31,2% dos setores mudam de faixa em relação à referência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de faixas: referência × esta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F29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municípios mais afetados pela mudança da versão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catalogo.csv  ·  parte 3 de 3</a:t>
            </a:r>
            <a:endParaRPr lang="en-US" sz="9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parâmetros exploratórios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35024"/>
            <a:ext cx="10634472" cy="4700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fatorial, os pesos e as faixas são recalculados só com os setores da região; os índices de regiões diferentes não são comparáveis entre si.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Regiões com poucos municípios no ELSI têm descritivas regionais apoiadas em poucas cidades.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AUC municipal só usa municípios com pelo menos 30 setores de FCU e 30 fora; em algumas regiões, são poucos.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do índice exclui todo setor com algum componente faltante (exclusão por lista).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i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Nenhum parâmetro exploratório nesta versão.</a:t>
            </a:r>
            <a:endParaRPr lang="en-US" sz="13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abastecimento de água inadequado ou ausente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V00112 + V00113 + V00114 + V00115 + V00116 + V00117 + V00118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esgotamento sanitário inadequado ou ausente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V00312 + V00313 + V00314 + V00315 + V00316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destino do lixo inadequado ou ausente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V00398 + V00399 + V00400 + V00401 + V00402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água canalizada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que a água não chega encanada até dentro do domicílio (complemento de V00199; equivale a V00200+V00201 sobre V00001)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V00199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não chega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que a água não chega encanada ao domicílio (V00201)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só no terreno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que a água chega encanada apenas ao terreno (V00200)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V00200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sem banheiro de uso exclusivo com chuveiro e vaso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V00495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sem banheiro nem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sanitário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apenas sanitário ou buraco para dejeções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  ·  parte 1 de 3</a:t>
            </a:r>
            <a:endParaRPr lang="en-US" sz="95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de uso comum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apenas banheiro de uso comum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Banheiro graduado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Falta de banheiro graduada: 1 ponto para banheiro só de uso comum, 2 para só sanitário, 3 para nem banheiro nem sanitário, sobre 3 vezes os domicílios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V00236 + 2·V00237 + 3·V00238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3·V00001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 por domicílio (reproduz o V0005 do IBGE)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V00005 + V00006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Taxa de analfabetismo entre pessoas de 15 anos ou mais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V00900 + V00901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Rendimento nominal médio mensal das pessoas responsáveis (R$)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Cor/raça PPI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de cor/raça preta, parda ou indígena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V01318 + V01320 + V01321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Responsável mulher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com pessoa responsável do sexo feminino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V01063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V01062 + V01063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sem o extremo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dos responsáveis sem o valor extremo de Belo Horizonte (R$ 170.418,06), que vira faltante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(mediana mun.)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dos responsáveis com o valor extremo trocado pela mediana do município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 improvisado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particulares improvisados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301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em habitação precária (cortiço, estrutura degradada, improvisados)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 + V00052 + V00053 + V00054 + V00055 + V00056 + V00057 + V00058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  ·  parte 2 de 3</a:t>
            </a:r>
            <a:endParaRPr lang="en-US" sz="95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2400" b="1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Apêndice: dicionário dos indicadores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77240" y="1042416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</p:sp>
      <p:graphicFrame>
        <p:nvGraphicFramePr>
          <p:cNvPr id="8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243584"/>
          <a:ext cx="106070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188720"/>
                <a:gridCol w="4206240"/>
                <a:gridCol w="1737360"/>
                <a:gridCol w="1645920"/>
              </a:tblGrid>
              <a:tr h="23088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mede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en-US" sz="90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b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moradias convencionais (casa, casa de vila/condomínio, apartamento)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V00047 + V00048 + V00049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não convencional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moradias não convencionais (cortiço, maloca, estrutura degradada)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 + V00051 + V00052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do tipo apartamento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do tipo casa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V00047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Morfologia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domicílios do tipo casa de vila ou em condomínio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V00048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Crianças 0–4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crianças de 0 a 4 anos na população residente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0–14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com menos de 15 anos na população residente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+ V01032 + V01033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de 60 anos ou mais na população residente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863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 Populacional: 60+ por 100 menores de 15 anos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V01031 + V01032 + V01033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Dependência idosa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Dependência de Idosos: 60+ por 100 pessoas de 15 a 59 anos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V01034 + V01035 + V01036 + V01037 + V01038 + V01039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6350" cap="flat" cmpd="sng" algn="ctr">
                      <a:solidFill>
                        <a:srgbClr val="E6E4D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8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70+ entre 60+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Demografia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Proporção de pessoas de 70+ entre os de 60+ (proxy de longevidade; NÃO é o LI, que exigiria a faixa 75+, inexistente nos agregados por setor)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V01040 + V01041</a:t>
                      </a:r>
                      <a:endParaRPr lang="en-US" sz="95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Quadro_Indicadores.csv (entrega à orientadora)  ·  parte 3 de 3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82</Slides>
  <Notes>82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82</vt:i4>
      </vt:variant>
    </vt:vector>
  </HeadingPairs>
  <TitlesOfParts>
    <vt:vector size="8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norte — Região Norte</dc:title>
  <dc:subject>PptxGenJS Presentation</dc:subject>
  <dc:creator>Pedro Dias Soares</dc:creator>
  <cp:lastModifiedBy>Pedro Dias Soares</cp:lastModifiedBy>
  <cp:revision>1</cp:revision>
  <dcterms:created xsi:type="dcterms:W3CDTF">2026-10-06T20:49:24Z</dcterms:created>
  <dcterms:modified xsi:type="dcterms:W3CDTF">2026-10-06T20:49:24Z</dcterms:modified>
</cp:coreProperties>
</file>