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slideMasters/slideMaster67.xml" ContentType="application/vnd.openxmlformats-officedocument.presentationml.slideMaster+xml"/>
  <Override PartName="/ppt/slides/slide67.xml" ContentType="application/vnd.openxmlformats-officedocument.presentationml.slide+xml"/>
  <Override PartName="/ppt/slideMasters/slideMaster68.xml" ContentType="application/vnd.openxmlformats-officedocument.presentationml.slideMaster+xml"/>
  <Override PartName="/ppt/slides/slide68.xml" ContentType="application/vnd.openxmlformats-officedocument.presentationml.slide+xml"/>
  <Override PartName="/ppt/slideMasters/slideMaster69.xml" ContentType="application/vnd.openxmlformats-officedocument.presentationml.slideMaster+xml"/>
  <Override PartName="/ppt/slides/slide69.xml" ContentType="application/vnd.openxmlformats-officedocument.presentationml.slide+xml"/>
  <Override PartName="/ppt/slideMasters/slideMaster70.xml" ContentType="application/vnd.openxmlformats-officedocument.presentationml.slideMaster+xml"/>
  <Override PartName="/ppt/slides/slide70.xml" ContentType="application/vnd.openxmlformats-officedocument.presentationml.slide+xml"/>
  <Override PartName="/ppt/slideMasters/slideMaster71.xml" ContentType="application/vnd.openxmlformats-officedocument.presentationml.slideMaster+xml"/>
  <Override PartName="/ppt/slides/slide71.xml" ContentType="application/vnd.openxmlformats-officedocument.presentationml.slide+xml"/>
  <Override PartName="/ppt/slideMasters/slideMaster72.xml" ContentType="application/vnd.openxmlformats-officedocument.presentationml.slideMaster+xml"/>
  <Override PartName="/ppt/slides/slide72.xml" ContentType="application/vnd.openxmlformats-officedocument.presentationml.slide+xml"/>
  <Override PartName="/ppt/slideMasters/slideMaster73.xml" ContentType="application/vnd.openxmlformats-officedocument.presentationml.slideMaster+xml"/>
  <Override PartName="/ppt/slides/slide73.xml" ContentType="application/vnd.openxmlformats-officedocument.presentationml.slide+xml"/>
  <Override PartName="/ppt/slideMasters/slideMaster74.xml" ContentType="application/vnd.openxmlformats-officedocument.presentationml.slideMaster+xml"/>
  <Override PartName="/ppt/slides/slide74.xml" ContentType="application/vnd.openxmlformats-officedocument.presentationml.slide+xml"/>
  <Override PartName="/ppt/slideMasters/slideMaster75.xml" ContentType="application/vnd.openxmlformats-officedocument.presentationml.slideMaster+xml"/>
  <Override PartName="/ppt/slides/slide75.xml" ContentType="application/vnd.openxmlformats-officedocument.presentationml.slide+xml"/>
  <Override PartName="/ppt/slideMasters/slideMaster76.xml" ContentType="application/vnd.openxmlformats-officedocument.presentationml.slideMaster+xml"/>
  <Override PartName="/ppt/slides/slide76.xml" ContentType="application/vnd.openxmlformats-officedocument.presentationml.slide+xml"/>
  <Override PartName="/ppt/slideMasters/slideMaster77.xml" ContentType="application/vnd.openxmlformats-officedocument.presentationml.slideMaster+xml"/>
  <Override PartName="/ppt/slides/slide77.xml" ContentType="application/vnd.openxmlformats-officedocument.presentationml.slide+xml"/>
  <Override PartName="/ppt/slideMasters/slideMaster78.xml" ContentType="application/vnd.openxmlformats-officedocument.presentationml.slideMaster+xml"/>
  <Override PartName="/ppt/slides/slide78.xml" ContentType="application/vnd.openxmlformats-officedocument.presentationml.slide+xml"/>
  <Override PartName="/ppt/slideMasters/slideMaster79.xml" ContentType="application/vnd.openxmlformats-officedocument.presentationml.slideMaster+xml"/>
  <Override PartName="/ppt/slides/slide79.xml" ContentType="application/vnd.openxmlformats-officedocument.presentationml.slide+xml"/>
  <Override PartName="/ppt/slideMasters/slideMaster80.xml" ContentType="application/vnd.openxmlformats-officedocument.presentationml.slideMaster+xml"/>
  <Override PartName="/ppt/slides/slide80.xml" ContentType="application/vnd.openxmlformats-officedocument.presentationml.slide+xml"/>
  <Override PartName="/ppt/slideMasters/slideMaster81.xml" ContentType="application/vnd.openxmlformats-officedocument.presentationml.slideMaster+xml"/>
  <Override PartName="/ppt/slides/slide81.xml" ContentType="application/vnd.openxmlformats-officedocument.presentationml.slide+xml"/>
  <Override PartName="/ppt/slideMasters/slideMaster82.xml" ContentType="application/vnd.openxmlformats-officedocument.presentationml.slideMaster+xml"/>
  <Override PartName="/ppt/slides/slide82.xml" ContentType="application/vnd.openxmlformats-officedocument.presentationml.slide+xml"/>
  <Override PartName="/ppt/slideMasters/slideMaster83.xml" ContentType="application/vnd.openxmlformats-officedocument.presentationml.slideMaster+xml"/>
  <Override PartName="/ppt/slides/slide8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  <p:sldId id="337" r:id="rId83"/>
    <p:sldId id="338" r:id="rId84"/>
  </p:sldIdLst>
  <p:notesMasterIdLst>
    <p:notesMasterId r:id="rId8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71.xml"/><Relationship Id="rId73" Type="http://schemas.openxmlformats.org/officeDocument/2006/relationships/slide" Target="slides/slide72.xml"/><Relationship Id="rId74" Type="http://schemas.openxmlformats.org/officeDocument/2006/relationships/slide" Target="slides/slide73.xml"/><Relationship Id="rId75" Type="http://schemas.openxmlformats.org/officeDocument/2006/relationships/slide" Target="slides/slide74.xml"/><Relationship Id="rId76" Type="http://schemas.openxmlformats.org/officeDocument/2006/relationships/slide" Target="slides/slide75.xml"/><Relationship Id="rId77" Type="http://schemas.openxmlformats.org/officeDocument/2006/relationships/slide" Target="slides/slide76.xml"/><Relationship Id="rId78" Type="http://schemas.openxmlformats.org/officeDocument/2006/relationships/slide" Target="slides/slide77.xml"/><Relationship Id="rId79" Type="http://schemas.openxmlformats.org/officeDocument/2006/relationships/slide" Target="slides/slide78.xml"/><Relationship Id="rId80" Type="http://schemas.openxmlformats.org/officeDocument/2006/relationships/slide" Target="slides/slide79.xml"/><Relationship Id="rId81" Type="http://schemas.openxmlformats.org/officeDocument/2006/relationships/slide" Target="slides/slide80.xml"/><Relationship Id="rId82" Type="http://schemas.openxmlformats.org/officeDocument/2006/relationships/slide" Target="slides/slide81.xml"/><Relationship Id="rId83" Type="http://schemas.openxmlformats.org/officeDocument/2006/relationships/slide" Target="slides/slide82.xml"/><Relationship Id="rId84" Type="http://schemas.openxmlformats.org/officeDocument/2006/relationships/slide" Target="slides/slide83.xml"/><Relationship Id="rId85" Type="http://schemas.openxmlformats.org/officeDocument/2006/relationships/notesMaster" Target="notesMasters/notesMaster1.xml"/><Relationship Id="rId86" Type="http://schemas.openxmlformats.org/officeDocument/2006/relationships/presProps" Target="presProps.xml"/><Relationship Id="rId87" Type="http://schemas.openxmlformats.org/officeDocument/2006/relationships/viewProps" Target="viewProps.xml"/><Relationship Id="rId88" Type="http://schemas.openxmlformats.org/officeDocument/2006/relationships/theme" Target="theme/theme1.xml"/><Relationship Id="rId8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_rels/notesSlide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7.xml"/>
		</Relationships>
</file>

<file path=ppt/notesSlides/_rels/notesSlide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8.xml"/>
		</Relationships>
</file>

<file path=ppt/notesSlides/_rels/notesSlide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9.xml"/>
		</Relationships>
</file>

<file path=ppt/notesSlides/_rels/notesSlide7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0.xml"/>
		</Relationships>
</file>

<file path=ppt/notesSlides/_rels/notesSlide7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1.xml"/>
		</Relationships>
</file>

<file path=ppt/notesSlides/_rels/notesSlide7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2.xml"/>
		</Relationships>
</file>

<file path=ppt/notesSlides/_rels/notesSlide7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3.xml"/>
		</Relationships>
</file>

<file path=ppt/notesSlides/_rels/notesSlide7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4.xml"/>
		</Relationships>
</file>

<file path=ppt/notesSlides/_rels/notesSlide7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5.xml"/>
		</Relationships>
</file>

<file path=ppt/notesSlides/_rels/notesSlide7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6.xml"/>
		</Relationships>
</file>

<file path=ppt/notesSlides/_rels/notesSlide7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7.xml"/>
		</Relationships>
</file>

<file path=ppt/notesSlides/_rels/notesSlide7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8.xml"/>
		</Relationships>
</file>

<file path=ppt/notesSlides/_rels/notesSlide7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9.xml"/>
		</Relationships>
</file>

<file path=ppt/notesSlides/_rels/notesSlide8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0.xml"/>
		</Relationships>
</file>

<file path=ppt/notesSlides/_rels/notesSlide8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1.xml"/>
		</Relationships>
</file>

<file path=ppt/notesSlides/_rels/notesSlide8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2.xml"/>
		</Relationships>
</file>

<file path=ppt/notesSlides/_rels/notesSlide8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Como ficam os dados e o IVS quando os blocos rodam só com os municípios da região Nordeste?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Só o recorte: entram apenas os setores urbanos com Dados_sig = OK dos municípios da região Nordeste. A fatorial, os pesos e as faixas são recalculados com eles; componentes, rotação, pesos 60/40 e normalização são os da referência.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funil mostra o caminho dos setores. A base completa inclui setores rurais e setores sem dados divulgados. O recorte da versão é o conjunto sobre o qual são calculadas as descritivas, as distribuições e as correlações. A amostra do índice é menor, porque a análise fatorial exige que o setor tenha todos os componentes preenchidos (exclusão por lista: basta faltar um componente para o setor sair). Essa diferença de amostra é importante quando se comparam números de blocos diferentes.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Antes de qualquer número, é preciso saber sobre quais setores ele foi calculado. Este bloco segue o caminho dos setores desde a base completa até a amostra do índice: cada filtro tira alguns, e o motivo de cada saída fica registrado. Também mostra, indicador por indicador, quantos setores não têm valor — porque um indicador com muitos faltantes muda a amostra de qualquer análise que o use.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funil mostra o caminho dos setores. A base completa inclui setores rurais e setores sem dados divulgados. O recorte da versão é o conjunto sobre o qual são calculadas as descritivas, as distribuições e as correlações. A amostra do índice é menor, porque a análise fatorial exige que o setor tenha todos os componentes preenchidos (exclusão por lista: basta faltar um componente para o setor sair). Essa diferença de amostra é importante quando se comparam números de blocos diferentes.
Como ler: Cada linha é um filtro, na ordem em que é aplicado: quantos setores ficam, quantos saem e por quê.
O que mostra: A base tem 109.032 setores; 19.497 ficam no recorte da versão e 13.097 têm todos os componentes do índice (6.400 saem nesta última etapa).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É a mesma informação da tabela do funil, em forma de barras. A queda entre o recorte e a amostra do índice é quase toda causada pelos indicadores com sigilo (renda e analfabetismo) e pelas partes do banheiro graduado, como mostra a tabela de perdas por indicador.
Como ler: Cada barra é uma etapa do funil; o comprimento é o número de setores que ainda estão dentro.
O que mostra: A barra final (13.097 setores) é a amostra do índice; a do recorte tem 19.497.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Um faltante é um setor do recorte em que o indicador não pôde ser calculado: porque o IBGE não divulgou a variável (sigilo), porque o denominador é zero (por exemplo, nenhuma pessoa de 60 anos ou mais para calcular a proporção de 70+ entre elas) ou porque alguma parte da conta faltou. Indicadores com muitos faltantes reduzem a amostra de qualquer análise que os inclua.
Como ler: Uma linha por indicador: setores com valor, setores sem valor e a porcentagem sem valor dentro do recorte.
O que mostra: O maior percentual de faltantes é o de Banheiro graduado (24,8%); o menor, o de Água inadequada (0,0%).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Um faltante é um setor do recorte em que o indicador não pôde ser calculado: porque o IBGE não divulgou a variável (sigilo), porque o denominador é zero (por exemplo, nenhuma pessoa de 60 anos ou mais para calcular a proporção de 70+ entre elas) ou porque alguma parte da conta faltou. Indicadores com muitos faltantes reduzem a amostra de qualquer análise que os inclua.
Como ler: Uma linha por indicador: setores com valor, setores sem valor e a porcentagem sem valor dentro do recorte.
O que mostra: O maior percentual de faltantes é o de Banheiro graduado (24,8%); o menor, o de Água inadequada (0,0%).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 descritivas resumem cada indicador em poucos números: o centro (média e mediana), a dispersão (desvio-padrão, quartis, percentis 10 e 90) e a forma (assimetria e curtose). Elas aparecem para o conjunto, por região e por município, para que diferenças de lugar fiquem visíveis antes de qualquer modelo.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média é sensível a valores extremos; a mediana não. Quando as duas se afastam, a distribuição é assimétrica. A assimetria é positiva quando há uma cauda longa à direita (poucos setores com valores muito altos). A curtose mede o peso das caudas: valores altos indicam muitos extremos. O coeficiente de variação (DP dividido pela média, em %) permite comparar a dispersão de indicadores em escalas diferentes. Nos indicadores de saneamento, a maioria dos setores vale zero: a mediana é zero e o intervalo interquartil também, o que explica por que o critério de extremos muda para eles (bloco 5).
Como ler: Uma linha por indicador. n: setores com valor; DP: desvio-padrão; P10…P90: percentis; CV: coeficiente de variação; % zeros: setores com valor exatamente zero.
O que mostra: A maior assimetria é a de Domicílio improvisado (36,97); o maior percentual de zeros é o de Domicílio improvisado (99,0%).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média é sensível a valores extremos; a mediana não. Quando as duas se afastam, a distribuição é assimétrica. A assimetria é positiva quando há uma cauda longa à direita (poucos setores com valores muito altos). A curtose mede o peso das caudas: valores altos indicam muitos extremos. O coeficiente de variação (DP dividido pela média, em %) permite comparar a dispersão de indicadores em escalas diferentes. Nos indicadores de saneamento, a maioria dos setores vale zero: a mediana é zero e o intervalo interquartil também, o que explica por que o critério de extremos muda para eles (bloco 5).
Como ler: Uma linha por indicador. n: setores com valor; DP: desvio-padrão; P10…P90: percentis; CV: coeficiente de variação; % zeros: setores com valor exatamente zero.
O que mostra: A maior assimetria é a de Domicílio improvisado (36,97); o maior percentual de zeros é o de Domicílio improvisado (99,0%).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região é o primeiro dígito do código da unidade da federação. As diferenças entre regiões mostram o quanto o retrato depende do lugar: um indicador que varia muito entre regiões pode dominar um índice calculado com normalização global, e é por isso que a referência normaliza dentro de cada município.
Como ler: Uma linha por região e indicador, com as mesmas colunas da tabela global.
O que mostra: Para Renda média, a mediana mais alta está no Nordeste (1.719,20) e a mais baixa no Nordeste (1.719,20).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região é o primeiro dígito do código da unidade da federação. As diferenças entre regiões mostram o quanto o retrato depende do lugar: um indicador que varia muito entre regiões pode dominar um índice calculado com normalização global, e é por isso que a referência normaliza dentro de cada município.
Como ler: Uma linha por região e indicador, com as mesmas colunas da tabela global.
O que mostra: Para Renda média, a mediana mais alta está no Nordeste (1.719,20) e a mais baixa no Nordeste (1.719,20).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São 70 municípios de tamanhos muito diferentes: alguns têm poucas dezenas de setores, e a mediana deles é menos estável. A tabela completa serve para consulta; o slide destaca os extremos.
Como ler: Uma linha por município e indicador (tabela longa). No deck, um recorte; a tabela completa está no CSV.
O que mostra: Para Renda média, a maior mediana municipal é a de Natal (2.035,34); a menor, a de Jaqueira (1.062,36).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São 70 municípios de tamanhos muito diferentes: alguns têm poucas dezenas de setores, e a mediana deles é menos estável. A tabela completa serve para consulta; o slide destaca os extremos.
Como ler: Uma linha por município e indicador (tabela longa). No deck, um recorte; a tabela completa está no CSV.
O que mostra: Para Renda média, a maior mediana municipal é a de Natal (2.035,34); a menor, a de Jaqueira (1.062,36).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Os números do bloco anterior escondem a forma da distribuição. Histogramas, caixas e curvas de densidade mostram se o indicador se concentra em zero, se tem cauda longa ou se separa regiões. Cada painel reúne os indicadores de uma dimensão.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histograma divide o intervalo de valores em 50 faixas iguais e conta os setores em cada uma. Uma barra alta junto do zero indica muitos setores sem o problema medido; uma cauda longa à direita indica poucos setores com valores muito altos. Os 0,5% de valores mais altos são omitidos só no desenho, para que a cauda não esmague a escala; as tabelas usam todos os valores.
Como ler: Um histograma por indicador da dimensão: no eixo horizontal, o valor; no vertical, quantos setores têm aquele valor. Os 0,5% maiores ficam de fora para a escala ser legível.
O que mostra: Entre os indicadores de Saneamento, a maior assimetria é a de Banheiro de uso comum (28,32).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diagrama de caixa resume a distribuição em cinco números. A caixa contém a metade central dos setores; se as caixas de duas regiões não se sobrepõem, a diferença entre elas é grande. Quando a mediana e o 1º quartil coincidem com zero, a caixa fica achatada no chão: é o caso dos indicadores com muitos zeros.
Como ler: Uma caixa por região: a linha dentro é a mediana, a caixa vai do 1º ao 3º quartil e as hastes até 1,5 intervalo interquartil. Os pontos extremos não são desenhados (ver bloco 5).
O que mostra: No primeiro indicador da dimensão (Água inadequada), a mediana regional vai de 0,0078 (Nordeste) a 0,0078 (Nordeste).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curva de densidade é um histograma suavizado e normalizado: a área sob ela vale 1, qualquer que seja o número de setores da região. Assim, comparam-se formas, não tamanhos. Picos em lugares diferentes indicam regiões com valores típicos diferentes; uma curva mais larga indica mais dispersão.
Como ler: Uma curva por região em cada painel: a altura indica onde os setores daquela região se concentram. As áreas sob as curvas são iguais, para que regiões grandes e pequenas sejam comparáveis.
O que mostra: Em Água inadequada, a mediana regional vai de 0,0078 (Nordeste) a 0,0078 (Nordeste).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histograma divide o intervalo de valores em 50 faixas iguais e conta os setores em cada uma. Uma barra alta junto do zero indica muitos setores sem o problema medido; uma cauda longa à direita indica poucos setores com valores muito altos. Os 0,5% de valores mais altos são omitidos só no desenho, para que a cauda não esmague a escala; as tabelas usam todos os valores.
Como ler: Um histograma por indicador da dimensão: no eixo horizontal, o valor; no vertical, quantos setores têm aquele valor. Os 0,5% maiores ficam de fora para a escala ser legível.
O que mostra: Entre os indicadores de Socioeconômica, a maior assimetria é a de Renda média (3,66).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diagrama de caixa resume a distribuição em cinco números. A caixa contém a metade central dos setores; se as caixas de duas regiões não se sobrepõem, a diferença entre elas é grande. Quando a mediana e o 1º quartil coincidem com zero, a caixa fica achatada no chão: é o caso dos indicadores com muitos zeros.
Como ler: Uma caixa por região: a linha dentro é a mediana, a caixa vai do 1º ao 3º quartil e as hastes até 1,5 intervalo interquartil. Os pontos extremos não são desenhados (ver bloco 5).
O que mostra: No primeiro indicador da dimensão (Razão de moradores), a mediana regional vai de 2,7834 (Nordeste) a 2,7834 (Nordeste).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curva de densidade é um histograma suavizado e normalizado: a área sob ela vale 1, qualquer que seja o número de setores da região. Assim, comparam-se formas, não tamanhos. Picos em lugares diferentes indicam regiões com valores típicos diferentes; uma curva mais larga indica mais dispersão.
Como ler: Uma curva por região em cada painel: a altura indica onde os setores daquela região se concentram. As áreas sob as curvas são iguais, para que regiões grandes e pequenas sejam comparáveis.
O que mostra: Em Razão de moradores, a mediana regional vai de 2,7834 (Nordeste) a 2,7834 (Nordeste).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histograma divide o intervalo de valores em 50 faixas iguais e conta os setores em cada uma. Uma barra alta junto do zero indica muitos setores sem o problema medido; uma cauda longa à direita indica poucos setores com valores muito altos. Os 0,5% de valores mais altos são omitidos só no desenho, para que a cauda não esmague a escala; as tabelas usam todos os valores.
Como ler: Um histograma por indicador da dimensão: no eixo horizontal, o valor; no vertical, quantos setores têm aquele valor. Os 0,5% maiores ficam de fora para a escala ser legível.
O que mostra: Entre os indicadores de Morfologia, a maior assimetria é a de Domicílio improvisado (36,97).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diagrama de caixa resume a distribuição em cinco números. A caixa contém a metade central dos setores; se as caixas de duas regiões não se sobrepõem, a diferença entre elas é grande. Quando a mediana e o 1º quartil coincidem com zero, a caixa fica achatada no chão: é o caso dos indicadores com muitos zeros.
Como ler: Uma caixa por região: a linha dentro é a mediana, a caixa vai do 1º ao 3º quartil e as hastes até 1,5 intervalo interquartil. Os pontos extremos não são desenhados (ver bloco 5).
O que mostra: No primeiro indicador da dimensão (Domicílio improvisado), a mediana regional vai de 0,0000 (Nordeste) a 0,0000 (Nordeste).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curva de densidade é um histograma suavizado e normalizado: a área sob ela vale 1, qualquer que seja o número de setores da região. Assim, comparam-se formas, não tamanhos. Picos em lugares diferentes indicam regiões com valores típicos diferentes; uma curva mais larga indica mais dispersão.
Como ler: Uma curva por região em cada painel: a altura indica onde os setores daquela região se concentram. As áreas sob as curvas são iguais, para que regiões grandes e pequenas sejam comparáveis.
O que mostra: Em Domicílio improvisado, a mediana regional vai de 0,0000 (Nordeste) a 0,0000 (Nordeste).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histograma divide o intervalo de valores em 50 faixas iguais e conta os setores em cada uma. Uma barra alta junto do zero indica muitos setores sem o problema medido; uma cauda longa à direita indica poucos setores com valores muito altos. Os 0,5% de valores mais altos são omitidos só no desenho, para que a cauda não esmague a escala; as tabelas usam todos os valores.
Como ler: Um histograma por indicador da dimensão: no eixo horizontal, o valor; no vertical, quantos setores têm aquele valor. Os 0,5% maiores ficam de fora para a escala ser legível.
O que mostra: Entre os indicadores de Demografia, a maior assimetria é a de Índice de envelhecimento (8,03).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diagrama de caixa resume a distribuição em cinco números. A caixa contém a metade central dos setores; se as caixas de duas regiões não se sobrepõem, a diferença entre elas é grande. Quando a mediana e o 1º quartil coincidem com zero, a caixa fica achatada no chão: é o caso dos indicadores com muitos zeros.
Como ler: Uma caixa por região: a linha dentro é a mediana, a caixa vai do 1º ao 3º quartil e as hastes até 1,5 intervalo interquartil. Os pontos extremos não são desenhados (ver bloco 5).
O que mostra: No primeiro indicador da dimensão (Crianças 0–4), a mediana regional vai de 0,0558 (Nordeste) a 0,0558 (Nordeste).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curva de densidade é um histograma suavizado e normalizado: a área sob ela vale 1, qualquer que seja o número de setores da região. Assim, comparam-se formas, não tamanhos. Picos em lugares diferentes indicam regiões com valores típicos diferentes; uma curva mais larga indica mais dispersão.
Como ler: Uma curva por região em cada painel: a altura indica onde os setores daquela região se concentram. As áreas sob as curvas são iguais, para que regiões grandes e pequenas sejam comparáveis.
O que mostra: Em Crianças 0–4, a mediana regional vai de 0,0558 (Nordeste) a 0,0558 (Nordeste).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IBGE não divulga alguns valores para proteger o sigilo de setores pequenos. Se a falta fosse aleatória, bastaria descartar os setores sem dado; como ela se concentra em setores pequenos, descartar muda o retrato. Este bloco mostra onde estão os faltantes e como eles se distribuem pelo tamanho do setor.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Os faltantes não se espalham por igual entre os municípios. Onde eles se concentram, um índice calculado só com setores completos retrata pior o município, porque os setores que saem não são uma amostra ao acaso.
Como ler: Uma linha por município e uma coluna por indicador; cada célula é o percentual de setores do município sem aquele indicador.
O que mostra: A célula mais alta é Só sanitário em São Raimundo do Doca Bezerra, com 66,7% dos setores sem valor.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mapa de calor mostra a tabela anterior como cores. Colunas inteiras escuras indicam indicadores com sigilo ou denominador frequentemente zero; linhas escuras indicam municípios com muitos setores pequenos.
Como ler: Mapa de calor: linhas são municípios, colunas são indicadores; quanto mais escura a célula, maior o percentual de setores sem valor.
O que mostra: O ponto mais escuro é Só sanitário em São Raimundo do Doca Bezerra (66,7%).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 a falta de dados fosse aleatória, o percentual de faltantes seria parecido em todos os décimos. Quando ele se concentra nos setores pequenos, a falta é não aleatória: o IBGE suprime valores para proteger o sigilo de quem mora em setores com poucos domicílios. A consequência é que análises só com setores completos sub-representam setores pequenos.
Como ler: Os setores são divididos em dez grupos iguais pelo número de moradores (1 = os menores). Para cada grupo, o percentual de setores sem renda e sem analfabetismo, e o percentual em FCU.
O que mostra: Sem renda: 0,1% no primeiro décimo e 0,0% no último. Sem analfabetismo: 16,2% e 2,5%.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 duas linhas mostram a mesma tabela em forma de gráfico. Uma linha que desce da esquerda para a direita é o sinal do sigilo: quanto menor o setor, mais provável que o valor tenha sido suprimido.
Como ler: Eixo horizontal: décimo de moradores do setor (1 = menores). Eixo vertical: percentual de setores sem o indicador.
O que mostra: Renda: de 0,1% a 0,0%; analfabetismo: de 16,2% a 2,5%, do menor ao maior décimo.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Um extremo não é um erro por definição: pode ser um setor realmente diferente. O critério muda com o indicador: o intervalo interquartil onde ele funciona, um critério próprio para a renda e, nos indicadores em que a maioria dos setores vale zero, o critério aplicado só aos valores acima de zero.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critério de Tukey marca como extremo o valor que fica a mais de 3 intervalos interquartis abaixo do 1º quartil ou acima do 3º (o intervalo interquartil é a distância entre o 1º e o 3º quartil). Nos indicadores com mediana zero esse intervalo é zero, e qualquer valor positivo viraria extremo; por isso, neles, o critério é aplicado só aos valores acima de zero. A renda usa o critério próprio do projeto: limite de Tukey dentro de cada município e um teste de coerência com o perfil do setor, que separa a renda alta de verdade (EXTREMO) da provável inconsistência (SUSPEITO).
Como ler: Uma linha por indicador: o critério usado, os limites, quantos setores passam deles e o percentual de zeros.
O que mostra: O maior percentual de extremos é o de Água inadequada (9,9%), pelo critério “Tukey k=3 (intervalo interquartil)”.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critério de Tukey marca como extremo o valor que fica a mais de 3 intervalos interquartis abaixo do 1º quartil ou acima do 3º (o intervalo interquartil é a distância entre o 1º e o 3º quartil). Nos indicadores com mediana zero esse intervalo é zero, e qualquer valor positivo viraria extremo; por isso, neles, o critério é aplicado só aos valores acima de zero. A renda usa o critério próprio do projeto: limite de Tukey dentro de cada município e um teste de coerência com o perfil do setor, que separa a renda alta de verdade (EXTREMO) da provável inconsistência (SUSPEITO).
Como ler: Uma linha por indicador: o critério usado, os limites, quantos setores passam deles e o percentual de zeros.
O que mostra: O maior percentual de extremos é o de Água inadequada (9,9%), pelo critério “Tukey k=3 (intervalo interquartil)”.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critério de Tukey marca como extremo o valor que fica a mais de 3 intervalos interquartis abaixo do 1º quartil ou acima do 3º (o intervalo interquartil é a distância entre o 1º e o 3º quartil). Nos indicadores com mediana zero esse intervalo é zero, e qualquer valor positivo viraria extremo; por isso, neles, o critério é aplicado só aos valores acima de zero. A renda usa o critério próprio do projeto: limite de Tukey dentro de cada município e um teste de coerência com o perfil do setor, que separa a renda alta de verdade (EXTREMO) da provável inconsistência (SUSPEITO).
Como ler: Uma linha por indicador: o critério usado, os limites, quantos setores passam deles e o percentual de zeros.
O que mostra: O maior percentual de extremos é o de Água inadequada (9,9%), pelo critério “Tukey k=3 (intervalo interquartil)”.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total soma marcações, não setores: um setor extremo em dois indicadores conta duas vezes. Municípios grandes tendem a ter mais marcações só por terem mais setores; a comparação justa é com o número de setores de cada um (bloco 2).
Como ler: Uma linha por município e uma coluna por indicador, com o número de setores marcados; a coluna total soma todas as marcações.
O que mostra: O município com mais marcações é Recife, com 2.081 no total.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lista serve para conferência caso a caso: abrir o setor, olhar o entorno e decidir se é um setor diferente de verdade ou um erro de registro. Nenhum setor é retirado das análises por estar nesta lista.
Como ler: Até dez setores por indicador, os mais distantes da mediana entre os marcados como extremo: código do setor, município, valor e mediana global.
O que mostra: No topo da lista de Renda média está um setor de Recife, com valor 67.237,29.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lista serve para conferência caso a caso: abrir o setor, olhar o entorno e decidir se é um setor diferente de verdade ou um erro de registro. Nenhum setor é retirado das análises por estar nesta lista.
Como ler: Até dez setores por indicador, os mais distantes da mediana entre os marcados como extremo: código do setor, município, valor e mediana global.
O que mostra: No topo da lista de Renda média está um setor de Recife, com valor 67.237,29.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classe vem do rastreio da renda do projeto (src/ivs_censo/renda.py). Um setor de renda alta com baixo analfabetismo e pouca população preta, parda ou indígena é coerente; o mesmo valor num setor com perfil oposto é suspeito. A variante de renda “sem o extremo” retira esses valores; a referência usa a renda original.
Como ler: Cada setor com renda recebe uma classe: NORMAL, EXTREMO (acima do limite do município, mas coerente com o perfil) ou SUSPEITO (acima do limite e incoerente).
O que mostra: São 13 setores SUSPEITO (0,07%) e 1.226 EXTREMO.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Os percentuais não são comparáveis de forma direta entre critérios diferentes: o critério da inflação de zeros olha só os setores com valor acima de zero. O gráfico serve para localizar os indicadores em que os extremos merecem atenção.
Como ler: Uma barra por indicador, com o percentual de setores marcados; a cor indica o critério (petróleo: Tukey; cinza: inflação de zeros; argila: renda).
O que mostra: A barra mais longa é a de Água inadequada (9,9%).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correlação mede o quanto dois indicadores sobem e descem juntos, de −1 a 1. Pares muito correlacionados medem quase a mesma coisa; pares sem correlação trazem informação diferente. O bloco mostra as duas medidas usuais (Spearman, por postos, e Pearson, linear) e agrupa os indicadores parecidos.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correlação de Spearman é calculada sobre os postos (a ordem dos setores), não sobre os valores. Por isso é pouco afetada por extremos e capta relações que sobem sempre, mesmo que não em linha reta. Valor perto de 1: os setores ordenados por um indicador ficam quase na mesma ordem pelo outro; perto de −1: ordem invertida; perto de 0: sem relação de ordem. Cada par usa os setores com os dois valores.
Como ler: Matriz de correlação de Spearman: cada célula é a correlação entre o indicador da linha e o da coluna, de −1 a 1.
O que mostra: A maior correlação em módulo é entre Renda média e Renda sem o extremo (ρ = 1,0000).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correlação de Pearson mede a relação em linha reta entre os valores. Ela é sensível a extremos e a distribuições muito assimétricas, como as do saneamento. Quando Pearson e Spearman divergem muito para um mesmo par, a relação é puxada por poucos setores extremos ou não é linear.
Como ler: Matriz de correlação de Pearson, com a mesma leitura da de Spearman.
O que mostra: A maior correlação de Pearson em módulo é entre Renda média e Renda sem o extremo (r = 1,0000).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Dois indicadores com correlação acima de 0,80 medem praticamente a mesma coisa. Pôr os dois no índice dá peso dobrado a essa dimensão. Muitas vezes são variantes de um mesmo conceito (por exemplo, as três rendas ou as várias definições de água), e a escolha entre elas é uma das decisões que as versões do eixo B exploram.
Como ler: Os pares de indicadores com correlação de pelo menos 0,80 em módulo, por Spearman ou por Pearson, do mais forte para o mais fraco.
O que mostra: No topo: Renda sem o extremo × Renda (mediana mun.), com Spearman 1,0000 e Pearson 1,0000.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Dois indicadores com correlação acima de 0,80 medem praticamente a mesma coisa. Pôr os dois no índice dá peso dobrado a essa dimensão. Muitas vezes são variantes de um mesmo conceito (por exemplo, as três rendas ou as várias definições de água), e a escolha entre elas é uma das decisões que as versões do eixo B exploram.
Como ler: Os pares de indicadores com correlação de pelo menos 0,80 em módulo, por Spearman ou por Pearson, do mais forte para o mais fraco.
O que mostra: No topo: Renda sem o extremo × Renda (mediana mun.), com Spearman 1,0000 e Pearson 1,0000.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reordenação põe lado a lado os indicadores que se correlacionam entre si, e os blocos de cor ao longo da diagonal revelam os grupos. Um grupo nítido costuma corresponder a uma dimensão: socioeconômica, saneamento, moradia, idade.
Como ler: Mapa de calor da correlação de Spearman, com os indicadores reordenados pelo agrupamento do dendrograma; argila é correlação positiva, petróleo negativa.
O que mostra: O par mais forte é Renda média × Renda sem o extremo (ρ = 1,0000).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dendrograma é o resultado de um agrupamento hierárquico: começa com cada indicador sozinho e, a cada passo, une os dois grupos mais próximos. A distância entre dois indicadores é 1 menos o módulo da correlação de Spearman (0 = idênticos, 1 = sem relação); entre grupos, usa-se a média das distâncias (ligação média). Ele é um retrato descritivo: não substitui a análise fatorial.
Como ler: Cada indicador é uma folha à esquerda; as linhas os unem do mais parecido para o menos. Quanto mais à esquerda a união, mais correlacionados os indicadores.
O que mostra: O par mais próximo é Renda média × Renda sem o extremo (ρ = 1,0000).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 favelas e comunidades urbanas delimitadas pelo IBGE servem de referência externa: um bom indicador de vulnerabilidade deve ter valores mais altos nelas. A comparação usa medianas e a AUC, que mede a capacidade de separar os dois grupos.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AUC (área sob a curva ROC) é a probabilidade de que um setor de favela, sorteado ao acaso, tenha valor maior que um setor de fora, também sorteado. AUC 0,5: o indicador não separa os grupos. Acima de 0,5: valores maiores nas favelas. Abaixo de 0,5: valores menores nas favelas (é o caso da renda, que entra no índice invertida). A AUC aqui é global, com todos os municípios juntos.
Como ler: Uma linha por indicador: setores de FCU e fora, a mediana em cada grupo, a diferença e a AUC do indicador sozinho.
O que mostra: Cor/raça PPI tem AUC 0,7704 (mediana 0,8055 em FCU e 0,6939 fora); a menor AUC é a de Renda (mediana mun.) (0,1566).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AUC (área sob a curva ROC) é a probabilidade de que um setor de favela, sorteado ao acaso, tenha valor maior que um setor de fora, também sorteado. AUC 0,5: o indicador não separa os grupos. Acima de 0,5: valores maiores nas favelas. Abaixo de 0,5: valores menores nas favelas (é o caso da renda, que entra no índice invertida). A AUC aqui é global, com todos os municípios juntos.
Como ler: Uma linha por indicador: setores de FCU e fora, a mediana em cada grupo, a diferença e a AUC do indicador sozinho.
O que mostra: Cor/raça PPI tem AUC 0,7704 (mediana 0,8055 em FCU e 0,6939 fora); a menor AUC é a de Renda (mediana mun.) (0,1566).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Barras que partem de 0,5 deixam claro o sentido: argila para a direita, o indicador é maior nas favelas; petróleo para a esquerda, é menor. O painel das medianas mostra a mesma comparação em valores absolutos, o que ajuda a separar uma diferença grande em termos relativos de uma diferença grande de fato.
Como ler: À esquerda, a AUC de cada indicador (barras a partir de 0,5; argila acima, petróleo abaixo). À direita, as medianas em FCU e fora, para os indicadores em proporção.
O que mostra: A maior AUC é a de Cor/raça PPI (0,7704); a menor, a de Renda (mediana mun.) (0,1566).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projeto olha para a vulnerabilidade do idoso. Este bloco descreve a estrutura etária e quatro indicadores de envelhecimento, e cruza o percentual de pessoas de 60 anos ou mais com os demais indicadores.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 faixas etárias do Censo não são todas do mesmo tamanho: de 30 a 59 anos elas têm dez anos, e as anteriores, cinco. Por isso as faixas de dez anos tendem a parecer maiores. O percentual é calculado sobre a soma das faixas, e cada região soma 100%.
Como ler: Uma linha por faixa etária; as colunas são o total e as regiões, com o percentual da população de cada uma em cada faixa.
O que mostra: Pessoas de 70 anos ou mais são 6,6% do total, chegando a 6,6% no Nordeste.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Os agregados por setor do Censo trazem as faixas etárias sem a separação por sexo, por isso a figura é uma pirâmide de um lado só. Pontos à direita da barra nas faixas mais velhas indicam regiões mais envelhecidas.
Como ler: Barras: percentual da população total em cada faixa etária. Pontos: o mesmo percentual em cada região.
O que mostra: 70+: 6,6% no total e 6,6% no Nordeste.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índice de envelhecimento é a razão entre pessoas de 60 anos ou mais e pessoas de 0 a 14 anos. A razão de dependência idosa é a razão entre pessoas de 60 anos ou mais e pessoas de 15 a 59 anos. A proporção de 70+ entre os 60+ indica o quanto a população idosa do setor é mais velha. Os quatro são calculados por setor.
Como ler: Os quatro indicadores de envelhecimento, para o total e por região: n, média, mediana, quartis e as demais descritivas.
O que mostra: Pessoas 60+: mediana de 0,1435 no Nordeste e 0,1435 no Nordeste. Índice de envelhecimento, mediana do total: 77,7778.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tabela cruza envelhecimento com vulnerabilidade. Uma correlação positiva com a renda indica que setores mais ricos têm mais idosos (envelhecimento associado à transição demográfica mais avançada); uma correlação negativa com indicadores de carência diz o mesmo pelo outro lado. Isso importa para o IVS-Idoso: se idade e vulnerabilidade andam em sentidos opostos, somá-las num índice só pode cancelar os efeitos.
Como ler: Correlação de Spearman entre os indicadores de envelhecimento (linhas) e os demais (colunas).
O que mostra: Para pessoas 60+, a correlação mais forte é com População 0–14 (ρ = -0,7989); com a renda média, ρ = 0,5569.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tabela cruza envelhecimento com vulnerabilidade. Uma correlação positiva com a renda indica que setores mais ricos têm mais idosos (envelhecimento associado à transição demográfica mais avançada); uma correlação negativa com indicadores de carência diz o mesmo pelo outro lado. Isso importa para o IVS-Idoso: se idade e vulnerabilidade andam em sentidos opostos, somá-las num índice só pode cancelar os efeitos.
Como ler: Correlação de Spearman entre os indicadores de envelhecimento (linhas) e os demais (colunas).
O que mostra: Para pessoas 60+, a correlação mais forte é com População 0–14 (ρ = -0,7989); com a renda média, ρ = 0,5569.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 mais de cem mil setores, um gráfico de pontos vira uma mancha. O gráfico de hexágonos conta quantos setores caem em cada célula. A escala logarítmica da renda espalha os setores de renda baixa, que de outro modo ficariam espremidos à esquerda.
Como ler: Cada hexágono reúne setores com valores parecidos; quanto mais escuro, mais setores. Eixo horizontal: renda média em escala logarítmica; vertical: proporção de pessoas de 60 anos ou mais.
O que mostra: A correlação de Spearman entre as duas é 0,5569.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 os fatores e os pesos, cada setor recebe um valor de 0 a 1 dentro do seu município. O bloco mostra os pesos, a distribuição do índice, as faixas de vulnerabilidade pelas duas regras, a AUC contra as favelas e se a versão passa nos critérios de elegibilidade fixados no NB05.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Os pesos seguem a receita do NB04: cada variável vai para a dimensão em que tem a maior carga; o peso da dimensão é repartido entre as variáveis dela em proporção ao quadrado da carga. O peso das dimensões depende do método da versão; na referência é a regra do IVS-BH de 2012 (60% socioeconômica, 40% saneamento).
Como ler: Uma linha por componente: a dimensão em que ele carrega mais, a carga, o peso da dimensão e o peso final no índice (em %).
O que mostra: O maior peso é o de Renda (invertida) (24,1%); a dimensão socioeconômica pesa 60,0%.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índice vai de 0 (o setor menos vulnerável do município) a 1 (o mais vulnerável). Comparar o nível do índice entre municípios não faz sentido nesta normalização; o que se compara é a posição relativa de cada setor dentro da sua cidade.
Como ler: Descritivas do índice para o total e por região. Como o índice é normalizado dentro de cada município, todo município tem mínimo 0 e máximo 1.
O que mostra: 13.097 setores; mediana 0,4863; percentil 90 0,5934.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regra do IVS-BH de 2012 classifica pelo afastamento da média do município em desvios-padrão: abaixo de −0,5 DP é baixo; até +0,5 DP, médio; até +1,5 DP, elevado; acima, muito elevado. Como a distribuição é assimétrica, as faixas não têm o mesmo tamanho. A regra dos quartis divide cada município em quatro partes iguais, por construção com 25% cada.
Como ler: Quantos setores ficam em cada faixa, pelas duas regras: a do IVS-BH (média e desvio-padrão do município) e a dos quartis do município.
O que mostra: IVS-BH: 25,6% baixo e 5,2% muito elevado. Quartis: 25,1% muito elevado.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AUC global junta todos os setores; a municipal calcula a AUC dentro de cada município e toma a mediana, só nos municípios com pelo menos 30 setores de FCU e 30 fora. A municipal é a leitura adequada para um índice normalizado no município. Os critérios de elegibilidade foram fixados antes de rodar a grade do NB05: KMO de pelo menos 0,70, MSA de pelo menos 0,50, comunalidade de pelo menos 0,30 e carga de pelo menos 0,40 em todas as variáveis. A elegibilidade é descritiva: não escolhe a versão.
Como ler: AUC global e municipal, peso da dimensão socioeconômica e os critérios de elegibilidade do NB05, um por linha (1 = atende).
O que mostra: AUC global 0,7729; mediana da AUC municipal 0,7896, em 10 municípios. Pelos critérios do NB05, a versão é não elegível.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Municípios com poucos setores de favela têm AUC instável: um ou dois setores mudam muito o resultado. Por isso a mediana só usa os municípios com pelo menos 30 setores em cada grupo; os demais ficam na tabela, marcados.
Como ler: Uma linha por município: AUC, setores de FCU (n1) e fora (n0) e se o município entra na mediana.
O que mostra: Entre os municípios que entram na mediana, a maior AUC é a de São Luís (0,8773) e a menor, a de São José de Ribamar (0,6829).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Como as faixas são definidas dentro de cada município, um mesmo valor do índice pode cair em faixas diferentes em cidades diferentes: por isso as cores se sobrepõem nas fronteiras.
Como ler: Histograma do índice, com cada barra dividida pela faixa dos setores (regra do IVS-BH).
O que mostra: 25,6% dos setores ficam em baixo e 5,2% em muito elevado.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Quanto mais a curva se aproxima do canto superior esquerdo, melhor o índice separa os dois grupos. A área sob a curva é a AUC. Esta curva usa todos os setores juntos; como o índice é normalizado no município, a AUC municipal é a medida principal.
Como ler: Cada ponto da curva é um corte do índice: no eixo vertical, a proporção de setores de FCU acima do corte; no horizontal, a dos setores de fora. A diagonal é o acaso.
O que mostra: Área sob a curva: 0,7729 (global); a mediana municipal é 0,7896.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Cada versão muda uma coisa só em relação à referência. Este bloco mede o efeito dessa mudança: a correlação de postos entre os dois índices, a matriz de setores que trocam de faixa e os municípios mais afetados.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Uma correlação de postos perto de 1 indica que a versão ordena os setores quase como a referência, ainda que os valores mudem. Na própria referência, o valor é 1 por construção.
Como ler: Correlação de Spearman entre o índice desta versão e o da referência, nos setores que estão nas duas amostras: total e por município.
O que mostra: Total: ρ = 0,9677. Menor correlação municipal: Jaqueira (0,7143).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diagonal (mesma faixa nas duas) mostra a concordância. Trocas entre faixas vizinhas são esperadas quando os pesos mudam um pouco; trocas de duas faixas ou mais indicam que a versão muda de fato a classificação do setor.
Como ler: Cada linha é um par (faixa na referência, faixa nesta versão), com o número de setores e o percentual do total.
O que mostra: Fora da diagonal, a maior célula é de medio para elevado, com 397 setores.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faixa usada é a da regra do IVS-BH. Municípios pequenos tendem a aparecer no topo, porque poucas trocas pesam muito em poucos setores.
Como ler: A primeira linha é o total; as demais, os municípios, do mais afetado para o menos: setores comuns, setores que mudam de faixa e o percentual.
O que mostra: No total, 10,8% dos setores mudam de faixa; o município mais afetado é São Raimundo do Doca Bezerra (100,0%).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Uma matriz com quase tudo na diagonal indica que a mudança da versão não altera a classificação; células fora da diagonal mostram para onde os setores se movem.
Como ler: Linhas: faixa na referência; colunas: faixa nesta versão; cada célula traz o número de setores.
O que mostra: A maior troca fora da diagonal é de medio para elevado (397 setores).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gráfico destaca onde a escolha desta versão faz mais diferença. Na própria referência, todas as barras são zero.
Como ler: Os 20 municípios com o maior percentual de setores que mudam de faixa.
O que mostra: O mais afetado é São Raimundo do Doca Bezerra (100,0%); no total, 10,8%.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índice regional ordena os setores de modo parecido com a referência, mas cerca de um em cada dez setores muda de faixa. A versão não é elegível: o KMO fica abaixo de 0,70 e o banheiro graduado tem comunalidade e carga baixas. A AUC contra as favelas é menor que a da referência. Falha registrada como falha.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fatorial, os pesos e as faixas são recalculados só com os setores da região; os índices de regiões diferentes não são comparáveis entre si.
Regiões com poucos municípios no ELSI têm descritivas regionais apoiadas em poucas cidades.
A AUC municipal só usa municípios com pelo menos 30 setores de FCU e 30 fora; em algumas regiões, são poucos.
A amostra do índice exclui todo setor com algum componente faltante (exclusão por lista).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1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3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4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5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6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7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8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9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0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1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3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4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5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6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7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8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9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0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1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1234440"/>
            <a:ext cx="10634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spc="200" kern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ANÁLISES EXPLORATÓRIAS POR VERSÃO · A4_por_regiao/nordeste</a:t>
            </a:r>
            <a:endParaRPr lang="en-US" sz="1150" dirty="0"/>
          </a:p>
        </p:txBody>
      </p:sp>
      <p:sp>
        <p:nvSpPr>
          <p:cNvPr id="3" name="Shape 1"/>
          <p:cNvSpPr/>
          <p:nvPr/>
        </p:nvSpPr>
        <p:spPr>
          <a:xfrm>
            <a:off x="777240" y="1627632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77240" y="1783080"/>
            <a:ext cx="106344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Região Nordeste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777240" y="2788920"/>
            <a:ext cx="8595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ficam os dados e o IVS quando os blocos rodam só com os municípios da região Nordeste?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77240" y="5623560"/>
            <a:ext cx="10634472" cy="0"/>
          </a:xfrm>
          <a:prstGeom prst="line">
            <a:avLst/>
          </a:prstGeom>
          <a:noFill/>
          <a:ln w="9525">
            <a:solidFill>
              <a:srgbClr val="C8C6C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5760720"/>
            <a:ext cx="10634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outubro de 2026  ·  19.497 setores no recorte  ·  13.097 na amostra do índice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muda nesta versão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1060704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4297680"/>
                <a:gridCol w="4297680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Aspecto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Referência (00_referencia)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Esta versão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Base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entrega_orientadora/Base_ELSI_70Municipios_Censo2022.db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i="1" dirty="0">
                          <a:solidFill>
                            <a:srgbClr val="8B877E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igual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Recorte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urbanos; Dados_sig = OK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i="1" dirty="0">
                          <a:solidFill>
                            <a:srgbClr val="8B877E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igual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Indicadores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todos os do quadro, com as variantes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i="1" dirty="0">
                          <a:solidFill>
                            <a:srgbClr val="8B877E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igual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681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Componentes do índice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inadequada, Esgoto inadequado, Razão de moradores, Analfabetismo 15+, renda_inv, Cor/raça PPI, Banheiro graduado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i="1" dirty="0">
                          <a:solidFill>
                            <a:srgbClr val="8B877E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igual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original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i="1" dirty="0">
                          <a:solidFill>
                            <a:srgbClr val="8B877E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igual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Rotação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promax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i="1" dirty="0">
                          <a:solidFill>
                            <a:srgbClr val="8B877E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igual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Pesos das dimensões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60_40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i="1" dirty="0">
                          <a:solidFill>
                            <a:srgbClr val="8B877E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igual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Normalização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municipal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i="1" dirty="0">
                          <a:solidFill>
                            <a:srgbClr val="8B877E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igual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Blocos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1, 2, 3, 4, 5, 6, 7, 8, 9, 10, 11, 12, 13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8C2F27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1, 2, 3, 4, 5, 6, 7, 8, 10, 13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777240" y="4303014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77240" y="4357878"/>
            <a:ext cx="10634472" cy="16771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muda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Só o recorte: entram apenas os setores urbanos com Dados_sig = OK dos municípios da região Nordeste. A fatorial, os pesos e as faixas são recalculados com eles; componentes, rotação, pesos 60/40 e normalização são os da referência.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13.097 setores chegam ao índice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517904"/>
            <a:ext cx="3300984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591056"/>
            <a:ext cx="33009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109.032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777240" y="2176272"/>
            <a:ext cx="33009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setores na base completa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443984" y="1517904"/>
            <a:ext cx="3300984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443984" y="1591056"/>
            <a:ext cx="33009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19.497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4443984" y="2176272"/>
            <a:ext cx="33009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setores no recorte da versão (descritivas, distribuições, correlações)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8110728" y="1517904"/>
            <a:ext cx="3300984" cy="0"/>
          </a:xfrm>
          <a:prstGeom prst="line">
            <a:avLst/>
          </a:prstGeom>
          <a:noFill/>
          <a:ln w="12700">
            <a:solidFill>
              <a:srgbClr val="8C2F2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110728" y="1591056"/>
            <a:ext cx="33009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13.097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8110728" y="2176272"/>
            <a:ext cx="33009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setores na amostra do índice (fatorial e blocos 9 a 13)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777240" y="3026664"/>
            <a:ext cx="10634472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Por que dois números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funil mostra o caminho dos setores. A base completa inclui setores rurais e setores sem dados divulgados. O recorte da versão é o conjunto sobre o qual são calculadas as descritivas, as distribuições e as correlações. A amostra do índice é menor, porque a análise fatorial exige que o setor tenha todos os componentes preenchidos (exclusão por lista: basta faltar um componente para o setor sair). Essa diferença de amostra é importante quando se comparam números de blocos diferentes.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T01 · tabelas/T01_funil.csv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Sumário: os blocos desta versão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10607040" cy="914400"/>
        </p:xfrm>
        <a:graphic>
          <a:graphicData uri="http://schemas.openxmlformats.org/drawingml/2006/table">
            <a:tbl>
              <a:tblPr/>
              <a:tblGrid>
                <a:gridCol w="640080"/>
                <a:gridCol w="2377440"/>
                <a:gridCol w="4937760"/>
                <a:gridCol w="2651760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Bloco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Título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Pergunta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Itens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Recorte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Quantos setores entram nesta versão, quantos saem e por quê?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T01, F01, T02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Descritivas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Qual é o valor típico de cada indicador, e quanto ele varia?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T03, T04, T05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1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Distribuições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Que forma tem cada indicador, e ela muda de uma região para outra?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F02, F03, F04, F05, F06, F07, F08, F09, F10, F11, F12, F13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Faltantes e sigilo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Onde faltam dados, e a falta é aleatória?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T06, F14, T07, F15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Extremos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Que setores têm valores fora do comum, e por qual critério?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T08, T09, T10, T11, F16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Correlações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Que indicadores andam juntos?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T12, T13, T14, F17, F18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Favelas e comunidades urbanas (FCU)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Cada indicador, sozinho, separa os setores de favela dos demais?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T15, F19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Envelhecimento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Como a população idosa se distribui, e com que indicadores ela se relaciona?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T16, F20, T17, T18, F21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O índice da versão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Como fica o índice, e ele separa os setores de favela?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T23, T24, T25, T26, T27, F24, F25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Comparação com a referência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O que esta versão muda em relação à referência proposta do NB05?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T31, T32, T33, F28, F29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2331720"/>
            <a:ext cx="1097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1920240" y="2331720"/>
            <a:ext cx="94914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Recorte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777240" y="3273552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920240" y="3401568"/>
            <a:ext cx="90342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Quantos setores entram nesta versão, quantos saem e por quê?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920240" y="4343400"/>
            <a:ext cx="9491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Neste bloco: T01 · F01 · T02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13.097 setores chegam ao índice, de 109.032 na base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740664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914400"/>
                <a:gridCol w="822960"/>
                <a:gridCol w="3291840"/>
              </a:tblGrid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Etapa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Saem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Motivo da saída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Base completa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109.032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—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urbanos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106.347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2.685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 rural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1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Dados_sig = OK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104.108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2.239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 sem dados divulgados (sigilo ou sem domicílio ocupado)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Região: Nordeste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19.497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84.611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fora da região da versão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1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Componentes do índice completos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13.097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6.400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faltante em algum componente do índice (exclusão por lista)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549640" y="128930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Cada linha é um filtro, na ordem em que é aplicado: quantos setores ficam, quantos saem e por quê.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57556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2630424"/>
            <a:ext cx="2862072" cy="1276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base tem 109.032 setores; 19.497 ficam no recorte da versão e 13.097 têm todos os componentes do índice (6.400 saem nesta última etapa).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T01 · tabelas/T01_funil.csv  ·  Bloco 1. Recorte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0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 recorte ao índice, 6.400 setores saem por falta de algum componente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pic>
        <p:nvPicPr>
          <p:cNvPr id="5" name="Image 0" descr="/Users/pedro/Documents/Iniciacao Cientifica/Projeto_IVS_Censo22/analises_exploratorias/A4_por_regiao/nordeste/figuras/F01_funi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243584"/>
            <a:ext cx="7452360" cy="301668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549640" y="1289304"/>
            <a:ext cx="2862072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Cada barra é uma etapa do funil; o comprimento é o número de setores que ainda estão dentro.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36601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2420874"/>
            <a:ext cx="2862072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barra final (13.097 setores) é a amostra do índice; a do recorte tem 19.497.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F01 · figuras/F01_funil.png  ·  Bloco 1. Recorte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0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Banheiro graduado é o indicador com mais faltantes (24,8% dos setores)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685800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1371600"/>
                <a:gridCol w="1097280"/>
                <a:gridCol w="1005840"/>
                <a:gridCol w="1005840"/>
              </a:tblGrid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Indicador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Dimensão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Com valor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Sem valor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% sem valor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inadequada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Saneamento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19.497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Esgoto inadequado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Saneamento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19.496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Lixo inadequado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Saneamento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19.497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Sem água canalizada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Saneamento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19.495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não chega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Saneamento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15.639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3.858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19,8%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só no terreno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Saneamento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15.021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4.476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23,0%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Sem banheiro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Saneamento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15.747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3.750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19,2%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Sem banheiro nem sanitário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Saneamento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18.246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1.251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6,4%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Só sanitário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Saneamento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17.707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1.790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9,2%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Banheiro de uso comum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Saneamento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16.630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2.867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14,7%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Banheiro graduado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Saneamento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14.667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4.830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24,8%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Razão de moradores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Socioeconômica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19.497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Analfabetismo 15+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Socioeconômica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17.867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1.630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8,4%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média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Socioeconômica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19.496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Cor/raça PPI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Socioeconômica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19.497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Responsável mulher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Socioeconômica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19.476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549640" y="128930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Uma linha por indicador: setores com valor, setores sem valor e a porcentagem sem valor dentro do recorte.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57556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263042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maior percentual de faltantes é o de Banheiro graduado (24,8%); o menor, o de Água inadequada (0,0%).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T02 · tabelas/T02_perdas_por_indicador.csv  ·  Bloco 1. Recorte  ·  parte 1 de 2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0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Banheiro graduado é o indicador com mais faltantes (24,8% dos setores)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685800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1371600"/>
                <a:gridCol w="1097280"/>
                <a:gridCol w="1005840"/>
                <a:gridCol w="1005840"/>
              </a:tblGrid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Indicador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Dimensão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Com valor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Sem valor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% sem valor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sem o extremo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Socioeconômica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19.496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(mediana mun.)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Socioeconômica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19.496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Domicílio improvisado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Morfologia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18.384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1.113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5,7%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Habitação precária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Morfologia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19.497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Moradia convencional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Morfologia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19.497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Moradia não convencional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Morfologia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19.497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Apartamento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Morfologia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17.660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1.837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9,4%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Casa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Morfologia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18.873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624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3,2%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Casa de vila/condomínio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Morfologia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16.901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2.596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13,3%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Crianças 0–4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Demografia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19.303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194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População 0–14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Demografia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19.467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Pessoas 60+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Demografia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19.443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Índice de envelhecimento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Demografia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19.362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135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Dependência idosa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Demografia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19.441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70+ entre 60+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Demografia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19.113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384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549640" y="128930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Uma linha por indicador: setores com valor, setores sem valor e a porcentagem sem valor dentro do recorte.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57556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263042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maior percentual de faltantes é o de Banheiro graduado (24,8%); o menor, o de Água inadequada (0,0%).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T02 · tabelas/T02_perdas_por_indicador.csv  ·  Bloco 1. Recorte  ·  parte 2 de 2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2331720"/>
            <a:ext cx="1097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1920240" y="2331720"/>
            <a:ext cx="94914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Descritivas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777240" y="3273552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920240" y="3401568"/>
            <a:ext cx="90342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Qual é o valor típico de cada indicador, e quanto ele varia?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920240" y="4343400"/>
            <a:ext cx="9491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Neste bloco: T03 · T04 · T05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0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Domicílio improvisado é o indicador mais assimétrico (assimetria 36,97)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7452360" cy="914400"/>
        </p:xfrm>
        <a:graphic>
          <a:graphicData uri="http://schemas.openxmlformats.org/drawingml/2006/table">
            <a:tbl>
              <a:tblPr/>
              <a:tblGrid>
                <a:gridCol w="1830404"/>
                <a:gridCol w="740878"/>
                <a:gridCol w="740878"/>
                <a:gridCol w="740878"/>
                <a:gridCol w="697297"/>
                <a:gridCol w="740878"/>
                <a:gridCol w="740878"/>
                <a:gridCol w="566554"/>
                <a:gridCol w="653716"/>
              </a:tblGrid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Indicador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Média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DP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P10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Mediana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P90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Assim.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% zeros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inadequada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19.497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0,1176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0,2315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0,0078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0,4150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2,46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49,8%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Esgoto inadequado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19.496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0,1617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0,2950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0,7677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1,80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53,3%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Lixo inadequado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19.497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0,1539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0,2879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0,7164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1,90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55,2%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Sem água canalizada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19.495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0,0227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0,0695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0,0032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0,0494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6,63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47,7%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não chega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15.639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0,0066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0,0356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0,0138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12,88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87,5%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só no terreno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15.021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0,0181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0,0629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0,0435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6,77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75,5%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Sem banheiro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15.747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0,0062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0,0333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0,0106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11,40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89,2%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Sem banheiro nem sanitário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18.246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0,0078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27,84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98,9%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Só sanitário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17.707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0,0022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0,0176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13,48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96,1%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Banheiro de uso comum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16.630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0,0019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0,0162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28,32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95,0%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Banheiro graduado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14.667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0,0016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0,0148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16,98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95,7%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Razão de moradores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19.497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2,7712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0,3230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2,3739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2,7834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3,1618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-0,17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Analfabetismo 15+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17.867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0,0623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0,0497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0,0106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0,0516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0,1274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1,55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3,3%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média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19.496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3.008,45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3.233,29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1.156,98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1.719,20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6.944,06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3,66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Cor/raça PPI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19.497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0,7127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0,1589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0,4825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0,7341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0,9061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-0,82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Responsável mulher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19.476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0,5538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0,0857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0,4449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0,5577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0,6563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-0,25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549640" y="1289304"/>
            <a:ext cx="2862072" cy="148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Uma linha por indicador. n: setores com valor; DP: desvio-padrão; P10…P90: percentis; CV: coeficiente de variação; % zeros: setores com valor exatamente zero.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99466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304952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maior assimetria é a de Domicílio improvisado (36,97); o maior percentual de zeros é o de Domicílio improvisado (99,0%).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T03 · tabelas/T03_descritivas_global.csv  ·  Bloco 2. Descritivas  ·  parte 1 de 2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0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Domicílio improvisado é o indicador mais assimétrico (assimetria 36,97)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7452360" cy="914400"/>
        </p:xfrm>
        <a:graphic>
          <a:graphicData uri="http://schemas.openxmlformats.org/drawingml/2006/table">
            <a:tbl>
              <a:tblPr/>
              <a:tblGrid>
                <a:gridCol w="1830404"/>
                <a:gridCol w="740878"/>
                <a:gridCol w="740878"/>
                <a:gridCol w="740878"/>
                <a:gridCol w="697297"/>
                <a:gridCol w="740878"/>
                <a:gridCol w="740878"/>
                <a:gridCol w="566554"/>
                <a:gridCol w="653716"/>
              </a:tblGrid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Indicador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Média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DP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P10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Mediana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P90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Assim.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% zeros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sem o extremo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19.496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3.008,45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3.233,29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1.156,98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1.719,20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6.944,06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3,66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(mediana mun.)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19.496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3.008,45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3.233,29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1.156,98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1.719,20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6.944,06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3,66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Domicílio improvisado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18.384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0,0129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36,97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99,0%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Habitação precária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19.497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0,0041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0,0250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12,45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93,1%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Moradia convencional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19.497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0,9935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0,0232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0,9862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-10,36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Moradia não convencional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19.497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0,0036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0,0217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11,89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93,7%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Apartamento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17.660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0,2382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0,3680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0,0196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0,9745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1,27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46,0%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Casa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18.873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0,7562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0,3432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0,0500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0,9418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-1,31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5,6%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Casa de vila/condomínio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16.901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0,0528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0,1416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0,1440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4,57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62,8%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Crianças 0–4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19.303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0,0575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0,0218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0,0313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0,0558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0,0854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População 0–14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19.467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0,1832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0,0545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0,1148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0,1825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0,2523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Pessoas 60+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19.443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0,1540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0,0739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0,0688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0,1435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0,2551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Índice de envelhecimento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19.362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106,1998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106,3983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28,3133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77,7778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212,7660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8,03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Dependência idosa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19.441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24,0171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13,8127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9,9359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21,5026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41,2844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3,74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70+ entre 60+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19.113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41,7983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10,2480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29,2035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41,8440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53,9474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549640" y="1289304"/>
            <a:ext cx="2862072" cy="148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Uma linha por indicador. n: setores com valor; DP: desvio-padrão; P10…P90: percentis; CV: coeficiente de variação; % zeros: setores com valor exatamente zero.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99466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304952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maior assimetria é a de Domicílio improvisado (36,97); o maior percentual de zeros é o de Domicílio improvisado (99,0%).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T03 · tabelas/T03_descritivas_global.csv  ·  Bloco 2. Descritivas  ·  parte 2 de 2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0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Renda média: a mediana vai de 1.719,20 (Nordeste) a 1.719,20 (Nordeste)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320040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1005840"/>
              </a:tblGrid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Indicador — mediana por região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Nordeste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inadequada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0,0078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Esgoto inadequado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Lixo inadequado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Sem água canalizada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0,0032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não chega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só no terreno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Sem banheiro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Sem banheiro nem sanitário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Só sanitário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Banheiro de uso comum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Banheiro graduado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Razão de moradores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2,7834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Analfabetismo 15+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0,0516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média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1.719,20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Cor/raça PPI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0,7341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Responsável mulher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0,5577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549640" y="1289304"/>
            <a:ext cx="2862072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Uma linha por região e indicador, com as mesmas colunas da tabela global.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36601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242087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Para Renda média, a mediana mais alta está no Nordeste (1.719,20) e a mais baixa no Nordeste (1.719,20).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T04 · tabelas/T04_descritivas_regiao.csv  ·  Bloco 2. Descritivas  ·  parte 1 de 2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0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Renda média: a mediana vai de 1.719,20 (Nordeste) a 1.719,20 (Nordeste)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320040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1005840"/>
              </a:tblGrid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Indicador — mediana por região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Nordeste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sem o extremo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1.719,20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(mediana mun.)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1.719,20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Domicílio improvisado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Habitação precária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Moradia convencional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Moradia não convencional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Apartamento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0,0196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Casa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0,9418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Casa de vila/condomínio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Crianças 0–4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0,0558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População 0–14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0,1825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Pessoas 60+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0,1435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Índice de envelhecimento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77,7778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Dependência idosa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21,5026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70+ entre 60+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41,8440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777240" y="5251069"/>
            <a:ext cx="7452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Recorte da tabela para o slide; a tabela completa está no CSV indicado no rodapé.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8549640" y="1289304"/>
            <a:ext cx="2862072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Uma linha por região e indicador, com as mesmas colunas da tabela global.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8549640" y="236601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549640" y="242087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Para Renda média, a mediana mais alta está no Nordeste (1.719,20) e a mais baixa no Nordeste (1.719,20).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T04 · tabelas/T04_descritivas_regiao.csv  ·  Bloco 2. Descritivas  ·  parte 2 de 2</a:t>
            </a:r>
            <a:endParaRPr lang="en-US" sz="9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0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Renda média: entre os municípios, a mediana vai de 1.062,36 a 2.035,34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658368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822960"/>
                <a:gridCol w="1005840"/>
                <a:gridCol w="1005840"/>
                <a:gridCol w="1005840"/>
              </a:tblGrid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Município — Renda média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P10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Mediana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P90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Natal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1.076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1.229,11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2.035,34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8.646,39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Marechal Deodoro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1.064,47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1.963,78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4.319,94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Teresina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1.368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1.188,50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1.913,01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6.229,91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Urandi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1.228,73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1.870,56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2.616,36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Recife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2.796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1.163,36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1.778,67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9.930,69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Limoeiro do Norte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1.219,34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1.760,22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3.101,96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Feira de Santana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997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1.086,21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1.753,99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4.229,23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São Luís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1.674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1.213,27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1.745,25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6.149,56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Maceió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1.530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1.115,78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1.721,69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6.414,23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Fortaleza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4.280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1.145,09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1.708,86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6.138,42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…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…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…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…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…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549640" y="128930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Uma linha por município e indicador (tabela longa). No deck, um recorte; a tabela completa está no CSV.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57556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263042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Para Renda média, a maior mediana municipal é a de Natal (2.035,34); a menor, a de Jaqueira (1.062,36).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T05 · tabelas/T05_descritivas_municipio.csv  ·  Bloco 2. Descritivas  ·  parte 1 de 2</a:t>
            </a:r>
            <a:endParaRPr lang="en-US" sz="9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0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Renda média: entre os municípios, a mediana vai de 1.062,36 a 2.035,34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658368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822960"/>
                <a:gridCol w="1005840"/>
                <a:gridCol w="1005840"/>
                <a:gridCol w="1005840"/>
              </a:tblGrid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Município — Renda média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P10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Mediana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P90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São José de Ribamar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580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1.171,09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1.633,45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3.530,70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Camaragibe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272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1.170,16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1.595,08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3.102,85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Itapetinga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1.105,19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1.445,73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2.837,46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Groaíras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1.093,58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1.414,45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1.681,57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São Raimundo do Doca Bezerra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1.256,60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1.386,15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1.397,51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Itajuípe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1.084,70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1.339,82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2.301,00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Arara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1.029,15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1.334,01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1.595,92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Rosário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927,87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1.271,66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2.071,69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Preta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959,71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1.240,34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1.661,44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Jaqueira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995,50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1.062,36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1.500,55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777240" y="4019169"/>
            <a:ext cx="7452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Recorte da tabela para o slide; a tabela completa está no CSV indicado no rodapé.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8549640" y="128930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Uma linha por município e indicador (tabela longa). No deck, um recorte; a tabela completa está no CSV.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8549640" y="257556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549640" y="263042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Para Renda média, a maior mediana municipal é a de Natal (2.035,34); a menor, a de Jaqueira (1.062,36).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T05 · tabelas/T05_descritivas_municipio.csv  ·  Bloco 2. Descritivas  ·  parte 2 de 2</a:t>
            </a:r>
            <a:endParaRPr lang="en-US" sz="9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17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2331720"/>
            <a:ext cx="1097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1920240" y="2331720"/>
            <a:ext cx="94914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Distribuições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777240" y="3273552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920240" y="3401568"/>
            <a:ext cx="90342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 forma tem cada indicador, e ela muda de uma região para outra?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920240" y="4343400"/>
            <a:ext cx="9491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Neste bloco: F02 · F03 · F04 · F05 · F06 · F07 · F08 · F09 · F10 · F11 · F12 · F13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182880"/>
            <a:ext cx="1063447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0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Saneamento: Banheiro de uso comum tem a distribuição mais assimétrica (assimetria 28,32)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pic>
        <p:nvPicPr>
          <p:cNvPr id="5" name="Image 0" descr="/Users/pedro/Documents/Iniciacao Cientifica/Projeto_IVS_Censo22/analises_exploratorias/A4_por_regiao/nordeste/figuras/F02_histogramas_saneament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243584"/>
            <a:ext cx="7452360" cy="4158003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549640" y="1289304"/>
            <a:ext cx="2862072" cy="148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 histograma por indicador da dimensão: no eixo horizontal, o valor; no vertical, quantos setores têm aquele valor. Os 0,5% maiores ficam de fora para a escala ser legível.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99466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3049524"/>
            <a:ext cx="2862072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Entre os indicadores de Saneamento, a maior assimetria é a de Banheiro de uso comum (28,32).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F02 · figuras/F02_histogramas_saneamento.png  ·  Bloco 3. Distribuições</a:t>
            </a:r>
            <a:endParaRPr lang="en-US" sz="9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0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Saneamento: Água inadequada tem mediana de 0,0078 no Nordeste e 0,0078 no Nordeste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pic>
        <p:nvPicPr>
          <p:cNvPr id="5" name="Image 0" descr="/Users/pedro/Documents/Iniciacao Cientifica/Projeto_IVS_Censo22/analises_exploratorias/A4_por_regiao/nordeste/figuras/F03_boxplots_regiao_saneament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243584"/>
            <a:ext cx="7452360" cy="416018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549640" y="1289304"/>
            <a:ext cx="2862072" cy="148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Uma caixa por região: a linha dentro é a mediana, a caixa vai do 1º ao 3º quartil e as hastes até 1,5 intervalo interquartil. Os pontos extremos não são desenhados (ver bloco 5).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99466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304952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primeiro indicador da dimensão (Água inadequada), a mediana regional vai de 0,0078 (Nordeste) a 0,0078 (Nordeste).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F03 · figuras/F03_boxplots_regiao_saneamento.png  ·  Bloco 3. Distribuições</a:t>
            </a:r>
            <a:endParaRPr lang="en-US" sz="9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Saneamento: as regiões têm formas diferentes de distribuição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pic>
        <p:nvPicPr>
          <p:cNvPr id="5" name="Image 0" descr="/Users/pedro/Documents/Iniciacao Cientifica/Projeto_IVS_Censo22/analises_exploratorias/A4_por_regiao/nordeste/figuras/F04_densidades_regiao_saneament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243584"/>
            <a:ext cx="7452360" cy="4177719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549640" y="1289304"/>
            <a:ext cx="2862072" cy="148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Uma curva por região em cada painel: a altura indica onde os setores daquela região se concentram. As áreas sob as curvas são iguais, para que regiões grandes e pequenas sejam comparáveis.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99466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3049524"/>
            <a:ext cx="2862072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 Água inadequada, a mediana regional vai de 0,0078 (Nordeste) a 0,0078 (Nordeste).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F04 · figuras/F04_densidades_regiao_saneamento.png  ·  Bloco 3. Distribuições</a:t>
            </a:r>
            <a:endParaRPr lang="en-US" sz="9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21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0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Socioeconômica: Renda média tem a distribuição mais assimétrica (assimetria 3,66)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pic>
        <p:nvPicPr>
          <p:cNvPr id="5" name="Image 0" descr="/Users/pedro/Documents/Iniciacao Cientifica/Projeto_IVS_Censo22/analises_exploratorias/A4_por_regiao/nordeste/figuras/F05_histogramas_socioeconomic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243584"/>
            <a:ext cx="7452360" cy="275013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549640" y="1289304"/>
            <a:ext cx="2862072" cy="148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 histograma por indicador da dimensão: no eixo horizontal, o valor; no vertical, quantos setores têm aquele valor. Os 0,5% maiores ficam de fora para a escala ser legível.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99466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3049524"/>
            <a:ext cx="2862072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Entre os indicadores de Socioeconômica, a maior assimetria é a de Renda média (3,66).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F05 · figuras/F05_histogramas_socioeconomica.png  ·  Bloco 3. Distribuições</a:t>
            </a:r>
            <a:endParaRPr lang="en-US" sz="9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22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182880"/>
            <a:ext cx="1063447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0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Socioeconômica: Razão de moradores tem mediana de 2,7834 no Nordeste e 2,7834 no Nordeste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pic>
        <p:nvPicPr>
          <p:cNvPr id="5" name="Image 0" descr="/Users/pedro/Documents/Iniciacao Cientifica/Projeto_IVS_Censo22/analises_exploratorias/A4_por_regiao/nordeste/figuras/F06_boxplots_regiao_socioeconomic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243584"/>
            <a:ext cx="7452360" cy="275013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549640" y="1289304"/>
            <a:ext cx="2862072" cy="148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Uma caixa por região: a linha dentro é a mediana, a caixa vai do 1º ao 3º quartil e as hastes até 1,5 intervalo interquartil. Os pontos extremos não são desenhados (ver bloco 5).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99466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304952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primeiro indicador da dimensão (Razão de moradores), a mediana regional vai de 2,7834 (Nordeste) a 2,7834 (Nordeste).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F06 · figuras/F06_boxplots_regiao_socioeconomica.png  ·  Bloco 3. Distribuições</a:t>
            </a:r>
            <a:endParaRPr lang="en-US" sz="9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23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Socioeconômica: as regiões têm formas diferentes de distribuição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pic>
        <p:nvPicPr>
          <p:cNvPr id="5" name="Image 0" descr="/Users/pedro/Documents/Iniciacao Cientifica/Projeto_IVS_Censo22/analises_exploratorias/A4_por_regiao/nordeste/figuras/F07_densidades_regiao_socioeconomic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243584"/>
            <a:ext cx="7452360" cy="275013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549640" y="1289304"/>
            <a:ext cx="2862072" cy="148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Uma curva por região em cada painel: a altura indica onde os setores daquela região se concentram. As áreas sob as curvas são iguais, para que regiões grandes e pequenas sejam comparáveis.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99466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3049524"/>
            <a:ext cx="2862072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 Razão de moradores, a mediana regional vai de 2,7834 (Nordeste) a 2,7834 (Nordeste).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F07 · figuras/F07_densidades_regiao_socioeconomica.png  ·  Bloco 3. Distribuições</a:t>
            </a:r>
            <a:endParaRPr lang="en-US" sz="9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24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182880"/>
            <a:ext cx="1063447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0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Morfologia: Domicílio improvisado tem a distribuição mais assimétrica (assimetria 36,97)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pic>
        <p:nvPicPr>
          <p:cNvPr id="5" name="Image 0" descr="/Users/pedro/Documents/Iniciacao Cientifica/Projeto_IVS_Censo22/analises_exploratorias/A4_por_regiao/nordeste/figuras/F08_histogramas_morfologi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243584"/>
            <a:ext cx="7452360" cy="274150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549640" y="1289304"/>
            <a:ext cx="2862072" cy="148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 histograma por indicador da dimensão: no eixo horizontal, o valor; no vertical, quantos setores têm aquele valor. Os 0,5% maiores ficam de fora para a escala ser legível.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99466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3049524"/>
            <a:ext cx="2862072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Entre os indicadores de Morfologia, a maior assimetria é a de Domicílio improvisado (36,97).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F08 · figuras/F08_histogramas_morfologia.png  ·  Bloco 3. Distribuições</a:t>
            </a:r>
            <a:endParaRPr lang="en-US" sz="9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182880"/>
            <a:ext cx="1063447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0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Morfologia: Domicílio improvisado tem mediana de 0,0000 no Nordeste e 0,0000 no Nordeste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pic>
        <p:nvPicPr>
          <p:cNvPr id="5" name="Image 0" descr="/Users/pedro/Documents/Iniciacao Cientifica/Projeto_IVS_Censo22/analises_exploratorias/A4_por_regiao/nordeste/figuras/F09_boxplots_regiao_morfologi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243584"/>
            <a:ext cx="7452360" cy="2748693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549640" y="1289304"/>
            <a:ext cx="2862072" cy="148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Uma caixa por região: a linha dentro é a mediana, a caixa vai do 1º ao 3º quartil e as hastes até 1,5 intervalo interquartil. Os pontos extremos não são desenhados (ver bloco 5).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99466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304952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primeiro indicador da dimensão (Domicílio improvisado), a mediana regional vai de 0,0000 (Nordeste) a 0,0000 (Nordeste).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F09 · figuras/F09_boxplots_regiao_morfologia.png  ·  Bloco 3. Distribuições</a:t>
            </a:r>
            <a:endParaRPr lang="en-US" sz="9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26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Morfologia: as regiões têm formas diferentes de distribuição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pic>
        <p:nvPicPr>
          <p:cNvPr id="5" name="Image 0" descr="/Users/pedro/Documents/Iniciacao Cientifica/Projeto_IVS_Censo22/analises_exploratorias/A4_por_regiao/nordeste/figuras/F10_densidades_regiao_morfologi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243584"/>
            <a:ext cx="7452360" cy="274437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549640" y="1289304"/>
            <a:ext cx="2862072" cy="148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Uma curva por região em cada painel: a altura indica onde os setores daquela região se concentram. As áreas sob as curvas são iguais, para que regiões grandes e pequenas sejam comparáveis.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99466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304952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 Domicílio improvisado, a mediana regional vai de 0,0000 (Nordeste) a 0,0000 (Nordeste).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F10 · figuras/F10_densidades_regiao_morfologia.png  ·  Bloco 3. Distribuições</a:t>
            </a:r>
            <a:endParaRPr lang="en-US" sz="9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27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182880"/>
            <a:ext cx="1063447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0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Demografia: Índice de envelhecimento tem a distribuição mais assimétrica (assimetria 8,03)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pic>
        <p:nvPicPr>
          <p:cNvPr id="5" name="Image 0" descr="/Users/pedro/Documents/Iniciacao Cientifica/Projeto_IVS_Censo22/analises_exploratorias/A4_por_regiao/nordeste/figuras/F11_histogramas_demografi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243584"/>
            <a:ext cx="7452360" cy="275404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549640" y="1289304"/>
            <a:ext cx="2862072" cy="148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 histograma por indicador da dimensão: no eixo horizontal, o valor; no vertical, quantos setores têm aquele valor. Os 0,5% maiores ficam de fora para a escala ser legível.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99466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3049524"/>
            <a:ext cx="2862072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Entre os indicadores de Demografia, a maior assimetria é a de Índice de envelhecimento (8,03).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F11 · figuras/F11_histogramas_demografia.png  ·  Bloco 3. Distribuições</a:t>
            </a:r>
            <a:endParaRPr lang="en-US" sz="9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28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0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Demografia: Crianças 0–4 tem mediana de 0,0558 no Nordeste e 0,0558 no Nordeste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pic>
        <p:nvPicPr>
          <p:cNvPr id="5" name="Image 0" descr="/Users/pedro/Documents/Iniciacao Cientifica/Projeto_IVS_Censo22/analises_exploratorias/A4_por_regiao/nordeste/figuras/F12_boxplots_regiao_demografi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243584"/>
            <a:ext cx="7452360" cy="275404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549640" y="1289304"/>
            <a:ext cx="2862072" cy="148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Uma caixa por região: a linha dentro é a mediana, a caixa vai do 1º ao 3º quartil e as hastes até 1,5 intervalo interquartil. Os pontos extremos não são desenhados (ver bloco 5).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99466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304952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primeiro indicador da dimensão (Crianças 0–4), a mediana regional vai de 0,0558 (Nordeste) a 0,0558 (Nordeste).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F12 · figuras/F12_boxplots_regiao_demografia.png  ·  Bloco 3. Distribuições</a:t>
            </a:r>
            <a:endParaRPr lang="en-US" sz="9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29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Demografia: as regiões têm formas diferentes de distribuição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pic>
        <p:nvPicPr>
          <p:cNvPr id="5" name="Image 0" descr="/Users/pedro/Documents/Iniciacao Cientifica/Projeto_IVS_Censo22/analises_exploratorias/A4_por_regiao/nordeste/figuras/F13_densidades_regiao_demografi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243584"/>
            <a:ext cx="7452360" cy="275549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549640" y="1289304"/>
            <a:ext cx="2862072" cy="148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Uma curva por região em cada painel: a altura indica onde os setores daquela região se concentram. As áreas sob as curvas são iguais, para que regiões grandes e pequenas sejam comparáveis.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99466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3049524"/>
            <a:ext cx="2862072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 Crianças 0–4, a mediana regional vai de 0,0558 (Nordeste) a 0,0558 (Nordeste).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F13 · figuras/F13_densidades_regiao_demografia.png  ·  Bloco 3. Distribuições</a:t>
            </a:r>
            <a:endParaRPr lang="en-US" sz="9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2331720"/>
            <a:ext cx="1097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1920240" y="2331720"/>
            <a:ext cx="94914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Faltantes e sigilo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777240" y="3273552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920240" y="3401568"/>
            <a:ext cx="90342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Onde faltam dados, e a falta é aleatória?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920240" y="4343400"/>
            <a:ext cx="9491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Neste bloco: T06 · F14 · T07 · F15</a:t>
            </a:r>
            <a:endParaRPr lang="en-US" sz="12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31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182880"/>
            <a:ext cx="1063447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0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maior percentual de faltantes é o de Só sanitário em São Raimundo do Doca Bezerra (66,7%)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3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726948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1051560"/>
                <a:gridCol w="1051560"/>
                <a:gridCol w="1051560"/>
                <a:gridCol w="1051560"/>
                <a:gridCol w="1051560"/>
              </a:tblGrid>
              <a:tr h="38582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Município (% sem valor)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Só sanitário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Banheiro graduado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Sem banheiro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Sem banheiro nem sanitário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só no terreno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São Raimundo do Doca Bezerra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66,7%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66,7%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Rosário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30,6%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58,3%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11,1%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27,8%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11,1%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Groaíras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28,6%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64,3%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42,9%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21,4%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28,6%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Itajuípe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24,1%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44,8%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34,5%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27,6%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34,5%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Jaqueira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22,2%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33,3%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11,1%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22,2%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11,1%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São Luís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20,3%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43,8%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21,9%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14,3%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17,9%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Marechal Deodoro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19,3%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45,5%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28,4%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10,2%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20,5%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São José de Ribamar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16,4%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37,8%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20,3%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12,8%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24,7%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Arara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15,8%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36,8%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36,8%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10,5%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42,1%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Preta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15,6%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43,8%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40,6%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9,4%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34,4%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Camaragibe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13,2%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27,9%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22,1%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21,3%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Teresina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13,2%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31,2%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23,7%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9,3%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21,9%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Itapetinga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12,5%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24,0%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22,1%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2,9%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20,2%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Feira de Santana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11,2%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26,3%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20,2%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5,6%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25,8%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Recife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8,1%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26,4%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21,0%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6,7%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22,9%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Fortaleza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21,5%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18,6%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24,9%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777240" y="5644642"/>
            <a:ext cx="7452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Recorte da tabela para o slide; a tabela completa está no CSV indicado no rodapé.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8549640" y="128930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Uma linha por município e uma coluna por indicador; cada célula é o percentual de setores do município sem aquele indicador.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8549640" y="257556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549640" y="263042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célula mais alta é Só sanitário em São Raimundo do Doca Bezerra, com 66,7% dos setores sem valor.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T06 · tabelas/T06_faltantes_por_municipio.csv  ·  Bloco 4. Faltantes e sigilo</a:t>
            </a:r>
            <a:endParaRPr lang="en-US" sz="95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32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Os faltantes se concentram em poucos indicadores e municípios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pic>
        <p:nvPicPr>
          <p:cNvPr id="5" name="Image 0" descr="/Users/pedro/Documents/Iniciacao Cientifica/Projeto_IVS_Censo22/analises_exploratorias/A4_por_regiao/nordeste/figuras/F14_mapa_faltant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99870" y="1243584"/>
            <a:ext cx="4407101" cy="479145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549640" y="128930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Mapa de calor: linhas são municípios, colunas são indicadores; quanto mais escura a célula, maior o percentual de setores sem valor.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57556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2630424"/>
            <a:ext cx="2862072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ponto mais escuro é Só sanitário em São Raimundo do Doca Bezerra (66,7%).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F14 · figuras/F14_mapa_faltantes.png  ·  Bloco 4. Faltantes e sigilo</a:t>
            </a:r>
            <a:endParaRPr lang="en-US" sz="95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33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0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analfabetismo falta em 16,2% dos menores setores e em 2,5% dos maiores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3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6217920" cy="914400"/>
        </p:xfrm>
        <a:graphic>
          <a:graphicData uri="http://schemas.openxmlformats.org/drawingml/2006/table">
            <a:tbl>
              <a:tblPr/>
              <a:tblGrid>
                <a:gridCol w="731520"/>
                <a:gridCol w="1097280"/>
                <a:gridCol w="1097280"/>
                <a:gridCol w="1097280"/>
                <a:gridCol w="1280160"/>
                <a:gridCol w="914400"/>
              </a:tblGrid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Décimo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Moradores (mín.)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Moradores (máx.)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% sem renda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% sem analfabetismo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% em FCU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235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16,2%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43,0%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236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343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14,1%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35,5%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343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424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12,7%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33,2%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424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490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10,5%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28,1%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490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554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8,4%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25,6%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554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618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6,6%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27,2%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618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690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5,9%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26,1%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690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780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26,5%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780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909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2,8%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24,0%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909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3.956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2,5%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22,4%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549640" y="1289304"/>
            <a:ext cx="2862072" cy="148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Os setores são divididos em dez grupos iguais pelo número de moradores (1 = os menores). Para cada grupo, o percentual de setores sem renda e sem analfabetismo, e o percentual em FCU.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99466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3049524"/>
            <a:ext cx="2862072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Sem renda: 0,1% no primeiro décimo e 0,0% no último. Sem analfabetismo: 16,2% e 2,5%.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T07 · tabelas/T07_sigilo_por_porte_do_setor.csv  ·  Bloco 4. Faltantes e sigilo</a:t>
            </a:r>
            <a:endParaRPr lang="en-US" sz="95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34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falta de dados depende do tamanho do setor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pic>
        <p:nvPicPr>
          <p:cNvPr id="5" name="Image 0" descr="/Users/pedro/Documents/Iniciacao Cientifica/Projeto_IVS_Censo22/analises_exploratorias/A4_por_regiao/nordeste/figuras/F15_sigilo_por_porte_do_seto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243584"/>
            <a:ext cx="7452360" cy="401393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549640" y="128930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Eixo horizontal: décimo de moradores do setor (1 = menores). Eixo vertical: percentual de setores sem o indicador.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57556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2630424"/>
            <a:ext cx="2862072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Renda: de 0,1% a 0,0%; analfabetismo: de 16,2% a 2,5%, do menor ao maior décimo.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F15 · figuras/F15_sigilo_por_porte_do_setor.png  ·  Bloco 4. Faltantes e sigilo</a:t>
            </a:r>
            <a:endParaRPr lang="en-US" sz="95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35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2331720"/>
            <a:ext cx="1097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1920240" y="2331720"/>
            <a:ext cx="94914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Extremos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777240" y="3273552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920240" y="3401568"/>
            <a:ext cx="90342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 setores têm valores fora do comum, e por qual critério?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920240" y="4343400"/>
            <a:ext cx="9491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Neste bloco: T08 · T09 · T10 · T11 · F16</a:t>
            </a:r>
            <a:endParaRPr lang="en-US" sz="12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36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Água inadequada tem a maior proporção de extremos (9,9%)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3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736092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2377440"/>
                <a:gridCol w="914400"/>
                <a:gridCol w="777240"/>
                <a:gridCol w="822960"/>
                <a:gridCol w="731520"/>
              </a:tblGrid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Indicador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Critério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Limite sup.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Extremos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% extremos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% zeros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inadequada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Tukey k=3 (intervalo interquartil)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0,4232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1.921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9,9%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49,8%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1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Esgoto inadequado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inflação de zeros: Tukey k=3 só entre os valores acima de zero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2,5717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53,3%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1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Lixo inadequado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inflação de zeros: Tukey k=3 só entre os valores acima de zero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2,4648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55,2%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Sem água canalizada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Tukey k=3 (intervalo interquartil)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0,0606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1.623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8,3%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47,7%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1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não chega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inflação de zeros: Tukey k=3 só entre os valores acima de zero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0,1610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133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87,5%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1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só no terreno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inflação de zeros: Tukey k=3 só entre os valores acima de zero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0,2597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216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1,4%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75,5%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1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Sem banheiro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inflação de zeros: Tukey k=3 só entre os valores acima de zero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0,1923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89,2%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1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Sem banheiro nem sanitário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inflação de zeros: Tukey k=3 só entre os valores acima de zero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0,1414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98,9%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1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Só sanitário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inflação de zeros: Tukey k=3 só entre os valores acima de zero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0,2330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96,1%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549640" y="128930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Uma linha por indicador: o critério usado, os limites, quantos setores passam deles e o percentual de zeros.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57556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263042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maior percentual de extremos é o de Água inadequada (9,9%), pelo critério “Tukey k=3 (intervalo interquartil)”.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T08 · tabelas/T08_extremos_por_indicador.csv  ·  Bloco 5. Extremos  ·  parte 1 de 3</a:t>
            </a:r>
            <a:endParaRPr lang="en-US" sz="95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37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Água inadequada tem a maior proporção de extremos (9,9%)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3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736092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2377440"/>
                <a:gridCol w="914400"/>
                <a:gridCol w="777240"/>
                <a:gridCol w="822960"/>
                <a:gridCol w="731520"/>
              </a:tblGrid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Indicador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Critério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Limite sup.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Extremos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% extremos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% zeros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1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Banheiro de uso comum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inflação de zeros: Tukey k=3 só entre os valores acima de zero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0,1107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95,0%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1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Banheiro graduado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inflação de zeros: Tukey k=3 só entre os valores acima de zero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0,1212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95,7%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Razão de moradores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Tukey k=3 (intervalo interquartil)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4,1948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Analfabetismo 15+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Tukey k=3 (intervalo interquartil)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0,2804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3,3%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1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média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renda: Tukey k=3 no município + coerência do perfil do setor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—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1.239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6,4%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Cor/raça PPI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Tukey k=3 (intervalo interquartil)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1,3871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Responsável mulher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Tukey k=3 (intervalo interquartil)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0,9464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sem o extremo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Tukey k=3 (intervalo interquartil)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8.180,09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1.495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7,7%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(mediana mun.)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Tukey k=3 (intervalo interquartil)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8.180,09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1.495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7,7%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1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Domicílio improvisado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inflação de zeros: Tukey k=3 só entre os valores acima de zero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0,2233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99,0%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549640" y="128930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Uma linha por indicador: o critério usado, os limites, quantos setores passam deles e o percentual de zeros.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57556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263042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maior percentual de extremos é o de Água inadequada (9,9%), pelo critério “Tukey k=3 (intervalo interquartil)”.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T08 · tabelas/T08_extremos_por_indicador.csv  ·  Bloco 5. Extremos  ·  parte 2 de 3</a:t>
            </a:r>
            <a:endParaRPr lang="en-US" sz="95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38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Água inadequada tem a maior proporção de extremos (9,9%)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3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736092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2377440"/>
                <a:gridCol w="914400"/>
                <a:gridCol w="777240"/>
                <a:gridCol w="822960"/>
                <a:gridCol w="731520"/>
              </a:tblGrid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Indicador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Critério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Limite sup.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Extremos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% extremos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% zeros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1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Habitação precária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inflação de zeros: Tukey k=3 só entre os valores acima de zero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0,2399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93,1%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Moradia convencional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Tukey k=3 (intervalo interquartil)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1,0155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1.274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6,5%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1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Moradia não convencional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inflação de zeros: Tukey k=3 só entre os valores acima de zero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0,2332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93,7%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Apartamento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Tukey k=3 (intervalo interquartil)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1,3871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46,0%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Casa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Tukey k=3 (intervalo interquartil)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2,0059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5,6%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1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Casa de vila/condomínio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inflação de zeros: Tukey k=3 só entre os valores acima de zero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0,5183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386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2,3%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62,8%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Crianças 0–4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Tukey k=3 (intervalo interquartil)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0,1560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População 0–14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Tukey k=3 (intervalo interquartil)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0,4313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Pessoas 60+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Tukey k=3 (intervalo interquartil)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0,4856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Índice de envelhecimento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Tukey k=3 (intervalo interquartil)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385,3396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397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2,1%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Dependência idosa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Tukey k=3 (intervalo interquartil)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76,9492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70+ entre 60+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Tukey k=3 (intervalo interquartil)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87,5242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549640" y="128930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Uma linha por indicador: o critério usado, os limites, quantos setores passam deles e o percentual de zeros.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57556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263042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maior percentual de extremos é o de Água inadequada (9,9%), pelo critério “Tukey k=3 (intervalo interquartil)”.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T08 · tabelas/T08_extremos_por_indicador.csv  ·  Bloco 5. Extremos  ·  parte 3 de 3</a:t>
            </a:r>
            <a:endParaRPr lang="en-US" sz="95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39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Recife concentra o maior número de marcações de extremo (2.081)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4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722376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822960"/>
                <a:gridCol w="1097280"/>
                <a:gridCol w="1097280"/>
                <a:gridCol w="1097280"/>
                <a:gridCol w="1097280"/>
              </a:tblGrid>
              <a:tr h="38582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Município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Total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inadequada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Sem água canalizada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Moradia convencional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sem o extremo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Recife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2.081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340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414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202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389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São Luís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2.047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586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476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420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Salvador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1.819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171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386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Fortaleza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1.686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151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178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225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279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Maceió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1.011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476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Teresina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481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São José de Ribamar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458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147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129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Natal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387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116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Feira de Santana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352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Camaragibe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240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Rosário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Arara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Itapetinga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Marechal Deodoro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Limoeiro do Norte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Jaqueira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777240" y="5644642"/>
            <a:ext cx="7452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Recorte da tabela para o slide; a tabela completa está no CSV indicado no rodapé.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8549640" y="128930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Uma linha por município e uma coluna por indicador, com o número de setores marcados; a coluna total soma todas as marcações.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8549640" y="257556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549640" y="2630424"/>
            <a:ext cx="2862072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município com mais marcações é Recife, com 2.081 no total.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T09 · tabelas/T09_extremos_por_municipio.csv  ·  Bloco 5. Extremos</a:t>
            </a:r>
            <a:endParaRPr lang="en-US" sz="95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40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Os setores mais distantes da mediana, indicador por indicador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4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694944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1645920"/>
                <a:gridCol w="1554480"/>
                <a:gridCol w="914400"/>
                <a:gridCol w="1005840"/>
              </a:tblGrid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Indicador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Município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Valor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Mediana global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inadequada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São José de Ribamar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211120105000200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0,0078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Sem água canalizada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Salvador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292740805260240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0,0032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não chega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Salvador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292740805220800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0,9650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só no terreno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Salvador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292740805260240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0,9565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Sem banheiro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Recife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261160605230797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0,9627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Sem banheiro nem sanitário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Recife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261160605190415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0,4138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Só sanitário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Rosário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210960105000080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0,5268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Banheiro de uso comum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Recife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261160605230797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0,9565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Banheiro graduado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São Luís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211130005001435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Razão de moradores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Maceió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270430205090184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4,7333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2,7834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Analfabetismo 15+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Salvador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292740805180776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0,7255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0,0516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média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Recife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261160605200257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67.237,29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1.719,20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Cor/raça PPI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Natal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240810205080034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0,7341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Responsável mulher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Natal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240810205070035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0,5577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549640" y="1289304"/>
            <a:ext cx="2862072" cy="1276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Até dez setores por indicador, os mais distantes da mediana entre os marcados como extremo: código do setor, município, valor e mediana global.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78511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2839974"/>
            <a:ext cx="2862072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topo da lista de Renda média está um setor de Recife, com valor 67.237,29.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T10 · tabelas/T10_extremos_lista.csv  ·  Bloco 5. Extremos  ·  parte 1 de 2</a:t>
            </a:r>
            <a:endParaRPr lang="en-US" sz="95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41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Os setores mais distantes da mediana, indicador por indicador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4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694944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1645920"/>
                <a:gridCol w="1554480"/>
                <a:gridCol w="914400"/>
                <a:gridCol w="1005840"/>
              </a:tblGrid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Indicador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Município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Valor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Mediana global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sem o extremo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Recife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261160605200257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67.237,29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1.719,20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(mediana mun.)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Recife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261160605200257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67.237,29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1.719,20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Domicílio improvisado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Salvador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292740805230243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0,8134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Habitação precária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Salvador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292740805230243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0,8134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Moradia convencional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Recife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261160605230711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0,2649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Moradia não convencional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Recife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261160605230711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0,7351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Casa de vila/condomínio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São José de Ribamar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211120105000093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Crianças 0–4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Teresina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221100105080289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0,3333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0,0558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População 0–14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Teresina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221100105080289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0,4762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0,1825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Pessoas 60+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Fortaleza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230440005140173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0,8120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0,1435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Índice de envelhecimento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Fortaleza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230440005140173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4.750,0000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77,7778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Dependência idosa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Fortaleza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230440005140173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527,7778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21,5026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70+ entre 60+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São José de Ribamar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211120110000385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41,8440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777240" y="4758309"/>
            <a:ext cx="7452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Recorte da tabela para o slide; a tabela completa está no CSV indicado no rodapé.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8549640" y="1289304"/>
            <a:ext cx="2862072" cy="1276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Até dez setores por indicador, os mais distantes da mediana entre os marcados como extremo: código do setor, município, valor e mediana global.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8549640" y="278511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549640" y="2839974"/>
            <a:ext cx="2862072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topo da lista de Renda média está um setor de Recife, com valor 67.237,29.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T10 · tabelas/T10_extremos_lista.csv  ·  Bloco 5. Extremos  ·  parte 2 de 2</a:t>
            </a:r>
            <a:endParaRPr lang="en-US" sz="95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42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 setores têm renda suspeita e 1.226 têm renda extrema coerente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4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402336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1188720"/>
                <a:gridCol w="1005840"/>
              </a:tblGrid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Classe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%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NORMAL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18.257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93,64%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EXTREMO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1.226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6,29%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SUSPEITO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0,07%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549640" y="1289304"/>
            <a:ext cx="2862072" cy="1276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Cada setor com renda recebe uma classe: NORMAL, EXTREMO (acima do limite do município, mas coerente com o perfil) ou SUSPEITO (acima do limite e incoerente).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78511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2839974"/>
            <a:ext cx="2862072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São 13 setores SUSPEITO (0,07%) e 1.226 EXTREMO.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T11 · tabelas/T11_renda_classes.csv  ·  Bloco 5. Extremos</a:t>
            </a:r>
            <a:endParaRPr lang="en-US" sz="95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43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proporção de extremos varia muito de um indicador para outro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pic>
        <p:nvPicPr>
          <p:cNvPr id="5" name="Image 0" descr="/Users/pedro/Documents/Iniciacao Cientifica/Projeto_IVS_Censo22/analises_exploratorias/A4_por_regiao/nordeste/figuras/F16_extremos_por_indicado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91800" y="1243584"/>
            <a:ext cx="4823240" cy="479145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549640" y="1289304"/>
            <a:ext cx="2862072" cy="1276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Uma barra por indicador, com o percentual de setores marcados; a cor indica o critério (petróleo: Tukey; cinza: inflação de zeros; argila: renda).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78511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2839974"/>
            <a:ext cx="2862072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barra mais longa é a de Água inadequada (9,9%).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F16 · figuras/F16_extremos_por_indicador.png  ·  Bloco 5. Extremos</a:t>
            </a:r>
            <a:endParaRPr lang="en-US" sz="95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44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2331720"/>
            <a:ext cx="1097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1920240" y="2331720"/>
            <a:ext cx="94914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Correlações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777240" y="3273552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920240" y="3401568"/>
            <a:ext cx="90342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 indicadores andam juntos?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920240" y="4343400"/>
            <a:ext cx="9491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Neste bloco: T12 · T13 · T14 · F17 · F18</a:t>
            </a:r>
            <a:endParaRPr lang="en-US" sz="12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45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0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Renda média e Renda sem o extremo formam o par mais correlacionado (ρ = 1,0000)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4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7187184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804672"/>
                <a:gridCol w="804672"/>
                <a:gridCol w="804672"/>
                <a:gridCol w="804672"/>
                <a:gridCol w="804672"/>
                <a:gridCol w="804672"/>
                <a:gridCol w="804672"/>
              </a:tblGrid>
              <a:tr h="38582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Componentes do índice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inadequada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Esgoto inadequado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Razão de moradores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Analfabetismo 15+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média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Cor/raça PPI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Banheiro graduado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inadequada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-0,21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Esgoto inadequado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-0,35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Banheiro graduado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-0,18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Razão de moradores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-0,26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Analfabetismo 15+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-0,71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média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-0,35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-0,26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-0,71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-0,67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-0,18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Cor/raça PPI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-0,21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-0,67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777240" y="3427222"/>
            <a:ext cx="7452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Recorte da tabela para o slide; a tabela completa está no CSV indicado no rodapé.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8549640" y="128930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Matriz de correlação de Spearman: cada célula é a correlação entre o indicador da linha e o da coluna, de −1 a 1.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8549640" y="257556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549640" y="2630424"/>
            <a:ext cx="2862072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maior correlação em módulo é entre Renda média e Renda sem o extremo (ρ = 1,0000).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T12 · tabelas/T12_correlacao_spearman.csv  ·  Bloco 6. Correlações</a:t>
            </a:r>
            <a:endParaRPr lang="en-US" sz="95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46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182880"/>
            <a:ext cx="1063447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0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 correlação linear, o par mais forte é Renda média × Renda sem o extremo (r = 1,0000)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4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7187184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804672"/>
                <a:gridCol w="804672"/>
                <a:gridCol w="804672"/>
                <a:gridCol w="804672"/>
                <a:gridCol w="804672"/>
                <a:gridCol w="804672"/>
                <a:gridCol w="804672"/>
              </a:tblGrid>
              <a:tr h="38582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Componentes do índice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inadequada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Esgoto inadequado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Razão de moradores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Analfabetismo 15+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média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Cor/raça PPI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Banheiro graduado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inadequada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-0,11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Esgoto inadequado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-0,22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Banheiro graduado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Razão de moradores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-0,20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Analfabetismo 15+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-0,42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média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-0,22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-0,20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-0,42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-0,73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Cor/raça PPI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-0,11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-0,73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777240" y="3427222"/>
            <a:ext cx="7452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Recorte da tabela para o slide; a tabela completa está no CSV indicado no rodapé.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8549640" y="1289304"/>
            <a:ext cx="2862072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Matriz de correlação de Pearson, com a mesma leitura da de Spearman.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8549640" y="236601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549640" y="242087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maior correlação de Pearson em módulo é entre Renda média e Renda sem o extremo (r = 1,0000).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T13 · tabelas/T13_correlacao_pearson.csv  ·  Bloco 6. Correlações</a:t>
            </a:r>
            <a:endParaRPr lang="en-US" sz="95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47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0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par mais redundante é Renda sem o extremo × Renda (mediana mun.) (ρ = 1,0000)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4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694944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2377440"/>
                <a:gridCol w="1097280"/>
                <a:gridCol w="1097280"/>
              </a:tblGrid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Indicador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Indicador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Spearman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Pearson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sem o extremo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(mediana mun.)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média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(mediana mun.)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média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sem o extremo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Sem banheiro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Banheiro graduado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0,9729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Pessoas 60+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Dependência idosa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0,9958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0,9652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Pessoas 60+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Índice de envelhecimento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0,9718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0,8219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Habitação precária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Moradia não convencional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0,9509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0,8696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Índice de envelhecimento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Dependência idosa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0,9493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0,8536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População 0–14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Índice de envelhecimento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-0,9088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-0,7268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Sem banheiro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Banheiro de uso comum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0,8634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0,7506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549640" y="128930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Os pares de indicadores com correlação de pelo menos 0,80 em módulo, por Spearman ou por Pearson, do mais forte para o mais fraco.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57556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2630424"/>
            <a:ext cx="2862072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topo: Renda sem o extremo × Renda (mediana mun.), com Spearman 1,0000 e Pearson 1,0000.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T14 · tabelas/T14_pares_acima_de_080.csv  ·  Bloco 6. Correlações  ·  parte 1 de 2</a:t>
            </a:r>
            <a:endParaRPr lang="en-US" sz="95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48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0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par mais redundante é Renda sem o extremo × Renda (mediana mun.) (ρ = 1,0000)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4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694944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2377440"/>
                <a:gridCol w="1097280"/>
                <a:gridCol w="1097280"/>
              </a:tblGrid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Indicador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Indicador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Spearman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Pearson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Crianças 0–4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População 0–14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0,8547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0,8486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Banheiro de uso comum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Banheiro graduado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0,8537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0,5903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Apartamento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Casa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-0,8476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-0,9401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Sem água canalizada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só no terreno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0,8354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0,9122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Crianças 0–4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Índice de envelhecimento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-0,8189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-0,6618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Sem banheiro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Só sanitário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0,7755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0,8687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Só sanitário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Banheiro graduado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0,7051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0,8695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Moradia convencional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Moradia não convencional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-0,4783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-0,9322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Habitação precária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Moradia convencional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-0,4574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-0,8113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549640" y="128930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Os pares de indicadores com correlação de pelo menos 0,80 em módulo, por Spearman ou por Pearson, do mais forte para o mais fraco.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57556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2630424"/>
            <a:ext cx="2862072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topo: Renda sem o extremo × Renda (mediana mun.), com Spearman 1,0000 e Pearson 1,0000.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T14 · tabelas/T14_pares_acima_de_080.csv  ·  Bloco 6. Correlações  ·  parte 2 de 2</a:t>
            </a:r>
            <a:endParaRPr lang="en-US" sz="95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49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Os indicadores formam grupos de correlação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pic>
        <p:nvPicPr>
          <p:cNvPr id="5" name="Image 0" descr="/Users/pedro/Documents/Iniciacao Cientifica/Projeto_IVS_Censo22/analises_exploratorias/A4_por_regiao/nordeste/figuras/F17_mapa_spearma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20757" y="1243584"/>
            <a:ext cx="5965326" cy="479145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549640" y="1289304"/>
            <a:ext cx="2862072" cy="1276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Mapa de calor da correlação de Spearman, com os indicadores reordenados pelo agrupamento do dendrograma; argila é correlação positiva, petróleo negativa.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78511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2839974"/>
            <a:ext cx="2862072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par mais forte é Renda média × Renda sem o extremo (ρ = 1,0000).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F17 · figuras/F17_mapa_spearman.png  ·  Bloco 6. Correlações</a:t>
            </a:r>
            <a:endParaRPr lang="en-US" sz="95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50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dendrograma junta os indicadores que medem coisas parecidas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pic>
        <p:nvPicPr>
          <p:cNvPr id="5" name="Image 0" descr="/Users/pedro/Documents/Iniciacao Cientifica/Projeto_IVS_Censo22/analises_exploratorias/A4_por_regiao/nordeste/figuras/F18_dendrogram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29445" y="1243584"/>
            <a:ext cx="4547950" cy="479145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549640" y="1289304"/>
            <a:ext cx="2862072" cy="1276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Cada indicador é uma folha à esquerda; as linhas os unem do mais parecido para o menos. Quanto mais à esquerda a união, mais correlacionados os indicadores.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78511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2839974"/>
            <a:ext cx="2862072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par mais próximo é Renda média × Renda sem o extremo (ρ = 1,0000).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F18 · figuras/F18_dendrograma.png  ·  Bloco 6. Correlações</a:t>
            </a:r>
            <a:endParaRPr lang="en-US" sz="95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51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2331720"/>
            <a:ext cx="1097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1920240" y="2331720"/>
            <a:ext cx="94914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Favelas e comunidades urbanas (FCU)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777240" y="3273552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920240" y="3401568"/>
            <a:ext cx="90342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Cada indicador, sozinho, separa os setores de favela dos demais?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920240" y="4343400"/>
            <a:ext cx="9491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Neste bloco: T15 · F19</a:t>
            </a:r>
            <a:endParaRPr lang="en-US" sz="120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52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Cor/raça PPI é o indicador que mais separa as favelas (AUC 0,7704)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5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685800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1051560"/>
                <a:gridCol w="1051560"/>
                <a:gridCol w="1005840"/>
                <a:gridCol w="822960"/>
                <a:gridCol w="914400"/>
              </a:tblGrid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Indicador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Mediana FCU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Mediana fora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Diferença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AUC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FCU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Cor/raça PPI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0,8055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0,6939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0,1116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0,7704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5.686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Casa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0,9884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0,8741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0,1142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0,7329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5.680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População 0–14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0,2096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0,1694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0,0402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0,7277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5.683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Analfabetismo 15+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0,0773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0,0402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0,0372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0,7215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5.624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Crianças 0–4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0,0651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0,0513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0,0137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0,6867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5.644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Sem água canalizada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0,0083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0,0083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0,6301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5.686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Lixo inadequado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0,0427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0,0427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0,6272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5.686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Responsável mulher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0,5812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0,5482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0,0330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0,6096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5.684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Esgoto inadequado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0,0349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0,0349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0,6022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5.686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só no terreno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0,6007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4.244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Sem banheiro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0,5692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4.219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Razão de moradores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2,8196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2,7719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0,0477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0,5586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5.686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não chega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0,5473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4.266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Banheiro de uso comum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0,5297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4.480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Banheiro graduado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0,5270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3.640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Só sanitário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0,5265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4.918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549640" y="128930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Uma linha por indicador: setores de FCU e fora, a mediana em cada grupo, a diferença e a AUC do indicador sozinho.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57556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263042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Cor/raça PPI tem AUC 0,7704 (mediana 0,8055 em FCU e 0,6939 fora); a menor AUC é a de Renda (mediana mun.) (0,1566).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T15 · tabelas/T15_fcu_por_indicador.csv  ·  Bloco 7. Favelas e comunidades urbanas (FCU)  ·  parte 1 de 2</a:t>
            </a:r>
            <a:endParaRPr lang="en-US" sz="95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53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Cor/raça PPI é o indicador que mais separa as favelas (AUC 0,7704)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5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685800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1051560"/>
                <a:gridCol w="1051560"/>
                <a:gridCol w="1005840"/>
                <a:gridCol w="822960"/>
                <a:gridCol w="914400"/>
              </a:tblGrid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Indicador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Mediana FCU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Mediana fora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Diferença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AUC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FCU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Habitação precária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0,5104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5.686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Moradia não convencional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0,5087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5.686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Sem banheiro nem sanitário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0,5067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5.067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Domicílio improvisado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0,5029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5.343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Moradia convencional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0,4818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5.686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inadequada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0,0132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-0,0132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0,4533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5.686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Casa de vila/condomínio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0,4515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4.885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70+ entre 60+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38,4615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43,2624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-4,8009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0,3600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5.531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Dependência idosa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16,9930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24,4493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-7,4564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0,2996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5.666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Pessoas 60+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0,1144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0,1622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-0,0478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0,2925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5.666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Índice de envelhecimento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54,3046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95,1049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-40,8003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0,2800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5.659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Apartamento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0,0663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-0,0663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0,2546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4.963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média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1.317,43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2.215,65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-898,23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0,1566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5.686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sem o extremo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1.317,43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2.215,65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-898,23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0,1566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5.686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(mediana mun.)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1.317,43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2.215,65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-898,23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0,1566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5.686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549640" y="128930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Uma linha por indicador: setores de FCU e fora, a mediana em cada grupo, a diferença e a AUC do indicador sozinho.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57556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263042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Cor/raça PPI tem AUC 0,7704 (mediana 0,8055 em FCU e 0,6939 fora); a menor AUC é a de Renda (mediana mun.) (0,1566).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T15 · tabelas/T15_fcu_por_indicador.csv  ·  Bloco 7. Favelas e comunidades urbanas (FCU)  ·  parte 2 de 2</a:t>
            </a:r>
            <a:endParaRPr lang="en-US" sz="95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54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Os indicadores separam as favelas com força muito diferente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pic>
        <p:nvPicPr>
          <p:cNvPr id="5" name="Image 0" descr="/Users/pedro/Documents/Iniciacao Cientifica/Projeto_IVS_Censo22/analises_exploratorias/A4_por_regiao/nordeste/figuras/F19_fcu_por_indicado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14498" y="1243584"/>
            <a:ext cx="5777844" cy="479145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549640" y="1289304"/>
            <a:ext cx="2862072" cy="1276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À esquerda, a AUC de cada indicador (barras a partir de 0,5; argila acima, petróleo abaixo). À direita, as medianas em FCU e fora, para os indicadores em proporção.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78511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2839974"/>
            <a:ext cx="2862072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maior AUC é a de Cor/raça PPI (0,7704); a menor, a de Renda (mediana mun.) (0,1566).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F19 · figuras/F19_fcu_por_indicador.png  ·  Bloco 7. Favelas e comunidades urbanas (FCU)</a:t>
            </a:r>
            <a:endParaRPr lang="en-US" sz="95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55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2331720"/>
            <a:ext cx="1097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1920240" y="2331720"/>
            <a:ext cx="94914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Envelhecimento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777240" y="3273552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920240" y="3401568"/>
            <a:ext cx="90342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a população idosa se distribui, e com que indicadores ela se relaciona?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920240" y="4343400"/>
            <a:ext cx="9491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Neste bloco: T16 · F20 · T17 · T18 · F21</a:t>
            </a:r>
            <a:endParaRPr lang="en-US" sz="1200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56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faixa de 30–39 anos concentra a maior parte da população (16,2%)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5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3200400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960120"/>
                <a:gridCol w="960120"/>
              </a:tblGrid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Faixa etária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Total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Nordeste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0–4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5,8%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5,8%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5–9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6,4%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6,4%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10–14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6,4%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6,4%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15–19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6,8%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6,8%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20–24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7,8%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7,8%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25–29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7,8%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7,8%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30–39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16,2%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16,2%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40–49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15,3%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15,3%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50–59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12,3%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12,3%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60–69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8,5%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8,5%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70+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6,6%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6,6%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549640" y="128930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Uma linha por faixa etária; as colunas são o total e as regiões, com o percentual da população de cada uma em cada faixa.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57556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2630424"/>
            <a:ext cx="2862072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Pessoas de 70 anos ou mais são 6,6% do total, chegando a 6,6% no Nordeste.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T16 · tabelas/T16_estrutura_etaria.csv  ·  Bloco 8. Envelhecimento</a:t>
            </a:r>
            <a:endParaRPr lang="en-US" sz="950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57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estrutura etária muda de região para região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pic>
        <p:nvPicPr>
          <p:cNvPr id="5" name="Image 0" descr="/Users/pedro/Documents/Iniciacao Cientifica/Projeto_IVS_Censo22/analises_exploratorias/A4_por_regiao/nordeste/figuras/F20_piramide_etari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243584"/>
            <a:ext cx="7452360" cy="4704523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549640" y="128930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Barras: percentual da população total em cada faixa etária. Pontos: o mesmo percentual em cada região.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57556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2630424"/>
            <a:ext cx="2862072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70+: 6,6% no total e 6,6% no Nordeste.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F20 · figuras/F20_piramide_etaria.png  ·  Bloco 8. Envelhecimento</a:t>
            </a:r>
            <a:endParaRPr lang="en-US" sz="950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58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0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mediana de pessoas 60+ por setor vai de 0,1435 (Nordeste) a 0,1435 (Nordeste)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5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6949440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2103120"/>
                <a:gridCol w="822960"/>
                <a:gridCol w="914400"/>
                <a:gridCol w="914400"/>
                <a:gridCol w="914400"/>
              </a:tblGrid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Escopo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Indicador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P25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Mediana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P75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Total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Pessoas 60+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19.443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0,1006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0,1435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0,1968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Total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Índice de envelhecimento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19.362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46,5535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77,7778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131,2500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Total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Dependência idosa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19.441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14,7874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21,5026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30,3279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Total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70+ entre 60+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19.113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35,2941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41,8440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48,3516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Nordeste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Pessoas 60+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19.443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0,1006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0,1435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0,1968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Nordeste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Índice de envelhecimento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19.362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46,5535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77,7778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131,2500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Nordeste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Dependência idosa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19.441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14,7874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21,5026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30,3279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Nordeste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70+ entre 60+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19.113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35,2941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41,8440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48,3516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549640" y="128930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Os quatro indicadores de envelhecimento, para o total e por região: n, média, mediana, quartis e as demais descritivas.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57556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263042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Pessoas 60+: mediana de 0,1435 no Nordeste e 0,1435 no Nordeste. Índice de envelhecimento, mediana do total: 77,7778.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T17 · tabelas/T17_envelhecimento_por_regiao.csv  ·  Bloco 8. Envelhecimento</a:t>
            </a:r>
            <a:endParaRPr lang="en-US" sz="950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59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0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percentual de pessoas 60+ se relaciona mais com População 0–14 (ρ = -0,7989)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6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694944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1188720"/>
                <a:gridCol w="1188720"/>
                <a:gridCol w="1188720"/>
                <a:gridCol w="1188720"/>
              </a:tblGrid>
              <a:tr h="38582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Indicador (ρ de Spearman)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Pessoas 60+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Índice de envelhecimento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Dependência idosa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70+ entre 60+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inadequada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-0,0895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-0,1015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-0,0841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0,0223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Esgoto inadequado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-0,3053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-0,3443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-0,2878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-0,1521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Lixo inadequado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-0,1875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-0,1735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-0,1899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-0,1777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Sem água canalizada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-0,2059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-0,2473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-0,1886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-0,0765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não chega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-0,1487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-0,1803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-0,1349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-0,0353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só no terreno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-0,2266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-0,2648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-0,2101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-0,1060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Sem banheiro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-0,2189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-0,2509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-0,2037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-0,0717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Sem banheiro nem sanitário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-0,1042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-0,1161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-0,0980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-0,0359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Só sanitário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-0,1564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-0,1760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-0,1467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-0,0555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Banheiro de uso comum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-0,1398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-0,1619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-0,1292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-0,0384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Banheiro graduado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-0,1284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-0,1484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-0,1193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-0,0376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Razão de moradores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-0,2843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-0,3634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-0,2522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-0,0823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Analfabetismo 15+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-0,4107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-0,4873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-0,3758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-0,1740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média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0,5569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0,6093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0,5305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0,3371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549640" y="128930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Correlação de Spearman entre os indicadores de envelhecimento (linhas) e os demais (colunas).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57556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263042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Para pessoas 60+, a correlação mais forte é com População 0–14 (ρ = -0,7989); com a renda média, ρ = 0,5569.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T18 · tabelas/T18_envelhecimento_correlacoes.csv  ·  Bloco 8. Envelhecimento  ·  parte 1 de 2</a:t>
            </a:r>
            <a:endParaRPr lang="en-US" sz="950" dirty="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60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0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percentual de pessoas 60+ se relaciona mais com População 0–14 (ρ = -0,7989)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6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694944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1188720"/>
                <a:gridCol w="1188720"/>
                <a:gridCol w="1188720"/>
                <a:gridCol w="1188720"/>
              </a:tblGrid>
              <a:tr h="38582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Indicador (ρ de Spearman)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Pessoas 60+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Índice de envelhecimento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Dependência idosa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70+ entre 60+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Cor/raça PPI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-0,4228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-0,4347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-0,4140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-0,3151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Responsável mulher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-0,1213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-0,1446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-0,1115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-0,0628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sem o extremo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0,5569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0,6093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0,5305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0,3371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(mediana mun.)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0,5569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0,6093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0,5305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0,3371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Domicílio improvisado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-0,0356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-0,0387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-0,0336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-0,0236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Habitação precária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-0,0248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-0,0235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-0,0254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-0,0104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Moradia convencional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-0,0109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-0,0130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-0,0088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Moradia não convencional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-0,0152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-0,0128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-0,0165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-0,0035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Apartamento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0,3373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0,3995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0,3089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0,2026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Casa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-0,2528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-0,3056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-0,2285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-0,1769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Casa de vila/condomínio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-0,0241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-0,0276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-0,0249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0,0278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Crianças 0–4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-0,7415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-0,8189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-0,7039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-0,3720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População 0–14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-0,7989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-0,9088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-0,7515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-0,4047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549640" y="128930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Correlação de Spearman entre os indicadores de envelhecimento (linhas) e os demais (colunas).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57556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263042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Para pessoas 60+, a correlação mais forte é com População 0–14 (ρ = -0,7989); com a renda média, ρ = 0,5569.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T18 · tabelas/T18_envelhecimento_correlacoes.csv  ·  Bloco 8. Envelhecimento  ·  parte 2 de 2</a:t>
            </a:r>
            <a:endParaRPr lang="en-US" sz="950" dirty="0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61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Pessoas 60+ e renda média: ρ = 0,5569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pic>
        <p:nvPicPr>
          <p:cNvPr id="5" name="Image 0" descr="/Users/pedro/Documents/Iniciacao Cientifica/Projeto_IVS_Censo22/analises_exploratorias/A4_por_regiao/nordeste/figuras/F21_dispersao_60mai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62353" y="1243584"/>
            <a:ext cx="6482135" cy="479145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549640" y="1289304"/>
            <a:ext cx="2862072" cy="148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Cada hexágono reúne setores com valores parecidos; quanto mais escuro, mais setores. Eixo horizontal: renda média em escala logarítmica; vertical: proporção de pessoas de 60 anos ou mais.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99466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3049524"/>
            <a:ext cx="2862072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correlação de Spearman entre as duas é 0,5569.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F21 · figuras/F21_dispersao_60mais.png  ·  Bloco 8. Envelhecimento</a:t>
            </a:r>
            <a:endParaRPr lang="en-US" sz="950" dirty="0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62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2331720"/>
            <a:ext cx="1097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1920240" y="2331720"/>
            <a:ext cx="94914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índice da versão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777240" y="3273552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920240" y="3401568"/>
            <a:ext cx="90342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fica o índice, e ele separa os setores de favela?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920240" y="4343400"/>
            <a:ext cx="9491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Neste bloco: T23 · T24 · T25 · T26 · T27 · F24 · F25</a:t>
            </a:r>
            <a:endParaRPr lang="en-US" sz="1200" dirty="0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63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Renda (invertida) tem o maior peso no índice (24,1%)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6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717804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2011680"/>
                <a:gridCol w="868680"/>
                <a:gridCol w="1280160"/>
                <a:gridCol w="1188720"/>
              </a:tblGrid>
              <a:tr h="38582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Componente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Dimensão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Carga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Peso da dimensão (%)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Peso no índice (%)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inadequada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F2 (saneamento)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0,6804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40,0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12,5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Esgoto inadequado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F2 (saneamento)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0,6715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40,0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12,2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Razão de moradores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F2 (saneamento)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0,6463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40,0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11,3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Analfabetismo 15+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F1 (socioeconômica)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0,6981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60,0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14,2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(invertida)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F1 (socioeconômica)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0,9091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60,0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24,1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Cor/raça PPI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F1 (socioeconômica)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0,8607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60,0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21,6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Banheiro graduado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F2 (saneamento)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0,3893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40,0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4,1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549640" y="128930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Uma linha por componente: a dimensão em que ele carrega mais, a carga, o peso da dimensão e o peso final no índice (em %).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57556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2630424"/>
            <a:ext cx="2862072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maior peso é o de Renda (invertida) (24,1%); a dimensão socioeconômica pesa 60,0%.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T23 · tabelas/T23_pesos.csv  ·  Bloco 10. O índice da versão</a:t>
            </a:r>
            <a:endParaRPr lang="en-US" sz="950" dirty="0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64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índice tem mediana 0,4863 e P90 0,5934, em 13.097 setores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6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653796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914400"/>
                <a:gridCol w="822960"/>
                <a:gridCol w="822960"/>
                <a:gridCol w="822960"/>
                <a:gridCol w="868680"/>
                <a:gridCol w="822960"/>
              </a:tblGrid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Escopo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Média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DP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P10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Mediana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P90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Total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13.097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0,4775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0,0958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0,3538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0,4863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0,5934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Nordeste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13.097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0,4775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0,0958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0,3538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0,4863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0,5934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549640" y="1289304"/>
            <a:ext cx="2862072" cy="1276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Descritivas do índice para o total e por região. Como o índice é normalizado dentro de cada município, todo município tem mínimo 0 e máximo 1.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78511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2839974"/>
            <a:ext cx="2862072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13.097 setores; mediana 0,4863; percentil 90 0,5934.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T24 · tabelas/T24_indice_descritivas.csv  ·  Bloco 10. O índice da versão</a:t>
            </a:r>
            <a:endParaRPr lang="en-US" sz="950" dirty="0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65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0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Pela regra do IVS-BH, 5,2% dos setores ficam em vulnerabilidade muito elevada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6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4937760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1645920"/>
                <a:gridCol w="1097280"/>
                <a:gridCol w="914400"/>
              </a:tblGrid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Regra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Faixa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%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IVS-BH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indefinida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IVS-BH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baixo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3.347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25,6%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IVS-BH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médio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5.946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45,4%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IVS-BH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elevado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3.118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23,8%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IVS-BH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muito elevado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685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5,2%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Quartis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baixo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3.266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24,9%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Quartis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médio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3.277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25,0%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Quartis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elevado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3.272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25,0%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Quartis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muito elevado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3.282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25,1%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549640" y="1289304"/>
            <a:ext cx="2862072" cy="1276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Quantos setores ficam em cada faixa, pelas duas regras: a do IVS-BH (média e desvio-padrão do município) e a dos quartis do município.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78511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2839974"/>
            <a:ext cx="2862072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IVS-BH: 25,6% baixo e 5,2% muito elevado. Quartis: 25,1% muito elevado.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T25 · tabelas/T25_faixas.csv  ·  Bloco 10. O índice da versão</a:t>
            </a:r>
            <a:endParaRPr lang="en-US" sz="950" dirty="0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66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0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AUC municipal de 0,7896: o índice separa as favelas — versão não elegível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6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6675120" cy="914400"/>
        </p:xfrm>
        <a:graphic>
          <a:graphicData uri="http://schemas.openxmlformats.org/drawingml/2006/table">
            <a:tbl>
              <a:tblPr/>
              <a:tblGrid>
                <a:gridCol w="3200400"/>
                <a:gridCol w="1097280"/>
                <a:gridCol w="2377440"/>
              </a:tblGrid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Medida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Valor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Detalhe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AUC global contra FCU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0,7729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—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AUC municipal (mediana)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0,7896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—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municípios na AUC municipal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ao menos 30 setores de FCU e fora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peso da dimensão socioeconômica (%)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—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KMO ≥ 0,70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não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MSA ≥ 0,50 em todas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sim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comunalidade mínima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0,1898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Banheiro graduado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comunalidade ≥ 0,30 em todas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não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maior carga mínima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0,3893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Banheiro graduado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carga ≥ 0,40 em todas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não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elegível pelos critérios do NB05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não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549640" y="128930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AUC global e municipal, peso da dimensão socioeconômica e os critérios de elegibilidade do NB05, um por linha (1 = atende).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57556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263042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AUC global 0,7729; mediana da AUC municipal 0,7896, em 10 municípios. Pelos critérios do NB05, a versão é não elegível.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T26 · tabelas/T26_auc_e_elegibilidade.csv  ·  Bloco 10. O índice da versão</a:t>
            </a:r>
            <a:endParaRPr lang="en-US" sz="950" dirty="0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67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0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AUC vai de 0,6829 (São José de Ribamar) a 0,8773 (São Luís) entre os municípios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6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5669280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914400"/>
                <a:gridCol w="1097280"/>
                <a:gridCol w="1097280"/>
              </a:tblGrid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Município (entra na mediana)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AUC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FCU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fora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São Luís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0,8773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198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588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Teresina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0,8685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177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699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Fortaleza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0,8253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928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2.189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Recife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0,8218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445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1.334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Salvador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0,7951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1.310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1.778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Camaragibe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0,7841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160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Maceió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0,7799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235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940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Feira de Santana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0,7746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629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Natal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0,7238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141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678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São José de Ribamar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0,6829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235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777240" y="4019169"/>
            <a:ext cx="7452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Recorte da tabela para o slide; a tabela completa está no CSV indicado no rodapé.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8549640" y="1289304"/>
            <a:ext cx="2862072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Uma linha por município: AUC, setores de FCU (n1) e fora (n0) e se o município entra na mediana.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8549640" y="236601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549640" y="242087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Entre os municípios que entram na mediana, a maior AUC é a de São Luís (0,8773) e a menor, a de São José de Ribamar (0,6829).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T27 · tabelas/T27_auc_por_municipio.csv  ·  Bloco 10. O índice da versão</a:t>
            </a:r>
            <a:endParaRPr lang="en-US" sz="950" dirty="0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68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distribuição do índice e as faixas do IVS-BH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pic>
        <p:nvPicPr>
          <p:cNvPr id="5" name="Image 0" descr="/Users/pedro/Documents/Iniciacao Cientifica/Projeto_IVS_Censo22/analises_exploratorias/A4_por_regiao/nordeste/figuras/F24_histograma_por_faix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243584"/>
            <a:ext cx="7452360" cy="4335919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549640" y="1289304"/>
            <a:ext cx="2862072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Histograma do índice, com cada barra dividida pela faixa dos setores (regra do IVS-BH).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36601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2420874"/>
            <a:ext cx="2862072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25,6% dos setores ficam em baixo e 5,2% em muito elevado.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F24 · figuras/F24_histograma_por_faixa.png  ·  Bloco 10. O índice da versão</a:t>
            </a:r>
            <a:endParaRPr lang="en-US" sz="950" dirty="0"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69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Curva ROC do índice contra as favelas (AUC global 0,7729)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pic>
        <p:nvPicPr>
          <p:cNvPr id="5" name="Image 0" descr="/Users/pedro/Documents/Iniciacao Cientifica/Projeto_IVS_Censo22/analises_exploratorias/A4_por_regiao/nordeste/figuras/F25_curva_ro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74602" y="1243584"/>
            <a:ext cx="4857636" cy="479145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549640" y="1289304"/>
            <a:ext cx="2862072" cy="1276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Cada ponto da curva é um corte do índice: no eixo vertical, a proporção de setores de FCU acima do corte; no horizontal, a dos setores de fora. A diagonal é o acaso.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78511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2839974"/>
            <a:ext cx="2862072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Área sob a curva: 0,7729 (global); a mediana municipal é 0,7896.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F25 · figuras/F25_curva_roc.png  ·  Bloco 10. O índice da versão</a:t>
            </a:r>
            <a:endParaRPr lang="en-US" sz="950" dirty="0"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70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2331720"/>
            <a:ext cx="1097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1920240" y="2331720"/>
            <a:ext cx="94914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Comparação com a referência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777240" y="3273552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920240" y="3401568"/>
            <a:ext cx="90342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esta versão muda em relação à referência proposta do NB05?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920240" y="4343400"/>
            <a:ext cx="9491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Neste bloco: T31 · T32 · T33 · F28 · F29</a:t>
            </a:r>
            <a:endParaRPr lang="en-US" sz="1200" dirty="0"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71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correlação de postos com a referência é 0,9677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7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5120640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1280160"/>
                <a:gridCol w="1280160"/>
              </a:tblGrid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Escopo (menores ρ)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comuns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ρ de Spearman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Total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13.097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0,9677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São Raimundo do Doca Bezerra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—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Jaqueira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0,7143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Preta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0,8968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Groaíras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Rosário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0,9536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Camaragibe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193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0,9588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Maceió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1.175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0,9665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Arara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0,9720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Recife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1.779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0,9749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Itapetinga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0,9789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São José de Ribamar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304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0,9789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São Luís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786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0,9795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Fortaleza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3.117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0,9804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Feira de Santana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673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0,9815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Marechal Deodoro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0,9822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777240" y="5497449"/>
            <a:ext cx="7452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Recorte da tabela para o slide; a tabela completa está no CSV indicado no rodapé.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8549640" y="1289304"/>
            <a:ext cx="2862072" cy="1276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Correlação de Spearman entre o índice desta versão e o da referência, nos setores que estão nas duas amostras: total e por município.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8549640" y="278511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549640" y="2839974"/>
            <a:ext cx="2862072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Total: ρ = 0,9677. Menor correlação municipal: Jaqueira (0,7143).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T31 · tabelas/T31_spearman_com_referencia.csv  ·  Bloco 13. Comparação com a referência</a:t>
            </a:r>
            <a:endParaRPr lang="en-US" sz="950" dirty="0"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72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maior troca de faixa é de medio para elevado (397 setores)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7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621792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1005840"/>
                <a:gridCol w="1005840"/>
                <a:gridCol w="1005840"/>
                <a:gridCol w="1005840"/>
              </a:tblGrid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Referência ↓ · versão →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baixo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médio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elevado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muito elevado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baixo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3.174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242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médio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173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5.373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397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elevado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331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2.614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163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muito elevado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522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549640" y="128930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Cada linha é um par (faixa na referência, faixa nesta versão), com o número de setores e o percentual do total.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57556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2630424"/>
            <a:ext cx="2862072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Fora da diagonal, a maior célula é de medio para elevado, com 397 setores.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T32 · tabelas/T32_matriz_de_faixas.csv  ·  Bloco 13. Comparação com a referência</a:t>
            </a:r>
            <a:endParaRPr lang="en-US" sz="950" dirty="0"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73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10,8% dos setores mudam de faixa em relação à referência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7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5943600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1188720"/>
                <a:gridCol w="1188720"/>
                <a:gridCol w="1005840"/>
              </a:tblGrid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Município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comuns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Mudam de faixa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% que muda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Todos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13.097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1.414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10,8%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São Raimundo do Doca Bezerra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Jaqueira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Urandi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28,6%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Japoatã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25,0%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Camaragibe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193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20,7%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Rosário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Maceió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1.175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219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18,6%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Limoeiro do Norte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14,1%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Recife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1.779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234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13,2%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São Luís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786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12,8%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Itapetinga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12,8%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Marechal Deodoro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12,8%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Itajuípe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12,5%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Fortaleza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3.117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375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12,0%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São José de Ribamar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304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10,9%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777240" y="5497449"/>
            <a:ext cx="7452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Recorte da tabela para o slide; a tabela completa está no CSV indicado no rodapé.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8549640" y="1289304"/>
            <a:ext cx="2862072" cy="1276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primeira linha é o total; as demais, os municípios, do mais afetado para o menos: setores comuns, setores que mudam de faixa e o percentual.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8549640" y="278511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549640" y="283997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total, 10,8% dos setores mudam de faixa; o município mais afetado é São Raimundo do Doca Bezerra (100,0%).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T33 · tabelas/T33_municipios_que_mudam.csv  ·  Bloco 13. Comparação com a referência</a:t>
            </a:r>
            <a:endParaRPr lang="en-US" sz="950" dirty="0"/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74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Matriz de faixas: referência × esta versão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pic>
        <p:nvPicPr>
          <p:cNvPr id="5" name="Image 0" descr="/Users/pedro/Documents/Iniciacao Cientifica/Projeto_IVS_Censo22/analises_exploratorias/A4_por_regiao/nordeste/figuras/F28_matriz_de_faixa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19196" y="1243584"/>
            <a:ext cx="5568449" cy="479145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549640" y="128930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Linhas: faixa na referência; colunas: faixa nesta versão; cada célula traz o número de setores.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57556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2630424"/>
            <a:ext cx="2862072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maior troca fora da diagonal é de medio para elevado (397 setores).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F28 · figuras/F28_matriz_de_faixas.png  ·  Bloco 13. Comparação com a referência</a:t>
            </a:r>
            <a:endParaRPr lang="en-US" sz="950" dirty="0"/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75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Os municípios mais afetados pela mudança da versão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pic>
        <p:nvPicPr>
          <p:cNvPr id="5" name="Image 0" descr="/Users/pedro/Documents/Iniciacao Cientifica/Projeto_IVS_Censo22/analises_exploratorias/A4_por_regiao/nordeste/figuras/F29_municipios_que_muda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73489" y="1243584"/>
            <a:ext cx="6459863" cy="479145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549640" y="1289304"/>
            <a:ext cx="2862072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Os 20 municípios com o maior percentual de setores que mudam de faixa.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36601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2420874"/>
            <a:ext cx="2862072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mais afetado é São Raimundo do Doca Bezerra (100,0%); no total, 10,8%.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F29 · figuras/F29_municipios_que_mudam.png  ·  Bloco 13. Comparação com a referência</a:t>
            </a:r>
            <a:endParaRPr lang="en-US" sz="950" dirty="0"/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76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Síntese da versão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472184"/>
            <a:ext cx="3300984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545336"/>
            <a:ext cx="33009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13.097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777240" y="2130552"/>
            <a:ext cx="33009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setores na amostra do índice (T01)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443984" y="1472184"/>
            <a:ext cx="3300984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443984" y="1545336"/>
            <a:ext cx="33009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0,7896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4443984" y="2130552"/>
            <a:ext cx="33009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AUC municipal contra FCU (mediana) (T26)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8110728" y="1472184"/>
            <a:ext cx="3300984" cy="0"/>
          </a:xfrm>
          <a:prstGeom prst="line">
            <a:avLst/>
          </a:prstGeom>
          <a:noFill/>
          <a:ln w="12700">
            <a:solidFill>
              <a:srgbClr val="8C2F2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110728" y="1545336"/>
            <a:ext cx="33009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10,8%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8110728" y="2130552"/>
            <a:ext cx="33009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setores que mudam de faixa em relação à referência (T33)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777240" y="292608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7240" y="2980944"/>
            <a:ext cx="10634472" cy="3054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esta versão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índice regional ordena os setores de modo parecido com a referência, mas cerca de um em cada dez setores muda de faixa. A versão não é elegível: o KMO fica abaixo de 0,70 e o banheiro graduado tem comunalidade e carga baixas. A AUC contra as favelas é menor que a da referência. Falha registrada como falha.</a:t>
            </a:r>
            <a:endParaRPr lang="en-US" sz="1250" dirty="0"/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77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Candidatos ao artigo: as tabelas e figuras desta versão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243584"/>
            <a:ext cx="10634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Marcar no catálogo (colunas “Vai para o artigo?”, “Seção” e “Comentários”); os IDs são os mesmos em todas as versões.</a:t>
            </a:r>
            <a:endParaRPr lang="en-US" sz="1100" dirty="0"/>
          </a:p>
        </p:txBody>
      </p:sp>
      <p:graphicFrame>
        <p:nvGraphicFramePr>
          <p:cNvPr id="7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609344"/>
          <a:ext cx="10607040" cy="914400"/>
        </p:xfrm>
        <a:graphic>
          <a:graphicData uri="http://schemas.openxmlformats.org/drawingml/2006/table">
            <a:tbl>
              <a:tblPr/>
              <a:tblGrid>
                <a:gridCol w="731520"/>
                <a:gridCol w="731520"/>
                <a:gridCol w="9144000"/>
              </a:tblGrid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ID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Bloco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Título no deck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T01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13.097 setores chegam ao índice, de 109.032 na base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F01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Do recorte ao índice, 6.400 setores saem por falta de algum componente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T02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Banheiro graduado é o indicador com mais faltantes (24,8% dos setores)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T03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Domicílio improvisado é o indicador mais assimétrico (assimetria 36,97)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T04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média: a mediana vai de 1.719,20 (Nordeste) a 1.719,20 (Nordeste)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T05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média: entre os municípios, a mediana vai de 1.062,36 a 2.035,34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F02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Saneamento: Banheiro de uso comum tem a distribuição mais assimétrica (assimetria 28,32)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F03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Saneamento: Água inadequada tem mediana de 0,0078 no Nordeste e 0,0078 no Nordeste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F04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Saneamento: as regiões têm formas diferentes de distribuição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F05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Socioeconômica: Renda média tem a distribuição mais assimétrica (assimetria 3,66)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F06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Socioeconômica: Razão de moradores tem mediana de 2,7834 no Nordeste e 2,7834 no Nordeste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F07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Socioeconômica: as regiões têm formas diferentes de distribuição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F08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Morfologia: Domicílio improvisado tem a distribuição mais assimétrica (assimetria 36,97)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F09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Morfologia: Domicílio improvisado tem mediana de 0,0000 no Nordeste e 0,0000 no Nordeste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F10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Morfologia: as regiões têm formas diferentes de distribuição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F11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Demografia: Índice de envelhecimento tem a distribuição mais assimétrica (assimetria 8,03)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F12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Demografia: Crianças 0–4 tem mediana de 0,0558 no Nordeste e 0,0558 no Nordeste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catalogo.csv  ·  parte 1 de 3</a:t>
            </a:r>
            <a:endParaRPr lang="en-US" sz="950" dirty="0"/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78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Candidatos ao artigo: as tabelas e figuras desta versão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243584"/>
            <a:ext cx="10634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Marcar no catálogo (colunas “Vai para o artigo?”, “Seção” e “Comentários”); os IDs são os mesmos em todas as versões.</a:t>
            </a:r>
            <a:endParaRPr lang="en-US" sz="1100" dirty="0"/>
          </a:p>
        </p:txBody>
      </p:sp>
      <p:graphicFrame>
        <p:nvGraphicFramePr>
          <p:cNvPr id="7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609344"/>
          <a:ext cx="10607040" cy="914400"/>
        </p:xfrm>
        <a:graphic>
          <a:graphicData uri="http://schemas.openxmlformats.org/drawingml/2006/table">
            <a:tbl>
              <a:tblPr/>
              <a:tblGrid>
                <a:gridCol w="731520"/>
                <a:gridCol w="731520"/>
                <a:gridCol w="9144000"/>
              </a:tblGrid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ID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Bloco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Título no deck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F13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Demografia: as regiões têm formas diferentes de distribuição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T06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O maior percentual de faltantes é o de Só sanitário em São Raimundo do Doca Bezerra (66,7%)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F14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Os faltantes se concentram em poucos indicadores e municípios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T07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O analfabetismo falta em 16,2% dos menores setores e em 2,5% dos maiores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F15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 falta de dados depende do tamanho do setor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T08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inadequada tem a maior proporção de extremos (9,9%)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T09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Recife concentra o maior número de marcações de extremo (2.081)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T10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Os setores mais distantes da mediana, indicador por indicador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T11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13 setores têm renda suspeita e 1.226 têm renda extrema coerente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F16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 proporção de extremos varia muito de um indicador para outro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T12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média e Renda sem o extremo formam o par mais correlacionado (ρ = 1,0000)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T13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Na correlação linear, o par mais forte é Renda média × Renda sem o extremo (r = 1,0000)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T14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O par mais redundante é Renda sem o extremo × Renda (mediana mun.) (ρ = 1,0000)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F17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Os indicadores formam grupos de correlação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F18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O dendrograma junta os indicadores que medem coisas parecidas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T15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Cor/raça PPI é o indicador que mais separa as favelas (AUC 0,7704)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F19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Os indicadores separam as favelas com força muito diferente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catalogo.csv  ·  parte 2 de 3</a:t>
            </a:r>
            <a:endParaRPr lang="en-US" sz="950" dirty="0"/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79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Candidatos ao artigo: as tabelas e figuras desta versão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243584"/>
            <a:ext cx="10634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Marcar no catálogo (colunas “Vai para o artigo?”, “Seção” e “Comentários”); os IDs são os mesmos em todas as versões.</a:t>
            </a:r>
            <a:endParaRPr lang="en-US" sz="1100" dirty="0"/>
          </a:p>
        </p:txBody>
      </p:sp>
      <p:graphicFrame>
        <p:nvGraphicFramePr>
          <p:cNvPr id="8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609344"/>
          <a:ext cx="10607040" cy="914400"/>
        </p:xfrm>
        <a:graphic>
          <a:graphicData uri="http://schemas.openxmlformats.org/drawingml/2006/table">
            <a:tbl>
              <a:tblPr/>
              <a:tblGrid>
                <a:gridCol w="731520"/>
                <a:gridCol w="731520"/>
                <a:gridCol w="9144000"/>
              </a:tblGrid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ID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Bloco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Título no deck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T16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 faixa de 30–39 anos concentra a maior parte da população (16,2%)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F20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 estrutura etária muda de região para região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T17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 mediana de pessoas 60+ por setor vai de 0,1435 (Nordeste) a 0,1435 (Nordeste)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T18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O percentual de pessoas 60+ se relaciona mais com População 0–14 (ρ = -0,7989)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F21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Pessoas 60+ e renda média: ρ = 0,5569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T23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(invertida) tem o maior peso no índice (24,1%)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T24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O índice tem mediana 0,4863 e P90 0,5934, em 13.097 setores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T25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Pela regra do IVS-BH, 5,2% dos setores ficam em vulnerabilidade muito elevada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T26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AUC municipal de 0,7896: o índice separa as favelas — versão não elegível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T27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 AUC vai de 0,6829 (São José de Ribamar) a 0,8773 (São Luís) entre os municípios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F24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 distribuição do índice e as faixas do IVS-BH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F25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Curva ROC do índice contra as favelas (AUC global 0,7729)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T31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13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 correlação de postos com a referência é 0,9677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T32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13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 maior troca de faixa é de medio para elevado (397 setores)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T33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13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10,8% dos setores mudam de faixa em relação à referência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F28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13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Matriz de faixas: referência × esta versão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F29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13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Os municípios mais afetados pela mudança da versão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catalogo.csv  ·  parte 3 de 3</a:t>
            </a:r>
            <a:endParaRPr lang="en-US" sz="950" dirty="0"/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80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Limitações e parâmetros exploratórios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335024"/>
            <a:ext cx="10634472" cy="4700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fatorial, os pesos e as faixas são recalculados só com os setores da região; os índices de regiões diferentes não são comparáveis entre si.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Regiões com poucos municípios no ELSI têm descritivas regionais apoiadas em poucas cidades.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AUC municipal só usa municípios com pelo menos 30 setores de FCU e 30 fora; em algumas regiões, são poucos.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amostra do índice exclui todo setor com algum componente faltante (exclusão por lista).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i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Nenhum parâmetro exploratório nesta versão.</a:t>
            </a:r>
            <a:endParaRPr lang="en-US" sz="1300" dirty="0"/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81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Apêndice: dicionário dos indicadores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8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1060704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1188720"/>
                <a:gridCol w="4206240"/>
                <a:gridCol w="1737360"/>
                <a:gridCol w="1645920"/>
              </a:tblGrid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Indicador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Dimensão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O que mede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Numerador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Denominador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301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inadequada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Saneamento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Proporção de domicílios com abastecimento de água inadequado ou ausente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V00112 + V00113 + V00114 + V00115 + V00116 + V00117 + V00118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V00001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582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Esgoto inadequado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Saneamento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Proporção de domicílios com esgotamento sanitário inadequado ou ausente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V00312 + V00313 + V00314 + V00315 + V00316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V00001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582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Lixo inadequado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Saneamento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Proporção de domicílios com destino do lixo inadequado ou ausente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V00398 + V00399 + V00400 + V00401 + V00402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V00001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582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Sem água canalizada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Saneamento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Proporção de domicílios em que a água não chega encanada até dentro do domicílio (complemento de V00199; equivale a V00200+V00201 sobre V00001)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V00199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V00001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582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não chega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Saneamento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Proporção de domicílios em que a água não chega encanada ao domicílio (V00201)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V00201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V00001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582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só no terreno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Saneamento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Proporção de domicílios em que a água chega encanada apenas ao terreno (V00200)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V00200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V00001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582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Sem banheiro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Saneamento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Proporção de domicílios sem banheiro de uso exclusivo com chuveiro e vaso sanitário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V00495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V00001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Sem banheiro nem sanitário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Saneamento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Proporção de domicílios sem banheiro nem sanitário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V00238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V00001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Só sanitário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Saneamento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Proporção de domicílios com apenas sanitário ou buraco para dejeções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V00237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V00001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Quadro_Indicadores.csv (entrega à orientadora)  ·  parte 1 de 3</a:t>
            </a:r>
            <a:endParaRPr lang="en-US" sz="950" dirty="0"/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82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Apêndice: dicionário dos indicadores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8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1060704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1188720"/>
                <a:gridCol w="4206240"/>
                <a:gridCol w="1737360"/>
                <a:gridCol w="1645920"/>
              </a:tblGrid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Indicador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Dimensão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O que mede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Numerador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Denominador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Banheiro de uso comum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Saneamento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Proporção de domicílios com apenas banheiro de uso comum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V00236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V00001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301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Banheiro graduado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Saneamento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Falta de banheiro graduada: 1 ponto para banheiro só de uso comum, 2 para só sanitário, 3 para nem banheiro nem sanitário, sobre 3 vezes os domicílios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V00236 + 2·V00237 + 3·V00238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3·V00001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Razão de moradores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Socioeconômica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Razão de moradores por domicílio (reproduz o V0005 do IBGE)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V00005 + V00006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V00001 + V00002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Analfabetismo 15+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Socioeconômica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Taxa de analfabetismo entre pessoas de 15 anos ou mais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V00901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V00900 + V00901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média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Socioeconômica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Rendimento nominal médio mensal das pessoas responsáveis (R$)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V06004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—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Cor/raça PPI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Socioeconômica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Proporção de pessoas de cor/raça preta, parda ou indígena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V01318 + V01320 + V01321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v0001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Responsável mulher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Socioeconômica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Proporção de domicílios com pessoa responsável do sexo feminino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V01063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V01062 + V01063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582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sem o extremo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Socioeconômica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média dos responsáveis sem o valor extremo de Belo Horizonte (R$ 170.418,06), que vira faltante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V06004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—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582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(mediana mun.)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Socioeconômica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média dos responsáveis com o valor extremo trocado pela mediana do município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V06004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—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Domicílio improvisado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Morfologia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Proporção de domicílios particulares improvisados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V00002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V00001 + V00002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301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Habitação precária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Morfologia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Proporção de domicílios em habitação precária (cortiço, estrutura degradada, improvisados)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V00050 + V00052 + V00053 + V00054 + V00055 + V00056 + V00057 + V00058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V00001 + V00002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Quadro_Indicadores.csv (entrega à orientadora)  ·  parte 2 de 3</a:t>
            </a:r>
            <a:endParaRPr lang="en-US" sz="950" dirty="0"/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83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Apêndice: dicionário dos indicadores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8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1060704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1188720"/>
                <a:gridCol w="4206240"/>
                <a:gridCol w="1737360"/>
                <a:gridCol w="1645920"/>
              </a:tblGrid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Indicador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Dimensão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O que mede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Numerador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Denominador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582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Moradia convencional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Morfologia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Proporção de moradias convencionais (casa, casa de vila/condomínio, apartamento)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V00047 + V00048 + V00049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V00001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582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Moradia não convencional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Morfologia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Proporção de moradias não convencionais (cortiço, maloca, estrutura degradada)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V00050 + V00051 + V00052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V00001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Apartamento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Morfologia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Proporção de domicílios do tipo apartamento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V00049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V00001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Casa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Morfologia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Proporção de domicílios do tipo casa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V00047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V00001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Casa de vila/condomínio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Morfologia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Proporção de domicílios do tipo casa de vila ou em condomínio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V00048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V00001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Crianças 0–4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Demografia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Proporção de crianças de 0 a 4 anos na população residente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V01031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v0001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População 0–14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Demografia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Proporção de pessoas com menos de 15 anos na população residente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V01031 + V01032 + V01033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v0001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Pessoas 60+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Demografia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Proporção de pessoas de 60 anos ou mais na população residente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V01040 + V01041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v0001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Índice de envelhecimento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Demografia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Índice de Envelhecimento Populacional: 60+ por 100 menores de 15 anos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V01040 + V01041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V01031 + V01032 + V01033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582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Dependência idosa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Demografia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Razão de Dependência de Idosos: 60+ por 100 pessoas de 15 a 59 anos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V01040 + V01041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V01034 + V01035 + V01036 + V01037 + V01038 + V01039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582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70+ entre 60+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Demografia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Proporção de pessoas de 70+ entre os de 60+ (proxy de longevidade; NÃO é o LI, que exigiria a faixa 75+, inexistente nos agregados por setor)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V01041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V01040 + V01041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Quadro_Indicadores.csv (entrega à orientadora)  ·  parte 3 de 3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83</Slides>
  <Notes>83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83</vt:i4>
      </vt:variant>
    </vt:vector>
  </HeadingPairs>
  <TitlesOfParts>
    <vt:vector size="8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  <vt:lpstr>Slide 72</vt:lpstr>
      <vt:lpstr>Slide 73</vt:lpstr>
      <vt:lpstr>Slide 74</vt:lpstr>
      <vt:lpstr>Slide 75</vt:lpstr>
      <vt:lpstr>Slide 76</vt:lpstr>
      <vt:lpstr>Slide 77</vt:lpstr>
      <vt:lpstr>Slide 78</vt:lpstr>
      <vt:lpstr>Slide 79</vt:lpstr>
      <vt:lpstr>Slide 80</vt:lpstr>
      <vt:lpstr>Slide 81</vt:lpstr>
      <vt:lpstr>Slide 82</vt:lpstr>
      <vt:lpstr>Slide 83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nordeste — Região Nordeste</dc:title>
  <dc:subject>PptxGenJS Presentation</dc:subject>
  <dc:creator>Pedro Dias Soares</dc:creator>
  <cp:lastModifiedBy>Pedro Dias Soares</cp:lastModifiedBy>
  <cp:revision>1</cp:revision>
  <dcterms:created xsi:type="dcterms:W3CDTF">2026-10-06T20:48:42Z</dcterms:created>
  <dcterms:modified xsi:type="dcterms:W3CDTF">2026-10-06T20:48:42Z</dcterms:modified>
</cp:coreProperties>
</file>