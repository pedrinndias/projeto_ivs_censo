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muda quando o peso das dimensões vem dos dados (fatorial) em vez da regra de especialista do IVS-BH (60/40), como em Gioia et al. (2020)?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peso das dimensões vem dos dados (soma dos quadrados das cargas padrão da promax), em vez da regra de especialista do IVS-BH (60% socioeconômica, 40% saneamento). As outras repartições pelos dados (estrutura, comunalidades) e a regra 60/40 da referência estão na tabela T34.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os fatores e os pesos, cada setor recebe um valor de 0 a 1 dentro do seu município. O bloco mostra os pesos, a distribuição do índice, as faixas de vulnerabilidade pelas duas regras, a AUC contra as favelas e se a versão passa nos critérios de elegibilidade fixados no NB05.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pesos seguem a receita do NB04: cada variável vai para a dimensão em que tem a maior carga; o peso da dimensão é repartido entre as variáveis dela em proporção ao quadrado da carga. O peso das dimensões depende do método da versão; na referência é a regra do IVS-BH de 2012 (60% socioeconômica, 40% saneamento).
Como ler: Uma linha por componente: a dimensão em que ele carrega mais, a carga, o peso da dimensão e o peso final no índice (em %).
O que mostra: O maior peso é o de Renda (invertida) (21,5%); a dimensão F1 (socioeconômica) pesa 66,8%.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índice vai de 0 (o setor menos vulnerável do município) a 1 (o mais vulnerável). Comparar o nível do índice entre municípios não faz sentido nesta normalização; o que se compara é a posição relativa de cada setor dentro da sua cidade.
Como ler: Descritivas do índice para o total e por região. Como o índice é normalizado dentro de cada município, todo município tem mínimo 0 e máximo 1.
O que mostra: 73.878 setores; mediana 0,3667; percentil 90 0,4658.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regra do IVS-BH de 2012 classifica pelo afastamento da média do município em desvios-padrão: abaixo de −0,5 DP é baixo; até +0,5 DP, médio; até +1,5 DP, elevado; acima, muito elevado. Como a distribuição é assimétrica, as faixas não têm o mesmo tamanho. A regra dos quartis divide cada município em quatro partes iguais, por construção com 25% cada.
Como ler: Quantos setores ficam em cada faixa, pelas duas regras: a do IVS-BH (média e desvio-padrão do município) e a dos quartis do município.
O que mostra: IVS-BH: 28,5% baixo e 5,1% muito elevado. Quartis: 25,0% muito elevado.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AUC global junta todos os setores; a municipal calcula a AUC dentro de cada município e toma a mediana, só nos municípios com pelo menos 30 setores de FCU e 30 fora. A municipal é a leitura adequada para um índice normalizado no município. Os critérios de elegibilidade foram fixados antes de rodar a grade do NB05: KMO de pelo menos 0,70, MSA de pelo menos 0,50, comunalidade de pelo menos 0,30 e carga de pelo menos 0,40 em todas as variáveis. A elegibilidade é descritiva: não escolhe a versão.
Como ler: AUC global e municipal, peso da dimensão socioeconômica e os critérios de elegibilidade do NB05, um por linha (1 = atende).
O que mostra: AUC global 0,8373; mediana da AUC municipal 0,8374, em 31 municípios. Pelos critérios do NB05, a versão é elegível.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Municípios com poucos setores de favela têm AUC instável: um ou dois setores mudam muito o resultado. Por isso a mediana só usa os municípios com pelo menos 30 setores em cada grupo; os demais ficam na tabela, marcados.
Como ler: Uma linha por município: AUC, setores de FCU (n1) e fora (n0) e se o município entra na mediana.
O que mostra: Entre os municípios que entram na mediana, a maior AUC é a de Campinas (0,9547) e a menor, a de Duque de Caxias (0,6436).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Municípios com poucos setores de favela têm AUC instável: um ou dois setores mudam muito o resultado. Por isso a mediana só usa os municípios com pelo menos 30 setores em cada grupo; os demais ficam na tabela, marcados.
Como ler: Uma linha por município: AUC, setores de FCU (n1) e fora (n0) e se o município entra na mediana.
O que mostra: Entre os municípios que entram na mediana, a maior AUC é a de Campinas (0,9547) e a menor, a de Duque de Caxias (0,6436).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as faixas são definidas dentro de cada município, um mesmo valor do índice pode cair em faixas diferentes em cidades diferentes: por isso as cores se sobrepõem nas fronteiras.
Como ler: Histograma do índice, com cada barra dividida pela faixa dos setores (regra do IVS-BH).
O que mostra: 28,5% dos setores ficam em baixo e 5,1% em muito elevado.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Quanto mais a curva se aproxima do canto superior esquerdo, melhor o índice separa os dois grupos. A área sob a curva é a AUC. Esta curva usa todos os setores juntos; como o índice é normalizado no município, a AUC municipal é a medida principal.
Como ler: Cada ponto da curva é um corte do índice: no eixo vertical, a proporção de setores de FCU acima do corte; no horizontal, a dos setores de fora. A diagonal é o acaso.
O que mostra: Área sob a curva: 0,8373 (global); a mediana municipal é 0,8374.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ninguém fixou um parâmetro, a versão roda com um valor-padrão e esta tabela mostra o que muda com o valor alternativo. Correlação de postos perto de 1 e poucas trocas de faixa indicam que a escolha do parâmetro pesa pouco; o contrário indica que ela precisa ser decidida. Nenhum dos valores é decisão: é parâmetro exploratório.
Como ler: Uma linha por valor do parâmetro exploratório: setores no recorte e no índice, KMO, AUC global e municipal, elegibilidade (1 = elegível), correlação de postos com o índice do valor-padrão e % de setores que mudam de faixa.
O que mostra: Com especialista: 60/40 (referência): 73.878 setores no índice (contra 73.878), AUC municipal 0,8186, ρ = 0,9977 com o valor-padrão e 4,3% dos setores comuns mudando de faixa.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índice classifica setores, mas a pergunta de política pública é sobre pessoas. Este bloco soma moradores e moradores de 60 anos ou mais em cada faixa do índice, por município.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faixas são relativas ao município: todo município tem setores nas faixas altas, por construção. O que muda de um para outro é quanta gente mora nesses setores, porque os setores têm populações diferentes.
Como ler: Uma linha por município: setores, moradores e moradores de 60+ em cada faixa (regra do IVS-BH) e o percentual de moradores nas duas faixas mais altas.
O que mostra: Maior percentual em elevado ou muito elevado: Jaqueira (56,9%); menor: São Raimundo do Doca Bezerra (0,0%).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faixas são relativas ao município: todo município tem setores nas faixas altas, por construção. O que muda de um para outro é quanta gente mora nesses setores, porque os setores têm populações diferentes.
Como ler: Uma linha por município: setores, moradores e moradores de 60+ em cada faixa (regra do IVS-BH) e o percentual de moradores nas duas faixas mais altas.
O que mostra: Maior percentual em elevado ou muito elevado: Jaqueira (56,9%); menor: São Raimundo do Doca Bezerra (0,0%).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contagem de pessoas usa o total de moradores do setor (v0001) e a soma das faixas de 60 a 69 e de 70 anos ou mais. Só entram os setores da amostra do índice.
Como ler: Uma linha por faixa: setores, moradores e moradores de 60+, com os percentuais.
O que mostra: Na faixa muito elevada: 1.667.373 pessoas (4,4% do total), das quais 161.103 com 60 anos ou mais.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mostra a tabela por município em forma de barras empilhadas. Um município em que as faixas altas ocupam muito da barra concentra população nos setores mais vulneráveis da cidade.
Como ler: Uma barra por município, dividida pelas faixas do índice; o comprimento de cada parte é o percentual de moradores. Ordem: do maior para o menor percentual nas duas faixas mais altas.
O que mostra: No topo, Jaqueira (56,9% em elevado ou muito elevado); na base, São Raimundo do Doca Bezerra (0,0%).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o índice é normalizado dentro de cada município, a comparação entre cidades é sobre a desigualdade interna, não sobre o nível. Três medidas: a razão entre os percentis 90 e 10, o Gini e o Theil.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Gini vai de 0 (todos os setores com o mesmo valor) a 1 (toda a soma concentrada num setor). O Theil também mede concentração, mas é mais sensível à cauda alta. A razão P90/P10 compara o setor no percentil 90 com o do percentil 10; como o índice começa em 0 em todo município, o P10 pode ser muito pequeno e a razão explodir, por isso ela fica vazia quando o P10 é zero.
Como ler: Uma linha por município: setores, média, percentis 10 e 90 do índice, a razão P90/P10, o Gini e o Theil.
O que mostra: Maior Gini: São Paulo das Missões (0,4196); menor: Salvador (0,0591).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Gini vai de 0 (todos os setores com o mesmo valor) a 1 (toda a soma concentrada num setor). O Theil também mede concentração, mas é mais sensível à cauda alta. A razão P90/P10 compara o setor no percentil 90 com o do percentil 10; como o índice começa em 0 em todo município, o P10 pode ser muito pequeno e a razão explodir, por isso ela fica vazia quando o P10 é zero.
Como ler: Uma linha por município: setores, média, percentis 10 e 90 do índice, a razão P90/P10, o Gini e o Theil.
O que mostra: Maior Gini: São Paulo das Missões (0,4196); menor: Salvador (0,0591).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Gini e Theil apontam em sentidos diferentes para um município, a desigualdade dele está mais na cauda (poucos setores muito acima dos demais) do que no meio da distribuição.
Como ler: Barras: Gini do índice dentro de cada município, do maior para o menor. Pontos: Theil.
O que mostra: Do maior Gini, São Paulo das Missões (0,4196), ao menor, Salvador (0,0591).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versão muda uma coisa só em relação à referência. Este bloco mede o efeito dessa mudança: a correlação de postos entre os dois índices, a matriz de setores que trocam de faixa e os municípios mais afetados.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correlação de postos perto de 1 indica que a versão ordena os setores quase como a referência, ainda que os valores mudem. Na própria referência, o valor é 1 por construção.
Como ler: Correlação de Spearman entre o índice desta versão e o da referência, nos setores que estão nas duas amostras: total e por município.
O que mostra: Total: ρ = 0,9977. Menor correlação municipal: Jaqueira (0,8286).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diagonal (mesma faixa nas duas) mostra a concordância. Trocas entre faixas vizinhas são esperadas quando os pesos mudam um pouco; trocas de duas faixas ou mais indicam que a versão muda de fato a classificação do setor.
Como ler: Cada linha é um par (faixa na referência, faixa nesta versão), com o número de setores e o percentual do total.
O que mostra: Fora da diagonal, a maior célula é de medio para elevado, com 1.543 setores.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faixa usada é a da regra do IVS-BH. Municípios pequenos tendem a aparecer no topo, porque poucas trocas pesam muito em poucos setores.
Como ler: A primeira linha é o total; as demais, os municípios, do mais afetado para o menos: setores comuns, setores que mudam de faixa e o percentual.
O que mostra: No total, 4,3% dos setores mudam de faixa; o município mais afetado é São Raimundo do Doca Bezerra (100,0%).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matriz com quase tudo na diagonal indica que a mudança da versão não altera a classificação; células fora da diagonal mostram para onde os setores se movem.
Como ler: Linhas: faixa na referência; colunas: faixa nesta versão; cada célula traz o número de setores.
O que mostra: A maior troca fora da diagonal é de medio para elevado (1.543 setores).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destaca onde a escolha desta versão faz mais diferença. Na própria referência, todas as barras são zero.
Como ler: Os 20 municípios com o maior percentual de setores que mudam de faixa.
O que mostra: O mais afetado é São Raimundo do Doca Bezerra (100,0%); no total, 4,3%.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dados dão à dimensão socioeconômica um peso um pouco maior que os 60% da regra do IVS-BH. O índice quase não muda: correlação de postos praticamente 1 e poucas trocas de faixa, com AUC municipal um pouco maior. Pesos de especialista e pesos dos dados levam, aqui, a resultados muito próximos.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pesos pelos dados dependem da amostra do índice e do número de variáveis em cada dimensão.
A amostra do índice exclui todo setor com algum componente faltante (exclusão por lista).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23444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200" kern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ANÁLISES EXPLORATÓRIAS POR VERSÃO · D5_especialista_x_dados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777240" y="162763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7830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Pesos de especialista × pesos dos dados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77240" y="2788920"/>
            <a:ext cx="8595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quando o peso das dimensões vem dos dados (fatorial) em vez da regra de especialista do IVS-BH (60/40), como em Gioia et al. (2020)?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5623560"/>
            <a:ext cx="10634472" cy="0"/>
          </a:xfrm>
          <a:prstGeom prst="line">
            <a:avLst/>
          </a:prstGeom>
          <a:noFill/>
          <a:ln w="9525">
            <a:solidFill>
              <a:srgbClr val="C8C6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576072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outubro de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nesta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297680"/>
                <a:gridCol w="42976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Aspecto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Referência (00_referencia)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Esta versão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Base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entrega_orientadora/Base_ELSI_70Municipios_Censo2022.db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Recorte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urbanos; Dados_sig = OK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todos os do quadro, com as variantes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68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Componentes do índice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pct_agua_inad, pct_esgoto_inad, razao_moradores, pct_analfab, renda_inv, pct_raca_pretpardind, banheiro_graduado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original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Rotação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promax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Pesos das dimensões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60_40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ss_padrao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Normalização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municipal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1, 2, 3, 4, 5, 6, 7, 8, 9, 10, 11, 12, 13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10, 11, 12, 13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7240" y="4303014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4357878"/>
            <a:ext cx="10634472" cy="1677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peso das dimensões vem dos dados (soma dos quadrados das cargas padrão da promax), em vez da regra de especialista do IVS-BH (60% socioeconômica, 40% saneamento). As outras repartições pelos dados (estrutura, comunalidades) e a regra 60/40 da referência estão na tabela T34.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Sumário: os blocos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377440"/>
                <a:gridCol w="4937760"/>
                <a:gridCol w="26517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Pergunta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Itens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índice da versão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Como fica o índice, e ele separa os setores de favela?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T23, T24, T25, T26, T27, F24, F25, T34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Quem está em risco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Quantas pessoas, e quantas pessoas idosas, vivem em cada faixa?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T28, T29, F26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Desigualdade interna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Em que municípios o índice varia mais de um setor para outro?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T30, F27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Comparação com a referência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esta versão muda em relação à referência proposta do NB05?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T31, T32, T33, F28, F29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da versão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fica o índice, e ele separa os setores de favela?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T23 · T24 · T25 · T26 · T27 · F24 · F25 · T34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(invertida) tem o maior peso no índice (21,5%)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178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011680"/>
                <a:gridCol w="868680"/>
                <a:gridCol w="1280160"/>
                <a:gridCol w="118872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Carga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da dimensão (%)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no índice (%)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 (saneamento)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33,2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 (saneamento)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33,2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0,5827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66,8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66,8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19,3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0,9366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66,8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21,5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66,8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 (saneamento)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0,7260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33,2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12,4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componente: a dimensão em que ele carrega mais, a carga, o peso da dimensão e o peso final no índice (em %).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maior peso é o de Renda (invertida) (21,5%); a dimensão F1 (socioeconômica) pesa 66,8%.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T23 · tabelas/T23_pesos.csv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tem mediana 0,3667 e P90 0,4658, em 73.878 setores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5379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822960"/>
                <a:gridCol w="822960"/>
                <a:gridCol w="822960"/>
                <a:gridCol w="868680"/>
                <a:gridCol w="82296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Escopo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DP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0,3667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0,2572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0,3667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0,4658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7.329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0,2634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0,4634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13.097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0,4137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0,3063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0,4197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0,5093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0,4595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0,4506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0,5709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45.352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0,2529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0,4347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4.661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0,3081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0,2237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0,3055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0,3940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Descritivas do índice para o total e por região. Como o índice é normalizado dentro de cada município, todo município tem mínimo 0 e máximo 1.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73.878 setores; mediana 0,3667; percentil 90 0,4658.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T24 · tabelas/T24_indice_descritivas.csv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Pela regra do IVS-BH, 5,1% dos setores ficam em vulnerabilidade muito elevada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49377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645920"/>
                <a:gridCol w="1097280"/>
                <a:gridCol w="91440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Regra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indefinida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21.078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30.027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19.035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3.737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18.449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18.472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18.464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18.493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Quantos setores ficam em cada faixa, pelas duas regras: a do IVS-BH (média e desvio-padrão do município) e a dos quartis do município.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IVS-BH: 28,5% baixo e 5,1% muito elevado. Quartis: 25,0% muito elevado.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T25 · tabelas/T25_faixas.csv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municipal de 0,8374: o índice separa as favelas — versão elegível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675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097280"/>
                <a:gridCol w="23774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Detalhe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global contra FCU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municipal (mediana)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municípios na AUC municipal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ao menos 30 setores de FCU e fora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da dimensão F1 (socioeconômica) (%)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66,7945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 ≥ 0,70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MSA ≥ 0,50 em todas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comunalidade mínima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comunalidade ≥ 0,30 em todas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maior carga mínima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carga ≥ 0,40 em todas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elegível pelos critérios do NB05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global e municipal, peso da dimensão socioeconômica e os critérios de elegibilidade do NB05, um por linha (1 = atende).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global 0,8373; mediana da AUC municipal 0,8374, em 31 municípios. Pelos critérios do NB05, a versão é elegível.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T26 · tabelas/T26_auc_e_elegibilidade.csv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AUC vai de 0,6436 (Duque de Caxias) a 0,9547 (Campinas) entre os municípios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66928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91440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 (entra na mediana)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fora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Campinas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0,9547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16.325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Guarujá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Mauá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Guarulhos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Bernardo do Campo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0,9274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1.024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0,9264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2.977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Porto Alegre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0,9212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Brasília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0,9080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Curitiba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0,8974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2.017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Teresina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0,8963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Ananindeua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0,8779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Luís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0,8732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Rio de Janeiro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0,8724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7.284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Goiânia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Fortaleza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AUC, setores de FCU (n1) e fora (n0) e se o município entra na mediana.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os municípios que entram na mediana, a maior AUC é a de Campinas (0,9547) e a menor, a de Duque de Caxias (0,6436).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T27 · tabelas/T27_auc_por_municipio.csv  ·  Bloco 10. O índice da versão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AUC vai de 0,6436 (Duque de Caxias) a 0,9547 (Campinas) entre os municípios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66928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91440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 (entra na mediana)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fora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Recife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0,8264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dos Pinhais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0,8258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Salvador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0,8037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Nova Iguaçu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0,7997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Macaé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0,7941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Camaragibe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0,7913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Cachoeiro de Itapemirim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Maceió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0,7718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Feira de Santana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0,7703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Natal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0,7672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Manaus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0,7503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Belém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0,7457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Gonçalo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0,7327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de Ribamar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0,6808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Duque de Caxias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0,6436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25106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AUC, setores de FCU (n1) e fora (n0) e se o município entra na mediana.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os municípios que entram na mediana, a maior AUC é a de Campinas (0,9547) e a menor, a de Duque de Caxias (0,6436).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T27 · tabelas/T27_auc_por_municipio.csv  ·  Bloco 10. O índice da versão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distribuição do índice e as faixas do IVS-BH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D5_especialista_x_dados/figuras/F24_histograma_por_faix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433591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Histograma do índice, com cada barra dividida pela faixa dos setores (regra do IVS-BH).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28,5% dos setores ficam em baixo e 5,1% em muito elevado.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F24 · figuras/F24_histograma_por_faixa.png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Curva ROC do índice contra as favelas (AUC global 0,8373)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D5_especialista_x_dados/figuras/F25_curva_ro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4602" y="1243584"/>
            <a:ext cx="4857636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ponto da curva é um corte do índice: no eixo vertical, a proporção de setores de FCU acima do corte; no horizontal, a dos setores de fora. A diagonal é o acaso.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Área sob a curva: 0,8373 (global); a mediana municipal é 0,8374.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F25 · figuras/F25_curva_roc.png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especialista: 60/40 (referência), o índice fica com 73.878 setores e ρ = 0,9977 com o valor-padrão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452360" cy="914400"/>
        </p:xfrm>
        <a:graphic>
          <a:graphicData uri="http://schemas.openxmlformats.org/drawingml/2006/table">
            <a:tbl>
              <a:tblPr/>
              <a:tblGrid>
                <a:gridCol w="1636935"/>
                <a:gridCol w="775390"/>
                <a:gridCol w="775390"/>
                <a:gridCol w="646158"/>
                <a:gridCol w="732313"/>
                <a:gridCol w="689236"/>
                <a:gridCol w="646158"/>
                <a:gridCol w="775390"/>
                <a:gridCol w="77539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Recorte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global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mun.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Elegível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ρ com o padrão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muda 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valor-padrão desta versão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dados: soma dos quadrados (estrutura)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0,8250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dados: comunalidades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0,8286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especialista: 60/40 (referência)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695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valor do parâmetro exploratório: setores no recorte e no índice, KMO, AUC global e municipal, elegibilidade (1 = elegível), correlação de postos com o índice do valor-padrão e % de setores que mudam de faixa.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32042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25907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especialista: 60/40 (referência): 73.878 setores no índice (contra 73.878), AUC municipal 0,8186, ρ = 0,9977 com o valor-padrão e 4,3% dos setores comuns mudando de faixa.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T34 · tabelas/T34_sensibilidade.csv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está em risco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Quantas pessoas, e quantas pessoas idosas, vivem em cada faixa?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T28 · T29 · F26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Jaqueira tem a maior parte dos moradores em vulnerabilidade elevada ou muito elevada (56,9%)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492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188720"/>
                <a:gridCol w="1097280"/>
                <a:gridCol w="109728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muito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60+ muito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elevado ou mais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Jaqueira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2.055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56,9%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Vicentinópolis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1.927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Coroaci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1.853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Chapada dos Guimarães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4.084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41,9%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Placas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1.077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41,2%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Autazes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2.395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Rosário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Arara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Tabatinga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3.951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Guarujá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65.860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14.345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1.263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35,5%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setores, moradores e moradores de 60+ em cada faixa (regra do IVS-BH) e o percentual de moradores nas duas faixas mais altas.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percentual em elevado ou muito elevado: Jaqueira (56,9%); menor: São Raimundo do Doca Bezerra (0,0%).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T28 · tabelas/T28_risco_por_municipio.csv  ·  Bloco 11. Quem está em risco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Jaqueira tem a maior parte dos moradores em vulnerabilidade elevada ou muito elevada (56,9%)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492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188720"/>
                <a:gridCol w="1097280"/>
                <a:gridCol w="109728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muito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60+ muito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elevado ou mais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Camaragibe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19.132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5.910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Belém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125.578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46.845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4.941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Divinópolis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40.666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7.644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Guapiaçu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3.866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Ibatiba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2.843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Capelinha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4.062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Groaíras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Santa Maria do 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Orizânia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Raimundo do Doca Bezerra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4166362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setores, moradores e moradores de 60+ em cada faixa (regra do IVS-BH) e o percentual de moradores nas duas faixas mais altas.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8399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percentual em elevado ou muito elevado: Jaqueira (56,9%); menor: São Raimundo do Doca Bezerra (0,0%).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T28 · tabelas/T28_risco_por_municipio.csv  ·  Bloco 11. Quem está em risco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1.667.373 pessoas vivem em setores de vulnerabilidade muito elevada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492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1097280"/>
                <a:gridCol w="1097280"/>
                <a:gridCol w="91440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60+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pessoas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pessoas 60+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21.078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9.638.703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2.104.004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30.027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16.196.991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2.752.731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19.035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10.009.265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1.208.114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3.737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1.667.373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161.103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indefinida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faixa: setores, moradores e moradores de 60+, com os percentuais.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 faixa muito elevada: 1.667.373 pessoas (4,4% do total), das quais 161.103 com 60 anos ou mais.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T29 · tabelas/T29_risco_total.csv  ·  Bloco 11. Quem está em risco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parcela de moradores em cada faixa muda de município para município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D5_especialista_x_dados/figuras/F26_risco_por_municip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5208" y="1243584"/>
            <a:ext cx="3436423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barra por município, dividida pelas faixas do índice; o comprimento de cada parte é o percentual de moradores. Ordem: do maior para o menor percentual nas duas faixas mais altas.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topo, Jaqueira (56,9% em elevado ou muito elevado); na base, São Raimundo do Doca Bezerra (0,0%).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F26 · figuras/F26_risco_por_municipio.png  ·  Bloco 11. Quem está em risco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Desigualdade interna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que municípios o índice varia mais de um setor para outro?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T30 · F27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São Paulo das Missões tem a maior desigualdade interna do índice (Gini 0,4196)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7208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77240"/>
                <a:gridCol w="777240"/>
                <a:gridCol w="777240"/>
                <a:gridCol w="822960"/>
                <a:gridCol w="777240"/>
                <a:gridCol w="7772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P90/P10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Gini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Theil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 das Missões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0,5735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0,4196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Groaíras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0,5803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0,3670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0,3043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Orizânia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0,1783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0,1883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Placas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0,2046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0,7968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0,2971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Itajuípe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0,1798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0,2660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Santa Maria do 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0,2272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0,5550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Chapada dos Guimarães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0,1932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0,5751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0,2371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Urandi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0,1896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0,5646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0,2332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Tabatinga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0,1579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0,4858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0,2284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Japoatã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0,2532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0,6744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0,2246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setores, média, percentis 10 e 90 do índice, a razão P90/P10, o Gini e o Theil.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Gini: São Paulo das Missões (0,4196); menor: Salvador (0,0591).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T30 · tabelas/T30_desigualdade_interna.csv  ·  Bloco 12. Desigualdade interna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São Paulo das Missões tem a maior desigualdade interna do índice (Gini 0,4196)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7208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77240"/>
                <a:gridCol w="777240"/>
                <a:gridCol w="777240"/>
                <a:gridCol w="822960"/>
                <a:gridCol w="777240"/>
                <a:gridCol w="7772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P90/P10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Gini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Theil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19.433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0,4155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Campo Grande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1.261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0,2814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0,4560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Gonçalo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0,5137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Rio de Janeiro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9.479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0,3956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Guarulhos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1.944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0,2824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0,4446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Fortaleza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3.117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0,3052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0,4702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Manaus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1.849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0,3803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0,5622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0,2815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0,4265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Salvador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3.088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0,3410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0,4475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Raimundo do Doca Bezerra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401916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setores, média, percentis 10 e 90 do índice, a razão P90/P10, o Gini e o Theil.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Gini: São Paulo das Missões (0,4196); menor: Salvador (0,0591).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T30 · tabelas/T30_desigualdade_interna.csv  ·  Bloco 12. Desigualdade interna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desigualdade interna do índice, município por município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D5_especialista_x_dados/figuras/F27_desigualdade_intern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76402" y="1243584"/>
            <a:ext cx="3054037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Barras: Gini do índice dentro de cada município, do maior para o menor. Pontos: Theil.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maior Gini, São Paulo das Missões (0,4196), ao menor, Salvador (0,0591).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F27 · figuras/F27_desigualdade_interna.png  ·  Bloco 12. Desigualdade interna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Comparação com a referência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esta versão muda em relação à referência proposta do NB05?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T31 · T32 · T33 · F28 · F29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correlação de postos com a referência é 0,9977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1206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280160"/>
                <a:gridCol w="128016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Escopo (menores ρ)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comuns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ρ de Spearman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Raimundo do Doca Bezerra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Jaqueira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0,8286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Preta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0,9773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Guapiaçu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0,9782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Rosário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Ibatiba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Camaragibe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Manaus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1.849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Belém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Coroaci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Vicentinópolis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Charqueadas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Recife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Maceió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49744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Correlação de Spearman entre o índice desta versão e o da referência, nos setores que estão nas duas amostras: total e por município.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Total: ρ = 0,9977. Menor correlação municipal: Jaqueira (0,8286).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T31 · tabelas/T31_spearman_com_referencia.csv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troca de faixa é de medio para elevado (1.543 setores)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217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05840"/>
                <a:gridCol w="1005840"/>
                <a:gridCol w="100584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Referência ↓ · versão →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20.845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29.276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1.543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17.080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3.521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linha é um par (faixa na referência, faixa nesta versão), com o número de setores e o percentual do total.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Fora da diagonal, a maior célula é de medio para elevado, com 1.543 setores.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T32 · tabelas/T32_matriz_de_faixas.csv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4,3% dos setores mudam de faixa em relação à referência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9436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188720"/>
                <a:gridCol w="118872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comuns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Mudam de 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que muda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Todos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3.156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Raimundo do Doca Bezerra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Placas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Preta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Belém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Manaus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1.849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Maceió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Goianésia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Duque de Caxias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1.292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Recife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Camaragibe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Feira de Santana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Fortaleza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3.117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de Ribamar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Natal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dos Pinhais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49744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primeira linha é o total; as demais, os municípios, do mais afetado para o menos: setores comuns, setores que mudam de faixa e o percentual.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8399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total, 4,3% dos setores mudam de faixa; o município mais afetado é São Raimundo do Doca Bezerra (100,0%).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T33 · tabelas/T33_municipios_que_mudam.csv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faixas: referência × 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D5_especialista_x_dados/figuras/F28_matriz_de_faix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9196" y="1243584"/>
            <a:ext cx="5568449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Linhas: faixa na referência; colunas: faixa nesta versão; cada célula traz o número de setores.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troca fora da diagonal é de medio para elevado (1.543 setores).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F28 · figuras/F28_matriz_de_faixas.png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municípios mais afetados pela mudança da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D5_especialista_x_dados/figuras/F29_municipios_que_mud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3489" y="1243584"/>
            <a:ext cx="6459863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20 municípios com o maior percentual de setores que mudam de faixa.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mais afetado é São Raimundo do Doca Bezerra (100,0%); no total, 4,3%.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F29 · figuras/F29_municipios_que_mudam.png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 da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472184"/>
            <a:ext cx="5134356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45336"/>
            <a:ext cx="51343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0,8374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77240" y="2130552"/>
            <a:ext cx="51343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municipal contra FCU (mediana) (T26)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77356" y="1472184"/>
            <a:ext cx="5134356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77356" y="1545336"/>
            <a:ext cx="51343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4,3%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6277356" y="2130552"/>
            <a:ext cx="51343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que mudam de faixa em relação à referência (T33)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77240" y="292608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2980944"/>
            <a:ext cx="10634472" cy="3054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esta versão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dados dão à dimensão socioeconômica um peso um pouco maior que os 60% da regra do IVS-BH. O índice quase não muda: correlação de postos praticamente 1 e poucas trocas de faixa, com AUC municipal um pouco maior. Pesos de especialista e pesos dos dados levam, aqui, a resultados muito próximos.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Candidatos ao artigo: as tabelas e figuras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43584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Marcar no catálogo (colunas “Vai para o artigo?”, “Seção” e “Comentários”); os IDs são os mesmos em todas as versões.</a:t>
            </a:r>
            <a:endParaRPr lang="en-US" sz="11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09344"/>
          <a:ext cx="106070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914400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 no deck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 tem o maior peso no índice (21,5%)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índice tem mediana 0,3667 e P90 0,4658, em 73.878 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Pela regra do IVS-BH, 5,1% dos setores ficam em vulnerabilidade muito elevada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municipal de 0,8374: o índice separa as favelas — versão elegível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AUC vai de 0,6436 (Duque de Caxias) a 0,9547 (Campinas) entre os municípios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distribuição do índice e as faixas do IVS-BH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Curva ROC do índice contra as favelas (AUC global 0,8373)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Jaqueira tem a maior parte dos moradores em vulnerabilidade elevada ou muito elevada (56,9%)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1.667.373 pessoas vivem em setores de vulnerabilidade muito elevada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catalogo.csv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Candidatos ao artigo: as tabelas e figuras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43584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Marcar no catálogo (colunas “Vai para o artigo?”, “Seção” e “Comentários”); os IDs são os mesmos em todas as versões.</a:t>
            </a:r>
            <a:endParaRPr lang="en-US" sz="11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09344"/>
          <a:ext cx="106070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914400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 no deck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parcela de moradores em cada faixa muda de município para 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 das Missões tem a maior desigualdade interna do índice (Gini 0,4196)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desigualdade interna do índice, município por 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correlação de postos com a referência é 0,9977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maior troca de faixa é de medio para elevado (1.543 setores)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4,3% dos setores mudam de faixa em relação à referência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Matriz de faixas: referência × esta versão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municípios mais afetados pela mudança da versão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 especialista: 60/40 (referência), o índice fica com 73.878 setores e ρ = 0,9977 com o valor-padrão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catalogo.csv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 e parâmetros exploratórios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35024"/>
            <a:ext cx="10634472" cy="470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pesos pelos dados dependem da amostra do índice e do número de variáveis em cada dimensão.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amostra do índice exclui todo setor com algum componente faltante (exclusão por lista).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i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 parâmetro exploratório nesta versão.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Apêndice: dicionário dos indicadores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188720"/>
                <a:gridCol w="4206240"/>
                <a:gridCol w="1737360"/>
                <a:gridCol w="164592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mede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Numerador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Denominador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Quadro_Indicadores.csv (entrega à orientadora)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D5_especialista_x_dados — Pesos de especialista × pesos dos dados</dc:title>
  <dc:subject>PptxGenJS Presentation</dc:subject>
  <dc:creator>Pedro Dias Soares</dc:creator>
  <cp:lastModifiedBy>Pedro Dias Soares</cp:lastModifiedBy>
  <cp:revision>1</cp:revision>
  <dcterms:created xsi:type="dcterms:W3CDTF">2026-10-06T20:57:23Z</dcterms:created>
  <dcterms:modified xsi:type="dcterms:W3CDTF">2026-10-06T20:57:23Z</dcterms:modified>
</cp:coreProperties>
</file>