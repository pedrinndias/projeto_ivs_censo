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muda quando o peso das dimensões vem dos dados (fatorial) em vez da regra de especialista do IVS-BH (60/40), como em Gioia et al. (2020)?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peso das dimensões vem dos dados (soma dos quadrados das cargas padrão da promax), em vez da regra de especialista do IVS-BH (60% socioeconômica, 40% saneamento). As outras repartições pelos dados (estrutura, comunalidades) e a regra 60/40 da referência estão na tabela T34.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Renda (invertida) (21,5%); a dimensão F1 (socioeconômica) pesa 66,8%.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73.877 setores; mediana 0,3667; percentil 90 0,4658.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28,5% baixo e 5,1%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0,8373; mediana da AUC municipal 0,8374, em 31 municípios. Pelos critérios do NB05, a versão é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(0,9547) e a menor, a de Duque de Caxias (0,6436).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(0,9547) e a menor, a de Duque de Caxias (0,6436).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28,5% dos setores ficam em baixo e 5,1%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0,8373 (global); a mediana municipal é 0,8374.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ninguém fixou um parâmetro, a versão roda com um valor-padrão e esta tabela mostra o que muda com o valor alternativo. Correlação de postos perto de 1 e poucas trocas de faixa indicam que a escolha do parâmetro pesa pouco; o contrário indica que ela precisa ser decidida. Nenhum dos valores é decisão: é parâmetro exploratório.
Como ler: Uma linha por valor do parâmetro exploratório: setores no recorte e no índice, KMO, AUC global e municipal, elegibilidade (1 = elegível), correlação de postos com o índice do valor-padrão e % de setores que mudam de faixa.
O que mostra: Com especialista: 60/40 (referência): 73.878 setores no índice (contra 73.878), AUC municipal 0,8186, ρ = 0,9977 com o valor-padrão e 4,3% dos setores comuns mudando de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classifica setores, mas a pergunta de política pública é sobre pessoas. Este bloco soma moradores e moradores de 60 anos ou mais em cada faixa do índice, por município.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relativas ao município: todo município tem setores nas faixas altas, por construção. O que muda de um para outro é quanta gente mora nesses setores, porque os setores têm populações diferentes.
Como ler: Uma linha por município: setores, moradores e moradores de 60+ em cada faixa (regra do IVS-BH) e o percentual de moradores nas duas faixas mais altas.
O que mostra: Maior percentual em elevado ou muito elevado: Jaqueira (56,9%); menor: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relativas ao município: todo município tem setores nas faixas altas, por construção. O que muda de um para outro é quanta gente mora nesses setores, porque os setores têm populações diferentes.
Como ler: Uma linha por município: setores, moradores e moradores de 60+ em cada faixa (regra do IVS-BH) e o percentual de moradores nas duas faixas mais altas.
O que mostra: Maior percentual em elevado ou muito elevado: Jaqueira (56,9%); menor: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contagem de pessoas usa o total de moradores do setor (v0001) e a soma das faixas de 60 a 69 e de 70 anos ou mais. Só entram os setores da amostra do índice.
Como ler: Uma linha por faixa: setores, moradores e moradores de 60+, com os percentuais.
O que mostra: Na faixa muito elevada: 1.667.373 pessoas (4,4% do total), das quais 161.103 com 60 anos ou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mostra a tabela por município em forma de barras empilhadas. Um município em que as faixas altas ocupam muito da barra concentra população nos setores mais vulneráveis da cidade.
Como ler: Uma barra por município, dividida pelas faixas do índice; o comprimento de cada parte é o percentual de moradores. Ordem: do maior para o menor percentual nas duas faixas mais altas.
O que mostra: No topo, Jaqueira (56,9% em elevado ou muito elevado); na base,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 índice é normalizado dentro de cada município, a comparação entre cidades é sobre a desigualdade interna, não sobre o nível. Três medidas: a razão entre os percentis 90 e 10, o Gini e o Theil.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vai de 0 (todos os setores com o mesmo valor) a 1 (toda a soma concentrada num setor). O Theil também mede concentração, mas é mais sensível à cauda alta. A razão P90/P10 compara o setor no percentil 90 com o do percentil 10; como o índice começa em 0 em todo município, o P10 pode ser muito pequeno e a razão explodir, por isso ela fica vazia quando o P10 é zero.
Como ler: Uma linha por município: setores, média, percentis 10 e 90 do índice, a razão P90/P10, o Gini e o Theil.
O que mostra: Maior Gini: São Paulo das Missões (0,4196); menor: Salvador (0,0591).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vai de 0 (todos os setores com o mesmo valor) a 1 (toda a soma concentrada num setor). O Theil também mede concentração, mas é mais sensível à cauda alta. A razão P90/P10 compara o setor no percentil 90 com o do percentil 10; como o índice começa em 0 em todo município, o P10 pode ser muito pequeno e a razão explodir, por isso ela fica vazia quando o P10 é zero.
Como ler: Uma linha por município: setores, média, percentis 10 e 90 do índice, a razão P90/P10, o Gini e o Theil.
O que mostra: Maior Gini: São Paulo das Missões (0,4196); menor: Salvador (0,0591).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Gini e Theil apontam em sentidos diferentes para um município, a desigualdade dele está mais na cauda (poucos setores muito acima dos demais) do que no meio da distribuição.
Como ler: Barras: Gini do índice dentro de cada município, do maior para o menor. Pontos: Theil.
O que mostra: Do maior Gini, São Paulo das Missões (0,4196), ao menor, Salvador (0,0591).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0,9977. Menor correlação municipal: Jaqueira (0,8286).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medio para elevado, com 1.543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4,3% dos setores mudam de faixa; o município mais afetado é Placas (20,0%).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medio para elevado (1.543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Placas (20,0%); no total, 4,3%.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dados dão à dimensão socioeconômica um peso um pouco maior que os 60% da regra do IVS-BH. O índice quase não muda: correlação de postos praticamente 1 e poucas trocas de faixa, com AUC municipal um pouco maior. Pesos de especialista e pesos dos dados levam, aqui, a resultados muito próximos.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pelos dados dependem da amostra do índice e do número de variáveis em cada dimensão.
A amostra do índice exclui todo setor com algum componente faltante (exclusão por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D5_especialista_x_dados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Pesos de especialista × pesos dos dados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quando o peso das dimensões vem dos dados (fatorial) em vez da regra de especialista do IVS-BH (60/40), como em Gioia et al. (2020)?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pct_agua_inad, pct_esgoto_inad, razao_moradores, pct_analfab, renda_inv, pct_raca_pretpardind, banheiro_graduado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ss_padrao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peso das dimensões vem dos dados (soma dos quadrados das cargas padrão da promax), em vez da regra de especialista do IVS-BH (60% socioeconômica, 40% saneamento). As outras repartições pelos dados (estrutura, comunalidades) e a regra 60/40 da referência estão na tabela T34.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F25, T34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Quem está em risco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Quantas pessoas, e quantas pessoas idosas, vivem em cada faixa?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T28, T29, F26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Desigualdade interna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Em que municípios o índice varia mais de um setor para outro?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T30, F27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 · T34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o maior peso no índice (21,5%)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Renda (invertida) (21,5%); a dimensão F1 (socioeconômica) pesa 66,8%.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0,3667 e P90 0,4658, em 73.877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73.877 setores; mediana 0,3667; percentil 90 0,4658.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5,1%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21.078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30.027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28,5% baixo e 5,1%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0,8374: o índice separa as favelas — versão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F1 (socioeconômica)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66,7945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0,8373; mediana da AUC municipal 0,8374, em 31 municípios. Pelos critérios do NB05, a versão é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0,6436 (Duque de Caxias) a 0,9547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(0,9547) e a menor, a de Duque de Caxias (0,6436).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0,6436 (Duque de Caxias) a 0,9547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(0,9547) e a menor, a de Duque de Caxias (0,6436).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5_especialista_x_dados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3359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28,5% dos setores ficam em baixo e 5,1%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0,8373)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5_especialista_x_dados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0,8373 (global); a mediana municipal é 0,8374.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especialista: 60/40 (referência), o índice fica com 73.878 setores e ρ = 0,9977 com o valor-padrão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636935"/>
                <a:gridCol w="775390"/>
                <a:gridCol w="775390"/>
                <a:gridCol w="646158"/>
                <a:gridCol w="732313"/>
                <a:gridCol w="689236"/>
                <a:gridCol w="646158"/>
                <a:gridCol w="775390"/>
                <a:gridCol w="77539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com o 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muda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valor-padrão desta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dados: soma dos quadrados (estrutura)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dados: comunalidades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especialista: 60/40 (referência)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valor do parâmetro exploratório: setores no recorte e no índice, KMO, AUC global e municipal, elegibilidade (1 = elegível), correlação de postos com o índice do valor-padrão e %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32042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25907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especialista: 60/40 (referência): 73.878 setores no índice (contra 73.878), AUC municipal 0,8186, ρ = 0,9977 com o valor-padrão e 4,3% dos setores comuns mudando de faixa.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T34 · tabelas/T34_sensibilidade.csv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está em risco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pessoas, e quantas pessoas idosas, vivem em cada faixa?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T28 · T29 · F26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Jaqueira tem a maior parte dos moradores em vulnerabilidade elevada ou muito elevada (56,9%)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60+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elevado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65.860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14.345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moradores e moradores de 60+ em cada faixa (regra do IVS-BH) e o percentual de moradores nas duas faixas mais altas.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percentual em elevado ou muito elevado: Jaqueira (56,9%); menor: São Raimundo do Doca Bezerra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T28 · tabelas/T28_risco_por_municipio.csv  ·  Bloco 11. Quem está em risco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Jaqueira tem a maior parte dos moradores em vulnerabilidade elevada ou muito elevada (56,9%)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60+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elevado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19.132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125.578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46.845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40.666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16636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moradores e moradores de 60+ em cada faixa (regra do IVS-BH) e o percentual de moradores nas duas faixas mais altas.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percentual em elevado ou muito elevado: Jaqueira (56,9%); menor: São Raimundo do Doca Bezerra (0,0%).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T28 · tabelas/T28_risco_por_municipio.csv  ·  Bloco 11. Quem está em risco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1.667.373 pessoas vivem em setores de vulnerabilidade muito elevada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097280"/>
                <a:gridCol w="10972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pessoas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21.078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9.638.703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2.104.004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30.027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16.196.991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2.752.731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10.009.265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1.208.114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1.667.373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161.103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faixa: setores, moradores e moradores de 60+, com os percentuais.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faixa muito elevada: 1.667.373 pessoas (4,4% do total), das quais 161.103 com 60 anos ou mais.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T29 · tabelas/T29_risco_total.csv  ·  Bloco 11. Quem está em risco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parcela de moradores em cada faixa muda de município para município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5_especialista_x_dados/figuras/F26_risco_por_munici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5208" y="1243584"/>
            <a:ext cx="343642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município, dividida pelas faixas do índice; o comprimento de cada parte é o percentual de moradores. Ordem: do maior para o menor percentual nas duas faixas mais altas.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topo, Jaqueira (56,9% em elevado ou muito elevado); na base, São Raimundo do Doca Bezerra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F26 · figuras/F26_risco_por_municipio.png  ·  Bloco 11. Quem está em risco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Desigualdade interna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que municípios o índice varia mais de um setor para outro?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T30 · F27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das Missões tem a maior desigualdade interna do índice (Gini 0,4196)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20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822960"/>
                <a:gridCol w="777240"/>
                <a:gridCol w="7772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P90/P10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média, percentis 10 e 90 do índice, a razão P90/P10, o Gini e o Theil.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Gini: São Paulo das Missões (0,4196); menor: Salvador (0,0591).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T30 · tabelas/T30_desigualdade_interna.csv  ·  Bloco 12. Desigualdade interna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das Missões tem a maior desigualdade interna do índice (Gini 0,4196)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20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822960"/>
                <a:gridCol w="777240"/>
                <a:gridCol w="7772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P90/P10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média, percentis 10 e 90 do índice, a razão P90/P10, o Gini e o Theil.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Gini: São Paulo das Missões (0,4196); menor: Salvador (0,0591).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T30 · tabelas/T30_desigualdade_interna.csv  ·  Bloco 12. Desigualdade interna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desigualdade interna do índice, município por município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5_especialista_x_dados/figuras/F27_desigualdade_inter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402" y="1243584"/>
            <a:ext cx="3054037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Barras: Gini do índice dentro de cada município, do maior para o menor. Pontos: Theil.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maior Gini, São Paulo das Missões (0,4196), ao menor, Salvador (0,0591).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F27 · figuras/F27_desigualdade_interna.png  ·  Bloco 12. Desigualdade interna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0,9977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0,9977. Menor correlação municipal: Jaqueira (0,8286).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medio para elevado (1.543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20.845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29.276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17.080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medio para elevado, com 1.543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4,3% dos setores mudam de faixa; o município mais afetado é Placas (20,0%).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5_especialista_x_dados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medio para elevado (1.543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5_especialista_x_dados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322" y="1243584"/>
            <a:ext cx="598019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Placas (20,0%); no total, 4,3%.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5134356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51343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0,8374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51343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77356" y="1472184"/>
            <a:ext cx="5134356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77356" y="1545336"/>
            <a:ext cx="51343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77356" y="2130552"/>
            <a:ext cx="51343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dados dão à dimensão socioeconômica um peso um pouco maior que os 60% da regra do IVS-BH. O índice quase não muda: correlação de postos praticamente 1 e poucas trocas de faixa, com AUC municipal um pouco maior. Pesos de especialista e pesos dos dados levam, aqui, a resultados muito próximos.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o maior peso no índice (21,5%)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0,3667 e P90 0,4658, em 73.877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5,1%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0,8374: o índice separa as favelas — versão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0,6436 (Duque de Caxias) a 0,9547 (Campinas)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0,8373)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 tem a maior parte dos moradores em vulnerabilidade elevada ou muito elevada (56,9%)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1.667.373 pessoas vivem em setores de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parcela de moradores em cada faixa muda de município para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 tem a maior desigualdade interna do índice (Gini 0,4196)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desigualdade interna do índice, município por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0,9977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medio para elevado (1.543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especialista: 60/40 (referência), o índice fica com 73.878 setores e ρ = 0,9977 com o valor-padrão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pesos pelos dados dependem da amostra do índice e do número de variáveis em cada dimensão.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D5_especialista_x_dados — Pesos de especialista × pesos dos dados</dc:title>
  <dc:subject>PptxGenJS Presentation</dc:subject>
  <dc:creator>Pedro Dias Soares</dc:creator>
  <cp:lastModifiedBy>Pedro Dias Soares</cp:lastModifiedBy>
  <cp:revision>1</cp:revision>
  <dcterms:created xsi:type="dcterms:W3CDTF">2026-10-23T00:07:04Z</dcterms:created>
  <dcterms:modified xsi:type="dcterms:W3CDTF">2026-10-23T00:07:04Z</dcterms:modified>
</cp:coreProperties>
</file>