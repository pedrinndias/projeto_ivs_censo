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quando a razão de moradores é trocada por outra medida de moradia?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componente de moradia do índice: a habitação precária entra no lugar da razão de moradores. Domicílio improvisado, moradia não convencional e a razão de moradores da referência estão na tabela T34. Os blocos 2 a 7 descrevem só as variáveis de moradia.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descritivas resumem cada indicador em poucos números: o centro (média e mediana), a dispersão (desvio-padrão, quartis, percentis 10 e 90) e a forma (assimetria e curtose). Elas aparecem para o conjunto, por região e por município, para que diferenças de lugar fiquem visíveis antes de qualquer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Domicílio improvisado (37,38); o maior percentual de zeros é o de Domicílio improvisado (99,2%).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Razão de moradores, a mediana mais alta está no Norte (3,1938) e a mais baixa no Sul (2,5992).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Razão de moradores, a maior mediana municipal é a de Portel (4,2274); a menor, a de Porto Alegre (2,3770).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Razão de moradores, a maior mediana municipal é a de Portel (4,2274); a menor, a de Porto Alegre (2,3770).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bloco anterior escondem a forma da distribuição. Histogramas, caixas e curvas de densidade mostram se o indicador se concentra em zero, se tem cauda longa ou se separa regiões. Cada painel reúne os indicadores de uma dimensão.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Socioeconômica, a maior assimetria é a de Razão de moradores (-0,22).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(Razão de moradores), a mediana regional vai de 2,5992 (Sul) a 3,1938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Razão de moradores, a mediana regional vai de 2,5992 (Sul) a 3,1938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Morfologia, a maior assimetria é a de Domicílio improvisado (37,38).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(Domicílio improvisado), a mediana regional vai de 0,0000 (Centro-Oeste) a 0,0000 (Centro-Oeste).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Domicílio improvisado, a mediana regional vai de 0,0000 (Centro-Oeste) a 0,0000 (Centro-Oeste).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IBGE não divulga alguns valores para proteger o sigilo de setores pequenos. Se a falta fosse aleatória, bastaria descartar os setores sem dado; como ela se concentra em setores pequenos, descartar muda o retrato. Este bloco mostra onde estão os faltantes e como eles se distribuem pelo tamanho do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faltantes não se espalham por igual entre os municípios. Onde eles se concentram, um índice calculado só com setores completos retrata pior o município, porque os setores que saem não são uma amostra ao acaso.
Como ler: Uma linha por município e uma coluna por indicador; cada célula é o percentual de setores do município sem aquele indicador.
O que mostra: A célula mais alta é Domicílio improvisado em Vicentinópolis, com 63,6% dos setores sem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calor mostra a tabela anterior como cores. Colunas inteiras escuras indicam indicadores com sigilo ou denominador frequentemente zero; linhas escuras indicam municípios com muitos setores pequenos.
Como ler: Mapa de calor: linhas são municípios, colunas são indicadores; quanto mais escura a célula, maior o percentual de setores sem valor.
O que mostra: O ponto mais escuro é Domicílio improvisado em Vicentinópolis (63,6%).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falta de dados fosse aleatória, o percentual de faltantes seria parecido em todos os décimos. Quando ele se concentra nos setores pequenos, a falta é não aleatória: o IBGE suprime valores para proteger o sigilo de quem mora em setores com poucos domicílios. A consequência é que análises só com setores completos sub-representam setores pequenos.
Como ler: Os setores são divididos em dez grupos iguais pelo número de moradores (1 = os menores). Para cada grupo, o percentual de setores sem renda e sem analfabetismo, e o percentual em FCU.
O que mostra: Sem renda: 0,1% no primeiro décimo e 0,0% no último. Sem analfabetismo: 29,4% e 3,9%.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linhas mostram a mesma tabela em forma de gráfico. Uma linha que desce da esquerda para a direita é o sinal do sigilo: quanto menor o setor, mais provável que o valor tenha sido suprimido.
Como ler: Eixo horizontal: décimo de moradores do setor (1 = menores). Eixo vertical: percentual de setores sem o indicador.
O que mostra: Renda: de 0,1% a 0,0%; analfabetismo: de 29,4% a 3,9%, do menor ao maior décimo.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extremo não é um erro por definição: pode ser um setor realmente diferente. O critério muda com o indicador: o intervalo interquartil onde ele funciona, um critério próprio para a renda e, nos indicadores em que a maioria dos setores vale zero, o critério aplicado só aos valores acima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Moradia convencional (6,8%),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total soma marcações, não setores: um setor extremo em dois indicadores conta duas vezes. Municípios grandes tendem a ter mais marcações só por terem mais setores; a comparação justa é com o número de setores de cada um (bloco 2).
Como ler: Uma linha por município e uma coluna por indicador, com o número de setores marcados; a coluna total soma todas as marcações.
O que mostra: O município com mais marcações é São Paulo, com 2.394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Razão de moradores está um setor de Rio de Janeiro, com valor 6,9135.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percentuais não são comparáveis de forma direta entre critérios diferentes: o critério da inflação de zeros olha só os setores com valor acima de zero. O gráfico serve para localizar os indicadores em que os extremos merecem atenção.
Como ler: Uma barra por indicador, com o percentual de setores marcados; a cor indica o critério (petróleo: Tukey; cinza: inflação de zeros; argila: renda).
O que mostra: A barra mais longa é a de Moradia convencional (6,8%).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mede o quanto dois indicadores sobem e descem juntos, de −1 a 1. Pares muito correlacionados medem quase a mesma coisa; pares sem correlação trazem informação diferente. O bloco mostra as duas medidas usuais (Spearman, por postos, e Pearson, linear) e agrupa os indicadores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Spearman é calculada sobre os postos (a ordem dos setores), não sobre os valores. Por isso é pouco afetada por extremos e capta relações que sobem sempre, mesmo que não em linha reta. Valor perto de 1: os setores ordenados por um indicador ficam quase na mesma ordem pelo outro; perto de −1: ordem invertida; perto de 0: sem relação de ordem. Cada par usa os setores com os dois valores.
Como ler: Matriz de correlação de Spearman: cada célula é a correlação entre o indicador da linha e o da coluna, de −1 a 1.
O que mostra: A maior correlação em módulo é entre Habitação precária e Moradia não convencional (ρ = 0,9646).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Pearson mede a relação em linha reta entre os valores. Ela é sensível a extremos e a distribuições muito assimétricas, como as do saneamento. Quando Pearson e Spearman divergem muito para um mesmo par, a relação é puxada por poucos setores extremos ou não é linear.
Como ler: Matriz de correlação de Pearson, com a mesma leitura da de Spearman.
O que mostra: A maior correlação de Pearson em módulo é entre Moradia convencional e Moradia não convencional (r = -0,9767).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Habitação precária × Moradia não convencional, com Spearman 0,9646 e Pearson 0,9355.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reordenação põe lado a lado os indicadores que se correlacionam entre si, e os blocos de cor ao longo da diagonal revelam os grupos. Um grupo nítido costuma corresponder a uma dimensão: socioeconômica, saneamento, moradia, idade.
Como ler: Mapa de calor da correlação de Spearman, com os indicadores reordenados pelo agrupamento do dendrograma; argila é correlação positiva, petróleo negativa.
O que mostra: O par mais forte é Habitação precária × Moradia não convencional (ρ = 0,9646).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dendrograma é o resultado de um agrupamento hierárquico: começa com cada indicador sozinho e, a cada passo, une os dois grupos mais próximos. A distância entre dois indicadores é 1 menos o módulo da correlação de Spearman (0 = idênticos, 1 = sem relação); entre grupos, usa-se a média das distâncias (ligação média). Ele é um retrato descritivo: não substitui a análise fatorial.
Como ler: Cada indicador é uma folha à esquerda; as linhas os unem do mais parecido para o menos. Quanto mais à esquerda a união, mais correlacionados os indicadores.
O que mostra: O par mais próximo é Habitação precária × Moradia não convencional (ρ = 0,9646).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favelas e comunidades urbanas delimitadas pelo IBGE servem de referência externa: um bom indicador de vulnerabilidade deve ter valores mais altos nelas. A comparação usa medianas e a AUC, que mede a capacidade de separar 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Razão de moradores tem AUC 0,7166 (mediana 2,9167 em FCU e 2,6692 fora); a menor AUC é a de Apartamento (0,2383).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que partem de 0,5 deixam claro o sentido: argila para a direita, o indicador é maior nas favelas; petróleo para a esquerda, é menor. O painel das medianas mostra a mesma comparação em valores absolutos, o que ajuda a separar uma diferença grande em termos relativos de uma diferença grande de fato.
Como ler: À esquerda, a AUC de cada indicador (barras a partir de 0,5; argila acima, petróleo abaixo). À direita, as medianas em FCU e fora, para os indicadores em proporção.
O que mostra: A maior AUC é a de Razão de moradores (0,7166); a menor, a de Apartamento (0,2383).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0,7443, com 73.878 setores; Kaiser retém 3 fatores e Horn, 2; dois fatores explicam 57,4%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Habitação precária (0,6541). Menor comunalidade (promax): Habitação precária (0,3415).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2,9117, segundo 1,1057 (Horn: 1,0155); os dois primeiros explicam 57,4%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0,3588.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1,1057, contra 1,0155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(0,9491); em F2: Banheiro graduado (0,7598).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(20,1%);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0,3137; percentil 90 0,3913.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28,1% baixo e 4,7%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0,8546; mediana da AUC municipal 0,8522,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(0,9538) e a menor, a de São José de Ribamar (0,6733).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(0,9538) e a menor, a de São José de Ribamar (0,6733).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28,1% dos setores ficam em baixo e 4,7%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0,8546 (global); a mediana municipal é 0,8522.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razão de moradores (referência): 73.878 setores no índice (contra 73.878), AUC municipal 0,8186, ρ = 0,9735 com o valor-padrão e 11,3%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0,9735. Menor correlação municipal: Japoatã (0,8000).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medio para elevado, com 2.723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11,3%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medio para elevado (2.723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11,3%.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Trocar a razão de moradores pela habitação precária mantém o índice elegível, baixa o KMO e eleva a AUC contra as favelas; cerca de um em cada dez setores muda de faixa em relação à referência. A moradia não convencional dá praticamente o mesmo índice que a habitação precária (as duas medem quase a mesma coisa); o domicílio improvisado reduz a amostra e não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Habitação precária, improvisado e moradia não convencional têm mediana zero e poucos setores com valor.
As variáveis de tipo de moradia (casa, apartamento, vila) descrevem a morfologia, não carência; ficam só nas descritivas.
A amostra do índice exclui todo setor com algum componente faltante (exclusão por lista); trocar um componente muda também 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B6_moradia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definições de moradia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quando a razão de moradores é trocada por outra medida de moradia?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razao_moradores, pct_dom_improv, Habitação precária, pct_moradia_convencional, pct_moradia_nao_convencional, pct_apartamento, pct_casa, pct_casa_vila_condominio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razao_moradores,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Habitação precária,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2, 3, 4, 5, 6, 7, 9, 10, 13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77088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825746"/>
            <a:ext cx="10634472" cy="1209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componente de moradia do índice: a habitação precária entra no lugar da razão de moradores. Domicílio improvisado, moradia não convencional e a razão de moradores da referência estão na tabela T34. Os blocos 2 a 7 descrevem só as variáveis de moradia.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Descritivas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Qual é o valor típico de cada indicador, e quanto ele varia?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T03, T04, T05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forma tem cada indicador, e ela muda de uma região para outra?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F05, F06, F07, F08, F09, F10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Faltantes e sigilo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faltam dados, e a falta é aleatória?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T06, F14, T07, F15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setores têm valores fora do comum, e por qual critério?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T08, T09, T10, F16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Correlações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indicadores andam juntos?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T12, T13, T14, F17, F18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(FCU)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Cada indicador, sozinho, separa os setores de favela dos demais?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T15, F19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valor típico de cada indicador, e quanto ele varia?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T03 · T04 · T05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Domicílio improvisado é o indicador mais assimétrico (assimetria 37,38)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98.969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-12,34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95.005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99.642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91.304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Domicílio improvisado (37,38); o maior percentual de zeros é o de Domicílio improvisado (99,2%).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moradores: a mediana vai de 2,5992 (Sul) a 3,1938 (Norte)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2,7834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2,5992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2,8025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52640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Razão de moradores, a mediana mais alta está no Norte (3,1938) e a mais baixa no Sul (2,5992).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moradores: entre os municípios, a mediana vai de 2,3770 a 4,2274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Razão de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3,6903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4,2274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3,1701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3,6384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3,3813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3,9403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3,6963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3,0743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3,2633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3,4459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3,1157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3,4276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2,7911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3,2888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3,4076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Razão de moradores, a maior mediana municipal é a de Portel (4,2274); a menor, a de Porto Alegre (2,3770).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moradores: entre os municípios, a mediana vai de 2,3770 a 4,2274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Razão de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2,3122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2,6207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2,8895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2,1612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2,6068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2,5989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2,5649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2,8998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2,4952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2,5573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2,3770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Razão de moradores, a maior mediana municipal é a de Portel (4,2274); a menor, a de Porto Alegre (2,3770).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forma tem cada indicador, e ela muda de uma região para outra?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F05 · F06 · F07 · F08 · F09 · F10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Razão de moradores tem a distribuição mais assimétrica (assimetria -0,22)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05_histogramas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598" y="1243584"/>
            <a:ext cx="6523644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Socioeconômica, a maior assimetria é a de Razão de moradores (-0,22).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F05 · figuras/F05_histogramas_socioeconomica.png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Razão de moradores tem mediana de 3,1938 no Norte e 2,5992 no Sul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06_boxplot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567" y="1243584"/>
            <a:ext cx="649570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(Razão de moradores), a mediana regional vai de 2,5992 (Sul) a 3,1938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F06 · figuras/F06_boxplots_regiao_socioeconomica.png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07_densidade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8736" y="1243584"/>
            <a:ext cx="6649368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Razão de moradores, a mediana regional vai de 2,5992 (Sul) a 3,1938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F07 · figuras/F07_densidades_regiao_socioeconomica.png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Domicílio improvisado tem a distribuição mais assimétrica (assimetria 37,38)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08_histogramas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72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Morfologia, a maior assimetria é a de Domicílio improvisado (37,38).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F08 · figuras/F08_histogramas_morfologia.png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Domicílio improvisado tem mediana de 0,0000 no Centro-Oeste e 0,0000 no Centro-Oeste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09_boxplots_regiao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86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(Domicílio improvisado), a mediana regional vai de 0,0000 (Centro-Oeste) a 0,0000 (Centro-Oeste).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F09 · figuras/F09_boxplots_regiao_morfologia.png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10_densidades_regiao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01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Domicílio improvisado, a mediana regional vai de 0,0000 (Centro-Oeste) a 0,0000 (Centro-Oeste).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F10 · figuras/F10_densidades_regiao_morfologia.png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Faltantes e sigilo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faltam dados, e a falta é aleatória?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T06 · F14 · T07 · F15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Domicílio improvisado em Vicentinópolis (63,6%)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69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51560"/>
                <a:gridCol w="1051560"/>
                <a:gridCol w="10515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(% sem valor)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pct_dom_improv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pct_casa_vila_condominio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pct_casa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indicador; cada célula é o percentual de setores do município sem aquele indicador.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célula mais alta é Domicílio improvisado em Vicentinópolis, com 63,6% dos setores sem valor.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T06 · tabelas/T06_faltantes_por_municipio.csv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faltantes se concentram em poucos indicadores 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14_mapa_falt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3021" y="1243584"/>
            <a:ext cx="4440798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calor: linhas são municípios, colunas são indicadores; quanto mais escura a célula, maior o percentual de setores sem valor.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mais escuro é Domicílio improvisado em Vicentinópolis (63,6%).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F14 · figuras/F14_mapa_faltantes.png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falta em 29,4% dos menores setores e em 3,9% dos maiores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  <a:gridCol w="1097280"/>
                <a:gridCol w="12801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Décimo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(mín.)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(máx.)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renda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analfabetismo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em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são divididos em dez grupos iguais pelo número de moradores (1 = os menores). Para cada grupo, o percentual de setores sem renda e sem analfabetismo, e o percentual em FCU.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renda: 0,1% no primeiro décimo e 0,0% no último. Sem analfabetismo: 29,4% e 3,9%.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T07 · tabelas/T07_sigilo_por_porte_do_setor.csv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falta de dados depende do tamanho do setor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15_sigilo_por_porte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0139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horizontal: décimo de moradores do setor (1 = menores). Eixo vertical: percentual de setores sem o indicador.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de 0,1% a 0,0%; analfabetismo: de 29,4% a 3,9%, do menor ao maior décimo.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F15 · figuras/F15_sigilo_por_porte_do_setor.png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setores têm valores fora do comum, e por qual critério?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T08 · T09 · T10 · F16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 convencional tem a maior proporção de extremos (6,8%)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4,2676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Moradia convencional (6,8%),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concentra o maior número de marcações de extremo (2.394)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97280"/>
                <a:gridCol w="109728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pct_casa_vila_condominio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pct_moradia_nao_convencional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indicador, com o número de setores marcados; a coluna total soma todas as marcações.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município com mais marcações é São Paulo, com 2.394 no total.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T09 · tabelas/T09_extremos_por_municipio.csv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330455705080087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330455705300460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130260305110210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0336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Razão de moradores está um setor de Rio de Janeiro, com valor 6,9135.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proporção de extremos varia muito de um indicador para outro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16_extremos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8835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indicador, com o percentual de setores marcados; a cor indica o critério (petróleo: Tukey; cinza: inflação de zeros; argila: renda).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mais longa é a de Moradia convencional (6,8%).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F16 · figuras/F16_extremos_por_indicador.png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indicadores andam juntos?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T12 · T13 · T14 · F17 · F18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e Moradia não convencional formam o par mais correlacionado (ρ = 0,9646)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3591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9489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Spearman: cada célula é a correlação entre o indicador da linha e o da coluna, de −1 a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em módulo é entre Habitação precária e Moradia não convencional (ρ = 0,9646).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T12 · tabelas/T12_correlacao_spearman.csv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correlação linear, o par mais forte é Moradia convencional × Moradia não convencional (r = -0,9767)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3591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9489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Pearson, com a mesma leitura da de Spearman.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de Pearson em módulo é entre Moradia convencional e Moradia não convencional (r = -0,9767).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T13 · tabelas/T13_correlacao_pearson.csv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Habitação precária × Moradia não convencional (ρ = 0,9646)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-0,9016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-0,9512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-0,9767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-0,4906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Habitação precária × Moradia não convencional, com Spearman 0,9646 e Pearson 0,9355.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formam grupos de correlação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17_mapa_spear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4838" y="1243584"/>
            <a:ext cx="5977164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 da correlação de Spearman, com os indicadores reordenados pelo agrupamento do dendrograma; argila é correlação positiva, petróleo negativa.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forte é Habitação precária × Moradia não convencional (ρ = 0,9646).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F17 · figuras/F17_mapa_spearman.png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dendrograma junta os indicadores que medem coisas parecidas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18_dend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978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uma folha à esquerda; as linhas os unem do mais parecido para o menos. Quanto mais à esquerda a união, mais correlacionados os indicadores.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próximo é Habitação precária × Moradia não convencional (ρ = 0,9646).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F18 · figuras/F18_dendrograma.png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 (FCU)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indicador, sozinho, separa os setores de favela dos demais?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T15 · F19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 é o indicador que mais separa as favelas (AUC 0,7166)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16.793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 tem AUC 0,7166 (mediana 2,9167 em FCU e 2,6692 fora); a menor AUC é a de Apartamento (0,2383).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separam as favelas com força muito diferente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19_fcu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1898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AUC de cada indicador (barras a partir de 0,5; argila acima, petróleo abaixo). À direita, as medianas em FCU e fora, para os indicadores em proporção.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AUC é a de Razão de moradores (0,7166); a menor, a de Apartamento (0,2383).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F19 · figuras/F19_fcu_por_indicador.png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0,7443: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167.949,3883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57,3915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0,7443, com 73.878 setores; Kaiser retém 3 fatores e Horn, 2; dois fatores explicam 57,4%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tem a menor adequação individual (MSA 0,6541)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Habitação precária (0,6541). Menor comunalidade (promax): Habitação precária (0,3415).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(1,1057) fica acima da linha de Horn (1,0155)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1,1057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71,7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2,9117, segundo 1,1057 (Horn: 1,0155); os dois primeiros explicam 57,4%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0,3588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0,3588.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1,1057, contra 1,0155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Banheiro graduado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772" y="1243584"/>
            <a:ext cx="554529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(0,9491); em F2: Banheiro graduado (0,7598).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(20,1%)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(20,1%);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0,3137 e P90 0,3913,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0,3137; percentil 90 0,3913.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4,7%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20.772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30.104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19.547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28,1% baixo e 4,7%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0,8522: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0,8546; mediana da AUC municipal 0,8522,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0,6733 (São José de Ribamar) a 0,9538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(0,9538) e a menor, a de São José de Ribamar (0,6733).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0,6733 (São José de Ribamar) a 0,9538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(0,9538) e a menor, a de São José de Ribamar (0,6733).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28,1% dos setores ficam em baixo e 4,7%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0,8546)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0,8546 (global); a mediana municipal é 0,8522.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razão de moradores (referência), o índice fica com 73.878 setores e ρ = 0,9735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70.286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razão de moradores (referência): 73.878 setores no índice (contra 73.878), AUC municipal 0,8186, ρ = 0,9735 com o valor-padrão e 11,3%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0,9735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0,9735. Menor correlação municipal: Japoatã (0,8000).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medio para elevado (2.723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19.672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15.770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medio para elevado, com 2.723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11,3%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8.361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11,3%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medio para elevado (2.723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6_moradia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11,3%.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0,7443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0,8522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11,3%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a razão de moradores pela habitação precária mantém o índice elegível, baixa o KMO e eleva a AUC contra as favelas; cerca de um em cada dez setores muda de faixa em relação à referência. A moradia não convencional dá praticamente o mesmo índice que a habitação precária (as duas medem quase a mesma coisa); o domicílio improvisado reduz a amostra e não é elegível.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 é o indicador mais assimétrico (assimetria 37,38)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moradores: a mediana vai de 2,5992 (Sul) a 3,1938 (Norte)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moradores: entre os municípios, a mediana vai de 2,3770 a 4,2274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Razão de moradores tem a distribuição mais assimétrica (assimetria -0,22)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Razão de moradores tem mediana de 3,1938 no Norte e 2,5992 no 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Domicílio improvisado tem a distribuição mais assimétrica (assimetria 37,38)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Domicílio improvisado tem mediana de 0,0000 no Centro-Oeste e 0,0000 no 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maior percentual de faltantes é o de Domicílio improvisado em Vicentinópolis (63,6%)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faltantes se concentram em poucos indicadores 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analfabetismo falta em 29,4% dos menores setores e em 3,9% dos maiores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falta de dados depende do tamanho do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tem a maior proporção de extremos (6,8%)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concentra o maior número de marcações de extremo (2.394)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setores mais distantes da mediana, indicador por 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proporção de extremos varia muito de um indicador para outro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e Moradia não convencional formam o par mais correlacionado (ρ = 0,9646)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 correlação linear, o par mais forte é Moradia convencional × Moradia não convencional (r = -0,9767)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par mais redundante é Habitação precária × Moradia não convencional (ρ = 0,9646)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formam grupos de correlação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dendrograma junta os indicadores que medem coisas parecidas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 é o indicador que mais separa as favelas (AUC 0,7166)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separam as favelas com força muito diferente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0,7443: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tem a menor adequação individual (MSA 0,6541)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(1,1057) fica acima da linha de Horn (1,0155)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0,3588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Banheiro graduado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(20,1%)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0,3137 e P90 0,3913,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4,7%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0,8522: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0,6733 (São José de Ribamar) a 0,9538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0,8546)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0,9735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medio para elevado (2.723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razão de moradores (referência), o índice fica com 73.878 setores e ρ = 0,9735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3 de 3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precária, improvisado e moradia não convencional têm mediana zero e poucos setores com valor.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variáveis de tipo de moradia (casa, apartamento, vila) descrevem a morfologia, não carência; ficam só nas descritivas.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lista); trocar um componente muda também a amostra.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B6_moradia — As definições de moradia</dc:title>
  <dc:subject>PptxGenJS Presentation</dc:subject>
  <dc:creator>Pedro Dias Soares</dc:creator>
  <cp:lastModifiedBy>Pedro Dias Soares</cp:lastModifiedBy>
  <cp:revision>1</cp:revision>
  <dcterms:created xsi:type="dcterms:W3CDTF">2026-10-06T20:54:25Z</dcterms:created>
  <dcterms:modified xsi:type="dcterms:W3CDTF">2026-10-06T20:54:25Z</dcterms:modified>
</cp:coreProperties>
</file>