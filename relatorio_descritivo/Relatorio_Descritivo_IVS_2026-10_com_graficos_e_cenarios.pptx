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4"/>
  </p:notesMasterIdLst>
  <p:sldIdLst>
    <p:sldId id="256" r:id="rId2"/>
    <p:sldId id="259" r:id="rId3"/>
    <p:sldId id="260" r:id="rId4"/>
    <p:sldId id="261" r:id="rId5"/>
    <p:sldId id="262" r:id="rId6"/>
    <p:sldId id="263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3" r:id="rId15"/>
    <p:sldId id="275" r:id="rId16"/>
    <p:sldId id="276" r:id="rId17"/>
    <p:sldId id="277" r:id="rId18"/>
    <p:sldId id="278" r:id="rId19"/>
    <p:sldId id="357" r:id="rId99"/>
    <p:sldId id="279" r:id="rId20"/>
    <p:sldId id="358" r:id="rId100"/>
    <p:sldId id="280" r:id="rId21"/>
    <p:sldId id="359" r:id="rId101"/>
    <p:sldId id="281" r:id="rId22"/>
    <p:sldId id="360" r:id="rId102"/>
    <p:sldId id="282" r:id="rId23"/>
    <p:sldId id="361" r:id="rId103"/>
    <p:sldId id="283" r:id="rId24"/>
    <p:sldId id="362" r:id="rId104"/>
    <p:sldId id="284" r:id="rId25"/>
    <p:sldId id="363" r:id="rId105"/>
    <p:sldId id="285" r:id="rId26"/>
    <p:sldId id="364" r:id="rId106"/>
    <p:sldId id="286" r:id="rId27"/>
    <p:sldId id="365" r:id="rId107"/>
    <p:sldId id="287" r:id="rId28"/>
    <p:sldId id="366" r:id="rId108"/>
    <p:sldId id="288" r:id="rId29"/>
    <p:sldId id="367" r:id="rId109"/>
    <p:sldId id="289" r:id="rId30"/>
    <p:sldId id="368" r:id="rId110"/>
    <p:sldId id="290" r:id="rId31"/>
    <p:sldId id="369" r:id="rId111"/>
    <p:sldId id="291" r:id="rId32"/>
    <p:sldId id="370" r:id="rId112"/>
    <p:sldId id="292" r:id="rId33"/>
    <p:sldId id="371" r:id="rId113"/>
    <p:sldId id="293" r:id="rId34"/>
    <p:sldId id="372" r:id="rId114"/>
    <p:sldId id="294" r:id="rId35"/>
    <p:sldId id="373" r:id="rId115"/>
    <p:sldId id="295" r:id="rId36"/>
    <p:sldId id="374" r:id="rId116"/>
    <p:sldId id="296" r:id="rId37"/>
    <p:sldId id="375" r:id="rId117"/>
    <p:sldId id="297" r:id="rId38"/>
    <p:sldId id="376" r:id="rId118"/>
    <p:sldId id="298" r:id="rId39"/>
    <p:sldId id="377" r:id="rId119"/>
    <p:sldId id="299" r:id="rId40"/>
    <p:sldId id="378" r:id="rId120"/>
    <p:sldId id="300" r:id="rId41"/>
    <p:sldId id="379" r:id="rId121"/>
    <p:sldId id="301" r:id="rId42"/>
    <p:sldId id="380" r:id="rId122"/>
    <p:sldId id="302" r:id="rId43"/>
    <p:sldId id="381" r:id="rId123"/>
    <p:sldId id="303" r:id="rId44"/>
    <p:sldId id="382" r:id="rId124"/>
    <p:sldId id="304" r:id="rId45"/>
    <p:sldId id="383" r:id="rId125"/>
    <p:sldId id="305" r:id="rId46"/>
    <p:sldId id="384" r:id="rId126"/>
    <p:sldId id="306" r:id="rId47"/>
    <p:sldId id="385" r:id="rId127"/>
    <p:sldId id="307" r:id="rId48"/>
    <p:sldId id="386" r:id="rId128"/>
    <p:sldId id="308" r:id="rId49"/>
    <p:sldId id="387" r:id="rId129"/>
    <p:sldId id="388" r:id="rId130"/>
    <p:sldId id="389" r:id="rId131"/>
    <p:sldId id="390" r:id="rId132"/>
    <p:sldId id="391" r:id="rId133"/>
    <p:sldId id="392" r:id="rId134"/>
    <p:sldId id="393" r:id="rId135"/>
    <p:sldId id="394" r:id="rId136"/>
    <p:sldId id="395" r:id="rId137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321" r:id="rId61"/>
    <p:sldId id="322" r:id="rId62"/>
    <p:sldId id="323" r:id="rId63"/>
    <p:sldId id="324" r:id="rId64"/>
    <p:sldId id="325" r:id="rId65"/>
    <p:sldId id="326" r:id="rId66"/>
    <p:sldId id="327" r:id="rId67"/>
    <p:sldId id="396" r:id="rId138"/>
    <p:sldId id="397" r:id="rId139"/>
    <p:sldId id="398" r:id="rId140"/>
    <p:sldId id="399" r:id="rId141"/>
    <p:sldId id="400" r:id="rId142"/>
    <p:sldId id="401" r:id="rId143"/>
    <p:sldId id="402" r:id="rId144"/>
    <p:sldId id="403" r:id="rId145"/>
    <p:sldId id="404" r:id="rId146"/>
    <p:sldId id="328" r:id="rId68"/>
    <p:sldId id="329" r:id="rId69"/>
    <p:sldId id="330" r:id="rId70"/>
    <p:sldId id="331" r:id="rId71"/>
    <p:sldId id="332" r:id="rId72"/>
    <p:sldId id="333" r:id="rId73"/>
    <p:sldId id="334" r:id="rId74"/>
    <p:sldId id="335" r:id="rId75"/>
    <p:sldId id="336" r:id="rId76"/>
    <p:sldId id="338" r:id="rId77"/>
    <p:sldId id="340" r:id="rId78"/>
    <p:sldId id="342" r:id="rId79"/>
    <p:sldId id="343" r:id="rId80"/>
    <p:sldId id="344" r:id="rId81"/>
    <p:sldId id="345" r:id="rId82"/>
    <p:sldId id="346" r:id="rId83"/>
    <p:sldId id="347" r:id="rId84"/>
    <p:sldId id="348" r:id="rId85"/>
    <p:sldId id="349" r:id="rId86"/>
    <p:sldId id="350" r:id="rId87"/>
    <p:sldId id="351" r:id="rId88"/>
    <p:sldId id="352" r:id="rId89"/>
    <p:sldId id="353" r:id="rId90"/>
    <p:sldId id="354" r:id="rId91"/>
    <p:sldId id="355" r:id="rId92"/>
    <p:sldId id="356" r:id="rId9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5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232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notesMaster" Target="notesMasters/notesMaster1.xml"/><Relationship Id="rId95" Type="http://schemas.openxmlformats.org/officeDocument/2006/relationships/presProps" Target="presProps.xml"/><Relationship Id="rId96" Type="http://schemas.openxmlformats.org/officeDocument/2006/relationships/viewProps" Target="viewProps.xml"/><Relationship Id="rId97" Type="http://schemas.openxmlformats.org/officeDocument/2006/relationships/theme" Target="theme/theme1.xml"/><Relationship Id="rId98" Type="http://schemas.openxmlformats.org/officeDocument/2006/relationships/tableStyles" Target="tableStyles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6110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[A01] Relatório descritivo do andamento
Requisitos: R1, R14
Fontes: 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[DM00] As demandas e como foram cobertas
Requisitos: R2, R3
Fontes: docs/prompts/estado_demandas_2026-09.md:16-26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[DM01] As 11 demandas
Requisitos: R2
Fontes: docs/prompts/estado_demandas_2026-09.md:16-26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[DM02] Demanda 1 — a renda com a mediana
Requisitos: R2, R3
Textos tirados de: docs/prompts/estado_demandas_2026-09.md:16; docs/prompts/estado_demandas_2026-09.md:35-38; docs/prompts/estado_demandas_2026-09.md:105-120; src/ivs_censo/renda.py:91-97
Fontes: docs/prompts/estado_demandas_2026-09.md:16, 35-38, 105-120; banco_de_dados/eda/atualizada/renda_imputacao_alternativas.csv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[DM03] Demanda 2 — quadro de indicadores
Requisitos: R2, R3
Textos tirados de: docs/prompts/estado_demandas_2026-09.md:17; docs/prompts/estado_demandas_2026-09.md:122-125; docs/prompts/estado_nb05_2026-09.md:1; docs/prompts/estado_nb05_2026-09.md:234-245
Fontes: docs/prompts/estado_demandas_2026-09.md:17; docs/prompts/estado_demandas_2026-09.md:122-125; banco_de_dados/entrega_orientadora/Quadro_Indicadores.csv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[DM04] Demanda 3 — fatorial sem bootstrap, sem e com rotação
Requisitos: R2, R3
Textos tirados de: docs/prompts/estado_demandas_2026-09.md:18; docs/prompts/estado_demandas_2026-09.md:28-61; docs/prompts/estado_demandas_2026-09.md:140-148
Fontes: docs/prompts/estado_demandas_2026-09.md:18; docs/prompts/estado_demandas_2026-09.md:39-40, 140-148; banco_de_dados/eda/fatorial_ampliada/pesos.csv (S0)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[DM06] Demanda 5 — comparar "não chega"
Requisitos: R2, R3
Textos tirados de: docs/prompts/estado_demandas_2026-09.md:20; docs/prompts/estado_demandas_2026-09.md:28-61; docs/prompts/estado_demandas_2026-09.md:288-293
Fontes: docs/prompts/estado_demandas_2026-09.md:20; docs/prompts/estado_demandas_2026-09.md:41-42, 290-293; banco_de_dados/eda/fatorial_ampliada/comparacao_nao_chega_banheiro.csv (bloco spearman)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[DM07] Demanda 6 — juntar "sem banheiro"
Requisitos: R2, R3
Textos tirados de: docs/prompts/estado_demandas_2026-09.md:21; docs/prompts/estado_demandas_2026-09.md:28-61; docs/prompts/estado_nb05_2026-09.md:1; docs/prompts/estado_nb05_2026-09.md:195-245
Fontes: docs/prompts/estado_demandas_2026-09.md:21; docs/prompts/estado_demandas_2026-09.md:43-45; docs/prompts/estado_nb05_2026-09.md:195-245; comparacao_nao_chega_banheiro.csv (prova_juncao); banco_de_dados/eda/fatorial_ampliada/banheiro_particao.csv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[DM08] Demanda 7 — adicionar canalização e sem banheiro
Requisitos: R2, R3
Textos tirados de: docs/prompts/estado_demandas_2026-09.md:22; docs/prompts/estado_demandas_2026-09.md:140-148
Fontes: docs/prompts/estado_demandas_2026-09.md:22; banco_de_dados/eda/fatorial_ampliada/cenarios.csv (n, perdidos_vs_S0, kmo)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[DM09] Demanda 8 — fatorial de tudo isso
Requisitos: R2, R3
Textos tirados de: docs/prompts/estado_demandas_2026-09.md:23; docs/prompts/estado_demandas_2026-09.md:28-61
Fontes: docs/prompts/estado_demandas_2026-09.md:23; banco_de_dados/eda/fatorial_ampliada/cenarios.csv (n, kmo, var_explicada_2f)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[DM10] Demanda 9 — habitação convencional
Requisitos: R2, R3
Textos tirados de: docs/prompts/estado_demandas_2026-09.md:24; docs/prompts/estado_demandas_2026-09.md:28-61; docs/prompts/estado_demandas_2026-09.md:318-324
Fontes: docs/prompts/estado_demandas_2026-09.md:24; docs/prompts/estado_demandas_2026-09.md:46-48, 318-324; banco_de_dados/eda/fatorial_ampliada/cargas.csv (moradia não convencional)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[DM11] Demanda 10 — testar lixo
Requisitos: R2, R3
Textos tirados de: docs/prompts/estado_demandas_2026-09.md:25; docs/prompts/estado_demandas_2026-09.md:288-306
Fontes: docs/prompts/estado_demandas_2026-09.md:25; banco_de_dados/eda/fatorial_ampliada/cenarios.csv; docs/prompts/estado_demandas_2026-09.md:301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[DM12] Demanda 11 — testar as duas rotações
Requisitos: R2, R3
Textos tirados de: docs/prompts/estado_demandas_2026-09.md:26; docs/prompts/estado_demandas_2026-09.md:28-61; docs/prompts/estado_demandas_2026-09.md:288-306; docs/prompts/estado_demandas_2026-09.md:343-347
Fontes: docs/prompts/estado_demandas_2026-09.md:26; docs/prompts/estado_demandas_2026-09.md:53-55, 302-304, 344-347; banco_de_dados/eda/fatorial_ampliada/pesos.csv (S1)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[DM14] Tudo o que contornamos
Requisitos: R3
Fontes: caixas "O que contornamos" de DM02–DM12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[DS00] Descritiva dos indicadores
Requisitos: R4, R5
Fontes: analises_exploratorias/00_referencia/tabelas/T03_descritivas_global.csv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[DS01] A base
Requisitos: R6, R10
Fontes: analises_exploratorias/00_referencia/tabelas/T01_funil.csv; F01_funil.png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[DS02] Setores com valor, indicador a indicador
Requisitos: R4, R10
Fontes: analises_exploratorias/00_referencia/tabelas/T02_perdas_por_indicador.csv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[DS03] Água inadequada
Requisitos: R4, R5, R6, R10
Gerado por ds() em scripts/dados_relatorio_descritivo.py. Coluna no .db: pct_agua_inad (tabela setores_censitarios, recorte urbano == 1 e Dados_sig = OK). Conferir: T03 e T02 da 00_referencia, linha pct_agua_inad.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[DS04] Esgoto inadequado
Requisitos: R4, R5, R6, R10
Gerado por ds() em scripts/dados_relatorio_descritivo.py. Coluna no .db: pct_esgoto_inad (tabela setores_censitarios, recorte urbano == 1 e Dados_sig = OK). Conferir: T03 e T02 da 00_referencia, linha pct_esgoto_inad.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[DS05] Lixo inadequado
Requisitos: R4, R5, R6, R10
Gerado por ds() em scripts/dados_relatorio_descritivo.py. Coluna no .db: pct_lixo_inad (tabela setores_censitarios, recorte urbano == 1 e Dados_sig = OK). Conferir: T03 e T02 da 00_referencia, linha pct_lixo_inad.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[DS06] Sem água canalizada
Requisitos: R4, R5, R6, R10
Gerado por ds() em scripts/dados_relatorio_descritivo.py. Coluna no .db: pct_sem_agua_canalizada (tabela setores_censitarios, recorte urbano == 1 e Dados_sig = OK). Conferir: T03 e T02 da 00_referencia, linha pct_sem_agua_canalizada.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[DS07] Água não chega
Requisitos: R4, R5, R6, R10
Gerado por ds() em scripts/dados_relatorio_descritivo.py. Coluna no .db: pct_agua_nao_encanada (tabela setores_censitarios, recorte urbano == 1 e Dados_sig = OK). Conferir: T03 e T02 da 00_referencia, linha pct_agua_nao_encanada.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[DS08] Água só no terreno
Requisitos: R4, R5, R6, R10
Gerado por ds() em scripts/dados_relatorio_descritivo.py. Coluna no .db: pct_agua_so_terreno (tabela setores_censitarios, recorte urbano == 1 e Dados_sig = OK). Conferir: T03 e T02 da 00_referencia, linha pct_agua_so_terreno.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[DS09] Sem banheiro
Requisitos: R4, R5, R6, R10
Gerado por ds() em scripts/dados_relatorio_descritivo.py. Coluna no .db: pct_sem_banheiro (tabela setores_censitarios, recorte urbano == 1 e Dados_sig = OK). Conferir: T03 e T02 da 00_referencia, linha pct_sem_banheiro.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[DS10] Sem banheiro nem sanitário
Requisitos: R4, R5, R6, R10
Gerado por ds() em scripts/dados_relatorio_descritivo.py. Coluna no .db: pct_sem_banheiro_nem_sanitario (tabela setores_censitarios, recorte urbano == 1 e Dados_sig = OK). Conferir: T03 e T02 da 00_referencia, linha pct_sem_banheiro_nem_sanitario.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[DS11] Só sanitário
Requisitos: R4, R5, R6, R10
Gerado por ds() em scripts/dados_relatorio_descritivo.py. Coluna no .db: pct_so_sanitario (tabela setores_censitarios, recorte urbano == 1 e Dados_sig = OK). Conferir: T03 e T02 da 00_referencia, linha pct_so_sanitario.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[DS12] Banheiro de uso comum
Requisitos: R4, R5, R6, R10
Gerado por ds() em scripts/dados_relatorio_descritivo.py. Coluna no .db: pct_banheiro_comum (tabela setores_censitarios, recorte urbano == 1 e Dados_sig = OK). Conferir: T03 e T02 da 00_referencia, linha pct_banheiro_comum.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[DS13] Banheiro graduado
Requisitos: R4, R5, R6, R10
Gerado por ds() em scripts/dados_relatorio_descritivo.py. Coluna no .db: banheiro_graduado (tabela setores_censitarios, recorte urbano == 1 e Dados_sig = OK). Conferir: T03 e T02 da 00_referencia, linha banheiro_graduado.
Fontes: analises_exploratorias/00_referencia/tabelas/T03_descritivas_global.csv; T02_perdas_por_indicador.csv; scripts/ivs_especificacoes.py:58-62; Relatorios e Andamento/gerenciamento_artigos_cientificos_IC.xlsx, aba Indicadores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[DS14] Razão de moradores
Requisitos: R4, R5, R6, R10
Gerado por ds() em scripts/dados_relatorio_descritivo.py. Coluna no .db: razao_moradores (tabela setores_censitarios, recorte urbano == 1 e Dados_sig = OK). Conferir: T03 e T02 da 00_referencia, linha razao_moradores.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[DS15] Analfabetismo 15+
Requisitos: R4, R5, R6, R10
Gerado por ds() em scripts/dados_relatorio_descritivo.py. Coluna no .db: pct_analfab (tabela setores_censitarios, recorte urbano == 1 e Dados_sig = OK). Conferir: T03 e T02 da 00_referencia, linha pct_analfab.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[DS16] Renda média
Requisitos: R4, R5, R6, R10
Gerado por ds() em scripts/dados_relatorio_descritivo.py. Coluna no .db: renda_media (tabela setores_censitarios, recorte urbano == 1 e Dados_sig = OK). Conferir: T03 e T02 da 00_referencia, linha renda_media.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[DS17] Renda sem o extremo
Requisitos: R4, R5, R6, R10
Gerado por ds() em scripts/dados_relatorio_descritivo.py. Coluna no .db: renda_media_sem_extremo (tabela setores_censitarios, recorte urbano == 1 e Dados_sig = OK). Conferir: T03 e T02 da 00_referencia, linha renda_media_sem_extremo.
Fontes: analises_exploratorias/00_referencia/tabelas/T03_descritivas_global.csv; T02_perdas_por_indicador.csv; src/ivs_censo/renda.py:113-127; Relatorios e Andamento/gerenciamento_artigos_cientificos_IC.xlsx, aba Indicadores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[DS18] Renda (mediana mun.)
Requisitos: R4, R5, R6, R10
Gerado por ds() em scripts/dados_relatorio_descritivo.py. Coluna no .db: renda_media_mediana_mun (tabela setores_censitarios, recorte urbano == 1 e Dados_sig = OK). Conferir: T03 e T02 da 00_referencia, linha renda_media_mediana_mun.
Fontes: analises_exploratorias/00_referencia/tabelas/T03_descritivas_global.csv; T02_perdas_por_indicador.csv; src/ivs_censo/renda.py:130-144; Relatorios e Andamento/gerenciamento_artigos_cientificos_IC.xlsx, aba Indicadores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[DS19] Cor/raça PPI
Requisitos: R4, R5, R6, R10
Gerado por ds() em scripts/dados_relatorio_descritivo.py. Coluna no .db: pct_raca_pretpardind (tabela setores_censitarios, recorte urbano == 1 e Dados_sig = OK). Conferir: T03 e T02 da 00_referencia, linha pct_raca_pretpardind.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[DS20] Responsável mulher
Requisitos: R4, R5, R6, R10
Gerado por ds() em scripts/dados_relatorio_descritivo.py. Coluna no .db: pct_resp_feminino (tabela setores_censitarios, recorte urbano == 1 e Dados_sig = OK). Conferir: T03 e T02 da 00_referencia, linha pct_resp_feminino.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[DS21] Domicílio improvisado
Requisitos: R4, R5, R6, R10
Gerado por ds() em scripts/dados_relatorio_descritivo.py. Coluna no .db: pct_dom_improv (tabela setores_censitarios, recorte urbano == 1 e Dados_sig = OK). Conferir: T03 e T02 da 00_referencia, linha pct_dom_improv.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[DS22] Habitação precária
Requisitos: R4, R5, R6, R10
Gerado por ds() em scripts/dados_relatorio_descritivo.py. Coluna no .db: pct_hab_precaria (tabela setores_censitarios, recorte urbano == 1 e Dados_sig = OK). Conferir: T03 e T02 da 00_referencia, linha pct_hab_precaria.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[DS23] Moradia convencional
Requisitos: R4, R5, R6, R10
Gerado por ds() em scripts/dados_relatorio_descritivo.py. Coluna no .db: pct_moradia_convencional (tabela setores_censitarios, recorte urbano == 1 e Dados_sig = OK). Conferir: T03 e T02 da 00_referencia, linha pct_moradia_convencional.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[DS24] Moradia não convencional
Requisitos: R4, R5, R6, R10
Gerado por ds() em scripts/dados_relatorio_descritivo.py. Coluna no .db: pct_moradia_nao_convencional (tabela setores_censitarios, recorte urbano == 1 e Dados_sig = OK). Conferir: T03 e T02 da 00_referencia, linha pct_moradia_nao_convencional.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[DS25] Apartamento
Requisitos: R4, R5, R6, R10
Gerado por ds() em scripts/dados_relatorio_descritivo.py. Coluna no .db: pct_apartamento (tabela setores_censitarios, recorte urbano == 1 e Dados_sig = OK). Conferir: T03 e T02 da 00_referencia, linha pct_apartamento.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[DS26] Casa
Requisitos: R4, R5, R6, R10
Gerado por ds() em scripts/dados_relatorio_descritivo.py. Coluna no .db: pct_casa (tabela setores_censitarios, recorte urbano == 1 e Dados_sig = OK). Conferir: T03 e T02 da 00_referencia, linha pct_casa.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[DS27] Casa de vila/condomínio
Requisitos: R4, R5, R6, R10
Gerado por ds() em scripts/dados_relatorio_descritivo.py. Coluna no .db: pct_casa_vila_condominio (tabela setores_censitarios, recorte urbano == 1 e Dados_sig = OK). Conferir: T03 e T02 da 00_referencia, linha pct_casa_vila_condominio.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[DS28] Crianças 0–4
Requisitos: R4, R5, R6, R10
Gerado por ds() em scripts/dados_relatorio_descritivo.py. Coluna no .db: pct_crianca_0a4 (tabela setores_censitarios, recorte urbano == 1 e Dados_sig = OK). Conferir: T03 e T02 da 00_referencia, linha pct_crianca_0a4.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[DS29] População 0–14
Requisitos: R4, R5, R6, R10
Gerado por ds() em scripts/dados_relatorio_descritivo.py. Coluna no .db: pct_pop_0a14 (tabela setores_censitarios, recorte urbano == 1 e Dados_sig = OK). Conferir: T03 e T02 da 00_referencia, linha pct_pop_0a14.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[DS30] Pessoas 60+
Requisitos: R4, R5, R6, R10
Gerado por ds() em scripts/dados_relatorio_descritivo.py. Coluna no .db: pct_idoso_60mais (tabela setores_censitarios, recorte urbano == 1 e Dados_sig = OK). Conferir: T03 e T02 da 00_referencia, linha pct_idoso_60mais.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[DS31] Índice de envelhecimento
Requisitos: R4, R5, R6, R10
Gerado por ds() em scripts/dados_relatorio_descritivo.py. Coluna no .db: iep_setor (tabela setores_censitarios, recorte urbano == 1 e Dados_sig = OK). Conferir: T03 e T02 da 00_referencia, linha iep_setor.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[DS32] Dependência idosa
Requisitos: R4, R5, R6, R10
Gerado por ds() em scripts/dados_relatorio_descritivo.py. Coluna no .db: rdi_setor (tabela setores_censitarios, recorte urbano == 1 e Dados_sig = OK). Conferir: T03 e T02 da 00_referencia, linha rdi_setor.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[DS33] 70+ entre 60+
Requisitos: R4, R5, R6, R10
Gerado por ds() em scripts/dados_relatorio_descritivo.py. Coluna no .db: prop_70mais_entre_60mais (tabela setores_censitarios, recorte urbano == 1 e Dados_sig = OK). Conferir: T03 e T02 da 00_referencia, linha prop_70mais_entre_60mais.
Fontes: analises_exploratorias/00_referencia/tabelas/T03_descritivas_global.csv; T02_perdas_por_indicador.csv; banco_de_dados/entrega_orientadora/Quadro_Indicadores.csv; Relatorios e Andamento/gerenciamento_artigos_cientificos_IC.xlsx, aba Indicadores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[FA00] Descritiva da análise fatorial
Requisitos: R7
Fontes: banco_de_dados/eda/ivs_especificacoes/referencia.csv (leitura principal)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[FA01] A amostra da fatorial
Requisitos: R7
Fontes: analises_exploratorias/00_referencia/tabelas/T01_funil.csv; analises_exploratorias/00_referencia/tabelas/T02_perdas_por_indicador.csv; analises_exploratorias/00_referencia/tabelas/T20_variaveis_cargas.csv (variáveis)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[FA02] A matriz de correlação de entrada
Requisitos: R7
Recalculada por fa02() com matriz_correlacao(X, "spearman") de src/ivs_censo/fatorial.py:394, na base de montar_base(00_referencia) com os sete componentes completos.
Fontes: src/ivs_censo/fatorial.py:394-400 (matriz_correlacao) e 579-594 (rodar_cenario); base: Base_ELSI_70Municipios_Censo2022.db, recorte da 00_referencia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[FA03] Adequação dos dados à fatorial
Requisitos: R7
Fontes: analises_exploratorias/00_referencia/tabelas/T19_adequacao_fatorial.csv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[FA04] MSA e comunalidade por variável
Requisitos: R7
Fontes: analises_exploratorias/00_referencia/tabelas/T20_variaveis_cargas.csv (msa, comunalidade, comunalidade_obliqua)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[FA05] Autovalores e análise paralela de Horn
Requisitos: R7
Fontes: analises_exploratorias/00_referencia/tabelas/T21_autovalores.csv; F22_sedimentacao_horn.png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[FA06] Quantos fatores
Requisitos: R7
Fontes: analises_exploratorias/00_referencia/tabelas/T19_adequacao_fatorial.csv; analises_exploratorias/00_referencia/tabelas/T23_pesos.csv (dimensões)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[FA07] Cargas sem rotação
Requisitos: R7
Fontes: analises_exploratorias/00_referencia/tabelas/T20_variaveis_cargas.csv (sem_rotacao_f1, sem_rotacao_f2)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[FA08] Cargas Varimax
Requisitos: R7
Fontes: analises_exploratorias/00_referencia/tabelas/T20_variaveis_cargas.csv (varimax_f1, varimax_f2)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[FA09] Cargas promax: matriz padrão e matriz estrutura
Requisitos: R7
Fontes: analises_exploratorias/00_referencia/tabelas/T20_variaveis_cargas.csv (promax_*); F23_mapa_cargas.png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[FA10] Correlação entre os fatores (Φ)
Requisitos: R7
Fontes: analises_exploratorias/00_referencia/tabelas/T22_phi.csv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[FA11] Os pesos do índice
Requisitos: R7
Fontes: analises_exploratorias/00_referencia/tabelas/T23_pesos.csv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[FA12] O índice da referência proposta
Requisitos: R7
Fontes: analises_exploratorias/00_referencia/tabelas/T24_indice_descritivas.csv (Total); F24_histograma_por_faixa.png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[FA13] As faixas, pelas duas regras
Requisitos: R7
Fontes: analises_exploratorias/00_referencia/tabelas/T25_faixas.csv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[FA14] Validação contra as favelas (FCU)
Requisitos: R7
Fontes: analises_exploratorias/00_referencia/tabelas/T26_auc_e_elegibilidade.csv; F25_curva_roc.png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[FA15] AUC por município
Requisitos: R7
Fontes: analises_exploratorias/00_referencia/tabelas/T27_auc_por_municipio.csv; analises_exploratorias/00_referencia/tabelas/T26_auc_e_elegibilidade.csv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[FA16] Elegibilidade pelos critérios do NB05
Requisitos: R7
Fontes: analises_exploratorias/00_referencia/tabelas/T26_auc_e_elegibilidade.csv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[FP00] O que a orientadora pediu da fatorial
Requisitos: R8
Fontes: docs/prompts/estado_demandas_2026-09.md:16-26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[FP01] Demanda 1 — o efeito das três rendas na fatorial
Requisitos: R8
Fontes: banco_de_dados/eda/fatorial_ampliada/cenarios.csv; banco_de_dados/eda/fatorial_ampliada/pesos.csv (varimax)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[FP02] Demanda 3 — sem bootstrap, sem e com rotação
Requisitos: R8
Fontes: banco_de_dados/eda/fatorial_ampliada/cargas.csv (S0)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[FP03] Demanda 5 — o perfil dos setores com e sem "água não chega"
Requisitos: R8
Fontes: banco_de_dados/eda/fatorial_ampliada/comparacao_nao_chega_banheiro.csv (bloco perfil_mediana)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[FP04] Demanda 6 — o "sem banheiro" na fatorial
Requisitos: R8
Fontes: banco_de_dados/eda/fatorial_ampliada/cenarios.csv; banco_de_dados/eda/ivs_especificacoes/especificacoes.csv (banheiro, elegivel)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[FP05] Demanda 7 — canalização e sem banheiro, uma por vez
Requisitos: R8
Fontes: banco_de_dados/eda/fatorial_ampliada/cenarios.csv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[FP06] Demanda 8 — tudo isso junto
Requisitos: R8
Fontes: banco_de_dados/eda/fatorial_ampliada/cenarios.csv; docs/prompts/estado_demandas_2026-09.md:298-299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[FP07] Demanda 9 — a moradia não convencional
Requisitos: R8
Fontes: banco_de_dados/eda/fatorial_ampliada/cenarios.csv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[FP08] Demanda 10 — testar o lixo
Requisitos: R8
Fontes: banco_de_dados/eda/fatorial_ampliada/cenarios.csv (colunas n, kmo, fatores_kaiser, fatores_horn, var_explicada_2f, lixo_fator_proprio_varimax); docs/prompts/estado_demandas_2026-09.md:25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[FP09] Demanda 11 — as duas rotações
Requisitos: R8
Fontes: banco_de_dados/eda/fatorial_ampliada/pesos.csv (S0, S1, S6)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[FP11] Validação contra FCU, cenário a cenário
Requisitos: R8
Fontes: banco_de_dados/eda/fatorial_ampliada/validacao_fcu.csv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[FP13] A renda sozinha contra o índice
Requisitos: R8
Fontes: banco_de_dados/eda/ivs_especificacoes/acrescimo_renda.csv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[VP00] As 108 versões da análise fatorial
Fontes: banco_de_dados/eda/versoes_fatorial/versoes.csv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[VP02] Como ler
Fontes: versoes_fatorial/INTERPRETACAO.md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[VP03] Os cinco eixos
Fontes: versoes_fatorial/VERSOES.md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[VP04] A amostra
Fontes: banco_de_dados/eda/versoes_fatorial/versoes.csv (n, n_comum)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[VP05] As 108 de uma vez: quem passa nos critérios
Fontes: banco_de_dados/eda/versoes_fatorial/versoes.csv (elegivel, criterio_que_falhou)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[VP06] As 108 de uma vez: KMO
Fontes: banco_de_dados/eda/versoes_fatorial/versoes.csv (kmo)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[VP07] As 108 de uma vez: AUC no município
Fontes: banco_de_dados/eda/versoes_fatorial/versoes.csv (auc_mun_comum)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[VP08] Um eixo por vez: renda
Fontes: banco_de_dados/eda/versoes_fatorial/pares_por_eixo.csv; banco_de_dados/eda/versoes_fatorial/pares_detalhe.csv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[VP09] Um eixo por vez: lixo
Fontes: banco_de_dados/eda/versoes_fatorial/pares_por_eixo.csv; banco_de_dados/eda/versoes_fatorial/pares_detalhe.csv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[VP10] Um eixo por vez: água canalizada
Fontes: banco_de_dados/eda/versoes_fatorial/pares_por_eixo.csv; banco_de_dados/eda/versoes_fatorial/pares_detalhe.csv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[VP11] Um eixo por vez: banheiro
Fontes: banco_de_dados/eda/versoes_fatorial/pares_por_eixo.csv; banco_de_dados/eda/versoes_fatorial/pares_detalhe.csv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[VP12] Um eixo por vez: moradia
Fontes: banco_de_dados/eda/versoes_fatorial/pares_por_eixo.csv; banco_de_dados/eda/versoes_fatorial/pares_detalhe.csv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[VP13] As versões que passam nos critérios
Fontes: banco_de_dados/eda/versoes_fatorial/versoes.csv (elegivel)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[VP13-2] As versões que passam nos critérios (2)
Fontes: banco_de_dados/eda/versoes_fatorial/versoes.csv (elegivel)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[VP14] A ordem das elegíveis pelos critérios do NB05
Fontes: banco_de_dados/eda/versoes_fatorial/versoes.csv; banco_de_dados/eda/versoes_fatorial/estabilidade.csv; scripts/ivs_especificacoes.py:ordenar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[DS03-2] Água inadequada: por região, município e FCU
Requisitos: R4, C-04
Gerado por ds_extra() em scripts/dados_relatorio_descritivo.py (C-04); metade ou mais em zero: % &gt; 0 e média.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[DS04-2] Esgoto inadequado: por região, município e FCU
Requisitos: R4, C-04
Gerado por ds_extra() em scripts/dados_relatorio_descritivo.py (C-04); metade ou mais em zero: % &gt; 0 e média.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[DS05-2] Lixo inadequado: por região, município e FCU
Requisitos: R4, C-04
Gerado por ds_extra() em scripts/dados_relatorio_descritivo.py (C-04); metade ou mais em zero: % &gt; 0 e média.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[DS06-2] Sem água canalizada: por região, município e FCU
Requisitos: R4, C-04
Gerado por ds_extra() em scripts/dados_relatorio_descritivo.py (C-04); metade ou mais em zero: % &gt; 0 e média.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[DS07-2] Água não chega: por região, município e FCU
Requisitos: R4, C-04
Gerado por ds_extra() em scripts/dados_relatorio_descritivo.py (C-04); metade ou mais em zero: % &gt; 0 e média.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[DS08-2] Água só no terreno: por região, município e FCU
Requisitos: R4, C-04
Gerado por ds_extra() em scripts/dados_relatorio_descritivo.py (C-04); metade ou mais em zero: % &gt; 0 e média.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[DS09-2] Sem banheiro: por região, município e FCU
Requisitos: R4, C-04
Gerado por ds_extra() em scripts/dados_relatorio_descritivo.py (C-04); metade ou mais em zero: % &gt; 0 e média.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[DS10-2] Sem banheiro nem sanitário: por região, município e FCU
Requisitos: R4, C-04
Gerado por ds_extra() em scripts/dados_relatorio_descritivo.py (C-04); metade ou mais em zero: % &gt; 0 e média.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[DS11-2] Só sanitário: por região, município e FCU
Requisitos: R4, C-04
Gerado por ds_extra() em scripts/dados_relatorio_descritivo.py (C-04); metade ou mais em zero: % &gt; 0 e média.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[DS12-2] Banheiro de uso comum: por região, município e FCU
Requisitos: R4, C-04
Gerado por ds_extra() em scripts/dados_relatorio_descritivo.py (C-04); metade ou mais em zero: % &gt; 0 e média.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[DS13-2] Banheiro graduado: por região, município e FCU
Requisitos: R4, C-04
Gerado por ds_extra() em scripts/dados_relatorio_descritivo.py (C-04); metade ou mais em zero: % &gt; 0 e média.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[DS14-2] Razão de moradores: por região, município e FCU
Requisitos: R4, C-04
Gerado por ds_extra() em scripts/dados_relatorio_descritivo.py (C-04); mediana.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[DS15-2] Analfabetismo 15+: por região, município e FCU
Requisitos: R4, C-04
Gerado por ds_extra() em scripts/dados_relatorio_descritivo.py (C-04); mediana.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[DS16-2] Renda média: por região, município e FCU
Requisitos: R4, C-04
Gerado por ds_extra() em scripts/dados_relatorio_descritivo.py (C-04); mediana.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[DS17-2] Renda sem o extremo: por região, município e FCU
Requisitos: R4, C-04
Gerado por ds_extra() em scripts/dados_relatorio_descritivo.py (C-04); mediana.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[DS18-2] Renda (mediana mun.): por região, município e FCU
Requisitos: R4, C-04
Gerado por ds_extra() em scripts/dados_relatorio_descritivo.py (C-04); mediana.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[DS19-2] Cor/raça PPI: por região, município e FCU
Requisitos: R4, C-04
Gerado por ds_extra() em scripts/dados_relatorio_descritivo.py (C-04); mediana.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[DS20-2] Responsável mulher: por região, município e FCU
Requisitos: R4, C-04
Gerado por ds_extra() em scripts/dados_relatorio_descritivo.py (C-04); mediana.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[DS21-2] Domicílio improvisado: por região, município e FCU
Requisitos: R4, C-04
Gerado por ds_extra() em scripts/dados_relatorio_descritivo.py (C-04); metade ou mais em zero: % &gt; 0 e média.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[DS22-2] Habitação precária: por região, município e FCU
Requisitos: R4, C-04
Gerado por ds_extra() em scripts/dados_relatorio_descritivo.py (C-04); metade ou mais em zero: % &gt; 0 e média.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[DS23-2] Moradia convencional: por região, município e FCU
Requisitos: R4, C-04
Gerado por ds_extra() em scripts/dados_relatorio_descritivo.py (C-04); mediana.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[DS24-2] Moradia não convencional: por região, município e FCU
Requisitos: R4, C-04
Gerado por ds_extra() em scripts/dados_relatorio_descritivo.py (C-04); metade ou mais em zero: % &gt; 0 e média.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[DS25-2] Apartamento: por região, município e FCU
Requisitos: R4, C-04
Gerado por ds_extra() em scripts/dados_relatorio_descritivo.py (C-04); mediana.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[DS26-2] Casa: por região, município e FCU
Requisitos: R4, C-04
Gerado por ds_extra() em scripts/dados_relatorio_descritivo.py (C-04); mediana.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[DS27-2] Casa de vila/condomínio: por região, município e FCU
Requisitos: R4, C-04
Gerado por ds_extra() em scripts/dados_relatorio_descritivo.py (C-04); metade ou mais em zero: % &gt; 0 e média.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[DS28-2] Crianças 0–4: por região, município e FCU
Requisitos: R4, C-04
Gerado por ds_extra() em scripts/dados_relatorio_descritivo.py (C-04); mediana.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[DS29-2] População 0–14: por região, município e FCU
Requisitos: R4, C-04
Gerado por ds_extra() em scripts/dados_relatorio_descritivo.py (C-04); mediana.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[DS30-2] Pessoas 60+: por região, município e FCU
Requisitos: R4, C-04
Gerado por ds_extra() em scripts/dados_relatorio_descritivo.py (C-04); mediana.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[DS31-2] Índice de envelhecimento: por região, município e FCU
Requisitos: R4, C-04
Gerado por ds_extra() em scripts/dados_relatorio_descritivo.py (C-04); mediana.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[DS32-2] Dependência idosa: por região, município e FCU
Requisitos: R4, C-04
Gerado por ds_extra() em scripts/dados_relatorio_descritivo.py (C-04); mediana.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[DS33-2] 70+ entre 60+: por região, município e FCU
Requisitos: R4, C-04
Gerado por ds_extra() em scripts/dados_relatorio_descritivo.py (C-04); mediana. Números de T04, T05, T15 e, para FCU com zeros, da base da 00_referencia.
Fontes: analises_exploratorias/00_referencia/tabelas/T04_descritivas_regiao.csv; analises_exploratorias/00_referencia/tabelas/T05_descritivas_municipio.csv; analises_exploratorias/00_referencia/tabelas/T15_fcu_por_indicador.csv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[DC00] Correlações entre os indicadores
Requisitos: C-04
Fontes: analises_exploratorias/00_referencia/tabelas/T12_correlacao_spearman.csv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[DC01] Os componentes do IVS-7
Requisitos: C-04
Fontes: analises_exploratorias/00_referencia/tabelas/T12_correlacao_spearman.csv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[DC02] Os componentes do IVS-7: mapa
Requisitos: C-04
Fontes: analises_exploratorias/00_referencia/tabelas/T12_correlacao_spearman.csv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[DC03] Saneamento
Requisitos: C-04
Fontes: analises_exploratorias/00_referencia/tabelas/T12_correlacao_spearman.csv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[DC04] Socioeconômica
Requisitos: C-04
Fontes: analises_exploratorias/00_referencia/tabelas/T12_correlacao_spearman.csv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[DC05] Morfologia
Requisitos: C-04
Fontes: analises_exploratorias/00_referencia/tabelas/T12_correlacao_spearman.csv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[DC06] Demografia
Requisitos: C-04
Fontes: analises_exploratorias/00_referencia/tabelas/T12_correlacao_spearman.csv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[DC07] Os 31 indicadores
Requisitos: C-04
Fontes: analises_exploratorias/00_referencia/tabelas/T12_correlacao_spearman.csv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[FC01] Cenário S0: IVS-7 (referência, reproduz o NB04)
Requisitos: C-04
Fontes: banco_de_dados/eda/fatorial_ampliada/cenarios.csv; scripts/fatorial_ampliada.py (CENARIOS, carregar, montar)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[FC02] Cenário S1: IVS-6 (IVS-7 sem lixo)
Requisitos: C-04
Fontes: banco_de_dados/eda/fatorial_ampliada/cenarios.csv; scripts/fatorial_ampliada.py (CENARIOS, carregar, montar)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[FC03] Cenário S2: IVS-7 + não chega
Requisitos: C-04
Fontes: banco_de_dados/eda/fatorial_ampliada/cenarios.csv; scripts/fatorial_ampliada.py (CENARIOS, carregar, montar)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[FC04] Cenário S3: IVS-7 + sem canalização
Requisitos: C-04
Fontes: banco_de_dados/eda/fatorial_ampliada/cenarios.csv; scripts/fatorial_ampliada.py (CENARIOS, carregar, montar)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[FC05] Cenário S4: IVS-7 + sem banheiro (V00495)
Requisitos: C-04
Fontes: banco_de_dados/eda/fatorial_ampliada/cenarios.csv; scripts/fatorial_ampliada.py (CENARIOS, carregar, montar)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[FC06] Cenário S5: IVS-7 + não convencional
Requisitos: C-04
Fontes: banco_de_dados/eda/fatorial_ampliada/cenarios.csv; scripts/fatorial_ampliada.py (CENARIOS, carregar, montar)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[FC07] Cenário S6: IVS-7 + as quatro ("tudo isso")
Requisitos: C-04
Fontes: banco_de_dados/eda/fatorial_ampliada/cenarios.csv; scripts/fatorial_ampliada.py (CENARIOS, carregar, montar)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[FC08] Cenário S7: S6 sem lixo
Requisitos: C-04
Fontes: banco_de_dados/eda/fatorial_ampliada/cenarios.csv; scripts/fatorial_ampliada.py (CENARIOS, carregar, montar)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[FC09] As variantes dos cenários
Requisitos: C-04
Fontes: banco_de_dados/eda/fatorial_ampliada/cenarios.csv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4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5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8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9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40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1.png"/><Relationship Id="rId3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2.png"/><Relationship Id="rId3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3.png"/><Relationship Id="rId3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4.png"/><Relationship Id="rId3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5.png"/><Relationship Id="rId3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5.png"/><Relationship Id="rId3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6.png"/><Relationship Id="rId3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7.png"/><Relationship Id="rId3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8.png"/><Relationship Id="rId3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9.png"/><Relationship Id="rId3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0.png"/><Relationship Id="rId3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1.png"/><Relationship Id="rId3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2.png"/><Relationship Id="rId3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3.png"/><Relationship Id="rId3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4.png"/><Relationship Id="rId3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5.png"/><Relationship Id="rId3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6.png"/><Relationship Id="rId3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7.png"/><Relationship Id="rId3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8.png"/><Relationship Id="rId3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9.png"/><Relationship Id="rId3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0.png"/><Relationship Id="rId3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1.png"/><Relationship Id="rId3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2.png"/><Relationship Id="rId3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3.png"/><Relationship Id="rId3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4.png"/><Relationship Id="rId3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6.png"/><Relationship Id="rId3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 · CENSO 2022 · 70 MUNICÍPIOS DO ELSI-BRASIL</a:t>
            </a:r>
            <a:endParaRPr lang="pt-BR" sz="1150" noProof="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4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 descritivo do andamento</a:t>
            </a:r>
            <a:endParaRPr lang="pt-BR" sz="40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pt-BR" sz="14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demandas de setembro e como foram cobertas, a descritiva de cada indicador e a análise fatorial — para conferência com os resultados da orientadora</a:t>
            </a:r>
            <a:endParaRPr lang="pt-BR" sz="14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A01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demandas e como foram cobertas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11 demandas de setembro, uma por slide: o pedido, como lemos, o que foi feito, o que contornamos e onde está o resultado</a:t>
            </a:r>
            <a:endParaRPr lang="pt-BR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11 demandas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Redação do registro, estado e onde está cada uma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727627"/>
              </p:ext>
            </p:extLst>
          </p:nvPr>
        </p:nvGraphicFramePr>
        <p:xfrm>
          <a:off x="777240" y="1719072"/>
          <a:ext cx="10634472" cy="2962656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Nº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Demanda (registro)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Slide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Resultado em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coluna de renda com a 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DS18, FP01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quadro de indicadores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DS03–DS33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fatorial sem </a:t>
                      </a: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bootstrap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sem e com rotação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DM04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FP02, FP09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separar útil × inútil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MAPA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comparar "não chega"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 (as duas leituras)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juntar "sem banheiro"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 com V00495; graduada (V00237) em aberto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FP04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adicionar canalização e sem banheiro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fatorial de tudo isso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 (leitura padrão da pergunta 6)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convencional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 (como não convencional, sem excluir)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DM10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testar lixo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DM11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testar as duas rotações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concluída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DM12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FP09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1 — a renda com a mediana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Coluna de renda com a mediana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mediana do próprio setor não existe no arquivo bruto do Censo (vêm V06001–V06005, não V06006). Lemos como: no setor extremo de Belo Horizonte, pôr a mediana do município calculada sem ele.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3032760"/>
            <a:ext cx="5394960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Função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renda_imputada_mediana_municipal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em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src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ivs_censo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renda.py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coluna nova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renda_media_mediana_mun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na entrega (o banco passa de 104 para 105 colunas); CSV de sensibilidade com três alternativas.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Obstáculo: falta a mediana do setor (V06006). Saída: imputação pela mediana do município, só no setor excluído a (310620005650366,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$ 170.418,06). Efeito: 1 setor difere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renda_media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79501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057094"/>
              </p:ext>
            </p:extLst>
          </p:nvPr>
        </p:nvGraphicFramePr>
        <p:xfrm>
          <a:off x="6446520" y="3105912"/>
          <a:ext cx="4965192" cy="133096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Alternativa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 imputado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 em BH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 nos 70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de BH sem o setor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$ 3.058,235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$ 4.649,57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$ 4.185,80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de BH com o setor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$ 3.060,310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$ 4.649,57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$ 4.185,80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dos 70 municípios sem o setor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$ 2.572,390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$ 4.649,47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$ 4.185,80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4439920"/>
            <a:ext cx="49651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DS18 (a coluna nova) e FP01 (o efeito na fatorial).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2 — quadro de indicadores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 de indicadores.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2038350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23346"/>
              </p:ext>
            </p:extLst>
          </p:nvPr>
        </p:nvGraphicFramePr>
        <p:xfrm>
          <a:off x="777240" y="2349246"/>
          <a:ext cx="4965192" cy="1645920"/>
        </p:xfrm>
        <a:graphic>
          <a:graphicData uri="http://schemas.openxmlformats.org/drawingml/2006/table">
            <a:tbl>
              <a:tblPr/>
              <a:tblGrid>
                <a:gridCol w="2587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 IVS-7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777240" y="4104894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DS03–DS33 (a definição em cada slide).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3 — fatorial sem </a:t>
            </a:r>
            <a:r>
              <a:rPr lang="pt-BR" sz="2600" b="1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</a:t>
            </a: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sem e com rotação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Fatorial sem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sem e com rotação (redação do registro).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rotação? Rodamos as duas: sem rotação,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lado a lado.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saiu, como pedido. Para a incerteza entrou a sensibilidade de um município de fora por vez (S0, S1, S6).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37591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8934375"/>
              </p:ext>
            </p:extLst>
          </p:nvPr>
        </p:nvGraphicFramePr>
        <p:xfrm>
          <a:off x="6446520" y="2686812"/>
          <a:ext cx="4965192" cy="1371600"/>
        </p:xfrm>
        <a:graphic>
          <a:graphicData uri="http://schemas.openxmlformats.org/drawingml/2006/table">
            <a:tbl>
              <a:tblPr/>
              <a:tblGrid>
                <a:gridCol w="1856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 (S0)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75,89%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24,11%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74,69%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25,31%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estrutura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73,40%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26,60%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416814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FP02 e FP09.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5 — comparar "não chega"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Comparar "não chega".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leituras, as duas feitas: (a) contra as outras categorias de canalização;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contra os indicadores do IVS-7.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823210"/>
            <a:ext cx="539496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S2 (IVS-7 + não chega) na grade;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"água não chega" com o IVS-7 e com as outras categorias de água; perfil dos setores com valor &gt; 0 × = 0.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85,7% de zeros citados antes usavam os 104.108 setores como denominador, contando o faltante como não zero. Sobre os valores presentes, são 94,5%.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58546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70272"/>
              </p:ext>
            </p:extLst>
          </p:nvPr>
        </p:nvGraphicFramePr>
        <p:xfrm>
          <a:off x="6446520" y="2896362"/>
          <a:ext cx="4965192" cy="2531999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 × …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0,459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0,109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78.266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-0,252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94.391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0,249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81.303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0,514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94.368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85.098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5538089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FP03.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6 — juntar "sem banheiro"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Juntar "sem banheiro".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Usamos a V00495, que já contém a V00238 (conferido no banco). 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3032760"/>
            <a:ext cx="539496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S4 (IVS-7 + sem banheiro, V00495) e a prova V00238 ≤ V00495. Depois, no NB05, a V00237 foi extraída e o banheiro graduado entrou na grade.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Obstáculo: a V00237 não estava na base. Saída: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reextração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no NB01, sem gravar o notebook. A partição V00495 = V00236 + V00237 + V00238 fecha em 91.199 de 91.199 setores.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58546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091209"/>
              </p:ext>
            </p:extLst>
          </p:nvPr>
        </p:nvGraphicFramePr>
        <p:xfrm>
          <a:off x="6446520" y="2896362"/>
          <a:ext cx="4965192" cy="822960"/>
        </p:xfrm>
        <a:graphic>
          <a:graphicData uri="http://schemas.openxmlformats.org/drawingml/2006/table">
            <a:tbl>
              <a:tblPr/>
              <a:tblGrid>
                <a:gridCol w="3136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em que vale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V00238 ≤ V00495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90.858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V00495 = V00236 + V00237 + V00238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91.199 de 91.199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382905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FP04 e DS13 (o banheiro graduado).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7 — adicionar canalização e sem banheiro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Adicionar canalização e sem banheiro.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variável nova por vez sobre o IVS-7: não chega (S2), sem canalização (S3), sem banheiro (S4).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823210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cenários na grade da fatorial ampliada, cada um uma fatorial completa sobre a mesma regra de setores.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variável nova perde setores diferentes; cada cenário tem o seu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comparado com o S0 na coluna perdidos_vs_S0.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37591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396023"/>
              </p:ext>
            </p:extLst>
          </p:nvPr>
        </p:nvGraphicFramePr>
        <p:xfrm>
          <a:off x="6446520" y="2686812"/>
          <a:ext cx="4965192" cy="162560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Perdidos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não chega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9.289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sem canalização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sem banheiro (V00495)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11.590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10"/>
          <p:cNvSpPr/>
          <p:nvPr/>
        </p:nvSpPr>
        <p:spPr>
          <a:xfrm>
            <a:off x="6446520" y="442214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FP05.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DM08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8 — fatorial de tudo isso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Fatorial de tudo.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IVS-7 + não chega + sem canalização + sem banheiro + não convencional.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823210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S6 (as quatro juntas) e S7 (S6 sem lixo); o S6 também com as três rendas e com postos dentro do município.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contorno de dado. A leitura de "tudo isso" é nossa e está registrada como pergunta à orientadora.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37591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098285"/>
              </p:ext>
            </p:extLst>
          </p:nvPr>
        </p:nvGraphicFramePr>
        <p:xfrm>
          <a:off x="6446520" y="2686812"/>
          <a:ext cx="4965192" cy="277368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Var. 2 f.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 sem lixo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53,22%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S6_renda_sem_extremo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quatro, renda </a:t>
                      </a: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sem_extremo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S6_renda_mediana_mun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quatro, renda </a:t>
                      </a: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S6_postos_mun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quatro, postos dentro do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48,33%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557022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FP06.</a:t>
            </a:r>
            <a:endParaRPr lang="pt-BR" sz="1250" noProof="0" dirty="0"/>
          </a:p>
        </p:txBody>
      </p:sp>
      <p:sp>
        <p:nvSpPr>
          <p:cNvPr id="12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DM09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9 — habitação convencional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Habitação convencional.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Entrou na direção da vulnerabilidade (moradia não convencional), com diagnóstico completo, sem excluir por variância baixa.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823210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Cenários S5 (IVS-7 + não convencional) e S6; MSA, comunalidade e % de zeros em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cargas.csv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variável tem variância baixa. Em vez de excluí-la, mostramos o diagnóstico; manter ou não é decisão da orientadora.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58546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578471"/>
              </p:ext>
            </p:extLst>
          </p:nvPr>
        </p:nvGraphicFramePr>
        <p:xfrm>
          <a:off x="6446520" y="2896362"/>
          <a:ext cx="4965192" cy="82296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de zeros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</a:t>
                      </a: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92,19%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92,93%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382905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FP07.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DM10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10 — testar lixo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Testar lixo.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leitura só: rodar com e sem o lixo.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613660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 (IVS-7 sem lixo) e S7 (S6 sem lixo); se o lixo forma fator próprio na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se isso muda ao tirar um município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lixo_muda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contorno. Registro: em S0, o lixo muda de fator em duas rodadas de um município de fora.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37591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413136"/>
              </p:ext>
            </p:extLst>
          </p:nvPr>
        </p:nvGraphicFramePr>
        <p:xfrm>
          <a:off x="6446520" y="2686812"/>
          <a:ext cx="4965192" cy="94996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4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Kaiser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IVS-6 (IVS-7 sem lixo)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374650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FP08.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DM11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11 — testar as duas rotações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539496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Testar as duas rotações.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66366"/>
            <a:ext cx="539496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lemos. 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; na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as duas métricas (matriz padrão e matriz estrutura), sem dizer que uma se afasta ou se aproxima da literatura.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3032760"/>
            <a:ext cx="539496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feito. 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pesos.csv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com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(padrão e estrutura) 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em todos os cenários; figura fa_plano_s6.png.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6446520" y="166420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49651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contornamos.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posicionador de rótulos da figura veio do NB04; a figura foi conferida rótulo a rótulo antes de ir para slide.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446520" y="237591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pt-BR" sz="1200" noProof="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450150"/>
              </p:ext>
            </p:extLst>
          </p:nvPr>
        </p:nvGraphicFramePr>
        <p:xfrm>
          <a:off x="6446520" y="2686812"/>
          <a:ext cx="4965192" cy="1371600"/>
        </p:xfrm>
        <a:graphic>
          <a:graphicData uri="http://schemas.openxmlformats.org/drawingml/2006/table">
            <a:tbl>
              <a:tblPr/>
              <a:tblGrid>
                <a:gridCol w="1856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 (S1)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77,17%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22,83%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65,01%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34,99%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65,82%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34,18%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estrutura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59,64%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40,36%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46520" y="4168140"/>
            <a:ext cx="496519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completo em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FP09.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DM12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Tudo o que contornamos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680482"/>
              </p:ext>
            </p:extLst>
          </p:nvPr>
        </p:nvGraphicFramePr>
        <p:xfrm>
          <a:off x="777240" y="1719072"/>
          <a:ext cx="10634472" cy="3930396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1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Nº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Demanda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Obstáculo, saída e efeito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Slide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renda com a 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Obstáculo: falta a mediana do setor (V06006). Saída: imputação pela mediana do município, Efeito: 1 setor difere de </a:t>
                      </a: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quadro de indicadores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Nenhum contorno. O quadro foi ampliado no NB05: TODOS_INDICADORES sobe de 26 para 28, com </a:t>
                      </a: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pct_so_sanitario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e </a:t>
                      </a: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pct_banheiro_comum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fatorial sem </a:t>
                      </a: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bootstrap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sem e com rotação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</a:t>
                      </a: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bootstrap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saiu, como pedido. Para a incerteza entrou a sensibilidade de um município de fora por vez (S0, S1, S6).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DM04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comparar "não chega"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85,7% de zeros citados antes usavam os 104.108 setores como denominador, contando o faltante como não zero. Sobre os valores presentes, são 94,5%.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juntar "sem banheiro"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Obstáculo: a V00237 não estava na base. Saída: </a:t>
                      </a: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reextração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no NB01, sem gravar o notebook. A partição V00495 = V00236 + V00237 + V00238 fecha em 91.199 de 91.199 setores.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adicionar canalização e sem banheiro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Cada variável nova perde setores diferentes; cada cenário tem o seu </a:t>
                      </a: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comparado com o S0 na coluna perdidos_vs_S0.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DM08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convencional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variável tem variância baixa. Em vez de excluí-la, mostramos o diagnóstico; 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DM10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testar lixo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Nenhum contorno. Registro: em S0, o lixo muda de fator em duas rodadas de um município de fora.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DM11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testar as duas rotações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posicionador de rótulos da figura veio do NB04; a figura foi conferida rótulo a rótulo antes de ir para slide.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DM12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DM14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 dos indicadores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indicador por slide, nos 104.108 setores urbanos com </a:t>
            </a:r>
            <a:r>
              <a:rPr lang="pt-BR" sz="14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Dados_sig</a:t>
            </a: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OK: como é calculado, de que arquivo vem e como se distribui. Sem cruzar indicadores.</a:t>
            </a:r>
            <a:endParaRPr lang="pt-BR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109.032 setores dos 70 municípios aos que entram em cada parte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885321"/>
              </p:ext>
            </p:extLst>
          </p:nvPr>
        </p:nvGraphicFramePr>
        <p:xfrm>
          <a:off x="777240" y="1719072"/>
          <a:ext cx="6400800" cy="165658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Etapa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Saem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 quê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 completa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109.032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106.347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2.685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 rural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Dados_sig</a:t>
                      </a: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OK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2.239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 sem dados divulgados (sigilo ou sem domicílio ocupado)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 completos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30.230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 em algum componente do índice (exclusão por lista)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604260"/>
            <a:ext cx="64008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descritiva usa 104.108 setores (urbanos com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Dados_sig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OK). A fatorial da referência proposta usa 73.878: saem 30.230 com algum componente faltante.</a:t>
            </a:r>
            <a:endParaRPr lang="pt-BR" sz="1250" noProof="0" dirty="0"/>
          </a:p>
        </p:txBody>
      </p:sp>
      <p:pic>
        <p:nvPicPr>
          <p:cNvPr id="8" name="Image 0" descr="/Users/pedro/Documents/Iniciacao Cientifica/Projeto_IVS_Censo22/relatorio_descritivo/figuras/DS01.png"/>
          <p:cNvPicPr>
            <a:picLocks noChangeAspect="1"/>
          </p:cNvPicPr>
          <p:nvPr/>
        </p:nvPicPr>
        <p:blipFill>
          <a:blip r:embed="rId3"/>
          <a:srcRect l="-5513" r="-5513"/>
          <a:stretch/>
        </p:blipFill>
        <p:spPr>
          <a:xfrm>
            <a:off x="71846" y="4133088"/>
            <a:ext cx="4810396" cy="21486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4242" y="6281784"/>
            <a:ext cx="2385604" cy="166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funil do recorte, etapa a etapa.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com valor, indicador a indicador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945041"/>
              </p:ext>
            </p:extLst>
          </p:nvPr>
        </p:nvGraphicFramePr>
        <p:xfrm>
          <a:off x="777240" y="1673352"/>
          <a:ext cx="5120640" cy="4197096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valor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104.107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104.067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9.706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9,32%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88.211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15.897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15,27%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91.912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12.196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11,71%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101.139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2.969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2,85%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100.297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3.811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3,66%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94.414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9.694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9,31%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89.816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14.292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13,73%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87.556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15,90%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104.095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524097"/>
              </p:ext>
            </p:extLst>
          </p:nvPr>
        </p:nvGraphicFramePr>
        <p:xfrm>
          <a:off x="6291072" y="1673352"/>
          <a:ext cx="5120640" cy="3950208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valor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103.961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147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98.969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5.139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4,94%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95.005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9.103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8,74%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99.642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4.466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4,29%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91.304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12.804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12,30%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102.288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1.820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1,75%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103.850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103.823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285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103.116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103.810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101.972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2.136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2,05%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inadequada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com abastecimento de água inadequado ou ausente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762605"/>
              </p:ext>
            </p:extLst>
          </p:nvPr>
        </p:nvGraphicFramePr>
        <p:xfrm>
          <a:off x="777240" y="1737360"/>
          <a:ext cx="3429000" cy="2992247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6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6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99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V00112 — Domicílios Particulares Permanentes Ocupados, Utiliza poço profundo ou artesiano | V00113 — Domicílios Particulares Permanentes Ocupados, Utiliza poço raso, freático ou cacimba | V00114 — Domicílios Particulares Permanentes Ocupados, Utiliza fonte, nascente ou mina | V00115 — Domicílios Particulares Permanentes Ocupados, Utiliza carro-pipa | V00116 — Domicílios Particulares Permanentes Ocupados, Utiliza água da chuva armazenada | V00117 — Domicílios Particulares Permanentes Ocupados, Utiliza rios, açudes, córregos, lagos e igarapés | V00118 — Domicílios Particulares Permanentes Ocupados, Utiliza outra forma de abastecimento de água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5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</a:t>
                      </a: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6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ivs_censo</a:t>
                      </a: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6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indicadores.py</a:t>
                      </a: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linha 87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784471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numerador soma várias variáveis: sigilo parcial em uma delas entra como zero (</a:t>
            </a:r>
            <a:r>
              <a:rPr lang="pt-BR" sz="85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min_count</a:t>
            </a: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=1)</a:t>
            </a:r>
            <a:endParaRPr lang="pt-BR" sz="850" noProof="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380986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(0,00%)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19,74%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283,6%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19,86%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74,25%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03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77.295 setores com zero.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0,00%; um em cada quatro tem mais de 1,18%. Entre o P10 e o P90, vai de 0,00% a 19,86%; 74,25%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Esgoto inadequado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com esgotamento sanitário inadequado ou ausente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631208"/>
              </p:ext>
            </p:extLst>
          </p:nvPr>
        </p:nvGraphicFramePr>
        <p:xfrm>
          <a:off x="777240" y="1737360"/>
          <a:ext cx="3429000" cy="3092958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6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6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06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V00312 — Domicílios Particulares Permanentes Ocupados, Destinação do esgoto do banheiro ou sanitário ou buraco para dejeções é fossa rudimentar ou buraco | V00313 — Domicílios Particulares Permanentes Ocupados, Destinação do esgoto do banheiro ou sanitário ou buraco para dejeções é vala | V00314 — Domicílios Particulares Permanentes Ocupados, Destinação do esgoto do banheiro ou sanitário ou buraco para dejeções é rio, lago, córrego ou mar | V00315 — Domicílios Particulares Permanentes Ocupados, Destinação do esgoto do banheiro ou sanitário ou buraco para dejeções é outra forma | V00316 — Domicílios Particulares Permanentes Ocupados, Destinação do esgoto inexistente, pois não tinham banheiro nem sanitário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5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</a:t>
                      </a: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6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ivs_censo</a:t>
                      </a: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6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indicadores.py</a:t>
                      </a: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linha 90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885182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numerador soma várias variáveis: sigilo parcial em uma delas entra como zero (</a:t>
            </a:r>
            <a:r>
              <a:rPr lang="pt-BR" sz="85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min_count</a:t>
            </a: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=1)</a:t>
            </a:r>
            <a:endParaRPr lang="pt-BR" sz="850" noProof="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754191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(0,00%)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21,43%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261,4%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1,82%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28,38%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72,53%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04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75.511 setores com zero.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0,00%; um em cada quatro tem mais de 1,82%. Entre o P10 e o P90, vai de 0,00% a 28,38%; 72,53%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Lixo inadequado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com destino do lixo inadequado ou ausente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328176"/>
              </p:ext>
            </p:extLst>
          </p:nvPr>
        </p:nvGraphicFramePr>
        <p:xfrm>
          <a:off x="777240" y="1737360"/>
          <a:ext cx="3429000" cy="2690114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6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6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78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V00398 — Domicílios Particulares Permanentes Ocupados, Lixo depositado em caçamba de serviço de limpeza | V00399 — Domicílios Particulares Permanentes Ocupados, Lixo queimado na propriedade | V00400 — Domicílios Particulares Permanentes Ocupados, Lixo enterrado na propriedade | V00401 — Domicílios Particulares Permanentes Ocupados, Lixo jogado em terreno baldio, encosta ou área pública | V00402 — Domicílios Particulares Permanentes Ocupados, Outro destino do lixo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5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</a:t>
                      </a: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6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ivs_censo</a:t>
                      </a: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6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indicadores.py</a:t>
                      </a: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linha 93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82338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numerador soma várias variáveis: sigilo parcial em uma delas entra como zero (</a:t>
            </a:r>
            <a:r>
              <a:rPr lang="pt-BR" sz="85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min_count</a:t>
            </a: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=1)</a:t>
            </a:r>
            <a:endParaRPr lang="pt-BR" sz="850" noProof="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693000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(0,00%)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11,58%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25,24%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217,9%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50,46%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62,78%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05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4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65.359 setores com zero.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0,00%; um em cada quatro tem mais de 5,94%. Entre o P10 e o P90, vai de 0,00% a 50,46%; 62,78%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DS05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água canalizada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em que a água não chega encanada até dentro do domicílio (complemento de V00199; equivale a V00200+V00201 sobre V00001)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317450"/>
              </p:ext>
            </p:extLst>
          </p:nvPr>
        </p:nvGraphicFramePr>
        <p:xfrm>
          <a:off x="777240" y="1737360"/>
          <a:ext cx="3429000" cy="2707005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V00199 — Domicílios Particulares Permanentes Ocupados, Água chega encanada até dentro da casa, apartamento ou habitação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</a:t>
                      </a: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8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ivs_censo</a:t>
                      </a: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8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indicadores.py</a:t>
                      </a: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linha 153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99229"/>
            <a:ext cx="3429000" cy="17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= complemento (1 − numerador/denominador)</a:t>
            </a:r>
            <a:endParaRPr lang="pt-BR" sz="850" noProof="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12487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104.067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 (0,04%)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458,0%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69,70%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8,70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06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72.537 setores com zero.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0,00%; um em cada quatro tem mais de 0,48%. Entre o P10 e o P90, vai de 0,00% a 2,34%; 69,70%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não chega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em que a água não chega encanada ao domicílio (V00201)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594435"/>
              </p:ext>
            </p:extLst>
          </p:nvPr>
        </p:nvGraphicFramePr>
        <p:xfrm>
          <a:off x="777240" y="1737360"/>
          <a:ext cx="3429000" cy="2583053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V00201 — Domicílios Particulares Permanentes Ocupados, Água não chega encanada ao domicílio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</a:t>
                      </a: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8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ivs_censo</a:t>
                      </a: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8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indicadores.py</a:t>
                      </a: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linha 157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251887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94.402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9.706 (9,32%)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863,0%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94,50%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15,71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07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89.212 setores com zero.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0,00%; um em cada quatro tem mais de 0,00%. Entre o P10 e o P90, vai de 0,00% a 0,00%; 94,50%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só no terreno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em que a água chega encanada apenas ao terreno (V00200)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758209"/>
              </p:ext>
            </p:extLst>
          </p:nvPr>
        </p:nvGraphicFramePr>
        <p:xfrm>
          <a:off x="777240" y="1737360"/>
          <a:ext cx="3429000" cy="2707005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V00200 — Domicílios Particulares Permanentes Ocupados, Água chega encanada, mas apenas ao terreno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</a:t>
                      </a: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8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ivs_censo</a:t>
                      </a: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8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indicadores.py</a:t>
                      </a: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linha 160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816752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88.211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15.897 (15,27%)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5,76%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548,5%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88,28%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08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77.876 setores com zero.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0,00%; um em cada quatro tem mais de 0,00%. Entre o P10 e o P90, vai de 0,00% a 1,47%; 88,28%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DS08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sem banheiro de uso exclusivo com chuveiro e vaso sanitário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713729"/>
              </p:ext>
            </p:extLst>
          </p:nvPr>
        </p:nvGraphicFramePr>
        <p:xfrm>
          <a:off x="777240" y="1737360"/>
          <a:ext cx="3429000" cy="2707005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V00495 — Domicílios Particulares Permanentes Ocupados, Sem banheiro de uso exclusivo com chuveiro e vaso sanitário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</a:t>
                      </a: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8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ivs_censo</a:t>
                      </a: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8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indicadores.py</a:t>
                      </a: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linha 164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266785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91.912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12.196 (11,71%)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913,8%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95,60%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21,31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09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8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87.864 setores com zero.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0,00%; um em cada quatro tem mais de 0,00%. Entre o P10 e o P90, vai de 0,00% a 0,00%; 95,60%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DS09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 nem sanitário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sem banheiro nem sanitário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091085"/>
              </p:ext>
            </p:extLst>
          </p:nvPr>
        </p:nvGraphicFramePr>
        <p:xfrm>
          <a:off x="777240" y="1737360"/>
          <a:ext cx="3429000" cy="2583053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V00238 — Domicílios Particulares Permanentes Ocupados, Não tinham banheiro nem sanitário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</a:t>
                      </a: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8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ivs_censo</a:t>
                      </a: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8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indicadores.py</a:t>
                      </a: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linha 167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085524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101.139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2.969 (2,85%)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3.072,9%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66,67%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99,65%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68,98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10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9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100.786 setores com zero.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0,00%; um em cada quatro tem mais de 0,00%. Entre o P10 e o P90, vai de 0,00% a 0,00%; 99,65%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sanitário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com apenas sanitário ou buraco para dejeções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745054"/>
              </p:ext>
            </p:extLst>
          </p:nvPr>
        </p:nvGraphicFramePr>
        <p:xfrm>
          <a:off x="777240" y="1737360"/>
          <a:ext cx="3429000" cy="2707005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V00237 — Domicílios Particulares Permanentes Ocupados, Apenas sanitário ou buraco para dejeções, inclusive os localizados no terreno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</a:t>
                      </a: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8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ivs_censo</a:t>
                      </a: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8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indicadores.py</a:t>
                      </a: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linha 170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134983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100.297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3.811 (3,66%)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1.670,2%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84,44%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98,96%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32,59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11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10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99.251 setores com zero.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0,00%; um em cada quatro tem mais de 0,00%. Entre o P10 e o P90, vai de 0,00% a 0,00%; 98,96%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de uso comum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com apenas banheiro de uso comum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550276"/>
              </p:ext>
            </p:extLst>
          </p:nvPr>
        </p:nvGraphicFramePr>
        <p:xfrm>
          <a:off x="777240" y="1737360"/>
          <a:ext cx="3429000" cy="2707005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V00236 — Domicílios Particulares Permanentes Ocupados, Apenas banheiro de uso comum a mais de um domicílio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 | Agregados_por_setores_caracteristicas_domicilio2_BR_20250417.csv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</a:t>
                      </a: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8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ivs_censo</a:t>
                      </a: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8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indicadores.py</a:t>
                      </a: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linha 173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926079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94.414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9.694 (9,31%)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1.214,7%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97,31%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37,68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12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91.872 setores com zero. Eixo até o P99 (30,11%); 26 setores acima dele ficam fora do desenho, não da tabela.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51226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0,00%; um em cada quatro tem mais de 0,00%. Entre o P10 e o P90, vai de 0,00% a 0,00%; 97,31%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graduado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Grau de inadequação do banheiro: 0 = todos com banheiro, 1 = todos sem banheiro nem sanitário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893573"/>
              </p:ext>
            </p:extLst>
          </p:nvPr>
        </p:nvGraphicFramePr>
        <p:xfrm>
          <a:off x="777240" y="1737360"/>
          <a:ext cx="3429000" cy="2257679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1·V00236 + 2·V00237 + 3·V00238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3·V00001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derivado de outra coluna da base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scripts/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ivs_especificacoes.py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função 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banheiro_graduado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(linha 58)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escala de 0 a 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209673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89.816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14.292 (13,73%)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1.523,5%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97,83%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13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12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87.864 setores com zero.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0,000; um em cada quatro tem mais de 0,000. Entre o P10 e o P90, vai de 0,000 a 0,000; 97,83%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moradores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moradores por domicílio (reproduz o V0005 do IBGE)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664996"/>
              </p:ext>
            </p:extLst>
          </p:nvPr>
        </p:nvGraphicFramePr>
        <p:xfrm>
          <a:off x="777240" y="1737360"/>
          <a:ext cx="3429000" cy="2707005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V00005 — Domicílios Particulares Permanentes Ocupados, Quantidade de moradores | V00006 — Domicílios Particulares Improvisados Ocupados, Quantidade de moradores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 | V00002 — Domicílios Particulares Improvisados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</a:t>
                      </a: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8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ivs_censo</a:t>
                      </a: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8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indicadores.py</a:t>
                      </a: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linha 96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99229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numerador soma várias variáveis: sigilo parcial em uma delas entra como zero (</a:t>
            </a:r>
            <a:r>
              <a:rPr lang="pt-BR" sz="85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min_count</a:t>
            </a: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=1); sem corte em [0, 1] — não é proporção</a:t>
            </a:r>
            <a:endParaRPr lang="pt-BR" sz="850" noProof="0" dirty="0"/>
          </a:p>
        </p:txBody>
      </p:sp>
      <p:graphicFrame>
        <p:nvGraphicFramePr>
          <p:cNvPr id="6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338352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(0,00%)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14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2,71; um em cada quatro tem mais de 2,93. Entre o P10 e o P90, vai de 2,20 a 3,14; nenhum setor tem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15+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Taxa de analfabetismo entre pessoas de 15 anos ou mais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640767"/>
              </p:ext>
            </p:extLst>
          </p:nvPr>
        </p:nvGraphicFramePr>
        <p:xfrm>
          <a:off x="777240" y="1737360"/>
          <a:ext cx="3429000" cy="253657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V00901 — 15 anos ou mais, Morador não sabe ler e escrever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V00900 — 15 anos ou mais, Morador sabe ler e escrever | V00901 — 15 anos ou mais, Morador não sabe ler e escrever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Agregados_por_setores_alfabetizacao_BR.csv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ivs_censo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indicadores.py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linha 99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328795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denominador exige as 2 parcelas presentes (sem tolerância a sigilo parcial)</a:t>
            </a:r>
            <a:endParaRPr lang="pt-BR" sz="850" noProof="0" dirty="0"/>
          </a:p>
        </p:txBody>
      </p:sp>
      <p:graphicFrame>
        <p:nvGraphicFramePr>
          <p:cNvPr id="7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621794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 (15,90%)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3,52%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72,55%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10,59%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15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14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Eixo até o P99 (16,43%); 876 setores acima dele ficam fora do desenho, não da tabela.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9575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2,71%; um em cada quatro tem mais de 4,99%. Entre o P10 e o P90, vai de 0,00% a 7,92%; 10,59%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DS15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Rendimento nominal médio mensal das pessoas responsáveis (</a:t>
            </a: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955084"/>
              </p:ext>
            </p:extLst>
          </p:nvPr>
        </p:nvGraphicFramePr>
        <p:xfrm>
          <a:off x="777240" y="1737360"/>
          <a:ext cx="3429000" cy="2676017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 — Valor do rendimento nominal médio mensal das pessoas responsáveis com rendimentos por domicílios particulares permanentes ocupados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(sem denominador)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Agregados_por_setores_renda_responsavel_BR.csv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ivs_censo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indicadores.py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linha 102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reais (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$)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68241"/>
            <a:ext cx="3429000" cy="17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corte em [0, 1] — não é proporção</a:t>
            </a:r>
            <a:endParaRPr lang="pt-BR" sz="850" noProof="0" dirty="0"/>
          </a:p>
        </p:txBody>
      </p:sp>
      <p:graphicFrame>
        <p:nvGraphicFramePr>
          <p:cNvPr id="7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07715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 (0,01%)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$ 4.187,41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$ 4.150,66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$ 318,88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$ 1.387,94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$ 1.752,48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$ 2.572,39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$ 4.835,89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$ 9.490,68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$ 170.418,06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16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Eixo até o P99 (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$ 19.771,79); 1.041 setores acima dele ficam fora do desenho, não da tabela.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9575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$ 2.572,39; um em cada quatro tem mais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$ 4.835,89. Entre o P10 e o P90, vai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$ 1.387,94 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$ 9.490,68; nenhum setor tem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o extremo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 das pessoas responsáveis, com o setor extremo de BH vazio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04623"/>
              </p:ext>
            </p:extLst>
          </p:nvPr>
        </p:nvGraphicFramePr>
        <p:xfrm>
          <a:off x="777240" y="1737360"/>
          <a:ext cx="3429000" cy="2392553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sem o setor 310620005650366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derivado de outra coluna da base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ivs_censo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renda.py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função 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renda_sem_extremos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(linha 113)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reais (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$)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694304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 (0,01%)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$ 4.185,81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$ 4.118,57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$ 318,88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$ 1.387,94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$ 1.752,47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$ 2.572,39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$ 4.835,83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$ 9.490,42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$ 140.172,64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17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16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Eixo até o P99 (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$ 19.771,58); 1.041 setores acima dele ficam fora do desenho, não da tabela.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9575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$ 2.572,39; um em cada quatro tem mais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$ 4.835,83. Entre o P10 e o P90, vai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$ 1.387,94 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$ 9.490,42; nenhum setor tem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(mediana mun.)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 das pessoas responsáveis, com o setor extremo de BH substituído pela mediana do município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735675"/>
              </p:ext>
            </p:extLst>
          </p:nvPr>
        </p:nvGraphicFramePr>
        <p:xfrm>
          <a:off x="777240" y="1737360"/>
          <a:ext cx="3429000" cy="253657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com imputação no setor 310620005650366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derivado de outra coluna da base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ivs_censo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renda.py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função 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renda_imputada_mediana_municipal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(linha 130)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reais (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$)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045567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 (0,01%)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$ 4.185,80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$ 4.118,56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$ 318,88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$ 1.387,94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$ 1.752,48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$ 2.572,39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$ 4.835,82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$ 9.490,41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$ 140.172,64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18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Eixo até o P99 (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$ 19.771,58); 1.041 setores acima dele ficam fora do desenho, não da tabela.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9575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$ 2.572,39; um em cada quatro tem mais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$ 4.835,82. Entre o P10 e o P90, vai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$ 1.387,94 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$ 9.490,41; nenhum setor tem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DS18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pessoas de cor/raça preta, parda ou indígena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264300"/>
              </p:ext>
            </p:extLst>
          </p:nvPr>
        </p:nvGraphicFramePr>
        <p:xfrm>
          <a:off x="777240" y="1737360"/>
          <a:ext cx="3429000" cy="2676017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V01318 — Cor ou raça é preta | V01320 — Cor ou raça é parda | V01321 — Cor ou raça é indígena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 — Total de pessoas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Agregados_por_setores_basico_BR_20250417.csv | 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Agregados_por_setores_cor_ou_raca_BR.csv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ivs_censo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indicadores.py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linha 105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68241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numerador soma várias variáveis: sigilo parcial em uma delas entra como zero (</a:t>
            </a:r>
            <a:r>
              <a:rPr lang="pt-BR" sz="85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min_count</a:t>
            </a: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=1)</a:t>
            </a:r>
            <a:endParaRPr lang="pt-BR" sz="850" noProof="0" dirty="0"/>
          </a:p>
        </p:txBody>
      </p:sp>
      <p:graphicFrame>
        <p:nvGraphicFramePr>
          <p:cNvPr id="7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910304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(0,00%)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52,67%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22,83%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17,45%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35,26%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57,19%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70,44%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79,29%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19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18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57,19%; um em cada quatro tem mais de 70,44%. Entre o P10 e o P90, vai de 17,45% a 79,29%; 0,09%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DS19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Responsável mulher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com pessoa responsável do sexo feminino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905552"/>
              </p:ext>
            </p:extLst>
          </p:nvPr>
        </p:nvGraphicFramePr>
        <p:xfrm>
          <a:off x="777240" y="1737360"/>
          <a:ext cx="3429000" cy="2676017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V01063 — Pessoa responsável pelo domicílio, Sexo feminino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V01062 — Pessoa responsável pelo domicílio, Sexo masculino | V01063 — Pessoa responsável pelo domicílio, Sexo feminino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Agregados_por_setores_parentesco_BR.csv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ivs_censo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indicadores.py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linha 176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991113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103.961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147 (0,14%)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52,81%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8,95%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41,41%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47,40%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53,39%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58,80%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63,40%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20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19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53,39%; um em cada quatro tem mais de 58,80%. Entre o P10 e o P90, vai de 41,41% a 63,40%; 0,02%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Domicílio improvisado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particulares improvisados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283691"/>
              </p:ext>
            </p:extLst>
          </p:nvPr>
        </p:nvGraphicFramePr>
        <p:xfrm>
          <a:off x="777240" y="1737360"/>
          <a:ext cx="3429000" cy="2806319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V00002 — Domicílios Particulares Improvisados Ocupados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 | V00002 — Domicílios Particulares Improvisados Ocupados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ivs_censo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indicadores.py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linha 122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876241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98.969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5.139 (4,94%)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2.243,9%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97,25%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99,21%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37,38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21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20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98.189 setores com zero.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0,00%; um em cada quatro tem mais de 0,00%. Entre o P10 e o P90, vai de 0,00% a 0,00%; 99,21%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Habitação precária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em habitação precária (cortiço, estrutura degradada, improvisados)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109132"/>
              </p:ext>
            </p:extLst>
          </p:nvPr>
        </p:nvGraphicFramePr>
        <p:xfrm>
          <a:off x="777240" y="1737360"/>
          <a:ext cx="3429000" cy="3596513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6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6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 — Domicílios Particulares Permanentes Ocupados, Tipo de espécie é habitação em casa de cômodos ou cortiço | V00052 — Domicílios Particulares Permanentes Ocupados, Tipo de espécie é estrutura residencial permanente degradada ou inacabada | V00053 — Domicílios Particulares Improvisados Ocupados, Tipo de espécie é tenda ou barraca de lona, plástico ou tecido | V00054 — Domicílios Particulares Improvisados Ocupados, Tipo de espécie é dentro de estabelecimento em funcionamento | V00055 — Domicílios Particulares Improvisados Ocupados, Tipo de espécie é abrigo natural e outras estruturas improvisadas | V00056 — Domicílios Particulares Improvisados Ocupados, Tipo de espécie é estrutura improvisada em logradouro público, exceto tenda ou barraca | V00057 — Domicílios Particulares Improvisados Ocupados, Tipo de espécie é estrutura não residencial permanente degradada ou inacabada | V00058 — Domicílios Particulares Improvisados Ocupados, Tipo de espécie é veículo (carro, caminhão, trailer, barco </a:t>
                      </a:r>
                      <a:r>
                        <a:rPr lang="pt-BR" sz="6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etc</a:t>
                      </a: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 | V00002 — Domicílios Particulares Improvisados Ocupados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</a:t>
                      </a: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6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ivs_censo</a:t>
                      </a: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6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indicadores.py</a:t>
                      </a: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linha 124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8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6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6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388737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numerador soma várias variáveis: sigilo parcial em uma delas entra como zero (</a:t>
            </a:r>
            <a:r>
              <a:rPr lang="pt-BR" sz="85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min_count</a:t>
            </a: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=1)</a:t>
            </a:r>
            <a:endParaRPr lang="pt-BR" sz="850" noProof="0" dirty="0"/>
          </a:p>
        </p:txBody>
      </p:sp>
      <p:graphicFrame>
        <p:nvGraphicFramePr>
          <p:cNvPr id="8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597165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(0,00%)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650,1%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92,46%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12,43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22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96.260 setores com zero.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0,00%; um em cada quatro tem mais de 0,00%. Entre o P10 e o P90, vai de 0,00% a 0,00%; 92,46%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convencional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moradias convencionais (casa, casa de vila/condomínio, apartamento)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276811"/>
              </p:ext>
            </p:extLst>
          </p:nvPr>
        </p:nvGraphicFramePr>
        <p:xfrm>
          <a:off x="777240" y="1737360"/>
          <a:ext cx="3429000" cy="2830957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51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V00047 — Domicílios Particulares Permanentes Ocupados, Tipo de espécie é casa | V00048 — Domicílios Particulares Permanentes Ocupados, Tipo de espécie é casa de vila ou em condomínio | V00049 — Domicílios Particulares Permanentes Ocupados, Tipo de espécie é apartamento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</a:t>
                      </a: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8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ivs_censo</a:t>
                      </a: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8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indicadores.py</a:t>
                      </a: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linha 127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623181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numerador soma várias variáveis: sigilo parcial em uma delas entra como zero (</a:t>
            </a:r>
            <a:r>
              <a:rPr lang="pt-BR" sz="85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min_count</a:t>
            </a: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=1)</a:t>
            </a:r>
            <a:endParaRPr lang="pt-BR" sz="850" noProof="0" dirty="0"/>
          </a:p>
        </p:txBody>
      </p:sp>
      <p:graphicFrame>
        <p:nvGraphicFramePr>
          <p:cNvPr id="8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269938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(0,00%)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99,10%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98,40%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99,41%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-12,34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23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22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100,00%; um em cada quatro tem mais de 100,00%. Entre o P10 e o P90, vai de 98,40% a 100,00%; 0,01%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não convencional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moradias não convencionais (cortiço, maloca, estrutura degradada)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263617"/>
              </p:ext>
            </p:extLst>
          </p:nvPr>
        </p:nvGraphicFramePr>
        <p:xfrm>
          <a:off x="777240" y="1737360"/>
          <a:ext cx="3429000" cy="3202813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7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70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 — Domicílios Particulares Permanentes Ocupados, Tipo de espécie é habitação em casa de cômodos ou cortiço | V00051 — Domicílios Particulares Permanentes Ocupados, Tipo de espécie é habitação indígena sem paredes ou maloca | V00052 — Domicílios Particulares Permanentes Ocupados, Tipo de espécie é estrutura residencial permanente degradada ou inacabada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</a:t>
                      </a: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8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ivs_censo</a:t>
                      </a: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8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indicadores.py</a:t>
                      </a: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linha 130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995037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numerador soma várias variáveis: sigilo parcial em uma delas entra como zero (</a:t>
            </a:r>
            <a:r>
              <a:rPr lang="pt-BR" sz="85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min_count</a:t>
            </a: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=1)</a:t>
            </a:r>
            <a:endParaRPr lang="pt-BR" sz="850" noProof="0" dirty="0"/>
          </a:p>
        </p:txBody>
      </p:sp>
      <p:graphicFrame>
        <p:nvGraphicFramePr>
          <p:cNvPr id="8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35814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(0,00%)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666,9%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92,95%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24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96.771 setores com zero.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0,00%; um em cada quatro tem mais de 0,00%. Entre o P10 e o P90, vai de 0,00% a 0,00%; 92,95%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Apartamento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do tipo apartamento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58537"/>
              </p:ext>
            </p:extLst>
          </p:nvPr>
        </p:nvGraphicFramePr>
        <p:xfrm>
          <a:off x="777240" y="1737360"/>
          <a:ext cx="3429000" cy="2676017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V00049 — Domicílios Particulares Permanentes Ocupados, Tipo de espécie é apartamento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ivs_censo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indicadores.py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linha 133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203230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95.005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9.103 (8,74%)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31,48%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40,48%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128,6%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5,21%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76,09%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99,52%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38,52%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25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24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5,21%; um em cada quatro tem mais de 76,09%. Entre o P10 e o P90, vai de 0,00% a 99,52%; 38,52%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DS25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do tipo casa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952013"/>
              </p:ext>
            </p:extLst>
          </p:nvPr>
        </p:nvGraphicFramePr>
        <p:xfrm>
          <a:off x="777240" y="1737360"/>
          <a:ext cx="3429000" cy="2676017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V00047 — Domicílios Particulares Permanentes Ocupados, Tipo de espécie é casa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ivs_censo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indicadores.py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linha 135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669206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99.642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4.466 (4,29%)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69,47%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37,97%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38,38%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91,44%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99,38%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10,11%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26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91,44%; um em cada quatro tem mais de 99,38%. Entre o P10 e o P90, vai de 0,00% a 100,00%; 10,11%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 de vila/condomínio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domicílios do tipo casa de vila ou em condomínio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828361"/>
              </p:ext>
            </p:extLst>
          </p:nvPr>
        </p:nvGraphicFramePr>
        <p:xfrm>
          <a:off x="777240" y="1737360"/>
          <a:ext cx="3429000" cy="2676017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V00048 — Domicílios Particulares Permanentes Ocupados, Tipo de espécie é casa de vila ou em condomínio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— Domicílios Particulares Permanentes Ocupados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Agregados_por_setores_caracteristicas_domicilio1_BR.csv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ivs_censo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indicadores.py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linha 137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700630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91.304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12.804 (12,30%)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12,97%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293,1%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12,14%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70,74%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27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26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Fora do histograma: 64.589 setores com zero.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0,00%; um em cada quatro tem mais de 2,19%. Entre o P10 e o P90, vai de 0,00% a 12,14%; 70,74%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Crianças 0–4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crianças de 0 a 4 anos na população residente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419774"/>
              </p:ext>
            </p:extLst>
          </p:nvPr>
        </p:nvGraphicFramePr>
        <p:xfrm>
          <a:off x="777240" y="1737360"/>
          <a:ext cx="3429000" cy="2397125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— 0 a 4 anos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 — Total de pessoas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Agregados_por_setores_basico_BR_20250417.csv | 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Agregados_por_setores_demografia_BR.csv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ivs_censo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indicadores.py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linha 178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760481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102.288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1.820 (1,75%)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5,21%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6,72%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33,33%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0" name="Image 0" descr="/Users/pedro/Documents/Iniciacao Cientifica/Projeto_IVS_Censo22/relatorio_descritivo/figuras/DS28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2" name="Text 7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5,21%; um em cada quatro tem mais de 6,72%. Entre o P10 e o P90, vai de 2,81% a 8,26%; 0,52% dos setores têm valor zero.</a:t>
            </a:r>
            <a:endParaRPr lang="pt-BR" sz="1250" noProof="0" dirty="0"/>
          </a:p>
        </p:txBody>
      </p:sp>
      <p:sp>
        <p:nvSpPr>
          <p:cNvPr id="13" name="Text 8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DS28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População 0–14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pessoas com menos de 15 anos na população residente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395650"/>
              </p:ext>
            </p:extLst>
          </p:nvPr>
        </p:nvGraphicFramePr>
        <p:xfrm>
          <a:off x="777240" y="1737360"/>
          <a:ext cx="3429000" cy="253657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— 0 a 4 anos | V01032 — 5 a 9 anos | V01033 — 10 a 14 anos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 — Total de pessoas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Agregados_por_setores_basico_BR_20250417.csv | 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Agregados_por_setores_demografia_BR.csv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ivs_censo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indicadores.py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linha 180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328795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numerador soma várias variáveis: sigilo parcial em uma delas entra como zero (</a:t>
            </a:r>
            <a:r>
              <a:rPr lang="pt-BR" sz="85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min_count</a:t>
            </a: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=1)</a:t>
            </a:r>
            <a:endParaRPr lang="pt-BR" sz="850" noProof="0" dirty="0"/>
          </a:p>
        </p:txBody>
      </p:sp>
      <p:graphicFrame>
        <p:nvGraphicFramePr>
          <p:cNvPr id="9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155003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103.850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258 (0,25%)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17,26%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5,79%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10,08%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13,42%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20,98%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24,49%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48,78%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29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28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17,19%; um em cada quatro tem mais de 20,98%. Entre o P10 e o P90, vai de 10,08% a 24,49%; 0,50%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DS29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pessoas de 60 anos ou mais na população residente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865693"/>
              </p:ext>
            </p:extLst>
          </p:nvPr>
        </p:nvGraphicFramePr>
        <p:xfrm>
          <a:off x="777240" y="1737360"/>
          <a:ext cx="3429000" cy="2536571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— 60 a 69 anos | V01041 — 70 anos ou mais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 — Total de pessoas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Agregados_por_setores_basico_BR_20250417.csv | 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Agregados_por_setores_demografia_BR.csv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ivs_censo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indicadores.py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linha 182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proporção, mostrada em %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328795"/>
            <a:ext cx="342900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numerador soma várias variáveis: sigilo parcial em uma delas entra como zero (</a:t>
            </a:r>
            <a:r>
              <a:rPr lang="pt-BR" sz="85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min_count</a:t>
            </a: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=1)</a:t>
            </a:r>
            <a:endParaRPr lang="pt-BR" sz="850" noProof="0" dirty="0"/>
          </a:p>
        </p:txBody>
      </p:sp>
      <p:graphicFrame>
        <p:nvGraphicFramePr>
          <p:cNvPr id="10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073271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103.823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285 (0,27%)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17,53%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7,20%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16,57%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23,07%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29,26%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85,71%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30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29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16,57%; um em cada quatro tem mais de 23,07%. Entre o P10 e o P90, vai de 7,20% a 29,26%; 0,30%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envelhecimento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Envelhecimento Populacional: 60+ por 100 menores de 15 anos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468282"/>
              </p:ext>
            </p:extLst>
          </p:nvPr>
        </p:nvGraphicFramePr>
        <p:xfrm>
          <a:off x="777240" y="1737360"/>
          <a:ext cx="3429000" cy="2397125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— 60 a 69 anos | V01041 — 70 anos ou mais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— 0 a 4 anos | V01032 — 5 a 9 anos | V01033 — 10 a 14 anos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Agregados_por_setores_demografia_BR.csv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ivs_censo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indicadores.py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linha 185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 100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189349"/>
            <a:ext cx="34290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numerador soma várias variáveis: sigilo parcial em uma delas entra como zero (</a:t>
            </a:r>
            <a:r>
              <a:rPr lang="pt-BR" sz="85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min_count</a:t>
            </a: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=1); sem corte em [0, 1] — não é proporção; escala ×100</a:t>
            </a:r>
            <a:endParaRPr lang="pt-BR" sz="850" noProof="0" dirty="0"/>
          </a:p>
        </p:txBody>
      </p:sp>
      <p:graphicFrame>
        <p:nvGraphicFramePr>
          <p:cNvPr id="10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113068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103.116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992 (0,95%)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134,66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141,59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105,1%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30,77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53,85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96,30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169,57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275,00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4.750,00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5,74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31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30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Eixo até o P99 (633,33); 1.027 setores acima dele ficam fora do desenho, não da tabela.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9575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96,30; um em cada quatro tem mais de 169,57. Entre o P10 e o P90, vai de 30,77 a 275,00; 0,21%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Dependência idosa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Dependência de Idosos: 60+ por 100 pessoas de 15 a 59 anos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386289"/>
              </p:ext>
            </p:extLst>
          </p:nvPr>
        </p:nvGraphicFramePr>
        <p:xfrm>
          <a:off x="777240" y="1737360"/>
          <a:ext cx="3429000" cy="2676017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— 60 a 69 anos | V01041 — 70 anos ou mais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V01034 — 15 a 19 anos | V01035 — 20 a 24 anos | V01036 — 25 a 29 anos | V01037 — 30 a 39 anos | V01038 — 40 a 49 anos | V01039 — 50 a 59 anos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Agregados_por_setores_demografia_BR.csv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ivs_censo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indicadores.py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linha 188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 100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68241"/>
            <a:ext cx="342900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numerador soma várias variáveis: sigilo parcial em uma delas entra como zero (</a:t>
            </a:r>
            <a:r>
              <a:rPr lang="pt-BR" sz="85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min_count</a:t>
            </a: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=1); sem corte em [0, 1] — não é proporção; escala ×100</a:t>
            </a:r>
            <a:endParaRPr lang="pt-BR" sz="850" noProof="0" dirty="0"/>
          </a:p>
        </p:txBody>
      </p:sp>
      <p:graphicFrame>
        <p:nvGraphicFramePr>
          <p:cNvPr id="10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629523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103.810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298 (0,29%)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28,12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16,86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10,35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25,16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36,77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49,66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1.000,00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32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 Eixo até o P99 (76,72); 1.038 setores acima dele ficam fora do desenho, não da tabela.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9575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25,16; um em cada quatro tem mais de 36,77. Entre o P10 e o P90, vai de 10,35 a 49,66; 0,30%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pt-BR" sz="105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 entre 60+</a:t>
            </a:r>
            <a:endParaRPr lang="pt-BR" sz="26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Proporção de pessoas de 70+ entre os de 60+ (proxy de longevidade; NÃO é o LI, que exigiria a faixa 75+, inexistente nos agregados por setor)</a:t>
            </a:r>
            <a:endParaRPr lang="pt-BR" sz="13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calculado</a:t>
            </a:r>
            <a:endParaRPr lang="pt-BR" sz="1200" noProof="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499955"/>
              </p:ext>
            </p:extLst>
          </p:nvPr>
        </p:nvGraphicFramePr>
        <p:xfrm>
          <a:off x="777240" y="1737360"/>
          <a:ext cx="3429000" cy="2257679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V01041 — 70 anos ou mais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— 60 a 69 anos | V01041 — 70 anos ou mais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Arquivo do Censo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Agregados_por_setores_demografia_BR.csv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Calculado em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src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ivs_censo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</a:t>
                      </a:r>
                      <a:r>
                        <a:rPr lang="pt-BR" sz="9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indicadores.py</a:t>
                      </a: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linha 191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Unidade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 100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no IVS-7?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7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 na referência proposta?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049903"/>
            <a:ext cx="3429000" cy="17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85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corte em [0, 1] — não é proporção; escala ×100</a:t>
            </a:r>
            <a:endParaRPr lang="pt-BR" sz="850" noProof="0" dirty="0"/>
          </a:p>
        </p:txBody>
      </p:sp>
      <p:graphicFrame>
        <p:nvGraphicFramePr>
          <p:cNvPr id="10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928717"/>
              </p:ext>
            </p:extLst>
          </p:nvPr>
        </p:nvGraphicFramePr>
        <p:xfrm>
          <a:off x="4434840" y="1700784"/>
          <a:ext cx="2971800" cy="3835146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Distribuição nos setores da base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101.972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2.136 (2,05%)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42,67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10,98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Coeficiente de variação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28,95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42,86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55,95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 zero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11" name="Image 0" descr="/Users/pedro/Documents/Iniciacao Cientifica/Projeto_IVS_Censo22/relatorio_descritivo/figuras/DS33.png"/>
          <p:cNvPicPr>
            <a:picLocks noChangeAspect="1"/>
          </p:cNvPicPr>
          <p:nvPr/>
        </p:nvPicPr>
        <p:blipFill>
          <a:blip r:embed="rId3"/>
          <a:srcRect l="-22456" r="-22456"/>
          <a:stretch/>
        </p:blipFill>
        <p:spPr>
          <a:xfrm>
            <a:off x="7635240" y="1700784"/>
            <a:ext cx="3776472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35240" y="4352544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32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nos setores com valor; tracejado = mediana.</a:t>
            </a:r>
            <a:endParaRPr lang="pt-BR" sz="1050" noProof="0" dirty="0"/>
          </a:p>
        </p:txBody>
      </p:sp>
      <p:sp>
        <p:nvSpPr>
          <p:cNvPr id="13" name="Text 8"/>
          <p:cNvSpPr/>
          <p:nvPr/>
        </p:nvSpPr>
        <p:spPr>
          <a:xfrm>
            <a:off x="7635240" y="4792472"/>
            <a:ext cx="377647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até 42,86; um em cada quatro tem mais de 50,00. Entre o P10 e o P90, vai de 28,95 a 55,95; 0,31% dos setores têm valor zero.</a:t>
            </a:r>
            <a:endParaRPr lang="pt-BR" sz="1250" noProof="0" dirty="0"/>
          </a:p>
        </p:txBody>
      </p:sp>
      <p:sp>
        <p:nvSpPr>
          <p:cNvPr id="14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 da análise fatorial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original · lixo sem · banheiro graduado · rotação </a:t>
            </a:r>
            <a:r>
              <a:rPr lang="pt-BR" sz="14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pesos 60/40 · normalização municipal. </a:t>
            </a:r>
            <a:endParaRPr lang="pt-BR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da fatorial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506547"/>
              </p:ext>
            </p:extLst>
          </p:nvPr>
        </p:nvGraphicFramePr>
        <p:xfrm>
          <a:off x="777240" y="1719072"/>
          <a:ext cx="5303520" cy="219456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14.292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537960" y="1719072"/>
            <a:ext cx="487375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73.878 setores: os 104.108 da descritiva menos 30.230 com algum dos sete componentes faltante. Um setor sai se faltar qualquer um deles (exclusão por lista).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matriz de correlação de entrada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73.878 setores 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513598"/>
              </p:ext>
            </p:extLst>
          </p:nvPr>
        </p:nvGraphicFramePr>
        <p:xfrm>
          <a:off x="777240" y="1719072"/>
          <a:ext cx="10635385" cy="2025777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188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inadequad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inadequ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gradu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973449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fora da diagonal, em módulo, é 0,784, entre Renda (invertida) e Cor/raça PPI. A fatorial usa a correlação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 dos dados à fatorial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816314"/>
              </p:ext>
            </p:extLst>
          </p:nvPr>
        </p:nvGraphicFramePr>
        <p:xfrm>
          <a:off x="777240" y="1719072"/>
          <a:ext cx="5486400" cy="274320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</a:t>
                      </a: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 (</a:t>
                      </a: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</a:t>
                      </a: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</a:t>
                      </a: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qui</a:t>
                      </a: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-quadrado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185.197,02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graus de liberdade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determinante de </a:t>
                      </a: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0,0815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paralela de Horn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explicada por 2 fatores (%)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60,82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720840" y="1719072"/>
            <a:ext cx="46908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de 0,7807; Bartlett com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-quadrado de 185.197,02 e 21 graus de liberdade.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MSA e comunalidade por variável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934135"/>
              </p:ext>
            </p:extLst>
          </p:nvPr>
        </p:nvGraphicFramePr>
        <p:xfrm>
          <a:off x="777240" y="1719072"/>
          <a:ext cx="6126480" cy="21945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(oblíqua)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60920" y="1719072"/>
            <a:ext cx="405079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 MSA: Renda (invertida) (0,709). Menor comunalidade: Razão de moradores (0,375).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Autovalores e análise paralela de Horn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variáveis · 73.878 setores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18545"/>
              </p:ext>
            </p:extLst>
          </p:nvPr>
        </p:nvGraphicFramePr>
        <p:xfrm>
          <a:off x="777240" y="1719072"/>
          <a:ext cx="5760720" cy="219456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Autovalor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de Horn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da variância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acumulado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3,186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45,52%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45,52%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1,071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60,82%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12,79%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73,61%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10,18%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83,79%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8,64%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92,43%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5,09%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97,52%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2,48%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142232"/>
            <a:ext cx="576072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autovalores passam de 1 (critério de Kaiser); 2 ficam acima da referência de Horn. Os dois primeiros componentes somam 60,82% da variância.</a:t>
            </a:r>
            <a:endParaRPr lang="pt-BR" sz="1250" noProof="0" dirty="0"/>
          </a:p>
        </p:txBody>
      </p:sp>
      <p:pic>
        <p:nvPicPr>
          <p:cNvPr id="8" name="Image 0" descr="/Users/pedro/Documents/Iniciacao Cientifica/Projeto_IVS_Censo22/relatorio_descritivo/figuras/FA05.png"/>
          <p:cNvPicPr>
            <a:picLocks noChangeAspect="1"/>
          </p:cNvPicPr>
          <p:nvPr/>
        </p:nvPicPr>
        <p:blipFill>
          <a:blip r:embed="rId3"/>
          <a:srcRect l="-13205" r="-13205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Autovalores observados e a referência da análise paralela.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FA05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fatores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551726"/>
              </p:ext>
            </p:extLst>
          </p:nvPr>
        </p:nvGraphicFramePr>
        <p:xfrm>
          <a:off x="777240" y="1719072"/>
          <a:ext cx="5303520" cy="109728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 de Kaiser (autovalor &gt; 1)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Análise paralela de Horn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Retidos na solução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537960" y="1719072"/>
            <a:ext cx="487375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Kaiser e Horn indicam 2 e 2; a solução retém 2, que explicam 60,82% da variância.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sem rotação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 proposta no NB05 — proposta, não escolhida; a escolha é da orientadora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733818"/>
              </p:ext>
            </p:extLst>
          </p:nvPr>
        </p:nvGraphicFramePr>
        <p:xfrm>
          <a:off x="777240" y="1719072"/>
          <a:ext cx="4572000" cy="21945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-0,257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-0,274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806440" y="1719072"/>
            <a:ext cx="56052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carga em F1: Renda (invertida). Maior carga em F2: Água inadequada.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</a:t>
            </a:r>
            <a:r>
              <a:rPr lang="pt-BR" sz="2600" b="1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 proposta no NB05 — proposta, não escolhida; a escolha é da orientadora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549994"/>
              </p:ext>
            </p:extLst>
          </p:nvPr>
        </p:nvGraphicFramePr>
        <p:xfrm>
          <a:off x="777240" y="1719072"/>
          <a:ext cx="4572000" cy="21945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806440" y="1719072"/>
            <a:ext cx="56052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carga em F1: Renda (invertida). Maior carga em F2: Água inadequada.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FA08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</a:t>
            </a:r>
            <a:r>
              <a:rPr lang="pt-BR" sz="2600" b="1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matriz padrão e matriz estrutura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 proposta no NB05 — proposta, não escolhida; a escolha é da orientadora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785062"/>
              </p:ext>
            </p:extLst>
          </p:nvPr>
        </p:nvGraphicFramePr>
        <p:xfrm>
          <a:off x="777240" y="1719072"/>
          <a:ext cx="5852160" cy="21945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Estrutura F1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Estrutura F2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142232"/>
            <a:ext cx="576072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matriz padrão dá o efeito próprio de cada fator; a estrutura, a correlação da variável com o fator. As duas são reportadas (pergunta 7 à orientadora).</a:t>
            </a:r>
            <a:endParaRPr lang="pt-BR" sz="1250" noProof="0" dirty="0"/>
          </a:p>
        </p:txBody>
      </p:sp>
      <p:pic>
        <p:nvPicPr>
          <p:cNvPr id="8" name="Image 0" descr="/Users/pedro/Documents/Iniciacao Cientifica/Projeto_IVS_Censo22/relatorio_descritivo/figuras/FA09.png"/>
          <p:cNvPicPr>
            <a:picLocks noChangeAspect="1"/>
          </p:cNvPicPr>
          <p:nvPr/>
        </p:nvPicPr>
        <p:blipFill>
          <a:blip r:embed="rId3"/>
          <a:srcRect l="-13205" r="-13205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34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das cargas da referência.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FA09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entre os fatores (</a:t>
            </a:r>
            <a:r>
              <a:rPr lang="pt-BR" sz="2600" b="1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</a:t>
            </a: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 proposta no NB05 — proposta, não escolhida; a escolha é da orientadora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470969"/>
              </p:ext>
            </p:extLst>
          </p:nvPr>
        </p:nvGraphicFramePr>
        <p:xfrm>
          <a:off x="777240" y="1719072"/>
          <a:ext cx="3657600" cy="8229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892040" y="1719072"/>
            <a:ext cx="65196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F1 e F2 têm correlação de 0,411.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pesos do índice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 proposta no NB05 — proposta, não escolhida; a escolha é da orientadora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805331"/>
              </p:ext>
            </p:extLst>
          </p:nvPr>
        </p:nvGraphicFramePr>
        <p:xfrm>
          <a:off x="777240" y="1719072"/>
          <a:ext cx="7863840" cy="2025777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no índice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17,32%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7,78%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7,46%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17,36%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19,28%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15,90%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973449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dimensões pesam 60% e 40%; o maior peso no índice é de Renda (invertida) (19,28%).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referência proposta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 proposta no NB05 — proposta, não escolhida; a escolha é da orientadora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218715"/>
              </p:ext>
            </p:extLst>
          </p:nvPr>
        </p:nvGraphicFramePr>
        <p:xfrm>
          <a:off x="777240" y="1719072"/>
          <a:ext cx="3840480" cy="32918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Estatística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0,3338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Mínimo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0,2313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0,2832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0,3306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0,4311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Máximo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0,9120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239512"/>
            <a:ext cx="576072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Metade dos setores tem índice até 0,3306; entre o P10 e o P90, vai de 0,2313 a 0,4311. As regiões estão no anexo (aba Fatorial).</a:t>
            </a:r>
            <a:endParaRPr lang="pt-BR" sz="1250" noProof="0" dirty="0"/>
          </a:p>
        </p:txBody>
      </p:sp>
      <p:pic>
        <p:nvPicPr>
          <p:cNvPr id="8" name="Image 0" descr="/Users/pedro/Documents/Iniciacao Cientifica/Projeto_IVS_Censo22/relatorio_descritivo/figuras/FA12.png"/>
          <p:cNvPicPr>
            <a:picLocks noChangeAspect="1"/>
          </p:cNvPicPr>
          <p:nvPr/>
        </p:nvPicPr>
        <p:blipFill>
          <a:blip r:embed="rId3"/>
          <a:srcRect l="-13205" r="-13205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35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do índice, colorido pela faixa.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faixas, pelas duas regras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 proposta no NB05 — proposta, não escolhida; a escolha é da orientadora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459255"/>
              </p:ext>
            </p:extLst>
          </p:nvPr>
        </p:nvGraphicFramePr>
        <p:xfrm>
          <a:off x="777240" y="1719072"/>
          <a:ext cx="5303520" cy="27432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21.270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28,79%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31.052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42,03%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17.622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23,85%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3.933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5,32%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18.449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24,97%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18.472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18.464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24,99%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18.493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25,03%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537960" y="1719072"/>
            <a:ext cx="487375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regra do IVS-BH, 3.933 setores (5,32%) ficam na faixa muito elevada; pelos quartis, cada faixa tem cerca de um quarto.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contra as favelas (FCU)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 proposta no NB05 — proposta, não escolhida; a escolha é da orientadora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282670"/>
              </p:ext>
            </p:extLst>
          </p:nvPr>
        </p:nvGraphicFramePr>
        <p:xfrm>
          <a:off x="777240" y="1719072"/>
          <a:ext cx="4754880" cy="109728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contra FCU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(mediana)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na AUC municipal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044952"/>
            <a:ext cx="576072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 da AUC municipal: ao menos 30 setores de FCU e fora.</a:t>
            </a:r>
            <a:endParaRPr lang="pt-BR" sz="1250" noProof="0" dirty="0"/>
          </a:p>
        </p:txBody>
      </p:sp>
      <p:pic>
        <p:nvPicPr>
          <p:cNvPr id="8" name="Image 0" descr="/Users/pedro/Documents/Iniciacao Cientifica/Projeto_IVS_Censo22/relatorio_descritivo/figuras/FA14.png"/>
          <p:cNvPicPr>
            <a:picLocks noChangeAspect="1"/>
          </p:cNvPicPr>
          <p:nvPr/>
        </p:nvPicPr>
        <p:blipFill>
          <a:blip r:embed="rId3"/>
          <a:srcRect l="-13205" r="-13205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36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do índice contra FCU.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por município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 proposta no NB05 — proposta, não escolhida; a escolha é da orientadora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515146"/>
              </p:ext>
            </p:extLst>
          </p:nvPr>
        </p:nvGraphicFramePr>
        <p:xfrm>
          <a:off x="777240" y="1719072"/>
          <a:ext cx="4754880" cy="16459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com AUC calculada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Entram na mediana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Menor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0,6037 (Duque de Caxias)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0,9544 (Campinas)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593592"/>
            <a:ext cx="576072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na mediana só os municípios com ao menos 30 setores de FCU e 30 fora.</a:t>
            </a:r>
            <a:endParaRPr lang="pt-BR" sz="1250" noProof="0" dirty="0"/>
          </a:p>
        </p:txBody>
      </p:sp>
      <p:pic>
        <p:nvPicPr>
          <p:cNvPr id="8" name="Image 0" descr="/Users/pedro/Documents/Iniciacao Cientifica/Projeto_IVS_Censo22/relatorio_descritivo/figuras/FA15.png"/>
          <p:cNvPicPr>
            <a:picLocks noChangeAspect="1"/>
          </p:cNvPicPr>
          <p:nvPr/>
        </p:nvPicPr>
        <p:blipFill>
          <a:blip r:embed="rId3"/>
          <a:srcRect l="-13205" r="-13205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37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que entram na mediana; tracejado = mediana. A lista completa está no anexo.</a:t>
            </a:r>
            <a:endParaRPr lang="pt-BR" sz="1050" noProof="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FA15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Elegibilidade pelos critérios do NB05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 proposta no NB05 — proposta, não escolhida; a escolha é da orientadora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925241"/>
              </p:ext>
            </p:extLst>
          </p:nvPr>
        </p:nvGraphicFramePr>
        <p:xfrm>
          <a:off x="777240" y="1719072"/>
          <a:ext cx="7863840" cy="2279904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F1 (socioeconômica) (%)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60,0000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≥ 0,70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≥ 0,50 em todas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mínima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0,3755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≥ 0,30 em todas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mínima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≥ 0,40 em todas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pelos critérios do NB05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227576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critérios foram fixados antes de rodar a grade do NB05.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FA16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Demandas da da fatorial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slide por pedido, na ordem das demandas. Aqui a comparação entre cenários é o próprio pedido.</a:t>
            </a:r>
            <a:endParaRPr lang="pt-BR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1 — o efeito das três rendas na fatorial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coluna de renda com a mediana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815497"/>
              </p:ext>
            </p:extLst>
          </p:nvPr>
        </p:nvGraphicFramePr>
        <p:xfrm>
          <a:off x="777240" y="1719072"/>
          <a:ext cx="10634472" cy="113690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Var. 2 fatores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F1 (</a:t>
                      </a: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S0_renda_sem_extremo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NB04), renda </a:t>
                      </a: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sem_extremo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S0_renda_mediana_mun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NB04), renda </a:t>
                      </a: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74,00%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2935224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peso de F1 na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é 74,00% nas três rendas (igual até a segunda casa): a troca afeta um setor só.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3 — sem </a:t>
            </a:r>
            <a:r>
              <a:rPr lang="pt-BR" sz="2600" b="1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</a:t>
            </a: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sem e com rotação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fatorial sem </a:t>
            </a: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sem e com rotação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457974"/>
              </p:ext>
            </p:extLst>
          </p:nvPr>
        </p:nvGraphicFramePr>
        <p:xfrm>
          <a:off x="777240" y="1719072"/>
          <a:ext cx="10607040" cy="197510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 (S0)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rot. F1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rot. F2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-0,496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-0,373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-0,439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922776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três soluções lado a lado no S0 (IVS-7, NB04); os pesos de cada rotação estão no DM04 e no FP09.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5 — o perfil dos setores com e sem "água não chega"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comparar "não chega"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766174"/>
              </p:ext>
            </p:extLst>
          </p:nvPr>
        </p:nvGraphicFramePr>
        <p:xfrm>
          <a:off x="777240" y="1719072"/>
          <a:ext cx="7863840" cy="1975104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de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= 0 (</a:t>
                      </a: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89.212)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&gt; 0 (</a:t>
                      </a: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5.190)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0,0238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0,0532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0,5337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0,7438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0,0968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0,0263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2,6878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2,8880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2.830,52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1.526,40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0,2370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922776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 (a), contra as outras categorias de canalização, e (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), contra o IVS-7: 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está no DM06.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6 — o "sem banheiro" na fatorial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609846"/>
              </p:ext>
            </p:extLst>
          </p:nvPr>
        </p:nvGraphicFramePr>
        <p:xfrm>
          <a:off x="777240" y="1719072"/>
          <a:ext cx="9418320" cy="740664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Perdidos </a:t>
                      </a: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vs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S0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Kaiser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sem banheiro (V00495)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11.590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2688336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S4 usa a V00495. No NB05, as três versões do banheiro entram na grade (banheiro fora: 108 especificações, 48 elegíveis; banheiro graduado: 108 especificações, 48 elegíveis; banheiro v00495: 108 especificações, 96 elegíveis) e o graduado vai para a referência proposta.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7 — canalização e sem banheiro, uma por vez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292979"/>
              </p:ext>
            </p:extLst>
          </p:nvPr>
        </p:nvGraphicFramePr>
        <p:xfrm>
          <a:off x="777240" y="1719072"/>
          <a:ext cx="9692640" cy="123444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Kaiser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Var. 2 fatores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não chega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58,51%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sem canalização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59,24%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sem banheiro (V00495)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56,37%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18211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cenário acrescenta uma variável ao IVS-7 (S0) e perde os setores sem ela.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FP05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8 — tudo isso junto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457771"/>
              </p:ext>
            </p:extLst>
          </p:nvPr>
        </p:nvGraphicFramePr>
        <p:xfrm>
          <a:off x="777240" y="1719072"/>
          <a:ext cx="10058400" cy="219151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Kaiser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Var. 2 fatores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 sem lixo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53,22%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S6_renda_sem_extremo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isso"), renda </a:t>
                      </a: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sem_extremo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S6_renda_mediana_mun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isso"), renda </a:t>
                      </a:r>
                      <a:r>
                        <a:rPr lang="pt-BR" sz="10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S6_postos_mun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isso"), postos dentro do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0,769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48,33%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139184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S6, Kaiser e Horn indicam 4 e 4 fatores; a solução fica com 2 em todos os cenários.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9 — a moradia não convencional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00641"/>
              </p:ext>
            </p:extLst>
          </p:nvPr>
        </p:nvGraphicFramePr>
        <p:xfrm>
          <a:off x="777240" y="1719072"/>
          <a:ext cx="9235440" cy="987552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mín.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Var. 2 fatores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não convencional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54,45%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2935224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diagnóstico da variável (MSA, comunalidade, % de zeros) está no DM10.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10 — testar o lixo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172770"/>
              </p:ext>
            </p:extLst>
          </p:nvPr>
        </p:nvGraphicFramePr>
        <p:xfrm>
          <a:off x="777240" y="1719072"/>
          <a:ext cx="10634472" cy="1373378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5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(Kaiser)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(Horn)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Variância, 2 fatores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forma fator próprio (</a:t>
                      </a:r>
                      <a:r>
                        <a:rPr lang="pt-BR" sz="9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r>
                        <a:rPr lang="pt-BR" sz="9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IVS-6 (IVS-7 sem lixo)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69,96%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0,810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48,94%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S7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 sem lixo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53,22%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321050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o lixo (S0), Kaiser e Horn indicam 2 e 2 fatores, e o lixo forma fator próprio na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Sem o lixo (S1), indicam 1 e 1.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FP08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11 — as duas rotações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358362"/>
              </p:ext>
            </p:extLst>
          </p:nvPr>
        </p:nvGraphicFramePr>
        <p:xfrm>
          <a:off x="777240" y="1719072"/>
          <a:ext cx="10634472" cy="3209544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F2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Φ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F1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F2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rotação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75,89%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24,11%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74,00%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26,00%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padrão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74,69%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25,31%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estrutura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73,40%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26,60%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rotação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77,17%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22,83%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65,01%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34,99%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padrão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65,82%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34,18%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estrutura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59,64%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40,36%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rotação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71,15%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28,85%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56,45%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43,55%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padrão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55,48%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44,52%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estrutura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53,82%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46,18%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157216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reportada pelas duas matrizes (padrão e estrutura);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só existe na oblíqua.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FP09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contra FCU, cenário a cenário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Pedido derivado das perguntas à orientadora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761788"/>
              </p:ext>
            </p:extLst>
          </p:nvPr>
        </p:nvGraphicFramePr>
        <p:xfrm>
          <a:off x="777240" y="1719072"/>
          <a:ext cx="10634472" cy="3562477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8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8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8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Cenário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indice_01 (pesos </a:t>
                      </a:r>
                      <a:r>
                        <a:rPr lang="pt-BR" sz="8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Varimax</a:t>
                      </a: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)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invertida sozinha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 simples de postos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0,8533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0,8889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0,8707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0,8365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0,8584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0,8568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0,8897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0,8758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0,8694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0,8394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0,8560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S0_renda_sem_extremo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S0_renda_mediana_mun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0,8382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S0_postos_mun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0,8178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S1_postos_mun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0,8411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S6_renda_sem_extremo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0,8694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S6_renda_mediana_mun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0,8478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0,8694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S6_postos_mun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0,8651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510149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contra os setores de FCU: o índice, a renda invertida sozinha e a média simples de postos.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FP11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 sozinha contra o índice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8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465256"/>
              </p:ext>
            </p:extLst>
          </p:nvPr>
        </p:nvGraphicFramePr>
        <p:xfrm>
          <a:off x="777240" y="1719072"/>
          <a:ext cx="6217920" cy="246888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 (referência proposta)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global: índice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global: renda sozinha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0,8900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global: média de postos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0,8585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município: índice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município: renda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0,8618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nos estratos de renda: índice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0,7062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nos estratos de renda: renda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0,5900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Queda da </a:t>
                      </a: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deviance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ao somar o índice à renda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135,45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z</a:t>
                      </a: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do índice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17,48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41655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 192 especificações avaliadas, o índice supera a renda sozinha na AUC global em 0.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FP13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pt-BR" sz="5400" noProof="0" dirty="0"/>
          </a:p>
        </p:txBody>
      </p:sp>
      <p:sp>
        <p:nvSpPr>
          <p:cNvPr id="3" name="Text 1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108 versões da análise fatorial</a:t>
            </a:r>
            <a:endParaRPr lang="pt-BR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× lixo × água canalizada × banheiro × moradia, todas com </a:t>
            </a:r>
            <a:r>
              <a:rPr lang="pt-BR" sz="14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pesos 60/40 e normalização municipal: quem passa nos critérios e o que muda de um eixo para outro</a:t>
            </a:r>
            <a:endParaRPr lang="pt-BR" sz="1400" noProof="0" dirty="0"/>
          </a:p>
        </p:txBody>
      </p:sp>
      <p:sp>
        <p:nvSpPr>
          <p:cNvPr id="6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</a:t>
            </a:r>
            <a:endParaRPr lang="pt-BR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719072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V001 a V108, o mesmo no caderno de fichas e na planilha.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2148078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 fixo.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Todas as versões usam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promax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pesos 60/40 e normalização municipal, com 2 fatores. Muda só o que entra na fatorial.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577084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Amostra própria.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fatorial roda nos setores que têm todas as variáveis da versão.</a:t>
            </a:r>
            <a:endParaRPr lang="pt-BR" sz="1250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3006090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Amostra comum.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comparações entre versões usam os 67.981 setores que têm as variáveis de todas as 108.</a:t>
            </a:r>
            <a:endParaRPr lang="pt-BR" sz="1250" noProof="0" dirty="0"/>
          </a:p>
        </p:txBody>
      </p:sp>
      <p:sp>
        <p:nvSpPr>
          <p:cNvPr id="10" name="Text 8"/>
          <p:cNvSpPr/>
          <p:nvPr/>
        </p:nvSpPr>
        <p:spPr>
          <a:xfrm>
            <a:off x="777240" y="3435096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Critérios. F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ixados antes: KMO ≥ 0,70; MSA ≥ 0,50; comunalidade ≥ 0,30; carga ≥ 0,40.</a:t>
            </a:r>
            <a:endParaRPr lang="pt-BR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cinco eixos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× 2 × 3 × 3 × 2 = 108 versões, de 6 a 10 variáveis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897797"/>
              </p:ext>
            </p:extLst>
          </p:nvPr>
        </p:nvGraphicFramePr>
        <p:xfrm>
          <a:off x="777240" y="1719072"/>
          <a:ext cx="10634472" cy="1517523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Eixo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Opções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Nº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 · sem extremo · com mediana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lixo · sem lixo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a inadequada · + não chega · + sem canalização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 · + sem banheiro (V00495) · + 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 · + não convencional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437763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Fixas em todas: água inadequada, esgoto, razão de moradores, analfabetismo, renda e cor/raça. "Não chega" e "sem canalização" não entram juntas: uma contém a outra.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amostra própria, por opção de cada eixo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612236"/>
              </p:ext>
            </p:extLst>
          </p:nvPr>
        </p:nvGraphicFramePr>
        <p:xfrm>
          <a:off x="777240" y="1719072"/>
          <a:ext cx="10634472" cy="3116199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Eixo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Opção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Menor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extremo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mediana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lixo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lixo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a inadequada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chega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69.480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canalizada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canalização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73.853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(V00495)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69.479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banheiro graduado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73.854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não convencional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68.000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036439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versão tem de 68.000 a 87.545 setores; a amostra comum às 108 tem 67.981.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108 de uma vez: quem passa nos critérios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das 108 passam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/Users/pedro/Documents/Iniciacao Cientifica/Projeto_IVS_Censo22/versoes_fatorial/figuras/VP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73352"/>
            <a:ext cx="10634472" cy="33782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37667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célula é uma versão; abaixo do código, "passa" ou o primeiro critério que falha (</a:t>
            </a:r>
            <a:r>
              <a:rPr lang="pt-BR" sz="1050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= comunalidade &lt; 0,30).</a:t>
            </a:r>
            <a:endParaRPr lang="pt-BR" sz="1050" noProof="0" dirty="0"/>
          </a:p>
        </p:txBody>
      </p:sp>
      <p:sp>
        <p:nvSpPr>
          <p:cNvPr id="8" name="Text 5"/>
          <p:cNvSpPr/>
          <p:nvPr/>
        </p:nvSpPr>
        <p:spPr>
          <a:xfrm>
            <a:off x="777240" y="574243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lixo passam 3; sem lixo, 21.</a:t>
            </a:r>
            <a:endParaRPr lang="pt-BR" sz="1250" noProof="0" dirty="0"/>
          </a:p>
        </p:txBody>
      </p:sp>
      <p:sp>
        <p:nvSpPr>
          <p:cNvPr id="9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VP05</a:t>
            </a:r>
            <a:endParaRPr lang="pt-BR" sz="1100" noProof="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C04D47D-FFB7-342C-9AB1-A6B6EDCE5598}"/>
              </a:ext>
            </a:extLst>
          </p:cNvPr>
          <p:cNvSpPr/>
          <p:nvPr/>
        </p:nvSpPr>
        <p:spPr>
          <a:xfrm>
            <a:off x="2290450" y="1070992"/>
            <a:ext cx="960120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Critérios. F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ixados antes: KMO ≥ 0,70; MSA ≥ 0,50; comunalidade ≥ 0,30; carga ≥ 0,40.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108 de uma vez: KMO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0,765 a 0,814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/Users/pedro/Documents/Iniciacao Cientifica/Projeto_IVS_Censo22/versoes_fatorial/figuras/VP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73352"/>
            <a:ext cx="10634472" cy="33782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37667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mais escura a célula, maior o KMO.</a:t>
            </a:r>
            <a:endParaRPr lang="pt-BR" sz="1050" noProof="0" dirty="0"/>
          </a:p>
        </p:txBody>
      </p:sp>
      <p:sp>
        <p:nvSpPr>
          <p:cNvPr id="8" name="Text 5"/>
          <p:cNvSpPr/>
          <p:nvPr/>
        </p:nvSpPr>
        <p:spPr>
          <a:xfrm>
            <a:off x="777240" y="574243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KMO é o da V033 (0,8143); o menor, o da V048 (0,7653).</a:t>
            </a:r>
            <a:endParaRPr lang="pt-BR" sz="1250" noProof="0" dirty="0"/>
          </a:p>
        </p:txBody>
      </p:sp>
      <p:sp>
        <p:nvSpPr>
          <p:cNvPr id="9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VP06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108 de uma vez: AUC no município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0,812 a 0,864, na amostra comum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/Users/pedro/Documents/Iniciacao Cientifica/Projeto_IVS_Censo22/versoes_fatorial/figuras/VP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73352"/>
            <a:ext cx="10634472" cy="33782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37667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0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 — </a:t>
            </a: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Mediana da AUC contra FCU entre os municípios com ao menos 30 setores de FCU e 30 fora.</a:t>
            </a:r>
            <a:endParaRPr lang="pt-BR" sz="1050" noProof="0" dirty="0"/>
          </a:p>
        </p:txBody>
      </p:sp>
      <p:sp>
        <p:nvSpPr>
          <p:cNvPr id="8" name="Text 5"/>
          <p:cNvSpPr/>
          <p:nvPr/>
        </p:nvSpPr>
        <p:spPr>
          <a:xfrm>
            <a:off x="777240" y="574243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é a da V024 (0,8642); a menor, a da V038 (0,8120).</a:t>
            </a:r>
            <a:endParaRPr lang="pt-BR" sz="1250" noProof="0" dirty="0"/>
          </a:p>
        </p:txBody>
      </p:sp>
      <p:sp>
        <p:nvSpPr>
          <p:cNvPr id="9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VP07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eixo por vez: renda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Pares de versões iguais em tudo, menos neste eixo: mediana [menor; maior] da diferença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204797"/>
              </p:ext>
            </p:extLst>
          </p:nvPr>
        </p:nvGraphicFramePr>
        <p:xfrm>
          <a:off x="777240" y="1719072"/>
          <a:ext cx="10634472" cy="179908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Troca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KMO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fatores (Kaiser)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AUC no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entre os índices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que mudam de faixa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antes → depois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→ renda sem extremo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 [0,999; 1,000]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 [0,1%; 0,2%]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 → 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→ renda com mediana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 [0,999; 1,000]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 [0,1%; 0,2%]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 → 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→ renda com mediana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 [0,000; 0,000]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 [1,000; 1,000]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 [0,0%; 0,0%]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 → 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572002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troca renda original → renda com mediana, metade dos pares tem até 0,2% dos setores mudando de faixa, e 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mediano é 0,999.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VP08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eixo por vez: lixo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Pares de versões iguais em tudo, menos neste eixo: mediana [menor; maior] da diferença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352515"/>
              </p:ext>
            </p:extLst>
          </p:nvPr>
        </p:nvGraphicFramePr>
        <p:xfrm>
          <a:off x="777240" y="1719072"/>
          <a:ext cx="10634472" cy="96545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Troca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KMO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fatores (Kaiser)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AUC no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entre os índices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que mudam de faixa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antes → depois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lixo → sem lixo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 [0,004; 0,007]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 [-1; 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 [-0,011; 0,033]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0,990 [0,787; 0,997]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8,2% [4,5%; 33,3%]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→ 21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2738374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troca com lixo → sem lixo, metade dos pares tem até 8,2% dos setores mudando de faixa, e 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mediano é 0,990.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VP09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eixo por vez: água canalizada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Pares de versões iguais em tudo, menos neste eixo: mediana [menor; maior] da diferença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353615"/>
              </p:ext>
            </p:extLst>
          </p:nvPr>
        </p:nvGraphicFramePr>
        <p:xfrm>
          <a:off x="777240" y="1719072"/>
          <a:ext cx="10634472" cy="179908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Troca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KMO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fatores (Kaiser)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AUC no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entre os índices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que mudam de faixa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antes → depois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água: só a inadequada → + água não chega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-0,007 [-0,009; -0,002]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[0; 1]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 [-0,022; 0,019]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0,965 [0,833; 0,996]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16,3% [6,0%; 34,3%]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 → 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água: só a inadequada → + sem água canalizada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 [0,016; 0,023]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[0; 1]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-0,004 [-0,019; 0,012]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0,978 [0,888; 0,997]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12,1% [4,0%; 26,1%]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 → 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água não chega → + sem água canalizada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0,025 [0,024; 0,027]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-0,004 [-0,008; 0,003]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 [0,987; 0,998]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 [4,7%; 12,1%]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→ 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572002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troca água: só a inadequada → + água não chega, metade dos pares tem até 16,3% dos setores mudando de faixa, e 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mediano é 0,965.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VP10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eixo por vez: banheiro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Pares de versões iguais em tudo, menos neste eixo: mediana [menor; maior] da diferença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490040"/>
              </p:ext>
            </p:extLst>
          </p:nvPr>
        </p:nvGraphicFramePr>
        <p:xfrm>
          <a:off x="777240" y="1719072"/>
          <a:ext cx="10634472" cy="179908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Troca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KMO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fatores (Kaiser)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AUC no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entre os índices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que mudam de faixa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antes → depois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fora → + sem banheiro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0,005 [0,002; 0,010]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[0; 1]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 [0,011; 0,040]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 [0,919; 0,996]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9,8% [7,1%; 25,9%]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 → 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fora → + 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-0,013 [-0,015; -0,006]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[0; 2]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 [0,010; 0,041]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 [0,930; 0,997]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11,3% [8,0%; 25,6%]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 → 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+ sem banheiro → + banheiro graduado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-0,017 [-0,020; -0,015]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1]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-0,002 [-0,007; 0,008]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0,998 [0,997; 0,999]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2,6% [2,4%; 4,2%]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 → 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572002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troca banheiro fora → + banheiro graduado, metade dos pares tem até 11,3% dos setores mudando de faixa, e 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mediano é 0,993.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VP11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eixo por vez: moradia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Pares de versões iguais em tudo, menos neste eixo: mediana [menor; maior] da diferença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021976"/>
              </p:ext>
            </p:extLst>
          </p:nvPr>
        </p:nvGraphicFramePr>
        <p:xfrm>
          <a:off x="777240" y="1719072"/>
          <a:ext cx="10634472" cy="96545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Troca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KMO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fatores (Kaiser)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Δ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AUC no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entre os índices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que mudam de faixa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antes → depois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fora → + moradia não convencional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-0,001 [-0,002; 0,000]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[0; 1]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 [-0,003; 0,029]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 [0,943; 1,000]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1,1% [0,0%; 13,4%]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 → 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2738374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troca moradia fora → + moradia não convencional, metade dos pares tem até 1,1% dos setores mudando de faixa, e 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mediano é 1,000.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versões que passam nos critérios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versões; lista em ordem de código, sem ordenar por resultado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283903"/>
              </p:ext>
            </p:extLst>
          </p:nvPr>
        </p:nvGraphicFramePr>
        <p:xfrm>
          <a:off x="777240" y="1719072"/>
          <a:ext cx="10634472" cy="3905504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3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Código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Versão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r>
                        <a:rPr lang="pt-BR" sz="8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com a V023</a:t>
                      </a:r>
                      <a:endParaRPr lang="pt-BR" sz="8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com lixo · água: só a inadequada · + sem banheiro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banheiro fora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+ sem banheiro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+ banheiro graduado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+ banheiro graduado · + moradia não convencional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+ água não chega · banheiro fora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V031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+ sem água canalizada · banheiro fora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V033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+ sem água canalizada · + sem banheiro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V039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com lixo · água: só a inadequada · + sem banheiro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banheiro fora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V057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+ sem banheiro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V059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+ banheiro graduado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+ banheiro graduado · + moradia não convencional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+ água não chega · banheiro fora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+ sem água canalizada · banheiro fora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87.511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0,827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1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V069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+ sem água canalizada · + sem banheiro · moradia fora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75.926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8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pt-BR" sz="8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VP13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versões que passam nos critérios (2)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versões; lista em ordem de código, sem ordenar por resultado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360847"/>
              </p:ext>
            </p:extLst>
          </p:nvPr>
        </p:nvGraphicFramePr>
        <p:xfrm>
          <a:off x="777240" y="1719072"/>
          <a:ext cx="10634472" cy="2597023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1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Código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Versão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com a V023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V075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com lixo · água: só a inadequada · + sem banheiro · moradia fora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banheiro fora · moradia fora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+ sem banheiro · moradia fora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+ banheiro graduado · moradia fora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+ banheiro graduado · + moradia não convencional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+ água não chega · banheiro fora · moradia fora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78.256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V103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+ sem água canalizada · banheiro fora · moradia fora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87.512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V105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+ sem água canalizada · + sem banheiro · moradia fora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75.927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VP13-2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ordem das elegíveis pelos critérios do NB05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Posição média em estabilidade, AUC no município e parcimônia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850940"/>
              </p:ext>
            </p:extLst>
          </p:nvPr>
        </p:nvGraphicFramePr>
        <p:xfrm>
          <a:off x="777240" y="1719072"/>
          <a:ext cx="10634472" cy="3332988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3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Código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Versão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variação de peso (</a:t>
                      </a:r>
                      <a:r>
                        <a:rPr lang="pt-BR" sz="9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p.p</a:t>
                      </a: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.)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no município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Posição média</a:t>
                      </a:r>
                      <a:endParaRPr lang="pt-BR" sz="9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+ água não chega · banheiro fora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+ água não chega · banheiro fora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banheiro fora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banheiro fora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+ água não chega · banheiro fora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V055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banheiro fora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4,69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V093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água: só a inadequada · + sem banheiro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V021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+ sem banheiro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V033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+ sem água canalizada · + sem banheiro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V105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com mediana · sem lixo · + sem água canalizada · + sem banheiro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12,0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V057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extremo · sem lixo · água: só a inadequada · + sem banheiro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5,96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12,2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V023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original · sem lixo · água: só a inadequada · + banheiro graduado · moradia fora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6,94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9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12,3</a:t>
                      </a:r>
                      <a:endParaRPr lang="pt-BR" sz="9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253228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Estabilidade lida pela maior variação do peso de uma variável (o peso de F1 é fixo em 60/40). Empates: a versão mais próxima do IVS-BH 2012.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1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VP14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inadequada: por região, município e FCU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inadequada — % de setores com valor acima de zero e média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Users/pedro/Documents/Iniciacao Cientifica/Projeto_IVS_Censo22/relatorio_descritivo/figuras/DS03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en-US" sz="10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700784"/>
          <a:ext cx="363931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77240"/>
                <a:gridCol w="822960"/>
                <a:gridCol w="713232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32,27%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11,76%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(87,6%); a menor, a do Sudeste (12,8%). Nos setores de FCU, 36,8% têm valor acima de zero; nos demais, 23,2%. Entre os municípios, vai de 0,0% (São Paulo das Missões) a 100,0% (Placas).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DS03-2</a:t>
            </a:r>
            <a:endParaRPr lang="en-US" sz="11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Esgoto inadequado: por região, município e FCU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Esgoto inadequado — % de setores com valor acima de zero e média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Users/pedro/Documents/Iniciacao Cientifica/Projeto_IVS_Censo22/relatorio_descritivo/figuras/DS04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5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en-US" sz="10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700784"/>
          <a:ext cx="363931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77240"/>
                <a:gridCol w="822960"/>
                <a:gridCol w="713232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23,76%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16,17%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7,50%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21,39%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(68,1%); a menor, a do Sul (14,4%). Nos setores de FCU, 57,1% têm valor acima de zero; nos demais, 20,7%. Entre os municípios, vai de 0,0% (São Caetano do Sul) a 100,0% (Vicentinópolis).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DS04-2</a:t>
            </a:r>
            <a:endParaRPr lang="en-US" sz="11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Lixo inadequado: por região, município e FCU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Lixo inadequado — % de setores com valor acima de zero e média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Users/pedro/Documents/Iniciacao Cientifica/Projeto_IVS_Censo22/relatorio_descritivo/figuras/DS05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7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en-US" sz="10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700784"/>
          <a:ext cx="363931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77240"/>
                <a:gridCol w="822960"/>
                <a:gridCol w="713232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11,09%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10,17%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9,11%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24,80%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Nordeste (44,8%); a menor, a do Centro-Oeste (30,4%). Nos setores de FCU, 59,5% têm valor acima de zero; nos demais, 32,1%. Entre os municípios, vai de 0,0% (São Paulo das Missões) a 100,0% (Placas).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DS05-2</a:t>
            </a:r>
            <a:endParaRPr lang="en-US" sz="11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água canalizada: por região, município e FCU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água canalizada — % de setores com valor acima de zero e média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Users/pedro/Documents/Iniciacao Cientifica/Projeto_IVS_Censo22/relatorio_descritivo/figuras/DS06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9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en-US" sz="10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700784"/>
          <a:ext cx="363931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77240"/>
                <a:gridCol w="822960"/>
                <a:gridCol w="713232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(64,1%); a menor, a do Sul (17,8%). Nos setores de FCU, 52,1% têm valor acima de zero; nos demais, 25,3%. Entre os municípios, vai de 0,0% (São Paulo das Missões) a 100,0% (Portel).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DS06-2</a:t>
            </a:r>
            <a:endParaRPr lang="en-US" sz="11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não chega: por região, município e FCU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não chega — % de setores com valor acima de zero e média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Users/pedro/Documents/Iniciacao Cientifica/Projeto_IVS_Censo22/relatorio_descritivo/figuras/DS07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11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en-US" sz="10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700784"/>
          <a:ext cx="363931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77240"/>
                <a:gridCol w="822960"/>
                <a:gridCol w="713232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15.639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58.463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8.794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16.179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(21,2%); a menor, a do Sul (1,4%). Nos setores de FCU, 12,5% têm valor acima de zero; nos demais, 4,0%. Entre os municípios, vai de 0,0% (Chapada dos Guimarães) a 88,2% (Arara).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DS07-2</a:t>
            </a:r>
            <a:endParaRPr lang="en-US" sz="11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só no terreno: por região, município e FCU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só no terreno — % de setores com valor acima de zero e média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Users/pedro/Documents/Iniciacao Cientifica/Projeto_IVS_Censo22/relatorio_descritivo/figuras/DS08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13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en-US" sz="10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700784"/>
          <a:ext cx="363931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77240"/>
                <a:gridCol w="822960"/>
                <a:gridCol w="713232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4.396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15.021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1,81%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54.406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6.401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7.987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15.070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73.141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(39,6%); a menor, a do Sul (3,0%). Nos setores de FCU, 28,0% têm valor acima de zero; nos demais, 8,4%. Entre os municípios, vai de 0,0% (Guapiaçu) a 100,0% (São Raimundo do Doca Bezerra).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DS08-2</a:t>
            </a:r>
            <a:endParaRPr lang="en-US" sz="11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banheiro: por região, município e FCU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 — % de setores com valor acima de zero e média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Users/pedro/Documents/Iniciacao Cientifica/Projeto_IVS_Censo22/relatorio_descritivo/figuras/DS09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15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en-US" sz="10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700784"/>
          <a:ext cx="363931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77240"/>
                <a:gridCol w="822960"/>
                <a:gridCol w="713232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15.747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56.669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6.381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15.197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76.715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(24,0%); a menor, a do Centro-Oeste (1,3%). Nos setores de FCU, 14,1% têm valor acima de zero; nos demais, 2,5%. Entre os municípios, vai de 0,0% (Anápolis) a 100,0% (Placas).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DS09-2</a:t>
            </a:r>
            <a:endParaRPr lang="en-US" sz="11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 nem sanitário: por região, município e FCU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 nem sanitário — % de setores com valor acima de zero e média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Users/pedro/Documents/Iniciacao Cientifica/Projeto_IVS_Censo22/relatorio_descritivo/figuras/DS10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17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en-US" sz="10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700784"/>
          <a:ext cx="363931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77240"/>
                <a:gridCol w="822960"/>
                <a:gridCol w="713232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5.450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18.246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61.032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7.065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83.078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(1,4%); a menor, a do Centro-Oeste (0,1%). Nos setores de FCU, 1,1% têm valor acima de zero; nos demais, 0,2%. Entre os municípios, vai de 0,0% (Anápolis) a 33,3% (São Raimundo do Doca Bezerra).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DS10-2</a:t>
            </a:r>
            <a:endParaRPr lang="en-US" sz="11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sanitário: por região, município e FCU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sanitário — % de setores com valor acima de zero e média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Users/pedro/Documents/Iniciacao Cientifica/Projeto_IVS_Censo22/relatorio_descritivo/figuras/DS11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19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en-US" sz="105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700784"/>
          <a:ext cx="363931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77240"/>
                <a:gridCol w="822960"/>
                <a:gridCol w="713232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5.311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17.707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60.940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7.060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17.769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82.528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(4,0%); a menor, a do Sudeste (0,2%). Nos setores de FCU, 3,4% têm valor acima de zero; nos demais, 0,5%. Entre os municípios, vai de 0,0% (Anápolis) a 83,3% (Placas).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DS11-2</a:t>
            </a:r>
            <a:endParaRPr lang="en-US" sz="11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de uso comum: por região, município e FCU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de uso comum — % de setores com valor acima de zero e média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Users/pedro/Documents/Iniciacao Cientifica/Projeto_IVS_Censo22/relatorio_descritivo/figuras/DS12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21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en-US" sz="105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700784"/>
          <a:ext cx="363931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77240"/>
                <a:gridCol w="822960"/>
                <a:gridCol w="713232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16.630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57.872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6.491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8.899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15.848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78.566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(17,2%); a menor, a do Centro-Oeste (0,8%). Nos setores de FCU, 8,2% têm valor acima de zero; nos demais, 1,6%. Entre os municípios, vai de 0,0% (Anápolis) a 100,0% (São Raimundo do Doca Bezerra).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DS12-2</a:t>
            </a:r>
            <a:endParaRPr lang="en-US" sz="11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graduado: por região, município e FCU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graduado — % de setores com valor acima de zero e média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Users/pedro/Documents/Iniciacao Cientifica/Projeto_IVS_Censo22/relatorio_descritivo/figuras/DS13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23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en-US" sz="105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700784"/>
          <a:ext cx="363931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77240"/>
                <a:gridCol w="822960"/>
                <a:gridCol w="713232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14.667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56.336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6.279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8.630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13.956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75.860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(13,7%); a menor, a do Centro-Oeste (0,7%). Nos setores de FCU, 6,4% têm valor acima de zero; nos demais, 1,4%. Entre os municípios, vai de 0,0% (Anápolis) a 100,0% (Placas).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DS13-2</a:t>
            </a:r>
            <a:endParaRPr lang="en-US" sz="11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moradores: por região, município e FCU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moradores em cada recorte, sozinho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Users/pedro/Documents/Iniciacao Cientifica/Projeto_IVS_Censo22/relatorio_descritivo/figuras/DS14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25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en-US" sz="105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700784"/>
          <a:ext cx="3931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0972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Norte (3,19); a menor, a do Sul (2,60). Nos setores de FCU a mediana é 2,92; nos demais, 2,67. Entre os municípios, a mediana vai de 2,38 (Porto Alegre) a 4,23 (Portel).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DS14-2</a:t>
            </a:r>
            <a:endParaRPr lang="en-US" sz="11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15+: por região, município e FCU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15+ em cada recorte, sozinho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Users/pedro/Documents/Iniciacao Cientifica/Projeto_IVS_Censo22/relatorio_descritivo/figuras/DS15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27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en-US" sz="105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700784"/>
          <a:ext cx="3931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0972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5.411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17.867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50.608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8.147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18.904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68.652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Nordeste (5,16%); a menor, a do Sul (1,62%). Nos setores de FCU a mediana é 5,46%; nos demais, 2,13%. Entre os municípios, a mediana vai de 1,11% (São Caetano do Sul) a 23,06% (Arara).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DS15-2</a:t>
            </a:r>
            <a:endParaRPr lang="en-US" sz="11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por região, município e FCU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 em cada recorte, sozinho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Users/pedro/Documents/Iniciacao Cientifica/Projeto_IVS_Censo22/relatorio_descritivo/figuras/DS16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29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en-US" sz="105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700784"/>
          <a:ext cx="3931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0972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R$ 1.820,99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R$ 1.719,20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R$ 2.730,60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R$ 3.722,28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R$ 3.127,12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R$ 1.515,35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R$ 3.067,01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Sul (R$ 3.722,28); a menor, a do Nordeste (R$ 1.719,20). Nos setores de FCU a mediana é R$ 1.515,35; nos demais, R$ 3.067,01. Entre os municípios, a mediana vai de R$ 1.062,36 (Jaqueira) a R$ 5.291,89 (São Caetano do Sul).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DS16-2</a:t>
            </a:r>
            <a:endParaRPr lang="en-US" sz="11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o extremo: por região, município e FCU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sem o extremo em cada recorte, sozinho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Users/pedro/Documents/Iniciacao Cientifica/Projeto_IVS_Censo22/relatorio_descritivo/figuras/DS17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31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en-US" sz="105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700784"/>
          <a:ext cx="3931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0972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R$ 1.820,99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R$ 1.719,20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R$ 2.730,59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R$ 3.722,28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R$ 3.127,12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R$ 1.515,32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R$ 3.067,01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Sul (R$ 3.722,28); a menor, a do Nordeste (R$ 1.719,20). Nos setores de FCU a mediana é R$ 1.515,32; nos demais, R$ 3.067,01. Entre os municípios, a mediana vai de R$ 1.062,36 (Jaqueira) a R$ 5.291,89 (São Caetano do Sul).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DS17-2</a:t>
            </a:r>
            <a:endParaRPr lang="en-US" sz="11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(mediana mun.): por região, município e FCU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(mediana mun.) em cada recorte, sozinho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Users/pedro/Documents/Iniciacao Cientifica/Projeto_IVS_Censo22/relatorio_descritivo/figuras/DS18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33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en-US" sz="105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700784"/>
          <a:ext cx="3931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0972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R$ 1.820,99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R$ 1.719,20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R$ 2.730,60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R$ 3.722,28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R$ 3.127,12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R$ 1.515,35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R$ 3.067,01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Sul (R$ 3.722,28); a menor, a do Nordeste (R$ 1.719,20). Nos setores de FCU a mediana é R$ 1.515,35; nos demais, R$ 3.067,01. Entre os municípios, a mediana vai de R$ 1.062,36 (Jaqueira) a R$ 5.291,89 (São Caetano do Sul).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DS18-2</a:t>
            </a:r>
            <a:endParaRPr lang="en-US" sz="11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PPI: por região, município e FCU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em cada recorte, sozinho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Users/pedro/Documents/Iniciacao Cientifica/Projeto_IVS_Censo22/relatorio_descritivo/figuras/DS19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0784"/>
            <a:ext cx="6903720" cy="25257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72255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35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en-US" sz="105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700784"/>
          <a:ext cx="3931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0972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76,99%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73,41%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51,26%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22,19%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60,21%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74,27%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50,96%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8015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Norte (76,99%); a menor, a do Sul (22,19%). Nos setores de FCU a mediana é 74,27%; nos demais, 50,96%. Entre os municípios, a mediana vai de 15,99% (Taió) a 88,89% (Salvador).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DS19-2</a:t>
            </a:r>
            <a:endParaRPr lang="en-US" sz="11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Responsável mulher: por região, município e FCU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Responsável mulher em cada recorte, sozinho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Users/pedro/Documents/Iniciacao Cientifica/Projeto_IVS_Censo22/relatorio_descritivo/figuras/DS20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37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en-US" sz="105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700784"/>
          <a:ext cx="3931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0972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54,69%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55,77%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53,04%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52,17%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50,57%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56,78%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84.514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52,58%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Nordeste (55,77%); a menor, a do Centro-Oeste (50,57%). Nos setores de FCU a mediana é 56,78%; nos demais, 52,58%. Entre os municípios, a mediana vai de 34,11% (Vicentinópolis) a 61,94% (Rosário).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DS20-2</a:t>
            </a:r>
            <a:endParaRPr lang="en-US" sz="11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Domicílio improvisado: por região, município e FCU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Domicílio improvisado — % de setores com valor acima de zero e média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Users/pedro/Documents/Iniciacao Cientifica/Projeto_IVS_Censo22/relatorio_descritivo/figuras/DS21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39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en-US" sz="105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700784"/>
          <a:ext cx="363931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77240"/>
                <a:gridCol w="822960"/>
                <a:gridCol w="713232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18.384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59.390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8.862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18.292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80.677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Nordeste (1,0%); a menor, a do Sul (0,5%). Nos setores de FCU, 1,5% têm valor acima de zero; nos demais, 0,6%. Entre os municípios, vai de 0,0% (Arara) a 25,0% (Vicentinópolis).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DS21-2</a:t>
            </a:r>
            <a:endParaRPr lang="en-US" sz="11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Habitação precária: por região, município e FCU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Habitação precária — % de setores com valor acima de zero e média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Users/pedro/Documents/Iniciacao Cientifica/Projeto_IVS_Censo22/relatorio_descritivo/figuras/DS22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41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en-US" sz="105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700784"/>
          <a:ext cx="363931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77240"/>
                <a:gridCol w="822960"/>
                <a:gridCol w="713232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Centro-Oeste (13,1%); a menor, a do Sul (3,4%). Nos setores de FCU, 11,8% têm valor acima de zero; nos demais, 6,6%. Entre os municípios, vai de 0,0% (Arara) a 29,4% (São Luís).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DS22-2</a:t>
            </a:r>
            <a:endParaRPr lang="en-US" sz="11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convencional: por região, município e FCU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convencional em cada recorte, sozinho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Users/pedro/Documents/Iniciacao Cientifica/Projeto_IVS_Censo22/relatorio_descritivo/figuras/DS23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0784"/>
            <a:ext cx="6903720" cy="252413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70635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43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en-US" sz="105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700784"/>
          <a:ext cx="3931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0972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6395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Centro-Oeste (100,00%); a menor, a do Centro-Oeste (100,00%). Nos setores de FCU a mediana é 100,00%; nos demais, 100,00%. Entre os municípios, a mediana vai de 99,55% (São Luís) a 100,00% (Água Preta).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DS23-2</a:t>
            </a:r>
            <a:endParaRPr lang="en-US" sz="11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não convencional: por região, município e FCU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não convencional — % de setores com valor acima de zero e média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Users/pedro/Documents/Iniciacao Cientifica/Projeto_IVS_Censo22/relatorio_descritivo/figuras/DS24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45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en-US" sz="105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700784"/>
          <a:ext cx="363931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77240"/>
                <a:gridCol w="822960"/>
                <a:gridCol w="713232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84.656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(12,6%); a menor, a do Sul (3,0%). Nos setores de FCU, 10,9% têm valor acima de zero; nos demais, 6,2%. Entre os municípios, vai de 0,0% (Arara) a 29,0% (São Luís).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DS24-2</a:t>
            </a:r>
            <a:endParaRPr lang="en-US" sz="11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Apartamento: por região, município e FCU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Apartamento em cada recorte, sozinho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Users/pedro/Documents/Iniciacao Cientifica/Projeto_IVS_Censo22/relatorio_descritivo/figuras/DS25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0784"/>
            <a:ext cx="6903720" cy="252413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70635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47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en-US" sz="105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700784"/>
          <a:ext cx="3931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0972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5.306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17.660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1,96%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56.971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6.511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8.557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17.139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77.866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11,94%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6395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Sul (15,83%); a menor, a do Nordeste (1,96%). Nos setores de FCU a mediana é 0,00%; nos demais, 11,94%. Entre os municípios, a mediana vai de 0,00% (Ananindeua) a 64,73% (Porto Alegre).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DS25-2</a:t>
            </a:r>
            <a:endParaRPr lang="en-US" sz="11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Casa: por região, município e FCU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 em cada recorte, sozinho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Users/pedro/Documents/Iniciacao Cientifica/Projeto_IVS_Censo22/relatorio_descritivo/figuras/DS26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49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en-US" sz="105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700784"/>
          <a:ext cx="3931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0972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89,43%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18.873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94,18%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58.935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91,04%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83,55%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9.125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92,31%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98,68%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80.213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85,87%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Nordeste (94,18%); a menor, a do Sul (83,55%). Nos setores de FCU a mediana é 98,68%; nos demais, 85,87%. Entre os municípios, a mediana vai de 43,57% (São Caetano do Sul) a 100,00% (Água Preta).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DS26-2</a:t>
            </a:r>
            <a:endParaRPr lang="en-US" sz="11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 de vila/condomínio: por região, município e FCU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 de vila/condomínio — % de setores com valor acima de zero e média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Users/pedro/Documents/Iniciacao Cientifica/Projeto_IVS_Censo22/relatorio_descritivo/figuras/DS27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51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 e pontos: % de setores com valor acima de zero.</a:t>
            </a:r>
            <a:endParaRPr lang="en-US" sz="105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700784"/>
          <a:ext cx="363931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77240"/>
                <a:gridCol w="822960"/>
                <a:gridCol w="713232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&gt; 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4.994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16.901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5,28%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54.803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8.383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16.793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74.511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da metade dos setores tem valor zero. A maior proporção de setores com valor acima de zero é a do Norte (66,2%); a menor, a do Centro-Oeste (22,2%). Nos setores de FCU, 31,5% têm valor acima de zero; nos demais, 28,8%. Entre os municípios, vai de 0,0% (Arara) a 76,9% (Natal).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DS27-2</a:t>
            </a:r>
            <a:endParaRPr lang="en-US" sz="11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Crianças 0–4: por região, município e FCU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Crianças 0–4 em cada recorte, sozinho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Users/pedro/Documents/Iniciacao Cientifica/Projeto_IVS_Censo22/relatorio_descritivo/figuras/DS28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0784"/>
            <a:ext cx="6903720" cy="25048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51355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53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en-US" sz="1050" dirty="0"/>
          </a:p>
        </p:txBody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700784"/>
          <a:ext cx="3931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0972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6,32%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60.600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7.089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5,80%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82.975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17115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Norte (6,32%); a menor, a do Sul (4,65%). Nos setores de FCU a mediana é 6,81%; nos demais, 4,85%. Entre os municípios, a mediana vai de 4,14% (Porto Alegre) a 10,84% (Portel).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DS28-2</a:t>
            </a:r>
            <a:endParaRPr lang="en-US" sz="11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População 0–14: por região, município e FCU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População 0–14 em cada recorte, sozinho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Users/pedro/Documents/Iniciacao Cientifica/Projeto_IVS_Censo22/relatorio_descritivo/figuras/DS29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55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en-US" sz="105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700784"/>
          <a:ext cx="3931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0972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20,64%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18,25%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61.806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16,44%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18,53%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21,93%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84.410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16,07%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Norte (20,64%); a menor, a do Sul (15,85%). Nos setores de FCU a mediana é 21,93%; nos demais, 16,07%. Entre os municípios, a mediana vai de 13,28% (São Paulo das Missões) a 28,57% (Autazes).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DS29-2</a:t>
            </a:r>
            <a:endParaRPr lang="en-US" sz="11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60+: por região, município e FCU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 em cada recorte, sozinho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Users/pedro/Documents/Iniciacao Cientifica/Projeto_IVS_Censo22/relatorio_descritivo/figuras/DS30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57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en-US" sz="105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700784"/>
          <a:ext cx="3931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0972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61.808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18,25%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19,34%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13,75%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10,55%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84.454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18,49%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Sul (19,34%); a menor, a do Norte (11,18%). Nos setores de FCU a mediana é 10,55%; nos demais, 18,49%. Entre os municípios, a mediana vai de 7,30% (Portel) a 29,40% (São Paulo das Missões).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DS30-2</a:t>
            </a:r>
            <a:endParaRPr lang="en-US" sz="11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envelhecimento: por região, município e FCU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envelhecimento em cada recorte, sozinho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Users/pedro/Documents/Iniciacao Cientifica/Projeto_IVS_Censo22/relatorio_descritivo/figuras/DS31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59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en-US" sz="1050" dirty="0"/>
          </a:p>
        </p:txBody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700784"/>
          <a:ext cx="3931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0972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61.291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110,96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122,93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83.782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114,81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Sul (122,93); a menor, a do Norte (53,55). Nos setores de FCU a mediana é 47,91; nos demais, 114,81. Entre os municípios, a mediana vai de 24,12 (Portel) a 217,46 (São Paulo das Missões).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DS31-2</a:t>
            </a:r>
            <a:endParaRPr lang="en-US" sz="11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Dependência idosa: por região, município e FCU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Dependência idosa em cada recorte, sozinho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Users/pedro/Documents/Iniciacao Cientifica/Projeto_IVS_Censo22/relatorio_descritivo/figuras/DS32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61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en-US" sz="1050" dirty="0"/>
          </a:p>
        </p:txBody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700784"/>
          <a:ext cx="3931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0972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61.800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19.369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84.441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Sul (29,97); a menor, a do Norte (16,58). Nos setores de FCU a mediana é 15,67; nos demais, 28,39. Entre os municípios, a mediana vai de 11,86 (São José de Ribamar) a 50,58 (São Paulo das Missões).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DS32-2</a:t>
            </a:r>
            <a:endParaRPr lang="en-US" sz="11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463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 entre 60+: por região, município e FCU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 entre 60+ em cada recorte, sozinho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pic>
        <p:nvPicPr>
          <p:cNvPr id="7" name="Image 0" descr="/Users/pedro/Documents/Iniciacao Cientifica/Projeto_IVS_Censo22/relatorio_descritivo/figuras/DS33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00784"/>
            <a:ext cx="6903720" cy="25225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69017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63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Caixas sem os pontos extremos; traço vermelho = mediana.</a:t>
            </a:r>
            <a:endParaRPr lang="en-US" sz="1050" dirty="0"/>
          </a:p>
        </p:txBody>
      </p:sp>
      <p:graphicFrame>
        <p:nvGraphicFramePr>
          <p:cNvPr id="8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700784"/>
          <a:ext cx="3931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0972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19.113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60.602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de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18.631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Demais setores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83.341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" y="4634777"/>
            <a:ext cx="10634472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mediana regional é a do Sul (43,97); a menor, a do Norte (38,46). Nos setores de FCU a mediana é 36,26; nos demais, 44,32. Entre os municípios, a mediana vai de 36,21 (Manaus) a 55,77 (Arara).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DS33-2</a:t>
            </a:r>
            <a:endParaRPr lang="en-US" sz="11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2b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Correlações entre os indicadores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Depois da descritiva de cada indicador, as correlações: os componentes do IVS, cada tema e os 31 juntos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DC00</a:t>
            </a:r>
            <a:endParaRPr lang="en-US" sz="11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componentes do IVS-7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Spearman, nos 104.108 setores (pares com valor) · 7 indicadores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graphicFrame>
        <p:nvGraphicFramePr>
          <p:cNvPr id="8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5386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218895"/>
                <a:gridCol w="1218895"/>
                <a:gridCol w="1218895"/>
                <a:gridCol w="1218895"/>
                <a:gridCol w="1218895"/>
                <a:gridCol w="1218895"/>
                <a:gridCol w="1218895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-0,260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-0,757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-0,260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-0,757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1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973449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correlação: Analfabetismo 15+ e Cor/raça PPI (0,626). Menor: Renda média e Cor/raça PPI (-0,811).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DC01</a:t>
            </a:r>
            <a:endParaRPr lang="en-US" sz="11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componentes do IVS-7: mapa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Spearman, nos 104.108 setores (pares com valor) · 7 indicadores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graphicFrame>
        <p:nvGraphicFramePr>
          <p:cNvPr id="8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55321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Água inadequada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Esgoto inadequado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Lixo inadequado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 Razão de moradores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 Analfabetismo 15+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 Renda média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 Cor/raça PPI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142232"/>
            <a:ext cx="576072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correlação: Analfabetismo 15+ e Cor/raça PPI (0,626). Menor: Renda média e Cor/raça PPI (-0,811).</a:t>
            </a:r>
            <a:endParaRPr lang="en-US" sz="1250" dirty="0"/>
          </a:p>
        </p:txBody>
      </p:sp>
      <p:pic>
        <p:nvPicPr>
          <p:cNvPr id="8" name="Image 0" descr="/Users/pedro/Documents/Iniciacao Cientifica/Projeto_IVS_Censo22/relatorio_descritivo/figuras/DC02.png">    </p:cNvPr>
          <p:cNvPicPr>
            <a:picLocks noChangeAspect="1"/>
          </p:cNvPicPr>
          <p:nvPr/>
        </p:nvPicPr>
        <p:blipFill>
          <a:blip r:embed="rId2"/>
          <a:srcRect l="-13205" r="-13205" t="0" b="0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64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Spearman; vermelho = positiva, verde = negativa.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DC02</a:t>
            </a:r>
            <a:endParaRPr lang="en-US" sz="11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Spearman, nos 104.108 setores (pares com valor) · 11 indicadores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pic>
        <p:nvPicPr>
          <p:cNvPr id="6" name="Image 0" descr="/Users/pedro/Documents/Iniciacao Cientifica/Projeto_IVS_Censo22/relatorio_descritivo/figuras/DC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662" y="1673352"/>
            <a:ext cx="4440115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32520" y="1764792"/>
            <a:ext cx="267919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correlação: Sem banheiro e Banheiro graduado (1,000). A mais baixa: Lixo inadequado e Sem banheiro nem sanitário (0,064).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606247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65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Spearman; vermelho = positiva, verde = negativa.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DC03</a:t>
            </a:r>
            <a:endParaRPr lang="en-US" sz="11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Spearman, nos 104.108 setores (pares com valor) · 7 indicadores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graphicFrame>
        <p:nvGraphicFramePr>
          <p:cNvPr id="9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55321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Razão de moradores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Analfabetismo 15+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Renda média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 Renda sem o extremo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 Renda (mediana mun.)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 Cor/raça PPI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 Responsável mulher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142232"/>
            <a:ext cx="576072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correlação: Analfabetismo 15+ e Cor/raça PPI (0,626). Menor: Renda sem o extremo e Cor/raça PPI (-0,811).</a:t>
            </a:r>
            <a:endParaRPr lang="en-US" sz="1250" dirty="0"/>
          </a:p>
        </p:txBody>
      </p:sp>
      <p:pic>
        <p:nvPicPr>
          <p:cNvPr id="8" name="Image 0" descr="/Users/pedro/Documents/Iniciacao Cientifica/Projeto_IVS_Censo22/relatorio_descritivo/figuras/DC04.png">    </p:cNvPr>
          <p:cNvPicPr>
            <a:picLocks noChangeAspect="1"/>
          </p:cNvPicPr>
          <p:nvPr/>
        </p:nvPicPr>
        <p:blipFill>
          <a:blip r:embed="rId2"/>
          <a:srcRect l="-13205" r="-13205" t="0" b="0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66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Spearman; vermelho = positiva, verde = negativa.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DC04</a:t>
            </a:r>
            <a:endParaRPr lang="en-US" sz="11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Spearman, nos 104.108 setores (pares com valor) · 7 indicadores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graphicFrame>
        <p:nvGraphicFramePr>
          <p:cNvPr id="9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55321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Domicílio improvisado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Habitação precária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Moradia convencional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 Moradia não convencional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 Apartamento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 Casa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 Casa de vila/condomínio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427220"/>
            <a:ext cx="576072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correlação: Habitação precária e Moradia não convencional (0,965). Menor: Apartamento e Casa (-0,902).</a:t>
            </a:r>
            <a:endParaRPr lang="en-US" sz="1250" dirty="0"/>
          </a:p>
        </p:txBody>
      </p:sp>
      <p:pic>
        <p:nvPicPr>
          <p:cNvPr id="8" name="Image 0" descr="/Users/pedro/Documents/Iniciacao Cientifica/Projeto_IVS_Censo22/relatorio_descritivo/figuras/DC05.png">    </p:cNvPr>
          <p:cNvPicPr>
            <a:picLocks noChangeAspect="1"/>
          </p:cNvPicPr>
          <p:nvPr/>
        </p:nvPicPr>
        <p:blipFill>
          <a:blip r:embed="rId2"/>
          <a:srcRect l="-13205" r="-13205" t="0" b="0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67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Spearman; vermelho = positiva, verde = negativa.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DC05</a:t>
            </a:r>
            <a:endParaRPr lang="en-US" sz="11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Spearman, nos 104.108 setores (pares com valor) · 6 indicadores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graphicFrame>
        <p:nvGraphicFramePr>
          <p:cNvPr id="9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49834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548640"/>
                <a:gridCol w="548640"/>
                <a:gridCol w="548640"/>
                <a:gridCol w="548640"/>
                <a:gridCol w="548640"/>
                <a:gridCol w="5486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 Crianças 0–4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 População 0–14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 Pessoas 60+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 Índice de envelhecimento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-0,92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 Dependência idosa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 70+ entre 60+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010406"/>
            <a:ext cx="576072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correlação: Pessoas 60+ e Dependência idosa (0,996). Menor: População 0–14 e Índice de envelhecimento (-0,917).</a:t>
            </a:r>
            <a:endParaRPr lang="en-US" sz="1250" dirty="0"/>
          </a:p>
        </p:txBody>
      </p:sp>
      <p:pic>
        <p:nvPicPr>
          <p:cNvPr id="8" name="Image 0" descr="/Users/pedro/Documents/Iniciacao Cientifica/Projeto_IVS_Censo22/relatorio_descritivo/figuras/DC06.png">    </p:cNvPr>
          <p:cNvPicPr>
            <a:picLocks noChangeAspect="1"/>
          </p:cNvPicPr>
          <p:nvPr/>
        </p:nvPicPr>
        <p:blipFill>
          <a:blip r:embed="rId2"/>
          <a:srcRect l="-13205" r="-13205" t="0" b="0"/>
          <a:stretch/>
        </p:blipFill>
        <p:spPr>
          <a:xfrm>
            <a:off x="6903720" y="1719072"/>
            <a:ext cx="4507992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03720" y="5358384"/>
            <a:ext cx="4507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68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Spearman; vermelho = positiva, verde = negativa.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DC06</a:t>
            </a:r>
            <a:endParaRPr lang="en-US" sz="11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31 indicadores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Spearman, nos 104.108 setores (pares com valor) · 31 indicadores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pic>
        <p:nvPicPr>
          <p:cNvPr id="6" name="Image 0" descr="/Users/pedro/Documents/Iniciacao Cientifica/Projeto_IVS_Censo22/relatorio_descritivo/figuras/DC0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829" y="1673352"/>
            <a:ext cx="4425783" cy="434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32520" y="1764792"/>
            <a:ext cx="2679192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correlação: Sem banheiro e Banheiro graduado (1,000). Menor: População 0–14 e Índice de envelhecimento (-0,917).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606247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69 — </a:t>
            </a:r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Spearman; vermelho = positiva, verde = negativa.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DC07</a:t>
            </a:r>
            <a:endParaRPr lang="en-US" sz="11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S0: IVS-7 (referência, reproduz o NB04)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variáveis · 87.545 setores · demanda —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graphicFrame>
        <p:nvGraphicFramePr>
          <p:cNvPr id="1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4297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55448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719072"/>
          <a:ext cx="3291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no cenário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5.411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17.866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50.598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8.147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77240" y="3803269"/>
            <a:ext cx="429768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os setores urbanos com dados divulgados e com todas as 7 variáveis: 87.545 dos 104.108. Nenhum setor do S0 sai: as variáveis deste cenário estão todas no S0.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FC01</a:t>
            </a:r>
            <a:endParaRPr lang="en-US" sz="11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S1: IVS-6 (IVS-7 sem lixo)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variáveis · 87.545 setores · demanda 10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graphicFrame>
        <p:nvGraphicFramePr>
          <p:cNvPr id="1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4297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55448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719072"/>
          <a:ext cx="3291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no cenário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5.411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17.866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50.598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8.147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77240" y="3564636"/>
            <a:ext cx="4297680" cy="73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os setores urbanos com dados divulgados e com todas as 6 variáveis: 87.545 dos 104.108. Nenhum setor do S0 sai: as variáveis deste cenário estão todas no S0.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FC02</a:t>
            </a:r>
            <a:endParaRPr lang="en-US" sz="11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S2: IVS-7 + não chega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variáveis · 78.256 setores · demanda 5, 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graphicFrame>
        <p:nvGraphicFramePr>
          <p:cNvPr id="1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4297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55448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9.706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719072"/>
          <a:ext cx="50292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100584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Sai do S0 por causa 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sem o dado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por ela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9.289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9.289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 que sai (alguma delas)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9.289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4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2655824"/>
          <a:ext cx="3291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no cenário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4.205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14.083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47.308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5.167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7.493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777240" y="4041902"/>
            <a:ext cx="4297680" cy="1157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os setores urbanos com dados divulgados e com todas as 8 variáveis: 78.256 dos 104.108. Em relação ao S0, saem 9.289: os que não têm alguma das variáveis novas. Um setor pode faltar em mais de uma; a coluna "só por ela" conta os que saem por uma única.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FC03</a:t>
            </a:r>
            <a:endParaRPr lang="en-US" sz="11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S3: IVS-7 + sem canalização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variáveis · 87.512 setores · demanda 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graphicFrame>
        <p:nvGraphicFramePr>
          <p:cNvPr id="1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4297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55448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719072"/>
          <a:ext cx="50292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100584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Sai do S0 por causa 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sem o dado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por ela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 que sai (alguma delas)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4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2655824"/>
          <a:ext cx="3291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no cenário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5.403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17.864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50.580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8.142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777240" y="4041902"/>
            <a:ext cx="4297680" cy="1157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os setores urbanos com dados divulgados e com todas as 8 variáveis: 87.512 dos 104.108. Em relação ao S0, saem 33: os que não têm alguma das variáveis novas. Um setor pode faltar em mais de uma; a coluna "só por ela" conta os que saem por uma única.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FC04</a:t>
            </a:r>
            <a:endParaRPr lang="en-US" sz="11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S4: IVS-7 + sem banheiro (V00495)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variáveis · 75.955 setores · demanda 6, 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graphicFrame>
        <p:nvGraphicFramePr>
          <p:cNvPr id="1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4297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55448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12.196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719072"/>
          <a:ext cx="50292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100584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Sai do S0 por causa 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sem o dado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por ela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11.590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11.590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 que sai (alguma delas)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11.590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4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2655824"/>
          <a:ext cx="3291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no cenário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3.961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14.171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45.680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4.761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7.382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777240" y="4041902"/>
            <a:ext cx="4297680" cy="1157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os setores urbanos com dados divulgados e com todas as 8 variáveis: 75.955 dos 104.108. Em relação ao S0, saem 11.590: os que não têm alguma das variáveis novas. Um setor pode faltar em mais de uma; a coluna "só por ela" conta os que saem por uma única.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FC05</a:t>
            </a:r>
            <a:endParaRPr lang="en-US" sz="11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S5: IVS-7 + não convencional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variáveis · 87.545 setores · demanda 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graphicFrame>
        <p:nvGraphicFramePr>
          <p:cNvPr id="1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4297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55448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719072"/>
          <a:ext cx="50292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100584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Sai do S0 por causa 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sem o dado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por ela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 que sai (alguma delas)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5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2655824"/>
          <a:ext cx="3291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no cenário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5.411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17.866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50.598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8.147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777240" y="4041902"/>
            <a:ext cx="4297680" cy="1157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os setores urbanos com dados divulgados e com todas as 8 variáveis: 87.545 dos 104.108. Em relação ao S0, saem 0: os que não têm alguma das variáveis novas. Um setor pode faltar em mais de uma; a coluna "só por ela" conta os que saem por uma única.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FC06</a:t>
            </a:r>
            <a:endParaRPr lang="en-US" sz="11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S6: IVS-7 + as quatro ("tudo isso")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variáveis · 69.458 setores · demanda 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graphicFrame>
        <p:nvGraphicFramePr>
          <p:cNvPr id="1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4297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55448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9.706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12.196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719072"/>
          <a:ext cx="50292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100584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Sai do S0 por causa 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sem o dado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por ela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9.289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6.469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11.590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8.771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 que sai (alguma delas)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18.087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5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3371723"/>
          <a:ext cx="3291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no cenário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3.154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11.636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43.229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4.548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6.891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777240" y="4757801"/>
            <a:ext cx="4297680" cy="1157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os setores urbanos com dados divulgados e com todas as 11 variáveis: 69.458 dos 104.108. Em relação ao S0, saem 18.087: os que não têm alguma das variáveis novas. Um setor pode faltar em mais de uma; a coluna "só por ela" conta os que saem por uma única.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FC07</a:t>
            </a:r>
            <a:endParaRPr lang="en-US" sz="11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S7: S6 sem lixo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variáveis · 69.458 setores · demanda 8, 10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graphicFrame>
        <p:nvGraphicFramePr>
          <p:cNvPr id="1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4297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55448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nos 104.108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16.552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9.706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12.196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719072"/>
          <a:ext cx="50292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100584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Sai do S0 por causa 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sem o dado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por ela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9.289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6.469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11.590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8.771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 que sai (alguma delas)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18.087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5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3371723"/>
          <a:ext cx="3291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no cenário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3.154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11.636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43.229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4.548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6.891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777240" y="4519168"/>
            <a:ext cx="4297680" cy="1157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 os setores urbanos com dados divulgados e com todas as 10 variáveis: 69.458 dos 104.108. Em relação ao S0, saem 18.087: os que não têm alguma das variáveis novas. Um setor pode faltar em mais de uma; a coluna "só por ela" conta os que saem por uma única.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FC08</a:t>
            </a:r>
            <a:endParaRPr lang="en-US" sz="11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variantes dos cenários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Mesmos setores do cenário de origem; muda a renda ou a escala (postos dentro do município)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p/>
        </p:txBody>
      </p:sp>
      <p:graphicFrame>
        <p:nvGraphicFramePr>
          <p:cNvPr id="1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19072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858000"/>
                <a:gridCol w="1399032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Variante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S0_renda_sem_extremo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NB04), renda sem_extremo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S0_renda_mediana_mun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NB04), renda mediana_mun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S0_postos_mun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(referência, reproduz o NB04), postos dentro do município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S1_postos_mun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IVS-6 (IVS-7 sem lixo), postos dentro do município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S6_renda_sem_extremo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isso"), renda sem_extremo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S6_renda_mediana_mun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isso"), renda mediana_mun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S6_postos_mun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IVS-7 + as quatro ("tudo isso"), postos dentro do município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69.458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922776"/>
            <a:ext cx="10634472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mostra.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variantes de renda trocam só o setor extremo de Belo Horizonte; a de postos usa os mesmos setores.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48672" y="1463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FC09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22769</Words>
  <Application>Microsoft Macintosh PowerPoint</Application>
  <PresentationFormat>Widescreen</PresentationFormat>
  <Paragraphs>3909</Paragraphs>
  <Slides>92</Slides>
  <Notes>92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92</vt:i4>
      </vt:variant>
    </vt:vector>
  </HeadingPairs>
  <TitlesOfParts>
    <vt:vector size="95" baseType="lpstr">
      <vt:lpstr>Arial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Relatório descritivo do andamento — IVS Censo 2022</dc:title>
  <dc:subject>PptxGenJS Presentation</dc:subject>
  <dc:creator>Pedro Dias Soares</dc:creator>
  <cp:lastModifiedBy>Pedro Dias Soares</cp:lastModifiedBy>
  <cp:revision>4</cp:revision>
  <dcterms:created xsi:type="dcterms:W3CDTF">2026-10-07T21:47:51Z</dcterms:created>
  <dcterms:modified xsi:type="dcterms:W3CDTF">2026-10-08T17:07:19Z</dcterms:modified>
</cp:coreProperties>
</file>