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2"/>
  </p:notesMasterIdLst>
  <p:sldIdLst>
    <p:sldId id="256" r:id="rId2"/>
    <p:sldId id="259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3" r:id="rId15"/>
    <p:sldId id="275" r:id="rId16"/>
    <p:sldId id="276" r:id="rId17"/>
    <p:sldId id="277" r:id="rId18"/>
    <p:sldId id="278" r:id="rId19"/>
    <p:sldId id="357" r:id="rId20"/>
    <p:sldId id="279" r:id="rId21"/>
    <p:sldId id="358" r:id="rId22"/>
    <p:sldId id="280" r:id="rId23"/>
    <p:sldId id="359" r:id="rId24"/>
    <p:sldId id="281" r:id="rId25"/>
    <p:sldId id="360" r:id="rId26"/>
    <p:sldId id="282" r:id="rId27"/>
    <p:sldId id="361" r:id="rId28"/>
    <p:sldId id="283" r:id="rId29"/>
    <p:sldId id="362" r:id="rId30"/>
    <p:sldId id="284" r:id="rId31"/>
    <p:sldId id="363" r:id="rId32"/>
    <p:sldId id="285" r:id="rId33"/>
    <p:sldId id="364" r:id="rId34"/>
    <p:sldId id="286" r:id="rId35"/>
    <p:sldId id="365" r:id="rId36"/>
    <p:sldId id="287" r:id="rId37"/>
    <p:sldId id="366" r:id="rId38"/>
    <p:sldId id="288" r:id="rId39"/>
    <p:sldId id="367" r:id="rId40"/>
    <p:sldId id="289" r:id="rId41"/>
    <p:sldId id="368" r:id="rId42"/>
    <p:sldId id="290" r:id="rId43"/>
    <p:sldId id="369" r:id="rId44"/>
    <p:sldId id="291" r:id="rId45"/>
    <p:sldId id="370" r:id="rId46"/>
    <p:sldId id="292" r:id="rId47"/>
    <p:sldId id="371" r:id="rId48"/>
    <p:sldId id="293" r:id="rId49"/>
    <p:sldId id="372" r:id="rId50"/>
    <p:sldId id="294" r:id="rId51"/>
    <p:sldId id="373" r:id="rId52"/>
    <p:sldId id="295" r:id="rId53"/>
    <p:sldId id="374" r:id="rId54"/>
    <p:sldId id="296" r:id="rId55"/>
    <p:sldId id="375" r:id="rId56"/>
    <p:sldId id="297" r:id="rId57"/>
    <p:sldId id="376" r:id="rId58"/>
    <p:sldId id="298" r:id="rId59"/>
    <p:sldId id="377" r:id="rId60"/>
    <p:sldId id="299" r:id="rId61"/>
    <p:sldId id="378" r:id="rId62"/>
    <p:sldId id="300" r:id="rId63"/>
    <p:sldId id="379" r:id="rId64"/>
    <p:sldId id="301" r:id="rId65"/>
    <p:sldId id="380" r:id="rId66"/>
    <p:sldId id="302" r:id="rId67"/>
    <p:sldId id="381" r:id="rId68"/>
    <p:sldId id="303" r:id="rId69"/>
    <p:sldId id="382" r:id="rId70"/>
    <p:sldId id="304" r:id="rId71"/>
    <p:sldId id="383" r:id="rId72"/>
    <p:sldId id="305" r:id="rId73"/>
    <p:sldId id="384" r:id="rId74"/>
    <p:sldId id="306" r:id="rId75"/>
    <p:sldId id="385" r:id="rId76"/>
    <p:sldId id="307" r:id="rId77"/>
    <p:sldId id="386" r:id="rId78"/>
    <p:sldId id="308" r:id="rId79"/>
    <p:sldId id="387" r:id="rId80"/>
    <p:sldId id="388" r:id="rId81"/>
    <p:sldId id="389" r:id="rId82"/>
    <p:sldId id="390" r:id="rId83"/>
    <p:sldId id="391" r:id="rId84"/>
    <p:sldId id="392" r:id="rId85"/>
    <p:sldId id="393" r:id="rId86"/>
    <p:sldId id="394" r:id="rId87"/>
    <p:sldId id="395" r:id="rId88"/>
    <p:sldId id="310" r:id="rId89"/>
    <p:sldId id="311" r:id="rId90"/>
    <p:sldId id="312" r:id="rId91"/>
    <p:sldId id="313" r:id="rId92"/>
    <p:sldId id="314" r:id="rId93"/>
    <p:sldId id="315" r:id="rId94"/>
    <p:sldId id="316" r:id="rId95"/>
    <p:sldId id="317" r:id="rId96"/>
    <p:sldId id="318" r:id="rId97"/>
    <p:sldId id="319" r:id="rId98"/>
    <p:sldId id="320" r:id="rId99"/>
    <p:sldId id="321" r:id="rId100"/>
    <p:sldId id="322" r:id="rId101"/>
    <p:sldId id="323" r:id="rId102"/>
    <p:sldId id="324" r:id="rId103"/>
    <p:sldId id="325" r:id="rId104"/>
    <p:sldId id="326" r:id="rId105"/>
    <p:sldId id="327" r:id="rId106"/>
    <p:sldId id="396" r:id="rId107"/>
    <p:sldId id="397" r:id="rId108"/>
    <p:sldId id="398" r:id="rId109"/>
    <p:sldId id="399" r:id="rId110"/>
    <p:sldId id="400" r:id="rId111"/>
    <p:sldId id="401" r:id="rId112"/>
    <p:sldId id="402" r:id="rId113"/>
    <p:sldId id="403" r:id="rId114"/>
    <p:sldId id="404" r:id="rId115"/>
    <p:sldId id="328" r:id="rId116"/>
    <p:sldId id="329" r:id="rId117"/>
    <p:sldId id="330" r:id="rId118"/>
    <p:sldId id="331" r:id="rId119"/>
    <p:sldId id="332" r:id="rId120"/>
    <p:sldId id="333" r:id="rId121"/>
    <p:sldId id="334" r:id="rId122"/>
    <p:sldId id="335" r:id="rId123"/>
    <p:sldId id="336" r:id="rId124"/>
    <p:sldId id="338" r:id="rId125"/>
    <p:sldId id="340" r:id="rId126"/>
    <p:sldId id="342" r:id="rId127"/>
    <p:sldId id="343" r:id="rId128"/>
    <p:sldId id="344" r:id="rId129"/>
    <p:sldId id="345" r:id="rId130"/>
    <p:sldId id="346" r:id="rId131"/>
    <p:sldId id="347" r:id="rId132"/>
    <p:sldId id="348" r:id="rId133"/>
    <p:sldId id="349" r:id="rId134"/>
    <p:sldId id="350" r:id="rId135"/>
    <p:sldId id="351" r:id="rId136"/>
    <p:sldId id="352" r:id="rId137"/>
    <p:sldId id="353" r:id="rId138"/>
    <p:sldId id="354" r:id="rId139"/>
    <p:sldId id="355" r:id="rId140"/>
    <p:sldId id="356" r:id="rId1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5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20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110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 · CENSO 2022 · 70 MUNICÍPIOS DO ELSI-BRASIL</a:t>
            </a:r>
            <a:endParaRPr lang="pt-BR" sz="1150" noProof="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4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descritivo do andamento</a:t>
            </a:r>
            <a:endParaRPr lang="pt-BR" sz="40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pt-BR" sz="14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demandas de setembro e como foram cobertas, a descritiva de cada indicador e a análise fatorial, para conferência com os seus resultados</a:t>
            </a:r>
            <a:endParaRPr lang="pt-BR" sz="14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demandas e como foram cobertas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11 demandas de setembro, uma por slide: o pedido, como lemos, o que foi feito, o que contornamos e onde está o resultado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11 demandas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 cada uma e onde está o resultado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873428"/>
              </p:ext>
            </p:extLst>
          </p:nvPr>
        </p:nvGraphicFramePr>
        <p:xfrm>
          <a:off x="777240" y="1719072"/>
          <a:ext cx="10634472" cy="296265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Nº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Slide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Resultado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coluna de renda com a 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DS18, FP01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quadro de indicadores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DS03–DS33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sem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bootstrap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sem e com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FP02, FP09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separar útil × inútil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MAPA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comparar "não chega"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(as duas leituras)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juntar "sem banheiro"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com V00495; graduada (V00237) em aberto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adicionar canalização e 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de tudo isso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(leitura padrão da pergunta 6)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(como não convencional, sem excluir)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lixo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as duas rotações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1: a renda com a mediana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Coluna de renda com a mediana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do próprio setor não existe no arquivo bruto do Censo (vêm V06001–V06005, não V06006). Lemos como: no setor extremo de Belo Horizonte, pôr a mediana do município calculada sem ele.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3032760"/>
            <a:ext cx="5394960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Coluna nova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renda_media_mediana_mun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na entrega (o banco passa de 104 para 105 colunas); tabela de sensibilidade com três alternativas.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Obstáculo: falta a mediana do setor (V06006). Saída: imputação pela mediana do município, só no setor excluído (310620005650366,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$ 170.418,06). Efeito: 1 setor difere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renda_media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7950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350649"/>
              </p:ext>
            </p:extLst>
          </p:nvPr>
        </p:nvGraphicFramePr>
        <p:xfrm>
          <a:off x="6446520" y="3105912"/>
          <a:ext cx="4965192" cy="133096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Alternativa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 imputado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em BH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nos 70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de BH sem o setor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$ 3.058,235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$ 4.649,57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de BH com o setor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$ 3.060,310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$ 4.649,57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dos 70 municípios sem o setor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$ 2.572,390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$ 4.649,47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4439920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DS18 (a coluna nova) e FP01 (o efeito na fatorial).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2: quadro de indicadores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 de indicadores.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203835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884677"/>
              </p:ext>
            </p:extLst>
          </p:nvPr>
        </p:nvGraphicFramePr>
        <p:xfrm>
          <a:off x="777240" y="2349246"/>
          <a:ext cx="4965192" cy="1645920"/>
        </p:xfrm>
        <a:graphic>
          <a:graphicData uri="http://schemas.openxmlformats.org/drawingml/2006/table">
            <a:tbl>
              <a:tblPr/>
              <a:tblGrid>
                <a:gridCol w="2587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77240" y="4104894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DS03–DS33 (a definição em cada slide).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DM03</a:t>
            </a:r>
            <a:endParaRPr lang="pt-BR" sz="1100" noProof="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F8388C0-E67C-5955-5FB4-A8240C57AB54}"/>
              </a:ext>
            </a:extLst>
          </p:cNvPr>
          <p:cNvSpPr txBox="1"/>
          <p:nvPr/>
        </p:nvSpPr>
        <p:spPr>
          <a:xfrm>
            <a:off x="1899139" y="5431536"/>
            <a:ext cx="2572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Adcionar</a:t>
            </a:r>
            <a:r>
              <a:rPr lang="pt-BR" dirty="0"/>
              <a:t> no Metodologia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3: fatorial sem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sem e com rotação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Fatorial sem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sem e com rotação.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rotação? Rodamos as duas: sem rotação,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lado a lado.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saiu, como pedido. Para a incerteza entrou a sensibilidade de um município de fora por vez (S0, S1, S6).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949393"/>
              </p:ext>
            </p:extLst>
          </p:nvPr>
        </p:nvGraphicFramePr>
        <p:xfrm>
          <a:off x="6446520" y="2686812"/>
          <a:ext cx="4965192" cy="1371600"/>
        </p:xfrm>
        <a:graphic>
          <a:graphicData uri="http://schemas.openxmlformats.org/drawingml/2006/table">
            <a:tbl>
              <a:tblPr/>
              <a:tblGrid>
                <a:gridCol w="1856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 (S0)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75,89%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74,69%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73,40%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26,60%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416814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FP02 e FP09.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5: comparar "não chega"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 "não chega".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leituras, as duas feitas: (a) contra as outras categorias de canalização;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contra os indicadores do IVS-7.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S2 (IVS-7 + não chega) na grade;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"água não chega" com o IVS-7 e com as outras categorias de água; perfil dos setores com valor &gt; 0 × = 0.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85,7% de zeros citados antes usavam os 104.108 setores como denominador, contando o faltante como não zero. Sobre os valores presentes, são 94,5%.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58546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255837"/>
              </p:ext>
            </p:extLst>
          </p:nvPr>
        </p:nvGraphicFramePr>
        <p:xfrm>
          <a:off x="6446520" y="2896362"/>
          <a:ext cx="4965192" cy="2531999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 × …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78.266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94.391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81.303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94.368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85.098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5538089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FP03.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6: juntar "sem banheiro"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Juntar "sem banheiro".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Usamos a V00495, que já contém a V00238 (conferido no banco). 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3032760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S4 (IVS-7 + sem banheiro, V00495) e a prova V00238 ≤ V00495. Depois, no NB05, a V00237 foi extraída e o banheiro graduado entrou na grade.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Obstáculo: a V00237 não estava na base. Saída: nova extração da V00237 dos arquivos do Censo. A partição V00495 = V00236 + V00237 + V00238 fecha em 91.199 de 91.199 setores.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58546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041624"/>
              </p:ext>
            </p:extLst>
          </p:nvPr>
        </p:nvGraphicFramePr>
        <p:xfrm>
          <a:off x="6446520" y="2896362"/>
          <a:ext cx="4965192" cy="822960"/>
        </p:xfrm>
        <a:graphic>
          <a:graphicData uri="http://schemas.openxmlformats.org/drawingml/2006/table">
            <a:tbl>
              <a:tblPr/>
              <a:tblGrid>
                <a:gridCol w="3136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que vale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 ≤ V00495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90.858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 = V00236 + V00237 + V00238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91.199 de 91.199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382905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FP04 e DS13 (o banheiro graduado).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7: adicionar canalização e sem banheiro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Adicionar canalização e sem banheiro.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variável nova por vez sobre o IVS-7: não chega (S2), sem canalização (S3), sem banheiro (S4).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cenários na grade da fatorial ampliada, cada um uma fatorial completa sobre a mesma regra de setores.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variável nova perde setores diferentes; cada cenário tem o seu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comparado com o S0 pelos setores perdidos.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33229"/>
              </p:ext>
            </p:extLst>
          </p:nvPr>
        </p:nvGraphicFramePr>
        <p:xfrm>
          <a:off x="6446520" y="2686812"/>
          <a:ext cx="4965192" cy="16256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Perdidos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chega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canalização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banheiro (V00495)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10"/>
          <p:cNvSpPr/>
          <p:nvPr/>
        </p:nvSpPr>
        <p:spPr>
          <a:xfrm>
            <a:off x="6446520" y="442214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FP05.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8: fatorial de tudo isso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Fatorial de tudo.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IVS-7 + não chega + sem canalização + sem banheiro + não convencional.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S6 (as quatro juntas) e S7 (S6 sem lixo); o S6 também com as três rendas e com postos dentro do município.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contorno de dado. A leitura de "tudo isso" é nossa; falta confirmar se é essa.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031609"/>
              </p:ext>
            </p:extLst>
          </p:nvPr>
        </p:nvGraphicFramePr>
        <p:xfrm>
          <a:off x="6446520" y="2686812"/>
          <a:ext cx="4965192" cy="27736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sem lixo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renda sem o setor 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renda com a mediana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S6_postos_mun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postos dentro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48,33%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557022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FP06.</a:t>
            </a:r>
            <a:endParaRPr lang="pt-BR" sz="1250" noProof="0" dirty="0"/>
          </a:p>
        </p:txBody>
      </p:sp>
      <p:sp>
        <p:nvSpPr>
          <p:cNvPr id="12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9: habitação convencional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convencional.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Entrou na direção da vulnerabilidade (moradia não convencional), com diagnóstico completo, sem excluir por variância baixa.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Cenários S5 (IVS-7 + não convencional) e S6; MSA, comunalidade e % de zeros da variável.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variável tem variância baixa. Em vez de excluí-la, mostramos o diagnóstico para decidirmos se ela fica.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58546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236986"/>
              </p:ext>
            </p:extLst>
          </p:nvPr>
        </p:nvGraphicFramePr>
        <p:xfrm>
          <a:off x="6446520" y="2896362"/>
          <a:ext cx="4965192" cy="8229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de zeros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92,93%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382905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FP07.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10: testar lixo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lixo.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leitura só: rodar com e sem o lixo.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61366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(IVS-7 sem lixo) e S7 (S6 sem lixo); se o lixo forma fator próprio 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se isso muda ao tirar um município.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contorno. Em S0, o lixo muda de fator em duas rodadas de um município de fora.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365444"/>
              </p:ext>
            </p:extLst>
          </p:nvPr>
        </p:nvGraphicFramePr>
        <p:xfrm>
          <a:off x="6446520" y="2686812"/>
          <a:ext cx="4965192" cy="94996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IVS-6 (IVS-7 sem lixo)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374650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FP08.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11: testar as duas rotações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as duas rotações.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as duas métricas (matriz padrão e matriz estrutura).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303276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Pesos da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da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(padrão e estrutura) 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em todos os cenários; figura do plano dos fatores no S6.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contorno de dado.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570790"/>
              </p:ext>
            </p:extLst>
          </p:nvPr>
        </p:nvGraphicFramePr>
        <p:xfrm>
          <a:off x="6446520" y="2686812"/>
          <a:ext cx="4965192" cy="1371600"/>
        </p:xfrm>
        <a:graphic>
          <a:graphicData uri="http://schemas.openxmlformats.org/drawingml/2006/table">
            <a:tbl>
              <a:tblPr/>
              <a:tblGrid>
                <a:gridCol w="1856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 (S1)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77,17%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34,99%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65,82%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34,18%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59,64%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416814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FP09.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o que contornamos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302569"/>
              </p:ext>
            </p:extLst>
          </p:nvPr>
        </p:nvGraphicFramePr>
        <p:xfrm>
          <a:off x="777240" y="1719072"/>
          <a:ext cx="10634472" cy="316357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1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Nº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Obstáculo, saída e efeito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Slide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renda com a 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Obstáculo: falta a mediana do setor (V06006). Saída: imputação pela mediana do município. Efeito: 1 setor difere de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quadro de indicadores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Nenhum contorno. O quadro foi ampliado no NB05: de 26 para 28 indicadores, com só sanitário e banheiro de uso comum.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sem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bootstrap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sem e com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bootstrap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saiu, como pedido. Para a incerteza entrou a sensibilidade de um município de fora por vez (S0, S1, S6).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comparar "não chega"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85,7% de zeros citados antes usavam os 104.108 setores como denominador, contando o faltante como não zero. Sobre os valores presentes, são 94,5%.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juntar "sem banheiro"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Obstáculo: a V00237 não estava na base. Saída: nova extração da V00237 dos arquivos do Censo. A partição V00495 = V00236 + V00237 + V00238 fecha em 91.199 de 91.199 setores.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adicionar canalização e 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variável nova perde setores diferentes; cada cenário tem o seu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comparado com o S0 pelos setores perdidos.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variável tem variância baixa. Em vez de excluí-la, mostramos o diagnóstico para decidirmos se ela fica.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lixo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Nenhum contorno. Em S0, o lixo muda de fator em duas rodadas de um município de fora.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as duas rotações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Nenhum contorno de dado.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 dos indicadores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indicador por slide, nos 104.108 setores urbanos com </a:t>
            </a:r>
            <a:r>
              <a:rPr lang="pt-BR" sz="14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Dados_sig</a:t>
            </a: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OK: como é calculado, de que arquivo vem e como se distribui. Sem cruzar indicadores.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109.032 setores dos 70 municípios aos que entram em cada parte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077945"/>
              </p:ext>
            </p:extLst>
          </p:nvPr>
        </p:nvGraphicFramePr>
        <p:xfrm>
          <a:off x="777240" y="1719072"/>
          <a:ext cx="6400800" cy="16565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Saem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quê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 completa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109.032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106.347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rural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Dados_sig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OK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2.239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sem dados divulgados (sigilo ou sem domicílio ocupado)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 completos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30.230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 em algum componente do índice (exclusão por lista)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604260"/>
            <a:ext cx="64008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descritiva usa 104.108 setores (urbanos com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Dados_sig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OK). A fatorial da referência proposta usa 73.878: saem 30.230 com algum componente faltante.</a:t>
            </a:r>
            <a:endParaRPr lang="pt-BR" sz="1250" noProof="0" dirty="0"/>
          </a:p>
        </p:txBody>
      </p:sp>
      <p:pic>
        <p:nvPicPr>
          <p:cNvPr id="8" name="Image 0" descr="O funil do recorte, etapa a etapa."/>
          <p:cNvPicPr>
            <a:picLocks noChangeAspect="1"/>
          </p:cNvPicPr>
          <p:nvPr/>
        </p:nvPicPr>
        <p:blipFill>
          <a:blip r:embed="rId3"/>
          <a:srcRect l="-5513" r="-5513"/>
          <a:stretch/>
        </p:blipFill>
        <p:spPr>
          <a:xfrm>
            <a:off x="71846" y="4133088"/>
            <a:ext cx="4810396" cy="21486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4242" y="6281784"/>
            <a:ext cx="2385604" cy="166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funil do recorte, etapa a etapa.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com valor, indicador a indicador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174997"/>
              </p:ext>
            </p:extLst>
          </p:nvPr>
        </p:nvGraphicFramePr>
        <p:xfrm>
          <a:off x="777240" y="1673352"/>
          <a:ext cx="5120640" cy="4197096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104.067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9,32%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88.211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15.897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15,27%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91.912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101.139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2.969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100.297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3.811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3,66%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94.414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9.694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89.816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14.292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13,73%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87.556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104.095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85756"/>
              </p:ext>
            </p:extLst>
          </p:nvPr>
        </p:nvGraphicFramePr>
        <p:xfrm>
          <a:off x="6291072" y="1673352"/>
          <a:ext cx="5120640" cy="3950208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103.961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98.969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5.139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4,94%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95.005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9.103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8,74%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99.642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4.466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4,29%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91.304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12.804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102.288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103.850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103.823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285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103.116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103.810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101.972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2.136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abastecimento de água inadequado ou ausente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315541"/>
              </p:ext>
            </p:extLst>
          </p:nvPr>
        </p:nvGraphicFramePr>
        <p:xfrm>
          <a:off x="777240" y="1737360"/>
          <a:ext cx="3429000" cy="279107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9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V00112 — Domicílios Particulares Permanentes Ocupados, Utiliza poço profundo ou artesiano | V00113 — Domicílios Particulares Permanentes Ocupados, Utiliza poço raso, freático ou cacimba | V00114 — Domicílios Particulares Permanentes Ocupados, Utiliza fonte, nascente ou mina | V00115 — Domicílios Particulares Permanentes Ocupados, Utiliza carro-pipa | V00116 — Domicílios Particulares Permanentes Ocupados, Utiliza água da chuva armazenada | V00117 — Domicílios Particulares Permanentes Ocupados, Utiliza rios, açudes, córregos, lagos e igarapés | V00118 — Domicílios Particulares Permanentes Ocupados, Utiliza outra forma de abastecimento de água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784471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49466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19,74%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283,6%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19,86%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74,25%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Fora do histograma: 77.295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77.295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74,25% dos setores têm valor zero; um em cada quatro tem mais de 1,18%, e um em cada dez, mais de 19,86%.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273884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(87,6%); a menor, a do Sudeste (12,8%). Nos setores de FCU, 36,8% têm valor acima de zero; nos demais, 23,2%. Entre os municípios, vai de 0,0% (São Paulo das Missões) a 100,0% (Placas).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DS03-2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esgotamento sanitário inadequado ou ausente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295883"/>
              </p:ext>
            </p:extLst>
          </p:nvPr>
        </p:nvGraphicFramePr>
        <p:xfrm>
          <a:off x="777240" y="1737360"/>
          <a:ext cx="3429000" cy="289179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06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V00312 — Domicílios Particulares Permanentes Ocupados, Destinação do esgoto do banheiro ou sanitário ou buraco para dejeções é fossa rudimentar ou buraco | V00313 — Domicílios Particulares Permanentes Ocupados, Destinação do esgoto do banheiro ou sanitário ou buraco para dejeções é vala | V00314 — Domicílios Particulares Permanentes Ocupados, Destinação do esgoto do banheiro ou sanitário ou buraco para dejeções é rio, lago, córrego ou mar | V00315 — Domicílios Particulares Permanentes Ocupados, Destinação do esgoto do banheiro ou sanitário ou buraco para dejeções é outra forma | V00316 — Domicílios Particulares Permanentes Ocupados, Destinação do esgoto inexistente, pois não tinham banheiro nem sanitário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885182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318368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21,43%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261,4%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28,38%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72,53%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Fora do histograma: 75.511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75.511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72,53% dos setores têm valor zero; um em cada quatro tem mais de 1,82%, e um em cada dez, mais de 28,38%.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904236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23,76%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16,17%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(68,1%); a menor, a do Sul (14,4%). Nos setores de FCU, 57,1% têm valor acima de zero; nos demais, 20,7%. Entre os municípios, vai de 0,0% (São Caetano do Sul) a 100,0%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Vicentinópolis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DS04-2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inadequado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destino do lixo inadequado ou ausente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498118"/>
              </p:ext>
            </p:extLst>
          </p:nvPr>
        </p:nvGraphicFramePr>
        <p:xfrm>
          <a:off x="777240" y="1737360"/>
          <a:ext cx="3429000" cy="2488946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78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V00398 — Domicílios Particulares Permanentes Ocupados, Lixo depositado em caçamba de serviço de limpeza | V00399 — Domicílios Particulares Permanentes Ocupados, Lixo queimado na propriedade | V00400 — Domicílios Particulares Permanentes Ocupados, Lixo enterrado na propriedade | V00401 — Domicílios Particulares Permanentes Ocupados, Lixo jogado em terreno baldio, encosta ou área pública | V00402 — Domicílios Particulares Permanentes Ocupados, Outro destino do lixo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82338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319614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25,24%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217,9%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50,46%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62,78%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Fora do histograma: 65.359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65.359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62,78% dos setores têm valor zero; um em cada quatro tem mais de 5,94%, e um em cada dez, mais de 50,46%.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inadequado: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inadequado: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06873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24,80%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Nordeste (44,8%); a menor, a do Centro-Oeste (30,4%). Nos setores de FCU, 59,5% têm valor acima de zero; nos demais, 32,1%. Entre os municípios, vai de 0,0% (São Paulo das Missões) a 100,0% (Placas).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DS05-2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água canalizada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que a água não chega encanada até dentro do domicílio (complemento de V00199; equivale a V00200+V00201 sobre V00001)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702842"/>
              </p:ext>
            </p:extLst>
          </p:nvPr>
        </p:nvGraphicFramePr>
        <p:xfrm>
          <a:off x="777240" y="1737360"/>
          <a:ext cx="3429000" cy="24916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V00199 — Domicílios Particulares Permanentes Ocupados, Água chega encanada até dentro da casa, apartamento ou habitação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99229"/>
            <a:ext cx="3429000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= complemento (1 − numerador/denominador)</a:t>
            </a:r>
            <a:endParaRPr lang="pt-BR" sz="850" noProof="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08065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 (0,04%)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458,0%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69,70%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Fora do histograma: 72.537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72.537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69,70% dos setores têm valor zero; um em cada quatro tem mais de 0,48%, e um em cada dez, mais de 2,34%.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água canalizada: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água canalizada: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939555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61.964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9.485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84.629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(64,1%); a menor, a do Sul (17,8%). Nos setores de FCU, 52,1% têm valor acima de zero; nos demais, 25,3%. Entre os municípios, vai de 0,0% (São Paulo das Missões) a 100,0% (Portel).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DS06-2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não chega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que a água não chega encanada ao domicílio (V00201)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603985"/>
              </p:ext>
            </p:extLst>
          </p:nvPr>
        </p:nvGraphicFramePr>
        <p:xfrm>
          <a:off x="777240" y="1737360"/>
          <a:ext cx="3429000" cy="236766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V00201 — Domicílios Particulares Permanentes Ocupados, Água não chega encanada ao domicílio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233912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 (9,32%)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863,0%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Fora do histograma: 89.212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89.212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94,50%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não chega: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não chega: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051740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15.639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58.463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6.837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16.179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78.223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(21,2%); a menor, a do Sul (1,4%). Nos setores de FCU, 12,5% têm valor acima de zero; nos demais, 4,0%. Entre os municípios, vai de 0,0% (Chapada dos Guimarães) a 88,2% (Arara).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DS07-2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só no terreno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que a água chega encanada apenas ao terreno (V00200)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279766"/>
              </p:ext>
            </p:extLst>
          </p:nvPr>
        </p:nvGraphicFramePr>
        <p:xfrm>
          <a:off x="777240" y="1737360"/>
          <a:ext cx="3429000" cy="24916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V00200 — Domicílios Particulares Permanentes Ocupados, Água chega encanada, mas apenas ao terreno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638726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88.211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15.897 (15,27%)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548,5%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88,28%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Fora do histograma: 77.876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77.876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88,28% dos setores têm valor zero; um em cada dez tem mais de 1,47%.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só no terreno: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só no terreno: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695421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15.021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54.406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7.987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15.070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73.141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(39,6%); a menor, a do Sul (3,0%). Nos setores de FCU, 28,0% têm valor acima de zero; nos demais, 8,4%. Entre os municípios, vai de 0,0% (Guapiaçu) a 100,0% (São Raimundo do Doca Bezerra).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DS08-2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sem banheiro de uso exclusivo com chuveiro e vaso sanitário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05480"/>
              </p:ext>
            </p:extLst>
          </p:nvPr>
        </p:nvGraphicFramePr>
        <p:xfrm>
          <a:off x="777240" y="1737360"/>
          <a:ext cx="3429000" cy="24916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 — Domicílios Particulares Permanentes Ocupados, Sem banheiro de uso exclusivo com chuveiro e vaso sanitário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280861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91.912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 (11,71%)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913,8%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95,60%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Fora do histograma: 87.864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8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87.864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95,60%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76989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15.747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56.669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6.381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8.685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15.197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76.715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(24,0%); a menor, a do Centro-Oeste (1,3%). Nos setores de FCU, 14,1% têm valor acima de zero; nos demais, 2,5%. Entre os municípios, vai de 0,0% (Anápolis) a 100,0% (Placas).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DS09-2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sem banheiro nem sanitário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368579"/>
              </p:ext>
            </p:extLst>
          </p:nvPr>
        </p:nvGraphicFramePr>
        <p:xfrm>
          <a:off x="777240" y="1737360"/>
          <a:ext cx="3429000" cy="236766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 — Domicílios Particulares Permanentes Ocupados, Não tinham banheiro nem sanitário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419065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101.139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2.969 (2,85%)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3.072,9%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66,67%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99,65%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68,98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Fora do histograma: 100.786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100.786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99,65%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265566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5.450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18.246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61.032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7.065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9.346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18.061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83.078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(1,4%); a menor, a do Centro-Oeste (0,1%). Nos setores de FCU, 1,1% têm valor acima de zero; nos demais, 0,2%. Entre os municípios, vai de 0,0% (Anápolis) a 33,3% (São Raimundo do Doca Bezerra).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DS10-2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sanitário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apenas sanitário ou buraco para dejeções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923970"/>
              </p:ext>
            </p:extLst>
          </p:nvPr>
        </p:nvGraphicFramePr>
        <p:xfrm>
          <a:off x="777240" y="1737360"/>
          <a:ext cx="3429000" cy="24916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V00237 — Domicílios Particulares Permanentes Ocupados, Apenas sanitário ou buraco para dejeções, inclusive os localizados no terreno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734070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100.297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3.811 (3,66%)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1.670,2%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84,44%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32,59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Fora do histograma: 99.251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10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99.251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98,96%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sanitário: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sanitário: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593460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17.707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60.940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7.060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9.279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17.769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82.528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(4,0%); a menor, a do Sudeste (0,2%). Nos setores de FCU, 3,4% têm valor acima de zero; nos demais, 0,5%. Entre os municípios, vai de 0,0% (Anápolis) a 83,3% (Placas).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DS11-2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de uso comum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apenas banheiro de uso comum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523576"/>
              </p:ext>
            </p:extLst>
          </p:nvPr>
        </p:nvGraphicFramePr>
        <p:xfrm>
          <a:off x="777240" y="1737360"/>
          <a:ext cx="3429000" cy="24916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 — Domicílios Particulares Permanentes Ocupados, Apenas banheiro de uso comum a mais de um domicílio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96744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94.414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9.694 (9,31%)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1.214,7%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97,31%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37,68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Fora do histograma: 91.872 setores com zero. Eixo até o P99 (30,11%); 26 setores acima dele ficam fora do desenho, não da tabel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91.872 setores com zero. Eixo até o P99 (30,11%); 26 setores acima dele ficam fora do desenho, não da tabela.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51226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97,31%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de uso comum: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de uso comum: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658195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4.522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16.630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57.872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8.899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15.848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78.566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(17,2%); a menor, a do Centro-Oeste (0,8%). Nos setores de FCU, 8,2% têm valor acima de zero; nos demais, 1,6%. Entre os municípios, vai de 0,0% (Anápolis) a 100,0% (São Raimundo do Doca Bezerra).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DS12-2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Grau de inadequação do banheiro: 0 = todos com banheiro, 1 = todos sem banheiro nem sanitário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632245"/>
              </p:ext>
            </p:extLst>
          </p:nvPr>
        </p:nvGraphicFramePr>
        <p:xfrm>
          <a:off x="777240" y="1737360"/>
          <a:ext cx="3429000" cy="1887347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1·V00236 + 2·V00237 + 3·V00238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3·V00001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derivado de outra coluna da base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escala de 0 a 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144895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89.816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14.292 (13,73%)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1.523,5%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97,83%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Fora do histograma: 87.864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87.864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97,83%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438891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14.667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56.336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6.279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8.630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13.956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75.860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(13,7%); a menor, a do Centro-Oeste (0,7%). Nos setores de FCU, 6,4% têm valor acima de zero; nos demais, 1,4%. Entre os municípios, vai de 0,0% (Anápolis) a 100,0% (Placas).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DS13-2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 por domicílio (reproduz o V0005 do IBGE)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178474"/>
              </p:ext>
            </p:extLst>
          </p:nvPr>
        </p:nvGraphicFramePr>
        <p:xfrm>
          <a:off x="777240" y="1737360"/>
          <a:ext cx="3429000" cy="24916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V00005 — Domicílios Particulares Permanentes Ocupados, Quantidade de moradores | V00006 — Domicílios Particulares Improvisados Ocupados, Quantidade de moradores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 | V00002 — Domicílios Particulares Improvisados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99229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zero; sem corte em [0, 1] (não é proporção)</a:t>
            </a:r>
            <a:endParaRPr lang="pt-BR" sz="850" noProof="0" dirty="0"/>
          </a:p>
        </p:txBody>
      </p:sp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149110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2,71; um em cada quatro tem mais de 2,93. Entre o P10 e o P90, vai de 2,20 a 3,14; nenhum setor tem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834811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Norte (3,19); a menor, a do Sul (2,60). Nos setores de FCU a mediana é 2,92; nos demais, 2,67. Entre os municípios, a mediana vai de 2,38 (Porto Alegre) a 4,23 (Portel).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DS14-2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de analfabetismo entre pessoas de 15 anos ou mais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492756"/>
              </p:ext>
            </p:extLst>
          </p:nvPr>
        </p:nvGraphicFramePr>
        <p:xfrm>
          <a:off x="777240" y="1737360"/>
          <a:ext cx="3429000" cy="230568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V00901 — 15 anos ou mais, Morador não sabe ler e escrever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— 15 anos ou mais, Morador sabe ler e escrever | V00901 — 15 anos ou mais, Morador não sabe ler e escrever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Agregados_por_setores_alfabetizacao_BR.csv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328795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denominador exige as 2 parcelas presentes (sem tolerância a sigilo parcial)</a:t>
            </a:r>
            <a:endParaRPr lang="pt-BR" sz="850" noProof="0" dirty="0"/>
          </a:p>
        </p:txBody>
      </p:sp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627652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 (15,90%)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72,55%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Eixo até o P99 (16,43%); 876 setores acima dele ficam fora do desenho, não da tabel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(16,43%); 876 setores acima dele ficam fora do desenho, não da tabela.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2,71%; um em cada quatro tem mais de 4,99%. Entre o P10 e o P90, vai de 0,00% a 7,92%; 10,59%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174736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50.608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18.904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68.652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Nordeste (5,16%); a menor, a do Sul (1,62%). Nos setores de FCU a mediana é 5,46%; nos demais, 2,13%. Entre os municípios, a mediana vai de 1,11% (São Caetano do Sul) a 23,06% (Arara).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DS15-2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Rendimento nominal médio mensal das pessoas responsáveis (</a:t>
            </a: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405752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 — Valor do rendimento nominal médio mensal das pessoas responsáveis com rendimentos por domicílios particulares permanentes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(sem denominador)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Agregados_por_setores_renda_responsavel_BR.csv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reais (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68241"/>
            <a:ext cx="3429000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corte em [0, 1] (não é proporção)</a:t>
            </a:r>
            <a:endParaRPr lang="pt-BR" sz="850" noProof="0" dirty="0"/>
          </a:p>
        </p:txBody>
      </p:sp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832749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 (0,01%)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$ 4.187,41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$ 4.150,66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$ 318,88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$ 1.387,94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$ 1.752,48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$ 2.572,39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$ 4.835,89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$ 9.490,68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$ 170.418,06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Eixo até o P99 (R$ 19.771,79); 1.041 setores acima dele ficam fora do desenho, não da tabel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$ 19.771,79); 1.041 setores acima dele ficam fora do desenho, não da tabela.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$ 2.572,39; um em cada quatro tem mais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$ 4.835,89. Entre o P10 e o P90,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$ 1.387,94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$ 9.490,68; nenhum setor tem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371712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$ 1.820,99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$ 1.719,20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$ 2.730,60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$ 3.722,28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$ 3.127,12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$ 1.515,35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$ 3.067,01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$ 3.722,28); a menor, a do Nordeste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$ 1.719,20). Nos setores de FCU a mediana 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$ 1.515,35; nos demais,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$ 3.067,01. Entre os municípios, a mediana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$ 1.062,36 (Jaqueira)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$ 5.291,89 (São Caetano do Sul).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DS16-2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o extremo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das pessoas responsáveis, com o setor extremo de BH vazio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219299"/>
              </p:ext>
            </p:extLst>
          </p:nvPr>
        </p:nvGraphicFramePr>
        <p:xfrm>
          <a:off x="777240" y="1737360"/>
          <a:ext cx="3429000" cy="202222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sem o setor 310620005650366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derivado de outra coluna da base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reais (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702541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 (0,01%)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$ 4.118,57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$ 318,88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$ 1.387,94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$ 1.752,47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$ 2.572,39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$ 4.835,83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$ 9.490,42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$ 140.172,64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Eixo até o P99 (R$ 19.771,58); 1.041 setores acima dele ficam fora do desenho, não da tabel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16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$ 19.771,58); 1.041 setores acima dele ficam fora do desenho, não da tabela.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$ 2.572,39; um em cada quatro tem mais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$ 4.835,83. Entre o P10 e o P90,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$ 1.387,94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$ 9.490,42; nenhum setor tem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o extremo: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o extremo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186504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$ 1.820,99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$ 1.719,20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61.977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$ 2.730,59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$ 3.722,28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$ 3.127,12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$ 1.515,32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$ 3.067,01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$ 3.722,28); a menor, a do Nordeste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$ 1.719,20). Nos setores de FCU a mediana 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$ 1.515,32; nos demais,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$ 3.067,01. Entre os municípios, a mediana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$ 1.062,36 (Jaqueira)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$ 5.291,89 (São Caetano do Sul).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DS17-2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(mediana mun.)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das pessoas responsáveis, com o setor extremo de BH substituído pela mediana do município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915067"/>
              </p:ext>
            </p:extLst>
          </p:nvPr>
        </p:nvGraphicFramePr>
        <p:xfrm>
          <a:off x="777240" y="1737360"/>
          <a:ext cx="3429000" cy="202679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com imputação no setor 310620005650366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derivado de outra coluna da base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reais (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954748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 (0,01%)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$ 4.118,56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$ 318,88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$ 1.387,94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$ 1.752,48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$ 2.572,39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$ 4.835,82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$ 9.490,41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$ 140.172,64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Eixo até o P99 (R$ 19.771,58); 1.041 setores acima dele ficam fora do desenho, não da tabel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$ 19.771,58); 1.041 setores acima dele ficam fora do desenho, não da tabela.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$ 2.572,39; um em cada quatro tem mais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$ 4.835,82. Entre o P10 e o P90,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$ 1.387,94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$ 9.490,41; nenhum setor tem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(mediana mun.):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(mediana mun.)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554924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$ 1.820,99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$ 1.719,20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$ 2.730,60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$ 3.722,28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$ 3.127,12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$ 1.515,35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$ 3.067,01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$ 3.722,28); a menor, a do Nordeste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$ 1.719,20). Nos setores de FCU a mediana 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$ 1.515,35; nos demais,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$ 3.067,01. Entre os municípios, a mediana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$ 1.062,36 (Jaqueira)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$ 5.291,89 (São Caetano do Sul).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DS18-2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de cor/raça preta, parda ou indígena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859886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 — Cor ou raça é preta | V01320 — Cor ou raça é parda | V01321 — Cor ou raça é indígena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Agregados_por_setores_cor_ou_raca_BR.csv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68241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7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294730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52,67%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70,44%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79,29%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18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57,19%; um em cada quatro tem mais de 70,44%. Entre o P10 e o P90, vai de 17,45% a 79,29%; 0,09%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57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72255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450372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76,99%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8015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Norte (76,99%); a menor, a do Sul (22,19%). Nos setores de FCU a mediana é 74,27%; nos demais, 50,96%. Entre os municípios, a mediana vai de 15,99% (Taió) a 88,89% (Salvador).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DS19-2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Responsável mulher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pessoa responsável do sexo feminino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538916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V01063 — Pessoa responsável pelo domicílio, Sexo feminino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V01062 — Pessoa responsável pelo domicílio, Sexo masculino | V01063 — Pessoa responsável pelo domicílio, Sexo feminino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Agregados_por_setores_parentesco_BR.csv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993298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103.961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147 (0,14%)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52,81%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8,95%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47,40%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53,39%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58,80%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63,40%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53,39%; um em cada quatro tem mais de 58,80%. Entre o P10 e o P90, vai de 41,41% a 63,40%; 0,02%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Responsável mulher: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Responsável mulher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745544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54,69%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19.476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55,77%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61.909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53,04%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50,57%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56,78%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84.514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52,58%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Nordeste (55,77%); a menor, a do Centro-Oeste (50,57%). Nos setores de FCU a mediana é 56,78%; nos demais, 52,58%. Entre os municípios, a mediana vai de 34,11%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Vicentinópolis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a 61,94% (Rosário).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DS20-2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particulares improvisados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403821"/>
              </p:ext>
            </p:extLst>
          </p:nvPr>
        </p:nvGraphicFramePr>
        <p:xfrm>
          <a:off x="777240" y="1737360"/>
          <a:ext cx="3429000" cy="257543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V00002 — Domicílios Particulares Improvisados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 | V00002 — Domicílios Particulares Improvisados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483001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98.969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5.139 (4,94%)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2.243,9%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97,25%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Fora do histograma: 98.189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20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98.189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99,21%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012514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18.384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59.390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6.803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8.862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18.292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80.677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Nordeste (1,0%); a menor, a do Sul (0,5%). Nos setores de FCU, 1,5% têm valor acima de zero; nos demais, 0,6%. Entre os municípios, vai de 0,0% (Arara) a 25,0%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Vicentinópolis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DS21-2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habitação precária (cortiço, estrutura degradada, improvisados)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496456"/>
              </p:ext>
            </p:extLst>
          </p:nvPr>
        </p:nvGraphicFramePr>
        <p:xfrm>
          <a:off x="777240" y="1737360"/>
          <a:ext cx="3429000" cy="339534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— Domicílios Particulares Permanentes Ocupados, Tipo de espécie é habitação em casa de cômodos ou cortiço | V00052 — Domicílios Particulares Permanentes Ocupados, Tipo de espécie é estrutura residencial permanente degradada ou inacabada | V00053 — Domicílios Particulares Improvisados Ocupados, Tipo de espécie é tenda ou barraca de lona, plástico ou tecido | V00054 — Domicílios Particulares Improvisados Ocupados, Tipo de espécie é dentro de estabelecimento em funcionamento | V00055 — Domicílios Particulares Improvisados Ocupados, Tipo de espécie é abrigo natural e outras estruturas improvisadas | V00056 — Domicílios Particulares Improvisados Ocupados, Tipo de espécie é estrutura improvisada em logradouro público, exceto tenda ou barraca | V00057 — Domicílios Particulares Improvisados Ocupados, Tipo de espécie é estrutura não residencial permanente degradada ou inacabada | V00058 — Domicílios Particulares Improvisados Ocupados, Tipo de espécie é veículo (carro, caminhão, trailer, barco </a:t>
                      </a:r>
                      <a:r>
                        <a:rPr lang="pt-BR" sz="6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etc</a:t>
                      </a: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 | V00002 — Domicílios Particulares Improvisados Ocupados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388737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8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983697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650,1%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92,46%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Fora do histograma: 96.260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96.260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92,46%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763216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Centro-Oeste (13,1%); a menor, a do Sul (3,4%). Nos setores de FCU, 11,8% têm valor acima de zero; nos demais, 6,6%. Entre os municípios, vai de 0,0% (Arara) a 29,4% (São Luís).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DS22-2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moradias convencionais (casa, casa de vila/condomínio, apartamento)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073528"/>
              </p:ext>
            </p:extLst>
          </p:nvPr>
        </p:nvGraphicFramePr>
        <p:xfrm>
          <a:off x="777240" y="1737360"/>
          <a:ext cx="3429000" cy="261556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1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— Domicílios Particulares Permanentes Ocupados, Tipo de espécie é casa | V00048 — Domicílios Particulares Permanentes Ocupados, Tipo de espécie é casa de vila ou em condomínio | V00049 — Domicílios Particulares Permanentes Ocupados, Tipo de espécie é apartamento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623181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978271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99,10%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98,40%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-12,34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Pelo menos metade dos setores tem 100,00%; o P10 é 98,40%, e 0,01%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41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70635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114896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6395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Centro-Oeste (100,00%); a menor, a do Centro-Oeste (100,00%). Nos setores de FCU a mediana é 100,00%; nos demais, 100,00%. Entre os municípios, a mediana vai de 99,55% (São Luís) a 100,00% (Água Preta).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DS23-2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não convencional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moradias não convencionais (cortiço, maloca, estrutura degradada)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179132"/>
              </p:ext>
            </p:extLst>
          </p:nvPr>
        </p:nvGraphicFramePr>
        <p:xfrm>
          <a:off x="777240" y="1737360"/>
          <a:ext cx="3429000" cy="298742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70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— Domicílios Particulares Permanentes Ocupados, Tipo de espécie é habitação em casa de cômodos ou cortiço | V00051 — Domicílios Particulares Permanentes Ocupados, Tipo de espécie é habitação indígena sem paredes ou maloca | V00052 — Domicílios Particulares Permanentes Ocupados, Tipo de espécie é estrutura residencial permanente degradada ou inacabada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995037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098965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666,9%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92,95%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Fora do histograma: 96.771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96.771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92,95%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não convencional: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não convencional: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600756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(12,6%); a menor, a do Sul (3,0%). Nos setores de FCU, 10,9% têm valor acima de zero; nos demais, 6,2%. Entre os municípios, vai de 0,0% (Arara) a 29,0% (São Luís).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DS24-2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do tipo apartamento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285723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V00049 — Domicílios Particulares Permanentes Ocupados, Tipo de espécie é apartamento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82096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95.005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9.103 (8,74%)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31,48%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40,48%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128,6%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99,52%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38,52%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5,21%; um em cada quatro tem mais de 76,09%. Entre o P10 e o P90, vai de 0,00% a 99,52%; 38,52%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41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70635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304182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17.660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56.971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6.511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8.557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17.139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77.866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6395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(15,83%); a menor, a do Nordeste (1,96%). Nos setores de FCU a mediana é 0,00%; nos demais, 11,94%. Entre os municípios, a mediana vai de 0,00% (Ananindeua) a 64,73% (Porto Alegre).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DS25-2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do tipo casa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241673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— Domicílios Particulares Permanentes Ocupados, Tipo de espécie é casa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14478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99.642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4.466 (4,29%)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69,47%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37,97%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38,38%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91,44%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99,38%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91,44%; um em cada quatro tem mais de 99,38%. Entre o P10 e o P90, vai de 0,00% a 100,00%; 10,11%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265187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5.826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89,43%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18.873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94,18%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58.935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91,04%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83,55%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92,31%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19.429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98,68%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80.213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85,87%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Nordeste (94,18%); a menor, a do Sul (83,55%). Nos setores de FCU a mediana é 98,68%; nos demais, 85,87%. Entre os municípios, a mediana vai de 43,57% (São Caetano do Sul) a 100,00% (Água Preta).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DS26-2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de vila/condomínio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do tipo casa de vila ou em condomínio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227049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V00048 — Domicílios Particulares Permanentes Ocupados, Tipo de espécie é casa de vila ou em condomínio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91488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91.304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12.804 (12,30%)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12,97%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293,1%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70,74%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 Fora do histograma: 64.589 setores com zero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26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64.589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70,74% dos setores têm valor zero; um em cada quatro tem mais de 2,19%, e um em cada dez, mais de 12,14%.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de vila/condomínio: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de vila/condomínio: % de setores com valor acima de zero e média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Barras e pontos: % de setores com valor acima 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pt-BR" sz="1050" noProof="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414159"/>
              </p:ext>
            </p:extLst>
          </p:nvPr>
        </p:nvGraphicFramePr>
        <p:xfrm>
          <a:off x="7863840" y="1700784"/>
          <a:ext cx="3639312" cy="197510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16.901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54.803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6.223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8.383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16.793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74.511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(66,2%); a menor, a do Centro-Oeste (22,2%). Nos setores de FCU, 31,5% têm valor acima de zero; nos demais, 28,8%. Entre os municípios, vai de 0,0% (Arara) a 76,9% (Natal).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DS27-2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Crianças 0–4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crianças de 0 a 4 anos na população residente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248703"/>
              </p:ext>
            </p:extLst>
          </p:nvPr>
        </p:nvGraphicFramePr>
        <p:xfrm>
          <a:off x="777240" y="1737360"/>
          <a:ext cx="3429000" cy="216623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— 0 a 4 anos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427839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102.288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 (1,75%)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6,72%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5,21%; um em cada quatro tem mais de 6,72%. Entre o P10 e o P90, vai de 2,81% a 8,26%; 0,52%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Crianças 0–4: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Crianças 0–4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048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51355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844130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19.303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60.600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82.975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17115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Norte (6,32%); a menor, a do Sul (4,65%). Nos setores de FCU a mediana é 6,81%; nos demais, 4,85%. Entre os municípios, a mediana vai de 4,14% (Porto Alegre) a 10,84% (Portel).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DS28-2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População 0–14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com menos de 15 anos na população residente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850354"/>
              </p:ext>
            </p:extLst>
          </p:nvPr>
        </p:nvGraphicFramePr>
        <p:xfrm>
          <a:off x="777240" y="1737360"/>
          <a:ext cx="3429000" cy="230568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— 0 a 4 anos | V01032 — 5 a 9 anos | V01033 — 10 a 14 anos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328795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9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855340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103.850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258 (0,25%)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13,42%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24,49%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48,78%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28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17,19%; um em cada quatro tem mais de 20,98%. Entre o P10 e o P90, vai de 10,08% a 24,49%; 0,50%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População 0–14: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População 0–14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901379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20,64%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18,25%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16,44%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21,93%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84.410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Norte (20,64%); a menor, a do Sul (15,85%). Nos setores de FCU a mediana é 21,93%; nos demais, 16,07%. Entre os municípios, a mediana vai de 13,28% (São Paulo das Missões) a 28,57% (Autazes).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DS29-2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de 60 anos ou mais na população residente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767688"/>
              </p:ext>
            </p:extLst>
          </p:nvPr>
        </p:nvGraphicFramePr>
        <p:xfrm>
          <a:off x="777240" y="1737360"/>
          <a:ext cx="3429000" cy="230568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328795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</a:t>
            </a:r>
            <a:endParaRPr lang="pt-BR" sz="850" noProof="0" dirty="0"/>
          </a:p>
        </p:txBody>
      </p:sp>
      <p:graphicFrame>
        <p:nvGraphicFramePr>
          <p:cNvPr id="10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240632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103.823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285 (0,27%)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85,71%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16,57%; um em cada quatro tem mais de 23,07%. Entre o P10 e o P90, vai de 7,20% a 29,26%; 0,30%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072654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18,25%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7.207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19,34%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84.454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18,49%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(19,34%); a menor, a do Norte (11,18%). Nos setores de FCU a mediana é 10,55%; nos demais, 18,49%. Entre os municípios, a mediana vai de 7,30% (Portel) a 29,40% (São Paulo das Missões).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DS30-2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 Populacional: 60+ por 100 menores de 15 anos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305584"/>
              </p:ext>
            </p:extLst>
          </p:nvPr>
        </p:nvGraphicFramePr>
        <p:xfrm>
          <a:off x="777240" y="1737360"/>
          <a:ext cx="3429000" cy="216623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— 0 a 4 anos | V01032 — 5 a 9 anos | V01033 — 10 a 14 anos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100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189349"/>
            <a:ext cx="3429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zero; sem corte em [0, 1] (não é proporção); escala ×100</a:t>
            </a:r>
            <a:endParaRPr lang="pt-BR" sz="850" noProof="0" dirty="0"/>
          </a:p>
        </p:txBody>
      </p:sp>
      <p:graphicFrame>
        <p:nvGraphicFramePr>
          <p:cNvPr id="10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248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103.116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992 (0,95%)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134,66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141,59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30,77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53,85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169,57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275,00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4.750,00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Eixo até o P99 (633,33); 1.027 setores acima dele ficam fora do desenho, não da tabel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30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(633,33); 1.027 setores acima dele ficam fora do desenho, não da tabela.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96,30; um em cada quatro tem mais de 169,57. Entre o P10 e o P90, vai de 30,77 a 275,00; 0,21%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605421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19.362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61.291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110,96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7.154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122,93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75,24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19.334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83.782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114,81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(122,93); a menor, a do Norte (53,55). Nos setores de FCU a mediana é 47,91; nos demais, 114,81. Entre os municípios, a mediana vai de 24,12 (Portel) a 217,46 (São Paulo das Missões).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DS31-2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idosa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Dependência de Idosos: 60+ por 100 pessoas de 15 a 59 anos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609446"/>
              </p:ext>
            </p:extLst>
          </p:nvPr>
        </p:nvGraphicFramePr>
        <p:xfrm>
          <a:off x="777240" y="1737360"/>
          <a:ext cx="3429000" cy="244513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V01034 — 15 a 19 anos | V01035 — 20 a 24 anos | V01036 — 25 a 29 anos | V01037 — 30 a 39 anos | V01038 — 40 a 49 anos | V01039 — 50 a 59 anos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100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68241"/>
            <a:ext cx="3429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numerador soma várias variáveis: a que estiver em sigilo conta como zero; sem corte em [0, 1] (não é proporção); escala ×100</a:t>
            </a:r>
            <a:endParaRPr lang="pt-BR" sz="850" noProof="0" dirty="0"/>
          </a:p>
        </p:txBody>
      </p:sp>
      <p:graphicFrame>
        <p:nvGraphicFramePr>
          <p:cNvPr id="10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654360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298 (0,29%)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36,77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1.000,00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 Eixo até o P99 (76,72); 1.038 setores acima dele ficam fora do desenho, não da tabel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(76,72); 1.038 setores acima dele ficam fora do desenho, não da tabela.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25,16; um em cada quatro tem mais de 36,77. Entre o P10 e o P90, vai de 10,35 a 49,66; 0,30%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idosa: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idosa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02085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21,50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20,43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84.441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(29,97); a menor, a do Norte (16,58). Nos setores de FCU a mediana é 15,67; nos demais, 28,39. Entre os municípios, a mediana vai de 11,86 (São José de Ribamar) a 50,58 (São Paulo das Missões).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DS32-2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 entre 60+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de 70+ entre os de 60+ (proxy de longevidade; NÃO é o LI, que exigiria a faixa 75+, inexistente nos agregados por setor)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902162"/>
              </p:ext>
            </p:extLst>
          </p:nvPr>
        </p:nvGraphicFramePr>
        <p:xfrm>
          <a:off x="777240" y="1737360"/>
          <a:ext cx="3429000" cy="202679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100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049903"/>
            <a:ext cx="3429000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corte em [0, 1] (não é proporção); escala ×100</a:t>
            </a:r>
            <a:endParaRPr lang="pt-BR" sz="850" noProof="0" dirty="0"/>
          </a:p>
        </p:txBody>
      </p:sp>
      <p:graphicFrame>
        <p:nvGraphicFramePr>
          <p:cNvPr id="10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875909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101.972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2.136 (2,05%)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42,86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Histograma nos setores com valor; tracejado = mediana.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42,86; um em cada quatro tem mais de 50,00. Entre o P10 e o P90, vai de 28,95 a 55,95; 0,31%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 entre 60+: por região, município e FCU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 entre 60+ em cada recorte, sozinho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Caixas sem os pontos extremos; traço vermelho = median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pt-BR" sz="1050" noProof="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033421"/>
              </p:ext>
            </p:extLst>
          </p:nvPr>
        </p:nvGraphicFramePr>
        <p:xfrm>
          <a:off x="7863840" y="1700784"/>
          <a:ext cx="3931920" cy="1975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38,46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19.113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41,84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60.602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43,79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9.326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18.631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36,26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83.341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44,32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(43,97); a menor, a do Norte (38,46). Nos setores de FCU a mediana é 36,26; nos demais, 44,32. Entre os municípios, a mediana vai de 36,21 (Manaus) a 55,77 (Arara).</a:t>
            </a:r>
            <a:endParaRPr lang="pt-BR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DS33-2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2b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 entre os indicadores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 da descritiva de cada indicador, as correlações: os componentes do IVS, cada tema e os 31 juntos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IVS-7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7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631539"/>
              </p:ext>
            </p:extLst>
          </p:nvPr>
        </p:nvGraphicFramePr>
        <p:xfrm>
          <a:off x="777240" y="1719072"/>
          <a:ext cx="10635385" cy="202577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inadequa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inadequa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7344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Analfabetismo 15+ e Cor/raça PPI (0,626). Correlação negativa mais forte: Renda média e Cor/raça PPI (-0,811).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IVS-7: mapa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7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401978"/>
              </p:ext>
            </p:extLst>
          </p:nvPr>
        </p:nvGraphicFramePr>
        <p:xfrm>
          <a:off x="777240" y="1719072"/>
          <a:ext cx="5532120" cy="219456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Lixo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 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 Renda média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 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4223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Analfabetismo 15+ e Cor/raça PPI (0,626). Correlação negativa mais forte: Renda média e Cor/raça PPI (-0,811).</a:t>
            </a:r>
            <a:endParaRPr lang="pt-BR" sz="1250" noProof="0" dirty="0"/>
          </a:p>
        </p:txBody>
      </p:sp>
      <p:pic>
        <p:nvPicPr>
          <p:cNvPr id="8" name="Image 0" descr="Correlação de Spearman; vermelho = positiva, verde = negativa.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vermelho = positiva, verde = negativa.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11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Correlação de Spearman; vermelho = positiva, verde = negativ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662" y="1673352"/>
            <a:ext cx="4440115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32520" y="1764792"/>
            <a:ext cx="267919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Sem banheiro e Banheiro graduado (1,000). A mais baixa: Lixo inadequado e Sem banheiro nem sanitário (0,064).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606247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vermelho = positiva, verde = negativa.</a:t>
            </a:r>
            <a:endParaRPr lang="pt-BR" sz="1050" noProof="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7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611645"/>
              </p:ext>
            </p:extLst>
          </p:nvPr>
        </p:nvGraphicFramePr>
        <p:xfrm>
          <a:off x="777240" y="1719072"/>
          <a:ext cx="5532120" cy="219456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Renda média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Renda sem o extremo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 Renda (mediana mun.)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 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 Responsável mulher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4223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Analfabetismo 15+ e Cor/raça PPI (0,626). Correlação negativa mais forte: Renda sem o extremo e Cor/raça PPI (-0,811).</a:t>
            </a:r>
            <a:endParaRPr lang="pt-BR" sz="1250" noProof="0" dirty="0"/>
          </a:p>
        </p:txBody>
      </p:sp>
      <p:pic>
        <p:nvPicPr>
          <p:cNvPr id="8" name="Image 0" descr="Correlação de Spearman; vermelho = positiva, verde = negativa.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66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vermelho = positiva, verde = negativa.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7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624371"/>
              </p:ext>
            </p:extLst>
          </p:nvPr>
        </p:nvGraphicFramePr>
        <p:xfrm>
          <a:off x="777240" y="1719072"/>
          <a:ext cx="5532120" cy="247954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Domicílio improvisado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Habitação precária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Moradia convencional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Moradia não convencional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 Apartamento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 Casa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 Casa de vila/condomínio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427220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Habitação precária e Moradia não convencional (0,965). Correlação negativa mais forte: Apartamento e Casa (-0,902).</a:t>
            </a:r>
            <a:endParaRPr lang="pt-BR" sz="1250" noProof="0" dirty="0"/>
          </a:p>
        </p:txBody>
      </p:sp>
      <p:pic>
        <p:nvPicPr>
          <p:cNvPr id="8" name="Image 0" descr="Correlação de Spearman; vermelho = positiva, verde = negativa.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vermelho = positiva, verde = negativa.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6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557207"/>
              </p:ext>
            </p:extLst>
          </p:nvPr>
        </p:nvGraphicFramePr>
        <p:xfrm>
          <a:off x="777240" y="1719072"/>
          <a:ext cx="4983480" cy="2062734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Crianças 0–4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População 0–14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Pessoas 60+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Índice de envelhecimento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 Dependência idosa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 70+ entre 60+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010406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Pessoas 60+ e Dependência idosa (0,996). Correlação negativa mais forte: População 0–14 e Índice de envelhecimento (-0,917).</a:t>
            </a:r>
            <a:endParaRPr lang="pt-BR" sz="1250" noProof="0" dirty="0"/>
          </a:p>
        </p:txBody>
      </p:sp>
      <p:pic>
        <p:nvPicPr>
          <p:cNvPr id="8" name="Image 0" descr="Correlação de Spearman; vermelho = positiva, verde = negativa.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68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vermelho = positiva, verde = negativa.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31 indicadores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nos 104.108 setores (pares com valor) · 31 indicadores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Correlação de Spearman; vermelho = positiva, verde = negativ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29" y="1673352"/>
            <a:ext cx="4425783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32520" y="1764792"/>
            <a:ext cx="267919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Sem banheiro e Banheiro graduado (1,000). Correlação negativa mais forte: População 0–14 e Índice de envelhecimento (-0,917).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606247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vermelho = positiva, verde = negativa.</a:t>
            </a:r>
            <a:endParaRPr lang="pt-BR" sz="1050" noProof="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 da análise fatorial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lixo sem · banheiro graduado · rotação </a:t>
            </a:r>
            <a:r>
              <a:rPr lang="pt-BR" sz="14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pesos 60/40 · normalização municipal. 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da fatorial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432894"/>
              </p:ext>
            </p:extLst>
          </p:nvPr>
        </p:nvGraphicFramePr>
        <p:xfrm>
          <a:off x="777240" y="1719072"/>
          <a:ext cx="5303520" cy="21945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14.292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37960" y="1719072"/>
            <a:ext cx="487375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73.878 setores: os 104.108 da descritiva menos 30.230 com algum dos sete componentes faltante. Um setor sai se faltar qualquer um deles (exclusão por lista).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de correlação de entrada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73.878 setores 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786931"/>
              </p:ext>
            </p:extLst>
          </p:nvPr>
        </p:nvGraphicFramePr>
        <p:xfrm>
          <a:off x="777240" y="1719072"/>
          <a:ext cx="10635385" cy="202577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inadequad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gradu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73449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fora da diagonal, em módulo, é 0,784, entre Renda (invertida) e Cor/raça PPI. A fatorial usa a correlação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dos dados à fatorial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46717"/>
              </p:ext>
            </p:extLst>
          </p:nvPr>
        </p:nvGraphicFramePr>
        <p:xfrm>
          <a:off x="777240" y="1719072"/>
          <a:ext cx="5486400" cy="274320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 (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qui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-quadrado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185.197,02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graus de liberdade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determinante de 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0,0815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paralela de Horn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explicada por 2 fatores (%)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60,82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720840" y="1719072"/>
            <a:ext cx="46908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de 0,7807; Bartlett com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-quadrado de 185.197,02 e 21 graus de liberdade.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MSA e comunalidade por variável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117941"/>
              </p:ext>
            </p:extLst>
          </p:nvPr>
        </p:nvGraphicFramePr>
        <p:xfrm>
          <a:off x="777240" y="1719072"/>
          <a:ext cx="6126480" cy="2194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(oblíqua)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60920" y="1719072"/>
            <a:ext cx="40507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MSA: Renda (invertida) (0,709). Menor comunalidade: Razão de moradores (0,375).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Autovalores e análise paralela de Horn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variáveis · 73.878 setores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091453"/>
              </p:ext>
            </p:extLst>
          </p:nvPr>
        </p:nvGraphicFramePr>
        <p:xfrm>
          <a:off x="777240" y="1719072"/>
          <a:ext cx="5760720" cy="219456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de Horn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da variância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acumulado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3,186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1,071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60,82%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73,61%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10,18%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83,79%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8,64%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92,43%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97,52%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2,48%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4223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autovalores passam de 1 (critério de Kaiser) e também ficam acima da referência de Horn. Os dois primeiros componentes somam 60,82% da variância.</a:t>
            </a:r>
            <a:endParaRPr lang="pt-BR" sz="1250" noProof="0" dirty="0"/>
          </a:p>
        </p:txBody>
      </p:sp>
      <p:pic>
        <p:nvPicPr>
          <p:cNvPr id="8" name="Image 0" descr="Autovalores observados e a referência da análise paralela.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Autovalores observados e a referência da análise paralela.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fatores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933009"/>
              </p:ext>
            </p:extLst>
          </p:nvPr>
        </p:nvGraphicFramePr>
        <p:xfrm>
          <a:off x="777240" y="1719072"/>
          <a:ext cx="5303520" cy="10972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 de Kaiser (autovalor &gt; 1)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Análise paralela de Horn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Retidos na solução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37960" y="1719072"/>
            <a:ext cx="487375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fatores cada; a solução retém 2, que explicam 60,82% da variância.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sem rotação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820941"/>
              </p:ext>
            </p:extLst>
          </p:nvPr>
        </p:nvGraphicFramePr>
        <p:xfrm>
          <a:off x="777240" y="1719072"/>
          <a:ext cx="4572000" cy="2194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-0,274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806440" y="1719072"/>
            <a:ext cx="56052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(invertida). Maior carga em F2: Água inadequada.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043429"/>
              </p:ext>
            </p:extLst>
          </p:nvPr>
        </p:nvGraphicFramePr>
        <p:xfrm>
          <a:off x="777240" y="1719072"/>
          <a:ext cx="4572000" cy="2194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806440" y="1719072"/>
            <a:ext cx="56052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(invertida). Maior carga em F2: Água inadequada.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matriz padrão e matriz estrutura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000102"/>
              </p:ext>
            </p:extLst>
          </p:nvPr>
        </p:nvGraphicFramePr>
        <p:xfrm>
          <a:off x="777240" y="1719072"/>
          <a:ext cx="5852160" cy="21945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42232"/>
            <a:ext cx="576072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padrão dá o efeito próprio de cada fator; a estrutura, a correlação da variável com o fator. As duas são reportadas.</a:t>
            </a:r>
            <a:endParaRPr lang="pt-BR" sz="1250" noProof="0" dirty="0"/>
          </a:p>
        </p:txBody>
      </p:sp>
      <p:pic>
        <p:nvPicPr>
          <p:cNvPr id="8" name="Image 0" descr="Mapa das cargas da referência.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das cargas da referência.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entre os fatores (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569589"/>
              </p:ext>
            </p:extLst>
          </p:nvPr>
        </p:nvGraphicFramePr>
        <p:xfrm>
          <a:off x="777240" y="1719072"/>
          <a:ext cx="3657600" cy="8229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892040" y="1719072"/>
            <a:ext cx="65196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F1 e F2 têm correlação de 0,411.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pesos do índice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935936"/>
              </p:ext>
            </p:extLst>
          </p:nvPr>
        </p:nvGraphicFramePr>
        <p:xfrm>
          <a:off x="777240" y="1719072"/>
          <a:ext cx="7863840" cy="202577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7,78%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7,46%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17,36%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19,28%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7344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dimensões pesam 60% e 40%; o maior peso no índice é de Renda (invertida) (19,28%).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referência proposta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856934"/>
              </p:ext>
            </p:extLst>
          </p:nvPr>
        </p:nvGraphicFramePr>
        <p:xfrm>
          <a:off x="777240" y="1719072"/>
          <a:ext cx="3840480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Estatística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0,3338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0,2313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0,2832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0,9120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23951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índice até 0,3306; entre o P10 e o P90, vai de 0,2313 a 0,4311. As regiões estão no anexo (aba Fatorial).</a:t>
            </a:r>
            <a:endParaRPr lang="pt-BR" sz="1250" noProof="0" dirty="0"/>
          </a:p>
        </p:txBody>
      </p:sp>
      <p:pic>
        <p:nvPicPr>
          <p:cNvPr id="8" name="Image 0" descr="Histograma do índice, colorido pela faixa.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colorido pela faixa.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faixas, pelas duas regras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715223"/>
              </p:ext>
            </p:extLst>
          </p:nvPr>
        </p:nvGraphicFramePr>
        <p:xfrm>
          <a:off x="777240" y="1719072"/>
          <a:ext cx="5303520" cy="2743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21.270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31.052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42,03%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17.622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23,85%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3.933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24,97%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25,03%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37960" y="1719072"/>
            <a:ext cx="487375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3.933 setores (5,32%) ficam na faixa muito elevada; pelos quartis, cada faixa tem cerca de um quarto.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contra as favelas (FCU)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475444"/>
              </p:ext>
            </p:extLst>
          </p:nvPr>
        </p:nvGraphicFramePr>
        <p:xfrm>
          <a:off x="777240" y="1719072"/>
          <a:ext cx="4754880" cy="10972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044952"/>
            <a:ext cx="576072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da AUC municipal: ao menos 30 setores de FCU e fora.</a:t>
            </a:r>
            <a:endParaRPr lang="pt-BR" sz="1250" noProof="0" dirty="0"/>
          </a:p>
        </p:txBody>
      </p:sp>
      <p:pic>
        <p:nvPicPr>
          <p:cNvPr id="8" name="Image 0" descr="Curva ROC do índice contra FCU.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36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FCU.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por município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807326"/>
              </p:ext>
            </p:extLst>
          </p:nvPr>
        </p:nvGraphicFramePr>
        <p:xfrm>
          <a:off x="777240" y="1719072"/>
          <a:ext cx="4754880" cy="16459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com AUC calculada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Entram na 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Menor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0,6037 (Duque de Caxias)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0,9544 (Campinas)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9359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na mediana só os municípios com ao menos 30 setores de FCU e 30 fora.</a:t>
            </a:r>
            <a:endParaRPr lang="pt-BR" sz="1250" noProof="0" dirty="0"/>
          </a:p>
        </p:txBody>
      </p:sp>
      <p:pic>
        <p:nvPicPr>
          <p:cNvPr id="8" name="Image 0" descr="Os municípios que entram na mediana; tracejado = mediana. A lista completa está no anexo.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que entram na mediana; tracejado = mediana. A lista completa está no anexo.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Elegibilidade pelos critérios do NB05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188564"/>
              </p:ext>
            </p:extLst>
          </p:nvPr>
        </p:nvGraphicFramePr>
        <p:xfrm>
          <a:off x="777240" y="1719072"/>
          <a:ext cx="7863840" cy="2279904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(socioeconômica) (%)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22757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critérios foram fixados antes de rodar a grade do NB05.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Demandas da fatorial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S0: IVS-7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variáveis · 87.545 setores · referência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427867"/>
              </p:ext>
            </p:extLst>
          </p:nvPr>
        </p:nvGraphicFramePr>
        <p:xfrm>
          <a:off x="777240" y="1719072"/>
          <a:ext cx="4297680" cy="1901317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360351"/>
              </p:ext>
            </p:extLst>
          </p:nvPr>
        </p:nvGraphicFramePr>
        <p:xfrm>
          <a:off x="5623560" y="1719072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50.598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77240" y="3803269"/>
            <a:ext cx="429768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7 variáveis: 87.545 dos 104.108. Nenhum setor do S0 sai: as variáveis deste cenário estão todas no S0.</a:t>
            </a:r>
            <a:endParaRPr lang="pt-BR" sz="1250" noProof="0" dirty="0"/>
          </a:p>
        </p:txBody>
      </p:sp>
      <p:sp>
        <p:nvSpPr>
          <p:cNvPr id="9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S1: IVS-6 (IVS-7 sem lixo)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variáveis · 87.545 setores · demanda 10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437443"/>
              </p:ext>
            </p:extLst>
          </p:nvPr>
        </p:nvGraphicFramePr>
        <p:xfrm>
          <a:off x="777240" y="1719072"/>
          <a:ext cx="4297680" cy="166268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622235"/>
              </p:ext>
            </p:extLst>
          </p:nvPr>
        </p:nvGraphicFramePr>
        <p:xfrm>
          <a:off x="5623560" y="1719072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50.598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77240" y="3564636"/>
            <a:ext cx="429768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6 variáveis: 87.545 dos 104.108. Nenhum setor do S0 sai: as variáveis deste cenário estão todas no S0.</a:t>
            </a:r>
            <a:endParaRPr lang="pt-BR" sz="1250" noProof="0" dirty="0"/>
          </a:p>
        </p:txBody>
      </p:sp>
      <p:sp>
        <p:nvSpPr>
          <p:cNvPr id="9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S2: IVS-7 + não chega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variáveis · 78.256 setores · demanda 5, 7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57432"/>
              </p:ext>
            </p:extLst>
          </p:nvPr>
        </p:nvGraphicFramePr>
        <p:xfrm>
          <a:off x="777240" y="1719072"/>
          <a:ext cx="4297680" cy="21399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126067"/>
              </p:ext>
            </p:extLst>
          </p:nvPr>
        </p:nvGraphicFramePr>
        <p:xfrm>
          <a:off x="5623560" y="1719072"/>
          <a:ext cx="5029200" cy="70815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642833"/>
              </p:ext>
            </p:extLst>
          </p:nvPr>
        </p:nvGraphicFramePr>
        <p:xfrm>
          <a:off x="5623560" y="2655824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4.205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14.083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47.308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5.167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7.493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041902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8 variáveis: 78.256 dos 104.108. Em relação ao S0, saem 9.289: os que não têm alguma das variáveis novas. Um setor pode faltar em mais de uma; a coluna "só por ela" conta os que saem por uma única.</a:t>
            </a:r>
            <a:endParaRPr lang="pt-BR" sz="1250" noProof="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S3: IVS-7 + sem canalização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variáveis · 87.512 setores · demanda 7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954298"/>
              </p:ext>
            </p:extLst>
          </p:nvPr>
        </p:nvGraphicFramePr>
        <p:xfrm>
          <a:off x="777240" y="1719072"/>
          <a:ext cx="4297680" cy="21399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839058"/>
              </p:ext>
            </p:extLst>
          </p:nvPr>
        </p:nvGraphicFramePr>
        <p:xfrm>
          <a:off x="5623560" y="1719072"/>
          <a:ext cx="5029200" cy="70815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732301"/>
              </p:ext>
            </p:extLst>
          </p:nvPr>
        </p:nvGraphicFramePr>
        <p:xfrm>
          <a:off x="5623560" y="2655824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5.403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50.580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041902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8 variáveis: 87.512 dos 104.108. Em relação ao S0, saem 33: os que não têm alguma das variáveis novas. Um setor pode faltar em mais de uma; a coluna "só por ela" conta os que saem por uma única.</a:t>
            </a:r>
            <a:endParaRPr lang="pt-BR" sz="1250" noProof="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S4: IVS-7 + sem banheiro (V00495)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variáveis · 75.955 setores · demanda 6, 7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319082"/>
              </p:ext>
            </p:extLst>
          </p:nvPr>
        </p:nvGraphicFramePr>
        <p:xfrm>
          <a:off x="777240" y="1719072"/>
          <a:ext cx="4297680" cy="21399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791756"/>
              </p:ext>
            </p:extLst>
          </p:nvPr>
        </p:nvGraphicFramePr>
        <p:xfrm>
          <a:off x="5623560" y="1719072"/>
          <a:ext cx="5029200" cy="70815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4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270828"/>
              </p:ext>
            </p:extLst>
          </p:nvPr>
        </p:nvGraphicFramePr>
        <p:xfrm>
          <a:off x="5623560" y="2655824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3.961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14.171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45.680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4.761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7.382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041902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8 variáveis: 75.955 dos 104.108. Em relação ao S0, saem 11.590: os que não têm alguma das variáveis novas. Um setor pode faltar em mais de uma; a coluna "só por ela" conta os que saem por uma única.</a:t>
            </a:r>
            <a:endParaRPr lang="pt-BR" sz="1250" noProof="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S5: IVS-7 + não convencional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variáveis · 87.545 setores · demanda 9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735644"/>
              </p:ext>
            </p:extLst>
          </p:nvPr>
        </p:nvGraphicFramePr>
        <p:xfrm>
          <a:off x="777240" y="1719072"/>
          <a:ext cx="4297680" cy="21399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211752"/>
              </p:ext>
            </p:extLst>
          </p:nvPr>
        </p:nvGraphicFramePr>
        <p:xfrm>
          <a:off x="5623560" y="1719072"/>
          <a:ext cx="5029200" cy="70815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078598"/>
              </p:ext>
            </p:extLst>
          </p:nvPr>
        </p:nvGraphicFramePr>
        <p:xfrm>
          <a:off x="5623560" y="2655824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50.598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041902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8 variáveis: 87.545 dos 104.108. Nenhum setor do S0 sai: a variável nova não falta em nenhum deles.</a:t>
            </a:r>
            <a:endParaRPr lang="pt-BR" sz="1250" noProof="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S6: IVS-7 + as quatro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variáveis · 69.458 setores · demanda 8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438977"/>
              </p:ext>
            </p:extLst>
          </p:nvPr>
        </p:nvGraphicFramePr>
        <p:xfrm>
          <a:off x="777240" y="1719072"/>
          <a:ext cx="4297680" cy="2855849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49109"/>
              </p:ext>
            </p:extLst>
          </p:nvPr>
        </p:nvGraphicFramePr>
        <p:xfrm>
          <a:off x="5623560" y="1719072"/>
          <a:ext cx="5029200" cy="1424051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6.469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8.771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18.087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284251"/>
              </p:ext>
            </p:extLst>
          </p:nvPr>
        </p:nvGraphicFramePr>
        <p:xfrm>
          <a:off x="5623560" y="3371723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3.154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11.636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43.229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4.548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6.891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757801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11 variáveis: 69.458 dos 104.108. Em relação ao S0, saem 18.087: os que não têm alguma das variáveis novas. Um setor pode faltar em mais de uma; a coluna "só por ela" conta os que saem por uma única.</a:t>
            </a:r>
            <a:endParaRPr lang="pt-BR" sz="1250" noProof="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S7: S6 sem lixo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variáveis · 69.458 setores · demanda 8, 10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817508"/>
              </p:ext>
            </p:extLst>
          </p:nvPr>
        </p:nvGraphicFramePr>
        <p:xfrm>
          <a:off x="777240" y="1719072"/>
          <a:ext cx="4297680" cy="261721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646737"/>
              </p:ext>
            </p:extLst>
          </p:nvPr>
        </p:nvGraphicFramePr>
        <p:xfrm>
          <a:off x="5623560" y="1719072"/>
          <a:ext cx="5029200" cy="1424051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6.469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8.771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18.087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978433"/>
              </p:ext>
            </p:extLst>
          </p:nvPr>
        </p:nvGraphicFramePr>
        <p:xfrm>
          <a:off x="5623560" y="3371723"/>
          <a:ext cx="3291840" cy="142405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3.154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11.636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43.229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4.548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6.891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519168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10 variáveis: 69.458 dos 104.108. Em relação ao S0, saem 18.087: os que não têm alguma das variáveis novas. Um setor pode faltar em mais de uma; a coluna "só por ela" conta os que saem por uma única.</a:t>
            </a:r>
            <a:endParaRPr lang="pt-BR" sz="1250" noProof="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variantes dos cenários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Mesmos setores do cenário de origem; muda a renda ou a escala (postos dentro do município)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565744"/>
              </p:ext>
            </p:extLst>
          </p:nvPr>
        </p:nvGraphicFramePr>
        <p:xfrm>
          <a:off x="777240" y="1719072"/>
          <a:ext cx="10634472" cy="197510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Variante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renda sem o setor 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renda com a mediana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S0_postos_mun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postos dentro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S1_postos_mun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IVS-6 (IVS-7 sem lixo), postos dentro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renda sem o setor 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renda com a mediana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S6_postos_mun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postos dentro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2277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variantes de renda trocam só o setor extremo de Belo Horizonte; a de postos usa os mesmos setores.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1: o efeito das três rendas na fatorial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coluna de renda com a mediana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611359"/>
              </p:ext>
            </p:extLst>
          </p:nvPr>
        </p:nvGraphicFramePr>
        <p:xfrm>
          <a:off x="777240" y="1719072"/>
          <a:ext cx="10634472" cy="128625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 (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renda sem o setor 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renda com a mediana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10972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peso de F1 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é 74,00% nas três rendas (igual até a segunda casa): a troca afeta um setor só.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3: sem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sem e com rotação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fatorial sem </a:t>
            </a: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sem e com rotação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357323"/>
              </p:ext>
            </p:extLst>
          </p:nvPr>
        </p:nvGraphicFramePr>
        <p:xfrm>
          <a:off x="777240" y="1719072"/>
          <a:ext cx="10607040" cy="197510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 (S0)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rot.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rot.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-0,373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2277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soluções lado a lado no S0 (IVS-7, NB04); os pesos de cada rotação estão no DM04 e no FP09.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5: o perfil dos setores com e sem "água não chega"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 "não chega"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863730"/>
              </p:ext>
            </p:extLst>
          </p:nvPr>
        </p:nvGraphicFramePr>
        <p:xfrm>
          <a:off x="777240" y="1719072"/>
          <a:ext cx="7863840" cy="197510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= 0 (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89.212)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 0 (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5.190)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0,0532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0,5337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0,0968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2,6878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2,8880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2.830,52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1.526,40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0,2370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2277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(a), contra as outras categorias de canalização, e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), contra o IVS-7: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está no DM06.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6: o "sem banheiro" na fatorial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644122"/>
              </p:ext>
            </p:extLst>
          </p:nvPr>
        </p:nvGraphicFramePr>
        <p:xfrm>
          <a:off x="777240" y="1719072"/>
          <a:ext cx="9418320" cy="74066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Perdidos 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vs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banheiro (V00495)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688336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 usa a V00495. No NB05, as três versões do banheiro entram na grade (banheiro fora: 108 especificações, 48 elegíveis; banheiro graduado: 108 especificações, 48 elegíveis; banheiro v00495: 108 especificações, 96 elegíveis) e o graduado vai para a referência proposta.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7: canalização e sem banheiro, uma por vez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830160"/>
              </p:ext>
            </p:extLst>
          </p:nvPr>
        </p:nvGraphicFramePr>
        <p:xfrm>
          <a:off x="777240" y="1719072"/>
          <a:ext cx="9692640" cy="12344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chega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58,51%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canalização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59,24%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banheiro (V00495)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56,37%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18211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cenário acrescenta uma variável ao IVS-7 (S0) e perde os setores sem ela.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8: tudo isso junto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191355"/>
              </p:ext>
            </p:extLst>
          </p:nvPr>
        </p:nvGraphicFramePr>
        <p:xfrm>
          <a:off x="777240" y="1719072"/>
          <a:ext cx="10058400" cy="219151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sem lixo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renda sem o setor 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renda com a mediana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S6_postos_mun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postos dentro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48,33%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39184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S6, Kaiser e Horn indicam 4 fatores cada; a solução fica com 2 em todos os cenários.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9: a moradia não convencional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526704"/>
              </p:ext>
            </p:extLst>
          </p:nvPr>
        </p:nvGraphicFramePr>
        <p:xfrm>
          <a:off x="777240" y="1719072"/>
          <a:ext cx="9235440" cy="98755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convencional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54,45%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935224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diagnóstico da variável (MSA, comunalidade, % de zeros) está no DM10.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10: testar o lixo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01100"/>
              </p:ext>
            </p:extLst>
          </p:nvPr>
        </p:nvGraphicFramePr>
        <p:xfrm>
          <a:off x="777240" y="1719072"/>
          <a:ext cx="10634472" cy="137337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(Kaiser)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(Horn)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Variância,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forma fator próprio (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IVS-6 (IVS-7 sem lixo)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sem lixo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321050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lixo (S0), Kaiser e Horn indicam 2 fatores cada, e o lixo forma fator próprio 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Sem o lixo (S1), indicam 1 fator cada.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11: as duas rotações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352609"/>
              </p:ext>
            </p:extLst>
          </p:nvPr>
        </p:nvGraphicFramePr>
        <p:xfrm>
          <a:off x="777240" y="1719072"/>
          <a:ext cx="10634472" cy="320954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F1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F2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75,89%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24,11%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26,00%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74,69%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25,31%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73,40%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26,60%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77,17%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22,83%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65,01%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34,99%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65,82%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34,18%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59,64%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40,36%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71,15%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28,85%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56,45%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43,55%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55,48%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44,52%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53,82%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46,18%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15721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reportada pelas duas matrizes (padrão e estrutura);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só existe na oblíqua.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contra FCU, cenário a cenário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 derivado das perguntas em aberto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186472"/>
              </p:ext>
            </p:extLst>
          </p:nvPr>
        </p:nvGraphicFramePr>
        <p:xfrm>
          <a:off x="777240" y="1719072"/>
          <a:ext cx="10634472" cy="356247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indice_01 (pesos </a:t>
                      </a:r>
                      <a:r>
                        <a:rPr lang="pt-BR" sz="8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invertida sozinha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 simples de postos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0,8707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0,8394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S0_renda_sem_extremo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S0_renda_mediana_mun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S0_postos_mun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S1_postos_mun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S6_renda_sem_extremo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S6_renda_mediana_mun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S6_postos_mun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0,8651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51014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contra os setores de FCU: o índice, a renda invertida sozinha e a média simples de postos.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sozinha contra o índice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649193"/>
              </p:ext>
            </p:extLst>
          </p:nvPr>
        </p:nvGraphicFramePr>
        <p:xfrm>
          <a:off x="777240" y="1719072"/>
          <a:ext cx="6217920" cy="246888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 (referência proposta)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global: índice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global: renda sozinha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0,8900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global: média de postos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município: índice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município: renda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nos estratos de renda: índice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0,7062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nos estratos de renda: renda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0,5900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Queda da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deviance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ao somar o índice à renda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135,45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do índice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41655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nenhuma das 192 especificações avaliadas o índice supera a renda sozinha na AUC global.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FP13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pt-BR" sz="5400" noProof="0" dirty="0"/>
          </a:p>
        </p:txBody>
      </p:sp>
      <p:sp>
        <p:nvSpPr>
          <p:cNvPr id="3" name="Text 1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versões da análise fatorial</a:t>
            </a:r>
            <a:endParaRPr lang="pt-BR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× lixo × água canalizada × banheiro × moradia, todas com </a:t>
            </a:r>
            <a:r>
              <a:rPr lang="pt-BR" sz="14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pesos 60/40 e normalização municipal: quem passa nos critérios e o que muda de um eixo para outro</a:t>
            </a:r>
            <a:endParaRPr lang="pt-BR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V001 a V108.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48078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fixo.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as versões usam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pesos 60/40 e normalização municipal, com 2 fatores. Muda só o que entra na fatorial.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577084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Amostra própria.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fatorial roda nos setores que têm todas as variáveis da versão.</a:t>
            </a:r>
            <a:endParaRPr lang="pt-BR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3006090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Amostra comum.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comparações entre versões usam os 67.981 setores que têm as variáveis de todas as 108.</a:t>
            </a:r>
            <a:endParaRPr lang="pt-BR" sz="1250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3435096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Critérios. F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ixados antes: KMO ≥ 0,70; MSA ≥ 0,50; comunalidade ≥ 0,30; carga ≥ 0,40.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cinco eixos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2 × 3 × 3 × 2 = 108 versões, de 6 a 10 variáveis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742053"/>
              </p:ext>
            </p:extLst>
          </p:nvPr>
        </p:nvGraphicFramePr>
        <p:xfrm>
          <a:off x="777240" y="1719072"/>
          <a:ext cx="10634472" cy="1517523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Eixo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Opções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Nº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 · sem extremo · com 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 · sem lixo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a inadequada · + não chega · + sem canalização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 · + sem banheiro (V00495) · + 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 · + não convencional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437763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Fixas em todas: água inadequada, esgoto, razão de moradores, analfabetismo, renda e cor/raça. "Não chega" e "sem canalização" não entram juntas: uma contém a outra.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própria, por opção de cada eixo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968516"/>
              </p:ext>
            </p:extLst>
          </p:nvPr>
        </p:nvGraphicFramePr>
        <p:xfrm>
          <a:off x="777240" y="1719072"/>
          <a:ext cx="10634472" cy="3116199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Eixo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Opção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Menor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lixo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a inadequada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69.480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69.479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03643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versão tem de 68.000 a 87.545 setores; a amostra comum às 108 tem 67.981.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de uma vez: quem passa nos critérios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das 108 passam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Cada célula é uma versão; abaixo do código, &quot;passa&quot; ou o primeiro critério que falha (comun. = comunalidade &lt; 0,30)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73352"/>
            <a:ext cx="10634472" cy="3378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766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célula é uma versão; abaixo do código, "passa" ou o primeiro critério que falha (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= comunalidade &lt; 0,30).</a:t>
            </a:r>
            <a:endParaRPr lang="pt-BR" sz="105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574243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lixo passam 3; sem lixo, 21.</a:t>
            </a:r>
            <a:endParaRPr lang="pt-BR" sz="1250" noProof="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VP05</a:t>
            </a:r>
            <a:endParaRPr lang="pt-BR" sz="1100" noProof="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C04D47D-FFB7-342C-9AB1-A6B6EDCE5598}"/>
              </a:ext>
            </a:extLst>
          </p:cNvPr>
          <p:cNvSpPr/>
          <p:nvPr/>
        </p:nvSpPr>
        <p:spPr>
          <a:xfrm>
            <a:off x="2290450" y="1070992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Critérios. F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ixados antes: KMO ≥ 0,70; MSA ≥ 0,50; comunalidade ≥ 0,30; carga ≥ 0,40.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de uma vez: KMO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0,765 a 0,814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Quanto mais escura a célula, maior o KM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73352"/>
            <a:ext cx="10634472" cy="3378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766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mais escura a célula, maior o KMO.</a:t>
            </a:r>
            <a:endParaRPr lang="pt-BR" sz="105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574243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KMO é o da V033 (0,8143); o menor, o da V048 (0,7653).</a:t>
            </a:r>
            <a:endParaRPr lang="pt-BR" sz="1250" noProof="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de uma vez: AUC no município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0,812 a 0,864, na amostra comum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Mediana da AUC contra FCU entre os municípios com ao menos 30 setores de FCU e 30 fora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73352"/>
            <a:ext cx="10634472" cy="3378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766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Mediana da AUC contra FCU entre os municípios com ao menos 30 setores de FCU e 30 fora.</a:t>
            </a:r>
            <a:endParaRPr lang="pt-BR" sz="105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574243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é a da V024 (0,8642); a menor, a da V038 (0,8120).</a:t>
            </a:r>
            <a:endParaRPr lang="pt-BR" sz="1250" noProof="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renda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821047"/>
              </p:ext>
            </p:extLst>
          </p:nvPr>
        </p:nvGraphicFramePr>
        <p:xfrm>
          <a:off x="777240" y="1719072"/>
          <a:ext cx="10634472" cy="179908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→ renda sem extremo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 [0,999; 1,000]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 [0,1%; 0,2%]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→ 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→ renda com 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 [0,999; 1,000]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 [0,1%; 0,2%]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→ 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→ renda com 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 [1,000; 1,000]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 [0,0%; 0,0%]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→ 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7200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renda original → renda com mediana, metade dos pares tem até 0,2%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0,999.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lixo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527050"/>
              </p:ext>
            </p:extLst>
          </p:nvPr>
        </p:nvGraphicFramePr>
        <p:xfrm>
          <a:off x="777240" y="1719072"/>
          <a:ext cx="10634472" cy="96545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 → sem lixo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 [0,004; 0,007]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 [-1;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 [-0,011; 0,033]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 [0,787; 0,997]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 [4,5%; 33,3%]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→ 21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738374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com lixo → sem lixo, metade dos pares tem até 8,2%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0,990.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água canalizada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756336"/>
              </p:ext>
            </p:extLst>
          </p:nvPr>
        </p:nvGraphicFramePr>
        <p:xfrm>
          <a:off x="777240" y="1719072"/>
          <a:ext cx="10634472" cy="179908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água: só a inadequada → + água não chega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-0,007 [-0,009; -0,002]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 [-0,022; 0,019]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0,965 [0,833; 0,996]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16,3% [6,0%; 34,3%]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 → 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água: só a inadequada → + sem água canalizada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 [0,016; 0,023]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-0,004 [-0,019; 0,012]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0,978 [0,888; 0,997]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12,1% [4,0%; 26,1%]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 → 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água não chega → + sem água canalizada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0,025 [0,024; 0,027]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-0,004 [-0,008; 0,003]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 [0,987; 0,998]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 [4,7%; 12,1%]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→ 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72002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água: só a inadequada → + água não chega, metade dos pares tem até 16,3%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0,965.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banheiro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455762"/>
              </p:ext>
            </p:extLst>
          </p:nvPr>
        </p:nvGraphicFramePr>
        <p:xfrm>
          <a:off x="777240" y="1719072"/>
          <a:ext cx="10634472" cy="179908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fora → + sem banheiro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 [0,002; 0,010]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 [0,011; 0,040]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 [0,919; 0,996]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9,8% [7,1%; 25,9%]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 → 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fora → + 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-0,013 [-0,015; -0,006]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2]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 [0,010; 0,041]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 [0,930; 0,997]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11,3% [8,0%; 25,6%]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 → 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→ + 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-0,017 [-0,020; -0,015]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 [-0,007; 0,008]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 [0,997; 0,999]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2,6% [2,4%; 4,2%]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 → 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72002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banheiro fora → + banheiro graduado, metade dos pares tem até 11,3%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0,993.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moradia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603891"/>
              </p:ext>
            </p:extLst>
          </p:nvPr>
        </p:nvGraphicFramePr>
        <p:xfrm>
          <a:off x="777240" y="1719072"/>
          <a:ext cx="10634472" cy="96545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fora → + moradia não convencional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-0,001 [-0,002;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 [-0,003; 0,029]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 [0,943; 1,000]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 [0,0%; 13,4%]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 → 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738374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moradia fora → + moradia não convencional, metade dos pares tem até 1,1%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1,000.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versões que passam nos critérios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versões, em ordem de código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571423"/>
              </p:ext>
            </p:extLst>
          </p:nvPr>
        </p:nvGraphicFramePr>
        <p:xfrm>
          <a:off x="777240" y="1719072"/>
          <a:ext cx="10634472" cy="390550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com a V023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com lixo · água: só a inadequada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banheiro graduado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banheiro graduado · + moradia não convencional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água não chega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sem água canalizada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sem água canalizada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com lixo · água: só a inadequada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banheiro graduado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banheiro graduado · + moradia não convencional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água não chega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sem água canalizada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sem água canalizada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versões que passam nos critérios (2)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versões, em ordem de código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202257"/>
              </p:ext>
            </p:extLst>
          </p:nvPr>
        </p:nvGraphicFramePr>
        <p:xfrm>
          <a:off x="777240" y="1719072"/>
          <a:ext cx="10634472" cy="2597023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com a V023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V075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com lixo · água: só a inadequada · + sem banheiro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banheiro fora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sem banheiro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banheiro graduado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banheiro graduado · + moradia não convencional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água não chega · banheiro fora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V103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sem água canalizada · banheiro fora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V105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sem água canalizada · + sem banheiro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VP13-2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ordem das elegíveis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Posição média em estabilidade, AUC no município e parcimônia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737794"/>
              </p:ext>
            </p:extLst>
          </p:nvPr>
        </p:nvGraphicFramePr>
        <p:xfrm>
          <a:off x="777240" y="1719072"/>
          <a:ext cx="10634472" cy="333298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</a:t>
                      </a:r>
                      <a:r>
                        <a:rPr lang="pt-BR" sz="9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p.p</a:t>
                      </a: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.)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Posição média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água não chega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água não chega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água não chega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sem água canalizada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V105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sem água canalizada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banheiro graduado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253228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Estabilidade lida pela maior variação do peso de uma variável (o peso de F1 é fixo em 60/40). Empates: a versão mais próxima do IVS-BH 2012.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VP14</a:t>
            </a:r>
            <a:endParaRPr lang="pt-BR" sz="11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8647</TotalTime>
  <Words>20892</Words>
  <Application>Microsoft Macintosh PowerPoint</Application>
  <PresentationFormat>Widescreen</PresentationFormat>
  <Paragraphs>5453</Paragraphs>
  <Slides>140</Slides>
  <Notes>140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140</vt:i4>
      </vt:variant>
    </vt:vector>
  </HeadingPairs>
  <TitlesOfParts>
    <vt:vector size="143" baseType="lpstr">
      <vt:lpstr>Arial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descritivo do andamento: IVS Censo 2022</dc:title>
  <dc:subject/>
  <dc:creator>Pedro Dias Soares</dc:creator>
  <cp:keywords/>
  <dc:description/>
  <cp:lastModifiedBy>Pedro Dias Soares</cp:lastModifiedBy>
  <cp:revision>6</cp:revision>
  <dcterms:created xsi:type="dcterms:W3CDTF">2026-10-07T21:47:51Z</dcterms:created>
  <dcterms:modified xsi:type="dcterms:W3CDTF">2026-10-14T18:57:08Z</dcterms:modified>
  <cp:category/>
</cp:coreProperties>
</file>