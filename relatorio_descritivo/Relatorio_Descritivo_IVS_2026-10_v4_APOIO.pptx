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2"/>
  </p:notesMasterIdLst>
  <p:sldIdLst>
    <p:sldId id="545" r:id="rId287"/>
    <p:sldId id="256" r:id="rId2"/>
    <p:sldId id="405" r:id="rId147"/>
    <p:sldId id="259" r:id="rId3"/>
    <p:sldId id="406" r:id="rId148"/>
    <p:sldId id="260" r:id="rId4"/>
    <p:sldId id="407" r:id="rId149"/>
    <p:sldId id="261" r:id="rId5"/>
    <p:sldId id="408" r:id="rId150"/>
    <p:sldId id="262" r:id="rId6"/>
    <p:sldId id="409" r:id="rId151"/>
    <p:sldId id="263" r:id="rId7"/>
    <p:sldId id="410" r:id="rId152"/>
    <p:sldId id="265" r:id="rId8"/>
    <p:sldId id="411" r:id="rId153"/>
    <p:sldId id="266" r:id="rId9"/>
    <p:sldId id="412" r:id="rId154"/>
    <p:sldId id="267" r:id="rId10"/>
    <p:sldId id="413" r:id="rId155"/>
    <p:sldId id="268" r:id="rId11"/>
    <p:sldId id="414" r:id="rId156"/>
    <p:sldId id="269" r:id="rId12"/>
    <p:sldId id="415" r:id="rId157"/>
    <p:sldId id="270" r:id="rId13"/>
    <p:sldId id="416" r:id="rId158"/>
    <p:sldId id="271" r:id="rId14"/>
    <p:sldId id="417" r:id="rId159"/>
    <p:sldId id="273" r:id="rId15"/>
    <p:sldId id="418" r:id="rId160"/>
    <p:sldId id="275" r:id="rId16"/>
    <p:sldId id="419" r:id="rId161"/>
    <p:sldId id="276" r:id="rId17"/>
    <p:sldId id="420" r:id="rId162"/>
    <p:sldId id="277" r:id="rId18"/>
    <p:sldId id="421" r:id="rId163"/>
    <p:sldId id="278" r:id="rId19"/>
    <p:sldId id="422" r:id="rId164"/>
    <p:sldId id="357" r:id="rId20"/>
    <p:sldId id="423" r:id="rId165"/>
    <p:sldId id="279" r:id="rId21"/>
    <p:sldId id="424" r:id="rId166"/>
    <p:sldId id="358" r:id="rId22"/>
    <p:sldId id="425" r:id="rId167"/>
    <p:sldId id="280" r:id="rId23"/>
    <p:sldId id="426" r:id="rId168"/>
    <p:sldId id="359" r:id="rId24"/>
    <p:sldId id="427" r:id="rId169"/>
    <p:sldId id="281" r:id="rId25"/>
    <p:sldId id="428" r:id="rId170"/>
    <p:sldId id="360" r:id="rId26"/>
    <p:sldId id="429" r:id="rId171"/>
    <p:sldId id="282" r:id="rId27"/>
    <p:sldId id="430" r:id="rId172"/>
    <p:sldId id="361" r:id="rId28"/>
    <p:sldId id="431" r:id="rId173"/>
    <p:sldId id="283" r:id="rId29"/>
    <p:sldId id="432" r:id="rId174"/>
    <p:sldId id="362" r:id="rId30"/>
    <p:sldId id="433" r:id="rId175"/>
    <p:sldId id="284" r:id="rId31"/>
    <p:sldId id="434" r:id="rId176"/>
    <p:sldId id="363" r:id="rId32"/>
    <p:sldId id="435" r:id="rId177"/>
    <p:sldId id="285" r:id="rId33"/>
    <p:sldId id="436" r:id="rId178"/>
    <p:sldId id="364" r:id="rId34"/>
    <p:sldId id="437" r:id="rId179"/>
    <p:sldId id="286" r:id="rId35"/>
    <p:sldId id="438" r:id="rId180"/>
    <p:sldId id="365" r:id="rId36"/>
    <p:sldId id="439" r:id="rId181"/>
    <p:sldId id="287" r:id="rId37"/>
    <p:sldId id="440" r:id="rId182"/>
    <p:sldId id="366" r:id="rId38"/>
    <p:sldId id="441" r:id="rId183"/>
    <p:sldId id="288" r:id="rId39"/>
    <p:sldId id="442" r:id="rId184"/>
    <p:sldId id="367" r:id="rId40"/>
    <p:sldId id="443" r:id="rId185"/>
    <p:sldId id="289" r:id="rId41"/>
    <p:sldId id="444" r:id="rId186"/>
    <p:sldId id="368" r:id="rId42"/>
    <p:sldId id="445" r:id="rId187"/>
    <p:sldId id="290" r:id="rId43"/>
    <p:sldId id="446" r:id="rId188"/>
    <p:sldId id="369" r:id="rId44"/>
    <p:sldId id="447" r:id="rId189"/>
    <p:sldId id="291" r:id="rId45"/>
    <p:sldId id="448" r:id="rId190"/>
    <p:sldId id="370" r:id="rId46"/>
    <p:sldId id="449" r:id="rId191"/>
    <p:sldId id="292" r:id="rId47"/>
    <p:sldId id="450" r:id="rId192"/>
    <p:sldId id="371" r:id="rId48"/>
    <p:sldId id="451" r:id="rId193"/>
    <p:sldId id="293" r:id="rId49"/>
    <p:sldId id="452" r:id="rId194"/>
    <p:sldId id="372" r:id="rId50"/>
    <p:sldId id="453" r:id="rId195"/>
    <p:sldId id="294" r:id="rId51"/>
    <p:sldId id="454" r:id="rId196"/>
    <p:sldId id="373" r:id="rId52"/>
    <p:sldId id="455" r:id="rId197"/>
    <p:sldId id="295" r:id="rId53"/>
    <p:sldId id="456" r:id="rId198"/>
    <p:sldId id="374" r:id="rId54"/>
    <p:sldId id="457" r:id="rId199"/>
    <p:sldId id="296" r:id="rId55"/>
    <p:sldId id="458" r:id="rId200"/>
    <p:sldId id="375" r:id="rId56"/>
    <p:sldId id="459" r:id="rId201"/>
    <p:sldId id="297" r:id="rId57"/>
    <p:sldId id="460" r:id="rId202"/>
    <p:sldId id="376" r:id="rId58"/>
    <p:sldId id="461" r:id="rId203"/>
    <p:sldId id="298" r:id="rId59"/>
    <p:sldId id="462" r:id="rId204"/>
    <p:sldId id="377" r:id="rId60"/>
    <p:sldId id="463" r:id="rId205"/>
    <p:sldId id="299" r:id="rId61"/>
    <p:sldId id="464" r:id="rId206"/>
    <p:sldId id="378" r:id="rId62"/>
    <p:sldId id="465" r:id="rId207"/>
    <p:sldId id="300" r:id="rId63"/>
    <p:sldId id="466" r:id="rId208"/>
    <p:sldId id="379" r:id="rId64"/>
    <p:sldId id="467" r:id="rId209"/>
    <p:sldId id="301" r:id="rId65"/>
    <p:sldId id="468" r:id="rId210"/>
    <p:sldId id="380" r:id="rId66"/>
    <p:sldId id="469" r:id="rId211"/>
    <p:sldId id="302" r:id="rId67"/>
    <p:sldId id="470" r:id="rId212"/>
    <p:sldId id="381" r:id="rId68"/>
    <p:sldId id="471" r:id="rId213"/>
    <p:sldId id="303" r:id="rId69"/>
    <p:sldId id="472" r:id="rId214"/>
    <p:sldId id="382" r:id="rId70"/>
    <p:sldId id="473" r:id="rId215"/>
    <p:sldId id="304" r:id="rId71"/>
    <p:sldId id="474" r:id="rId216"/>
    <p:sldId id="383" r:id="rId72"/>
    <p:sldId id="475" r:id="rId217"/>
    <p:sldId id="305" r:id="rId73"/>
    <p:sldId id="476" r:id="rId218"/>
    <p:sldId id="384" r:id="rId74"/>
    <p:sldId id="477" r:id="rId219"/>
    <p:sldId id="306" r:id="rId75"/>
    <p:sldId id="478" r:id="rId220"/>
    <p:sldId id="385" r:id="rId76"/>
    <p:sldId id="479" r:id="rId221"/>
    <p:sldId id="307" r:id="rId77"/>
    <p:sldId id="480" r:id="rId222"/>
    <p:sldId id="386" r:id="rId78"/>
    <p:sldId id="481" r:id="rId223"/>
    <p:sldId id="308" r:id="rId79"/>
    <p:sldId id="482" r:id="rId224"/>
    <p:sldId id="387" r:id="rId80"/>
    <p:sldId id="483" r:id="rId225"/>
    <p:sldId id="388" r:id="rId81"/>
    <p:sldId id="484" r:id="rId226"/>
    <p:sldId id="389" r:id="rId82"/>
    <p:sldId id="485" r:id="rId227"/>
    <p:sldId id="390" r:id="rId83"/>
    <p:sldId id="486" r:id="rId228"/>
    <p:sldId id="391" r:id="rId84"/>
    <p:sldId id="487" r:id="rId229"/>
    <p:sldId id="392" r:id="rId85"/>
    <p:sldId id="488" r:id="rId230"/>
    <p:sldId id="393" r:id="rId86"/>
    <p:sldId id="489" r:id="rId231"/>
    <p:sldId id="394" r:id="rId87"/>
    <p:sldId id="490" r:id="rId232"/>
    <p:sldId id="395" r:id="rId88"/>
    <p:sldId id="491" r:id="rId233"/>
    <p:sldId id="310" r:id="rId89"/>
    <p:sldId id="492" r:id="rId234"/>
    <p:sldId id="311" r:id="rId90"/>
    <p:sldId id="493" r:id="rId235"/>
    <p:sldId id="312" r:id="rId91"/>
    <p:sldId id="494" r:id="rId236"/>
    <p:sldId id="313" r:id="rId92"/>
    <p:sldId id="495" r:id="rId237"/>
    <p:sldId id="314" r:id="rId93"/>
    <p:sldId id="496" r:id="rId238"/>
    <p:sldId id="315" r:id="rId94"/>
    <p:sldId id="497" r:id="rId239"/>
    <p:sldId id="316" r:id="rId95"/>
    <p:sldId id="498" r:id="rId240"/>
    <p:sldId id="317" r:id="rId96"/>
    <p:sldId id="499" r:id="rId241"/>
    <p:sldId id="318" r:id="rId97"/>
    <p:sldId id="500" r:id="rId242"/>
    <p:sldId id="319" r:id="rId98"/>
    <p:sldId id="501" r:id="rId243"/>
    <p:sldId id="320" r:id="rId99"/>
    <p:sldId id="502" r:id="rId244"/>
    <p:sldId id="321" r:id="rId100"/>
    <p:sldId id="503" r:id="rId245"/>
    <p:sldId id="322" r:id="rId101"/>
    <p:sldId id="504" r:id="rId246"/>
    <p:sldId id="323" r:id="rId102"/>
    <p:sldId id="505" r:id="rId247"/>
    <p:sldId id="324" r:id="rId103"/>
    <p:sldId id="506" r:id="rId248"/>
    <p:sldId id="325" r:id="rId104"/>
    <p:sldId id="507" r:id="rId249"/>
    <p:sldId id="326" r:id="rId105"/>
    <p:sldId id="508" r:id="rId250"/>
    <p:sldId id="327" r:id="rId106"/>
    <p:sldId id="509" r:id="rId251"/>
    <p:sldId id="396" r:id="rId107"/>
    <p:sldId id="510" r:id="rId252"/>
    <p:sldId id="397" r:id="rId108"/>
    <p:sldId id="511" r:id="rId253"/>
    <p:sldId id="398" r:id="rId109"/>
    <p:sldId id="512" r:id="rId254"/>
    <p:sldId id="399" r:id="rId110"/>
    <p:sldId id="513" r:id="rId255"/>
    <p:sldId id="400" r:id="rId111"/>
    <p:sldId id="514" r:id="rId256"/>
    <p:sldId id="401" r:id="rId112"/>
    <p:sldId id="515" r:id="rId257"/>
    <p:sldId id="402" r:id="rId113"/>
    <p:sldId id="516" r:id="rId258"/>
    <p:sldId id="403" r:id="rId114"/>
    <p:sldId id="517" r:id="rId259"/>
    <p:sldId id="404" r:id="rId115"/>
    <p:sldId id="518" r:id="rId260"/>
    <p:sldId id="328" r:id="rId116"/>
    <p:sldId id="519" r:id="rId261"/>
    <p:sldId id="329" r:id="rId117"/>
    <p:sldId id="520" r:id="rId262"/>
    <p:sldId id="330" r:id="rId118"/>
    <p:sldId id="521" r:id="rId263"/>
    <p:sldId id="331" r:id="rId119"/>
    <p:sldId id="522" r:id="rId264"/>
    <p:sldId id="332" r:id="rId120"/>
    <p:sldId id="523" r:id="rId265"/>
    <p:sldId id="333" r:id="rId121"/>
    <p:sldId id="524" r:id="rId266"/>
    <p:sldId id="334" r:id="rId122"/>
    <p:sldId id="525" r:id="rId267"/>
    <p:sldId id="335" r:id="rId123"/>
    <p:sldId id="526" r:id="rId268"/>
    <p:sldId id="336" r:id="rId124"/>
    <p:sldId id="527" r:id="rId269"/>
    <p:sldId id="338" r:id="rId125"/>
    <p:sldId id="528" r:id="rId270"/>
    <p:sldId id="340" r:id="rId126"/>
    <p:sldId id="529" r:id="rId271"/>
    <p:sldId id="342" r:id="rId127"/>
    <p:sldId id="530" r:id="rId272"/>
    <p:sldId id="343" r:id="rId128"/>
    <p:sldId id="531" r:id="rId273"/>
    <p:sldId id="344" r:id="rId129"/>
    <p:sldId id="532" r:id="rId274"/>
    <p:sldId id="345" r:id="rId130"/>
    <p:sldId id="533" r:id="rId275"/>
    <p:sldId id="346" r:id="rId131"/>
    <p:sldId id="534" r:id="rId276"/>
    <p:sldId id="347" r:id="rId132"/>
    <p:sldId id="535" r:id="rId277"/>
    <p:sldId id="348" r:id="rId133"/>
    <p:sldId id="536" r:id="rId278"/>
    <p:sldId id="349" r:id="rId134"/>
    <p:sldId id="537" r:id="rId279"/>
    <p:sldId id="350" r:id="rId135"/>
    <p:sldId id="538" r:id="rId280"/>
    <p:sldId id="351" r:id="rId136"/>
    <p:sldId id="539" r:id="rId281"/>
    <p:sldId id="352" r:id="rId137"/>
    <p:sldId id="540" r:id="rId282"/>
    <p:sldId id="353" r:id="rId138"/>
    <p:sldId id="541" r:id="rId283"/>
    <p:sldId id="354" r:id="rId139"/>
    <p:sldId id="542" r:id="rId284"/>
    <p:sldId id="355" r:id="rId140"/>
    <p:sldId id="543" r:id="rId285"/>
    <p:sldId id="356" r:id="rId141"/>
    <p:sldId id="544" r:id="rId286"/>
    <p:sldId id="546" r:id="rId288"/>
    <p:sldId id="547" r:id="rId289"/>
    <p:sldId id="548" r:id="rId290"/>
    <p:sldId id="549" r:id="rId291"/>
    <p:sldId id="550" r:id="rId292"/>
    <p:sldId id="551" r:id="rId293"/>
    <p:sldId id="552" r:id="rId294"/>
    <p:sldId id="553" r:id="rId295"/>
    <p:sldId id="554" r:id="rId296"/>
    <p:sldId id="555" r:id="rId297"/>
    <p:sldId id="556" r:id="rId298"/>
    <p:sldId id="557" r:id="rId299"/>
    <p:sldId id="558" r:id="rId300"/>
    <p:sldId id="559" r:id="rId30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08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2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notesMaster" Target="notesMasters/notesMaster1.xml"/><Relationship Id="rId143" Type="http://schemas.openxmlformats.org/officeDocument/2006/relationships/presProps" Target="presProps.xml"/><Relationship Id="rId144" Type="http://schemas.openxmlformats.org/officeDocument/2006/relationships/viewProps" Target="viewProps.xml"/><Relationship Id="rId145" Type="http://schemas.openxmlformats.org/officeDocument/2006/relationships/theme" Target="theme/theme1.xml"/><Relationship Id="rId146" Type="http://schemas.openxmlformats.org/officeDocument/2006/relationships/tableStyles" Target="tableStyles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110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2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2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2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2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2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2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2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2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2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2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2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A01</a:t>
            </a:r>
          </a:p>
          <a:p/>
          <a:p>
            <a:r>
              <a:t>O QUE É</a:t>
            </a:r>
          </a:p>
          <a:p>
            <a:r>
              <a:t>Capa. O relatório tem cinco partes: as demandas de setembro e como foram cobertas, a descrição de cada indicador, as correlações, a análise fatorial (a referência proposta e as demandas sobre ela) e as 108 versões da fatorial.</a:t>
            </a:r>
          </a:p>
          <a:p/>
          <a:p>
            <a:r>
              <a:t>PERGUNTAS</a:t>
            </a:r>
          </a:p>
          <a:p>
            <a:r>
              <a:t>P: Qual o objetivo deste relatório?</a:t>
            </a:r>
          </a:p>
          <a:p>
            <a:r>
              <a:t>R: Mostrar o que fiz de cada demanda de setembro, para você conferir os números com os seus resultados e decidir o que fica em aberto.</a:t>
            </a:r>
          </a:p>
          <a:p>
            <a:r>
              <a:t>De onde: A01; DM01</a:t>
            </a:r>
          </a:p>
          <a:p/>
          <a:p>
            <a:r>
              <a:t>P: Qual a base de dados?</a:t>
            </a:r>
          </a:p>
          <a:p>
            <a:r>
              <a:t>R: Os setores censitários dos 70 municípios do ELSI-Brasil, Censo 2022: 109.032 setores, dos quais 104.108 são urbanos com dados divulgados.</a:t>
            </a:r>
          </a:p>
          <a:p>
            <a:r>
              <a:t>De onde: DS01; T01_funil.csv</a:t>
            </a:r>
          </a:p>
          <a:p/>
          <a:p>
            <a:r>
              <a:t>NA PONTA DA LÍNGUA</a:t>
            </a:r>
          </a:p>
          <a:p>
            <a:r>
              <a:t>· 70 municípios do ELSI-Brasil; Censo 2022</a:t>
            </a:r>
          </a:p>
          <a:p>
            <a:r>
              <a:t>· 109.032 setores; 104.108 na descritiva; 73.878 na fatorial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DM00</a:t>
            </a:r>
          </a:p>
          <a:p/>
          <a:p>
            <a:r>
              <a:t>O QUE É</a:t>
            </a:r>
          </a:p>
          <a:p>
            <a:r>
              <a:t>Abre a parte das demandas de setembro. Cada slide tem: o pedido, como eu li, o que foi feito, o que contornei e onde está o resultado.</a:t>
            </a:r>
          </a:p>
          <a:p/>
          <a:p>
            <a:r>
              <a:t>PERGUNTAS</a:t>
            </a:r>
          </a:p>
          <a:p>
            <a:r>
              <a:t>P: Todas as demandas foram atendidas?</a:t>
            </a:r>
          </a:p>
          <a:p>
            <a:r>
              <a:t>R: As 11 estão concluídas. Três têm um ponto aberto: o banheiro graduado (demanda 6), a leitura de "fatorial de tudo isso" (demanda 8) e manter ou não a moradia não convencional (demanda 9).</a:t>
            </a:r>
          </a:p>
          <a:p>
            <a:r>
              <a:t>De onde: DM01</a:t>
            </a:r>
          </a:p>
          <a:p/>
          <a:p>
            <a:r>
              <a:t>P: O que é "o que contornamos"?</a:t>
            </a:r>
          </a:p>
          <a:p>
            <a:r>
              <a:t>R: É onde o dado não deixou fazer exatamente o pedido, e o que fiz no lugar. Por exemplo, a mediana de renda do setor não existe no arquivo do Censo.</a:t>
            </a:r>
          </a:p>
          <a:p>
            <a:r>
              <a:t>De onde: DM14; DM02</a:t>
            </a:r>
          </a:p>
          <a:p/>
          <a:p>
            <a:r>
              <a:t>NA PONTA DA LÍNGUA</a:t>
            </a:r>
          </a:p>
          <a:p>
            <a:r>
              <a:t>· 11 demandas, todas concluídas</a:t>
            </a:r>
          </a:p>
          <a:p>
            <a:r>
              <a:t>· Pontos abertos: demandas 6, 8 e 9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DM01</a:t>
            </a:r>
          </a:p>
          <a:p/>
          <a:p>
            <a:r>
              <a:t>O QUE É</a:t>
            </a:r>
          </a:p>
          <a:p>
            <a:r>
              <a:t>A lista das 11 demandas de setembro, o estado de cada uma, o slide que a explica e o slide do resultado.</a:t>
            </a:r>
          </a:p>
          <a:p/>
          <a:p>
            <a:r>
              <a:t>PERGUNTAS</a:t>
            </a:r>
          </a:p>
          <a:p>
            <a:r>
              <a:t>P: A demanda 4 aparece com o DM05, que não está no relatório. Por quê?</a:t>
            </a:r>
          </a:p>
          <a:p>
            <a:r>
              <a:t>R: Tirei o DM05 na edição. O resultado da demanda 4 (separar útil × inútil) está no mapa, como diz a coluna "Resultado em".</a:t>
            </a:r>
          </a:p>
          <a:p>
            <a:r>
              <a:t>De onde: DM01, linha 4 [A CONFERIR: o Pedro confirma]</a:t>
            </a:r>
          </a:p>
          <a:p/>
          <a:p>
            <a:r>
              <a:t>P: O que quer dizer "graduada (V00237) em aberto" na demanda 6?</a:t>
            </a:r>
          </a:p>
          <a:p>
            <a:r>
              <a:t>R: O sem banheiro foi juntado com a V00495. A versão graduada, que usa a V00237, foi feita depois, no NB05; fica em aberto se ela substitui a V00495.</a:t>
            </a:r>
          </a:p>
          <a:p>
            <a:r>
              <a:t>De onde: DM01; DM07</a:t>
            </a:r>
          </a:p>
          <a:p/>
          <a:p>
            <a:r>
              <a:t>P: Por que a demanda 8 diz "leitura padrão da pergunta 6"?</a:t>
            </a:r>
          </a:p>
          <a:p>
            <a:r>
              <a:t>R: "Fatorial de tudo isso" pode ser lida de mais de um jeito. Usei a leitura de juntar as quatro variáveis novas ao IVS-7 (cenário S6); falta confirmar com você.</a:t>
            </a:r>
          </a:p>
          <a:p>
            <a:r>
              <a:t>De onde: DM09</a:t>
            </a:r>
          </a:p>
          <a:p/>
          <a:p>
            <a:r>
              <a:t>NA PONTA DA LÍNGUA</a:t>
            </a:r>
          </a:p>
          <a:p>
            <a:r>
              <a:t>· Demanda 6: V00495 feita; graduada em aberto</a:t>
            </a:r>
          </a:p>
          <a:p>
            <a:r>
              <a:t>· Demanda 9: moradia como não convencional, sem excluir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DM02</a:t>
            </a:r>
          </a:p>
          <a:p/>
          <a:p>
            <a:r>
              <a:t>O QUE É</a:t>
            </a:r>
          </a:p>
          <a:p>
            <a:r>
              <a:t>Demanda 1: uma coluna de renda com a mediana. A renda do Censo por setor é a média (V06004); a mediana do setor (V06006) não vem no arquivo. O setor extremo de Belo Horizonte tem renda média de R$ 170.418,06.</a:t>
            </a:r>
          </a:p>
          <a:p/>
          <a:p>
            <a:r>
              <a:t>PERGUNTAS</a:t>
            </a:r>
          </a:p>
          <a:p>
            <a:r>
              <a:t>P: Por que não usou a mediana do setor?</a:t>
            </a:r>
          </a:p>
          <a:p>
            <a:r>
              <a:t>R: Ela não existe no arquivo do Censo: vêm V06001 a V06005, não V06006. Por isso troquei só o setor extremo pela mediana de BH calculada sem ele.</a:t>
            </a:r>
          </a:p>
          <a:p>
            <a:r>
              <a:t>De onde: DM02; ART004</a:t>
            </a:r>
          </a:p>
          <a:p/>
          <a:p>
            <a:r>
              <a:t>P: Quanto isso muda?</a:t>
            </a:r>
          </a:p>
          <a:p>
            <a:r>
              <a:t>R: Só 1 setor fica diferente. A média de BH vai de R$ 4.649,57 a R$ 4.649,47 conforme a alternativa, e a média nos 70 fica em R$ 4.185,80.</a:t>
            </a:r>
          </a:p>
          <a:p>
            <a:r>
              <a:t>De onde: DM02, tabela; renda_imputacao_alternativas.csv</a:t>
            </a:r>
          </a:p>
          <a:p/>
          <a:p>
            <a:r>
              <a:t>P: Por que esse setor é extremo?</a:t>
            </a:r>
          </a:p>
          <a:p>
            <a:r>
              <a:t>R: É o maior valor da base, muito acima dos outros, e ele sozinho puxava a média de BH. Não investiguei o motivo no setor (por exemplo, poucos domicílios de renda muito alta).</a:t>
            </a:r>
          </a:p>
          <a:p>
            <a:r>
              <a:t>De onde: DM02 [A CONFERIR: características do setor 310620005650366]</a:t>
            </a:r>
          </a:p>
          <a:p/>
          <a:p>
            <a:r>
              <a:t>NA PONTA DA LÍNGUA</a:t>
            </a:r>
          </a:p>
          <a:p>
            <a:r>
              <a:t>· Setor 310620005650366, R$ 170.418,06</a:t>
            </a:r>
          </a:p>
          <a:p>
            <a:r>
              <a:t>· Imputado: R$ 3.058,235 (mediana de BH sem o setor)</a:t>
            </a:r>
          </a:p>
          <a:p>
            <a:r>
              <a:t>· 1 setor difere; base passa de 104 para 105 colunas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DM03</a:t>
            </a:r>
          </a:p>
          <a:p/>
          <a:p>
            <a:r>
              <a:t>O QUE É</a:t>
            </a:r>
          </a:p>
          <a:p>
            <a:r>
              <a:t>Demanda 2: o quadro de indicadores. São 28 indicadores em quatro dimensões; 7 deles formam o IVS-7, adaptado do IVS-BH 2012.</a:t>
            </a:r>
          </a:p>
          <a:p/>
          <a:p>
            <a:r>
              <a:t>PERGUNTAS</a:t>
            </a:r>
          </a:p>
          <a:p>
            <a:r>
              <a:t>P: Onde está a definição de cada indicador?</a:t>
            </a:r>
          </a:p>
          <a:p>
            <a:r>
              <a:t>R: Um slide por indicador (DS03 a DS33): numerador, denominador, arquivo do Censo e a distribuição. O quadro também está no Quadro_Indicadores.csv da entrega.</a:t>
            </a:r>
          </a:p>
          <a:p>
            <a:r>
              <a:t>De onde: DM03; DS03 a DS33</a:t>
            </a:r>
          </a:p>
          <a:p/>
          <a:p>
            <a:r>
              <a:t>P: Por que 28 aqui e 31 slides de indicador?</a:t>
            </a:r>
          </a:p>
          <a:p>
            <a:r>
              <a:t>R: Os 28 do quadro mais as duas variantes de renda e o banheiro graduado, que foram criados depois, nas demandas 1 e 6.</a:t>
            </a:r>
          </a:p>
          <a:p>
            <a:r>
              <a:t>De onde: DM03; DM14 linha 2; DS02</a:t>
            </a:r>
          </a:p>
          <a:p/>
          <a:p>
            <a:r>
              <a:t>P: O que é o IVS-7?</a:t>
            </a:r>
          </a:p>
          <a:p>
            <a:r>
              <a:t>R: Os sete componentes do IVS-BH 2012 adaptados ao Censo 2022: água, esgoto, lixo, razão de moradores, analfabetismo, renda e cor/raça.</a:t>
            </a:r>
          </a:p>
          <a:p>
            <a:r>
              <a:t>De onde: ART003; ART004; DC01</a:t>
            </a:r>
          </a:p>
          <a:p/>
          <a:p>
            <a:r>
              <a:t>NA PONTA DA LÍNGUA</a:t>
            </a:r>
          </a:p>
          <a:p>
            <a:r>
              <a:t>· 28 indicadores: 6 demografia, 7 morfologia, 10 saneamento, 5 socioeconômica</a:t>
            </a:r>
          </a:p>
          <a:p>
            <a:r>
              <a:t>· 7 no IVS-7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DM04</a:t>
            </a:r>
          </a:p>
          <a:p/>
          <a:p>
            <a:r>
              <a:t>O QUE É</a:t>
            </a:r>
          </a:p>
          <a:p>
            <a:r>
              <a:t>Demanda 3: fatorial sem bootstrap, sem e com rotação. Rotação é girar os eixos dos fatores para cada variável carregar forte num fator só, o que facilita dar nome aos fatores.</a:t>
            </a:r>
          </a:p>
          <a:p/>
          <a:p>
            <a:r>
              <a:t>PERGUNTAS</a:t>
            </a:r>
          </a:p>
          <a:p>
            <a:r>
              <a:t>P: Por que tirou o bootstrap?</a:t>
            </a:r>
          </a:p>
          <a:p>
            <a:r>
              <a:t>R: Foi o pedido. Para ter uma ideia da incerteza, rodei a fatorial tirando um município de cada vez (S0, S1 e S6).</a:t>
            </a:r>
          </a:p>
          <a:p>
            <a:r>
              <a:t>De onde: DM04; estabilidade.csv</a:t>
            </a:r>
          </a:p>
          <a:p/>
          <a:p>
            <a:r>
              <a:t>P: Qual a diferença entre Varimax e promax?</a:t>
            </a:r>
          </a:p>
          <a:p>
            <a:r>
              <a:t>R: A Varimax mantém os fatores sem correlação (ortogonal). A promax deixa os fatores se correlacionarem (oblíqua); por isso tem Φ, a correlação entre eles.</a:t>
            </a:r>
          </a:p>
          <a:p>
            <a:r>
              <a:t>De onde: ART002 p.169; ART001 p.38; FA10</a:t>
            </a:r>
          </a:p>
          <a:p/>
          <a:p>
            <a:r>
              <a:t>P: Os pesos mudam muito com a rotação?</a:t>
            </a:r>
          </a:p>
          <a:p>
            <a:r>
              <a:t>R: No S0, o peso de F1 vai de 73,40% (promax, estrutura) a 75,89% (sem rotação). Como diz Figueiredo, as rotações costumam dar resultados parecidos quando o padrão é claro.</a:t>
            </a:r>
          </a:p>
          <a:p>
            <a:r>
              <a:t>De onde: DM04, tabela; ART002 p.169</a:t>
            </a:r>
          </a:p>
          <a:p/>
          <a:p>
            <a:r>
              <a:t>NA PONTA DA LÍNGUA</a:t>
            </a:r>
          </a:p>
          <a:p>
            <a:r>
              <a:t>· S0: F1 75,89% sem rotação; 74,00% Varimax; 74,69% promax padrão</a:t>
            </a:r>
          </a:p>
          <a:p>
            <a:r>
              <a:t>· Φ no S0: 0,151</a:t>
            </a:r>
          </a:p>
          <a:p/>
          <a:p>
            <a:r>
              <a:t>LEITURA PENDENTE (estudar antes): Promax: artigo original (ART025) em andamento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DM06</a:t>
            </a:r>
          </a:p>
          <a:p/>
          <a:p>
            <a:r>
              <a:t>O QUE É</a:t>
            </a:r>
          </a:p>
          <a:p>
            <a:r>
              <a:t>Demanda 5: comparar "água não chega" (a água não chega ao domicílio por canalização). Fiz duas leituras: (a) contra as outras categorias de água e (b) contra os indicadores do IVS-7.</a:t>
            </a:r>
          </a:p>
          <a:p/>
          <a:p>
            <a:r>
              <a:t>PERGUNTAS</a:t>
            </a:r>
          </a:p>
          <a:p>
            <a:r>
              <a:t>P: O que mostra a comparação?</a:t>
            </a:r>
          </a:p>
          <a:p>
            <a:r>
              <a:t>R: "Não chega" se correlaciona mais com as outras faltas de água: 0,514 com sem água canalizada e 0,506 com água só no terreno. Com o IVS-7, a maior é com água inadequada (0,459).</a:t>
            </a:r>
          </a:p>
          <a:p>
            <a:r>
              <a:t>De onde: DM06, tabela; FP03</a:t>
            </a:r>
          </a:p>
          <a:p/>
          <a:p>
            <a:r>
              <a:t>P: Por que o % de zeros mudou de 85,7% para 94,5%?</a:t>
            </a:r>
          </a:p>
          <a:p>
            <a:r>
              <a:t>R: O 85,7% usava os 104.108 setores como denominador e contava o faltante como não zero. Sobre os setores com valor, são 94,5%.</a:t>
            </a:r>
          </a:p>
          <a:p>
            <a:r>
              <a:t>De onde: DM06</a:t>
            </a:r>
          </a:p>
          <a:p/>
          <a:p>
            <a:r>
              <a:t>P: Os setores com "não chega" são mais vulneráveis?</a:t>
            </a:r>
          </a:p>
          <a:p>
            <a:r>
              <a:t>R: Na mediana, sim: renda menor e analfabetismo, cor/raça PPI e esgoto inadequado maiores (FP03). É descrição, não causa.</a:t>
            </a:r>
          </a:p>
          <a:p>
            <a:r>
              <a:t>De onde: FP03</a:t>
            </a:r>
          </a:p>
          <a:p/>
          <a:p>
            <a:r>
              <a:t>NA PONTA DA LÍNGUA</a:t>
            </a:r>
          </a:p>
          <a:p>
            <a:r>
              <a:t>· Spearman com água inadequada: 0,459</a:t>
            </a:r>
          </a:p>
          <a:p>
            <a:r>
              <a:t>· Zeros: 94,5% dos setores com valor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DM07</a:t>
            </a:r>
          </a:p>
          <a:p/>
          <a:p>
            <a:r>
              <a:t>O QUE É</a:t>
            </a:r>
          </a:p>
          <a:p>
            <a:r>
              <a:t>Demanda 6: juntar o "sem banheiro". A V00495 (sem banheiro de uso exclusivo) é a soma de três partes: V00236 (só banheiro de uso comum), V00237 (só sanitário) e V00238 (sem banheiro nem sanitário).</a:t>
            </a:r>
          </a:p>
          <a:p/>
          <a:p>
            <a:r>
              <a:t>PERGUNTAS</a:t>
            </a:r>
          </a:p>
          <a:p>
            <a:r>
              <a:t>P: Como sabe que a V00495 contém as outras?</a:t>
            </a:r>
          </a:p>
          <a:p>
            <a:r>
              <a:t>R: Conferi no banco: a soma V00236 + V00237 + V00238 fecha com a V00495 em 91.199 de 91.199 setores.</a:t>
            </a:r>
          </a:p>
          <a:p>
            <a:r>
              <a:t>De onde: DM07, tabela</a:t>
            </a:r>
          </a:p>
          <a:p/>
          <a:p>
            <a:r>
              <a:t>P: O que é o banheiro graduado?</a:t>
            </a:r>
          </a:p>
          <a:p>
            <a:r>
              <a:t>R: Uma nota de 0 a 1 que pesa a gravidade: 1 para uso comum, 2 para só sanitário, 3 para sem banheiro nem sanitário, dividido por 3 vezes o total de domicílios.</a:t>
            </a:r>
          </a:p>
          <a:p>
            <a:r>
              <a:t>De onde: DS13</a:t>
            </a:r>
          </a:p>
          <a:p/>
          <a:p>
            <a:r>
              <a:t>P: Por que a V00237 não estava na base?</a:t>
            </a:r>
          </a:p>
          <a:p>
            <a:r>
              <a:t>R: Não tinha sido extraída na primeira montagem. Extraí de novo dos arquivos do Censo.</a:t>
            </a:r>
          </a:p>
          <a:p>
            <a:r>
              <a:t>De onde: DM07; DM14</a:t>
            </a:r>
          </a:p>
          <a:p/>
          <a:p>
            <a:r>
              <a:t>NA PONTA DA LÍNGUA</a:t>
            </a:r>
          </a:p>
          <a:p>
            <a:r>
              <a:t>· V00495 = V00236 + V00237 + V00238 em 91.199 de 91.199</a:t>
            </a:r>
          </a:p>
          <a:p>
            <a:r>
              <a:t>· Graduado: pesos 1, 2 e 3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DM08</a:t>
            </a:r>
          </a:p>
          <a:p/>
          <a:p>
            <a:r>
              <a:t>O QUE É</a:t>
            </a:r>
          </a:p>
          <a:p>
            <a:r>
              <a:t>Demanda 7: acrescentar canalização e sem banheiro. Uma variável nova por vez sobre o IVS-7: não chega (S2), sem canalização (S3) e sem banheiro (S4).</a:t>
            </a:r>
          </a:p>
          <a:p/>
          <a:p>
            <a:r>
              <a:t>PERGUNTAS</a:t>
            </a:r>
          </a:p>
          <a:p>
            <a:r>
              <a:t>P: Por que uma por vez?</a:t>
            </a:r>
          </a:p>
          <a:p>
            <a:r>
              <a:t>R: Assim dá para ver o efeito de cada uma. Juntas, estão no S6 (demanda 8).</a:t>
            </a:r>
          </a:p>
          <a:p>
            <a:r>
              <a:t>De onde: DM08; DM09</a:t>
            </a:r>
          </a:p>
          <a:p/>
          <a:p>
            <a:r>
              <a:t>P: Por que o S4 perde tantos setores?</a:t>
            </a:r>
          </a:p>
          <a:p>
            <a:r>
              <a:t>R: O sem banheiro tem faltantes em muitos setores: o S4 fica com 75.955, 11.590 a menos que o S0.</a:t>
            </a:r>
          </a:p>
          <a:p>
            <a:r>
              <a:t>De onde: DM08, tabela; FC05</a:t>
            </a:r>
          </a:p>
          <a:p/>
          <a:p>
            <a:r>
              <a:t>P: O KMO piora com as variáveis novas?</a:t>
            </a:r>
          </a:p>
          <a:p>
            <a:r>
              <a:t>R: Não: fica entre 0,780 (S2) e 0,805 (S3); o S0 tem 0,783.</a:t>
            </a:r>
          </a:p>
          <a:p>
            <a:r>
              <a:t>De onde: DM08, tabela</a:t>
            </a:r>
          </a:p>
          <a:p/>
          <a:p>
            <a:r>
              <a:t>NA PONTA DA LÍNGUA</a:t>
            </a:r>
          </a:p>
          <a:p>
            <a:r>
              <a:t>· S2: 78.256 setores; S3: 87.512; S4: 75.955</a:t>
            </a:r>
          </a:p>
          <a:p>
            <a:r>
              <a:t>· KMO de 0,780 a 0,805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DM09</a:t>
            </a:r>
          </a:p>
          <a:p/>
          <a:p>
            <a:r>
              <a:t>O QUE É</a:t>
            </a:r>
          </a:p>
          <a:p>
            <a:r>
              <a:t>Demanda 8: fatorial de tudo isso. Li como o IVS-7 mais as quatro variáveis novas (não chega, sem canalização, sem banheiro e não convencional): cenário S6. O S7 é o S6 sem lixo.</a:t>
            </a:r>
          </a:p>
          <a:p/>
          <a:p>
            <a:r>
              <a:t>PERGUNTAS</a:t>
            </a:r>
          </a:p>
          <a:p>
            <a:r>
              <a:t>P: Por que o S6 explica menos variância?</a:t>
            </a:r>
          </a:p>
          <a:p>
            <a:r>
              <a:t>R: Com 11 variáveis, dois fatores explicam 48,94%, contra 62,12% no IVS-7 (S0). Kaiser e Horn pedem 4 fatores no S6; fiquei com 2 para comparar com o IVS-BH.</a:t>
            </a:r>
          </a:p>
          <a:p>
            <a:r>
              <a:t>De onde: DM09, tabela; FP06</a:t>
            </a:r>
          </a:p>
          <a:p/>
          <a:p>
            <a:r>
              <a:t>P: Essa leitura de "tudo isso" está certa?</a:t>
            </a:r>
          </a:p>
          <a:p>
            <a:r>
              <a:t>R: É a minha leitura; preciso que você confirme. Se for outra, rodo de novo.</a:t>
            </a:r>
          </a:p>
          <a:p>
            <a:r>
              <a:t>De onde: DM09</a:t>
            </a:r>
          </a:p>
          <a:p/>
          <a:p>
            <a:r>
              <a:t>P: As três rendas mudam o resultado?</a:t>
            </a:r>
          </a:p>
          <a:p>
            <a:r>
              <a:t>R: Não: o KMO é 0,810 nas três e a variância, 48,94%.</a:t>
            </a:r>
          </a:p>
          <a:p>
            <a:r>
              <a:t>De onde: DM09, tabela</a:t>
            </a:r>
          </a:p>
          <a:p/>
          <a:p>
            <a:r>
              <a:t>NA PONTA DA LÍNGUA</a:t>
            </a:r>
          </a:p>
          <a:p>
            <a:r>
              <a:t>· S6: 69.458 setores, KMO 0,810, 48,94%</a:t>
            </a:r>
          </a:p>
          <a:p>
            <a:r>
              <a:t>· S7: KMO 0,813, 53,22%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DM10</a:t>
            </a:r>
          </a:p>
          <a:p/>
          <a:p>
            <a:r>
              <a:t>O QUE É</a:t>
            </a:r>
          </a:p>
          <a:p>
            <a:r>
              <a:t>Demanda 9: habitação convencional. Usei no sentido da vulnerabilidade: moradia não convencional. Mostrei o diagnóstico em vez de tirar a variável.</a:t>
            </a:r>
          </a:p>
          <a:p/>
          <a:p>
            <a:r>
              <a:t>PERGUNTAS</a:t>
            </a:r>
          </a:p>
          <a:p>
            <a:r>
              <a:t>P: Por que a moradia não convencional é problemática na fatorial?</a:t>
            </a:r>
          </a:p>
          <a:p>
            <a:r>
              <a:t>R: Quase todo setor tem zero (92,19% no S5) e a comunalidade é muito baixa (0,013): a fatorial quase não "vê" a variável.</a:t>
            </a:r>
          </a:p>
          <a:p>
            <a:r>
              <a:t>De onde: DM10, tabela</a:t>
            </a:r>
          </a:p>
          <a:p/>
          <a:p>
            <a:r>
              <a:t>P: O que é comunalidade?</a:t>
            </a:r>
          </a:p>
          <a:p>
            <a:r>
              <a:t>R: A parte da variância da variável que os fatores explicam. Abaixo de 0,30 ela fica fora pelos critérios do NB05.</a:t>
            </a:r>
          </a:p>
          <a:p>
            <a:r>
              <a:t>De onde: ART002 p.176; FA04</a:t>
            </a:r>
          </a:p>
          <a:p/>
          <a:p>
            <a:r>
              <a:t>P: Então tira ou mantém?</a:t>
            </a:r>
          </a:p>
          <a:p>
            <a:r>
              <a:t>R: Pelo critério, sairia. Deixei o diagnóstico para decidirmos juntos.</a:t>
            </a:r>
          </a:p>
          <a:p>
            <a:r>
              <a:t>De onde: DM10</a:t>
            </a:r>
          </a:p>
          <a:p/>
          <a:p>
            <a:r>
              <a:t>NA PONTA DA LÍNGUA</a:t>
            </a:r>
          </a:p>
          <a:p>
            <a:r>
              <a:t>· Comunalidade 0,013 (S5); 0,018 (S6)</a:t>
            </a:r>
          </a:p>
          <a:p>
            <a:r>
              <a:t>· Zeros: 92,19% (S5)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DM11</a:t>
            </a:r>
          </a:p>
          <a:p/>
          <a:p>
            <a:r>
              <a:t>O QUE É</a:t>
            </a:r>
          </a:p>
          <a:p>
            <a:r>
              <a:t>Demanda 10: testar lixo. Rodei com e sem o lixo: S1 (IVS-7 sem lixo) e S7 (S6 sem lixo).</a:t>
            </a:r>
          </a:p>
          <a:p/>
          <a:p>
            <a:r>
              <a:t>PERGUNTAS</a:t>
            </a:r>
          </a:p>
          <a:p>
            <a:r>
              <a:t>P: O que acontece com o lixo?</a:t>
            </a:r>
          </a:p>
          <a:p>
            <a:r>
              <a:t>R: No S0 ele forma um fator próprio na Varimax: Kaiser e Horn dão 2 fatores. Sem o lixo (S1) dão 1.</a:t>
            </a:r>
          </a:p>
          <a:p>
            <a:r>
              <a:t>De onde: DM11, tabela; FP08</a:t>
            </a:r>
          </a:p>
          <a:p/>
          <a:p>
            <a:r>
              <a:t>P: Por que o lixo se separa?</a:t>
            </a:r>
          </a:p>
          <a:p>
            <a:r>
              <a:t>R: Quase não se correlaciona com os outros indicadores (0,095 com água inadequada). Ele sozinho vira um fator.</a:t>
            </a:r>
          </a:p>
          <a:p>
            <a:r>
              <a:t>De onde: DC01; FP02</a:t>
            </a:r>
          </a:p>
          <a:p/>
          <a:p>
            <a:r>
              <a:t>P: Isso é estável?</a:t>
            </a:r>
          </a:p>
          <a:p>
            <a:r>
              <a:t>R: Não muito: em duas rodadas tirando um município de cada vez, o lixo muda de fator. E com lixo quase nenhuma versão passa nos critérios: só 3 das 108.</a:t>
            </a:r>
          </a:p>
          <a:p>
            <a:r>
              <a:t>De onde: DM11; VP05</a:t>
            </a:r>
          </a:p>
          <a:p/>
          <a:p>
            <a:r>
              <a:t>NA PONTA DA LÍNGUA</a:t>
            </a:r>
          </a:p>
          <a:p>
            <a:r>
              <a:t>· S0: 2 fatores (Kaiser e Horn); S1: 1</a:t>
            </a:r>
          </a:p>
          <a:p>
            <a:r>
              <a:t>· Lixo × água inadequada: 0,095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DM12</a:t>
            </a:r>
          </a:p>
          <a:p/>
          <a:p>
            <a:r>
              <a:t>O QUE É</a:t>
            </a:r>
          </a:p>
          <a:p>
            <a:r>
              <a:t>Demanda 11: testar as duas rotações. Varimax e promax; na promax há duas formas de ler as cargas: a matriz padrão (efeito próprio do fator) e a matriz estrutura (correlação da variável com o fator).</a:t>
            </a:r>
          </a:p>
          <a:p/>
          <a:p>
            <a:r>
              <a:t>PERGUNTAS</a:t>
            </a:r>
          </a:p>
          <a:p>
            <a:r>
              <a:t>P: Qual rotação usar?</a:t>
            </a:r>
          </a:p>
          <a:p>
            <a:r>
              <a:t>R: Não escolhi. Mostro as duas; os pesos de F1 no S1 ficam entre 59,64% e 65,82% nas leituras oblíquas e 65,01% na Varimax.</a:t>
            </a:r>
          </a:p>
          <a:p>
            <a:r>
              <a:t>De onde: DM12, tabela; FP09</a:t>
            </a:r>
          </a:p>
          <a:p/>
          <a:p>
            <a:r>
              <a:t>P: O que é o Φ de 0,522 no S1?</a:t>
            </a:r>
          </a:p>
          <a:p>
            <a:r>
              <a:t>R: A correlação entre F1 e F2 na promax. Se fosse perto de zero, a Varimax bastaria.</a:t>
            </a:r>
          </a:p>
          <a:p>
            <a:r>
              <a:t>De onde: DM12; FA10</a:t>
            </a:r>
          </a:p>
          <a:p/>
          <a:p>
            <a:r>
              <a:t>P: Padrão ou estrutura?</a:t>
            </a:r>
          </a:p>
          <a:p>
            <a:r>
              <a:t>R: A padrão mostra quanto cada fator, sozinho, explica a variável; a estrutura soma também o que vem pela correlação entre os fatores. Reportei as duas.</a:t>
            </a:r>
          </a:p>
          <a:p>
            <a:r>
              <a:t>De onde: FA09</a:t>
            </a:r>
          </a:p>
          <a:p/>
          <a:p>
            <a:r>
              <a:t>NA PONTA DA LÍNGUA</a:t>
            </a:r>
          </a:p>
          <a:p>
            <a:r>
              <a:t>· S1: F1 65,01% Varimax; 65,82% promax padrão; 59,64% estrutura</a:t>
            </a:r>
          </a:p>
          <a:p>
            <a:r>
              <a:t>· Φ no S1: 0,522</a:t>
            </a:r>
          </a:p>
          <a:p/>
          <a:p>
            <a:r>
              <a:t>LEITURA PENDENTE (estudar antes): Matriz padrão × estrutura: sem leitura no fichamento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DM14</a:t>
            </a:r>
          </a:p>
          <a:p/>
          <a:p>
            <a:r>
              <a:t>O QUE É</a:t>
            </a:r>
          </a:p>
          <a:p>
            <a:r>
              <a:t>Resumo de tudo o que contornei, demanda por demanda: o obstáculo, o que fiz no lugar e o efeito.</a:t>
            </a:r>
          </a:p>
          <a:p/>
          <a:p>
            <a:r>
              <a:t>PERGUNTAS</a:t>
            </a:r>
          </a:p>
          <a:p>
            <a:r>
              <a:t>P: Algum contorno muda o resultado?</a:t>
            </a:r>
          </a:p>
          <a:p>
            <a:r>
              <a:t>R: O maior efeito é a perda de setores quando entra variável nova (demanda 7). A renda imputada muda 1 setor.</a:t>
            </a:r>
          </a:p>
          <a:p>
            <a:r>
              <a:t>De onde: DM14; DM08</a:t>
            </a:r>
          </a:p>
          <a:p/>
          <a:p>
            <a:r>
              <a:t>P: O que é o erro dos 85,7%?</a:t>
            </a:r>
          </a:p>
          <a:p>
            <a:r>
              <a:t>R: Um percentual calculado antes com o denominador errado; o certo é 94,5% (demanda 5).</a:t>
            </a:r>
          </a:p>
          <a:p>
            <a:r>
              <a:t>De onde: DM06</a:t>
            </a:r>
          </a:p>
          <a:p/>
          <a:p>
            <a:r>
              <a:t>NA PONTA DA LÍNGUA</a:t>
            </a:r>
          </a:p>
          <a:p>
            <a:r>
              <a:t>· Renda: 1 setor muda</a:t>
            </a:r>
          </a:p>
          <a:p>
            <a:r>
              <a:t>· Zeros de "não chega": 94,5%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DS00</a:t>
            </a:r>
          </a:p>
          <a:p/>
          <a:p>
            <a:r>
              <a:t>O QUE É</a:t>
            </a:r>
          </a:p>
          <a:p>
            <a:r>
              <a:t>Abre a descritiva: um indicador por slide, sem cruzar indicadores. Cada um tem a definição, o arquivo do Censo e a distribuição nos 104.108 setores.</a:t>
            </a:r>
          </a:p>
          <a:p/>
          <a:p>
            <a:r>
              <a:t>PERGUNTAS</a:t>
            </a:r>
          </a:p>
          <a:p>
            <a:r>
              <a:t>P: Por que 104.108 setores?</a:t>
            </a:r>
          </a:p>
          <a:p>
            <a:r>
              <a:t>R: São os urbanos com Dados_sig = OK: tirei os rurais e os sem dados divulgados.</a:t>
            </a:r>
          </a:p>
          <a:p>
            <a:r>
              <a:t>De onde: DS01</a:t>
            </a:r>
          </a:p>
          <a:p/>
          <a:p>
            <a:r>
              <a:t>P: Por que não cruza indicadores aqui?</a:t>
            </a:r>
          </a:p>
          <a:p>
            <a:r>
              <a:t>R: Foi a forma combinada: primeiro cada indicador sozinho; as correlações vêm depois (DC).</a:t>
            </a:r>
          </a:p>
          <a:p>
            <a:r>
              <a:t>De onde: DC00</a:t>
            </a:r>
          </a:p>
          <a:p/>
          <a:p>
            <a:r>
              <a:t>NA PONTA DA LÍNGUA</a:t>
            </a:r>
          </a:p>
          <a:p>
            <a:r>
              <a:t>· 104.108 setores urbanos com Dados_sig = OK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DS01</a:t>
            </a:r>
          </a:p>
          <a:p/>
          <a:p>
            <a:r>
              <a:t>O QUE É</a:t>
            </a:r>
          </a:p>
          <a:p>
            <a:r>
              <a:t>O funil: de 109.032 setores para os que entram em cada parte. É a forma recomendada de abrir os resultados (como se chegou à amostra).</a:t>
            </a:r>
          </a:p>
          <a:p/>
          <a:p>
            <a:r>
              <a:t>PERGUNTAS</a:t>
            </a:r>
          </a:p>
          <a:p>
            <a:r>
              <a:t>P: Por que saem 2.685 setores rurais?</a:t>
            </a:r>
          </a:p>
          <a:p>
            <a:r>
              <a:t>R: O IVS é de vulnerabilidade intraurbana: compara setores dentro da cidade, e os rurais ficam fora.</a:t>
            </a:r>
          </a:p>
          <a:p>
            <a:r>
              <a:t>De onde: DS01; ART010 p.8</a:t>
            </a:r>
          </a:p>
          <a:p/>
          <a:p>
            <a:r>
              <a:t>P: O que é Dados_sig?</a:t>
            </a:r>
          </a:p>
          <a:p>
            <a:r>
              <a:t>R: Uma marca por setor: OK se o setor tem dados divulgados. Saem 2.239 setores sem dado (sigilo ou sem domicílio ocupado). A regra vem do IVS-BH.</a:t>
            </a:r>
          </a:p>
          <a:p>
            <a:r>
              <a:t>De onde: ART004 (Tratamento dos dados); DS01</a:t>
            </a:r>
          </a:p>
          <a:p/>
          <a:p>
            <a:r>
              <a:t>P: Por que a fatorial usa só 73.878?</a:t>
            </a:r>
          </a:p>
          <a:p>
            <a:r>
              <a:t>R: Exclusão por lista: sai o setor que não tem algum dos sete componentes. Saem 30.230, a maior parte pelo analfabetismo e pelo banheiro graduado.</a:t>
            </a:r>
          </a:p>
          <a:p>
            <a:r>
              <a:t>De onde: DS01; FA01</a:t>
            </a:r>
          </a:p>
          <a:p/>
          <a:p>
            <a:r>
              <a:t>NA PONTA DA LÍNGUA</a:t>
            </a:r>
          </a:p>
          <a:p>
            <a:r>
              <a:t>· 109.032 → 106.347 urbanos → 104.108 com dados → 73.878 na fatorial</a:t>
            </a:r>
          </a:p>
          <a:p>
            <a:r>
              <a:t>· Saem 30.230 na fatorial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DS02</a:t>
            </a:r>
          </a:p>
          <a:p/>
          <a:p>
            <a:r>
              <a:t>O QUE É</a:t>
            </a:r>
          </a:p>
          <a:p>
            <a:r>
              <a:t>Quantos setores têm valor em cada indicador. Faltante = o setor não tem o dado (sigilo ou denominador zero).</a:t>
            </a:r>
          </a:p>
          <a:p/>
          <a:p>
            <a:r>
              <a:t>PERGUNTAS</a:t>
            </a:r>
          </a:p>
          <a:p>
            <a:r>
              <a:t>P: Qual indicador perde mais setores?</a:t>
            </a:r>
          </a:p>
          <a:p>
            <a:r>
              <a:t>R: Analfabetismo 15+: 16.552 faltantes (15,90%). Depois água só no terreno (15.897) e banheiro graduado (14.292).</a:t>
            </a:r>
          </a:p>
          <a:p>
            <a:r>
              <a:t>De onde: DS02, tabela; T02_perdas_por_indicador.csv</a:t>
            </a:r>
          </a:p>
          <a:p/>
          <a:p>
            <a:r>
              <a:t>P: Por que o analfabetismo perde tanto?</a:t>
            </a:r>
          </a:p>
          <a:p>
            <a:r>
              <a:t>R: Os dados de alfabetização têm mais setores sem divulgação. Não verifiquei a causa setor a setor.</a:t>
            </a:r>
          </a:p>
          <a:p>
            <a:r>
              <a:t>De onde: DS02 [A CONFERIR: causa dos faltantes do analfabetismo]</a:t>
            </a:r>
          </a:p>
          <a:p/>
          <a:p>
            <a:r>
              <a:t>P: Isso enviesa a fatorial?</a:t>
            </a:r>
          </a:p>
          <a:p>
            <a:r>
              <a:t>R: Pode: o sigilo não é aleatório (atinge setores pequenos). Está nas limitações.</a:t>
            </a:r>
          </a:p>
          <a:p>
            <a:r>
              <a:t>De onde: ART034 p.537; notas do Pedro (limitações)</a:t>
            </a:r>
          </a:p>
          <a:p/>
          <a:p>
            <a:r>
              <a:t>NA PONTA DA LÍNGUA</a:t>
            </a:r>
          </a:p>
          <a:p>
            <a:r>
              <a:t>· Analfabetismo: 16.552 faltantes (15,90%)</a:t>
            </a:r>
          </a:p>
          <a:p>
            <a:r>
              <a:t>· Banheiro graduado: 14.292 (13,73%)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DS03</a:t>
            </a:r>
          </a:p>
          <a:p/>
          <a:p>
            <a:r>
              <a:t>O QUE É</a:t>
            </a:r>
          </a:p>
          <a:p>
            <a:r>
              <a:t>Proporção de domicílios com abastecimento de água inadequado ou ausente.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V00112, V00113, V00114, V00115 e mais 3; denominador: V00001.</a:t>
            </a:r>
          </a:p>
          <a:p>
            <a:r>
              <a:t>De onde: DS03,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74,25% dos setores nenhum domicílio está nessa situação: a condição se concentra em poucos setores. Por isso descrevo também a média (6,96%) e o % de setores com valor acima de zero (slide seguinte).</a:t>
            </a:r>
          </a:p>
          <a:p>
            <a:r>
              <a:t>De onde: DS03,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3,42: cauda à direita. Poucos setores com valor bem alto puxam a média (6,96%) para cima da mediana (0,00%).</a:t>
            </a:r>
          </a:p>
          <a:p>
            <a:r>
              <a:t>De onde: DS03,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NB05.</a:t>
            </a:r>
          </a:p>
          <a:p>
            <a:r>
              <a:t>De onde: DS03,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6,96%; mediana 0,00%</a:t>
            </a:r>
          </a:p>
          <a:p>
            <a:r>
              <a:t>· Setores com zero: 74,25%</a:t>
            </a:r>
          </a:p>
          <a:p>
            <a:r>
              <a:t>· IVS-7: Sim; referência: Sim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DS03-2</a:t>
            </a:r>
          </a:p>
          <a:p/>
          <a:p>
            <a:r>
              <a:t>O QUE É</a:t>
            </a:r>
          </a:p>
          <a:p>
            <a:r>
              <a:t>Água inadequada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87,6%); a menor é a Sudeste (12,8%).</a:t>
            </a:r>
          </a:p>
          <a:p>
            <a:r>
              <a:t>De onde: DS03-2,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36,8%; nos demais, 23,2%. É descrição de grupos de setores, não de pessoas: num estudo ecológico não dá para passar para o indivíduo.</a:t>
            </a:r>
          </a:p>
          <a:p>
            <a:r>
              <a:t>De onde: DS03-2;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(São Paulo das Missões) a 100,0% (Placas). A lista completa está no anexo (aba Por_municipio).</a:t>
            </a:r>
          </a:p>
          <a:p>
            <a:r>
              <a:t>De onde: DS03-2;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87,6%; Sudeste: 12,8%</a:t>
            </a:r>
          </a:p>
          <a:p>
            <a:r>
              <a:t>· FCU 36,8% × demais 23,2%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DS04</a:t>
            </a:r>
          </a:p>
          <a:p/>
          <a:p>
            <a:r>
              <a:t>O QUE É</a:t>
            </a:r>
          </a:p>
          <a:p>
            <a:r>
              <a:t>Proporção de domicílios com esgotamento sanitário inadequado ou ausente.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V00312, V00313, V00314, V00315 e mais 1; denominador: V00001.</a:t>
            </a:r>
          </a:p>
          <a:p>
            <a:r>
              <a:t>De onde: DS04,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72,53% dos setores nenhum domicílio está nessa situação: a condição se concentra em poucos setores. Por isso descrevo também a média (8,20%) e o % de setores com valor acima de zero (slide seguinte).</a:t>
            </a:r>
          </a:p>
          <a:p>
            <a:r>
              <a:t>De onde: DS04,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2,98: cauda à direita. Poucos setores com valor bem alto puxam a média (8,20%) para cima da mediana (0,00%).</a:t>
            </a:r>
          </a:p>
          <a:p>
            <a:r>
              <a:t>De onde: DS04,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NB05.</a:t>
            </a:r>
          </a:p>
          <a:p>
            <a:r>
              <a:t>De onde: DS04,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104.107; faltantes: 1 (0,00%)</a:t>
            </a:r>
          </a:p>
          <a:p>
            <a:r>
              <a:t>· Média 8,20%; mediana 0,00%</a:t>
            </a:r>
          </a:p>
          <a:p>
            <a:r>
              <a:t>· Setores com zero: 72,53%</a:t>
            </a:r>
          </a:p>
          <a:p>
            <a:r>
              <a:t>· IVS-7: Sim; referência: Sim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DS04-2</a:t>
            </a:r>
          </a:p>
          <a:p/>
          <a:p>
            <a:r>
              <a:t>O QUE É</a:t>
            </a:r>
          </a:p>
          <a:p>
            <a:r>
              <a:t>Esgoto inadequado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68,1%); a menor é a Sul (14,4%).</a:t>
            </a:r>
          </a:p>
          <a:p>
            <a:r>
              <a:t>De onde: DS04-2,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57,1%; nos demais, 20,7%. É descrição de grupos de setores, não de pessoas: num estudo ecológico não dá para passar para o indivíduo.</a:t>
            </a:r>
          </a:p>
          <a:p>
            <a:r>
              <a:t>De onde: DS04-2;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(São Caetano do Sul) a 100,0% (Vicentinópolis). A lista completa está no anexo (aba Por_municipio).</a:t>
            </a:r>
          </a:p>
          <a:p>
            <a:r>
              <a:t>De onde: DS04-2;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68,1%; Sul: 14,4%</a:t>
            </a:r>
          </a:p>
          <a:p>
            <a:r>
              <a:t>· FCU 57,1% × demais 20,7%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DS05</a:t>
            </a:r>
          </a:p>
          <a:p/>
          <a:p>
            <a:r>
              <a:t>O QUE É</a:t>
            </a:r>
          </a:p>
          <a:p>
            <a:r>
              <a:t>Proporção de domicílios com destino do lixo inadequado ou ausente.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V00398, V00399, V00400, V00401 e mais 1; denominador: V00001.</a:t>
            </a:r>
          </a:p>
          <a:p>
            <a:r>
              <a:t>De onde: DS05,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62,78% dos setores nenhum domicílio está nessa situação: a condição se concentra em poucos setores. Por isso descrevo também a média (11,58%) e o % de setores com valor acima de zero (slide seguinte).</a:t>
            </a:r>
          </a:p>
          <a:p>
            <a:r>
              <a:t>De onde: DS05,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2,38: cauda à direita. Poucos setores com valor bem alto puxam a média (11,58%) para cima da mediana (0,00%).</a:t>
            </a:r>
          </a:p>
          <a:p>
            <a:r>
              <a:t>De onde: DS05,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IVS-7, mas a referência proposta do NB05 é a versão sem lixo: com o lixo, ele forma um fator próprio (FP08).</a:t>
            </a:r>
          </a:p>
          <a:p>
            <a:r>
              <a:t>De onde: DS05,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11,58%; mediana 0,00%</a:t>
            </a:r>
          </a:p>
          <a:p>
            <a:r>
              <a:t>· Setores com zero: 62,78%</a:t>
            </a:r>
          </a:p>
          <a:p>
            <a:r>
              <a:t>· IVS-7: Sim;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DS05-2</a:t>
            </a:r>
          </a:p>
          <a:p/>
          <a:p>
            <a:r>
              <a:t>O QUE É</a:t>
            </a:r>
          </a:p>
          <a:p>
            <a:r>
              <a:t>Lixo inadequado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Nordeste (% de setores com valor acima de zero: 44,8%); a menor é a Centro-Oeste (30,4%).</a:t>
            </a:r>
          </a:p>
          <a:p>
            <a:r>
              <a:t>De onde: DS05-2,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59,5%; nos demais, 32,1%. É descrição de grupos de setores, não de pessoas: num estudo ecológico não dá para passar para o indivíduo.</a:t>
            </a:r>
          </a:p>
          <a:p>
            <a:r>
              <a:t>De onde: DS05-2;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(São Paulo das Missões) a 100,0% (Placas). A lista completa está no anexo (aba Por_municipio).</a:t>
            </a:r>
          </a:p>
          <a:p>
            <a:r>
              <a:t>De onde: DS05-2;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Nordeste: 44,8%; Centro-Oeste: 30,4%</a:t>
            </a:r>
          </a:p>
          <a:p>
            <a:r>
              <a:t>· FCU 59,5% × demais 32,1%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DS06</a:t>
            </a:r>
          </a:p>
          <a:p/>
          <a:p>
            <a:r>
              <a:t>O QUE É</a:t>
            </a:r>
          </a:p>
          <a:p>
            <a:r>
              <a:t>Proporção de domicílios em que a água não chega encanada até dentro do domicílio (complemento de V00199; equivale a V00200+V00201 sobre V00001).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V00199; denominador: V00001.</a:t>
            </a:r>
          </a:p>
          <a:p>
            <a:r>
              <a:t>De onde: DS06,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69,70% dos setores nenhum domicílio está nessa situação: a condição se concentra em poucos setores. Por isso descrevo também a média (1,50%) e o % de setores com valor acima de zero (slide seguinte).</a:t>
            </a:r>
          </a:p>
          <a:p>
            <a:r>
              <a:t>De onde: DS06,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8,70: cauda à direita. Poucos setores com valor bem alto puxam a média (1,50%) para cima da mediana (0,00%).</a:t>
            </a:r>
          </a:p>
          <a:p>
            <a:r>
              <a:t>De onde: DS06,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Foi pedido na demanda 7. Testei nos cenários S3 e S6 e no eixo água das 108 versões; não está na referência proposta.</a:t>
            </a:r>
          </a:p>
          <a:p>
            <a:r>
              <a:t>De onde: DS06,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104.067; faltantes: 41 (0,04%)</a:t>
            </a:r>
          </a:p>
          <a:p>
            <a:r>
              <a:t>· Média 1,50%; mediana 0,00%</a:t>
            </a:r>
          </a:p>
          <a:p>
            <a:r>
              <a:t>· Setores com zero: 69,70%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DS06-2</a:t>
            </a:r>
          </a:p>
          <a:p/>
          <a:p>
            <a:r>
              <a:t>O QUE É</a:t>
            </a:r>
          </a:p>
          <a:p>
            <a:r>
              <a:t>Sem água canalizada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64,1%); a menor é a Sul (17,8%).</a:t>
            </a:r>
          </a:p>
          <a:p>
            <a:r>
              <a:t>De onde: DS06-2,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52,1%; nos demais, 25,3%. É descrição de grupos de setores, não de pessoas: num estudo ecológico não dá para passar para o indivíduo.</a:t>
            </a:r>
          </a:p>
          <a:p>
            <a:r>
              <a:t>De onde: DS06-2;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(São Paulo das Missões) a 100,0% (Portel). A lista completa está no anexo (aba Por_municipio).</a:t>
            </a:r>
          </a:p>
          <a:p>
            <a:r>
              <a:t>De onde: DS06-2;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64,1%; Sul: 17,8%</a:t>
            </a:r>
          </a:p>
          <a:p>
            <a:r>
              <a:t>· FCU 52,1% × demais 25,3%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DS07</a:t>
            </a:r>
          </a:p>
          <a:p/>
          <a:p>
            <a:r>
              <a:t>O QUE É</a:t>
            </a:r>
          </a:p>
          <a:p>
            <a:r>
              <a:t>Proporção de domicílios em que a água não chega encanada ao domicílio (V00201).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V00201; denominador: V00001.</a:t>
            </a:r>
          </a:p>
          <a:p>
            <a:r>
              <a:t>De onde: DS07,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94,50% dos setores nenhum domicílio está nessa situação: a condição se concentra em poucos setores. Por isso descrevo também a média (0,47%) e o % de setores com valor acima de zero (slide seguinte).</a:t>
            </a:r>
          </a:p>
          <a:p>
            <a:r>
              <a:t>De onde: DS07, tabela de distribuição; T03_descritivas_global.csv</a:t>
            </a:r>
          </a:p>
          <a:p/>
          <a:p>
            <a:r>
              <a:t>P: Por que há 9.706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DS07,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Demandas 5 e 7. Testei nos cenários S2 e S6 e no eixo água das 108 versões; não está na referência proposta.</a:t>
            </a:r>
          </a:p>
          <a:p>
            <a:r>
              <a:t>De onde: DS07,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94.402; faltantes: 9.706 (9,32%)</a:t>
            </a:r>
          </a:p>
          <a:p>
            <a:r>
              <a:t>· Média 0,47%; mediana 0,00%</a:t>
            </a:r>
          </a:p>
          <a:p>
            <a:r>
              <a:t>· Setores com zero: 94,50%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DS07-2</a:t>
            </a:r>
          </a:p>
          <a:p/>
          <a:p>
            <a:r>
              <a:t>O QUE É</a:t>
            </a:r>
          </a:p>
          <a:p>
            <a:r>
              <a:t>Água não chega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21,2%); a menor é a Sul (1,4%).</a:t>
            </a:r>
          </a:p>
          <a:p>
            <a:r>
              <a:t>De onde: DS07-2,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12,5%; nos demais, 4,0%. É descrição de grupos de setores, não de pessoas: num estudo ecológico não dá para passar para o indivíduo.</a:t>
            </a:r>
          </a:p>
          <a:p>
            <a:r>
              <a:t>De onde: DS07-2;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(Chapada dos Guimarães) a 88,2% (Arara). A lista completa está no anexo (aba Por_municipio).</a:t>
            </a:r>
          </a:p>
          <a:p>
            <a:r>
              <a:t>De onde: DS07-2;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21,2%; Sul: 1,4%</a:t>
            </a:r>
          </a:p>
          <a:p>
            <a:r>
              <a:t>· FCU 12,5% × demais 4,0%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DS08</a:t>
            </a:r>
          </a:p>
          <a:p/>
          <a:p>
            <a:r>
              <a:t>O QUE É</a:t>
            </a:r>
          </a:p>
          <a:p>
            <a:r>
              <a:t>Proporção de domicílios em que a água chega encanada apenas ao terreno (V00200).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V00200; denominador: V00001.</a:t>
            </a:r>
          </a:p>
          <a:p>
            <a:r>
              <a:t>De onde: DS08,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88,28% dos setores nenhum domicílio está nessa situação: a condição se concentra em poucos setores. Por isso descrevo também a média (1,05%) e o % de setores com valor acima de zero (slide seguinte).</a:t>
            </a:r>
          </a:p>
          <a:p>
            <a:r>
              <a:t>De onde: DS08, tabela de distribuição; T03_descritivas_global.csv</a:t>
            </a:r>
          </a:p>
          <a:p/>
          <a:p>
            <a:r>
              <a:t>P: Por que há 15.897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DS08,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Descreve a canalização junto com "não chega" e "sem canalização". Não testei como componente da fatorial.</a:t>
            </a:r>
          </a:p>
          <a:p>
            <a:r>
              <a:t>De onde: DS08,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88.211; faltantes: 15.897 (15,27%)</a:t>
            </a:r>
          </a:p>
          <a:p>
            <a:r>
              <a:t>· Média 1,05%; mediana 0,00%</a:t>
            </a:r>
          </a:p>
          <a:p>
            <a:r>
              <a:t>· Setores com zero: 88,28%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DS08-2</a:t>
            </a:r>
          </a:p>
          <a:p/>
          <a:p>
            <a:r>
              <a:t>O QUE É</a:t>
            </a:r>
          </a:p>
          <a:p>
            <a:r>
              <a:t>Água só no terreno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39,6%); a menor é a Sul (3,0%).</a:t>
            </a:r>
          </a:p>
          <a:p>
            <a:r>
              <a:t>De onde: DS08-2,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28,0%; nos demais, 8,4%. É descrição de grupos de setores, não de pessoas: num estudo ecológico não dá para passar para o indivíduo.</a:t>
            </a:r>
          </a:p>
          <a:p>
            <a:r>
              <a:t>De onde: DS08-2;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(Guapiaçu) a 100,0% (São Raimundo do Doca Bezerra). A lista completa está no anexo (aba Por_municipio).</a:t>
            </a:r>
          </a:p>
          <a:p>
            <a:r>
              <a:t>De onde: DS08-2;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39,6%; Sul: 3,0%</a:t>
            </a:r>
          </a:p>
          <a:p>
            <a:r>
              <a:t>· FCU 28,0% × demais 8,4%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DS09</a:t>
            </a:r>
          </a:p>
          <a:p/>
          <a:p>
            <a:r>
              <a:t>O QUE É</a:t>
            </a:r>
          </a:p>
          <a:p>
            <a:r>
              <a:t>Proporção de domicílios sem banheiro de uso exclusivo com chuveiro e vaso sanitário.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V00495; denominador: V00001.</a:t>
            </a:r>
          </a:p>
          <a:p>
            <a:r>
              <a:t>De onde: DS09,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95,60% dos setores nenhum domicílio está nessa situação: a condição se concentra em poucos setores. Por isso descrevo também a média (0,23%) e o % de setores com valor acima de zero (slide seguinte).</a:t>
            </a:r>
          </a:p>
          <a:p>
            <a:r>
              <a:t>De onde: DS09, tabela de distribuição; T03_descritivas_global.csv</a:t>
            </a:r>
          </a:p>
          <a:p/>
          <a:p>
            <a:r>
              <a:t>P: Por que há 12.196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DS09,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Demanda 6. É a V00495, testada no cenário S4 e no eixo banheiro das 108 versões. Na referência entrou a forma graduada do banheiro.</a:t>
            </a:r>
          </a:p>
          <a:p>
            <a:r>
              <a:t>De onde: DS09,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91.912; faltantes: 12.196 (11,71%)</a:t>
            </a:r>
          </a:p>
          <a:p>
            <a:r>
              <a:t>· Média 0,23%; mediana 0,00%</a:t>
            </a:r>
          </a:p>
          <a:p>
            <a:r>
              <a:t>· Setores com zero: 95,60%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DS09-2</a:t>
            </a:r>
          </a:p>
          <a:p/>
          <a:p>
            <a:r>
              <a:t>O QUE É</a:t>
            </a:r>
          </a:p>
          <a:p>
            <a:r>
              <a:t>Sem banheiro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24,0%); a menor é a Centro-Oeste (1,3%).</a:t>
            </a:r>
          </a:p>
          <a:p>
            <a:r>
              <a:t>De onde: DS09-2,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14,1%; nos demais, 2,5%. É descrição de grupos de setores, não de pessoas: num estudo ecológico não dá para passar para o indivíduo.</a:t>
            </a:r>
          </a:p>
          <a:p>
            <a:r>
              <a:t>De onde: DS09-2;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(Anápolis) a 100,0% (Placas). A lista completa está no anexo (aba Por_municipio).</a:t>
            </a:r>
          </a:p>
          <a:p>
            <a:r>
              <a:t>De onde: DS09-2;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24,0%; Centro-Oeste: 1,3%</a:t>
            </a:r>
          </a:p>
          <a:p>
            <a:r>
              <a:t>· FCU 14,1% × demais 2,5%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DS10</a:t>
            </a:r>
          </a:p>
          <a:p/>
          <a:p>
            <a:r>
              <a:t>O QUE É</a:t>
            </a:r>
          </a:p>
          <a:p>
            <a:r>
              <a:t>Proporção de domicílios sem banheiro nem sanitário.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V00238; denominador: V00001.</a:t>
            </a:r>
          </a:p>
          <a:p>
            <a:r>
              <a:t>De onde: DS10,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99,65% dos setores nenhum domicílio está nessa situação: a condição se concentra em poucos setores. Por isso descrevo também a média (0,02%) e o % de setores com valor acima de zero (slide seguinte).</a:t>
            </a:r>
          </a:p>
          <a:p>
            <a:r>
              <a:t>De onde: DS10, tabela de distribuição; T03_descritivas_global.csv</a:t>
            </a:r>
          </a:p>
          <a:p/>
          <a:p>
            <a:r>
              <a:t>P: Por que há 2.969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DS10,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É uma das três partes do sem banheiro. Entra no índice só dentro do banheiro graduado (peso 3), não sozinha.</a:t>
            </a:r>
          </a:p>
          <a:p>
            <a:r>
              <a:t>De onde: DS10,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101.139; faltantes: 2.969 (2,85%)</a:t>
            </a:r>
          </a:p>
          <a:p>
            <a:r>
              <a:t>· Média 0,02%; mediana 0,00%</a:t>
            </a:r>
          </a:p>
          <a:p>
            <a:r>
              <a:t>· Setores com zero: 99,65%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DS10-2</a:t>
            </a:r>
          </a:p>
          <a:p/>
          <a:p>
            <a:r>
              <a:t>O QUE É</a:t>
            </a:r>
          </a:p>
          <a:p>
            <a:r>
              <a:t>Sem banheiro nem sanitário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1,4%); a menor é a Sudeste (0,1%).</a:t>
            </a:r>
          </a:p>
          <a:p>
            <a:r>
              <a:t>De onde: DS10-2,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1,1%; nos demais, 0,2%. É descrição de grupos de setores, não de pessoas: num estudo ecológico não dá para passar para o indivíduo.</a:t>
            </a:r>
          </a:p>
          <a:p>
            <a:r>
              <a:t>De onde: DS10-2;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(Anápolis) a 33,3% (São Raimundo do Doca Bezerra). A lista completa está no anexo (aba Por_municipio).</a:t>
            </a:r>
          </a:p>
          <a:p>
            <a:r>
              <a:t>De onde: DS10-2;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1,4%; Sudeste: 0,1%</a:t>
            </a:r>
          </a:p>
          <a:p>
            <a:r>
              <a:t>· FCU 1,1% × demais 0,2%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DS11</a:t>
            </a:r>
          </a:p>
          <a:p/>
          <a:p>
            <a:r>
              <a:t>O QUE É</a:t>
            </a:r>
          </a:p>
          <a:p>
            <a:r>
              <a:t>Proporção de domicílios com apenas sanitário ou buraco para dejeções.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V00237; denominador: V00001.</a:t>
            </a:r>
          </a:p>
          <a:p>
            <a:r>
              <a:t>De onde: DS11,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98,96% dos setores nenhum domicílio está nessa situação: a condição se concentra em poucos setores. Por isso descrevo também a média (0,06%) e o % de setores com valor acima de zero (slide seguinte).</a:t>
            </a:r>
          </a:p>
          <a:p>
            <a:r>
              <a:t>De onde: DS11, tabela de distribuição; T03_descritivas_global.csv</a:t>
            </a:r>
          </a:p>
          <a:p/>
          <a:p>
            <a:r>
              <a:t>P: Por que há 3.811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DS11,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É uma das três partes do sem banheiro. Entra no índice só dentro do banheiro graduado (peso 2), não sozinha.</a:t>
            </a:r>
          </a:p>
          <a:p>
            <a:r>
              <a:t>De onde: DS11,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100.297; faltantes: 3.811 (3,66%)</a:t>
            </a:r>
          </a:p>
          <a:p>
            <a:r>
              <a:t>· Média 0,06%; mediana 0,00%</a:t>
            </a:r>
          </a:p>
          <a:p>
            <a:r>
              <a:t>· Setores com zero: 98,96%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DS11-2</a:t>
            </a:r>
          </a:p>
          <a:p/>
          <a:p>
            <a:r>
              <a:t>O QUE É</a:t>
            </a:r>
          </a:p>
          <a:p>
            <a:r>
              <a:t>Só sanitário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4,0%); a menor é a Sudeste (0,2%).</a:t>
            </a:r>
          </a:p>
          <a:p>
            <a:r>
              <a:t>De onde: DS11-2,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3,4%; nos demais, 0,5%. É descrição de grupos de setores, não de pessoas: num estudo ecológico não dá para passar para o indivíduo.</a:t>
            </a:r>
          </a:p>
          <a:p>
            <a:r>
              <a:t>De onde: DS11-2;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(Anápolis) a 83,3% (Placas). A lista completa está no anexo (aba Por_municipio).</a:t>
            </a:r>
          </a:p>
          <a:p>
            <a:r>
              <a:t>De onde: DS11-2;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4,0%; Sudeste: 0,2%</a:t>
            </a:r>
          </a:p>
          <a:p>
            <a:r>
              <a:t>· FCU 3,4% × demais 0,5%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DS12</a:t>
            </a:r>
          </a:p>
          <a:p/>
          <a:p>
            <a:r>
              <a:t>O QUE É</a:t>
            </a:r>
          </a:p>
          <a:p>
            <a:r>
              <a:t>Proporção de domicílios com apenas banheiro de uso comum.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V00236; denominador: V00001.</a:t>
            </a:r>
          </a:p>
          <a:p>
            <a:r>
              <a:t>De onde: DS12,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97,31% dos setores nenhum domicílio está nessa situação: a condição se concentra em poucos setores. Por isso descrevo também a média (0,11%) e o % de setores com valor acima de zero (slide seguinte).</a:t>
            </a:r>
          </a:p>
          <a:p>
            <a:r>
              <a:t>De onde: DS12, tabela de distribuição; T03_descritivas_global.csv</a:t>
            </a:r>
          </a:p>
          <a:p/>
          <a:p>
            <a:r>
              <a:t>P: Por que há 9.694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DS12,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É uma das três partes do sem banheiro. Entra no índice só dentro do banheiro graduado (peso 1), não sozinha.</a:t>
            </a:r>
          </a:p>
          <a:p>
            <a:r>
              <a:t>De onde: DS12,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94.414; faltantes: 9.694 (9,31%)</a:t>
            </a:r>
          </a:p>
          <a:p>
            <a:r>
              <a:t>· Média 0,11%; mediana 0,00%</a:t>
            </a:r>
          </a:p>
          <a:p>
            <a:r>
              <a:t>· Setores com zero: 97,31%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DS12-2</a:t>
            </a:r>
          </a:p>
          <a:p/>
          <a:p>
            <a:r>
              <a:t>O QUE É</a:t>
            </a:r>
          </a:p>
          <a:p>
            <a:r>
              <a:t>Banheiro de uso comum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17,2%); a menor é a Centro-Oeste (0,8%).</a:t>
            </a:r>
          </a:p>
          <a:p>
            <a:r>
              <a:t>De onde: DS12-2,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8,2%; nos demais, 1,6%. É descrição de grupos de setores, não de pessoas: num estudo ecológico não dá para passar para o indivíduo.</a:t>
            </a:r>
          </a:p>
          <a:p>
            <a:r>
              <a:t>De onde: DS12-2;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(Anápolis) a 100,0% (São Raimundo do Doca Bezerra). A lista completa está no anexo (aba Por_municipio).</a:t>
            </a:r>
          </a:p>
          <a:p>
            <a:r>
              <a:t>De onde: DS12-2;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17,2%; Centro-Oeste: 0,8%</a:t>
            </a:r>
          </a:p>
          <a:p>
            <a:r>
              <a:t>· FCU 8,2% × demais 1,6%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DS13</a:t>
            </a:r>
          </a:p>
          <a:p/>
          <a:p>
            <a:r>
              <a:t>O QUE É</a:t>
            </a:r>
          </a:p>
          <a:p>
            <a:r>
              <a:t>Grau de inadequação do banheiro: 0 = todos com banheiro, 1 = todos sem banheiro nem sanitário. Cada setor recebe um valor (escala de 0 a 1);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É calculado a partir de outras colunas da base, que vêm do Censo 2022. Numerador: V00236, V00237, V00238; denominador: V00001.</a:t>
            </a:r>
          </a:p>
          <a:p>
            <a:r>
              <a:t>De onde: DS13,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97,83% dos setores nenhum domicílio está nessa situação: a condição se concentra em poucos setores. Por isso descrevo também a média (0,001) e o % de setores com valor acima de zero (slide seguinte).</a:t>
            </a:r>
          </a:p>
          <a:p>
            <a:r>
              <a:t>De onde: DS13, tabela de distribuição; T03_descritivas_global.csv</a:t>
            </a:r>
          </a:p>
          <a:p/>
          <a:p>
            <a:r>
              <a:t>P: Por que há 14.292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DS13,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Não estava no IVS-BH 2012. Entrou na referência proposta como a forma graduada do sem banheiro (demanda 6).</a:t>
            </a:r>
          </a:p>
          <a:p>
            <a:r>
              <a:t>De onde: DS13,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89.816; faltantes: 14.292 (13,73%)</a:t>
            </a:r>
          </a:p>
          <a:p>
            <a:r>
              <a:t>· Média 0,001; mediana 0,000</a:t>
            </a:r>
          </a:p>
          <a:p>
            <a:r>
              <a:t>· Setores com zero: 97,83%</a:t>
            </a:r>
          </a:p>
          <a:p>
            <a:r>
              <a:t>· IVS-7: Não; referência: Sim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DS13-2</a:t>
            </a:r>
          </a:p>
          <a:p/>
          <a:p>
            <a:r>
              <a:t>O QUE É</a:t>
            </a:r>
          </a:p>
          <a:p>
            <a:r>
              <a:t>Banheiro graduado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13,7%); a menor é a Centro-Oeste (0,7%).</a:t>
            </a:r>
          </a:p>
          <a:p>
            <a:r>
              <a:t>De onde: DS13-2,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6,4%; nos demais, 1,4%. É descrição de grupos de setores, não de pessoas: num estudo ecológico não dá para passar para o indivíduo.</a:t>
            </a:r>
          </a:p>
          <a:p>
            <a:r>
              <a:t>De onde: DS13-2;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(Anápolis) a 100,0% (Placas). A lista completa está no anexo (aba Por_municipio).</a:t>
            </a:r>
          </a:p>
          <a:p>
            <a:r>
              <a:t>De onde: DS13-2;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13,7%; Centro-Oeste: 0,7%</a:t>
            </a:r>
          </a:p>
          <a:p>
            <a:r>
              <a:t>· FCU 6,4% × demais 1,4%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DS14</a:t>
            </a:r>
          </a:p>
          <a:p/>
          <a:p>
            <a:r>
              <a:t>O QUE É</a:t>
            </a:r>
          </a:p>
          <a:p>
            <a:r>
              <a:t>Razão de moradores por domicílio (reproduz o V0005 do IBGE). Cada setor recebe um valor (razão);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V00005, V00006; denominador: V00001.</a:t>
            </a:r>
          </a:p>
          <a:p>
            <a:r>
              <a:t>De onde: DS14,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Quase simétrica (assimetria -0,22): média (2,69) e mediana (2,71) ficam perto.</a:t>
            </a:r>
          </a:p>
          <a:p>
            <a:r>
              <a:t>De onde: DS14,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NB05.</a:t>
            </a:r>
          </a:p>
          <a:p>
            <a:r>
              <a:t>De onde: DS14,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2,69; mediana 2,71</a:t>
            </a:r>
          </a:p>
          <a:p>
            <a:r>
              <a:t>· Setores com zero: 0,00%</a:t>
            </a:r>
          </a:p>
          <a:p>
            <a:r>
              <a:t>· IVS-7: Sim; referência: Sim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DS14-2</a:t>
            </a:r>
          </a:p>
          <a:p/>
          <a:p>
            <a:r>
              <a:t>O QUE É</a:t>
            </a:r>
          </a:p>
          <a:p>
            <a:r>
              <a:t>Razão de moradores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(mediana: 3,19); a menor é a Sul (2,60).</a:t>
            </a:r>
          </a:p>
          <a:p>
            <a:r>
              <a:t>De onde: DS14-2,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2,92; nos demais, 2,67. É descrição de grupos de setores, não de pessoas: num estudo ecológico não dá para passar para o indivíduo.</a:t>
            </a:r>
          </a:p>
          <a:p>
            <a:r>
              <a:t>De onde: DS14-2;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2,38 (Porto Alegre) a 4,23 (Portel). A lista completa está no anexo (aba Por_municipio).</a:t>
            </a:r>
          </a:p>
          <a:p>
            <a:r>
              <a:t>De onde: DS14-2;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3,19; Sul: 2,60</a:t>
            </a:r>
          </a:p>
          <a:p>
            <a:r>
              <a:t>· FCU 2,92 × demais 2,67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DS15</a:t>
            </a:r>
          </a:p>
          <a:p/>
          <a:p>
            <a:r>
              <a:t>O QUE É</a:t>
            </a:r>
          </a:p>
          <a:p>
            <a:r>
              <a:t>Taxa de analfabetismo entre pessoas de 15 anos ou mais. Cada setor recebe um valor (proporção, mostrada em %);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(Agregados_por_setores_alfabetizacao_BR.csv). Numerador: V00901; denominador: V00900.</a:t>
            </a:r>
          </a:p>
          <a:p>
            <a:r>
              <a:t>De onde: DS15, tabela "Como é calculado"; Quadro_Indicadores.csv; aba Indicadores da planilha de gerenciamento</a:t>
            </a:r>
          </a:p>
          <a:p/>
          <a:p>
            <a:r>
              <a:t>P: Por que há 16.552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DS15, linha Faltantes; T02_perdas_por_indicador.csv</a:t>
            </a:r>
          </a:p>
          <a:p/>
          <a:p>
            <a:r>
              <a:t>P: A distribuição é simétrica?</a:t>
            </a:r>
          </a:p>
          <a:p>
            <a:r>
              <a:t>R: Assimetria 2,34: cauda à direita. Poucos setores com valor bem alto puxam a média (3,64%) para cima da mediana (2,71%).</a:t>
            </a:r>
          </a:p>
          <a:p>
            <a:r>
              <a:t>De onde: DS15,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NB05.</a:t>
            </a:r>
          </a:p>
          <a:p>
            <a:r>
              <a:t>De onde: DS15,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87.556; faltantes: 16.552 (15,90%)</a:t>
            </a:r>
          </a:p>
          <a:p>
            <a:r>
              <a:t>· Média 3,64%; mediana 2,71%</a:t>
            </a:r>
          </a:p>
          <a:p>
            <a:r>
              <a:t>· Setores com zero: 10,59%</a:t>
            </a:r>
          </a:p>
          <a:p>
            <a:r>
              <a:t>· IVS-7: Sim; referência: Sim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DS15-2</a:t>
            </a:r>
          </a:p>
          <a:p/>
          <a:p>
            <a:r>
              <a:t>O QUE É</a:t>
            </a:r>
          </a:p>
          <a:p>
            <a:r>
              <a:t>Analfabetismo 15+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Nordeste (mediana: 5,16%); a menor é a Sul (1,62%).</a:t>
            </a:r>
          </a:p>
          <a:p>
            <a:r>
              <a:t>De onde: DS15-2,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5,46%; nos demais, 2,13%. É descrição de grupos de setores, não de pessoas: num estudo ecológico não dá para passar para o indivíduo.</a:t>
            </a:r>
          </a:p>
          <a:p>
            <a:r>
              <a:t>De onde: DS15-2;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1,11% (São Caetano do Sul) a 23,06% (Arara). A lista completa está no anexo (aba Por_municipio).</a:t>
            </a:r>
          </a:p>
          <a:p>
            <a:r>
              <a:t>De onde: DS15-2;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Nordeste: 5,16%; Sul: 1,62%</a:t>
            </a:r>
          </a:p>
          <a:p>
            <a:r>
              <a:t>· FCU 5,46% × demais 2,13%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DS16</a:t>
            </a:r>
          </a:p>
          <a:p/>
          <a:p>
            <a:r>
              <a:t>O QUE É</a:t>
            </a:r>
          </a:p>
          <a:p>
            <a:r>
              <a:t>Rendimento nominal médio mensal das pessoas responsáveis (R$). Cada setor recebe um valor (reais (R$));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(Agregados_por_setores_renda_responsavel_BR.csv). Numerador: V06004; não tem denominador (é o valor médio do setor).</a:t>
            </a:r>
          </a:p>
          <a:p>
            <a:r>
              <a:t>De onde: DS16,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3,74: cauda à direita. Poucos setores com valor bem alto puxam a média (R$ 4.187,41) para cima da mediana (R$ 2.572,39).</a:t>
            </a:r>
          </a:p>
          <a:p>
            <a:r>
              <a:t>De onde: DS16,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NB05, invertida: quanto menor a renda, maior a vulnerabilidade.</a:t>
            </a:r>
          </a:p>
          <a:p>
            <a:r>
              <a:t>De onde: DS16,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104.096; faltantes: 12 (0,01%)</a:t>
            </a:r>
          </a:p>
          <a:p>
            <a:r>
              <a:t>· Média R$ 4.187,41; mediana R$ 2.572,39</a:t>
            </a:r>
          </a:p>
          <a:p>
            <a:r>
              <a:t>· Setores com zero: 0,00%</a:t>
            </a:r>
          </a:p>
          <a:p>
            <a:r>
              <a:t>· IVS-7: Sim; referência: Sim, como renda invertida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DS16-2</a:t>
            </a:r>
          </a:p>
          <a:p/>
          <a:p>
            <a:r>
              <a:t>O QUE É</a:t>
            </a:r>
          </a:p>
          <a:p>
            <a:r>
              <a:t>Renda média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R$ 3.722,28); a menor é a Nordeste (R$ 1.719,20).</a:t>
            </a:r>
          </a:p>
          <a:p>
            <a:r>
              <a:t>De onde: DS16-2,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R$ 1.515,35; nos demais, R$ 3.067,01. É descrição de grupos de setores, não de pessoas: num estudo ecológico não dá para passar para o indivíduo.</a:t>
            </a:r>
          </a:p>
          <a:p>
            <a:r>
              <a:t>De onde: DS16-2;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R$ 1.062,36 (Jaqueira) a R$ 5.291,89 (São Caetano do Sul). A lista completa está no anexo (aba Por_municipio).</a:t>
            </a:r>
          </a:p>
          <a:p>
            <a:r>
              <a:t>De onde: DS16-2;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R$ 3.722,28; Nordeste: R$ 1.719,20</a:t>
            </a:r>
          </a:p>
          <a:p>
            <a:r>
              <a:t>· FCU R$ 1.515,35 × demais R$ 3.067,01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DS17</a:t>
            </a:r>
          </a:p>
          <a:p/>
          <a:p>
            <a:r>
              <a:t>O QUE É</a:t>
            </a:r>
          </a:p>
          <a:p>
            <a:r>
              <a:t>Renda média das pessoas responsáveis, com o setor extremo de BH vazio. Cada setor recebe um valor (reais (R$));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É calculado a partir de outras colunas da base, que vêm do Censo 2022. Numerador: renda_media, sem o setor 310620005650366; denominador: —.</a:t>
            </a:r>
          </a:p>
          <a:p>
            <a:r>
              <a:t>De onde: DS17,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3,20: cauda à direita. Poucos setores com valor bem alto puxam a média (R$ 4.185,81) para cima da mediana (R$ 2.572,39).</a:t>
            </a:r>
          </a:p>
          <a:p>
            <a:r>
              <a:t>De onde: DS17,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É uma variante da renda (demanda 1). Testei nos cenários S0 e S6 e no eixo renda das 108 versões; a referência usa a renda original.</a:t>
            </a:r>
          </a:p>
          <a:p>
            <a:r>
              <a:t>De onde: DS17,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104.095; faltantes: 13 (0,01%)</a:t>
            </a:r>
          </a:p>
          <a:p>
            <a:r>
              <a:t>· Média R$ 4.185,81; mediana R$ 2.572,39</a:t>
            </a:r>
          </a:p>
          <a:p>
            <a:r>
              <a:t>· Setores com zero: 0,00%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DS17-2</a:t>
            </a:r>
          </a:p>
          <a:p/>
          <a:p>
            <a:r>
              <a:t>O QUE É</a:t>
            </a:r>
          </a:p>
          <a:p>
            <a:r>
              <a:t>Renda sem o extremo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R$ 3.722,28); a menor é a Nordeste (R$ 1.719,20).</a:t>
            </a:r>
          </a:p>
          <a:p>
            <a:r>
              <a:t>De onde: DS17-2,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R$ 1.515,32; nos demais, R$ 3.067,01. É descrição de grupos de setores, não de pessoas: num estudo ecológico não dá para passar para o indivíduo.</a:t>
            </a:r>
          </a:p>
          <a:p>
            <a:r>
              <a:t>De onde: DS17-2;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R$ 1.062,36 (Jaqueira) a R$ 5.291,89 (São Caetano do Sul). A lista completa está no anexo (aba Por_municipio).</a:t>
            </a:r>
          </a:p>
          <a:p>
            <a:r>
              <a:t>De onde: DS17-2;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R$ 3.722,28; Nordeste: R$ 1.719,20</a:t>
            </a:r>
          </a:p>
          <a:p>
            <a:r>
              <a:t>· FCU R$ 1.515,32 × demais R$ 3.067,01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DS18</a:t>
            </a:r>
          </a:p>
          <a:p/>
          <a:p>
            <a:r>
              <a:t>O QUE É</a:t>
            </a:r>
          </a:p>
          <a:p>
            <a:r>
              <a:t>Renda média das pessoas responsáveis, com o setor extremo de BH substituído pela mediana do município. Cada setor recebe um valor (reais (R$));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É calculado a partir de outras colunas da base, que vêm do Censo 2022. Numerador: renda_media, com imputação no setor 310620005650366; denominador: —.</a:t>
            </a:r>
          </a:p>
          <a:p>
            <a:r>
              <a:t>De onde: DS18,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3,20: cauda à direita. Poucos setores com valor bem alto puxam a média (R$ 4.185,80) para cima da mediana (R$ 2.572,39).</a:t>
            </a:r>
          </a:p>
          <a:p>
            <a:r>
              <a:t>De onde: DS18,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É uma variante da renda (demanda 1). Testei nos cenários S0 e S6 e no eixo renda das 108 versões; a referência usa a renda original.</a:t>
            </a:r>
          </a:p>
          <a:p>
            <a:r>
              <a:t>De onde: DS18,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104.096; faltantes: 12 (0,01%)</a:t>
            </a:r>
          </a:p>
          <a:p>
            <a:r>
              <a:t>· Média R$ 4.185,80; mediana R$ 2.572,39</a:t>
            </a:r>
          </a:p>
          <a:p>
            <a:r>
              <a:t>· Setores com zero: 0,00%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DS18-2</a:t>
            </a:r>
          </a:p>
          <a:p/>
          <a:p>
            <a:r>
              <a:t>O QUE É</a:t>
            </a:r>
          </a:p>
          <a:p>
            <a:r>
              <a:t>Renda (mediana mun.)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R$ 3.722,28); a menor é a Nordeste (R$ 1.719,20).</a:t>
            </a:r>
          </a:p>
          <a:p>
            <a:r>
              <a:t>De onde: DS18-2,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R$ 1.515,35; nos demais, R$ 3.067,01. É descrição de grupos de setores, não de pessoas: num estudo ecológico não dá para passar para o indivíduo.</a:t>
            </a:r>
          </a:p>
          <a:p>
            <a:r>
              <a:t>De onde: DS18-2;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R$ 1.062,36 (Jaqueira) a R$ 5.291,89 (São Caetano do Sul). A lista completa está no anexo (aba Por_municipio).</a:t>
            </a:r>
          </a:p>
          <a:p>
            <a:r>
              <a:t>De onde: DS18-2;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R$ 3.722,28; Nordeste: R$ 1.719,20</a:t>
            </a:r>
          </a:p>
          <a:p>
            <a:r>
              <a:t>· FCU R$ 1.515,35 × demais R$ 3.067,01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DS19</a:t>
            </a:r>
          </a:p>
          <a:p/>
          <a:p>
            <a:r>
              <a:t>O QUE É</a:t>
            </a:r>
          </a:p>
          <a:p>
            <a:r>
              <a:t>Proporção de pessoas de cor/raça preta, parda ou indígena. Cada setor recebe um valor (proporção, mostrada em %);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(Agregados_por_setores_basico_BR_20250417.csv). Numerador: V01318, V01320, V01321; denominador: v0001.</a:t>
            </a:r>
          </a:p>
          <a:p>
            <a:r>
              <a:t>De onde: DS19,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Quase simétrica (assimetria -0,39): média (52,67%) e mediana (57,19%) ficam perto.</a:t>
            </a:r>
          </a:p>
          <a:p>
            <a:r>
              <a:t>De onde: DS19,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NB05.</a:t>
            </a:r>
          </a:p>
          <a:p>
            <a:r>
              <a:t>De onde: DS19,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104.106; faltantes: 2 (0,00%)</a:t>
            </a:r>
          </a:p>
          <a:p>
            <a:r>
              <a:t>· Média 52,67%; mediana 57,19%</a:t>
            </a:r>
          </a:p>
          <a:p>
            <a:r>
              <a:t>· Setores com zero: 0,09%</a:t>
            </a:r>
          </a:p>
          <a:p>
            <a:r>
              <a:t>· IVS-7: Sim; referência: Sim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DS19-2</a:t>
            </a:r>
          </a:p>
          <a:p/>
          <a:p>
            <a:r>
              <a:t>O QUE É</a:t>
            </a:r>
          </a:p>
          <a:p>
            <a:r>
              <a:t>Cor/raça PPI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(mediana: 76,99%); a menor é a Sul (22,19%).</a:t>
            </a:r>
          </a:p>
          <a:p>
            <a:r>
              <a:t>De onde: DS19-2,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74,27%; nos demais, 50,96%. É descrição de grupos de setores, não de pessoas: num estudo ecológico não dá para passar para o indivíduo.</a:t>
            </a:r>
          </a:p>
          <a:p>
            <a:r>
              <a:t>De onde: DS19-2;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15,99% (Taió) a 88,89% (Salvador). A lista completa está no anexo (aba Por_municipio).</a:t>
            </a:r>
          </a:p>
          <a:p>
            <a:r>
              <a:t>De onde: DS19-2;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76,99%; Sul: 22,19%</a:t>
            </a:r>
          </a:p>
          <a:p>
            <a:r>
              <a:t>· FCU 74,27% × demais 50,96%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DS20</a:t>
            </a:r>
          </a:p>
          <a:p/>
          <a:p>
            <a:r>
              <a:t>O QUE É</a:t>
            </a:r>
          </a:p>
          <a:p>
            <a:r>
              <a:t>Proporção de domicílios com pessoa responsável do sexo feminino. Cada setor recebe um valor (proporção, mostrada em %);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(Agregados_por_setores_parentesco_BR.csv). Numerador: V01063; denominador: V01062.</a:t>
            </a:r>
          </a:p>
          <a:p>
            <a:r>
              <a:t>De onde: DS20,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Quase simétrica (assimetria -0,34): média (52,81%) e mediana (53,39%) ficam perto.</a:t>
            </a:r>
          </a:p>
          <a:p>
            <a:r>
              <a:t>De onde: DS20,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população. Não está no IVS-BH 2012 e não testei na fatorial.</a:t>
            </a:r>
          </a:p>
          <a:p>
            <a:r>
              <a:t>De onde: DS20,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103.961; faltantes: 147 (0,14%)</a:t>
            </a:r>
          </a:p>
          <a:p>
            <a:r>
              <a:t>· Média 52,81%; mediana 53,39%</a:t>
            </a:r>
          </a:p>
          <a:p>
            <a:r>
              <a:t>· Setores com zero: 0,02%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DS20-2</a:t>
            </a:r>
          </a:p>
          <a:p/>
          <a:p>
            <a:r>
              <a:t>O QUE É</a:t>
            </a:r>
          </a:p>
          <a:p>
            <a:r>
              <a:t>Responsável mulher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Nordeste (mediana: 55,77%); a menor é a Centro-Oeste (50,57%).</a:t>
            </a:r>
          </a:p>
          <a:p>
            <a:r>
              <a:t>De onde: DS20-2,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56,78%; nos demais, 52,58%. É descrição de grupos de setores, não de pessoas: num estudo ecológico não dá para passar para o indivíduo.</a:t>
            </a:r>
          </a:p>
          <a:p>
            <a:r>
              <a:t>De onde: DS20-2;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34,11% (Vicentinópolis) a 61,94% (Rosário). A lista completa está no anexo (aba Por_municipio).</a:t>
            </a:r>
          </a:p>
          <a:p>
            <a:r>
              <a:t>De onde: DS20-2;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Nordeste: 55,77%; Centro-Oeste: 50,57%</a:t>
            </a:r>
          </a:p>
          <a:p>
            <a:r>
              <a:t>· FCU 56,78% × demais 52,58%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DS21</a:t>
            </a:r>
          </a:p>
          <a:p/>
          <a:p>
            <a:r>
              <a:t>O QUE É</a:t>
            </a:r>
          </a:p>
          <a:p>
            <a:r>
              <a:t>Proporção de domicílios particulares improvisados.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V00002; denominador: V00001.</a:t>
            </a:r>
          </a:p>
          <a:p>
            <a:r>
              <a:t>De onde: DS21,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99,21% dos setores nenhum domicílio está nessa situação: a condição se concentra em poucos setores. Por isso descrevo também a média (0,07%) e o % de setores com valor acima de zero (slide seguinte).</a:t>
            </a:r>
          </a:p>
          <a:p>
            <a:r>
              <a:t>De onde: DS21, tabela de distribuição; T03_descritivas_global.csv</a:t>
            </a:r>
          </a:p>
          <a:p/>
          <a:p>
            <a:r>
              <a:t>P: Por que há 5.139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DS21,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DS21,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98.969; faltantes: 5.139 (4,94%)</a:t>
            </a:r>
          </a:p>
          <a:p>
            <a:r>
              <a:t>· Média 0,07%; mediana 0,00%</a:t>
            </a:r>
          </a:p>
          <a:p>
            <a:r>
              <a:t>· Setores com zero: 99,21%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DS21-2</a:t>
            </a:r>
          </a:p>
          <a:p/>
          <a:p>
            <a:r>
              <a:t>O QUE É</a:t>
            </a:r>
          </a:p>
          <a:p>
            <a:r>
              <a:t>Domicílio improvisado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Nordeste (% de setores com valor acima de zero: 1,0%); a menor é a Sul (0,5%).</a:t>
            </a:r>
          </a:p>
          <a:p>
            <a:r>
              <a:t>De onde: DS21-2,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1,5%; nos demais, 0,6%. É descrição de grupos de setores, não de pessoas: num estudo ecológico não dá para passar para o indivíduo.</a:t>
            </a:r>
          </a:p>
          <a:p>
            <a:r>
              <a:t>De onde: DS21-2;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(Arara) a 25,0% (Vicentinópolis). A lista completa está no anexo (aba Por_municipio).</a:t>
            </a:r>
          </a:p>
          <a:p>
            <a:r>
              <a:t>De onde: DS21-2;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Nordeste: 1,0%; Sul: 0,5%</a:t>
            </a:r>
          </a:p>
          <a:p>
            <a:r>
              <a:t>· FCU 1,5% × demais 0,6%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DS22</a:t>
            </a:r>
          </a:p>
          <a:p/>
          <a:p>
            <a:r>
              <a:t>O QUE É</a:t>
            </a:r>
          </a:p>
          <a:p>
            <a:r>
              <a:t>Proporção de domicílios em habitação precária (cortiço, estrutura degradada, improvisados).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V00050, V00052, V00053, V00054 e mais 4; denominador: V00001.</a:t>
            </a:r>
          </a:p>
          <a:p>
            <a:r>
              <a:t>De onde: DS22,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92,46% dos setores nenhum domicílio está nessa situação: a condição se concentra em poucos setores. Por isso descrevo também a média (0,65%) e o % de setores com valor acima de zero (slide seguinte).</a:t>
            </a:r>
          </a:p>
          <a:p>
            <a:r>
              <a:t>De onde: DS22,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12,43: cauda à direita. Poucos setores com valor bem alto puxam a média (0,65%) para cima da mediana (0,00%).</a:t>
            </a:r>
          </a:p>
          <a:p>
            <a:r>
              <a:t>De onde: DS22,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DS22,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0,65%; mediana 0,00%</a:t>
            </a:r>
          </a:p>
          <a:p>
            <a:r>
              <a:t>· Setores com zero: 92,46%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DS22-2</a:t>
            </a:r>
          </a:p>
          <a:p/>
          <a:p>
            <a:r>
              <a:t>O QUE É</a:t>
            </a:r>
          </a:p>
          <a:p>
            <a:r>
              <a:t>Habitação precária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Centro-Oeste (% de setores com valor acima de zero: 13,1%); a menor é a Sul (3,4%).</a:t>
            </a:r>
          </a:p>
          <a:p>
            <a:r>
              <a:t>De onde: DS22-2,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11,8%; nos demais, 6,6%. É descrição de grupos de setores, não de pessoas: num estudo ecológico não dá para passar para o indivíduo.</a:t>
            </a:r>
          </a:p>
          <a:p>
            <a:r>
              <a:t>De onde: DS22-2;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(Arara) a 29,4% (São Luís). A lista completa está no anexo (aba Por_municipio).</a:t>
            </a:r>
          </a:p>
          <a:p>
            <a:r>
              <a:t>De onde: DS22-2;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Centro-Oeste: 13,1%; Sul: 3,4%</a:t>
            </a:r>
          </a:p>
          <a:p>
            <a:r>
              <a:t>· FCU 11,8% × demais 6,6%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DS23</a:t>
            </a:r>
          </a:p>
          <a:p/>
          <a:p>
            <a:r>
              <a:t>O QUE É</a:t>
            </a:r>
          </a:p>
          <a:p>
            <a:r>
              <a:t>Proporção de moradias convencionais (casa, casa de vila/condomínio, apartamento).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V00047, V00048, V00049; denominador: V00001.</a:t>
            </a:r>
          </a:p>
          <a:p>
            <a:r>
              <a:t>De onde: DS23,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-12,34: cauda à esquerda. A maioria dos setores tem valor alto e poucos têm valor baixo; a média (99,10%) fica abaixo da mediana (100,00%).</a:t>
            </a:r>
          </a:p>
          <a:p>
            <a:r>
              <a:t>De onde: DS23,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DS23,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99,10%; mediana 100,00%</a:t>
            </a:r>
          </a:p>
          <a:p>
            <a:r>
              <a:t>· Setores com zero: 0,01%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DS23-2</a:t>
            </a:r>
          </a:p>
          <a:p/>
          <a:p>
            <a:r>
              <a:t>O QUE É</a:t>
            </a:r>
          </a:p>
          <a:p>
            <a:r>
              <a:t>Moradia convencional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(mediana: 100,00%); a menor é a Norte (100,00%).</a:t>
            </a:r>
          </a:p>
          <a:p>
            <a:r>
              <a:t>De onde: DS23-2,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100,00%; nos demais, 100,00%. É descrição de grupos de setores, não de pessoas: num estudo ecológico não dá para passar para o indivíduo.</a:t>
            </a:r>
          </a:p>
          <a:p>
            <a:r>
              <a:t>De onde: DS23-2;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99,55% (São Luís) a 100,00% (Água Preta). A lista completa está no anexo (aba Por_municipio).</a:t>
            </a:r>
          </a:p>
          <a:p>
            <a:r>
              <a:t>De onde: DS23-2;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100,00%; Norte: 100,00%</a:t>
            </a:r>
          </a:p>
          <a:p>
            <a:r>
              <a:t>· FCU 100,00% × demais 100,00%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DS24</a:t>
            </a:r>
          </a:p>
          <a:p/>
          <a:p>
            <a:r>
              <a:t>O QUE É</a:t>
            </a:r>
          </a:p>
          <a:p>
            <a:r>
              <a:t>Proporção de moradias não convencionais (cortiço, maloca, estrutura degradada).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V00050, V00051, V00052; denominador: V00001.</a:t>
            </a:r>
          </a:p>
          <a:p>
            <a:r>
              <a:t>De onde: DS24,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92,95% dos setores nenhum domicílio está nessa situação: a condição se concentra em poucos setores. Por isso descrevo também a média (0,59%) e o % de setores com valor acima de zero (slide seguinte).</a:t>
            </a:r>
          </a:p>
          <a:p>
            <a:r>
              <a:t>De onde: DS24,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13,01: cauda à direita. Poucos setores com valor bem alto puxam a média (0,59%) para cima da mediana (0,00%).</a:t>
            </a:r>
          </a:p>
          <a:p>
            <a:r>
              <a:t>De onde: DS24,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Demanda 9. Testei nos cenários S5 e S6 e no eixo moradia das 108 versões. Tem variância baixa (DM10) e não está na referência.</a:t>
            </a:r>
          </a:p>
          <a:p>
            <a:r>
              <a:t>De onde: DS24,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0,59%; mediana 0,00%</a:t>
            </a:r>
          </a:p>
          <a:p>
            <a:r>
              <a:t>· Setores com zero: 92,95%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DS24-2</a:t>
            </a:r>
          </a:p>
          <a:p/>
          <a:p>
            <a:r>
              <a:t>O QUE É</a:t>
            </a:r>
          </a:p>
          <a:p>
            <a:r>
              <a:t>Moradia não convencional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12,6%); a menor é a Sul (3,0%).</a:t>
            </a:r>
          </a:p>
          <a:p>
            <a:r>
              <a:t>De onde: DS24-2,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10,9%; nos demais, 6,2%. É descrição de grupos de setores, não de pessoas: num estudo ecológico não dá para passar para o indivíduo.</a:t>
            </a:r>
          </a:p>
          <a:p>
            <a:r>
              <a:t>De onde: DS24-2;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(Arara) a 29,0% (São Luís). A lista completa está no anexo (aba Por_municipio).</a:t>
            </a:r>
          </a:p>
          <a:p>
            <a:r>
              <a:t>De onde: DS24-2;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12,6%; Sul: 3,0%</a:t>
            </a:r>
          </a:p>
          <a:p>
            <a:r>
              <a:t>· FCU 10,9% × demais 6,2%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DS25</a:t>
            </a:r>
          </a:p>
          <a:p/>
          <a:p>
            <a:r>
              <a:t>O QUE É</a:t>
            </a:r>
          </a:p>
          <a:p>
            <a:r>
              <a:t>Proporção de domicílios do tipo apartamento.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V00049; denominador: V00001.</a:t>
            </a:r>
          </a:p>
          <a:p>
            <a:r>
              <a:t>De onde: DS25, tabela "Como é calculado"; Quadro_Indicadores.csv; aba Indicadores da planilha de gerenciamento</a:t>
            </a:r>
          </a:p>
          <a:p/>
          <a:p>
            <a:r>
              <a:t>P: Por que há 9.103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DS25, linha Faltantes; T02_perdas_por_indicador.csv</a:t>
            </a:r>
          </a:p>
          <a:p/>
          <a:p>
            <a:r>
              <a:t>P: A distribuição é simétrica?</a:t>
            </a:r>
          </a:p>
          <a:p>
            <a:r>
              <a:t>R: Assimetria 0,83: cauda à direita. Poucos setores com valor bem alto puxam a média (31,48%) para cima da mediana (5,21%).</a:t>
            </a:r>
          </a:p>
          <a:p>
            <a:r>
              <a:t>De onde: DS25,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DS25,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95.005; faltantes: 9.103 (8,74%)</a:t>
            </a:r>
          </a:p>
          <a:p>
            <a:r>
              <a:t>· Média 31,48%; mediana 5,21%</a:t>
            </a:r>
          </a:p>
          <a:p>
            <a:r>
              <a:t>· Setores com zero: 38,52%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DS25-2</a:t>
            </a:r>
          </a:p>
          <a:p/>
          <a:p>
            <a:r>
              <a:t>O QUE É</a:t>
            </a:r>
          </a:p>
          <a:p>
            <a:r>
              <a:t>Apartamento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15,83%); a menor é a Nordeste (1,96%).</a:t>
            </a:r>
          </a:p>
          <a:p>
            <a:r>
              <a:t>De onde: DS25-2,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0,00%; nos demais, 11,94%. É descrição de grupos de setores, não de pessoas: num estudo ecológico não dá para passar para o indivíduo.</a:t>
            </a:r>
          </a:p>
          <a:p>
            <a:r>
              <a:t>De onde: DS25-2;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0,00% (Ananindeua) a 64,73% (Porto Alegre). A lista completa está no anexo (aba Por_municipio).</a:t>
            </a:r>
          </a:p>
          <a:p>
            <a:r>
              <a:t>De onde: DS25-2;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15,83%; Nordeste: 1,96%</a:t>
            </a:r>
          </a:p>
          <a:p>
            <a:r>
              <a:t>· FCU 0,00% × demais 11,94%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DS26</a:t>
            </a:r>
          </a:p>
          <a:p/>
          <a:p>
            <a:r>
              <a:t>O QUE É</a:t>
            </a:r>
          </a:p>
          <a:p>
            <a:r>
              <a:t>Proporção de domicílios do tipo casa.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V00047; denominador: V00001.</a:t>
            </a:r>
          </a:p>
          <a:p>
            <a:r>
              <a:t>De onde: DS26, tabela "Como é calculado"; Quadro_Indicadores.csv; aba Indicadores da planilha de gerenciamento</a:t>
            </a:r>
          </a:p>
          <a:p/>
          <a:p>
            <a:r>
              <a:t>P: Por que há 4.466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DS26, linha Faltantes; T02_perdas_por_indicador.csv</a:t>
            </a:r>
          </a:p>
          <a:p/>
          <a:p>
            <a:r>
              <a:t>P: A distribuição é simétrica?</a:t>
            </a:r>
          </a:p>
          <a:p>
            <a:r>
              <a:t>R: Assimetria -0,91: cauda à esquerda. A maioria dos setores tem valor alto e poucos têm valor baixo; a média (69,47%) fica abaixo da mediana (91,44%).</a:t>
            </a:r>
          </a:p>
          <a:p>
            <a:r>
              <a:t>De onde: DS26,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DS26,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99.642; faltantes: 4.466 (4,29%)</a:t>
            </a:r>
          </a:p>
          <a:p>
            <a:r>
              <a:t>· Média 69,47%; mediana 91,44%</a:t>
            </a:r>
          </a:p>
          <a:p>
            <a:r>
              <a:t>· Setores com zero: 10,11%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DS26-2</a:t>
            </a:r>
          </a:p>
          <a:p/>
          <a:p>
            <a:r>
              <a:t>O QUE É</a:t>
            </a:r>
          </a:p>
          <a:p>
            <a:r>
              <a:t>Casa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Nordeste (mediana: 94,18%); a menor é a Sul (83,55%).</a:t>
            </a:r>
          </a:p>
          <a:p>
            <a:r>
              <a:t>De onde: DS26-2,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98,68%; nos demais, 85,87%. É descrição de grupos de setores, não de pessoas: num estudo ecológico não dá para passar para o indivíduo.</a:t>
            </a:r>
          </a:p>
          <a:p>
            <a:r>
              <a:t>De onde: DS26-2;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43,57% (São Caetano do Sul) a 100,00% (Água Preta). A lista completa está no anexo (aba Por_municipio).</a:t>
            </a:r>
          </a:p>
          <a:p>
            <a:r>
              <a:t>De onde: DS26-2;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Nordeste: 94,18%; Sul: 83,55%</a:t>
            </a:r>
          </a:p>
          <a:p>
            <a:r>
              <a:t>· FCU 98,68% × demais 85,87%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DS27</a:t>
            </a:r>
          </a:p>
          <a:p/>
          <a:p>
            <a:r>
              <a:t>O QUE É</a:t>
            </a:r>
          </a:p>
          <a:p>
            <a:r>
              <a:t>Proporção de domicílios do tipo casa de vila ou em condomínio.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V00048; denominador: V00001.</a:t>
            </a:r>
          </a:p>
          <a:p>
            <a:r>
              <a:t>De onde: DS27,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70,74% dos setores nenhum domicílio está nessa situação: a condição se concentra em poucos setores. Por isso descrevo também a média (4,43%) e o % de setores com valor acima de zero (slide seguinte).</a:t>
            </a:r>
          </a:p>
          <a:p>
            <a:r>
              <a:t>De onde: DS27, tabela de distribuição; T03_descritivas_global.csv</a:t>
            </a:r>
          </a:p>
          <a:p/>
          <a:p>
            <a:r>
              <a:t>P: Por que há 12.804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DS27,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DS27,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91.304; faltantes: 12.804 (12,30%)</a:t>
            </a:r>
          </a:p>
          <a:p>
            <a:r>
              <a:t>· Média 4,43%; mediana 0,00%</a:t>
            </a:r>
          </a:p>
          <a:p>
            <a:r>
              <a:t>· Setores com zero: 70,74%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DS27-2</a:t>
            </a:r>
          </a:p>
          <a:p/>
          <a:p>
            <a:r>
              <a:t>O QUE É</a:t>
            </a:r>
          </a:p>
          <a:p>
            <a:r>
              <a:t>Casa de vila/condomínio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66,2%); a menor é a Centro-Oeste (22,2%).</a:t>
            </a:r>
          </a:p>
          <a:p>
            <a:r>
              <a:t>De onde: DS27-2,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31,5%; nos demais, 28,8%. É descrição de grupos de setores, não de pessoas: num estudo ecológico não dá para passar para o indivíduo.</a:t>
            </a:r>
          </a:p>
          <a:p>
            <a:r>
              <a:t>De onde: DS27-2;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(Arara) a 76,9% (Natal). A lista completa está no anexo (aba Por_municipio).</a:t>
            </a:r>
          </a:p>
          <a:p>
            <a:r>
              <a:t>De onde: DS27-2;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66,2%; Centro-Oeste: 22,2%</a:t>
            </a:r>
          </a:p>
          <a:p>
            <a:r>
              <a:t>· FCU 31,5% × demais 28,8%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DS28</a:t>
            </a:r>
          </a:p>
          <a:p/>
          <a:p>
            <a:r>
              <a:t>O QUE É</a:t>
            </a:r>
          </a:p>
          <a:p>
            <a:r>
              <a:t>Proporção de crianças de 0 a 4 anos na população residente. Cada setor recebe um valor (proporção, mostrada em %);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(Agregados_por_setores_basico_BR_20250417.csv). Numerador: V01031; denominador: v0001.</a:t>
            </a:r>
          </a:p>
          <a:p>
            <a:r>
              <a:t>De onde: DS28, tabela "Como é calculado"; Quadro_Indicadores.csv; aba Indicadores da planilha de gerenciamento</a:t>
            </a:r>
          </a:p>
          <a:p/>
          <a:p>
            <a:r>
              <a:t>P: Por que há 1.820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DS28, linha Faltantes; T02_perdas_por_indicador.csv</a:t>
            </a:r>
          </a:p>
          <a:p/>
          <a:p>
            <a:r>
              <a:t>P: A distribuição é simétrica?</a:t>
            </a:r>
          </a:p>
          <a:p>
            <a:r>
              <a:t>R: Assimetria 0,74: cauda à direita. Poucos setores com valor bem alto puxam a média (5,41%) para cima da mediana (5,21%).</a:t>
            </a:r>
          </a:p>
          <a:p>
            <a:r>
              <a:t>De onde: DS28,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DS28,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102.288; faltantes: 1.820 (1,75%)</a:t>
            </a:r>
          </a:p>
          <a:p>
            <a:r>
              <a:t>· Média 5,41%; mediana 5,21%</a:t>
            </a:r>
          </a:p>
          <a:p>
            <a:r>
              <a:t>· Setores com zero: 0,52%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DS28-2</a:t>
            </a:r>
          </a:p>
          <a:p/>
          <a:p>
            <a:r>
              <a:t>O QUE É</a:t>
            </a:r>
          </a:p>
          <a:p>
            <a:r>
              <a:t>Crianças 0–4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(mediana: 6,32%); a menor é a Sul (4,65%).</a:t>
            </a:r>
          </a:p>
          <a:p>
            <a:r>
              <a:t>De onde: DS28-2,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6,81%; nos demais, 4,85%. É descrição de grupos de setores, não de pessoas: num estudo ecológico não dá para passar para o indivíduo.</a:t>
            </a:r>
          </a:p>
          <a:p>
            <a:r>
              <a:t>De onde: DS28-2;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4,14% (Porto Alegre) a 10,84% (Portel). A lista completa está no anexo (aba Por_municipio).</a:t>
            </a:r>
          </a:p>
          <a:p>
            <a:r>
              <a:t>De onde: DS28-2;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6,32%; Sul: 4,65%</a:t>
            </a:r>
          </a:p>
          <a:p>
            <a:r>
              <a:t>· FCU 6,81% × demais 4,85%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DS29</a:t>
            </a:r>
          </a:p>
          <a:p/>
          <a:p>
            <a:r>
              <a:t>O QUE É</a:t>
            </a:r>
          </a:p>
          <a:p>
            <a:r>
              <a:t>Proporção de pessoas com menos de 15 anos na população residente. Cada setor recebe um valor (proporção, mostrada em %);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(Agregados_por_setores_basico_BR_20250417.csv). Numerador: V01031, V01032, V01033; denominador: v0001.</a:t>
            </a:r>
          </a:p>
          <a:p>
            <a:r>
              <a:t>De onde: DS29,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Quase simétrica (assimetria 0,11): média (17,26%) e mediana (17,19%) ficam perto.</a:t>
            </a:r>
          </a:p>
          <a:p>
            <a:r>
              <a:t>De onde: DS29,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DS29,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103.850; faltantes: 258 (0,25%)</a:t>
            </a:r>
          </a:p>
          <a:p>
            <a:r>
              <a:t>· Média 17,26%; mediana 17,19%</a:t>
            </a:r>
          </a:p>
          <a:p>
            <a:r>
              <a:t>· Setores com zero: 0,50%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DS29-2</a:t>
            </a:r>
          </a:p>
          <a:p/>
          <a:p>
            <a:r>
              <a:t>O QUE É</a:t>
            </a:r>
          </a:p>
          <a:p>
            <a:r>
              <a:t>População 0–14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(mediana: 20,64%); a menor é a Sul (15,85%).</a:t>
            </a:r>
          </a:p>
          <a:p>
            <a:r>
              <a:t>De onde: DS29-2,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21,93%; nos demais, 16,07%. É descrição de grupos de setores, não de pessoas: num estudo ecológico não dá para passar para o indivíduo.</a:t>
            </a:r>
          </a:p>
          <a:p>
            <a:r>
              <a:t>De onde: DS29-2;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13,28% (São Paulo das Missões) a 28,57% (Autazes). A lista completa está no anexo (aba Por_municipio).</a:t>
            </a:r>
          </a:p>
          <a:p>
            <a:r>
              <a:t>De onde: DS29-2;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20,64%; Sul: 15,85%</a:t>
            </a:r>
          </a:p>
          <a:p>
            <a:r>
              <a:t>· FCU 21,93% × demais 16,07%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DS30</a:t>
            </a:r>
          </a:p>
          <a:p/>
          <a:p>
            <a:r>
              <a:t>O QUE É</a:t>
            </a:r>
          </a:p>
          <a:p>
            <a:r>
              <a:t>Proporção de pessoas de 60 anos ou mais na população residente. Cada setor recebe um valor (proporção, mostrada em %);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(Agregados_por_setores_basico_BR_20250417.csv). Numerador: V01040, V01041; denominador: v0001.</a:t>
            </a:r>
          </a:p>
          <a:p>
            <a:r>
              <a:t>De onde: DS30,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0,55: cauda à direita. Poucos setores com valor bem alto puxam a média (17,53%) para cima da mediana (16,57%).</a:t>
            </a:r>
          </a:p>
          <a:p>
            <a:r>
              <a:t>De onde: DS30,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DS30,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103.823; faltantes: 285 (0,27%)</a:t>
            </a:r>
          </a:p>
          <a:p>
            <a:r>
              <a:t>· Média 17,53%; mediana 16,57%</a:t>
            </a:r>
          </a:p>
          <a:p>
            <a:r>
              <a:t>· Setores com zero: 0,30%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DS30-2</a:t>
            </a:r>
          </a:p>
          <a:p/>
          <a:p>
            <a:r>
              <a:t>O QUE É</a:t>
            </a:r>
          </a:p>
          <a:p>
            <a:r>
              <a:t>Pessoas 60+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19,34%); a menor é a Norte (11,18%).</a:t>
            </a:r>
          </a:p>
          <a:p>
            <a:r>
              <a:t>De onde: DS30-2,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10,55%; nos demais, 18,49%. É descrição de grupos de setores, não de pessoas: num estudo ecológico não dá para passar para o indivíduo.</a:t>
            </a:r>
          </a:p>
          <a:p>
            <a:r>
              <a:t>De onde: DS30-2;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7,30% (Portel) a 29,40% (São Paulo das Missões). A lista completa está no anexo (aba Por_municipio).</a:t>
            </a:r>
          </a:p>
          <a:p>
            <a:r>
              <a:t>De onde: DS30-2;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19,34%; Norte: 11,18%</a:t>
            </a:r>
          </a:p>
          <a:p>
            <a:r>
              <a:t>· FCU 10,55% × demais 18,49%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DS31</a:t>
            </a:r>
          </a:p>
          <a:p/>
          <a:p>
            <a:r>
              <a:t>O QUE É</a:t>
            </a:r>
          </a:p>
          <a:p>
            <a:r>
              <a:t>Índice de Envelhecimento Populacional: 60+ por 100 menores de 15 anos. Cada setor recebe um valor (por 100);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(Agregados_por_setores_demografia_BR.csv). Numerador: V01040, V01041; denominador: V01031.</a:t>
            </a:r>
          </a:p>
          <a:p>
            <a:r>
              <a:t>De onde: DS31,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5,74: cauda à direita. Poucos setores com valor bem alto puxam a média (134,66) para cima da mediana (96,30).</a:t>
            </a:r>
          </a:p>
          <a:p>
            <a:r>
              <a:t>De onde: DS31,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DS31, linhas "Entra no IVS-7?" e "Entra na referência proposta?"; T20_variaveis_cargas.csv</a:t>
            </a:r>
          </a:p>
          <a:p/>
          <a:p>
            <a:r>
              <a:t>P: O que quer dizer o coeficiente de variação de 105,1%?</a:t>
            </a:r>
          </a:p>
          <a:p>
            <a:r>
              <a:t>R: O desvio-padrão é maior que a média: o valor muda muito de um setor para outro.</a:t>
            </a:r>
          </a:p>
          <a:p>
            <a:r>
              <a:t>De onde: DS31, linha Coeficiente de variação</a:t>
            </a:r>
          </a:p>
          <a:p/>
          <a:p>
            <a:r>
              <a:t>NA PONTA DA LÍNGUA</a:t>
            </a:r>
          </a:p>
          <a:p>
            <a:r>
              <a:t>· Setores com valor: 103.116; faltantes: 992 (0,95%)</a:t>
            </a:r>
          </a:p>
          <a:p>
            <a:r>
              <a:t>· Média 134,66; mediana 96,30</a:t>
            </a:r>
          </a:p>
          <a:p>
            <a:r>
              <a:t>· Setores com zero: 0,21%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DS31-2</a:t>
            </a:r>
          </a:p>
          <a:p/>
          <a:p>
            <a:r>
              <a:t>O QUE É</a:t>
            </a:r>
          </a:p>
          <a:p>
            <a:r>
              <a:t>Índice de envelhecimento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122,93); a menor é a Norte (53,55).</a:t>
            </a:r>
          </a:p>
          <a:p>
            <a:r>
              <a:t>De onde: DS31-2,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47,91; nos demais, 114,81. É descrição de grupos de setores, não de pessoas: num estudo ecológico não dá para passar para o indivíduo.</a:t>
            </a:r>
          </a:p>
          <a:p>
            <a:r>
              <a:t>De onde: DS31-2;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24,12 (Portel) a 217,46 (São Paulo das Missões). A lista completa está no anexo (aba Por_municipio).</a:t>
            </a:r>
          </a:p>
          <a:p>
            <a:r>
              <a:t>De onde: DS31-2;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122,93; Norte: 53,55</a:t>
            </a:r>
          </a:p>
          <a:p>
            <a:r>
              <a:t>· FCU 47,91 × demais 114,81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DS32</a:t>
            </a:r>
          </a:p>
          <a:p/>
          <a:p>
            <a:r>
              <a:t>O QUE É</a:t>
            </a:r>
          </a:p>
          <a:p>
            <a:r>
              <a:t>Razão de Dependência de Idosos: 60+ por 100 pessoas de 15 a 59 anos. Cada setor recebe um valor (por 100);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(Agregados_por_setores_demografia_BR.csv). Numerador: V01040, V01041; denominador: V01034.</a:t>
            </a:r>
          </a:p>
          <a:p>
            <a:r>
              <a:t>De onde: DS32,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4,30: cauda à direita. Poucos setores com valor bem alto puxam a média (28,12) para cima da mediana (25,16).</a:t>
            </a:r>
          </a:p>
          <a:p>
            <a:r>
              <a:t>De onde: DS32,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DS32,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103.810; faltantes: 298 (0,29%)</a:t>
            </a:r>
          </a:p>
          <a:p>
            <a:r>
              <a:t>· Média 28,12; mediana 25,16</a:t>
            </a:r>
          </a:p>
          <a:p>
            <a:r>
              <a:t>· Setores com zero: 0,30%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DS32-2</a:t>
            </a:r>
          </a:p>
          <a:p/>
          <a:p>
            <a:r>
              <a:t>O QUE É</a:t>
            </a:r>
          </a:p>
          <a:p>
            <a:r>
              <a:t>Dependência idosa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29,97); a menor é a Norte (16,58).</a:t>
            </a:r>
          </a:p>
          <a:p>
            <a:r>
              <a:t>De onde: DS32-2,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15,67; nos demais, 28,39. É descrição de grupos de setores, não de pessoas: num estudo ecológico não dá para passar para o indivíduo.</a:t>
            </a:r>
          </a:p>
          <a:p>
            <a:r>
              <a:t>De onde: DS32-2;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11,86 (São José de Ribamar) a 50,58 (São Paulo das Missões). A lista completa está no anexo (aba Por_municipio).</a:t>
            </a:r>
          </a:p>
          <a:p>
            <a:r>
              <a:t>De onde: DS32-2;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29,97; Norte: 16,58</a:t>
            </a:r>
          </a:p>
          <a:p>
            <a:r>
              <a:t>· FCU 15,67 × demais 28,39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DS33</a:t>
            </a:r>
          </a:p>
          <a:p/>
          <a:p>
            <a:r>
              <a:t>O QUE É</a:t>
            </a:r>
          </a:p>
          <a:p>
            <a:r>
              <a:t>Proporção de pessoas de 70+ entre os de 60+ (proxy de longevidade; NÃO é o LI, que exigiria a faixa 75+, inexistente nos agregados por setor). Cada setor recebe um valor (por 100);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(Agregados_por_setores_demografia_BR.csv). Numerador: V01041; denominador: V01040.</a:t>
            </a:r>
          </a:p>
          <a:p>
            <a:r>
              <a:t>De onde: DS33, tabela "Como é calculado"; Quadro_Indicadores.csv; aba Indicadores da planilha de gerenciamento</a:t>
            </a:r>
          </a:p>
          <a:p/>
          <a:p>
            <a:r>
              <a:t>P: Por que há 2.136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DS33, linha Faltantes; T02_perdas_por_indicador.csv</a:t>
            </a:r>
          </a:p>
          <a:p/>
          <a:p>
            <a:r>
              <a:t>P: A distribuição é simétrica?</a:t>
            </a:r>
          </a:p>
          <a:p>
            <a:r>
              <a:t>R: Quase simétrica (assimetria 0,10): média (42,67) e mediana (42,86) ficam perto.</a:t>
            </a:r>
          </a:p>
          <a:p>
            <a:r>
              <a:t>De onde: DS33,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DS33,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101.972; faltantes: 2.136 (2,05%)</a:t>
            </a:r>
          </a:p>
          <a:p>
            <a:r>
              <a:t>· Média 42,67; mediana 42,86</a:t>
            </a:r>
          </a:p>
          <a:p>
            <a:r>
              <a:t>· Setores com zero: 0,31%</a:t>
            </a:r>
          </a:p>
          <a:p>
            <a:r>
              <a:t>· IVS-7: Não; referência: Não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DS33-2</a:t>
            </a:r>
          </a:p>
          <a:p/>
          <a:p>
            <a:r>
              <a:t>O QUE É</a:t>
            </a:r>
          </a:p>
          <a:p>
            <a:r>
              <a:t>70+ entre 60+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43,97); a menor é a Norte (38,46).</a:t>
            </a:r>
          </a:p>
          <a:p>
            <a:r>
              <a:t>De onde: DS33-2,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36,26; nos demais, 44,32. É descrição de grupos de setores, não de pessoas: num estudo ecológico não dá para passar para o indivíduo.</a:t>
            </a:r>
          </a:p>
          <a:p>
            <a:r>
              <a:t>De onde: DS33-2;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36,21 (Manaus) a 55,77 (Arara). A lista completa está no anexo (aba Por_municipio).</a:t>
            </a:r>
          </a:p>
          <a:p>
            <a:r>
              <a:t>De onde: DS33-2;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43,97; Norte: 38,46</a:t>
            </a:r>
          </a:p>
          <a:p>
            <a:r>
              <a:t>· FCU 36,26 × demais 44,32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DC00</a:t>
            </a:r>
          </a:p>
          <a:p/>
          <a:p>
            <a:r>
              <a:t>O QUE É</a:t>
            </a:r>
          </a:p>
          <a:p>
            <a:r>
              <a:t>Abre as correlações: primeiro os componentes do IVS-7, depois cada tema (saneamento, socioeconômica, morfologia, demografia) e por fim os 31 juntos.</a:t>
            </a:r>
          </a:p>
          <a:p/>
          <a:p>
            <a:r>
              <a:t>PERGUNTAS</a:t>
            </a:r>
          </a:p>
          <a:p>
            <a:r>
              <a:t>P: Para que servem as correlações antes da fatorial?</a:t>
            </a:r>
          </a:p>
          <a:p>
            <a:r>
              <a:t>R: A fatorial parte da matriz de correlação. Ver os pares antes mostra o que deve ficar junto num fator e o que é quase repetido.</a:t>
            </a:r>
          </a:p>
          <a:p>
            <a:r>
              <a:t>De onde: FA02; ART002</a:t>
            </a:r>
          </a:p>
          <a:p/>
          <a:p>
            <a:r>
              <a:t>P: Por que separar por tema?</a:t>
            </a:r>
          </a:p>
          <a:p>
            <a:r>
              <a:t>R: Com os 31 juntos a matriz fica grande demais para ler; por tema dá para ver os pares de cada dimensão, e a matriz completa vem no fim (DC07).</a:t>
            </a:r>
          </a:p>
          <a:p>
            <a:r>
              <a:t>De onde: DC07</a:t>
            </a:r>
          </a:p>
          <a:p/>
          <a:p>
            <a:r>
              <a:t>NA PONTA DA LÍNGUA</a:t>
            </a:r>
          </a:p>
          <a:p>
            <a:r>
              <a:t>· Spearman em todas as matrizes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DC01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Analfabetismo 15+ e Cor/raça PPI (0,626). Correlação negativa mais forte: Renda média e Cor/raça PPI (-0,811).</a:t>
            </a:r>
          </a:p>
          <a:p>
            <a:r>
              <a:t>De onde: DC01, matriz; T12_correlacao_spearman.csv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Analfabetismo 15+ e Cor/raça PPI (0,626). Correlação negativa mais forte: Renda média e Cor/raça PPI (-0,811).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DC02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Analfabetismo 15+ e Cor/raça PPI (0,626). Correlação negativa mais forte: Renda média e Cor/raça PPI (-0,811).</a:t>
            </a:r>
          </a:p>
          <a:p>
            <a:r>
              <a:t>De onde: DC02, matriz; T12_correlacao_spearman.csv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Analfabetismo 15+ e Cor/raça PPI (0,626). Correlação negativa mais forte: Renda média e Cor/raça PPI (-0,811).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DC03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Sem banheiro e Banheiro graduado (1,000). A mais baixa: Lixo inadequado e Sem banheiro nem sanitário (0,064).</a:t>
            </a:r>
          </a:p>
          <a:p>
            <a:r>
              <a:t>De onde: DC03, matriz; T12_correlacao_spearman.csv</a:t>
            </a:r>
          </a:p>
          <a:p/>
          <a:p>
            <a:r>
              <a:t>P: Por que Sem banheiro × Banheiro graduado dá 1,000?</a:t>
            </a:r>
          </a:p>
          <a:p>
            <a:r>
              <a:t>R: O graduado é feito com as três partes do sem banheiro, com pesos 1, 2 e 3. Os setores ficam praticamente na mesma ordem.</a:t>
            </a:r>
          </a:p>
          <a:p>
            <a:r>
              <a:t>De onde: DC03; definições nos slides DS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Sem banheiro e Banheiro graduado (1,000). A mais baixa: Lixo inadequado e Sem banheiro nem sanitário (0,064).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DC04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Analfabetismo 15+ e Cor/raça PPI (0,626). Correlação negativa mais forte: Renda sem o extremo e Cor/raça PPI (-0,811).</a:t>
            </a:r>
          </a:p>
          <a:p>
            <a:r>
              <a:t>De onde: DC04, matriz; T12_correlacao_spearman.csv</a:t>
            </a:r>
          </a:p>
          <a:p/>
          <a:p>
            <a:r>
              <a:t>P: Por que as três rendas dão 1,00 entre si?</a:t>
            </a:r>
          </a:p>
          <a:p>
            <a:r>
              <a:t>R: Elas só diferem no setor extremo de Belo Horizonte; em todos os outros setores o valor é o mesmo.</a:t>
            </a:r>
          </a:p>
          <a:p>
            <a:r>
              <a:t>De onde: DC04; definições nos slides DS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Analfabetismo 15+ e Cor/raça PPI (0,626). Correlação negativa mais forte: Renda sem o extremo e Cor/raça PPI (-0,811).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DC05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Habitação precária e Moradia não convencional (0,965). Correlação negativa mais forte: Apartamento e Casa (-0,902).</a:t>
            </a:r>
          </a:p>
          <a:p>
            <a:r>
              <a:t>De onde: DC05, matriz; T12_correlacao_spearman.csv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Habitação precária e Moradia não convencional (0,965). Correlação negativa mais forte: Apartamento e Casa (-0,902).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DC06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Pessoas 60+ e Dependência idosa (0,996). Correlação negativa mais forte: População 0–14 e Índice de envelhecimento (-0,917).</a:t>
            </a:r>
          </a:p>
          <a:p>
            <a:r>
              <a:t>De onde: DC06, matriz; T12_correlacao_spearman.csv</a:t>
            </a:r>
          </a:p>
          <a:p/>
          <a:p>
            <a:r>
              <a:t>P: Por que Pessoas 60+ e Dependência idosa andam juntas?</a:t>
            </a:r>
          </a:p>
          <a:p>
            <a:r>
              <a:t>R: As duas têm os idosos no numerador; muda só o denominador (toda a população ou só 15 a 59 anos).</a:t>
            </a:r>
          </a:p>
          <a:p>
            <a:r>
              <a:t>De onde: DC06; definições nos slides DS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Pessoas 60+ e Dependência idosa (0,996). Correlação negativa mais forte: População 0–14 e Índice de envelhecimento (-0,917).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DC07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Sem banheiro e Banheiro graduado (1,000). Correlação negativa mais forte: População 0–14 e Índice de envelhecimento (-0,917).</a:t>
            </a:r>
          </a:p>
          <a:p>
            <a:r>
              <a:t>De onde: DC07, matriz; T12_correlacao_spearman.csv</a:t>
            </a:r>
          </a:p>
          <a:p/>
          <a:p>
            <a:r>
              <a:t>P: Por que Sem banheiro × Banheiro graduado dá 1,000?</a:t>
            </a:r>
          </a:p>
          <a:p>
            <a:r>
              <a:t>R: O graduado é feito com as três partes do sem banheiro, com pesos 1, 2 e 3. Os setores ficam praticamente na mesma ordem.</a:t>
            </a:r>
          </a:p>
          <a:p>
            <a:r>
              <a:t>De onde: DC07; definições nos slides DS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Sem banheiro e Banheiro graduado (1,000). Correlação negativa mais forte: População 0–14 e Índice de envelhecimento (-0,917).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FA00</a:t>
            </a:r>
          </a:p>
          <a:p/>
          <a:p>
            <a:r>
              <a:t>O QUE É</a:t>
            </a:r>
          </a:p>
          <a:p>
            <a:r>
              <a:t>Abre a fatorial da referência proposta do NB05: renda original, sem lixo, banheiro graduado, rotação promax, pesos 60/40 e normalização municipal. É uma proposta: a escolha é sua.</a:t>
            </a:r>
          </a:p>
          <a:p/>
          <a:p>
            <a:r>
              <a:t>PERGUNTAS</a:t>
            </a:r>
          </a:p>
          <a:p>
            <a:r>
              <a:t>P: O que é análise fatorial?</a:t>
            </a:r>
          </a:p>
          <a:p>
            <a:r>
              <a:t>R: Um método que resume muitas variáveis correlacionadas em poucos fatores (dimensões). Aqui gera duas dimensões, socioeconômica e saneamento, e a partir delas os pesos do índice.</a:t>
            </a:r>
          </a:p>
          <a:p>
            <a:r>
              <a:t>De onde: ART002 p.161; ART001</a:t>
            </a:r>
          </a:p>
          <a:p/>
          <a:p>
            <a:r>
              <a:t>P: Por que essa é a referência?</a:t>
            </a:r>
          </a:p>
          <a:p>
            <a:r>
              <a:t>R: Foi a primeira na ordem dos critérios fixados no NB05 (estabilidade, AUC no município e parcimônia) entre as elegíveis. É uma proposta para você avaliar, não uma decisão.</a:t>
            </a:r>
          </a:p>
          <a:p>
            <a:r>
              <a:t>De onde: estado_nb05 (referência proposta)</a:t>
            </a:r>
          </a:p>
          <a:p/>
          <a:p>
            <a:r>
              <a:t>P: A fatorial é o caminho certo para os pesos?</a:t>
            </a:r>
          </a:p>
          <a:p>
            <a:r>
              <a:t>R: Depende de o índice ser reflexivo ou formativo. Essa questão está em aberto e ainda vou ler os textos (Bollen; Diamantopoulos; Edwards).</a:t>
            </a:r>
          </a:p>
          <a:p>
            <a:r>
              <a:t>De onde: ART020; minhas notas da planilha</a:t>
            </a:r>
          </a:p>
          <a:p/>
          <a:p>
            <a:r>
              <a:t>NA PONTA DA LÍNGUA</a:t>
            </a:r>
          </a:p>
          <a:p>
            <a:r>
              <a:t>· Renda original · sem lixo · banheiro graduado · promax · 60/40 · municipal</a:t>
            </a:r>
          </a:p>
          <a:p/>
          <a:p>
            <a:r>
              <a:t>LEITURA PENDENTE (estudar antes): Formativo × reflexivo: ART020, ART021, ART022 planejados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FA01</a:t>
            </a:r>
          </a:p>
          <a:p/>
          <a:p>
            <a:r>
              <a:t>O QUE É</a:t>
            </a:r>
          </a:p>
          <a:p>
            <a:r>
              <a:t>A amostra da fatorial: entram os setores com os sete componentes. Exclusão por lista: falta um, sai o setor.</a:t>
            </a:r>
          </a:p>
          <a:p/>
          <a:p>
            <a:r>
              <a:t>PERGUNTAS</a:t>
            </a:r>
          </a:p>
          <a:p>
            <a:r>
              <a:t>P: Quem tira mais setores?</a:t>
            </a:r>
          </a:p>
          <a:p>
            <a:r>
              <a:t>R: Analfabetismo 15+ (16.552 faltantes) e banheiro graduado (14.292).</a:t>
            </a:r>
          </a:p>
          <a:p>
            <a:r>
              <a:t>De onde: FA01, tabela</a:t>
            </a:r>
          </a:p>
          <a:p/>
          <a:p>
            <a:r>
              <a:t>P: Por que não usar todos os 104.108?</a:t>
            </a:r>
          </a:p>
          <a:p>
            <a:r>
              <a:t>R: A fatorial precisa de todas as variáveis no setor. Imputar criaria valores não divulgados; preferi tirar e mostrar quantos saem.</a:t>
            </a:r>
          </a:p>
          <a:p>
            <a:r>
              <a:t>De onde: FA01; DS01</a:t>
            </a:r>
          </a:p>
          <a:p/>
          <a:p>
            <a:r>
              <a:t>NA PONTA DA LÍNGUA</a:t>
            </a:r>
          </a:p>
          <a:p>
            <a:r>
              <a:t>· 73.878 entram; 30.230 saem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FA02</a:t>
            </a:r>
          </a:p>
          <a:p/>
          <a:p>
            <a:r>
              <a:t>O QUE É</a:t>
            </a:r>
          </a:p>
          <a:p>
            <a:r>
              <a:t>A matriz de correlação que entra na fatorial: Spearman entre os sete componentes, nos 73.878 setores.</a:t>
            </a:r>
          </a:p>
          <a:p/>
          <a:p>
            <a:r>
              <a:t>PERGUNTAS</a:t>
            </a:r>
          </a:p>
          <a:p>
            <a:r>
              <a:t>P: Qual par é mais forte?</a:t>
            </a:r>
          </a:p>
          <a:p>
            <a:r>
              <a:t>R: Renda (invertida) e cor/raça PPI: 0,784. Depois renda e analfabetismo: 0,753.</a:t>
            </a:r>
          </a:p>
          <a:p>
            <a:r>
              <a:t>De onde: FA02, matriz</a:t>
            </a:r>
          </a:p>
          <a:p/>
          <a:p>
            <a:r>
              <a:t>P: Por que a renda está invertida?</a:t>
            </a:r>
          </a:p>
          <a:p>
            <a:r>
              <a:t>R: Para todas as variáveis apontarem para o mesmo lado: valor maior = mais vulnerável. Renda alta é menos vulnerável, então entra com sinal trocado.</a:t>
            </a:r>
          </a:p>
          <a:p>
            <a:r>
              <a:t>De onde: FA02; FA11</a:t>
            </a:r>
          </a:p>
          <a:p/>
          <a:p>
            <a:r>
              <a:t>P: Por que fatorial com Spearman?</a:t>
            </a:r>
          </a:p>
          <a:p>
            <a:r>
              <a:t>R: Os indicadores são assimétricos e cheios de zeros; a fatorial parte da matriz de postos, que não exige normalidade.</a:t>
            </a:r>
          </a:p>
          <a:p>
            <a:r>
              <a:t>De onde: ART007 seção 11.2; FA02</a:t>
            </a:r>
          </a:p>
          <a:p/>
          <a:p>
            <a:r>
              <a:t>NA PONTA DA LÍNGUA</a:t>
            </a:r>
          </a:p>
          <a:p>
            <a:r>
              <a:t>· Maior correlação: 0,784 (renda × cor/raça)</a:t>
            </a:r>
          </a:p>
          <a:p>
            <a:r>
              <a:t>· Menor: 0,083 (razão × banheiro graduado)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FA03</a:t>
            </a:r>
          </a:p>
          <a:p/>
          <a:p>
            <a:r>
              <a:t>O QUE É</a:t>
            </a:r>
          </a:p>
          <a:p>
            <a:r>
              <a:t>Se os dados servem para fatorial. KMO compara as correlações entre as variáveis com as correlações parciais: vai de 0 a 1, e quanto maior, mais as variáveis têm algo em comum. Bartlett testa se a matriz de correlação é diferente da identidade.</a:t>
            </a:r>
          </a:p>
          <a:p/>
          <a:p>
            <a:r>
              <a:t>PERGUNTAS</a:t>
            </a:r>
          </a:p>
          <a:p>
            <a:r>
              <a:t>P: O KMO de 0,7807 é bom?</a:t>
            </a:r>
          </a:p>
          <a:p>
            <a:r>
              <a:t>R: Na escala de Matos (Enap) é "bom" (entre 0,7 e 0,8); na de Figueiredo, "mediano" (0,70 a 0,79). Passa o critério do NB05 (KMO ≥ 0,70).</a:t>
            </a:r>
          </a:p>
          <a:p>
            <a:r>
              <a:t>De onde: ART001 p.43; ART002 p.166; FA16</a:t>
            </a:r>
          </a:p>
          <a:p/>
          <a:p>
            <a:r>
              <a:t>P: E o Bartlett?</a:t>
            </a:r>
          </a:p>
          <a:p>
            <a:r>
              <a:t>R: Rejeita a hipótese de identidade (qui-quadrado 185.197,02, 21 graus de liberdade). Mas com amostra grande o Bartlett quase sempre rejeita, então sozinho não basta.</a:t>
            </a:r>
          </a:p>
          <a:p>
            <a:r>
              <a:t>De onde: ART001 p.43</a:t>
            </a:r>
          </a:p>
          <a:p/>
          <a:p>
            <a:r>
              <a:t>P: Quanto os dois fatores explicam?</a:t>
            </a:r>
          </a:p>
          <a:p>
            <a:r>
              <a:t>R: 60,82% da variância.</a:t>
            </a:r>
          </a:p>
          <a:p>
            <a:r>
              <a:t>De onde: FA03; FA05</a:t>
            </a:r>
          </a:p>
          <a:p/>
          <a:p>
            <a:r>
              <a:t>NA PONTA DA LÍNGUA</a:t>
            </a:r>
          </a:p>
          <a:p>
            <a:r>
              <a:t>· KMO 0,7807</a:t>
            </a:r>
          </a:p>
          <a:p>
            <a:r>
              <a:t>· n = 73.878; 7 variáveis</a:t>
            </a:r>
          </a:p>
          <a:p>
            <a:r>
              <a:t>· 2 fatores, 60,82%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FA04</a:t>
            </a:r>
          </a:p>
          <a:p/>
          <a:p>
            <a:r>
              <a:t>O QUE É</a:t>
            </a:r>
          </a:p>
          <a:p>
            <a:r>
              <a:t>MSA é o KMO de cada variável: mostra se ela combina com as outras. Comunalidade é a parte da variância da variável que os dois fatores explicam.</a:t>
            </a:r>
          </a:p>
          <a:p/>
          <a:p>
            <a:r>
              <a:t>PERGUNTAS</a:t>
            </a:r>
          </a:p>
          <a:p>
            <a:r>
              <a:t>P: Qual variável é a mais fraca?</a:t>
            </a:r>
          </a:p>
          <a:p>
            <a:r>
              <a:t>R: Na MSA, renda (invertida), com 0,709; na comunalidade, razão de moradores, com 0,375. As duas passam os critérios (MSA ≥ 0,50; comunalidade ≥ 0,30).</a:t>
            </a:r>
          </a:p>
          <a:p>
            <a:r>
              <a:t>De onde: FA04; FA16</a:t>
            </a:r>
          </a:p>
          <a:p/>
          <a:p>
            <a:r>
              <a:t>P: Figueiredo pede comunalidade de 0,50. Por que 0,30?</a:t>
            </a:r>
          </a:p>
          <a:p>
            <a:r>
              <a:t>R: O NB05 usou 0,30. Com 0,50, razão de moradores (0,375) e banheiro graduado (0,446) ficariam abaixo. É uma questão para decidirmos.</a:t>
            </a:r>
          </a:p>
          <a:p>
            <a:r>
              <a:t>De onde: ART002 p.176; FA04</a:t>
            </a:r>
          </a:p>
          <a:p/>
          <a:p>
            <a:r>
              <a:t>P: Por que a comunalidade oblíqua é igual?</a:t>
            </a:r>
          </a:p>
          <a:p>
            <a:r>
              <a:t>R: Com dois fatores, a parte explicada da variável não muda com a rotação; muda só como se reparte entre F1 e F2.</a:t>
            </a:r>
          </a:p>
          <a:p>
            <a:r>
              <a:t>De onde: FA04</a:t>
            </a:r>
          </a:p>
          <a:p/>
          <a:p>
            <a:r>
              <a:t>NA PONTA DA LÍNGUA</a:t>
            </a:r>
          </a:p>
          <a:p>
            <a:r>
              <a:t>· Menor MSA: 0,709 (renda)</a:t>
            </a:r>
          </a:p>
          <a:p>
            <a:r>
              <a:t>· Menor comunalidade: 0,375 (razão de moradores)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FA05</a:t>
            </a:r>
          </a:p>
          <a:p/>
          <a:p>
            <a:r>
              <a:t>O QUE É</a:t>
            </a:r>
          </a:p>
          <a:p>
            <a:r>
              <a:t>Autovalor é quanto da variância total um componente explica. Kaiser fica com os autovalores maiores que 1. Horn (análise paralela) compara cada autovalor com o que daria em dados aleatórios do mesmo tamanho e fica com os que passam.</a:t>
            </a:r>
          </a:p>
          <a:p/>
          <a:p>
            <a:r>
              <a:t>PERGUNTAS</a:t>
            </a:r>
          </a:p>
          <a:p>
            <a:r>
              <a:t>P: Quantos fatores?</a:t>
            </a:r>
          </a:p>
          <a:p>
            <a:r>
              <a:t>R: Dois: os dois primeiros autovalores (3,186 e 1,071) passam de 1 e da referência de Horn (1,026 e 1,015).</a:t>
            </a:r>
          </a:p>
          <a:p>
            <a:r>
              <a:t>De onde: FA05, tabela</a:t>
            </a:r>
          </a:p>
          <a:p/>
          <a:p>
            <a:r>
              <a:t>P: O segundo fator não está no limite?</a:t>
            </a:r>
          </a:p>
          <a:p>
            <a:r>
              <a:t>R: Está perto: 1,071 contra 1,015 de Horn. Por isso olho Kaiser e Horn juntos.</a:t>
            </a:r>
          </a:p>
          <a:p>
            <a:r>
              <a:t>De onde: FA05</a:t>
            </a:r>
          </a:p>
          <a:p/>
          <a:p>
            <a:r>
              <a:t>P: Kaiser é confiável aqui?</a:t>
            </a:r>
          </a:p>
          <a:p>
            <a:r>
              <a:t>R: Matos diz que Kaiser é preciso com n &gt; 250 e comunalidade média ≥ 0,6. O n passa; a comunalidade média fica no limite.</a:t>
            </a:r>
          </a:p>
          <a:p>
            <a:r>
              <a:t>De onde: ART001 p.29</a:t>
            </a:r>
          </a:p>
          <a:p/>
          <a:p>
            <a:r>
              <a:t>NA PONTA DA LÍNGUA</a:t>
            </a:r>
          </a:p>
          <a:p>
            <a:r>
              <a:t>· Autovalores: 3,186 e 1,071</a:t>
            </a:r>
          </a:p>
          <a:p>
            <a:r>
              <a:t>· Horn: 1,026 e 1,015</a:t>
            </a:r>
          </a:p>
          <a:p>
            <a:r>
              <a:t>· 60,82% acumulado</a:t>
            </a:r>
          </a:p>
          <a:p/>
          <a:p>
            <a:r>
              <a:t>LEITURA PENDENTE (estudar antes): Horn: artigo original (ART024) em andamento; a definição está em Figueiredo, ART002 p.168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FA06</a:t>
            </a:r>
          </a:p>
          <a:p/>
          <a:p>
            <a:r>
              <a:t>O QUE É</a:t>
            </a:r>
          </a:p>
          <a:p>
            <a:r>
              <a:t>A decisão do número de fatores: Kaiser e Horn concordam em 2, e a solução fica com 2.</a:t>
            </a:r>
          </a:p>
          <a:p/>
          <a:p>
            <a:r>
              <a:t>PERGUNTAS</a:t>
            </a:r>
          </a:p>
          <a:p>
            <a:r>
              <a:t>P: Por que reter 2 e não 1?</a:t>
            </a:r>
          </a:p>
          <a:p>
            <a:r>
              <a:t>R: Os dois critérios dão 2 nesta base. Também é o desenho do IVS-BH: uma dimensão socioeconômica e uma de saneamento.</a:t>
            </a:r>
          </a:p>
          <a:p>
            <a:r>
              <a:t>De onde: FA06; ART003</a:t>
            </a:r>
          </a:p>
          <a:p/>
          <a:p>
            <a:r>
              <a:t>P: E se desse 3?</a:t>
            </a:r>
          </a:p>
          <a:p>
            <a:r>
              <a:t>R: Nos cenários com mais variáveis Kaiser e Horn pedem 3 ou 4; mantive 2 para comparar com o IVS-BH. Está no FP06.</a:t>
            </a:r>
          </a:p>
          <a:p>
            <a:r>
              <a:t>De onde: FP06</a:t>
            </a:r>
          </a:p>
          <a:p/>
          <a:p>
            <a:r>
              <a:t>NA PONTA DA LÍNGUA</a:t>
            </a:r>
          </a:p>
          <a:p>
            <a:r>
              <a:t>· Kaiser 2; Horn 2; retidos 2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FA07</a:t>
            </a:r>
          </a:p>
          <a:p/>
          <a:p>
            <a:r>
              <a:t>O QUE É</a:t>
            </a:r>
          </a:p>
          <a:p>
            <a:r>
              <a:t>Cargas sem rotação: a correlação de cada variável com cada fator antes de girar os eixos. O primeiro fator pega um pouco de tudo, o que dificulta dar nome.</a:t>
            </a:r>
          </a:p>
          <a:p/>
          <a:p>
            <a:r>
              <a:t>PERGUNTAS</a:t>
            </a:r>
          </a:p>
          <a:p>
            <a:r>
              <a:t>P: O que é carga?</a:t>
            </a:r>
          </a:p>
          <a:p>
            <a:r>
              <a:t>R: A correlação entre a variável e o fator. Acima de 0,40 em módulo, a variável é considerada parte do fator (critério do NB05).</a:t>
            </a:r>
          </a:p>
          <a:p>
            <a:r>
              <a:t>De onde: FA16; ART002</a:t>
            </a:r>
          </a:p>
          <a:p/>
          <a:p>
            <a:r>
              <a:t>P: Por que mostrar sem rotação?</a:t>
            </a:r>
          </a:p>
          <a:p>
            <a:r>
              <a:t>R: Para comparar: a rotação não muda o total explicado, só reparte entre os fatores.</a:t>
            </a:r>
          </a:p>
          <a:p>
            <a:r>
              <a:t>De onde: FA07; FA08</a:t>
            </a:r>
          </a:p>
          <a:p/>
          <a:p>
            <a:r>
              <a:t>NA PONTA DA LÍNGUA</a:t>
            </a:r>
          </a:p>
          <a:p>
            <a:r>
              <a:t>· Maior carga em F1: renda (0,868)</a:t>
            </a:r>
          </a:p>
          <a:p>
            <a:r>
              <a:t>· Maior em F2: água inadequada (0,625)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FA08</a:t>
            </a:r>
          </a:p>
          <a:p/>
          <a:p>
            <a:r>
              <a:t>O QUE É</a:t>
            </a:r>
          </a:p>
          <a:p>
            <a:r>
              <a:t>Cargas Varimax: rotação ortogonal, que deixa cada variável carregar forte num fator só. Os fatores ficam sem correlação entre si.</a:t>
            </a:r>
          </a:p>
          <a:p/>
          <a:p>
            <a:r>
              <a:t>PERGUNTAS</a:t>
            </a:r>
          </a:p>
          <a:p>
            <a:r>
              <a:t>P: Como ficam os dois fatores?</a:t>
            </a:r>
          </a:p>
          <a:p>
            <a:r>
              <a:t>R: F1 socioeconômico (renda 0,906, analfabetismo 0,861, cor/raça 0,848, razão de moradores 0,592); F2 saneamento (água 0,752, banheiro graduado 0,668, esgoto 0,560).</a:t>
            </a:r>
          </a:p>
          <a:p>
            <a:r>
              <a:t>De onde: FA08, tabela</a:t>
            </a:r>
          </a:p>
          <a:p/>
          <a:p>
            <a:r>
              <a:t>P: E o esgoto?</a:t>
            </a:r>
          </a:p>
          <a:p>
            <a:r>
              <a:t>R: Carrega nos dois (0,447 e 0,560): fica entre as dimensões.</a:t>
            </a:r>
          </a:p>
          <a:p>
            <a:r>
              <a:t>De onde: FA08</a:t>
            </a:r>
          </a:p>
          <a:p/>
          <a:p>
            <a:r>
              <a:t>NA PONTA DA LÍNGUA</a:t>
            </a:r>
          </a:p>
          <a:p>
            <a:r>
              <a:t>· F1: renda, analfabetismo, cor/raça, razão</a:t>
            </a:r>
          </a:p>
          <a:p>
            <a:r>
              <a:t>· F2: água, banheiro, esgoto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FA09</a:t>
            </a:r>
          </a:p>
          <a:p/>
          <a:p>
            <a:r>
              <a:t>O QUE É</a:t>
            </a:r>
          </a:p>
          <a:p>
            <a:r>
              <a:t>Cargas promax, a rotação oblíqua da referência. Padrão: efeito próprio de cada fator. Estrutura: correlação total da variável com o fator, incluindo o que vem pela correlação entre os fatores.</a:t>
            </a:r>
          </a:p>
          <a:p/>
          <a:p>
            <a:r>
              <a:t>PERGUNTAS</a:t>
            </a:r>
          </a:p>
          <a:p>
            <a:r>
              <a:t>P: Por que promax e não Varimax?</a:t>
            </a:r>
          </a:p>
          <a:p>
            <a:r>
              <a:t>R: Os fatores são correlacionados (Φ = 0,411); a promax permite isso. Matos descreve a promax como um método rápido para bases grandes.</a:t>
            </a:r>
          </a:p>
          <a:p>
            <a:r>
              <a:t>De onde: FA10; ART001 p.38</a:t>
            </a:r>
          </a:p>
          <a:p/>
          <a:p>
            <a:r>
              <a:t>P: Qual matriz vira peso?</a:t>
            </a:r>
          </a:p>
          <a:p>
            <a:r>
              <a:t>R: A padrão: os pesos saem do quadrado das cargas padrão.</a:t>
            </a:r>
          </a:p>
          <a:p>
            <a:r>
              <a:t>De onde: FA11</a:t>
            </a:r>
          </a:p>
          <a:p/>
          <a:p>
            <a:r>
              <a:t>P: Por que há carga negativa (-0,207 no banheiro em F1)?</a:t>
            </a:r>
          </a:p>
          <a:p>
            <a:r>
              <a:t>R: Na matriz padrão, descontado o que vem de F2, o banheiro quase não tem relação própria com F1. É pequena e não entra no peso de F1.</a:t>
            </a:r>
          </a:p>
          <a:p>
            <a:r>
              <a:t>De onde: FA09; FA11</a:t>
            </a:r>
          </a:p>
          <a:p/>
          <a:p>
            <a:r>
              <a:t>NA PONTA DA LÍNGUA</a:t>
            </a:r>
          </a:p>
          <a:p>
            <a:r>
              <a:t>· Padrão: renda 0,937 em F1; água 0,783 em F2</a:t>
            </a:r>
          </a:p>
          <a:p>
            <a:r>
              <a:t>· Estrutura: renda 0,908; água 0,772</a:t>
            </a:r>
          </a:p>
          <a:p/>
          <a:p>
            <a:r>
              <a:t>LEITURA PENDENTE (estudar antes): Promax: ART025 em andamento; padrão × estrutura sem leitura no fichamento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FA10</a:t>
            </a:r>
          </a:p>
          <a:p/>
          <a:p>
            <a:r>
              <a:t>O QUE É</a:t>
            </a:r>
          </a:p>
          <a:p>
            <a:r>
              <a:t>Φ é a correlação entre os dois fatores na rotação oblíqua. Na Varimax ela é zero por construção.</a:t>
            </a:r>
          </a:p>
          <a:p/>
          <a:p>
            <a:r>
              <a:t>PERGUNTAS</a:t>
            </a:r>
          </a:p>
          <a:p>
            <a:r>
              <a:t>P: O Φ de 0,411 é alto?</a:t>
            </a:r>
          </a:p>
          <a:p>
            <a:r>
              <a:t>R: É moderado: setores com pior condição socioeconômica tendem a ter pior saneamento. Por isso uma rotação oblíqua faz sentido.</a:t>
            </a:r>
          </a:p>
          <a:p>
            <a:r>
              <a:t>De onde: FA10</a:t>
            </a:r>
          </a:p>
          <a:p/>
          <a:p>
            <a:r>
              <a:t>P: E se fosse perto de zero?</a:t>
            </a:r>
          </a:p>
          <a:p>
            <a:r>
              <a:t>R: A Varimax daria quase o mesmo e seria mais simples.</a:t>
            </a:r>
          </a:p>
          <a:p>
            <a:r>
              <a:t>De onde: ART002 p.169</a:t>
            </a:r>
          </a:p>
          <a:p/>
          <a:p>
            <a:r>
              <a:t>NA PONTA DA LÍNGUA</a:t>
            </a:r>
          </a:p>
          <a:p>
            <a:r>
              <a:t>· Φ = 0,411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FA11</a:t>
            </a:r>
          </a:p>
          <a:p/>
          <a:p>
            <a:r>
              <a:t>O QUE É</a:t>
            </a:r>
          </a:p>
          <a:p>
            <a:r>
              <a:t>Como as cargas viram pesos: em cada dimensão, o peso da variável é o quadrado da sua carga padrão dividido pela soma dos quadrados; depois, a dimensão socioeconômica vale 60% e a de saneamento 40%.</a:t>
            </a:r>
          </a:p>
          <a:p/>
          <a:p>
            <a:r>
              <a:t>PERGUNTAS</a:t>
            </a:r>
          </a:p>
          <a:p>
            <a:r>
              <a:t>P: Por que 60/40?</a:t>
            </a:r>
          </a:p>
          <a:p>
            <a:r>
              <a:t>R: É a repartição do IVS-BH 2012 (60,4% e 39,6%), arredondada.</a:t>
            </a:r>
          </a:p>
          <a:p>
            <a:r>
              <a:t>De onde: ART009 p.7; ART003</a:t>
            </a:r>
          </a:p>
          <a:p/>
          <a:p>
            <a:r>
              <a:t>P: Por que o quadrado das cargas?</a:t>
            </a:r>
          </a:p>
          <a:p>
            <a:r>
              <a:t>R: Para medir a importância relativa de cada variável no fator, como no ISU de Passarelli-Araujo.</a:t>
            </a:r>
          </a:p>
          <a:p>
            <a:r>
              <a:t>De onde: ART009 p.7</a:t>
            </a:r>
          </a:p>
          <a:p/>
          <a:p>
            <a:r>
              <a:t>P: Quem pesa mais?</a:t>
            </a:r>
          </a:p>
          <a:p>
            <a:r>
              <a:t>R: Renda (invertida), 19,28%; depois analfabetismo (17,36%) e água (17,32%).</a:t>
            </a:r>
          </a:p>
          <a:p>
            <a:r>
              <a:t>De onde: FA11</a:t>
            </a:r>
          </a:p>
          <a:p/>
          <a:p>
            <a:r>
              <a:t>NA PONTA DA LÍNGUA</a:t>
            </a:r>
          </a:p>
          <a:p>
            <a:r>
              <a:t>· F1 60% · F2 40%</a:t>
            </a:r>
          </a:p>
          <a:p>
            <a:r>
              <a:t>· Renda 19,28%; analfabetismo 17,36%; água 17,32%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FA12</a:t>
            </a:r>
          </a:p>
          <a:p/>
          <a:p>
            <a:r>
              <a:t>O QUE É</a:t>
            </a:r>
          </a:p>
          <a:p>
            <a:r>
              <a:t>O índice: cada variável é normalizada de 0 a 1 dentro do município (min-max) e somada com os pesos. O resultado vai de 0 a 1; maior = mais vulnerável.</a:t>
            </a:r>
          </a:p>
          <a:p/>
          <a:p>
            <a:r>
              <a:t>PERGUNTAS</a:t>
            </a:r>
          </a:p>
          <a:p>
            <a:r>
              <a:t>P: O que é a normalização municipal?</a:t>
            </a:r>
          </a:p>
          <a:p>
            <a:r>
              <a:t>R: Cada variável vira (valor - mínimo) / (máximo - mínimo) entre os setores do próprio município. Assim o índice compara setores dentro da cidade.</a:t>
            </a:r>
          </a:p>
          <a:p>
            <a:r>
              <a:t>De onde: ART004 (Conversão de escala); estado_nb05</a:t>
            </a:r>
          </a:p>
          <a:p/>
          <a:p>
            <a:r>
              <a:t>P: Como se distribui?</a:t>
            </a:r>
          </a:p>
          <a:p>
            <a:r>
              <a:t>R: Mediana 0,3306; metade dos setores entre 0,2832 e 0,3757 (P25 e P75); máximo 0,9120.</a:t>
            </a:r>
          </a:p>
          <a:p>
            <a:r>
              <a:t>De onde: FA12, tabela</a:t>
            </a:r>
          </a:p>
          <a:p/>
          <a:p>
            <a:r>
              <a:t>P: Dá para comparar índice entre municípios?</a:t>
            </a:r>
          </a:p>
          <a:p>
            <a:r>
              <a:t>R: Não diretamente: a escala é de cada município. Para comparar entre cidades, a normalização global é a alternativa testada no NB05.</a:t>
            </a:r>
          </a:p>
          <a:p>
            <a:r>
              <a:t>De onde: estado_nb05</a:t>
            </a:r>
          </a:p>
          <a:p/>
          <a:p>
            <a:r>
              <a:t>NA PONTA DA LÍNGUA</a:t>
            </a:r>
          </a:p>
          <a:p>
            <a:r>
              <a:t>· Mediana 0,3306; média 0,3338</a:t>
            </a:r>
          </a:p>
          <a:p>
            <a:r>
              <a:t>· P10 0,2313; P90 0,4311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FA13</a:t>
            </a:r>
          </a:p>
          <a:p/>
          <a:p>
            <a:r>
              <a:t>O QUE É</a:t>
            </a:r>
          </a:p>
          <a:p>
            <a:r>
              <a:t>As faixas por duas regras. IVS-BH: médio = média ± 0,5 desvio-padrão; baixo, abaixo; elevado, até 1,5 DP acima; muito elevado, acima disso. Quartis: um quarto dos setores em cada faixa.</a:t>
            </a:r>
          </a:p>
          <a:p/>
          <a:p>
            <a:r>
              <a:t>PERGUNTAS</a:t>
            </a:r>
          </a:p>
          <a:p>
            <a:r>
              <a:t>P: Quantos setores estão em vulnerabilidade muito elevada?</a:t>
            </a:r>
          </a:p>
          <a:p>
            <a:r>
              <a:t>R: Pela regra do IVS-BH, 3.933 (5,32%).</a:t>
            </a:r>
          </a:p>
          <a:p>
            <a:r>
              <a:t>De onde: FA13, tabela</a:t>
            </a:r>
          </a:p>
          <a:p/>
          <a:p>
            <a:r>
              <a:t>P: Por que 1 setor fica "indefinido"?</a:t>
            </a:r>
          </a:p>
          <a:p>
            <a:r>
              <a:t>R: Um município tem um setor só nesta amostra: não tem desvio-padrão, então a regra não se aplica.</a:t>
            </a:r>
          </a:p>
          <a:p>
            <a:r>
              <a:t>De onde: estado_nb05</a:t>
            </a:r>
          </a:p>
          <a:p/>
          <a:p>
            <a:r>
              <a:t>P: Qual regra usar?</a:t>
            </a:r>
          </a:p>
          <a:p>
            <a:r>
              <a:t>R: A do IVS-BH mantém a comparação com 2012; quartis forçam faixas do mesmo tamanho. Fica para decidirmos.</a:t>
            </a:r>
          </a:p>
          <a:p>
            <a:r>
              <a:t>De onde: ART003 p.10</a:t>
            </a:r>
          </a:p>
          <a:p/>
          <a:p>
            <a:r>
              <a:t>NA PONTA DA LÍNGUA</a:t>
            </a:r>
          </a:p>
          <a:p>
            <a:r>
              <a:t>· Muito elevado: 3.933 (5,32%)</a:t>
            </a:r>
          </a:p>
          <a:p>
            <a:r>
              <a:t>· Médio: 31.052 (42,03%)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FA14</a:t>
            </a:r>
          </a:p>
          <a:p/>
          <a:p>
            <a:r>
              <a:t>O QUE É</a:t>
            </a:r>
          </a:p>
          <a:p>
            <a:r>
              <a:t>Validação contra FCU. A curva ROC mostra quão bem o índice separa setores de favela (FCU) dos demais; a AUC é a área sob a curva: 0,5 é acaso, 1 é separação perfeita. A AUC é a chance de um setor FCU sorteado ter índice maior que um não FCU sorteado.</a:t>
            </a:r>
          </a:p>
          <a:p/>
          <a:p>
            <a:r>
              <a:t>PERGUNTAS</a:t>
            </a:r>
          </a:p>
          <a:p>
            <a:r>
              <a:t>P: A AUC de 0,8309 é boa?</a:t>
            </a:r>
          </a:p>
          <a:p>
            <a:r>
              <a:t>R: Separa bem: sorteando um setor FCU e um não FCU, a chance de o FCU ter índice maior é 0,8309.</a:t>
            </a:r>
          </a:p>
          <a:p>
            <a:r>
              <a:t>De onde: FA14</a:t>
            </a:r>
          </a:p>
          <a:p/>
          <a:p>
            <a:r>
              <a:t>P: Por que validar contra FCU?</a:t>
            </a:r>
          </a:p>
          <a:p>
            <a:r>
              <a:t>R: É um critério externo do IBGE, independente do índice. Mas a FCU já usa condições de moradia, então há alguma circularidade com o saneamento.</a:t>
            </a:r>
          </a:p>
          <a:p>
            <a:r>
              <a:t>De onde: ART005 p.47; estado_nb05</a:t>
            </a:r>
          </a:p>
          <a:p/>
          <a:p>
            <a:r>
              <a:t>P: Por que a AUC municipal?</a:t>
            </a:r>
          </a:p>
          <a:p>
            <a:r>
              <a:t>R: O índice é normalizado por município; a AUC dentro de cada município é a comparação justa. Uso a mediana dos 31 municípios com ao menos 30 setores de FCU e 30 fora.</a:t>
            </a:r>
          </a:p>
          <a:p>
            <a:r>
              <a:t>De onde: FA15</a:t>
            </a:r>
          </a:p>
          <a:p/>
          <a:p>
            <a:r>
              <a:t>NA PONTA DA LÍNGUA</a:t>
            </a:r>
          </a:p>
          <a:p>
            <a:r>
              <a:t>· AUC global 0,8309; mediana municipal 0,8186</a:t>
            </a:r>
          </a:p>
          <a:p>
            <a:r>
              <a:t>· 31 municípios na mediana</a:t>
            </a:r>
          </a:p>
          <a:p/>
          <a:p>
            <a:r>
              <a:t>LEITURA PENDENTE (estudar antes): ROC/AUC: sem leitura própria no fichamento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FA15</a:t>
            </a:r>
          </a:p>
          <a:p/>
          <a:p>
            <a:r>
              <a:t>O QUE É</a:t>
            </a:r>
          </a:p>
          <a:p>
            <a:r>
              <a:t>A AUC em cada município, só onde há ao menos 30 setores de FCU e 30 fora (para a AUC não depender de poucos setores).</a:t>
            </a:r>
          </a:p>
          <a:p/>
          <a:p>
            <a:r>
              <a:t>PERGUNTAS</a:t>
            </a:r>
          </a:p>
          <a:p>
            <a:r>
              <a:t>P: Por que só 31 dos 41?</a:t>
            </a:r>
          </a:p>
          <a:p>
            <a:r>
              <a:t>R: Nos outros há menos de 30 setores de FCU ou menos de 30 fora.</a:t>
            </a:r>
          </a:p>
          <a:p>
            <a:r>
              <a:t>De onde: FA15</a:t>
            </a:r>
          </a:p>
          <a:p/>
          <a:p>
            <a:r>
              <a:t>P: Por que Duque de Caxias é tão baixo?</a:t>
            </a:r>
          </a:p>
          <a:p>
            <a:r>
              <a:t>R: Lá a AUC é 0,6037: o índice separa pouco FCU dos demais. Não investiguei o motivo.</a:t>
            </a:r>
          </a:p>
          <a:p>
            <a:r>
              <a:t>De onde: FA15 [A CONFERIR: Duque de Caxias]</a:t>
            </a:r>
          </a:p>
          <a:p/>
          <a:p>
            <a:r>
              <a:t>NA PONTA DA LÍNGUA</a:t>
            </a:r>
          </a:p>
          <a:p>
            <a:r>
              <a:t>· Mediana 0,8186</a:t>
            </a:r>
          </a:p>
          <a:p>
            <a:r>
              <a:t>· Menor 0,6037 (Duque de Caxias); maior 0,9544 (Campinas)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FA16</a:t>
            </a:r>
          </a:p>
          <a:p/>
          <a:p>
            <a:r>
              <a:t>O QUE É</a:t>
            </a:r>
          </a:p>
          <a:p>
            <a:r>
              <a:t>Os critérios de elegibilidade do NB05, fixados antes de rodar: KMO ≥ 0,70; MSA ≥ 0,50 em todas; comunalidade ≥ 0,30 em todas; maior carga ≥ 0,40 em todas.</a:t>
            </a:r>
          </a:p>
          <a:p/>
          <a:p>
            <a:r>
              <a:t>PERGUNTAS</a:t>
            </a:r>
          </a:p>
          <a:p>
            <a:r>
              <a:t>P: A referência passa em tudo?</a:t>
            </a:r>
          </a:p>
          <a:p>
            <a:r>
              <a:t>R: Sim. O ponto mais perto do limite é a comunalidade da razão de moradores (0,3755) e a menor carga máxima é a do esgoto (0,5245).</a:t>
            </a:r>
          </a:p>
          <a:p>
            <a:r>
              <a:t>De onde: FA16</a:t>
            </a:r>
          </a:p>
          <a:p/>
          <a:p>
            <a:r>
              <a:t>P: Por que fixar os critérios antes?</a:t>
            </a:r>
          </a:p>
          <a:p>
            <a:r>
              <a:t>R: Para a escolha não depender de qual resultado parece melhor.</a:t>
            </a:r>
          </a:p>
          <a:p>
            <a:r>
              <a:t>De onde: FA16</a:t>
            </a:r>
          </a:p>
          <a:p/>
          <a:p>
            <a:r>
              <a:t>NA PONTA DA LÍNGUA</a:t>
            </a:r>
          </a:p>
          <a:p>
            <a:r>
              <a:t>· Comunalidade mínima 0,3755 (razão de moradores)</a:t>
            </a:r>
          </a:p>
          <a:p>
            <a:r>
              <a:t>· Menor carga máxima 0,5245 (esgoto)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FP00</a:t>
            </a:r>
          </a:p>
          <a:p/>
          <a:p>
            <a:r>
              <a:t>O QUE É</a:t>
            </a:r>
          </a:p>
          <a:p>
            <a:r>
              <a:t>Abre as demandas sobre a fatorial: um slide por pedido, na ordem das demandas. Aqui a comparação entre cenários é o próprio pedido.</a:t>
            </a:r>
          </a:p>
          <a:p/>
          <a:p>
            <a:r>
              <a:t>PERGUNTAS</a:t>
            </a:r>
          </a:p>
          <a:p>
            <a:r>
              <a:t>P: Por que os cenários antes das demandas?</a:t>
            </a:r>
          </a:p>
          <a:p>
            <a:r>
              <a:t>R: Cada demanda compara cenários; os slides FC mostram antes quais setores entram em cada um.</a:t>
            </a:r>
          </a:p>
          <a:p>
            <a:r>
              <a:t>De onde: FC01 a FC09</a:t>
            </a:r>
          </a:p>
          <a:p/>
          <a:p>
            <a:r>
              <a:t>P: Os cenários usam o mesmo método da referência?</a:t>
            </a:r>
          </a:p>
          <a:p>
            <a:r>
              <a:t>R: Não: os cenários vêm da fatorial ampliada (antes do NB05), com pesos Varimax; a referência é do NB05, com promax e 60/40.</a:t>
            </a:r>
          </a:p>
          <a:p>
            <a:r>
              <a:t>De onde: FP11; FA00</a:t>
            </a:r>
          </a:p>
          <a:p/>
          <a:p>
            <a:r>
              <a:t>NA PONTA DA LÍNGUA</a:t>
            </a:r>
          </a:p>
          <a:p>
            <a:r>
              <a:t>· Cenários S0 a S7 e variantes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FC01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87.545 setores?</a:t>
            </a:r>
          </a:p>
          <a:p>
            <a:r>
              <a:t>R: Entram os setores com as 7 variáveis: 87.545. Nenhum setor do S0 sai.</a:t>
            </a:r>
          </a:p>
          <a:p>
            <a:r>
              <a:t>De onde: FC01, tabelas de faltantes e "Sai do S0"; cenarios.csv</a:t>
            </a:r>
          </a:p>
          <a:p/>
          <a:p>
            <a:r>
              <a:t>P: Por que o S0 é a referência dos cenários?</a:t>
            </a:r>
          </a:p>
          <a:p>
            <a:r>
              <a:t>R: Reproduz o IVS-7 do NB04, a fatorial que já tínhamos. Os outros cenários mudam uma coisa por vez em relação a ele.</a:t>
            </a:r>
          </a:p>
          <a:p>
            <a:r>
              <a:t>De onde: FC01; DM11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S0: IVS-7</a:t>
            </a:r>
          </a:p>
          <a:p>
            <a:r>
              <a:t>· 87.545 setores; 7 variáveis; saem do S0: 0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FC02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87.545 setores?</a:t>
            </a:r>
          </a:p>
          <a:p>
            <a:r>
              <a:t>R: Entram os setores com as 6 variáveis: 87.545. Nenhum setor do S0 sai.</a:t>
            </a:r>
          </a:p>
          <a:p>
            <a:r>
              <a:t>De onde: FC02, tabelas de faltantes e "Sai do S0"; cenarios.csv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S1: IVS-6 (IVS-7 sem lixo)</a:t>
            </a:r>
          </a:p>
          <a:p>
            <a:r>
              <a:t>· 87.545 setores; 6 variáveis; saem do S0: 0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FC03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78.256 setores?</a:t>
            </a:r>
          </a:p>
          <a:p>
            <a:r>
              <a:t>R: Entram os setores com as 8 variáveis: 78.256. Saem 9.289 do S0; a variável que mais tira é Água não chega (9.289 setores sem o dado).</a:t>
            </a:r>
          </a:p>
          <a:p>
            <a:r>
              <a:t>De onde: FC03, tabelas de faltantes e "Sai do S0"; cenarios.csv</a:t>
            </a:r>
          </a:p>
          <a:p/>
          <a:p>
            <a:r>
              <a:t>P: Os setores que saem são diferentes dos que ficam?</a:t>
            </a:r>
          </a:p>
          <a:p>
            <a:r>
              <a:t>R: Não comparei o perfil dos que saem neste cenário; a tabela mostra só em que região ficam os que entram. Posso fazer essa comparação.</a:t>
            </a:r>
          </a:p>
          <a:p>
            <a:r>
              <a:t>De onde: FC03, tabela por região [A CONFERIR: perfil dos que saem]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S2: IVS-7 + não chega</a:t>
            </a:r>
          </a:p>
          <a:p>
            <a:r>
              <a:t>· 78.256 setores; 8 variáveis; saem do S0: 9.289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FC04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87.512 setores?</a:t>
            </a:r>
          </a:p>
          <a:p>
            <a:r>
              <a:t>R: Entram os setores com as 8 variáveis: 87.512. Saem 33 do S0; a variável que mais tira é Sem água canalizada (33 setores sem o dado).</a:t>
            </a:r>
          </a:p>
          <a:p>
            <a:r>
              <a:t>De onde: FC04, tabelas de faltantes e "Sai do S0"; cenarios.csv</a:t>
            </a:r>
          </a:p>
          <a:p/>
          <a:p>
            <a:r>
              <a:t>P: Os setores que saem são diferentes dos que ficam?</a:t>
            </a:r>
          </a:p>
          <a:p>
            <a:r>
              <a:t>R: Não comparei o perfil dos que saem neste cenário; a tabela mostra só em que região ficam os que entram. Posso fazer essa comparação.</a:t>
            </a:r>
          </a:p>
          <a:p>
            <a:r>
              <a:t>De onde: FC04, tabela por região [A CONFERIR: perfil dos que saem]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S3: IVS-7 + sem canalização</a:t>
            </a:r>
          </a:p>
          <a:p>
            <a:r>
              <a:t>· 87.512 setores; 8 variáveis; saem do S0: 33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FC05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75.955 setores?</a:t>
            </a:r>
          </a:p>
          <a:p>
            <a:r>
              <a:t>R: Entram os setores com as 8 variáveis: 75.955. Saem 11.590 do S0; a variável que mais tira é Sem banheiro (11.590 setores sem o dado).</a:t>
            </a:r>
          </a:p>
          <a:p>
            <a:r>
              <a:t>De onde: FC05, tabelas de faltantes e "Sai do S0"; cenarios.csv</a:t>
            </a:r>
          </a:p>
          <a:p/>
          <a:p>
            <a:r>
              <a:t>P: Os setores que saem são diferentes dos que ficam?</a:t>
            </a:r>
          </a:p>
          <a:p>
            <a:r>
              <a:t>R: Não comparei o perfil dos que saem neste cenário; a tabela mostra só em que região ficam os que entram. Posso fazer essa comparação.</a:t>
            </a:r>
          </a:p>
          <a:p>
            <a:r>
              <a:t>De onde: FC05, tabela por região [A CONFERIR: perfil dos que saem]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S4: IVS-7 + sem banheiro (V00495)</a:t>
            </a:r>
          </a:p>
          <a:p>
            <a:r>
              <a:t>· 75.955 setores; 8 variáveis; saem do S0: 11.590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FC06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87.545 setores?</a:t>
            </a:r>
          </a:p>
          <a:p>
            <a:r>
              <a:t>R: Entram os setores com as 8 variáveis: 87.545. Nenhum setor do S0 sai.</a:t>
            </a:r>
          </a:p>
          <a:p>
            <a:r>
              <a:t>De onde: FC06, tabelas de faltantes e "Sai do S0"; cenarios.csv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S5: IVS-7 + não convencional</a:t>
            </a:r>
          </a:p>
          <a:p>
            <a:r>
              <a:t>· 87.545 setores; 8 variáveis; saem do S0: 0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FC07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69.458 setores?</a:t>
            </a:r>
          </a:p>
          <a:p>
            <a:r>
              <a:t>R: Entram os setores com as 11 variáveis: 69.458. Saem 18.087 do S0; a variável que mais tira é Sem banheiro (11.590 setores sem o dado).</a:t>
            </a:r>
          </a:p>
          <a:p>
            <a:r>
              <a:t>De onde: FC07, tabelas de faltantes e "Sai do S0"; cenarios.csv</a:t>
            </a:r>
          </a:p>
          <a:p/>
          <a:p>
            <a:r>
              <a:t>P: Os setores que saem são diferentes dos que ficam?</a:t>
            </a:r>
          </a:p>
          <a:p>
            <a:r>
              <a:t>R: Não comparei o perfil dos que saem neste cenário; a tabela mostra só em que região ficam os que entram. Posso fazer essa comparação.</a:t>
            </a:r>
          </a:p>
          <a:p>
            <a:r>
              <a:t>De onde: FC07, tabela por região [A CONFERIR: perfil dos que saem]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S6: IVS-7 + as quatro</a:t>
            </a:r>
          </a:p>
          <a:p>
            <a:r>
              <a:t>· 69.458 setores; 11 variáveis; saem do S0: 18.087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FC08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69.458 setores?</a:t>
            </a:r>
          </a:p>
          <a:p>
            <a:r>
              <a:t>R: Entram os setores com as 10 variáveis: 69.458. Saem 18.087 do S0; a variável que mais tira é Sem banheiro (11.590 setores sem o dado).</a:t>
            </a:r>
          </a:p>
          <a:p>
            <a:r>
              <a:t>De onde: FC08, tabelas de faltantes e "Sai do S0"; cenarios.csv</a:t>
            </a:r>
          </a:p>
          <a:p/>
          <a:p>
            <a:r>
              <a:t>P: Os setores que saem são diferentes dos que ficam?</a:t>
            </a:r>
          </a:p>
          <a:p>
            <a:r>
              <a:t>R: Não comparei o perfil dos que saem neste cenário; a tabela mostra só em que região ficam os que entram. Posso fazer essa comparação.</a:t>
            </a:r>
          </a:p>
          <a:p>
            <a:r>
              <a:t>De onde: FC08, tabela por região [A CONFERIR: perfil dos que saem]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S7: S6 sem lixo</a:t>
            </a:r>
          </a:p>
          <a:p>
            <a:r>
              <a:t>· 69.458 setores; 10 variáveis; saem do S0: 18.087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FC09</a:t>
            </a:r>
          </a:p>
          <a:p/>
          <a:p>
            <a:r>
              <a:t>O QUE É</a:t>
            </a:r>
          </a:p>
          <a:p>
            <a:r>
              <a:t>As variantes: mesmos setores do cenário de origem, mudando a renda (sem extremo ou com mediana) ou a escala (postos dentro do município).</a:t>
            </a:r>
          </a:p>
          <a:p/>
          <a:p>
            <a:r>
              <a:t>PERGUNTAS</a:t>
            </a:r>
          </a:p>
          <a:p>
            <a:r>
              <a:t>P: O que é "postos dentro do município"?</a:t>
            </a:r>
          </a:p>
          <a:p>
            <a:r>
              <a:t>R: Em vez do valor, cada setor recebe a sua posição (posto) entre os setores do mesmo município. Tira o efeito de escala entre cidades.</a:t>
            </a:r>
          </a:p>
          <a:p>
            <a:r>
              <a:t>De onde: FC09; FP11</a:t>
            </a:r>
          </a:p>
          <a:p/>
          <a:p>
            <a:r>
              <a:t>P: Por que a variante sem extremo tem um setor a menos?</a:t>
            </a:r>
          </a:p>
          <a:p>
            <a:r>
              <a:t>R: O setor extremo de BH fica vazio nela.</a:t>
            </a:r>
          </a:p>
          <a:p>
            <a:r>
              <a:t>De onde: FC09; DM02</a:t>
            </a:r>
          </a:p>
          <a:p/>
          <a:p>
            <a:r>
              <a:t>NA PONTA DA LÍNGUA</a:t>
            </a:r>
          </a:p>
          <a:p>
            <a:r>
              <a:t>· S0 sem extremo: 87.544 setores</a:t>
            </a:r>
          </a:p>
          <a:p>
            <a:r>
              <a:t>· S6 sem extremo: 69.457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FP01</a:t>
            </a:r>
          </a:p>
          <a:p/>
          <a:p>
            <a:r>
              <a:t>O QUE É</a:t>
            </a:r>
          </a:p>
          <a:p>
            <a:r>
              <a:t>Demanda 1 na fatorial: o efeito das três rendas.</a:t>
            </a:r>
          </a:p>
          <a:p/>
          <a:p>
            <a:r>
              <a:t>PERGUNTAS</a:t>
            </a:r>
          </a:p>
          <a:p>
            <a:r>
              <a:t>P: A renda escolhida muda a fatorial?</a:t>
            </a:r>
          </a:p>
          <a:p>
            <a:r>
              <a:t>R: Não: KMO 0,783, 62,12% de variância e peso de F1 74,00% nas três. A troca afeta um setor só.</a:t>
            </a:r>
          </a:p>
          <a:p>
            <a:r>
              <a:t>De onde: FP01, tabela</a:t>
            </a:r>
          </a:p>
          <a:p/>
          <a:p>
            <a:r>
              <a:t>P: Então para que três rendas?</a:t>
            </a:r>
          </a:p>
          <a:p>
            <a:r>
              <a:t>R: Para mostrar que o setor extremo não distorce o resultado.</a:t>
            </a:r>
          </a:p>
          <a:p>
            <a:r>
              <a:t>De onde: DM02</a:t>
            </a:r>
          </a:p>
          <a:p/>
          <a:p>
            <a:r>
              <a:t>NA PONTA DA LÍNGUA</a:t>
            </a:r>
          </a:p>
          <a:p>
            <a:r>
              <a:t>· Três rendas: peso F1 74,00% em todas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FP02</a:t>
            </a:r>
          </a:p>
          <a:p/>
          <a:p>
            <a:r>
              <a:t>O QUE É</a:t>
            </a:r>
          </a:p>
          <a:p>
            <a:r>
              <a:t>Demanda 3: as cargas do S0 (IVS-7) sem rotação, Varimax e promax lado a lado.</a:t>
            </a:r>
          </a:p>
          <a:p/>
          <a:p>
            <a:r>
              <a:t>PERGUNTAS</a:t>
            </a:r>
          </a:p>
          <a:p>
            <a:r>
              <a:t>P: O que muda entre as rotações?</a:t>
            </a:r>
          </a:p>
          <a:p>
            <a:r>
              <a:t>R: Pouco: o lixo carrega no F2 nas três (0,880 a 0,919); renda, analfabetismo e cor/raça ficam no F1.</a:t>
            </a:r>
          </a:p>
          <a:p>
            <a:r>
              <a:t>De onde: FP02, tabela</a:t>
            </a:r>
          </a:p>
          <a:p/>
          <a:p>
            <a:r>
              <a:t>P: Por que o lixo sozinho no F2?</a:t>
            </a:r>
          </a:p>
          <a:p>
            <a:r>
              <a:t>R: É o fator próprio do lixo: ele quase não se correlaciona com os outros.</a:t>
            </a:r>
          </a:p>
          <a:p>
            <a:r>
              <a:t>De onde: FP08; DC01</a:t>
            </a:r>
          </a:p>
          <a:p/>
          <a:p>
            <a:r>
              <a:t>NA PONTA DA LÍNGUA</a:t>
            </a:r>
          </a:p>
          <a:p>
            <a:r>
              <a:t>· Lixo em F2: 0,880 / 0,919 / 0,915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FP03</a:t>
            </a:r>
          </a:p>
          <a:p/>
          <a:p>
            <a:r>
              <a:t>O QUE É</a:t>
            </a:r>
          </a:p>
          <a:p>
            <a:r>
              <a:t>Demanda 5: o perfil (medianas) dos setores com água não chega = 0 e &gt; 0.</a:t>
            </a:r>
          </a:p>
          <a:p/>
          <a:p>
            <a:r>
              <a:t>PERGUNTAS</a:t>
            </a:r>
          </a:p>
          <a:p>
            <a:r>
              <a:t>P: Como são os setores com "não chega" &gt; 0?</a:t>
            </a:r>
          </a:p>
          <a:p>
            <a:r>
              <a:t>R: Têm renda mediana menor (R$ 1.526,40 contra R$ 2.830,52), mais analfabetismo e mais cor/raça PPI.</a:t>
            </a:r>
          </a:p>
          <a:p>
            <a:r>
              <a:t>De onde: FP03, tabela</a:t>
            </a:r>
          </a:p>
          <a:p/>
          <a:p>
            <a:r>
              <a:t>P: Quantos setores têm "não chega" &gt; 0?</a:t>
            </a:r>
          </a:p>
          <a:p>
            <a:r>
              <a:t>R: 5.190, contra 89.212 com zero.</a:t>
            </a:r>
          </a:p>
          <a:p>
            <a:r>
              <a:t>De onde: FP03</a:t>
            </a:r>
          </a:p>
          <a:p/>
          <a:p>
            <a:r>
              <a:t>NA PONTA DA LÍNGUA</a:t>
            </a:r>
          </a:p>
          <a:p>
            <a:r>
              <a:t>· &gt; 0: 5.190 setores; = 0: 89.212</a:t>
            </a:r>
          </a:p>
          <a:p>
            <a:r>
              <a:t>· Renda mediana R$ 1.526,40 × R$ 2.830,52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FP04</a:t>
            </a:r>
          </a:p>
          <a:p/>
          <a:p>
            <a:r>
              <a:t>O QUE É</a:t>
            </a:r>
          </a:p>
          <a:p>
            <a:r>
              <a:t>Demanda 6 na fatorial: o S4 usa a V00495; no NB05 as três versões do banheiro entram na grade.</a:t>
            </a:r>
          </a:p>
          <a:p/>
          <a:p>
            <a:r>
              <a:t>PERGUNTAS</a:t>
            </a:r>
          </a:p>
          <a:p>
            <a:r>
              <a:t>P: Qual versão do banheiro passa mais?</a:t>
            </a:r>
          </a:p>
          <a:p>
            <a:r>
              <a:t>R: Com a V00495, 96 de 108 especificações são elegíveis; fora e graduado, 48 de 108 cada.</a:t>
            </a:r>
          </a:p>
          <a:p>
            <a:r>
              <a:t>De onde: FP04</a:t>
            </a:r>
          </a:p>
          <a:p/>
          <a:p>
            <a:r>
              <a:t>P: Então por que a referência usa o graduado?</a:t>
            </a:r>
          </a:p>
          <a:p>
            <a:r>
              <a:t>R: O graduado gradua a gravidade e ficou na frente na ordem dos critérios do NB05. Com a V00495 há empate no topo em outra leitura; está em aberto.</a:t>
            </a:r>
          </a:p>
          <a:p>
            <a:r>
              <a:t>De onde: estado_nb05 (sensibilidade)</a:t>
            </a:r>
          </a:p>
          <a:p/>
          <a:p>
            <a:r>
              <a:t>NA PONTA DA LÍNGUA</a:t>
            </a:r>
          </a:p>
          <a:p>
            <a:r>
              <a:t>· V00495: 96 de 108 elegíveis</a:t>
            </a:r>
          </a:p>
          <a:p>
            <a:r>
              <a:t>· S4: 75.955 setores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FP05</a:t>
            </a:r>
          </a:p>
          <a:p/>
          <a:p>
            <a:r>
              <a:t>O QUE É</a:t>
            </a:r>
          </a:p>
          <a:p>
            <a:r>
              <a:t>Demanda 7: cada cenário acrescenta uma variável ao IVS-7 e perde os setores sem ela.</a:t>
            </a:r>
          </a:p>
          <a:p/>
          <a:p>
            <a:r>
              <a:t>PERGUNTAS</a:t>
            </a:r>
          </a:p>
          <a:p>
            <a:r>
              <a:t>P: Alguma variável nova melhora a fatorial?</a:t>
            </a:r>
          </a:p>
          <a:p>
            <a:r>
              <a:t>R: O sem canalização (S3) tem o maior KMO (0,805) e quase não perde setores. Mas com as novas, Kaiser pede 3 fatores.</a:t>
            </a:r>
          </a:p>
          <a:p>
            <a:r>
              <a:t>De onde: FP05, tabela</a:t>
            </a:r>
          </a:p>
          <a:p/>
          <a:p>
            <a:r>
              <a:t>P: Por que a variância de 2 fatores cai?</a:t>
            </a:r>
          </a:p>
          <a:p>
            <a:r>
              <a:t>R: Com mais variáveis, dois fatores explicam uma parte menor do total: de 62,12% (S0) para 56,37% (S4).</a:t>
            </a:r>
          </a:p>
          <a:p>
            <a:r>
              <a:t>De onde: FP05</a:t>
            </a:r>
          </a:p>
          <a:p/>
          <a:p>
            <a:r>
              <a:t>NA PONTA DA LÍNGUA</a:t>
            </a:r>
          </a:p>
          <a:p>
            <a:r>
              <a:t>· S3: KMO 0,805; S4: 56,37%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FP06</a:t>
            </a:r>
          </a:p>
          <a:p/>
          <a:p>
            <a:r>
              <a:t>O QUE É</a:t>
            </a:r>
          </a:p>
          <a:p>
            <a:r>
              <a:t>Demanda 8: tudo junto (S6), sem lixo (S7) e as variantes.</a:t>
            </a:r>
          </a:p>
          <a:p/>
          <a:p>
            <a:r>
              <a:t>PERGUNTAS</a:t>
            </a:r>
          </a:p>
          <a:p>
            <a:r>
              <a:t>P: Por que ficar com 2 fatores se Kaiser e Horn pedem 4?</a:t>
            </a:r>
          </a:p>
          <a:p>
            <a:r>
              <a:t>R: Para manter o desenho do IVS-BH (duas dimensões) e comparar os cenários. Com 4, o índice teria outra estrutura; posso rodar se você quiser.</a:t>
            </a:r>
          </a:p>
          <a:p>
            <a:r>
              <a:t>De onde: FP06; FA06</a:t>
            </a:r>
          </a:p>
          <a:p/>
          <a:p>
            <a:r>
              <a:t>P: E com postos dentro do município?</a:t>
            </a:r>
          </a:p>
          <a:p>
            <a:r>
              <a:t>R: O KMO cai para 0,769 e Kaiser e Horn pedem 3.</a:t>
            </a:r>
          </a:p>
          <a:p>
            <a:r>
              <a:t>De onde: FP06</a:t>
            </a:r>
          </a:p>
          <a:p/>
          <a:p>
            <a:r>
              <a:t>NA PONTA DA LÍNGUA</a:t>
            </a:r>
          </a:p>
          <a:p>
            <a:r>
              <a:t>· S6: Kaiser 4, Horn 4, 48,94%</a:t>
            </a:r>
          </a:p>
          <a:p>
            <a:r>
              <a:t>· S7: Kaiser 3, Horn 2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FP07</a:t>
            </a:r>
          </a:p>
          <a:p/>
          <a:p>
            <a:r>
              <a:t>O QUE É</a:t>
            </a:r>
          </a:p>
          <a:p>
            <a:r>
              <a:t>Demanda 9 na fatorial: a moradia não convencional no S5 e no S6.</a:t>
            </a:r>
          </a:p>
          <a:p/>
          <a:p>
            <a:r>
              <a:t>PERGUNTAS</a:t>
            </a:r>
          </a:p>
          <a:p>
            <a:r>
              <a:t>P: A variável muda a fatorial?</a:t>
            </a:r>
          </a:p>
          <a:p>
            <a:r>
              <a:t>R: O KMO do S5 é igual ao do S0 (0,783), mas a variância de 2 fatores cai de 62,12% para 54,45%: a variável entra sem pertencer a nenhum fator.</a:t>
            </a:r>
          </a:p>
          <a:p>
            <a:r>
              <a:t>De onde: FP07; DM10</a:t>
            </a:r>
          </a:p>
          <a:p/>
          <a:p>
            <a:r>
              <a:t>P: Por que o S5 não perde setores?</a:t>
            </a:r>
          </a:p>
          <a:p>
            <a:r>
              <a:t>R: A moradia não convencional não tem faltantes: o S5 fica com os mesmos 87.545 setores do S0.</a:t>
            </a:r>
          </a:p>
          <a:p>
            <a:r>
              <a:t>De onde: FP07; DS02</a:t>
            </a:r>
          </a:p>
          <a:p/>
          <a:p>
            <a:r>
              <a:t>NA PONTA DA LÍNGUA</a:t>
            </a:r>
          </a:p>
          <a:p>
            <a:r>
              <a:t>· S5: KMO 0,783; 54,45%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FP08</a:t>
            </a:r>
          </a:p>
          <a:p/>
          <a:p>
            <a:r>
              <a:t>O QUE É</a:t>
            </a:r>
          </a:p>
          <a:p>
            <a:r>
              <a:t>Demanda 10: o lixo. Com ele, Kaiser e Horn dão 2 fatores e o lixo forma um fator próprio; sem ele, 1.</a:t>
            </a:r>
          </a:p>
          <a:p/>
          <a:p>
            <a:r>
              <a:t>PERGUNTAS</a:t>
            </a:r>
          </a:p>
          <a:p>
            <a:r>
              <a:t>P: Então o IVS-7 tem um fator só de lixo?</a:t>
            </a:r>
          </a:p>
          <a:p>
            <a:r>
              <a:t>R: Na Varimax do S0, sim: o segundo fator é praticamente o lixo. Sem lixo (S1) sobra um fator.</a:t>
            </a:r>
          </a:p>
          <a:p>
            <a:r>
              <a:t>De onde: FP08; FP02</a:t>
            </a:r>
          </a:p>
          <a:p/>
          <a:p>
            <a:r>
              <a:t>P: No S6 o lixo também se separa?</a:t>
            </a:r>
          </a:p>
          <a:p>
            <a:r>
              <a:t>R: Não: com as quatro variáveis novas, ele não forma fator próprio.</a:t>
            </a:r>
          </a:p>
          <a:p>
            <a:r>
              <a:t>De onde: FP08</a:t>
            </a:r>
          </a:p>
          <a:p/>
          <a:p>
            <a:r>
              <a:t>NA PONTA DA LÍNGUA</a:t>
            </a:r>
          </a:p>
          <a:p>
            <a:r>
              <a:t>· S0: 2 fatores; S1: 1</a:t>
            </a:r>
          </a:p>
          <a:p>
            <a:r>
              <a:t>· S6: lixo não forma fator próprio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FP09</a:t>
            </a:r>
          </a:p>
          <a:p/>
          <a:p>
            <a:r>
              <a:t>O QUE É</a:t>
            </a:r>
          </a:p>
          <a:p>
            <a:r>
              <a:t>Demanda 11: os pesos nas duas rotações, em S0, S1 e S6; na promax pelas duas matrizes.</a:t>
            </a:r>
          </a:p>
          <a:p/>
          <a:p>
            <a:r>
              <a:t>PERGUNTAS</a:t>
            </a:r>
          </a:p>
          <a:p>
            <a:r>
              <a:t>P: Onde a rotação muda mais o peso?</a:t>
            </a:r>
          </a:p>
          <a:p>
            <a:r>
              <a:t>R: No S1: o peso de F1 vai de 77,17% (sem rotação) a 59,64% (promax, estrutura).</a:t>
            </a:r>
          </a:p>
          <a:p>
            <a:r>
              <a:t>De onde: FP09</a:t>
            </a:r>
          </a:p>
          <a:p/>
          <a:p>
            <a:r>
              <a:t>P: Por que o Φ muda tanto entre cenários?</a:t>
            </a:r>
          </a:p>
          <a:p>
            <a:r>
              <a:t>R: Depende de quais variáveis entram: 0,151 no S0, 0,522 no S1 e 0,435 no S6.</a:t>
            </a:r>
          </a:p>
          <a:p>
            <a:r>
              <a:t>De onde: FP09</a:t>
            </a:r>
          </a:p>
          <a:p/>
          <a:p>
            <a:r>
              <a:t>NA PONTA DA LÍNGUA</a:t>
            </a:r>
          </a:p>
          <a:p>
            <a:r>
              <a:t>· Φ: 0,151 (S0), 0,522 (S1), 0,435 (S6)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FP11</a:t>
            </a:r>
          </a:p>
          <a:p/>
          <a:p>
            <a:r>
              <a:t>O QUE É</a:t>
            </a:r>
          </a:p>
          <a:p>
            <a:r>
              <a:t>A AUC contra FCU em cada cenário: o índice com pesos Varimax, a renda invertida sozinha e a média simples dos postos das variáveis.</a:t>
            </a:r>
          </a:p>
          <a:p/>
          <a:p>
            <a:r>
              <a:t>PERGUNTAS</a:t>
            </a:r>
          </a:p>
          <a:p>
            <a:r>
              <a:t>P: O índice separa FCU melhor que a renda?</a:t>
            </a:r>
          </a:p>
          <a:p>
            <a:r>
              <a:t>R: Não: a renda invertida sozinha tem AUC maior em quase todos os cenários (0,8819 contra 0,8377 no S0). O índice só fica à frente em duas variantes com postos dentro do município (S0_postos_mun e S6_postos_mun).</a:t>
            </a:r>
          </a:p>
          <a:p>
            <a:r>
              <a:t>De onde: FP11, tabela</a:t>
            </a:r>
          </a:p>
          <a:p/>
          <a:p>
            <a:r>
              <a:t>P: O que é a média simples de postos?</a:t>
            </a:r>
          </a:p>
          <a:p>
            <a:r>
              <a:t>R: Um índice sem fatorial: cada variável vira posto e tira-se a média. Serve de comparação.</a:t>
            </a:r>
          </a:p>
          <a:p>
            <a:r>
              <a:t>De onde: FP11</a:t>
            </a:r>
          </a:p>
          <a:p/>
          <a:p>
            <a:r>
              <a:t>NA PONTA DA LÍNGUA</a:t>
            </a:r>
          </a:p>
          <a:p>
            <a:r>
              <a:t>· S0: índice 0,8377; renda 0,8819; postos 0,8684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FP13</a:t>
            </a:r>
          </a:p>
          <a:p/>
          <a:p>
            <a:r>
              <a:t>O QUE É</a:t>
            </a:r>
          </a:p>
          <a:p>
            <a:r>
              <a:t>O que o índice acrescenta à renda. A renda sozinha separa FCU melhor; dentro de cada faixa de renda do município, o índice separa melhor.</a:t>
            </a:r>
          </a:p>
          <a:p/>
          <a:p>
            <a:r>
              <a:t>PERGUNTAS</a:t>
            </a:r>
          </a:p>
          <a:p>
            <a:r>
              <a:t>P: Se a renda sozinha é melhor, para que o índice?</a:t>
            </a:r>
          </a:p>
          <a:p>
            <a:r>
              <a:t>R: No geral a renda vence (0,8900 × 0,8309). Mas entre setores com renda parecida, o índice separa FCU melhor (0,7062 × 0,5900): ele acrescenta o que a renda não vê.</a:t>
            </a:r>
          </a:p>
          <a:p>
            <a:r>
              <a:t>De onde: FP13, tabela; acrescimo_renda.csv</a:t>
            </a:r>
          </a:p>
          <a:p/>
          <a:p>
            <a:r>
              <a:t>P: Somar o índice à renda ajuda?</a:t>
            </a:r>
          </a:p>
          <a:p>
            <a:r>
              <a:t>R: Melhora o modelo (queda da deviance de 135,45; z de 17,48), mas a AUC quase não muda.</a:t>
            </a:r>
          </a:p>
          <a:p>
            <a:r>
              <a:t>De onde: FP13; estado_nb05</a:t>
            </a:r>
          </a:p>
          <a:p/>
          <a:p>
            <a:r>
              <a:t>P: Em quantas especificações a renda vence?</a:t>
            </a:r>
          </a:p>
          <a:p>
            <a:r>
              <a:t>R: Em todas: em nenhuma das 192 o índice supera a renda na AUC global.</a:t>
            </a:r>
          </a:p>
          <a:p>
            <a:r>
              <a:t>De onde: FP13</a:t>
            </a:r>
          </a:p>
          <a:p/>
          <a:p>
            <a:r>
              <a:t>NA PONTA DA LÍNGUA</a:t>
            </a:r>
          </a:p>
          <a:p>
            <a:r>
              <a:t>· AUC global: índice 0,8309; renda 0,8900</a:t>
            </a:r>
          </a:p>
          <a:p>
            <a:r>
              <a:t>· Nos estratos de renda: índice 0,7062; renda 0,5900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VP00</a:t>
            </a:r>
          </a:p>
          <a:p/>
          <a:p>
            <a:r>
              <a:t>O QUE É</a:t>
            </a:r>
          </a:p>
          <a:p>
            <a:r>
              <a:t>Abre as 108 versões: cinco escolhas (renda, lixo, água, banheiro, moradia) combinadas, todas com o mesmo método (promax, 60/40, normalização municipal).</a:t>
            </a:r>
          </a:p>
          <a:p/>
          <a:p>
            <a:r>
              <a:t>PERGUNTAS</a:t>
            </a:r>
          </a:p>
          <a:p>
            <a:r>
              <a:t>P: Por que 108?</a:t>
            </a:r>
          </a:p>
          <a:p>
            <a:r>
              <a:t>R: 3 rendas × 2 lixo × 3 água × 3 banheiro × 2 moradia = 108.</a:t>
            </a:r>
          </a:p>
          <a:p>
            <a:r>
              <a:t>De onde: VP03</a:t>
            </a:r>
          </a:p>
          <a:p/>
          <a:p>
            <a:r>
              <a:t>P: Para que tantas versões?</a:t>
            </a:r>
          </a:p>
          <a:p>
            <a:r>
              <a:t>R: Para ver o efeito de cada escolha, uma por vez, mantendo o resto igual. É uma análise de sensibilidade.</a:t>
            </a:r>
          </a:p>
          <a:p>
            <a:r>
              <a:t>De onde: ART039 p.775</a:t>
            </a:r>
          </a:p>
          <a:p/>
          <a:p>
            <a:r>
              <a:t>NA PONTA DA LÍNGUA</a:t>
            </a:r>
          </a:p>
          <a:p>
            <a:r>
              <a:t>· 108 versões; 24 passam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VP02</a:t>
            </a:r>
          </a:p>
          <a:p/>
          <a:p>
            <a:r>
              <a:t>O QUE É</a:t>
            </a:r>
          </a:p>
          <a:p>
            <a:r>
              <a:t>Como ler as versões: método fixo, cada versão na sua amostra própria, comparações na amostra comum.</a:t>
            </a:r>
          </a:p>
          <a:p/>
          <a:p>
            <a:r>
              <a:t>PERGUNTAS</a:t>
            </a:r>
          </a:p>
          <a:p>
            <a:r>
              <a:t>P: O que é a amostra comum?</a:t>
            </a:r>
          </a:p>
          <a:p>
            <a:r>
              <a:t>R: Os 67.981 setores que têm as variáveis de todas as 108. Comparar na mesma amostra evita que a diferença venha dos setores e não da versão.</a:t>
            </a:r>
          </a:p>
          <a:p>
            <a:r>
              <a:t>De onde: VP02</a:t>
            </a:r>
          </a:p>
          <a:p/>
          <a:p>
            <a:r>
              <a:t>P: Os critérios são os mesmos do NB05?</a:t>
            </a:r>
          </a:p>
          <a:p>
            <a:r>
              <a:t>R: Sim: KMO ≥ 0,70; MSA ≥ 0,50; comunalidade ≥ 0,30; carga ≥ 0,40.</a:t>
            </a:r>
          </a:p>
          <a:p>
            <a:r>
              <a:t>De onde: VP02; FA16</a:t>
            </a:r>
          </a:p>
          <a:p/>
          <a:p>
            <a:r>
              <a:t>NA PONTA DA LÍNGUA</a:t>
            </a:r>
          </a:p>
          <a:p>
            <a:r>
              <a:t>· Amostra comum: 67.981 setores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VP03</a:t>
            </a:r>
          </a:p>
          <a:p/>
          <a:p>
            <a:r>
              <a:t>O QUE É</a:t>
            </a:r>
          </a:p>
          <a:p>
            <a:r>
              <a:t>Os cinco eixos e as opções de cada um. Seis variáveis ficam em todas as versões.</a:t>
            </a:r>
          </a:p>
          <a:p/>
          <a:p>
            <a:r>
              <a:t>PERGUNTAS</a:t>
            </a:r>
          </a:p>
          <a:p>
            <a:r>
              <a:t>P: Por que "não chega" e "sem canalização" não entram juntas?</a:t>
            </a:r>
          </a:p>
          <a:p>
            <a:r>
              <a:t>R: Uma contém a outra: entrariam duas vezes a mesma informação.</a:t>
            </a:r>
          </a:p>
          <a:p>
            <a:r>
              <a:t>De onde: VP03</a:t>
            </a:r>
          </a:p>
          <a:p/>
          <a:p>
            <a:r>
              <a:t>P: Por que essas variáveis fixas?</a:t>
            </a:r>
          </a:p>
          <a:p>
            <a:r>
              <a:t>R: São os componentes do IVS-7 que não estão em discussão: água, esgoto, razão de moradores, analfabetismo, renda e cor/raça.</a:t>
            </a:r>
          </a:p>
          <a:p>
            <a:r>
              <a:t>De onde: VP03</a:t>
            </a:r>
          </a:p>
          <a:p/>
          <a:p>
            <a:r>
              <a:t>NA PONTA DA LÍNGUA</a:t>
            </a:r>
          </a:p>
          <a:p>
            <a:r>
              <a:t>· 3 × 2 × 3 × 3 × 2 = 108</a:t>
            </a:r>
          </a:p>
          <a:p>
            <a:r>
              <a:t>· De 6 a 10 variáveis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VP04</a:t>
            </a:r>
          </a:p>
          <a:p/>
          <a:p>
            <a:r>
              <a:t>O QUE É</a:t>
            </a:r>
          </a:p>
          <a:p>
            <a:r>
              <a:t>Quantos setores cada versão tem na amostra própria, por opção de cada eixo.</a:t>
            </a:r>
          </a:p>
          <a:p/>
          <a:p>
            <a:r>
              <a:t>PERGUNTAS</a:t>
            </a:r>
          </a:p>
          <a:p>
            <a:r>
              <a:t>P: Qual opção tira mais setores?</a:t>
            </a:r>
          </a:p>
          <a:p>
            <a:r>
              <a:t>R: Acrescentar "não chega": a mediana cai para 69.480 setores.</a:t>
            </a:r>
          </a:p>
          <a:p>
            <a:r>
              <a:t>De onde: VP04</a:t>
            </a:r>
          </a:p>
          <a:p/>
          <a:p>
            <a:r>
              <a:t>P: A renda muda a amostra?</a:t>
            </a:r>
          </a:p>
          <a:p>
            <a:r>
              <a:t>R: Quase nada: só o setor extremo de BH (68.000 × 68.001).</a:t>
            </a:r>
          </a:p>
          <a:p>
            <a:r>
              <a:t>De onde: VP04</a:t>
            </a:r>
          </a:p>
          <a:p/>
          <a:p>
            <a:r>
              <a:t>NA PONTA DA LÍNGUA</a:t>
            </a:r>
          </a:p>
          <a:p>
            <a:r>
              <a:t>· Amostras de 68.000 a 87.545 setores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VP05</a:t>
            </a:r>
          </a:p>
          <a:p/>
          <a:p>
            <a:r>
              <a:t>O QUE É</a:t>
            </a:r>
          </a:p>
          <a:p>
            <a:r>
              <a:t>As 108 numa grade: cada célula é uma versão, em verde as que passam, com o primeiro critério que falha nas outras.</a:t>
            </a:r>
          </a:p>
          <a:p/>
          <a:p>
            <a:r>
              <a:t>PERGUNTAS</a:t>
            </a:r>
          </a:p>
          <a:p>
            <a:r>
              <a:t>P: Por que só 24 passam?</a:t>
            </a:r>
          </a:p>
          <a:p>
            <a:r>
              <a:t>R: Quase todas as que falham, falham na comunalidade (alguma variável abaixo de 0,30); algumas também na carga. Com lixo só 3 passam; sem lixo, 21.</a:t>
            </a:r>
          </a:p>
          <a:p>
            <a:r>
              <a:t>De onde: VP05; versoes.csv</a:t>
            </a:r>
          </a:p>
          <a:p/>
          <a:p>
            <a:r>
              <a:t>P: Que variável costuma ficar com comunalidade baixa?</a:t>
            </a:r>
          </a:p>
          <a:p>
            <a:r>
              <a:t>R: Lixo e moradia não convencional quase não se correlacionam com o resto (DC01, DM10).</a:t>
            </a:r>
          </a:p>
          <a:p>
            <a:r>
              <a:t>De onde: DC01; DM10 [A CONFERIR: variável que falha em cada versão]</a:t>
            </a:r>
          </a:p>
          <a:p/>
          <a:p>
            <a:r>
              <a:t>NA PONTA DA LÍNGUA</a:t>
            </a:r>
          </a:p>
          <a:p>
            <a:r>
              <a:t>· 24 de 108 passam; com lixo 3, sem lixo 21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VP06</a:t>
            </a:r>
          </a:p>
          <a:p/>
          <a:p>
            <a:r>
              <a:t>O QUE É</a:t>
            </a:r>
          </a:p>
          <a:p>
            <a:r>
              <a:t>O KMO de cada versão, na mesma grade.</a:t>
            </a:r>
          </a:p>
          <a:p/>
          <a:p>
            <a:r>
              <a:t>PERGUNTAS</a:t>
            </a:r>
          </a:p>
          <a:p>
            <a:r>
              <a:t>P: Alguma versão falha no KMO?</a:t>
            </a:r>
          </a:p>
          <a:p>
            <a:r>
              <a:t>R: Não: o menor é 0,7653 (V048), acima de 0,70. O KMO não separa as versões; o que separa é a comunalidade.</a:t>
            </a:r>
          </a:p>
          <a:p>
            <a:r>
              <a:t>De onde: VP06; VP05</a:t>
            </a:r>
          </a:p>
          <a:p/>
          <a:p>
            <a:r>
              <a:t>P: Qual versão tem o maior KMO?</a:t>
            </a:r>
          </a:p>
          <a:p>
            <a:r>
              <a:t>R: A V033 (0,8143).</a:t>
            </a:r>
          </a:p>
          <a:p>
            <a:r>
              <a:t>De onde: VP06</a:t>
            </a:r>
          </a:p>
          <a:p/>
          <a:p>
            <a:r>
              <a:t>NA PONTA DA LÍNGUA</a:t>
            </a:r>
          </a:p>
          <a:p>
            <a:r>
              <a:t>· KMO de 0,765 a 0,814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VP07</a:t>
            </a:r>
          </a:p>
          <a:p/>
          <a:p>
            <a:r>
              <a:t>O QUE É</a:t>
            </a:r>
          </a:p>
          <a:p>
            <a:r>
              <a:t>A AUC no município de cada versão, na amostra comum.</a:t>
            </a:r>
          </a:p>
          <a:p/>
          <a:p>
            <a:r>
              <a:t>PERGUNTAS</a:t>
            </a:r>
          </a:p>
          <a:p>
            <a:r>
              <a:t>P: A versão de maior AUC passa nos critérios?</a:t>
            </a:r>
          </a:p>
          <a:p>
            <a:r>
              <a:t>R: Sim: a V024 (0,8642) está na lista das que passam.</a:t>
            </a:r>
          </a:p>
          <a:p>
            <a:r>
              <a:t>De onde: VP07; VP13</a:t>
            </a:r>
          </a:p>
          <a:p/>
          <a:p>
            <a:r>
              <a:t>P: A AUC muda muito entre versões?</a:t>
            </a:r>
          </a:p>
          <a:p>
            <a:r>
              <a:t>R: Pouco: de 0,812 a 0,864.</a:t>
            </a:r>
          </a:p>
          <a:p>
            <a:r>
              <a:t>De onde: VP07</a:t>
            </a:r>
          </a:p>
          <a:p/>
          <a:p>
            <a:r>
              <a:t>NA PONTA DA LÍNGUA</a:t>
            </a:r>
          </a:p>
          <a:p>
            <a:r>
              <a:t>· AUC no município de 0,812 a 0,864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VP08</a:t>
            </a:r>
          </a:p>
          <a:p/>
          <a:p>
            <a:r>
              <a:t>O QUE É</a:t>
            </a:r>
          </a:p>
          <a:p>
            <a: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/>
          <a:p>
            <a:r>
              <a:t>PERGUNTAS</a:t>
            </a:r>
          </a:p>
          <a:p>
            <a:r>
              <a:t>P: Mudar renda muda o índice?</a:t>
            </a:r>
          </a:p>
          <a:p>
            <a:r>
              <a:t>R: renda original → renda sem extremo: Spearman 0,999, 0,2% mudam de faixa; renda original → renda com mediana: Spearman 0,999, 0,2% mudam de faixa.</a:t>
            </a:r>
          </a:p>
          <a:p>
            <a:r>
              <a:t>De onde: VP08; pares_por_eixo.csv</a:t>
            </a:r>
          </a:p>
          <a:p/>
          <a:p>
            <a:r>
              <a:t>P: E quantas versões passam nos critérios?</a:t>
            </a:r>
          </a:p>
          <a:p>
            <a:r>
              <a:t>R: renda original → renda sem extremo: 8 → 8; renda original → renda com mediana: 8 → 8; renda sem extremo → renda com mediana: 8 → 8.</a:t>
            </a:r>
          </a:p>
          <a:p>
            <a:r>
              <a:t>De onde: VP08, coluna "Elegíveis antes → depois"</a:t>
            </a:r>
          </a:p>
          <a:p/>
          <a:p>
            <a:r>
              <a:t>P: O que é "mudar de faixa"?</a:t>
            </a:r>
          </a:p>
          <a:p>
            <a:r>
              <a:t>R: É o setor passar de uma faixa (baixo, médio, elevado, muito elevado) para outra entre as duas versões, pela regra do IVS-BH. Mostra o efeito prático da troca.</a:t>
            </a:r>
          </a:p>
          <a:p>
            <a:r>
              <a:t>De onde: FA13; ART003 p.10 (regra das faixas)</a:t>
            </a:r>
          </a:p>
          <a:p/>
          <a:p>
            <a:r>
              <a:t>NA PONTA DA LÍNGUA</a:t>
            </a:r>
          </a:p>
          <a:p>
            <a:r>
              <a:t>· renda original → renda sem extremo: 0,2% mudam de faixa</a:t>
            </a:r>
          </a:p>
          <a:p>
            <a:r>
              <a:t>· renda original → renda com mediana: 0,2% mudam de faixa</a:t>
            </a:r>
          </a:p>
          <a:p>
            <a:r>
              <a:t>· renda sem extremo → renda com mediana: 0,0% mudam de faixa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VP09</a:t>
            </a:r>
          </a:p>
          <a:p/>
          <a:p>
            <a:r>
              <a:t>O QUE É</a:t>
            </a:r>
          </a:p>
          <a:p>
            <a: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/>
          <a:p>
            <a:r>
              <a:t>PERGUNTAS</a:t>
            </a:r>
          </a:p>
          <a:p>
            <a:r>
              <a:t>P: Mudar lixo muda o índice?</a:t>
            </a:r>
          </a:p>
          <a:p>
            <a:r>
              <a:t>R: com lixo → sem lixo: Spearman 0,990, 8,2% mudam de faixa.</a:t>
            </a:r>
          </a:p>
          <a:p>
            <a:r>
              <a:t>De onde: VP09; pares_por_eixo.csv</a:t>
            </a:r>
          </a:p>
          <a:p/>
          <a:p>
            <a:r>
              <a:t>P: E quantas versões passam nos critérios?</a:t>
            </a:r>
          </a:p>
          <a:p>
            <a:r>
              <a:t>R: com lixo → sem lixo: 3 → 21.</a:t>
            </a:r>
          </a:p>
          <a:p>
            <a:r>
              <a:t>De onde: VP09, coluna "Elegíveis antes → depois"</a:t>
            </a:r>
          </a:p>
          <a:p/>
          <a:p>
            <a:r>
              <a:t>P: O que é "mudar de faixa"?</a:t>
            </a:r>
          </a:p>
          <a:p>
            <a:r>
              <a:t>R: É o setor passar de uma faixa (baixo, médio, elevado, muito elevado) para outra entre as duas versões, pela regra do IVS-BH. Mostra o efeito prático da troca.</a:t>
            </a:r>
          </a:p>
          <a:p>
            <a:r>
              <a:t>De onde: FA13; ART003 p.10 (regra das faixas)</a:t>
            </a:r>
          </a:p>
          <a:p/>
          <a:p>
            <a:r>
              <a:t>NA PONTA DA LÍNGUA</a:t>
            </a:r>
          </a:p>
          <a:p>
            <a:r>
              <a:t>· com lixo → sem lixo: 8,2% mudam de faixa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VP10</a:t>
            </a:r>
          </a:p>
          <a:p/>
          <a:p>
            <a:r>
              <a:t>O QUE É</a:t>
            </a:r>
          </a:p>
          <a:p>
            <a: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/>
          <a:p>
            <a:r>
              <a:t>PERGUNTAS</a:t>
            </a:r>
          </a:p>
          <a:p>
            <a:r>
              <a:t>P: Mudar água canalizada muda o índice?</a:t>
            </a:r>
          </a:p>
          <a:p>
            <a:r>
              <a:t>R: água: só a inadequada → + água não chega: Spearman 0,965, 16,3% mudam de faixa; água: só a inadequada → + sem água canalizada: Spearman 0,978, 12,1% mudam de faixa.</a:t>
            </a:r>
          </a:p>
          <a:p>
            <a:r>
              <a:t>De onde: VP10; pares_por_eixo.csv</a:t>
            </a:r>
          </a:p>
          <a:p/>
          <a:p>
            <a:r>
              <a:t>P: E quantas versões passam nos critérios?</a:t>
            </a:r>
          </a:p>
          <a:p>
            <a:r>
              <a:t>R: água: só a inadequada → + água não chega: 15 → 3; água: só a inadequada → + sem água canalizada: 15 → 6; + água não chega → + sem água canalizada: 3 → 6.</a:t>
            </a:r>
          </a:p>
          <a:p>
            <a:r>
              <a:t>De onde: VP10, coluna "Elegíveis antes → depois"</a:t>
            </a:r>
          </a:p>
          <a:p/>
          <a:p>
            <a:r>
              <a:t>P: O que é "mudar de faixa"?</a:t>
            </a:r>
          </a:p>
          <a:p>
            <a:r>
              <a:t>R: É o setor passar de uma faixa (baixo, médio, elevado, muito elevado) para outra entre as duas versões, pela regra do IVS-BH. Mostra o efeito prático da troca.</a:t>
            </a:r>
          </a:p>
          <a:p>
            <a:r>
              <a:t>De onde: FA13; ART003 p.10 (regra das faixas)</a:t>
            </a:r>
          </a:p>
          <a:p/>
          <a:p>
            <a:r>
              <a:t>NA PONTA DA LÍNGUA</a:t>
            </a:r>
          </a:p>
          <a:p>
            <a:r>
              <a:t>· água: só a inadequada → + água não chega: 16,3% mudam de faixa</a:t>
            </a:r>
          </a:p>
          <a:p>
            <a:r>
              <a:t>· água: só a inadequada → + sem água canalizada: 12,1% mudam de faixa</a:t>
            </a:r>
          </a:p>
          <a:p>
            <a:r>
              <a:t>· + água não chega → + sem água canalizada: 6,6% mudam de faixa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VP11</a:t>
            </a:r>
          </a:p>
          <a:p/>
          <a:p>
            <a:r>
              <a:t>O QUE É</a:t>
            </a:r>
          </a:p>
          <a:p>
            <a: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/>
          <a:p>
            <a:r>
              <a:t>PERGUNTAS</a:t>
            </a:r>
          </a:p>
          <a:p>
            <a:r>
              <a:t>P: Mudar banheiro muda o índice?</a:t>
            </a:r>
          </a:p>
          <a:p>
            <a:r>
              <a:t>R: banheiro fora → + sem banheiro: Spearman 0,993, 9,8% mudam de faixa; banheiro fora → + banheiro graduado: Spearman 0,993, 11,3% mudam de faixa.</a:t>
            </a:r>
          </a:p>
          <a:p>
            <a:r>
              <a:t>De onde: VP11; pares_por_eixo.csv</a:t>
            </a:r>
          </a:p>
          <a:p/>
          <a:p>
            <a:r>
              <a:t>P: E quantas versões passam nos critérios?</a:t>
            </a:r>
          </a:p>
          <a:p>
            <a:r>
              <a:t>R: banheiro fora → + sem banheiro: 9 → 9; banheiro fora → + banheiro graduado: 9 → 6; + sem banheiro → + banheiro graduado: 9 → 6.</a:t>
            </a:r>
          </a:p>
          <a:p>
            <a:r>
              <a:t>De onde: VP11, coluna "Elegíveis antes → depois"</a:t>
            </a:r>
          </a:p>
          <a:p/>
          <a:p>
            <a:r>
              <a:t>P: O que é "mudar de faixa"?</a:t>
            </a:r>
          </a:p>
          <a:p>
            <a:r>
              <a:t>R: É o setor passar de uma faixa (baixo, médio, elevado, muito elevado) para outra entre as duas versões, pela regra do IVS-BH. Mostra o efeito prático da troca.</a:t>
            </a:r>
          </a:p>
          <a:p>
            <a:r>
              <a:t>De onde: FA13; ART003 p.10 (regra das faixas)</a:t>
            </a:r>
          </a:p>
          <a:p/>
          <a:p>
            <a:r>
              <a:t>NA PONTA DA LÍNGUA</a:t>
            </a:r>
          </a:p>
          <a:p>
            <a:r>
              <a:t>· banheiro fora → + sem banheiro: 9,8% mudam de faixa</a:t>
            </a:r>
          </a:p>
          <a:p>
            <a:r>
              <a:t>· banheiro fora → + banheiro graduado: 11,3% mudam de faixa</a:t>
            </a:r>
          </a:p>
          <a:p>
            <a:r>
              <a:t>· + sem banheiro → + banheiro graduado: 2,6% mudam de faixa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VP12</a:t>
            </a:r>
          </a:p>
          <a:p/>
          <a:p>
            <a:r>
              <a:t>O QUE É</a:t>
            </a:r>
          </a:p>
          <a:p>
            <a: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/>
          <a:p>
            <a:r>
              <a:t>PERGUNTAS</a:t>
            </a:r>
          </a:p>
          <a:p>
            <a:r>
              <a:t>P: Mudar moradia muda o índice?</a:t>
            </a:r>
          </a:p>
          <a:p>
            <a:r>
              <a:t>R: moradia fora → + moradia não convencional: Spearman 1,000, 1,1% mudam de faixa.</a:t>
            </a:r>
          </a:p>
          <a:p>
            <a:r>
              <a:t>De onde: VP12; pares_por_eixo.csv</a:t>
            </a:r>
          </a:p>
          <a:p/>
          <a:p>
            <a:r>
              <a:t>P: E quantas versões passam nos critérios?</a:t>
            </a:r>
          </a:p>
          <a:p>
            <a:r>
              <a:t>R: moradia fora → + moradia não convencional: 21 → 3.</a:t>
            </a:r>
          </a:p>
          <a:p>
            <a:r>
              <a:t>De onde: VP12, coluna "Elegíveis antes → depois"</a:t>
            </a:r>
          </a:p>
          <a:p/>
          <a:p>
            <a:r>
              <a:t>P: O que é "mudar de faixa"?</a:t>
            </a:r>
          </a:p>
          <a:p>
            <a:r>
              <a:t>R: É o setor passar de uma faixa (baixo, médio, elevado, muito elevado) para outra entre as duas versões, pela regra do IVS-BH. Mostra o efeito prático da troca.</a:t>
            </a:r>
          </a:p>
          <a:p>
            <a:r>
              <a:t>De onde: FA13; ART003 p.10 (regra das faixas)</a:t>
            </a:r>
          </a:p>
          <a:p/>
          <a:p>
            <a:r>
              <a:t>NA PONTA DA LÍNGUA</a:t>
            </a:r>
          </a:p>
          <a:p>
            <a:r>
              <a:t>· moradia fora → + moradia não convencional: 1,1% mudam de faixa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VP13</a:t>
            </a:r>
          </a:p>
          <a:p/>
          <a:p>
            <a:r>
              <a:t>O QUE É</a:t>
            </a:r>
          </a:p>
          <a:p>
            <a:r>
              <a:t>As versões que passam nos critérios, em ordem de código, com setores, KMO, AUC e o Spearman com a V023 (a referência do NB05).</a:t>
            </a:r>
          </a:p>
          <a:p/>
          <a:p>
            <a:r>
              <a:t>PERGUNTAS</a:t>
            </a:r>
          </a:p>
          <a:p>
            <a:r>
              <a:t>P: A referência do NB05 está entre elas?</a:t>
            </a:r>
          </a:p>
          <a:p>
            <a:r>
              <a:t>R: Sim: é a V023 (renda original, sem lixo, banheiro graduado), com 73.878 setores e KMO 0,781.</a:t>
            </a:r>
          </a:p>
          <a:p>
            <a:r>
              <a:t>De onde: VP13</a:t>
            </a:r>
          </a:p>
          <a:p/>
          <a:p>
            <a:r>
              <a:t>P: As que passam dão índices parecidos?</a:t>
            </a:r>
          </a:p>
          <a:p>
            <a:r>
              <a:t>R: O Spearman com a V023 mostra isso: perto de 1 quer dizer quase a mesma ordem de setores.</a:t>
            </a:r>
          </a:p>
          <a:p>
            <a:r>
              <a:t>De onde: VP13</a:t>
            </a:r>
          </a:p>
          <a:p/>
          <a:p>
            <a:r>
              <a:t>NA PONTA DA LÍNGUA</a:t>
            </a:r>
          </a:p>
          <a:p>
            <a:r>
              <a:t>· V023 = referência do NB05: 73.878 setores, KMO 0,781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VP13-2</a:t>
            </a:r>
          </a:p>
          <a:p/>
          <a:p>
            <a:r>
              <a:t>O QUE É</a:t>
            </a:r>
          </a:p>
          <a:p>
            <a:r>
              <a:t>Continuação da lista das versões que passam.</a:t>
            </a:r>
          </a:p>
          <a:p/>
          <a:p>
            <a:r>
              <a:t>PERGUNTAS</a:t>
            </a:r>
          </a:p>
          <a:p>
            <a:r>
              <a:t>P: Por que em ordem de código?</a:t>
            </a:r>
          </a:p>
          <a:p>
            <a:r>
              <a:t>R: Para não sugerir uma escolha; a ordem pelos critérios está no VP14.</a:t>
            </a:r>
          </a:p>
          <a:p>
            <a:r>
              <a:t>De onde: VP14</a:t>
            </a:r>
          </a:p>
          <a:p/>
          <a:p>
            <a:r>
              <a:t>P: O que quer dizer o Spearman com a V023?</a:t>
            </a:r>
          </a:p>
          <a:p>
            <a:r>
              <a:t>R: Quanto a versão ordena os setores igual à referência do NB05: perto de 1, quase a mesma ordem.</a:t>
            </a:r>
          </a:p>
          <a:p>
            <a:r>
              <a:t>De onde: VP13</a:t>
            </a:r>
          </a:p>
          <a:p/>
          <a:p>
            <a:r>
              <a:t>NA PONTA DA LÍNGUA</a:t>
            </a:r>
          </a:p>
          <a:p>
            <a:r>
              <a:t>· 24 versões no total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VP14</a:t>
            </a:r>
          </a:p>
          <a:p/>
          <a:p>
            <a:r>
              <a:t>O QUE É</a:t>
            </a:r>
          </a:p>
          <a:p>
            <a:r>
              <a:t>As elegíveis ordenadas pela posição média em três critérios: estabilidade (a maior variação do peso de uma variável quando se tira um município), AUC no município e parcimônia (menos variáveis). Empate: a mais próxima do IVS-BH 2012.</a:t>
            </a:r>
          </a:p>
          <a:p/>
          <a:p>
            <a:r>
              <a:t>PERGUNTAS</a:t>
            </a:r>
          </a:p>
          <a:p>
            <a:r>
              <a:t>P: Então a melhor é a V025?</a:t>
            </a:r>
          </a:p>
          <a:p>
            <a:r>
              <a:t>R: Não escolhi. A V025 tem a menor posição média (9,2) por esses critérios; a decisão é sua.</a:t>
            </a:r>
          </a:p>
          <a:p>
            <a:r>
              <a:t>De onde: VP14</a:t>
            </a:r>
          </a:p>
          <a:p/>
          <a:p>
            <a:r>
              <a:t>P: Por que a referência do NB05 (V023) não está no topo?</a:t>
            </a:r>
          </a:p>
          <a:p>
            <a:r>
              <a:t>R: Ela tem a maior variação de peso da lista (6,94 p.p.); a posição média é 12,3. A ordem do NB05 era em outra grade (com rotações e pesos diferentes).</a:t>
            </a:r>
          </a:p>
          <a:p>
            <a:r>
              <a:t>De onde: VP14; estado_nb05</a:t>
            </a:r>
          </a:p>
          <a:p/>
          <a:p>
            <a:r>
              <a:t>P: O que é parcimônia?</a:t>
            </a:r>
          </a:p>
          <a:p>
            <a:r>
              <a:t>R: Preferir a versão com menos variáveis quando o resultado é parecido.</a:t>
            </a:r>
          </a:p>
          <a:p>
            <a:r>
              <a:t>De onde: VP14</a:t>
            </a:r>
          </a:p>
          <a:p/>
          <a:p>
            <a:r>
              <a:t>NA PONTA DA LÍNGUA</a:t>
            </a:r>
          </a:p>
          <a:p>
            <a:r>
              <a:t>· V025: posição média 9,2</a:t>
            </a:r>
          </a:p>
          <a:p>
            <a:r>
              <a:t>· V023: 12,3; variação de peso 6,94 p.p.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A01</a:t>
            </a:r>
          </a:p>
          <a:p/>
          <a:p>
            <a:r>
              <a:t>O QUE É</a:t>
            </a:r>
          </a:p>
          <a:p>
            <a:r>
              <a:t>Capa. O relatório tem cinco partes: as demandas de setembro e como foram cobertas, a descrição de cada indicador, as correlações, a análise fatorial (a referência proposta e as demandas sobre ela) e as 108 versões da fatorial.</a:t>
            </a:r>
          </a:p>
          <a:p/>
          <a:p>
            <a:r>
              <a:t>PERGUNTAS</a:t>
            </a:r>
          </a:p>
          <a:p>
            <a:r>
              <a:t>P: Qual o objetivo deste relatório?</a:t>
            </a:r>
          </a:p>
          <a:p>
            <a:r>
              <a:t>R: Mostrar o que fiz de cada demanda de setembro, para você conferir os números com os seus resultados e decidir o que fica em aberto.</a:t>
            </a:r>
          </a:p>
          <a:p>
            <a:r>
              <a:t>De onde: A01; DM01</a:t>
            </a:r>
          </a:p>
          <a:p/>
          <a:p>
            <a:r>
              <a:t>P: Qual a base de dados?</a:t>
            </a:r>
          </a:p>
          <a:p>
            <a:r>
              <a:t>R: Os setores censitários dos 70 municípios do ELSI-Brasil, Censo 2022: 109.032 setores, dos quais 104.108 são urbanos com dados divulgados.</a:t>
            </a:r>
          </a:p>
          <a:p>
            <a:r>
              <a:t>De onde: DS01; T01_funil.csv</a:t>
            </a:r>
          </a:p>
          <a:p/>
          <a:p>
            <a:r>
              <a:t>NA PONTA DA LÍNGUA</a:t>
            </a:r>
          </a:p>
          <a:p>
            <a:r>
              <a:t>· 70 municípios do ELSI-Brasil; Censo 2022</a:t>
            </a:r>
          </a:p>
          <a:p>
            <a:r>
              <a:t>· 109.032 setores; 104.108 na descritiva; 73.878 na fatorial</a:t>
            </a: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DM00</a:t>
            </a:r>
          </a:p>
          <a:p/>
          <a:p>
            <a:r>
              <a:t>O QUE É</a:t>
            </a:r>
          </a:p>
          <a:p>
            <a:r>
              <a:t>Abre a parte das demandas de setembro. Cada slide tem: o pedido, como eu li, o que foi feito, o que contornei e onde está o resultado.</a:t>
            </a:r>
          </a:p>
          <a:p/>
          <a:p>
            <a:r>
              <a:t>PERGUNTAS</a:t>
            </a:r>
          </a:p>
          <a:p>
            <a:r>
              <a:t>P: Todas as demandas foram atendidas?</a:t>
            </a:r>
          </a:p>
          <a:p>
            <a:r>
              <a:t>R: As 11 estão concluídas. Três têm um ponto aberto: o banheiro graduado (demanda 6), a leitura de "fatorial de tudo isso" (demanda 8) e manter ou não a moradia não convencional (demanda 9).</a:t>
            </a:r>
          </a:p>
          <a:p>
            <a:r>
              <a:t>De onde: DM01</a:t>
            </a:r>
          </a:p>
          <a:p/>
          <a:p>
            <a:r>
              <a:t>P: O que é "o que contornamos"?</a:t>
            </a:r>
          </a:p>
          <a:p>
            <a:r>
              <a:t>R: É onde o dado não deixou fazer exatamente o pedido, e o que fiz no lugar. Por exemplo, a mediana de renda do setor não existe no arquivo do Censo.</a:t>
            </a:r>
          </a:p>
          <a:p>
            <a:r>
              <a:t>De onde: DM14; DM02</a:t>
            </a:r>
          </a:p>
          <a:p/>
          <a:p>
            <a:r>
              <a:t>NA PONTA DA LÍNGUA</a:t>
            </a:r>
          </a:p>
          <a:p>
            <a:r>
              <a:t>· 11 demandas, todas concluídas</a:t>
            </a:r>
          </a:p>
          <a:p>
            <a:r>
              <a:t>· Pontos abertos: demandas 6, 8 e 9</a:t>
            </a: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DM01</a:t>
            </a:r>
          </a:p>
          <a:p/>
          <a:p>
            <a:r>
              <a:t>O QUE É</a:t>
            </a:r>
          </a:p>
          <a:p>
            <a:r>
              <a:t>A lista das 11 demandas de setembro, o estado de cada uma, o slide que a explica e o slide do resultado.</a:t>
            </a:r>
          </a:p>
          <a:p/>
          <a:p>
            <a:r>
              <a:t>PERGUNTAS</a:t>
            </a:r>
          </a:p>
          <a:p>
            <a:r>
              <a:t>P: A demanda 4 aparece com o DM05, que não está no relatório. Por quê?</a:t>
            </a:r>
          </a:p>
          <a:p>
            <a:r>
              <a:t>R: Tirei o DM05 na edição. O resultado da demanda 4 (separar útil × inútil) está no mapa, como diz a coluna "Resultado em".</a:t>
            </a:r>
          </a:p>
          <a:p>
            <a:r>
              <a:t>De onde: DM01, linha 4 [A CONFERIR: o Pedro confirma]</a:t>
            </a:r>
          </a:p>
          <a:p/>
          <a:p>
            <a:r>
              <a:t>P: O que quer dizer "graduada (V00237) em aberto" na demanda 6?</a:t>
            </a:r>
          </a:p>
          <a:p>
            <a:r>
              <a:t>R: O sem banheiro foi juntado com a V00495. A versão graduada, que usa a V00237, foi feita depois, no NB05; fica em aberto se ela substitui a V00495.</a:t>
            </a:r>
          </a:p>
          <a:p>
            <a:r>
              <a:t>De onde: DM01; DM07</a:t>
            </a:r>
          </a:p>
          <a:p/>
          <a:p>
            <a:r>
              <a:t>P: Por que a demanda 8 diz "leitura padrão da pergunta 6"?</a:t>
            </a:r>
          </a:p>
          <a:p>
            <a:r>
              <a:t>R: "Fatorial de tudo isso" pode ser lida de mais de um jeito. Usei a leitura de juntar as quatro variáveis novas ao IVS-7 (cenário S6); falta confirmar com você.</a:t>
            </a:r>
          </a:p>
          <a:p>
            <a:r>
              <a:t>De onde: DM09</a:t>
            </a:r>
          </a:p>
          <a:p/>
          <a:p>
            <a:r>
              <a:t>NA PONTA DA LÍNGUA</a:t>
            </a:r>
          </a:p>
          <a:p>
            <a:r>
              <a:t>· Demanda 6: V00495 feita; graduada em aberto</a:t>
            </a:r>
          </a:p>
          <a:p>
            <a:r>
              <a:t>· Demanda 9: moradia como não convencional, sem excluir</a:t>
            </a:r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DM02</a:t>
            </a:r>
          </a:p>
          <a:p/>
          <a:p>
            <a:r>
              <a:t>O QUE É</a:t>
            </a:r>
          </a:p>
          <a:p>
            <a:r>
              <a:t>Demanda 1: uma coluna de renda com a mediana. A renda do Censo por setor é a média (V06004); a mediana do setor (V06006) não vem no arquivo. O setor extremo de Belo Horizonte tem renda média de R$ 170.418,06.</a:t>
            </a:r>
          </a:p>
          <a:p/>
          <a:p>
            <a:r>
              <a:t>PERGUNTAS</a:t>
            </a:r>
          </a:p>
          <a:p>
            <a:r>
              <a:t>P: Por que não usou a mediana do setor?</a:t>
            </a:r>
          </a:p>
          <a:p>
            <a:r>
              <a:t>R: Ela não existe no arquivo do Censo: vêm V06001 a V06005, não V06006. Por isso troquei só o setor extremo pela mediana de BH calculada sem ele.</a:t>
            </a:r>
          </a:p>
          <a:p>
            <a:r>
              <a:t>De onde: DM02; ART004</a:t>
            </a:r>
          </a:p>
          <a:p/>
          <a:p>
            <a:r>
              <a:t>P: Quanto isso muda?</a:t>
            </a:r>
          </a:p>
          <a:p>
            <a:r>
              <a:t>R: Só 1 setor fica diferente. A média de BH vai de R$ 4.649,57 a R$ 4.649,47 conforme a alternativa, e a média nos 70 fica em R$ 4.185,80.</a:t>
            </a:r>
          </a:p>
          <a:p>
            <a:r>
              <a:t>De onde: DM02, tabela; renda_imputacao_alternativas.csv</a:t>
            </a:r>
          </a:p>
          <a:p/>
          <a:p>
            <a:r>
              <a:t>P: Por que esse setor é extremo?</a:t>
            </a:r>
          </a:p>
          <a:p>
            <a:r>
              <a:t>R: É o maior valor da base, muito acima dos outros, e ele sozinho puxava a média de BH. Não investiguei o motivo no setor (por exemplo, poucos domicílios de renda muito alta).</a:t>
            </a:r>
          </a:p>
          <a:p>
            <a:r>
              <a:t>De onde: DM02 [A CONFERIR: características do setor 310620005650366]</a:t>
            </a:r>
          </a:p>
          <a:p/>
          <a:p>
            <a:r>
              <a:t>NA PONTA DA LÍNGUA</a:t>
            </a:r>
          </a:p>
          <a:p>
            <a:r>
              <a:t>· Setor 310620005650366, R$ 170.418,06</a:t>
            </a:r>
          </a:p>
          <a:p>
            <a:r>
              <a:t>· Imputado: R$ 3.058,235 (mediana de BH sem o setor)</a:t>
            </a:r>
          </a:p>
          <a:p>
            <a:r>
              <a:t>· 1 setor difere; base passa de 104 para 105 colunas</a:t>
            </a:r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DM03</a:t>
            </a:r>
          </a:p>
          <a:p/>
          <a:p>
            <a:r>
              <a:t>O QUE É</a:t>
            </a:r>
          </a:p>
          <a:p>
            <a:r>
              <a:t>Demanda 2: o quadro de indicadores. São 28 indicadores em quatro dimensões; 7 deles formam o IVS-7, adaptado do IVS-BH 2012.</a:t>
            </a:r>
          </a:p>
          <a:p/>
          <a:p>
            <a:r>
              <a:t>PERGUNTAS</a:t>
            </a:r>
          </a:p>
          <a:p>
            <a:r>
              <a:t>P: Onde está a definição de cada indicador?</a:t>
            </a:r>
          </a:p>
          <a:p>
            <a:r>
              <a:t>R: Um slide por indicador (DS03 a DS33): numerador, denominador, arquivo do Censo e a distribuição. O quadro também está no Quadro_Indicadores.csv da entrega.</a:t>
            </a:r>
          </a:p>
          <a:p>
            <a:r>
              <a:t>De onde: DM03; DS03 a DS33</a:t>
            </a:r>
          </a:p>
          <a:p/>
          <a:p>
            <a:r>
              <a:t>P: Por que 28 aqui e 31 slides de indicador?</a:t>
            </a:r>
          </a:p>
          <a:p>
            <a:r>
              <a:t>R: Os 28 do quadro mais as duas variantes de renda e o banheiro graduado, que foram criados depois, nas demandas 1 e 6.</a:t>
            </a:r>
          </a:p>
          <a:p>
            <a:r>
              <a:t>De onde: DM03; DM14 linha 2; DS02</a:t>
            </a:r>
          </a:p>
          <a:p/>
          <a:p>
            <a:r>
              <a:t>P: O que é o IVS-7?</a:t>
            </a:r>
          </a:p>
          <a:p>
            <a:r>
              <a:t>R: Os sete componentes do IVS-BH 2012 adaptados ao Censo 2022: água, esgoto, lixo, razão de moradores, analfabetismo, renda e cor/raça.</a:t>
            </a:r>
          </a:p>
          <a:p>
            <a:r>
              <a:t>De onde: ART003; ART004; DC01</a:t>
            </a:r>
          </a:p>
          <a:p/>
          <a:p>
            <a:r>
              <a:t>NA PONTA DA LÍNGUA</a:t>
            </a:r>
          </a:p>
          <a:p>
            <a:r>
              <a:t>· 28 indicadores: 6 demografia, 7 morfologia, 10 saneamento, 5 socioeconômica</a:t>
            </a:r>
          </a:p>
          <a:p>
            <a:r>
              <a:t>· 7 no IVS-7</a:t>
            </a:r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DM04</a:t>
            </a:r>
          </a:p>
          <a:p/>
          <a:p>
            <a:r>
              <a:t>O QUE É</a:t>
            </a:r>
          </a:p>
          <a:p>
            <a:r>
              <a:t>Demanda 3: fatorial sem bootstrap, sem e com rotação. Rotação é girar os eixos dos fatores para cada variável carregar forte num fator só, o que facilita dar nome aos fatores.</a:t>
            </a:r>
          </a:p>
          <a:p/>
          <a:p>
            <a:r>
              <a:t>PERGUNTAS</a:t>
            </a:r>
          </a:p>
          <a:p>
            <a:r>
              <a:t>P: Por que tirou o bootstrap?</a:t>
            </a:r>
          </a:p>
          <a:p>
            <a:r>
              <a:t>R: Foi o pedido. Para ter uma ideia da incerteza, rodei a fatorial tirando um município de cada vez (S0, S1 e S6).</a:t>
            </a:r>
          </a:p>
          <a:p>
            <a:r>
              <a:t>De onde: DM04; estabilidade.csv</a:t>
            </a:r>
          </a:p>
          <a:p/>
          <a:p>
            <a:r>
              <a:t>P: Qual a diferença entre Varimax e promax?</a:t>
            </a:r>
          </a:p>
          <a:p>
            <a:r>
              <a:t>R: A Varimax mantém os fatores sem correlação (ortogonal). A promax deixa os fatores se correlacionarem (oblíqua); por isso tem Φ, a correlação entre eles.</a:t>
            </a:r>
          </a:p>
          <a:p>
            <a:r>
              <a:t>De onde: ART002 p.169; ART001 p.38; FA10</a:t>
            </a:r>
          </a:p>
          <a:p/>
          <a:p>
            <a:r>
              <a:t>P: Os pesos mudam muito com a rotação?</a:t>
            </a:r>
          </a:p>
          <a:p>
            <a:r>
              <a:t>R: No S0, o peso de F1 vai de 73,40% (promax, estrutura) a 75,89% (sem rotação). Como diz Figueiredo, as rotações costumam dar resultados parecidos quando o padrão é claro.</a:t>
            </a:r>
          </a:p>
          <a:p>
            <a:r>
              <a:t>De onde: DM04, tabela; ART002 p.169</a:t>
            </a:r>
          </a:p>
          <a:p/>
          <a:p>
            <a:r>
              <a:t>NA PONTA DA LÍNGUA</a:t>
            </a:r>
          </a:p>
          <a:p>
            <a:r>
              <a:t>· S0: F1 75,89% sem rotação; 74,00% Varimax; 74,69% promax padrão</a:t>
            </a:r>
          </a:p>
          <a:p>
            <a:r>
              <a:t>· Φ no S0: 0,151</a:t>
            </a:r>
          </a:p>
          <a:p/>
          <a:p>
            <a:r>
              <a:t>LEITURA PENDENTE (estudar antes): Promax: artigo original (ART025) em andamento</a:t>
            </a:r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DM06</a:t>
            </a:r>
          </a:p>
          <a:p/>
          <a:p>
            <a:r>
              <a:t>O QUE É</a:t>
            </a:r>
          </a:p>
          <a:p>
            <a:r>
              <a:t>Demanda 5: comparar "água não chega" (a água não chega ao domicílio por canalização). Fiz duas leituras: (a) contra as outras categorias de água e (b) contra os indicadores do IVS-7.</a:t>
            </a:r>
          </a:p>
          <a:p/>
          <a:p>
            <a:r>
              <a:t>PERGUNTAS</a:t>
            </a:r>
          </a:p>
          <a:p>
            <a:r>
              <a:t>P: O que mostra a comparação?</a:t>
            </a:r>
          </a:p>
          <a:p>
            <a:r>
              <a:t>R: "Não chega" se correlaciona mais com as outras faltas de água: 0,514 com sem água canalizada e 0,506 com água só no terreno. Com o IVS-7, a maior é com água inadequada (0,459).</a:t>
            </a:r>
          </a:p>
          <a:p>
            <a:r>
              <a:t>De onde: DM06, tabela; FP03</a:t>
            </a:r>
          </a:p>
          <a:p/>
          <a:p>
            <a:r>
              <a:t>P: Por que o % de zeros mudou de 85,7% para 94,5%?</a:t>
            </a:r>
          </a:p>
          <a:p>
            <a:r>
              <a:t>R: O 85,7% usava os 104.108 setores como denominador e contava o faltante como não zero. Sobre os setores com valor, são 94,5%.</a:t>
            </a:r>
          </a:p>
          <a:p>
            <a:r>
              <a:t>De onde: DM06</a:t>
            </a:r>
          </a:p>
          <a:p/>
          <a:p>
            <a:r>
              <a:t>P: Os setores com "não chega" são mais vulneráveis?</a:t>
            </a:r>
          </a:p>
          <a:p>
            <a:r>
              <a:t>R: Na mediana, sim: renda menor e analfabetismo, cor/raça PPI e esgoto inadequado maiores (FP03). É descrição, não causa.</a:t>
            </a:r>
          </a:p>
          <a:p>
            <a:r>
              <a:t>De onde: FP03</a:t>
            </a:r>
          </a:p>
          <a:p/>
          <a:p>
            <a:r>
              <a:t>NA PONTA DA LÍNGUA</a:t>
            </a:r>
          </a:p>
          <a:p>
            <a:r>
              <a:t>· Spearman com água inadequada: 0,459</a:t>
            </a:r>
          </a:p>
          <a:p>
            <a:r>
              <a:t>· Zeros: 94,5% dos setores com valor</a:t>
            </a:r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DM07</a:t>
            </a:r>
          </a:p>
          <a:p/>
          <a:p>
            <a:r>
              <a:t>O QUE É</a:t>
            </a:r>
          </a:p>
          <a:p>
            <a:r>
              <a:t>Demanda 6: juntar o "sem banheiro". A V00495 (sem banheiro de uso exclusivo) é a soma de três partes: V00236 (só banheiro de uso comum), V00237 (só sanitário) e V00238 (sem banheiro nem sanitário).</a:t>
            </a:r>
          </a:p>
          <a:p/>
          <a:p>
            <a:r>
              <a:t>PERGUNTAS</a:t>
            </a:r>
          </a:p>
          <a:p>
            <a:r>
              <a:t>P: Como sabe que a V00495 contém as outras?</a:t>
            </a:r>
          </a:p>
          <a:p>
            <a:r>
              <a:t>R: Conferi no banco: a soma V00236 + V00237 + V00238 fecha com a V00495 em 91.199 de 91.199 setores.</a:t>
            </a:r>
          </a:p>
          <a:p>
            <a:r>
              <a:t>De onde: DM07, tabela</a:t>
            </a:r>
          </a:p>
          <a:p/>
          <a:p>
            <a:r>
              <a:t>P: O que é o banheiro graduado?</a:t>
            </a:r>
          </a:p>
          <a:p>
            <a:r>
              <a:t>R: Uma nota de 0 a 1 que pesa a gravidade: 1 para uso comum, 2 para só sanitário, 3 para sem banheiro nem sanitário, dividido por 3 vezes o total de domicílios.</a:t>
            </a:r>
          </a:p>
          <a:p>
            <a:r>
              <a:t>De onde: DS13</a:t>
            </a:r>
          </a:p>
          <a:p/>
          <a:p>
            <a:r>
              <a:t>P: Por que a V00237 não estava na base?</a:t>
            </a:r>
          </a:p>
          <a:p>
            <a:r>
              <a:t>R: Não tinha sido extraída na primeira montagem. Extraí de novo dos arquivos do Censo.</a:t>
            </a:r>
          </a:p>
          <a:p>
            <a:r>
              <a:t>De onde: DM07; DM14</a:t>
            </a:r>
          </a:p>
          <a:p/>
          <a:p>
            <a:r>
              <a:t>NA PONTA DA LÍNGUA</a:t>
            </a:r>
          </a:p>
          <a:p>
            <a:r>
              <a:t>· V00495 = V00236 + V00237 + V00238 em 91.199 de 91.199</a:t>
            </a:r>
          </a:p>
          <a:p>
            <a:r>
              <a:t>· Graduado: pesos 1, 2 e 3</a:t>
            </a:r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DM08</a:t>
            </a:r>
          </a:p>
          <a:p/>
          <a:p>
            <a:r>
              <a:t>O QUE É</a:t>
            </a:r>
          </a:p>
          <a:p>
            <a:r>
              <a:t>Demanda 7: acrescentar canalização e sem banheiro. Uma variável nova por vez sobre o IVS-7: não chega (S2), sem canalização (S3) e sem banheiro (S4).</a:t>
            </a:r>
          </a:p>
          <a:p/>
          <a:p>
            <a:r>
              <a:t>PERGUNTAS</a:t>
            </a:r>
          </a:p>
          <a:p>
            <a:r>
              <a:t>P: Por que uma por vez?</a:t>
            </a:r>
          </a:p>
          <a:p>
            <a:r>
              <a:t>R: Assim dá para ver o efeito de cada uma. Juntas, estão no S6 (demanda 8).</a:t>
            </a:r>
          </a:p>
          <a:p>
            <a:r>
              <a:t>De onde: DM08; DM09</a:t>
            </a:r>
          </a:p>
          <a:p/>
          <a:p>
            <a:r>
              <a:t>P: Por que o S4 perde tantos setores?</a:t>
            </a:r>
          </a:p>
          <a:p>
            <a:r>
              <a:t>R: O sem banheiro tem faltantes em muitos setores: o S4 fica com 75.955, 11.590 a menos que o S0.</a:t>
            </a:r>
          </a:p>
          <a:p>
            <a:r>
              <a:t>De onde: DM08, tabela; FC05</a:t>
            </a:r>
          </a:p>
          <a:p/>
          <a:p>
            <a:r>
              <a:t>P: O KMO piora com as variáveis novas?</a:t>
            </a:r>
          </a:p>
          <a:p>
            <a:r>
              <a:t>R: Não: fica entre 0,780 (S2) e 0,805 (S3); o S0 tem 0,783.</a:t>
            </a:r>
          </a:p>
          <a:p>
            <a:r>
              <a:t>De onde: DM08, tabela</a:t>
            </a:r>
          </a:p>
          <a:p/>
          <a:p>
            <a:r>
              <a:t>NA PONTA DA LÍNGUA</a:t>
            </a:r>
          </a:p>
          <a:p>
            <a:r>
              <a:t>· S2: 78.256 setores; S3: 87.512; S4: 75.955</a:t>
            </a:r>
          </a:p>
          <a:p>
            <a:r>
              <a:t>· KMO de 0,780 a 0,805</a:t>
            </a:r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DM09</a:t>
            </a:r>
          </a:p>
          <a:p/>
          <a:p>
            <a:r>
              <a:t>O QUE É</a:t>
            </a:r>
          </a:p>
          <a:p>
            <a:r>
              <a:t>Demanda 8: fatorial de tudo isso. Li como o IVS-7 mais as quatro variáveis novas (não chega, sem canalização, sem banheiro e não convencional): cenário S6. O S7 é o S6 sem lixo.</a:t>
            </a:r>
          </a:p>
          <a:p/>
          <a:p>
            <a:r>
              <a:t>PERGUNTAS</a:t>
            </a:r>
          </a:p>
          <a:p>
            <a:r>
              <a:t>P: Por que o S6 explica menos variância?</a:t>
            </a:r>
          </a:p>
          <a:p>
            <a:r>
              <a:t>R: Com 11 variáveis, dois fatores explicam 48,94%, contra 62,12% no IVS-7 (S0). Kaiser e Horn pedem 4 fatores no S6; fiquei com 2 para comparar com o IVS-BH.</a:t>
            </a:r>
          </a:p>
          <a:p>
            <a:r>
              <a:t>De onde: DM09, tabela; FP06</a:t>
            </a:r>
          </a:p>
          <a:p/>
          <a:p>
            <a:r>
              <a:t>P: Essa leitura de "tudo isso" está certa?</a:t>
            </a:r>
          </a:p>
          <a:p>
            <a:r>
              <a:t>R: É a minha leitura; preciso que você confirme. Se for outra, rodo de novo.</a:t>
            </a:r>
          </a:p>
          <a:p>
            <a:r>
              <a:t>De onde: DM09</a:t>
            </a:r>
          </a:p>
          <a:p/>
          <a:p>
            <a:r>
              <a:t>P: As três rendas mudam o resultado?</a:t>
            </a:r>
          </a:p>
          <a:p>
            <a:r>
              <a:t>R: Não: o KMO é 0,810 nas três e a variância, 48,94%.</a:t>
            </a:r>
          </a:p>
          <a:p>
            <a:r>
              <a:t>De onde: DM09, tabela</a:t>
            </a:r>
          </a:p>
          <a:p/>
          <a:p>
            <a:r>
              <a:t>NA PONTA DA LÍNGUA</a:t>
            </a:r>
          </a:p>
          <a:p>
            <a:r>
              <a:t>· S6: 69.458 setores, KMO 0,810, 48,94%</a:t>
            </a:r>
          </a:p>
          <a:p>
            <a:r>
              <a:t>· S7: KMO 0,813, 53,22%</a:t>
            </a:r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DM10</a:t>
            </a:r>
          </a:p>
          <a:p/>
          <a:p>
            <a:r>
              <a:t>O QUE É</a:t>
            </a:r>
          </a:p>
          <a:p>
            <a:r>
              <a:t>Demanda 9: habitação convencional. Usei no sentido da vulnerabilidade: moradia não convencional. Mostrei o diagnóstico em vez de tirar a variável.</a:t>
            </a:r>
          </a:p>
          <a:p/>
          <a:p>
            <a:r>
              <a:t>PERGUNTAS</a:t>
            </a:r>
          </a:p>
          <a:p>
            <a:r>
              <a:t>P: Por que a moradia não convencional é problemática na fatorial?</a:t>
            </a:r>
          </a:p>
          <a:p>
            <a:r>
              <a:t>R: Quase todo setor tem zero (92,19% no S5) e a comunalidade é muito baixa (0,013): a fatorial quase não "vê" a variável.</a:t>
            </a:r>
          </a:p>
          <a:p>
            <a:r>
              <a:t>De onde: DM10, tabela</a:t>
            </a:r>
          </a:p>
          <a:p/>
          <a:p>
            <a:r>
              <a:t>P: O que é comunalidade?</a:t>
            </a:r>
          </a:p>
          <a:p>
            <a:r>
              <a:t>R: A parte da variância da variável que os fatores explicam. Abaixo de 0,30 ela fica fora pelos critérios do NB05.</a:t>
            </a:r>
          </a:p>
          <a:p>
            <a:r>
              <a:t>De onde: ART002 p.176; FA04</a:t>
            </a:r>
          </a:p>
          <a:p/>
          <a:p>
            <a:r>
              <a:t>P: Então tira ou mantém?</a:t>
            </a:r>
          </a:p>
          <a:p>
            <a:r>
              <a:t>R: Pelo critério, sairia. Deixei o diagnóstico para decidirmos juntos.</a:t>
            </a:r>
          </a:p>
          <a:p>
            <a:r>
              <a:t>De onde: DM10</a:t>
            </a:r>
          </a:p>
          <a:p/>
          <a:p>
            <a:r>
              <a:t>NA PONTA DA LÍNGUA</a:t>
            </a:r>
          </a:p>
          <a:p>
            <a:r>
              <a:t>· Comunalidade 0,013 (S5); 0,018 (S6)</a:t>
            </a:r>
          </a:p>
          <a:p>
            <a:r>
              <a:t>· Zeros: 92,19% (S5)</a:t>
            </a:r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DM11</a:t>
            </a:r>
          </a:p>
          <a:p/>
          <a:p>
            <a:r>
              <a:t>O QUE É</a:t>
            </a:r>
          </a:p>
          <a:p>
            <a:r>
              <a:t>Demanda 10: testar lixo. Rodei com e sem o lixo: S1 (IVS-7 sem lixo) e S7 (S6 sem lixo).</a:t>
            </a:r>
          </a:p>
          <a:p/>
          <a:p>
            <a:r>
              <a:t>PERGUNTAS</a:t>
            </a:r>
          </a:p>
          <a:p>
            <a:r>
              <a:t>P: O que acontece com o lixo?</a:t>
            </a:r>
          </a:p>
          <a:p>
            <a:r>
              <a:t>R: No S0 ele forma um fator próprio na Varimax: Kaiser e Horn dão 2 fatores. Sem o lixo (S1) dão 1.</a:t>
            </a:r>
          </a:p>
          <a:p>
            <a:r>
              <a:t>De onde: DM11, tabela; FP08</a:t>
            </a:r>
          </a:p>
          <a:p/>
          <a:p>
            <a:r>
              <a:t>P: Por que o lixo se separa?</a:t>
            </a:r>
          </a:p>
          <a:p>
            <a:r>
              <a:t>R: Quase não se correlaciona com os outros indicadores (0,095 com água inadequada). Ele sozinho vira um fator.</a:t>
            </a:r>
          </a:p>
          <a:p>
            <a:r>
              <a:t>De onde: DC01; FP02</a:t>
            </a:r>
          </a:p>
          <a:p/>
          <a:p>
            <a:r>
              <a:t>P: Isso é estável?</a:t>
            </a:r>
          </a:p>
          <a:p>
            <a:r>
              <a:t>R: Não muito: em duas rodadas tirando um município de cada vez, o lixo muda de fator. E com lixo quase nenhuma versão passa nos critérios: só 3 das 108.</a:t>
            </a:r>
          </a:p>
          <a:p>
            <a:r>
              <a:t>De onde: DM11; VP05</a:t>
            </a:r>
          </a:p>
          <a:p/>
          <a:p>
            <a:r>
              <a:t>NA PONTA DA LÍNGUA</a:t>
            </a:r>
          </a:p>
          <a:p>
            <a:r>
              <a:t>· S0: 2 fatores (Kaiser e Horn); S1: 1</a:t>
            </a:r>
          </a:p>
          <a:p>
            <a:r>
              <a:t>· Lixo × água inadequada: 0,095</a:t>
            </a:r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DM12</a:t>
            </a:r>
          </a:p>
          <a:p/>
          <a:p>
            <a:r>
              <a:t>O QUE É</a:t>
            </a:r>
          </a:p>
          <a:p>
            <a:r>
              <a:t>Demanda 11: testar as duas rotações. Varimax e promax; na promax há duas formas de ler as cargas: a matriz padrão (efeito próprio do fator) e a matriz estrutura (correlação da variável com o fator).</a:t>
            </a:r>
          </a:p>
          <a:p/>
          <a:p>
            <a:r>
              <a:t>PERGUNTAS</a:t>
            </a:r>
          </a:p>
          <a:p>
            <a:r>
              <a:t>P: Qual rotação usar?</a:t>
            </a:r>
          </a:p>
          <a:p>
            <a:r>
              <a:t>R: Não escolhi. Mostro as duas; os pesos de F1 no S1 ficam entre 59,64% e 65,82% nas leituras oblíquas e 65,01% na Varimax.</a:t>
            </a:r>
          </a:p>
          <a:p>
            <a:r>
              <a:t>De onde: DM12, tabela; FP09</a:t>
            </a:r>
          </a:p>
          <a:p/>
          <a:p>
            <a:r>
              <a:t>P: O que é o Φ de 0,522 no S1?</a:t>
            </a:r>
          </a:p>
          <a:p>
            <a:r>
              <a:t>R: A correlação entre F1 e F2 na promax. Se fosse perto de zero, a Varimax bastaria.</a:t>
            </a:r>
          </a:p>
          <a:p>
            <a:r>
              <a:t>De onde: DM12; FA10</a:t>
            </a:r>
          </a:p>
          <a:p/>
          <a:p>
            <a:r>
              <a:t>P: Padrão ou estrutura?</a:t>
            </a:r>
          </a:p>
          <a:p>
            <a:r>
              <a:t>R: A padrão mostra quanto cada fator, sozinho, explica a variável; a estrutura soma também o que vem pela correlação entre os fatores. Reportei as duas.</a:t>
            </a:r>
          </a:p>
          <a:p>
            <a:r>
              <a:t>De onde: FA09</a:t>
            </a:r>
          </a:p>
          <a:p/>
          <a:p>
            <a:r>
              <a:t>NA PONTA DA LÍNGUA</a:t>
            </a:r>
          </a:p>
          <a:p>
            <a:r>
              <a:t>· S1: F1 65,01% Varimax; 65,82% promax padrão; 59,64% estrutura</a:t>
            </a:r>
          </a:p>
          <a:p>
            <a:r>
              <a:t>· Φ no S1: 0,522</a:t>
            </a:r>
          </a:p>
          <a:p/>
          <a:p>
            <a:r>
              <a:t>LEITURA PENDENTE (estudar antes): Matriz padrão × estrutura: sem leitura no fichamento</a:t>
            </a:r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DM14</a:t>
            </a:r>
          </a:p>
          <a:p/>
          <a:p>
            <a:r>
              <a:t>O QUE É</a:t>
            </a:r>
          </a:p>
          <a:p>
            <a:r>
              <a:t>Resumo de tudo o que contornei, demanda por demanda: o obstáculo, o que fiz no lugar e o efeito.</a:t>
            </a:r>
          </a:p>
          <a:p/>
          <a:p>
            <a:r>
              <a:t>PERGUNTAS</a:t>
            </a:r>
          </a:p>
          <a:p>
            <a:r>
              <a:t>P: Algum contorno muda o resultado?</a:t>
            </a:r>
          </a:p>
          <a:p>
            <a:r>
              <a:t>R: O maior efeito é a perda de setores quando entra variável nova (demanda 7). A renda imputada muda 1 setor.</a:t>
            </a:r>
          </a:p>
          <a:p>
            <a:r>
              <a:t>De onde: DM14; DM08</a:t>
            </a:r>
          </a:p>
          <a:p/>
          <a:p>
            <a:r>
              <a:t>P: O que é o erro dos 85,7%?</a:t>
            </a:r>
          </a:p>
          <a:p>
            <a:r>
              <a:t>R: Um percentual calculado antes com o denominador errado; o certo é 94,5% (demanda 5).</a:t>
            </a:r>
          </a:p>
          <a:p>
            <a:r>
              <a:t>De onde: DM06</a:t>
            </a:r>
          </a:p>
          <a:p/>
          <a:p>
            <a:r>
              <a:t>NA PONTA DA LÍNGUA</a:t>
            </a:r>
          </a:p>
          <a:p>
            <a:r>
              <a:t>· Renda: 1 setor muda</a:t>
            </a:r>
          </a:p>
          <a:p>
            <a:r>
              <a:t>· Zeros de "não chega": 94,5%</a:t>
            </a:r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DS00</a:t>
            </a:r>
          </a:p>
          <a:p/>
          <a:p>
            <a:r>
              <a:t>O QUE É</a:t>
            </a:r>
          </a:p>
          <a:p>
            <a:r>
              <a:t>Abre a descritiva: um indicador por slide, sem cruzar indicadores. Cada um tem a definição, o arquivo do Censo e a distribuição nos 104.108 setores.</a:t>
            </a:r>
          </a:p>
          <a:p/>
          <a:p>
            <a:r>
              <a:t>PERGUNTAS</a:t>
            </a:r>
          </a:p>
          <a:p>
            <a:r>
              <a:t>P: Por que 104.108 setores?</a:t>
            </a:r>
          </a:p>
          <a:p>
            <a:r>
              <a:t>R: São os urbanos com Dados_sig = OK: tirei os rurais e os sem dados divulgados.</a:t>
            </a:r>
          </a:p>
          <a:p>
            <a:r>
              <a:t>De onde: DS01</a:t>
            </a:r>
          </a:p>
          <a:p/>
          <a:p>
            <a:r>
              <a:t>P: Por que não cruza indicadores aqui?</a:t>
            </a:r>
          </a:p>
          <a:p>
            <a:r>
              <a:t>R: Foi a forma combinada: primeiro cada indicador sozinho; as correlações vêm depois (DC).</a:t>
            </a:r>
          </a:p>
          <a:p>
            <a:r>
              <a:t>De onde: DC00</a:t>
            </a:r>
          </a:p>
          <a:p/>
          <a:p>
            <a:r>
              <a:t>NA PONTA DA LÍNGUA</a:t>
            </a:r>
          </a:p>
          <a:p>
            <a:r>
              <a:t>· 104.108 setores urbanos com Dados_sig = OK</a:t>
            </a:r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DS01</a:t>
            </a:r>
          </a:p>
          <a:p/>
          <a:p>
            <a:r>
              <a:t>O QUE É</a:t>
            </a:r>
          </a:p>
          <a:p>
            <a:r>
              <a:t>O funil: de 109.032 setores para os que entram em cada parte. É a forma recomendada de abrir os resultados (como se chegou à amostra).</a:t>
            </a:r>
          </a:p>
          <a:p/>
          <a:p>
            <a:r>
              <a:t>PERGUNTAS</a:t>
            </a:r>
          </a:p>
          <a:p>
            <a:r>
              <a:t>P: Por que saem 2.685 setores rurais?</a:t>
            </a:r>
          </a:p>
          <a:p>
            <a:r>
              <a:t>R: O IVS é de vulnerabilidade intraurbana: compara setores dentro da cidade, e os rurais ficam fora.</a:t>
            </a:r>
          </a:p>
          <a:p>
            <a:r>
              <a:t>De onde: DS01; ART010 p.8</a:t>
            </a:r>
          </a:p>
          <a:p/>
          <a:p>
            <a:r>
              <a:t>P: O que é Dados_sig?</a:t>
            </a:r>
          </a:p>
          <a:p>
            <a:r>
              <a:t>R: Uma marca por setor: OK se o setor tem dados divulgados. Saem 2.239 setores sem dado (sigilo ou sem domicílio ocupado). A regra vem do IVS-BH.</a:t>
            </a:r>
          </a:p>
          <a:p>
            <a:r>
              <a:t>De onde: ART004 (Tratamento dos dados); DS01</a:t>
            </a:r>
          </a:p>
          <a:p/>
          <a:p>
            <a:r>
              <a:t>P: Por que a fatorial usa só 73.878?</a:t>
            </a:r>
          </a:p>
          <a:p>
            <a:r>
              <a:t>R: Exclusão por lista: sai o setor que não tem algum dos sete componentes. Saem 30.230, a maior parte pelo analfabetismo e pelo banheiro graduado.</a:t>
            </a:r>
          </a:p>
          <a:p>
            <a:r>
              <a:t>De onde: DS01; FA01</a:t>
            </a:r>
          </a:p>
          <a:p/>
          <a:p>
            <a:r>
              <a:t>NA PONTA DA LÍNGUA</a:t>
            </a:r>
          </a:p>
          <a:p>
            <a:r>
              <a:t>· 109.032 → 106.347 urbanos → 104.108 com dados → 73.878 na fatorial</a:t>
            </a:r>
          </a:p>
          <a:p>
            <a:r>
              <a:t>· Saem 30.230 na fatorial</a:t>
            </a:r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DS02</a:t>
            </a:r>
          </a:p>
          <a:p/>
          <a:p>
            <a:r>
              <a:t>O QUE É</a:t>
            </a:r>
          </a:p>
          <a:p>
            <a:r>
              <a:t>Quantos setores têm valor em cada indicador. Faltante = o setor não tem o dado (sigilo ou denominador zero).</a:t>
            </a:r>
          </a:p>
          <a:p/>
          <a:p>
            <a:r>
              <a:t>PERGUNTAS</a:t>
            </a:r>
          </a:p>
          <a:p>
            <a:r>
              <a:t>P: Qual indicador perde mais setores?</a:t>
            </a:r>
          </a:p>
          <a:p>
            <a:r>
              <a:t>R: Analfabetismo 15+: 16.552 faltantes (15,90%). Depois água só no terreno (15.897) e banheiro graduado (14.292).</a:t>
            </a:r>
          </a:p>
          <a:p>
            <a:r>
              <a:t>De onde: DS02, tabela; T02_perdas_por_indicador.csv</a:t>
            </a:r>
          </a:p>
          <a:p/>
          <a:p>
            <a:r>
              <a:t>P: Por que o analfabetismo perde tanto?</a:t>
            </a:r>
          </a:p>
          <a:p>
            <a:r>
              <a:t>R: Os dados de alfabetização têm mais setores sem divulgação. Não verifiquei a causa setor a setor.</a:t>
            </a:r>
          </a:p>
          <a:p>
            <a:r>
              <a:t>De onde: DS02 [A CONFERIR: causa dos faltantes do analfabetismo]</a:t>
            </a:r>
          </a:p>
          <a:p/>
          <a:p>
            <a:r>
              <a:t>P: Isso enviesa a fatorial?</a:t>
            </a:r>
          </a:p>
          <a:p>
            <a:r>
              <a:t>R: Pode: o sigilo não é aleatório (atinge setores pequenos). Está nas limitações.</a:t>
            </a:r>
          </a:p>
          <a:p>
            <a:r>
              <a:t>De onde: ART034 p.537; notas do Pedro (limitações)</a:t>
            </a:r>
          </a:p>
          <a:p/>
          <a:p>
            <a:r>
              <a:t>NA PONTA DA LÍNGUA</a:t>
            </a:r>
          </a:p>
          <a:p>
            <a:r>
              <a:t>· Analfabetismo: 16.552 faltantes (15,90%)</a:t>
            </a:r>
          </a:p>
          <a:p>
            <a:r>
              <a:t>· Banheiro graduado: 14.292 (13,73%)</a:t>
            </a:r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DS03</a:t>
            </a:r>
          </a:p>
          <a:p/>
          <a:p>
            <a:r>
              <a:t>O QUE É</a:t>
            </a:r>
          </a:p>
          <a:p>
            <a:r>
              <a:t>Proporção de domicílios com abastecimento de água inadequado ou ausente.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V00112, V00113, V00114, V00115 e mais 3; denominador: V00001.</a:t>
            </a:r>
          </a:p>
          <a:p>
            <a:r>
              <a:t>De onde: DS03,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74,25% dos setores nenhum domicílio está nessa situação: a condição se concentra em poucos setores. Por isso descrevo também a média (6,96%) e o % de setores com valor acima de zero (slide seguinte).</a:t>
            </a:r>
          </a:p>
          <a:p>
            <a:r>
              <a:t>De onde: DS03,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3,42: cauda à direita. Poucos setores com valor bem alto puxam a média (6,96%) para cima da mediana (0,00%).</a:t>
            </a:r>
          </a:p>
          <a:p>
            <a:r>
              <a:t>De onde: DS03,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NB05.</a:t>
            </a:r>
          </a:p>
          <a:p>
            <a:r>
              <a:t>De onde: DS03,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6,96%; mediana 0,00%</a:t>
            </a:r>
          </a:p>
          <a:p>
            <a:r>
              <a:t>· Setores com zero: 74,25%</a:t>
            </a:r>
          </a:p>
          <a:p>
            <a:r>
              <a:t>· IVS-7: Sim; referência: Sim</a:t>
            </a:r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DS03-2</a:t>
            </a:r>
          </a:p>
          <a:p/>
          <a:p>
            <a:r>
              <a:t>O QUE É</a:t>
            </a:r>
          </a:p>
          <a:p>
            <a:r>
              <a:t>Água inadequada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87,6%); a menor é a Sudeste (12,8%).</a:t>
            </a:r>
          </a:p>
          <a:p>
            <a:r>
              <a:t>De onde: DS03-2,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36,8%; nos demais, 23,2%. É descrição de grupos de setores, não de pessoas: num estudo ecológico não dá para passar para o indivíduo.</a:t>
            </a:r>
          </a:p>
          <a:p>
            <a:r>
              <a:t>De onde: DS03-2;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(São Paulo das Missões) a 100,0% (Placas). A lista completa está no anexo (aba Por_municipio).</a:t>
            </a:r>
          </a:p>
          <a:p>
            <a:r>
              <a:t>De onde: DS03-2;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87,6%; Sudeste: 12,8%</a:t>
            </a:r>
          </a:p>
          <a:p>
            <a:r>
              <a:t>· FCU 36,8% × demais 23,2%</a:t>
            </a:r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DS04</a:t>
            </a:r>
          </a:p>
          <a:p/>
          <a:p>
            <a:r>
              <a:t>O QUE É</a:t>
            </a:r>
          </a:p>
          <a:p>
            <a:r>
              <a:t>Proporção de domicílios com esgotamento sanitário inadequado ou ausente.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V00312, V00313, V00314, V00315 e mais 1; denominador: V00001.</a:t>
            </a:r>
          </a:p>
          <a:p>
            <a:r>
              <a:t>De onde: DS04,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72,53% dos setores nenhum domicílio está nessa situação: a condição se concentra em poucos setores. Por isso descrevo também a média (8,20%) e o % de setores com valor acima de zero (slide seguinte).</a:t>
            </a:r>
          </a:p>
          <a:p>
            <a:r>
              <a:t>De onde: DS04,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2,98: cauda à direita. Poucos setores com valor bem alto puxam a média (8,20%) para cima da mediana (0,00%).</a:t>
            </a:r>
          </a:p>
          <a:p>
            <a:r>
              <a:t>De onde: DS04,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NB05.</a:t>
            </a:r>
          </a:p>
          <a:p>
            <a:r>
              <a:t>De onde: DS04,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104.107; faltantes: 1 (0,00%)</a:t>
            </a:r>
          </a:p>
          <a:p>
            <a:r>
              <a:t>· Média 8,20%; mediana 0,00%</a:t>
            </a:r>
          </a:p>
          <a:p>
            <a:r>
              <a:t>· Setores com zero: 72,53%</a:t>
            </a:r>
          </a:p>
          <a:p>
            <a:r>
              <a:t>· IVS-7: Sim; referência: Sim</a:t>
            </a:r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DS04-2</a:t>
            </a:r>
          </a:p>
          <a:p/>
          <a:p>
            <a:r>
              <a:t>O QUE É</a:t>
            </a:r>
          </a:p>
          <a:p>
            <a:r>
              <a:t>Esgoto inadequado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68,1%); a menor é a Sul (14,4%).</a:t>
            </a:r>
          </a:p>
          <a:p>
            <a:r>
              <a:t>De onde: DS04-2,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57,1%; nos demais, 20,7%. É descrição de grupos de setores, não de pessoas: num estudo ecológico não dá para passar para o indivíduo.</a:t>
            </a:r>
          </a:p>
          <a:p>
            <a:r>
              <a:t>De onde: DS04-2;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(São Caetano do Sul) a 100,0% (Vicentinópolis). A lista completa está no anexo (aba Por_municipio).</a:t>
            </a:r>
          </a:p>
          <a:p>
            <a:r>
              <a:t>De onde: DS04-2;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68,1%; Sul: 14,4%</a:t>
            </a:r>
          </a:p>
          <a:p>
            <a:r>
              <a:t>· FCU 57,1% × demais 20,7%</a:t>
            </a:r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DS05</a:t>
            </a:r>
          </a:p>
          <a:p/>
          <a:p>
            <a:r>
              <a:t>O QUE É</a:t>
            </a:r>
          </a:p>
          <a:p>
            <a:r>
              <a:t>Proporção de domicílios com destino do lixo inadequado ou ausente.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V00398, V00399, V00400, V00401 e mais 1; denominador: V00001.</a:t>
            </a:r>
          </a:p>
          <a:p>
            <a:r>
              <a:t>De onde: DS05,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62,78% dos setores nenhum domicílio está nessa situação: a condição se concentra em poucos setores. Por isso descrevo também a média (11,58%) e o % de setores com valor acima de zero (slide seguinte).</a:t>
            </a:r>
          </a:p>
          <a:p>
            <a:r>
              <a:t>De onde: DS05,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2,38: cauda à direita. Poucos setores com valor bem alto puxam a média (11,58%) para cima da mediana (0,00%).</a:t>
            </a:r>
          </a:p>
          <a:p>
            <a:r>
              <a:t>De onde: DS05,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IVS-7, mas a referência proposta do NB05 é a versão sem lixo: com o lixo, ele forma um fator próprio (FP08).</a:t>
            </a:r>
          </a:p>
          <a:p>
            <a:r>
              <a:t>De onde: DS05,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11,58%; mediana 0,00%</a:t>
            </a:r>
          </a:p>
          <a:p>
            <a:r>
              <a:t>· Setores com zero: 62,78%</a:t>
            </a:r>
          </a:p>
          <a:p>
            <a:r>
              <a:t>· IVS-7: Sim; referência: Não</a:t>
            </a:r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DS05-2</a:t>
            </a:r>
          </a:p>
          <a:p/>
          <a:p>
            <a:r>
              <a:t>O QUE É</a:t>
            </a:r>
          </a:p>
          <a:p>
            <a:r>
              <a:t>Lixo inadequado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Nordeste (% de setores com valor acima de zero: 44,8%); a menor é a Centro-Oeste (30,4%).</a:t>
            </a:r>
          </a:p>
          <a:p>
            <a:r>
              <a:t>De onde: DS05-2,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59,5%; nos demais, 32,1%. É descrição de grupos de setores, não de pessoas: num estudo ecológico não dá para passar para o indivíduo.</a:t>
            </a:r>
          </a:p>
          <a:p>
            <a:r>
              <a:t>De onde: DS05-2;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(São Paulo das Missões) a 100,0% (Placas). A lista completa está no anexo (aba Por_municipio).</a:t>
            </a:r>
          </a:p>
          <a:p>
            <a:r>
              <a:t>De onde: DS05-2;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Nordeste: 44,8%; Centro-Oeste: 30,4%</a:t>
            </a:r>
          </a:p>
          <a:p>
            <a:r>
              <a:t>· FCU 59,5% × demais 32,1%</a:t>
            </a:r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DS06</a:t>
            </a:r>
          </a:p>
          <a:p/>
          <a:p>
            <a:r>
              <a:t>O QUE É</a:t>
            </a:r>
          </a:p>
          <a:p>
            <a:r>
              <a:t>Proporção de domicílios em que a água não chega encanada até dentro do domicílio (complemento de V00199; equivale a V00200+V00201 sobre V00001).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V00199; denominador: V00001.</a:t>
            </a:r>
          </a:p>
          <a:p>
            <a:r>
              <a:t>De onde: DS06,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69,70% dos setores nenhum domicílio está nessa situação: a condição se concentra em poucos setores. Por isso descrevo também a média (1,50%) e o % de setores com valor acima de zero (slide seguinte).</a:t>
            </a:r>
          </a:p>
          <a:p>
            <a:r>
              <a:t>De onde: DS06,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8,70: cauda à direita. Poucos setores com valor bem alto puxam a média (1,50%) para cima da mediana (0,00%).</a:t>
            </a:r>
          </a:p>
          <a:p>
            <a:r>
              <a:t>De onde: DS06,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Foi pedido na demanda 7. Testei nos cenários S3 e S6 e no eixo água das 108 versões; não está na referência proposta.</a:t>
            </a:r>
          </a:p>
          <a:p>
            <a:r>
              <a:t>De onde: DS06,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104.067; faltantes: 41 (0,04%)</a:t>
            </a:r>
          </a:p>
          <a:p>
            <a:r>
              <a:t>· Média 1,50%; mediana 0,00%</a:t>
            </a:r>
          </a:p>
          <a:p>
            <a:r>
              <a:t>· Setores com zero: 69,70%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DS06-2</a:t>
            </a:r>
          </a:p>
          <a:p/>
          <a:p>
            <a:r>
              <a:t>O QUE É</a:t>
            </a:r>
          </a:p>
          <a:p>
            <a:r>
              <a:t>Sem água canalizada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64,1%); a menor é a Sul (17,8%).</a:t>
            </a:r>
          </a:p>
          <a:p>
            <a:r>
              <a:t>De onde: DS06-2,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52,1%; nos demais, 25,3%. É descrição de grupos de setores, não de pessoas: num estudo ecológico não dá para passar para o indivíduo.</a:t>
            </a:r>
          </a:p>
          <a:p>
            <a:r>
              <a:t>De onde: DS06-2;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(São Paulo das Missões) a 100,0% (Portel). A lista completa está no anexo (aba Por_municipio).</a:t>
            </a:r>
          </a:p>
          <a:p>
            <a:r>
              <a:t>De onde: DS06-2;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64,1%; Sul: 17,8%</a:t>
            </a:r>
          </a:p>
          <a:p>
            <a:r>
              <a:t>· FCU 52,1% × demais 25,3%</a:t>
            </a:r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DS07</a:t>
            </a:r>
          </a:p>
          <a:p/>
          <a:p>
            <a:r>
              <a:t>O QUE É</a:t>
            </a:r>
          </a:p>
          <a:p>
            <a:r>
              <a:t>Proporção de domicílios em que a água não chega encanada ao domicílio (V00201).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V00201; denominador: V00001.</a:t>
            </a:r>
          </a:p>
          <a:p>
            <a:r>
              <a:t>De onde: DS07,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94,50% dos setores nenhum domicílio está nessa situação: a condição se concentra em poucos setores. Por isso descrevo também a média (0,47%) e o % de setores com valor acima de zero (slide seguinte).</a:t>
            </a:r>
          </a:p>
          <a:p>
            <a:r>
              <a:t>De onde: DS07, tabela de distribuição; T03_descritivas_global.csv</a:t>
            </a:r>
          </a:p>
          <a:p/>
          <a:p>
            <a:r>
              <a:t>P: Por que há 9.706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DS07,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Demandas 5 e 7. Testei nos cenários S2 e S6 e no eixo água das 108 versões; não está na referência proposta.</a:t>
            </a:r>
          </a:p>
          <a:p>
            <a:r>
              <a:t>De onde: DS07,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94.402; faltantes: 9.706 (9,32%)</a:t>
            </a:r>
          </a:p>
          <a:p>
            <a:r>
              <a:t>· Média 0,47%; mediana 0,00%</a:t>
            </a:r>
          </a:p>
          <a:p>
            <a:r>
              <a:t>· Setores com zero: 94,50%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DS07-2</a:t>
            </a:r>
          </a:p>
          <a:p/>
          <a:p>
            <a:r>
              <a:t>O QUE É</a:t>
            </a:r>
          </a:p>
          <a:p>
            <a:r>
              <a:t>Água não chega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21,2%); a menor é a Sul (1,4%).</a:t>
            </a:r>
          </a:p>
          <a:p>
            <a:r>
              <a:t>De onde: DS07-2,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12,5%; nos demais, 4,0%. É descrição de grupos de setores, não de pessoas: num estudo ecológico não dá para passar para o indivíduo.</a:t>
            </a:r>
          </a:p>
          <a:p>
            <a:r>
              <a:t>De onde: DS07-2;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(Chapada dos Guimarães) a 88,2% (Arara). A lista completa está no anexo (aba Por_municipio).</a:t>
            </a:r>
          </a:p>
          <a:p>
            <a:r>
              <a:t>De onde: DS07-2;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21,2%; Sul: 1,4%</a:t>
            </a:r>
          </a:p>
          <a:p>
            <a:r>
              <a:t>· FCU 12,5% × demais 4,0%</a:t>
            </a:r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DS08</a:t>
            </a:r>
          </a:p>
          <a:p/>
          <a:p>
            <a:r>
              <a:t>O QUE É</a:t>
            </a:r>
          </a:p>
          <a:p>
            <a:r>
              <a:t>Proporção de domicílios em que a água chega encanada apenas ao terreno (V00200).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V00200; denominador: V00001.</a:t>
            </a:r>
          </a:p>
          <a:p>
            <a:r>
              <a:t>De onde: DS08,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88,28% dos setores nenhum domicílio está nessa situação: a condição se concentra em poucos setores. Por isso descrevo também a média (1,05%) e o % de setores com valor acima de zero (slide seguinte).</a:t>
            </a:r>
          </a:p>
          <a:p>
            <a:r>
              <a:t>De onde: DS08, tabela de distribuição; T03_descritivas_global.csv</a:t>
            </a:r>
          </a:p>
          <a:p/>
          <a:p>
            <a:r>
              <a:t>P: Por que há 15.897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DS08,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Descreve a canalização junto com "não chega" e "sem canalização". Não testei como componente da fatorial.</a:t>
            </a:r>
          </a:p>
          <a:p>
            <a:r>
              <a:t>De onde: DS08,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88.211; faltantes: 15.897 (15,27%)</a:t>
            </a:r>
          </a:p>
          <a:p>
            <a:r>
              <a:t>· Média 1,05%; mediana 0,00%</a:t>
            </a:r>
          </a:p>
          <a:p>
            <a:r>
              <a:t>· Setores com zero: 88,28%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DS08-2</a:t>
            </a:r>
          </a:p>
          <a:p/>
          <a:p>
            <a:r>
              <a:t>O QUE É</a:t>
            </a:r>
          </a:p>
          <a:p>
            <a:r>
              <a:t>Água só no terreno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39,6%); a menor é a Sul (3,0%).</a:t>
            </a:r>
          </a:p>
          <a:p>
            <a:r>
              <a:t>De onde: DS08-2,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28,0%; nos demais, 8,4%. É descrição de grupos de setores, não de pessoas: num estudo ecológico não dá para passar para o indivíduo.</a:t>
            </a:r>
          </a:p>
          <a:p>
            <a:r>
              <a:t>De onde: DS08-2;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(Guapiaçu) a 100,0% (São Raimundo do Doca Bezerra). A lista completa está no anexo (aba Por_municipio).</a:t>
            </a:r>
          </a:p>
          <a:p>
            <a:r>
              <a:t>De onde: DS08-2;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39,6%; Sul: 3,0%</a:t>
            </a:r>
          </a:p>
          <a:p>
            <a:r>
              <a:t>· FCU 28,0% × demais 8,4%</a:t>
            </a:r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DS09</a:t>
            </a:r>
          </a:p>
          <a:p/>
          <a:p>
            <a:r>
              <a:t>O QUE É</a:t>
            </a:r>
          </a:p>
          <a:p>
            <a:r>
              <a:t>Proporção de domicílios sem banheiro de uso exclusivo com chuveiro e vaso sanitário.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V00495; denominador: V00001.</a:t>
            </a:r>
          </a:p>
          <a:p>
            <a:r>
              <a:t>De onde: DS09,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95,60% dos setores nenhum domicílio está nessa situação: a condição se concentra em poucos setores. Por isso descrevo também a média (0,23%) e o % de setores com valor acima de zero (slide seguinte).</a:t>
            </a:r>
          </a:p>
          <a:p>
            <a:r>
              <a:t>De onde: DS09, tabela de distribuição; T03_descritivas_global.csv</a:t>
            </a:r>
          </a:p>
          <a:p/>
          <a:p>
            <a:r>
              <a:t>P: Por que há 12.196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DS09,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Demanda 6. É a V00495, testada no cenário S4 e no eixo banheiro das 108 versões. Na referência entrou a forma graduada do banheiro.</a:t>
            </a:r>
          </a:p>
          <a:p>
            <a:r>
              <a:t>De onde: DS09,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91.912; faltantes: 12.196 (11,71%)</a:t>
            </a:r>
          </a:p>
          <a:p>
            <a:r>
              <a:t>· Média 0,23%; mediana 0,00%</a:t>
            </a:r>
          </a:p>
          <a:p>
            <a:r>
              <a:t>· Setores com zero: 95,60%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DS09-2</a:t>
            </a:r>
          </a:p>
          <a:p/>
          <a:p>
            <a:r>
              <a:t>O QUE É</a:t>
            </a:r>
          </a:p>
          <a:p>
            <a:r>
              <a:t>Sem banheiro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24,0%); a menor é a Centro-Oeste (1,3%).</a:t>
            </a:r>
          </a:p>
          <a:p>
            <a:r>
              <a:t>De onde: DS09-2,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14,1%; nos demais, 2,5%. É descrição de grupos de setores, não de pessoas: num estudo ecológico não dá para passar para o indivíduo.</a:t>
            </a:r>
          </a:p>
          <a:p>
            <a:r>
              <a:t>De onde: DS09-2;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(Anápolis) a 100,0% (Placas). A lista completa está no anexo (aba Por_municipio).</a:t>
            </a:r>
          </a:p>
          <a:p>
            <a:r>
              <a:t>De onde: DS09-2;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24,0%; Centro-Oeste: 1,3%</a:t>
            </a:r>
          </a:p>
          <a:p>
            <a:r>
              <a:t>· FCU 14,1% × demais 2,5%</a:t>
            </a:r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DS10</a:t>
            </a:r>
          </a:p>
          <a:p/>
          <a:p>
            <a:r>
              <a:t>O QUE É</a:t>
            </a:r>
          </a:p>
          <a:p>
            <a:r>
              <a:t>Proporção de domicílios sem banheiro nem sanitário.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V00238; denominador: V00001.</a:t>
            </a:r>
          </a:p>
          <a:p>
            <a:r>
              <a:t>De onde: DS10,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99,65% dos setores nenhum domicílio está nessa situação: a condição se concentra em poucos setores. Por isso descrevo também a média (0,02%) e o % de setores com valor acima de zero (slide seguinte).</a:t>
            </a:r>
          </a:p>
          <a:p>
            <a:r>
              <a:t>De onde: DS10, tabela de distribuição; T03_descritivas_global.csv</a:t>
            </a:r>
          </a:p>
          <a:p/>
          <a:p>
            <a:r>
              <a:t>P: Por que há 2.969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DS10,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É uma das três partes do sem banheiro. Entra no índice só dentro do banheiro graduado (peso 3), não sozinha.</a:t>
            </a:r>
          </a:p>
          <a:p>
            <a:r>
              <a:t>De onde: DS10,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101.139; faltantes: 2.969 (2,85%)</a:t>
            </a:r>
          </a:p>
          <a:p>
            <a:r>
              <a:t>· Média 0,02%; mediana 0,00%</a:t>
            </a:r>
          </a:p>
          <a:p>
            <a:r>
              <a:t>· Setores com zero: 99,65%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DS10-2</a:t>
            </a:r>
          </a:p>
          <a:p/>
          <a:p>
            <a:r>
              <a:t>O QUE É</a:t>
            </a:r>
          </a:p>
          <a:p>
            <a:r>
              <a:t>Sem banheiro nem sanitário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1,4%); a menor é a Sudeste (0,1%).</a:t>
            </a:r>
          </a:p>
          <a:p>
            <a:r>
              <a:t>De onde: DS10-2,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1,1%; nos demais, 0,2%. É descrição de grupos de setores, não de pessoas: num estudo ecológico não dá para passar para o indivíduo.</a:t>
            </a:r>
          </a:p>
          <a:p>
            <a:r>
              <a:t>De onde: DS10-2;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(Anápolis) a 33,3% (São Raimundo do Doca Bezerra). A lista completa está no anexo (aba Por_municipio).</a:t>
            </a:r>
          </a:p>
          <a:p>
            <a:r>
              <a:t>De onde: DS10-2;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1,4%; Sudeste: 0,1%</a:t>
            </a:r>
          </a:p>
          <a:p>
            <a:r>
              <a:t>· FCU 1,1% × demais 0,2%</a:t>
            </a:r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DS11</a:t>
            </a:r>
          </a:p>
          <a:p/>
          <a:p>
            <a:r>
              <a:t>O QUE É</a:t>
            </a:r>
          </a:p>
          <a:p>
            <a:r>
              <a:t>Proporção de domicílios com apenas sanitário ou buraco para dejeções.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V00237; denominador: V00001.</a:t>
            </a:r>
          </a:p>
          <a:p>
            <a:r>
              <a:t>De onde: DS11,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98,96% dos setores nenhum domicílio está nessa situação: a condição se concentra em poucos setores. Por isso descrevo também a média (0,06%) e o % de setores com valor acima de zero (slide seguinte).</a:t>
            </a:r>
          </a:p>
          <a:p>
            <a:r>
              <a:t>De onde: DS11, tabela de distribuição; T03_descritivas_global.csv</a:t>
            </a:r>
          </a:p>
          <a:p/>
          <a:p>
            <a:r>
              <a:t>P: Por que há 3.811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DS11,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É uma das três partes do sem banheiro. Entra no índice só dentro do banheiro graduado (peso 2), não sozinha.</a:t>
            </a:r>
          </a:p>
          <a:p>
            <a:r>
              <a:t>De onde: DS11,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100.297; faltantes: 3.811 (3,66%)</a:t>
            </a:r>
          </a:p>
          <a:p>
            <a:r>
              <a:t>· Média 0,06%; mediana 0,00%</a:t>
            </a:r>
          </a:p>
          <a:p>
            <a:r>
              <a:t>· Setores com zero: 98,96%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DS11-2</a:t>
            </a:r>
          </a:p>
          <a:p/>
          <a:p>
            <a:r>
              <a:t>O QUE É</a:t>
            </a:r>
          </a:p>
          <a:p>
            <a:r>
              <a:t>Só sanitário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4,0%); a menor é a Sudeste (0,2%).</a:t>
            </a:r>
          </a:p>
          <a:p>
            <a:r>
              <a:t>De onde: DS11-2,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3,4%; nos demais, 0,5%. É descrição de grupos de setores, não de pessoas: num estudo ecológico não dá para passar para o indivíduo.</a:t>
            </a:r>
          </a:p>
          <a:p>
            <a:r>
              <a:t>De onde: DS11-2;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(Anápolis) a 83,3% (Placas). A lista completa está no anexo (aba Por_municipio).</a:t>
            </a:r>
          </a:p>
          <a:p>
            <a:r>
              <a:t>De onde: DS11-2;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4,0%; Sudeste: 0,2%</a:t>
            </a:r>
          </a:p>
          <a:p>
            <a:r>
              <a:t>· FCU 3,4% × demais 0,5%</a:t>
            </a:r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DS12</a:t>
            </a:r>
          </a:p>
          <a:p/>
          <a:p>
            <a:r>
              <a:t>O QUE É</a:t>
            </a:r>
          </a:p>
          <a:p>
            <a:r>
              <a:t>Proporção de domicílios com apenas banheiro de uso comum. Cada setor recebe um valor (proporção, mostrada em %);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V00236; denominador: V00001.</a:t>
            </a:r>
          </a:p>
          <a:p>
            <a:r>
              <a:t>De onde: DS12,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97,31% dos setores nenhum domicílio está nessa situação: a condição se concentra em poucos setores. Por isso descrevo também a média (0,11%) e o % de setores com valor acima de zero (slide seguinte).</a:t>
            </a:r>
          </a:p>
          <a:p>
            <a:r>
              <a:t>De onde: DS12, tabela de distribuição; T03_descritivas_global.csv</a:t>
            </a:r>
          </a:p>
          <a:p/>
          <a:p>
            <a:r>
              <a:t>P: Por que há 9.694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DS12,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É uma das três partes do sem banheiro. Entra no índice só dentro do banheiro graduado (peso 1), não sozinha.</a:t>
            </a:r>
          </a:p>
          <a:p>
            <a:r>
              <a:t>De onde: DS12,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94.414; faltantes: 9.694 (9,31%)</a:t>
            </a:r>
          </a:p>
          <a:p>
            <a:r>
              <a:t>· Média 0,11%; mediana 0,00%</a:t>
            </a:r>
          </a:p>
          <a:p>
            <a:r>
              <a:t>· Setores com zero: 97,31%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DS12-2</a:t>
            </a:r>
          </a:p>
          <a:p/>
          <a:p>
            <a:r>
              <a:t>O QUE É</a:t>
            </a:r>
          </a:p>
          <a:p>
            <a:r>
              <a:t>Banheiro de uso comum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17,2%); a menor é a Centro-Oeste (0,8%).</a:t>
            </a:r>
          </a:p>
          <a:p>
            <a:r>
              <a:t>De onde: DS12-2,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8,2%; nos demais, 1,6%. É descrição de grupos de setores, não de pessoas: num estudo ecológico não dá para passar para o indivíduo.</a:t>
            </a:r>
          </a:p>
          <a:p>
            <a:r>
              <a:t>De onde: DS12-2;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(Anápolis) a 100,0% (São Raimundo do Doca Bezerra). A lista completa está no anexo (aba Por_municipio).</a:t>
            </a:r>
          </a:p>
          <a:p>
            <a:r>
              <a:t>De onde: DS12-2;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17,2%; Centro-Oeste: 0,8%</a:t>
            </a:r>
          </a:p>
          <a:p>
            <a:r>
              <a:t>· FCU 8,2% × demais 1,6%</a:t>
            </a:r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DS13</a:t>
            </a:r>
          </a:p>
          <a:p/>
          <a:p>
            <a:r>
              <a:t>O QUE É</a:t>
            </a:r>
          </a:p>
          <a:p>
            <a:r>
              <a:t>Grau de inadequação do banheiro: 0 = todos com banheiro, 1 = todos sem banheiro nem sanitário. Cada setor recebe um valor (escala de 0 a 1); o slide mostra como esse valor se distribui nos setores urbanos com dados divulgados. Dimensão: saneamento.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É calculado a partir de outras colunas da base, que vêm do Censo 2022. Numerador: V00236, V00237, V00238; denominador: V00001.</a:t>
            </a:r>
          </a:p>
          <a:p>
            <a:r>
              <a:t>De onde: DS13,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97,83% dos setores nenhum domicílio está nessa situação: a condição se concentra em poucos setores. Por isso descrevo também a média (0,001) e o % de setores com valor acima de zero (slide seguinte).</a:t>
            </a:r>
          </a:p>
          <a:p>
            <a:r>
              <a:t>De onde: DS13, tabela de distribuição; T03_descritivas_global.csv</a:t>
            </a:r>
          </a:p>
          <a:p/>
          <a:p>
            <a:r>
              <a:t>P: Por que há 14.292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DS13,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Não estava no IVS-BH 2012. Entrou na referência proposta como a forma graduada do sem banheiro (demanda 6).</a:t>
            </a:r>
          </a:p>
          <a:p>
            <a:r>
              <a:t>De onde: DS13,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89.816; faltantes: 14.292 (13,73%)</a:t>
            </a:r>
          </a:p>
          <a:p>
            <a:r>
              <a:t>· Média 0,001; mediana 0,000</a:t>
            </a:r>
          </a:p>
          <a:p>
            <a:r>
              <a:t>· Setores com zero: 97,83%</a:t>
            </a:r>
          </a:p>
          <a:p>
            <a:r>
              <a:t>· IVS-7: Não; referência: Sim</a:t>
            </a:r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DS13-2</a:t>
            </a:r>
          </a:p>
          <a:p/>
          <a:p>
            <a:r>
              <a:t>O QUE É</a:t>
            </a:r>
          </a:p>
          <a:p>
            <a:r>
              <a:t>Banheiro graduado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13,7%); a menor é a Centro-Oeste (0,7%).</a:t>
            </a:r>
          </a:p>
          <a:p>
            <a:r>
              <a:t>De onde: DS13-2,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6,4%; nos demais, 1,4%. É descrição de grupos de setores, não de pessoas: num estudo ecológico não dá para passar para o indivíduo.</a:t>
            </a:r>
          </a:p>
          <a:p>
            <a:r>
              <a:t>De onde: DS13-2;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(Anápolis) a 100,0% (Placas). A lista completa está no anexo (aba Por_municipio).</a:t>
            </a:r>
          </a:p>
          <a:p>
            <a:r>
              <a:t>De onde: DS13-2;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13,7%; Centro-Oeste: 0,7%</a:t>
            </a:r>
          </a:p>
          <a:p>
            <a:r>
              <a:t>· FCU 6,4% × demais 1,4%</a:t>
            </a:r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DS14</a:t>
            </a:r>
          </a:p>
          <a:p/>
          <a:p>
            <a:r>
              <a:t>O QUE É</a:t>
            </a:r>
          </a:p>
          <a:p>
            <a:r>
              <a:t>Razão de moradores por domicílio (reproduz o V0005 do IBGE). Cada setor recebe um valor (razão);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V00005, V00006; denominador: V00001.</a:t>
            </a:r>
          </a:p>
          <a:p>
            <a:r>
              <a:t>De onde: DS14,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Quase simétrica (assimetria -0,22): média (2,69) e mediana (2,71) ficam perto.</a:t>
            </a:r>
          </a:p>
          <a:p>
            <a:r>
              <a:t>De onde: DS14,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NB05.</a:t>
            </a:r>
          </a:p>
          <a:p>
            <a:r>
              <a:t>De onde: DS14,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2,69; mediana 2,71</a:t>
            </a:r>
          </a:p>
          <a:p>
            <a:r>
              <a:t>· Setores com zero: 0,00%</a:t>
            </a:r>
          </a:p>
          <a:p>
            <a:r>
              <a:t>· IVS-7: Sim; referência: Sim</a:t>
            </a:r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DS14-2</a:t>
            </a:r>
          </a:p>
          <a:p/>
          <a:p>
            <a:r>
              <a:t>O QUE É</a:t>
            </a:r>
          </a:p>
          <a:p>
            <a:r>
              <a:t>Razão de moradores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(mediana: 3,19); a menor é a Sul (2,60).</a:t>
            </a:r>
          </a:p>
          <a:p>
            <a:r>
              <a:t>De onde: DS14-2,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2,92; nos demais, 2,67. É descrição de grupos de setores, não de pessoas: num estudo ecológico não dá para passar para o indivíduo.</a:t>
            </a:r>
          </a:p>
          <a:p>
            <a:r>
              <a:t>De onde: DS14-2;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2,38 (Porto Alegre) a 4,23 (Portel). A lista completa está no anexo (aba Por_municipio).</a:t>
            </a:r>
          </a:p>
          <a:p>
            <a:r>
              <a:t>De onde: DS14-2;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3,19; Sul: 2,60</a:t>
            </a:r>
          </a:p>
          <a:p>
            <a:r>
              <a:t>· FCU 2,92 × demais 2,67</a:t>
            </a:r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DS15</a:t>
            </a:r>
          </a:p>
          <a:p/>
          <a:p>
            <a:r>
              <a:t>O QUE É</a:t>
            </a:r>
          </a:p>
          <a:p>
            <a:r>
              <a:t>Taxa de analfabetismo entre pessoas de 15 anos ou mais. Cada setor recebe um valor (proporção, mostrada em %);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(Agregados_por_setores_alfabetizacao_BR.csv). Numerador: V00901; denominador: V00900.</a:t>
            </a:r>
          </a:p>
          <a:p>
            <a:r>
              <a:t>De onde: DS15, tabela "Como é calculado"; Quadro_Indicadores.csv; aba Indicadores da planilha de gerenciamento</a:t>
            </a:r>
          </a:p>
          <a:p/>
          <a:p>
            <a:r>
              <a:t>P: Por que há 16.552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DS15, linha Faltantes; T02_perdas_por_indicador.csv</a:t>
            </a:r>
          </a:p>
          <a:p/>
          <a:p>
            <a:r>
              <a:t>P: A distribuição é simétrica?</a:t>
            </a:r>
          </a:p>
          <a:p>
            <a:r>
              <a:t>R: Assimetria 2,34: cauda à direita. Poucos setores com valor bem alto puxam a média (3,64%) para cima da mediana (2,71%).</a:t>
            </a:r>
          </a:p>
          <a:p>
            <a:r>
              <a:t>De onde: DS15,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NB05.</a:t>
            </a:r>
          </a:p>
          <a:p>
            <a:r>
              <a:t>De onde: DS15,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87.556; faltantes: 16.552 (15,90%)</a:t>
            </a:r>
          </a:p>
          <a:p>
            <a:r>
              <a:t>· Média 3,64%; mediana 2,71%</a:t>
            </a:r>
          </a:p>
          <a:p>
            <a:r>
              <a:t>· Setores com zero: 10,59%</a:t>
            </a:r>
          </a:p>
          <a:p>
            <a:r>
              <a:t>· IVS-7: Sim; referência: Sim</a:t>
            </a:r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DS15-2</a:t>
            </a:r>
          </a:p>
          <a:p/>
          <a:p>
            <a:r>
              <a:t>O QUE É</a:t>
            </a:r>
          </a:p>
          <a:p>
            <a:r>
              <a:t>Analfabetismo 15+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Nordeste (mediana: 5,16%); a menor é a Sul (1,62%).</a:t>
            </a:r>
          </a:p>
          <a:p>
            <a:r>
              <a:t>De onde: DS15-2,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5,46%; nos demais, 2,13%. É descrição de grupos de setores, não de pessoas: num estudo ecológico não dá para passar para o indivíduo.</a:t>
            </a:r>
          </a:p>
          <a:p>
            <a:r>
              <a:t>De onde: DS15-2;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1,11% (São Caetano do Sul) a 23,06% (Arara). A lista completa está no anexo (aba Por_municipio).</a:t>
            </a:r>
          </a:p>
          <a:p>
            <a:r>
              <a:t>De onde: DS15-2;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Nordeste: 5,16%; Sul: 1,62%</a:t>
            </a:r>
          </a:p>
          <a:p>
            <a:r>
              <a:t>· FCU 5,46% × demais 2,13%</a:t>
            </a:r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DS16</a:t>
            </a:r>
          </a:p>
          <a:p/>
          <a:p>
            <a:r>
              <a:t>O QUE É</a:t>
            </a:r>
          </a:p>
          <a:p>
            <a:r>
              <a:t>Rendimento nominal médio mensal das pessoas responsáveis (R$). Cada setor recebe um valor (reais (R$));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(Agregados_por_setores_renda_responsavel_BR.csv). Numerador: V06004; não tem denominador (é o valor médio do setor).</a:t>
            </a:r>
          </a:p>
          <a:p>
            <a:r>
              <a:t>De onde: DS16,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3,74: cauda à direita. Poucos setores com valor bem alto puxam a média (R$ 4.187,41) para cima da mediana (R$ 2.572,39).</a:t>
            </a:r>
          </a:p>
          <a:p>
            <a:r>
              <a:t>De onde: DS16,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NB05, invertida: quanto menor a renda, maior a vulnerabilidade.</a:t>
            </a:r>
          </a:p>
          <a:p>
            <a:r>
              <a:t>De onde: DS16,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104.096; faltantes: 12 (0,01%)</a:t>
            </a:r>
          </a:p>
          <a:p>
            <a:r>
              <a:t>· Média R$ 4.187,41; mediana R$ 2.572,39</a:t>
            </a:r>
          </a:p>
          <a:p>
            <a:r>
              <a:t>· Setores com zero: 0,00%</a:t>
            </a:r>
          </a:p>
          <a:p>
            <a:r>
              <a:t>· IVS-7: Sim; referência: Sim, como renda invertida</a:t>
            </a:r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DS16-2</a:t>
            </a:r>
          </a:p>
          <a:p/>
          <a:p>
            <a:r>
              <a:t>O QUE É</a:t>
            </a:r>
          </a:p>
          <a:p>
            <a:r>
              <a:t>Renda média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R$ 3.722,28); a menor é a Nordeste (R$ 1.719,20).</a:t>
            </a:r>
          </a:p>
          <a:p>
            <a:r>
              <a:t>De onde: DS16-2,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R$ 1.515,35; nos demais, R$ 3.067,01. É descrição de grupos de setores, não de pessoas: num estudo ecológico não dá para passar para o indivíduo.</a:t>
            </a:r>
          </a:p>
          <a:p>
            <a:r>
              <a:t>De onde: DS16-2;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R$ 1.062,36 (Jaqueira) a R$ 5.291,89 (São Caetano do Sul). A lista completa está no anexo (aba Por_municipio).</a:t>
            </a:r>
          </a:p>
          <a:p>
            <a:r>
              <a:t>De onde: DS16-2;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R$ 3.722,28; Nordeste: R$ 1.719,20</a:t>
            </a:r>
          </a:p>
          <a:p>
            <a:r>
              <a:t>· FCU R$ 1.515,35 × demais R$ 3.067,01</a:t>
            </a:r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DS17</a:t>
            </a:r>
          </a:p>
          <a:p/>
          <a:p>
            <a:r>
              <a:t>O QUE É</a:t>
            </a:r>
          </a:p>
          <a:p>
            <a:r>
              <a:t>Renda média das pessoas responsáveis, com o setor extremo de BH vazio. Cada setor recebe um valor (reais (R$));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É calculado a partir de outras colunas da base, que vêm do Censo 2022. Numerador: renda_media, sem o setor 310620005650366; denominador: —.</a:t>
            </a:r>
          </a:p>
          <a:p>
            <a:r>
              <a:t>De onde: DS17,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3,20: cauda à direita. Poucos setores com valor bem alto puxam a média (R$ 4.185,81) para cima da mediana (R$ 2.572,39).</a:t>
            </a:r>
          </a:p>
          <a:p>
            <a:r>
              <a:t>De onde: DS17,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É uma variante da renda (demanda 1). Testei nos cenários S0 e S6 e no eixo renda das 108 versões; a referência usa a renda original.</a:t>
            </a:r>
          </a:p>
          <a:p>
            <a:r>
              <a:t>De onde: DS17,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104.095; faltantes: 13 (0,01%)</a:t>
            </a:r>
          </a:p>
          <a:p>
            <a:r>
              <a:t>· Média R$ 4.185,81; mediana R$ 2.572,39</a:t>
            </a:r>
          </a:p>
          <a:p>
            <a:r>
              <a:t>· Setores com zero: 0,00%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DS17-2</a:t>
            </a:r>
          </a:p>
          <a:p/>
          <a:p>
            <a:r>
              <a:t>O QUE É</a:t>
            </a:r>
          </a:p>
          <a:p>
            <a:r>
              <a:t>Renda sem o extremo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R$ 3.722,28); a menor é a Nordeste (R$ 1.719,20).</a:t>
            </a:r>
          </a:p>
          <a:p>
            <a:r>
              <a:t>De onde: DS17-2,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R$ 1.515,32; nos demais, R$ 3.067,01. É descrição de grupos de setores, não de pessoas: num estudo ecológico não dá para passar para o indivíduo.</a:t>
            </a:r>
          </a:p>
          <a:p>
            <a:r>
              <a:t>De onde: DS17-2;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R$ 1.062,36 (Jaqueira) a R$ 5.291,89 (São Caetano do Sul). A lista completa está no anexo (aba Por_municipio).</a:t>
            </a:r>
          </a:p>
          <a:p>
            <a:r>
              <a:t>De onde: DS17-2;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R$ 3.722,28; Nordeste: R$ 1.719,20</a:t>
            </a:r>
          </a:p>
          <a:p>
            <a:r>
              <a:t>· FCU R$ 1.515,32 × demais R$ 3.067,01</a:t>
            </a:r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DS18</a:t>
            </a:r>
          </a:p>
          <a:p/>
          <a:p>
            <a:r>
              <a:t>O QUE É</a:t>
            </a:r>
          </a:p>
          <a:p>
            <a:r>
              <a:t>Renda média das pessoas responsáveis, com o setor extremo de BH substituído pela mediana do município. Cada setor recebe um valor (reais (R$));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É calculado a partir de outras colunas da base, que vêm do Censo 2022. Numerador: renda_media, com imputação no setor 310620005650366; denominador: —.</a:t>
            </a:r>
          </a:p>
          <a:p>
            <a:r>
              <a:t>De onde: DS18,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3,20: cauda à direita. Poucos setores com valor bem alto puxam a média (R$ 4.185,80) para cima da mediana (R$ 2.572,39).</a:t>
            </a:r>
          </a:p>
          <a:p>
            <a:r>
              <a:t>De onde: DS18,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É uma variante da renda (demanda 1). Testei nos cenários S0 e S6 e no eixo renda das 108 versões; a referência usa a renda original.</a:t>
            </a:r>
          </a:p>
          <a:p>
            <a:r>
              <a:t>De onde: DS18,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104.096; faltantes: 12 (0,01%)</a:t>
            </a:r>
          </a:p>
          <a:p>
            <a:r>
              <a:t>· Média R$ 4.185,80; mediana R$ 2.572,39</a:t>
            </a:r>
          </a:p>
          <a:p>
            <a:r>
              <a:t>· Setores com zero: 0,00%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DS18-2</a:t>
            </a:r>
          </a:p>
          <a:p/>
          <a:p>
            <a:r>
              <a:t>O QUE É</a:t>
            </a:r>
          </a:p>
          <a:p>
            <a:r>
              <a:t>Renda (mediana mun.)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R$ 3.722,28); a menor é a Nordeste (R$ 1.719,20).</a:t>
            </a:r>
          </a:p>
          <a:p>
            <a:r>
              <a:t>De onde: DS18-2,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R$ 1.515,35; nos demais, R$ 3.067,01. É descrição de grupos de setores, não de pessoas: num estudo ecológico não dá para passar para o indivíduo.</a:t>
            </a:r>
          </a:p>
          <a:p>
            <a:r>
              <a:t>De onde: DS18-2;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R$ 1.062,36 (Jaqueira) a R$ 5.291,89 (São Caetano do Sul). A lista completa está no anexo (aba Por_municipio).</a:t>
            </a:r>
          </a:p>
          <a:p>
            <a:r>
              <a:t>De onde: DS18-2;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R$ 3.722,28; Nordeste: R$ 1.719,20</a:t>
            </a:r>
          </a:p>
          <a:p>
            <a:r>
              <a:t>· FCU R$ 1.515,35 × demais R$ 3.067,01</a:t>
            </a:r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DS19</a:t>
            </a:r>
          </a:p>
          <a:p/>
          <a:p>
            <a:r>
              <a:t>O QUE É</a:t>
            </a:r>
          </a:p>
          <a:p>
            <a:r>
              <a:t>Proporção de pessoas de cor/raça preta, parda ou indígena. Cada setor recebe um valor (proporção, mostrada em %);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(Agregados_por_setores_basico_BR_20250417.csv). Numerador: V01318, V01320, V01321; denominador: v0001.</a:t>
            </a:r>
          </a:p>
          <a:p>
            <a:r>
              <a:t>De onde: DS19,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Quase simétrica (assimetria -0,39): média (52,67%) e mediana (57,19%) ficam perto.</a:t>
            </a:r>
          </a:p>
          <a:p>
            <a:r>
              <a:t>De onde: DS19,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Está no IVS-7 (os sete indicadores adaptados do IVS-BH 2012) e na referência proposta do NB05.</a:t>
            </a:r>
          </a:p>
          <a:p>
            <a:r>
              <a:t>De onde: DS19,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104.106; faltantes: 2 (0,00%)</a:t>
            </a:r>
          </a:p>
          <a:p>
            <a:r>
              <a:t>· Média 52,67%; mediana 57,19%</a:t>
            </a:r>
          </a:p>
          <a:p>
            <a:r>
              <a:t>· Setores com zero: 0,09%</a:t>
            </a:r>
          </a:p>
          <a:p>
            <a:r>
              <a:t>· IVS-7: Sim; referência: Sim</a:t>
            </a:r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DS19-2</a:t>
            </a:r>
          </a:p>
          <a:p/>
          <a:p>
            <a:r>
              <a:t>O QUE É</a:t>
            </a:r>
          </a:p>
          <a:p>
            <a:r>
              <a:t>Cor/raça PPI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(mediana: 76,99%); a menor é a Sul (22,19%).</a:t>
            </a:r>
          </a:p>
          <a:p>
            <a:r>
              <a:t>De onde: DS19-2,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74,27%; nos demais, 50,96%. É descrição de grupos de setores, não de pessoas: num estudo ecológico não dá para passar para o indivíduo.</a:t>
            </a:r>
          </a:p>
          <a:p>
            <a:r>
              <a:t>De onde: DS19-2;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15,99% (Taió) a 88,89% (Salvador). A lista completa está no anexo (aba Por_municipio).</a:t>
            </a:r>
          </a:p>
          <a:p>
            <a:r>
              <a:t>De onde: DS19-2;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76,99%; Sul: 22,19%</a:t>
            </a:r>
          </a:p>
          <a:p>
            <a:r>
              <a:t>· FCU 74,27% × demais 50,96%</a:t>
            </a:r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DS20</a:t>
            </a:r>
          </a:p>
          <a:p/>
          <a:p>
            <a:r>
              <a:t>O QUE É</a:t>
            </a:r>
          </a:p>
          <a:p>
            <a:r>
              <a:t>Proporção de domicílios com pessoa responsável do sexo feminino. Cada setor recebe um valor (proporção, mostrada em %); o slide mostra como esse valor se distribui nos setores urbanos com dados divulgados. Dimensão: socioeconômica.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(Agregados_por_setores_parentesco_BR.csv). Numerador: V01063; denominador: V01062.</a:t>
            </a:r>
          </a:p>
          <a:p>
            <a:r>
              <a:t>De onde: DS20,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Quase simétrica (assimetria -0,34): média (52,81%) e mediana (53,39%) ficam perto.</a:t>
            </a:r>
          </a:p>
          <a:p>
            <a:r>
              <a:t>De onde: DS20,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população. Não está no IVS-BH 2012 e não testei na fatorial.</a:t>
            </a:r>
          </a:p>
          <a:p>
            <a:r>
              <a:t>De onde: DS20,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103.961; faltantes: 147 (0,14%)</a:t>
            </a:r>
          </a:p>
          <a:p>
            <a:r>
              <a:t>· Média 52,81%; mediana 53,39%</a:t>
            </a:r>
          </a:p>
          <a:p>
            <a:r>
              <a:t>· Setores com zero: 0,02%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DS20-2</a:t>
            </a:r>
          </a:p>
          <a:p/>
          <a:p>
            <a:r>
              <a:t>O QUE É</a:t>
            </a:r>
          </a:p>
          <a:p>
            <a:r>
              <a:t>Responsável mulher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Nordeste (mediana: 55,77%); a menor é a Centro-Oeste (50,57%).</a:t>
            </a:r>
          </a:p>
          <a:p>
            <a:r>
              <a:t>De onde: DS20-2,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56,78%; nos demais, 52,58%. É descrição de grupos de setores, não de pessoas: num estudo ecológico não dá para passar para o indivíduo.</a:t>
            </a:r>
          </a:p>
          <a:p>
            <a:r>
              <a:t>De onde: DS20-2;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34,11% (Vicentinópolis) a 61,94% (Rosário). A lista completa está no anexo (aba Por_municipio).</a:t>
            </a:r>
          </a:p>
          <a:p>
            <a:r>
              <a:t>De onde: DS20-2;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Nordeste: 55,77%; Centro-Oeste: 50,57%</a:t>
            </a:r>
          </a:p>
          <a:p>
            <a:r>
              <a:t>· FCU 56,78% × demais 52,58%</a:t>
            </a:r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DS21</a:t>
            </a:r>
          </a:p>
          <a:p/>
          <a:p>
            <a:r>
              <a:t>O QUE É</a:t>
            </a:r>
          </a:p>
          <a:p>
            <a:r>
              <a:t>Proporção de domicílios particulares improvisados.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V00002; denominador: V00001.</a:t>
            </a:r>
          </a:p>
          <a:p>
            <a:r>
              <a:t>De onde: DS21,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99,21% dos setores nenhum domicílio está nessa situação: a condição se concentra em poucos setores. Por isso descrevo também a média (0,07%) e o % de setores com valor acima de zero (slide seguinte).</a:t>
            </a:r>
          </a:p>
          <a:p>
            <a:r>
              <a:t>De onde: DS21, tabela de distribuição; T03_descritivas_global.csv</a:t>
            </a:r>
          </a:p>
          <a:p/>
          <a:p>
            <a:r>
              <a:t>P: Por que há 5.139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DS21,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DS21,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98.969; faltantes: 5.139 (4,94%)</a:t>
            </a:r>
          </a:p>
          <a:p>
            <a:r>
              <a:t>· Média 0,07%; mediana 0,00%</a:t>
            </a:r>
          </a:p>
          <a:p>
            <a:r>
              <a:t>· Setores com zero: 99,21%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DS21-2</a:t>
            </a:r>
          </a:p>
          <a:p/>
          <a:p>
            <a:r>
              <a:t>O QUE É</a:t>
            </a:r>
          </a:p>
          <a:p>
            <a:r>
              <a:t>Domicílio improvisado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Nordeste (% de setores com valor acima de zero: 1,0%); a menor é a Sul (0,5%).</a:t>
            </a:r>
          </a:p>
          <a:p>
            <a:r>
              <a:t>De onde: DS21-2,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1,5%; nos demais, 0,6%. É descrição de grupos de setores, não de pessoas: num estudo ecológico não dá para passar para o indivíduo.</a:t>
            </a:r>
          </a:p>
          <a:p>
            <a:r>
              <a:t>De onde: DS21-2;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(Arara) a 25,0% (Vicentinópolis). A lista completa está no anexo (aba Por_municipio).</a:t>
            </a:r>
          </a:p>
          <a:p>
            <a:r>
              <a:t>De onde: DS21-2;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Nordeste: 1,0%; Sul: 0,5%</a:t>
            </a:r>
          </a:p>
          <a:p>
            <a:r>
              <a:t>· FCU 1,5% × demais 0,6%</a:t>
            </a:r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DS22</a:t>
            </a:r>
          </a:p>
          <a:p/>
          <a:p>
            <a:r>
              <a:t>O QUE É</a:t>
            </a:r>
          </a:p>
          <a:p>
            <a:r>
              <a:t>Proporção de domicílios em habitação precária (cortiço, estrutura degradada, improvisados).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V00050, V00052, V00053, V00054 e mais 4; denominador: V00001.</a:t>
            </a:r>
          </a:p>
          <a:p>
            <a:r>
              <a:t>De onde: DS22,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92,46% dos setores nenhum domicílio está nessa situação: a condição se concentra em poucos setores. Por isso descrevo também a média (0,65%) e o % de setores com valor acima de zero (slide seguinte).</a:t>
            </a:r>
          </a:p>
          <a:p>
            <a:r>
              <a:t>De onde: DS22,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12,43: cauda à direita. Poucos setores com valor bem alto puxam a média (0,65%) para cima da mediana (0,00%).</a:t>
            </a:r>
          </a:p>
          <a:p>
            <a:r>
              <a:t>De onde: DS22,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DS22,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0,65%; mediana 0,00%</a:t>
            </a:r>
          </a:p>
          <a:p>
            <a:r>
              <a:t>· Setores com zero: 92,46%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DS22-2</a:t>
            </a:r>
          </a:p>
          <a:p/>
          <a:p>
            <a:r>
              <a:t>O QUE É</a:t>
            </a:r>
          </a:p>
          <a:p>
            <a:r>
              <a:t>Habitação precária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Centro-Oeste (% de setores com valor acima de zero: 13,1%); a menor é a Sul (3,4%).</a:t>
            </a:r>
          </a:p>
          <a:p>
            <a:r>
              <a:t>De onde: DS22-2,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11,8%; nos demais, 6,6%. É descrição de grupos de setores, não de pessoas: num estudo ecológico não dá para passar para o indivíduo.</a:t>
            </a:r>
          </a:p>
          <a:p>
            <a:r>
              <a:t>De onde: DS22-2;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(Arara) a 29,4% (São Luís). A lista completa está no anexo (aba Por_municipio).</a:t>
            </a:r>
          </a:p>
          <a:p>
            <a:r>
              <a:t>De onde: DS22-2;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Centro-Oeste: 13,1%; Sul: 3,4%</a:t>
            </a:r>
          </a:p>
          <a:p>
            <a:r>
              <a:t>· FCU 11,8% × demais 6,6%</a:t>
            </a:r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DS23</a:t>
            </a:r>
          </a:p>
          <a:p/>
          <a:p>
            <a:r>
              <a:t>O QUE É</a:t>
            </a:r>
          </a:p>
          <a:p>
            <a:r>
              <a:t>Proporção de moradias convencionais (casa, casa de vila/condomínio, apartamento).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V00047, V00048, V00049; denominador: V00001.</a:t>
            </a:r>
          </a:p>
          <a:p>
            <a:r>
              <a:t>De onde: DS23,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-12,34: cauda à esquerda. A maioria dos setores tem valor alto e poucos têm valor baixo; a média (99,10%) fica abaixo da mediana (100,00%).</a:t>
            </a:r>
          </a:p>
          <a:p>
            <a:r>
              <a:t>De onde: DS23,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DS23,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99,10%; mediana 100,00%</a:t>
            </a:r>
          </a:p>
          <a:p>
            <a:r>
              <a:t>· Setores com zero: 0,01%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DS23-2</a:t>
            </a:r>
          </a:p>
          <a:p/>
          <a:p>
            <a:r>
              <a:t>O QUE É</a:t>
            </a:r>
          </a:p>
          <a:p>
            <a:r>
              <a:t>Moradia convencional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(mediana: 100,00%); a menor é a Norte (100,00%).</a:t>
            </a:r>
          </a:p>
          <a:p>
            <a:r>
              <a:t>De onde: DS23-2,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100,00%; nos demais, 100,00%. É descrição de grupos de setores, não de pessoas: num estudo ecológico não dá para passar para o indivíduo.</a:t>
            </a:r>
          </a:p>
          <a:p>
            <a:r>
              <a:t>De onde: DS23-2;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99,55% (São Luís) a 100,00% (Água Preta). A lista completa está no anexo (aba Por_municipio).</a:t>
            </a:r>
          </a:p>
          <a:p>
            <a:r>
              <a:t>De onde: DS23-2;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100,00%; Norte: 100,00%</a:t>
            </a:r>
          </a:p>
          <a:p>
            <a:r>
              <a:t>· FCU 100,00% × demais 100,00%</a:t>
            </a:r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DS24</a:t>
            </a:r>
          </a:p>
          <a:p/>
          <a:p>
            <a:r>
              <a:t>O QUE É</a:t>
            </a:r>
          </a:p>
          <a:p>
            <a:r>
              <a:t>Proporção de moradias não convencionais (cortiço, maloca, estrutura degradada).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V00050, V00051, V00052; denominador: V00001.</a:t>
            </a:r>
          </a:p>
          <a:p>
            <a:r>
              <a:t>De onde: DS24,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92,95% dos setores nenhum domicílio está nessa situação: a condição se concentra em poucos setores. Por isso descrevo também a média (0,59%) e o % de setores com valor acima de zero (slide seguinte).</a:t>
            </a:r>
          </a:p>
          <a:p>
            <a:r>
              <a:t>De onde: DS24, tabela de distribuição; T03_descritivas_global.csv</a:t>
            </a:r>
          </a:p>
          <a:p/>
          <a:p>
            <a:r>
              <a:t>P: A distribuição é simétrica?</a:t>
            </a:r>
          </a:p>
          <a:p>
            <a:r>
              <a:t>R: Assimetria 13,01: cauda à direita. Poucos setores com valor bem alto puxam a média (0,59%) para cima da mediana (0,00%).</a:t>
            </a:r>
          </a:p>
          <a:p>
            <a:r>
              <a:t>De onde: DS24,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Demanda 9. Testei nos cenários S5 e S6 e no eixo moradia das 108 versões. Tem variância baixa (DM10) e não está na referência.</a:t>
            </a:r>
          </a:p>
          <a:p>
            <a:r>
              <a:t>De onde: DS24,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104.108; faltantes: 0 (0,00%)</a:t>
            </a:r>
          </a:p>
          <a:p>
            <a:r>
              <a:t>· Média 0,59%; mediana 0,00%</a:t>
            </a:r>
          </a:p>
          <a:p>
            <a:r>
              <a:t>· Setores com zero: 92,95%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DS24-2</a:t>
            </a:r>
          </a:p>
          <a:p/>
          <a:p>
            <a:r>
              <a:t>O QUE É</a:t>
            </a:r>
          </a:p>
          <a:p>
            <a:r>
              <a:t>Moradia não convencional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12,6%); a menor é a Sul (3,0%).</a:t>
            </a:r>
          </a:p>
          <a:p>
            <a:r>
              <a:t>De onde: DS24-2,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10,9%; nos demais, 6,2%. É descrição de grupos de setores, não de pessoas: num estudo ecológico não dá para passar para o indivíduo.</a:t>
            </a:r>
          </a:p>
          <a:p>
            <a:r>
              <a:t>De onde: DS24-2;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(Arara) a 29,0% (São Luís). A lista completa está no anexo (aba Por_municipio).</a:t>
            </a:r>
          </a:p>
          <a:p>
            <a:r>
              <a:t>De onde: DS24-2;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12,6%; Sul: 3,0%</a:t>
            </a:r>
          </a:p>
          <a:p>
            <a:r>
              <a:t>· FCU 10,9% × demais 6,2%</a:t>
            </a:r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DS25</a:t>
            </a:r>
          </a:p>
          <a:p/>
          <a:p>
            <a:r>
              <a:t>O QUE É</a:t>
            </a:r>
          </a:p>
          <a:p>
            <a:r>
              <a:t>Proporção de domicílios do tipo apartamento.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V00049; denominador: V00001.</a:t>
            </a:r>
          </a:p>
          <a:p>
            <a:r>
              <a:t>De onde: DS25, tabela "Como é calculado"; Quadro_Indicadores.csv; aba Indicadores da planilha de gerenciamento</a:t>
            </a:r>
          </a:p>
          <a:p/>
          <a:p>
            <a:r>
              <a:t>P: Por que há 9.103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DS25, linha Faltantes; T02_perdas_por_indicador.csv</a:t>
            </a:r>
          </a:p>
          <a:p/>
          <a:p>
            <a:r>
              <a:t>P: A distribuição é simétrica?</a:t>
            </a:r>
          </a:p>
          <a:p>
            <a:r>
              <a:t>R: Assimetria 0,83: cauda à direita. Poucos setores com valor bem alto puxam a média (31,48%) para cima da mediana (5,21%).</a:t>
            </a:r>
          </a:p>
          <a:p>
            <a:r>
              <a:t>De onde: DS25,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DS25,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95.005; faltantes: 9.103 (8,74%)</a:t>
            </a:r>
          </a:p>
          <a:p>
            <a:r>
              <a:t>· Média 31,48%; mediana 5,21%</a:t>
            </a:r>
          </a:p>
          <a:p>
            <a:r>
              <a:t>· Setores com zero: 38,52%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DS25-2</a:t>
            </a:r>
          </a:p>
          <a:p/>
          <a:p>
            <a:r>
              <a:t>O QUE É</a:t>
            </a:r>
          </a:p>
          <a:p>
            <a:r>
              <a:t>Apartamento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15,83%); a menor é a Nordeste (1,96%).</a:t>
            </a:r>
          </a:p>
          <a:p>
            <a:r>
              <a:t>De onde: DS25-2,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0,00%; nos demais, 11,94%. É descrição de grupos de setores, não de pessoas: num estudo ecológico não dá para passar para o indivíduo.</a:t>
            </a:r>
          </a:p>
          <a:p>
            <a:r>
              <a:t>De onde: DS25-2;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0,00% (Ananindeua) a 64,73% (Porto Alegre). A lista completa está no anexo (aba Por_municipio).</a:t>
            </a:r>
          </a:p>
          <a:p>
            <a:r>
              <a:t>De onde: DS25-2;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15,83%; Nordeste: 1,96%</a:t>
            </a:r>
          </a:p>
          <a:p>
            <a:r>
              <a:t>· FCU 0,00% × demais 11,94%</a:t>
            </a:r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DS26</a:t>
            </a:r>
          </a:p>
          <a:p/>
          <a:p>
            <a:r>
              <a:t>O QUE É</a:t>
            </a:r>
          </a:p>
          <a:p>
            <a:r>
              <a:t>Proporção de domicílios do tipo casa.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V00047; denominador: V00001.</a:t>
            </a:r>
          </a:p>
          <a:p>
            <a:r>
              <a:t>De onde: DS26, tabela "Como é calculado"; Quadro_Indicadores.csv; aba Indicadores da planilha de gerenciamento</a:t>
            </a:r>
          </a:p>
          <a:p/>
          <a:p>
            <a:r>
              <a:t>P: Por que há 4.466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DS26, linha Faltantes; T02_perdas_por_indicador.csv</a:t>
            </a:r>
          </a:p>
          <a:p/>
          <a:p>
            <a:r>
              <a:t>P: A distribuição é simétrica?</a:t>
            </a:r>
          </a:p>
          <a:p>
            <a:r>
              <a:t>R: Assimetria -0,91: cauda à esquerda. A maioria dos setores tem valor alto e poucos têm valor baixo; a média (69,47%) fica abaixo da mediana (91,44%).</a:t>
            </a:r>
          </a:p>
          <a:p>
            <a:r>
              <a:t>De onde: DS26,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DS26,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99.642; faltantes: 4.466 (4,29%)</a:t>
            </a:r>
          </a:p>
          <a:p>
            <a:r>
              <a:t>· Média 69,47%; mediana 91,44%</a:t>
            </a:r>
          </a:p>
          <a:p>
            <a:r>
              <a:t>· Setores com zero: 10,11%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DS26-2</a:t>
            </a:r>
          </a:p>
          <a:p/>
          <a:p>
            <a:r>
              <a:t>O QUE É</a:t>
            </a:r>
          </a:p>
          <a:p>
            <a:r>
              <a:t>Casa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Nordeste (mediana: 94,18%); a menor é a Sul (83,55%).</a:t>
            </a:r>
          </a:p>
          <a:p>
            <a:r>
              <a:t>De onde: DS26-2,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98,68%; nos demais, 85,87%. É descrição de grupos de setores, não de pessoas: num estudo ecológico não dá para passar para o indivíduo.</a:t>
            </a:r>
          </a:p>
          <a:p>
            <a:r>
              <a:t>De onde: DS26-2;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43,57% (São Caetano do Sul) a 100,00% (Água Preta). A lista completa está no anexo (aba Por_municipio).</a:t>
            </a:r>
          </a:p>
          <a:p>
            <a:r>
              <a:t>De onde: DS26-2;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Nordeste: 94,18%; Sul: 83,55%</a:t>
            </a:r>
          </a:p>
          <a:p>
            <a:r>
              <a:t>· FCU 98,68% × demais 85,87%</a:t>
            </a:r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DS27</a:t>
            </a:r>
          </a:p>
          <a:p/>
          <a:p>
            <a:r>
              <a:t>O QUE É</a:t>
            </a:r>
          </a:p>
          <a:p>
            <a:r>
              <a:t>Proporção de domicílios do tipo casa de vila ou em condomínio. Cada setor recebe um valor (proporção, mostrada em %); o slide mostra como esse valor se distribui nos setores urbanos com dados divulgados. Dimensão: morfologia.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(Agregados_por_setores_caracteristicas_domicilio1_BR.csv). Numerador: V00048; denominador: V00001.</a:t>
            </a:r>
          </a:p>
          <a:p>
            <a:r>
              <a:t>De onde: DS27, tabela "Como é calculado"; Quadro_Indicadores.csv; aba Indicadores da planilha de gerenciamento</a:t>
            </a:r>
          </a:p>
          <a:p/>
          <a:p>
            <a:r>
              <a:t>P: Por que a mediana é zero?</a:t>
            </a:r>
          </a:p>
          <a:p>
            <a:r>
              <a:t>R: Em 70,74% dos setores nenhum domicílio está nessa situação: a condição se concentra em poucos setores. Por isso descrevo também a média (4,43%) e o % de setores com valor acima de zero (slide seguinte).</a:t>
            </a:r>
          </a:p>
          <a:p>
            <a:r>
              <a:t>De onde: DS27, tabela de distribuição; T03_descritivas_global.csv</a:t>
            </a:r>
          </a:p>
          <a:p/>
          <a:p>
            <a:r>
              <a:t>P: Por que há 12.804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DS27, linha Faltantes; T02_perdas_por_indicador.csv</a:t>
            </a:r>
          </a:p>
          <a:p/>
          <a:p>
            <a:r>
              <a:t>P: Por que entra (ou não) no índice?</a:t>
            </a:r>
          </a:p>
          <a:p>
            <a:r>
              <a:t>R: Descreve o tipo de moradia (demanda 9). Na fatorial testei só a moradia não convencional.</a:t>
            </a:r>
          </a:p>
          <a:p>
            <a:r>
              <a:t>De onde: DS27,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91.304; faltantes: 12.804 (12,30%)</a:t>
            </a:r>
          </a:p>
          <a:p>
            <a:r>
              <a:t>· Média 4,43%; mediana 0,00%</a:t>
            </a:r>
          </a:p>
          <a:p>
            <a:r>
              <a:t>· Setores com zero: 70,74%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DS27-2</a:t>
            </a:r>
          </a:p>
          <a:p/>
          <a:p>
            <a:r>
              <a:t>O QUE É</a:t>
            </a:r>
          </a:p>
          <a:p>
            <a:r>
              <a:t>Casa de vila/condomínio separado por região, por município e entre setores de favela (FCU) e os demais. Como a maioria dos setores tem zero, compara o % de setores com valor acima de zero e a média.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(% de setores com valor acima de zero: 66,2%); a menor é a Centro-Oeste (22,2%).</a:t>
            </a:r>
          </a:p>
          <a:p>
            <a:r>
              <a:t>De onde: DS27-2,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31,5%; nos demais, 28,8%. É descrição de grupos de setores, não de pessoas: num estudo ecológico não dá para passar para o indivíduo.</a:t>
            </a:r>
          </a:p>
          <a:p>
            <a:r>
              <a:t>De onde: DS27-2;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vai de 0,0% (Arara) a 76,9% (Natal). A lista completa está no anexo (aba Por_municipio).</a:t>
            </a:r>
          </a:p>
          <a:p>
            <a:r>
              <a:t>De onde: DS27-2;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66,2%; Centro-Oeste: 22,2%</a:t>
            </a:r>
          </a:p>
          <a:p>
            <a:r>
              <a:t>· FCU 31,5% × demais 28,8%</a:t>
            </a:r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DS28</a:t>
            </a:r>
          </a:p>
          <a:p/>
          <a:p>
            <a:r>
              <a:t>O QUE É</a:t>
            </a:r>
          </a:p>
          <a:p>
            <a:r>
              <a:t>Proporção de crianças de 0 a 4 anos na população residente. Cada setor recebe um valor (proporção, mostrada em %);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(Agregados_por_setores_basico_BR_20250417.csv). Numerador: V01031; denominador: v0001.</a:t>
            </a:r>
          </a:p>
          <a:p>
            <a:r>
              <a:t>De onde: DS28, tabela "Como é calculado"; Quadro_Indicadores.csv; aba Indicadores da planilha de gerenciamento</a:t>
            </a:r>
          </a:p>
          <a:p/>
          <a:p>
            <a:r>
              <a:t>P: Por que há 1.820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DS28, linha Faltantes; T02_perdas_por_indicador.csv</a:t>
            </a:r>
          </a:p>
          <a:p/>
          <a:p>
            <a:r>
              <a:t>P: A distribuição é simétrica?</a:t>
            </a:r>
          </a:p>
          <a:p>
            <a:r>
              <a:t>R: Assimetria 0,74: cauda à direita. Poucos setores com valor bem alto puxam a média (5,41%) para cima da mediana (5,21%).</a:t>
            </a:r>
          </a:p>
          <a:p>
            <a:r>
              <a:t>De onde: DS28,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DS28,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102.288; faltantes: 1.820 (1,75%)</a:t>
            </a:r>
          </a:p>
          <a:p>
            <a:r>
              <a:t>· Média 5,41%; mediana 5,21%</a:t>
            </a:r>
          </a:p>
          <a:p>
            <a:r>
              <a:t>· Setores com zero: 0,52%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DS28-2</a:t>
            </a:r>
          </a:p>
          <a:p/>
          <a:p>
            <a:r>
              <a:t>O QUE É</a:t>
            </a:r>
          </a:p>
          <a:p>
            <a:r>
              <a:t>Crianças 0–4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(mediana: 6,32%); a menor é a Sul (4,65%).</a:t>
            </a:r>
          </a:p>
          <a:p>
            <a:r>
              <a:t>De onde: DS28-2,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6,81%; nos demais, 4,85%. É descrição de grupos de setores, não de pessoas: num estudo ecológico não dá para passar para o indivíduo.</a:t>
            </a:r>
          </a:p>
          <a:p>
            <a:r>
              <a:t>De onde: DS28-2;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4,14% (Porto Alegre) a 10,84% (Portel). A lista completa está no anexo (aba Por_municipio).</a:t>
            </a:r>
          </a:p>
          <a:p>
            <a:r>
              <a:t>De onde: DS28-2;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6,32%; Sul: 4,65%</a:t>
            </a:r>
          </a:p>
          <a:p>
            <a:r>
              <a:t>· FCU 6,81% × demais 4,85%</a:t>
            </a:r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DS29</a:t>
            </a:r>
          </a:p>
          <a:p/>
          <a:p>
            <a:r>
              <a:t>O QUE É</a:t>
            </a:r>
          </a:p>
          <a:p>
            <a:r>
              <a:t>Proporção de pessoas com menos de 15 anos na população residente. Cada setor recebe um valor (proporção, mostrada em %);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(Agregados_por_setores_basico_BR_20250417.csv). Numerador: V01031, V01032, V01033; denominador: v0001.</a:t>
            </a:r>
          </a:p>
          <a:p>
            <a:r>
              <a:t>De onde: DS29,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Quase simétrica (assimetria 0,11): média (17,26%) e mediana (17,19%) ficam perto.</a:t>
            </a:r>
          </a:p>
          <a:p>
            <a:r>
              <a:t>De onde: DS29,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DS29,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103.850; faltantes: 258 (0,25%)</a:t>
            </a:r>
          </a:p>
          <a:p>
            <a:r>
              <a:t>· Média 17,26%; mediana 17,19%</a:t>
            </a:r>
          </a:p>
          <a:p>
            <a:r>
              <a:t>· Setores com zero: 0,50%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DS29-2</a:t>
            </a:r>
          </a:p>
          <a:p/>
          <a:p>
            <a:r>
              <a:t>O QUE É</a:t>
            </a:r>
          </a:p>
          <a:p>
            <a:r>
              <a:t>População 0–14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Norte (mediana: 20,64%); a menor é a Sul (15,85%).</a:t>
            </a:r>
          </a:p>
          <a:p>
            <a:r>
              <a:t>De onde: DS29-2,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21,93%; nos demais, 16,07%. É descrição de grupos de setores, não de pessoas: num estudo ecológico não dá para passar para o indivíduo.</a:t>
            </a:r>
          </a:p>
          <a:p>
            <a:r>
              <a:t>De onde: DS29-2;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13,28% (São Paulo das Missões) a 28,57% (Autazes). A lista completa está no anexo (aba Por_municipio).</a:t>
            </a:r>
          </a:p>
          <a:p>
            <a:r>
              <a:t>De onde: DS29-2;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Norte: 20,64%; Sul: 15,85%</a:t>
            </a:r>
          </a:p>
          <a:p>
            <a:r>
              <a:t>· FCU 21,93% × demais 16,07%</a:t>
            </a:r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DS30</a:t>
            </a:r>
          </a:p>
          <a:p/>
          <a:p>
            <a:r>
              <a:t>O QUE É</a:t>
            </a:r>
          </a:p>
          <a:p>
            <a:r>
              <a:t>Proporção de pessoas de 60 anos ou mais na população residente. Cada setor recebe um valor (proporção, mostrada em %);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(Agregados_por_setores_basico_BR_20250417.csv). Numerador: V01040, V01041; denominador: v0001.</a:t>
            </a:r>
          </a:p>
          <a:p>
            <a:r>
              <a:t>De onde: DS30,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0,55: cauda à direita. Poucos setores com valor bem alto puxam a média (17,53%) para cima da mediana (16,57%).</a:t>
            </a:r>
          </a:p>
          <a:p>
            <a:r>
              <a:t>De onde: DS30,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DS30,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103.823; faltantes: 285 (0,27%)</a:t>
            </a:r>
          </a:p>
          <a:p>
            <a:r>
              <a:t>· Média 17,53%; mediana 16,57%</a:t>
            </a:r>
          </a:p>
          <a:p>
            <a:r>
              <a:t>· Setores com zero: 0,30%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DS30-2</a:t>
            </a:r>
          </a:p>
          <a:p/>
          <a:p>
            <a:r>
              <a:t>O QUE É</a:t>
            </a:r>
          </a:p>
          <a:p>
            <a:r>
              <a:t>Pessoas 60+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19,34%); a menor é a Norte (11,18%).</a:t>
            </a:r>
          </a:p>
          <a:p>
            <a:r>
              <a:t>De onde: DS30-2,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10,55%; nos demais, 18,49%. É descrição de grupos de setores, não de pessoas: num estudo ecológico não dá para passar para o indivíduo.</a:t>
            </a:r>
          </a:p>
          <a:p>
            <a:r>
              <a:t>De onde: DS30-2;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7,30% (Portel) a 29,40% (São Paulo das Missões). A lista completa está no anexo (aba Por_municipio).</a:t>
            </a:r>
          </a:p>
          <a:p>
            <a:r>
              <a:t>De onde: DS30-2;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19,34%; Norte: 11,18%</a:t>
            </a:r>
          </a:p>
          <a:p>
            <a:r>
              <a:t>· FCU 10,55% × demais 18,49%</a:t>
            </a:r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DS31</a:t>
            </a:r>
          </a:p>
          <a:p/>
          <a:p>
            <a:r>
              <a:t>O QUE É</a:t>
            </a:r>
          </a:p>
          <a:p>
            <a:r>
              <a:t>Índice de Envelhecimento Populacional: 60+ por 100 menores de 15 anos. Cada setor recebe um valor (por 100);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(Agregados_por_setores_demografia_BR.csv). Numerador: V01040, V01041; denominador: V01031.</a:t>
            </a:r>
          </a:p>
          <a:p>
            <a:r>
              <a:t>De onde: DS31,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5,74: cauda à direita. Poucos setores com valor bem alto puxam a média (134,66) para cima da mediana (96,30).</a:t>
            </a:r>
          </a:p>
          <a:p>
            <a:r>
              <a:t>De onde: DS31,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DS31, linhas "Entra no IVS-7?" e "Entra na referência proposta?"; T20_variaveis_cargas.csv</a:t>
            </a:r>
          </a:p>
          <a:p/>
          <a:p>
            <a:r>
              <a:t>P: O que quer dizer o coeficiente de variação de 105,1%?</a:t>
            </a:r>
          </a:p>
          <a:p>
            <a:r>
              <a:t>R: O desvio-padrão é maior que a média: o valor muda muito de um setor para outro.</a:t>
            </a:r>
          </a:p>
          <a:p>
            <a:r>
              <a:t>De onde: DS31, linha Coeficiente de variação</a:t>
            </a:r>
          </a:p>
          <a:p/>
          <a:p>
            <a:r>
              <a:t>NA PONTA DA LÍNGUA</a:t>
            </a:r>
          </a:p>
          <a:p>
            <a:r>
              <a:t>· Setores com valor: 103.116; faltantes: 992 (0,95%)</a:t>
            </a:r>
          </a:p>
          <a:p>
            <a:r>
              <a:t>· Média 134,66; mediana 96,30</a:t>
            </a:r>
          </a:p>
          <a:p>
            <a:r>
              <a:t>· Setores com zero: 0,21%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DS31-2</a:t>
            </a:r>
          </a:p>
          <a:p/>
          <a:p>
            <a:r>
              <a:t>O QUE É</a:t>
            </a:r>
          </a:p>
          <a:p>
            <a:r>
              <a:t>Índice de envelhecimento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122,93); a menor é a Norte (53,55).</a:t>
            </a:r>
          </a:p>
          <a:p>
            <a:r>
              <a:t>De onde: DS31-2,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47,91; nos demais, 114,81. É descrição de grupos de setores, não de pessoas: num estudo ecológico não dá para passar para o indivíduo.</a:t>
            </a:r>
          </a:p>
          <a:p>
            <a:r>
              <a:t>De onde: DS31-2;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24,12 (Portel) a 217,46 (São Paulo das Missões). A lista completa está no anexo (aba Por_municipio).</a:t>
            </a:r>
          </a:p>
          <a:p>
            <a:r>
              <a:t>De onde: DS31-2;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122,93; Norte: 53,55</a:t>
            </a:r>
          </a:p>
          <a:p>
            <a:r>
              <a:t>· FCU 47,91 × demais 114,81</a:t>
            </a:r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DS32</a:t>
            </a:r>
          </a:p>
          <a:p/>
          <a:p>
            <a:r>
              <a:t>O QUE É</a:t>
            </a:r>
          </a:p>
          <a:p>
            <a:r>
              <a:t>Razão de Dependência de Idosos: 60+ por 100 pessoas de 15 a 59 anos. Cada setor recebe um valor (por 100);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(Agregados_por_setores_demografia_BR.csv). Numerador: V01040, V01041; denominador: V01034.</a:t>
            </a:r>
          </a:p>
          <a:p>
            <a:r>
              <a:t>De onde: DS32, tabela "Como é calculado"; Quadro_Indicadores.csv; aba Indicadores da planilha de gerenciamento</a:t>
            </a:r>
          </a:p>
          <a:p/>
          <a:p>
            <a:r>
              <a:t>P: A distribuição é simétrica?</a:t>
            </a:r>
          </a:p>
          <a:p>
            <a:r>
              <a:t>R: Assimetria 4,30: cauda à direita. Poucos setores com valor bem alto puxam a média (28,12) para cima da mediana (25,16).</a:t>
            </a:r>
          </a:p>
          <a:p>
            <a:r>
              <a:t>De onde: DS32,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DS32,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103.810; faltantes: 298 (0,29%)</a:t>
            </a:r>
          </a:p>
          <a:p>
            <a:r>
              <a:t>· Média 28,12; mediana 25,16</a:t>
            </a:r>
          </a:p>
          <a:p>
            <a:r>
              <a:t>· Setores com zero: 0,30%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DS32-2</a:t>
            </a:r>
          </a:p>
          <a:p/>
          <a:p>
            <a:r>
              <a:t>O QUE É</a:t>
            </a:r>
          </a:p>
          <a:p>
            <a:r>
              <a:t>Dependência idosa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29,97); a menor é a Norte (16,58).</a:t>
            </a:r>
          </a:p>
          <a:p>
            <a:r>
              <a:t>De onde: DS32-2,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15,67; nos demais, 28,39. É descrição de grupos de setores, não de pessoas: num estudo ecológico não dá para passar para o indivíduo.</a:t>
            </a:r>
          </a:p>
          <a:p>
            <a:r>
              <a:t>De onde: DS32-2;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11,86 (São José de Ribamar) a 50,58 (São Paulo das Missões). A lista completa está no anexo (aba Por_municipio).</a:t>
            </a:r>
          </a:p>
          <a:p>
            <a:r>
              <a:t>De onde: DS32-2;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29,97; Norte: 16,58</a:t>
            </a:r>
          </a:p>
          <a:p>
            <a:r>
              <a:t>· FCU 15,67 × demais 28,39</a:t>
            </a:r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DS33</a:t>
            </a:r>
          </a:p>
          <a:p/>
          <a:p>
            <a:r>
              <a:t>O QUE É</a:t>
            </a:r>
          </a:p>
          <a:p>
            <a:r>
              <a:t>Proporção de pessoas de 70+ entre os de 60+ (proxy de longevidade; NÃO é o LI, que exigiria a faixa 75+, inexistente nos agregados por setor). Cada setor recebe um valor (por 100); o slide mostra como esse valor se distribui nos setores urbanos com dados divulgados. Dimensão: demografia.</a:t>
            </a:r>
          </a:p>
          <a:p/>
          <a:p>
            <a:r>
              <a:t>PERGUNTAS</a:t>
            </a:r>
          </a:p>
          <a:p>
            <a:r>
              <a:t>P: De onde vem esse indicador?</a:t>
            </a:r>
          </a:p>
          <a:p>
            <a:r>
              <a:t>R: Do Censo 2022, agregados por setor (Agregados_por_setores_demografia_BR.csv). Numerador: V01041; denominador: V01040.</a:t>
            </a:r>
          </a:p>
          <a:p>
            <a:r>
              <a:t>De onde: DS33, tabela "Como é calculado"; Quadro_Indicadores.csv; aba Indicadores da planilha de gerenciamento</a:t>
            </a:r>
          </a:p>
          <a:p/>
          <a:p>
            <a:r>
              <a:t>P: Por que há 2.136 faltantes?</a:t>
            </a:r>
          </a:p>
          <a:p>
            <a:r>
              <a:t>R: 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r>
              <a:t>De onde: DS33, linha Faltantes; T02_perdas_por_indicador.csv</a:t>
            </a:r>
          </a:p>
          <a:p/>
          <a:p>
            <a:r>
              <a:t>P: A distribuição é simétrica?</a:t>
            </a:r>
          </a:p>
          <a:p>
            <a:r>
              <a:t>R: Quase simétrica (assimetria 0,10): média (42,67) e mediana (42,86) ficam perto.</a:t>
            </a:r>
          </a:p>
          <a:p>
            <a:r>
              <a:t>De onde: DS33, linhas Assimetria, Média e Mediana</a:t>
            </a:r>
          </a:p>
          <a:p/>
          <a:p>
            <a:r>
              <a:t>P: Por que entra (ou não) no índice?</a:t>
            </a:r>
          </a:p>
          <a:p>
            <a:r>
              <a:t>R: Descreve a idade da população, contexto do ELSI (idosos). Não entra no índice de vulnerabilidade.</a:t>
            </a:r>
          </a:p>
          <a:p>
            <a:r>
              <a:t>De onde: DS33, linhas "Entra no IVS-7?" e "Entra na referência proposta?"; T20_variaveis_cargas.csv</a:t>
            </a:r>
          </a:p>
          <a:p/>
          <a:p>
            <a:r>
              <a:t>NA PONTA DA LÍNGUA</a:t>
            </a:r>
          </a:p>
          <a:p>
            <a:r>
              <a:t>· Setores com valor: 101.972; faltantes: 2.136 (2,05%)</a:t>
            </a:r>
          </a:p>
          <a:p>
            <a:r>
              <a:t>· Média 42,67; mediana 42,86</a:t>
            </a:r>
          </a:p>
          <a:p>
            <a:r>
              <a:t>· Setores com zero: 0,31%</a:t>
            </a:r>
          </a:p>
          <a:p>
            <a:r>
              <a:t>· IVS-7: Não; referência: Não</a:t>
            </a:r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DS33-2</a:t>
            </a:r>
          </a:p>
          <a:p/>
          <a:p>
            <a:r>
              <a:t>O QUE É</a:t>
            </a:r>
          </a:p>
          <a:p>
            <a:r>
              <a:t>70+ entre 60+ separado por região, por município e entre setores de favela (FCU) e os demais. Compara a mediana de cada recorte (caixas sem os pontos extremos).</a:t>
            </a:r>
          </a:p>
          <a:p/>
          <a:p>
            <a:r>
              <a:t>PERGUNTAS</a:t>
            </a:r>
          </a:p>
          <a:p>
            <a:r>
              <a:t>P: Onde é maior?</a:t>
            </a:r>
          </a:p>
          <a:p>
            <a:r>
              <a:t>R: Na região Sul (mediana: 43,97); a menor é a Norte (38,46).</a:t>
            </a:r>
          </a:p>
          <a:p>
            <a:r>
              <a:t>De onde: DS33-2, tabela por recorte; T04_descritivas_regiao.csv</a:t>
            </a:r>
          </a:p>
          <a:p/>
          <a:p>
            <a:r>
              <a:t>P: E nas favelas?</a:t>
            </a:r>
          </a:p>
          <a:p>
            <a:r>
              <a:t>R: Nos setores de FCU, 36,26; nos demais, 44,32. É descrição de grupos de setores, não de pessoas: num estudo ecológico não dá para passar para o indivíduo.</a:t>
            </a:r>
          </a:p>
          <a:p>
            <a:r>
              <a:t>De onde: DS33-2; ART008 p.194 (falácia ecológica); T15_fcu_por_indicador.csv</a:t>
            </a:r>
          </a:p>
          <a:p/>
          <a:p>
            <a:r>
              <a:t>P: Qual município se destaca?</a:t>
            </a:r>
          </a:p>
          <a:p>
            <a:r>
              <a:t>R: Entre os municípios, a mediana vai de 36,21 (Manaus) a 55,77 (Arara). A lista completa está no anexo (aba Por_municipio).</a:t>
            </a:r>
          </a:p>
          <a:p>
            <a:r>
              <a:t>De onde: DS33-2; T05_descritivas_municipio.csv</a:t>
            </a:r>
          </a:p>
          <a:p/>
          <a:p>
            <a:r>
              <a:t>P: Por que comparar com FCU?</a:t>
            </a:r>
          </a:p>
          <a:p>
            <a:r>
              <a:t>R: FCU é a classificação do IBGE de Favelas e Comunidades Urbanas. Uso como critério externo: mais adiante, o índice é validado pela AUC contra FCU.</a:t>
            </a:r>
          </a:p>
          <a:p>
            <a:r>
              <a:t>De onde: ART005 p.46-47; FA14</a:t>
            </a:r>
          </a:p>
          <a:p/>
          <a:p>
            <a:r>
              <a:t>NA PONTA DA LÍNGUA</a:t>
            </a:r>
          </a:p>
          <a:p>
            <a:r>
              <a:t>· Sul: 43,97; Norte: 38,46</a:t>
            </a:r>
          </a:p>
          <a:p>
            <a:r>
              <a:t>· FCU 36,26 × demais 44,32</a:t>
            </a:r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DC00</a:t>
            </a:r>
          </a:p>
          <a:p/>
          <a:p>
            <a:r>
              <a:t>O QUE É</a:t>
            </a:r>
          </a:p>
          <a:p>
            <a:r>
              <a:t>Abre as correlações: primeiro os componentes do IVS-7, depois cada tema (saneamento, socioeconômica, morfologia, demografia) e por fim os 31 juntos.</a:t>
            </a:r>
          </a:p>
          <a:p/>
          <a:p>
            <a:r>
              <a:t>PERGUNTAS</a:t>
            </a:r>
          </a:p>
          <a:p>
            <a:r>
              <a:t>P: Para que servem as correlações antes da fatorial?</a:t>
            </a:r>
          </a:p>
          <a:p>
            <a:r>
              <a:t>R: A fatorial parte da matriz de correlação. Ver os pares antes mostra o que deve ficar junto num fator e o que é quase repetido.</a:t>
            </a:r>
          </a:p>
          <a:p>
            <a:r>
              <a:t>De onde: FA02; ART002</a:t>
            </a:r>
          </a:p>
          <a:p/>
          <a:p>
            <a:r>
              <a:t>P: Por que separar por tema?</a:t>
            </a:r>
          </a:p>
          <a:p>
            <a:r>
              <a:t>R: Com os 31 juntos a matriz fica grande demais para ler; por tema dá para ver os pares de cada dimensão, e a matriz completa vem no fim (DC07).</a:t>
            </a:r>
          </a:p>
          <a:p>
            <a:r>
              <a:t>De onde: DC07</a:t>
            </a:r>
          </a:p>
          <a:p/>
          <a:p>
            <a:r>
              <a:t>NA PONTA DA LÍNGUA</a:t>
            </a:r>
          </a:p>
          <a:p>
            <a:r>
              <a:t>· Spearman em todas as matrizes</a:t>
            </a:r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DC01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Analfabetismo 15+ e Cor/raça PPI (0,626). Correlação negativa mais forte: Renda média e Cor/raça PPI (-0,811).</a:t>
            </a:r>
          </a:p>
          <a:p>
            <a:r>
              <a:t>De onde: DC01, matriz; T12_correlacao_spearman.csv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Analfabetismo 15+ e Cor/raça PPI (0,626). Correlação negativa mais forte: Renda média e Cor/raça PPI (-0,811).</a:t>
            </a:r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DC02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Analfabetismo 15+ e Cor/raça PPI (0,626). Correlação negativa mais forte: Renda média e Cor/raça PPI (-0,811).</a:t>
            </a:r>
          </a:p>
          <a:p>
            <a:r>
              <a:t>De onde: DC02, matriz; T12_correlacao_spearman.csv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Analfabetismo 15+ e Cor/raça PPI (0,626). Correlação negativa mais forte: Renda média e Cor/raça PPI (-0,811).</a:t>
            </a:r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DC03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Sem banheiro e Banheiro graduado (1,000). A mais baixa: Lixo inadequado e Sem banheiro nem sanitário (0,064).</a:t>
            </a:r>
          </a:p>
          <a:p>
            <a:r>
              <a:t>De onde: DC03, matriz; T12_correlacao_spearman.csv</a:t>
            </a:r>
          </a:p>
          <a:p/>
          <a:p>
            <a:r>
              <a:t>P: Por que Sem banheiro × Banheiro graduado dá 1,000?</a:t>
            </a:r>
          </a:p>
          <a:p>
            <a:r>
              <a:t>R: O graduado é feito com as três partes do sem banheiro, com pesos 1, 2 e 3. Os setores ficam praticamente na mesma ordem.</a:t>
            </a:r>
          </a:p>
          <a:p>
            <a:r>
              <a:t>De onde: DC03; definições nos slides DS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Sem banheiro e Banheiro graduado (1,000). A mais baixa: Lixo inadequado e Sem banheiro nem sanitário (0,064).</a:t>
            </a:r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DC04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Analfabetismo 15+ e Cor/raça PPI (0,626). Correlação negativa mais forte: Renda sem o extremo e Cor/raça PPI (-0,811).</a:t>
            </a:r>
          </a:p>
          <a:p>
            <a:r>
              <a:t>De onde: DC04, matriz; T12_correlacao_spearman.csv</a:t>
            </a:r>
          </a:p>
          <a:p/>
          <a:p>
            <a:r>
              <a:t>P: Por que as três rendas dão 1,00 entre si?</a:t>
            </a:r>
          </a:p>
          <a:p>
            <a:r>
              <a:t>R: Elas só diferem no setor extremo de Belo Horizonte; em todos os outros setores o valor é o mesmo.</a:t>
            </a:r>
          </a:p>
          <a:p>
            <a:r>
              <a:t>De onde: DC04; definições nos slides DS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Analfabetismo 15+ e Cor/raça PPI (0,626). Correlação negativa mais forte: Renda sem o extremo e Cor/raça PPI (-0,811).</a:t>
            </a:r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DC05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Habitação precária e Moradia não convencional (0,965). Correlação negativa mais forte: Apartamento e Casa (-0,902).</a:t>
            </a:r>
          </a:p>
          <a:p>
            <a:r>
              <a:t>De onde: DC05, matriz; T12_correlacao_spearman.csv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Habitação precária e Moradia não convencional (0,965). Correlação negativa mais forte: Apartamento e Casa (-0,902).</a:t>
            </a:r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DC06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Pessoas 60+ e Dependência idosa (0,996). Correlação negativa mais forte: População 0–14 e Índice de envelhecimento (-0,917).</a:t>
            </a:r>
          </a:p>
          <a:p>
            <a:r>
              <a:t>De onde: DC06, matriz; T12_correlacao_spearman.csv</a:t>
            </a:r>
          </a:p>
          <a:p/>
          <a:p>
            <a:r>
              <a:t>P: Por que Pessoas 60+ e Dependência idosa andam juntas?</a:t>
            </a:r>
          </a:p>
          <a:p>
            <a:r>
              <a:t>R: As duas têm os idosos no numerador; muda só o denominador (toda a população ou só 15 a 59 anos).</a:t>
            </a:r>
          </a:p>
          <a:p>
            <a:r>
              <a:t>De onde: DC06; definições nos slides DS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Pessoas 60+ e Dependência idosa (0,996). Correlação negativa mais forte: População 0–14 e Índice de envelhecimento (-0,917).</a:t>
            </a:r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DC07</a:t>
            </a:r>
          </a:p>
          <a:p/>
          <a:p>
            <a:r>
              <a:t>O QUE É</a:t>
            </a:r>
          </a:p>
          <a:p>
            <a: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/>
          <a:p>
            <a:r>
              <a:t>PERGUNTAS</a:t>
            </a:r>
          </a:p>
          <a:p>
            <a:r>
              <a:t>P: Por que Spearman e não Pearson?</a:t>
            </a:r>
          </a:p>
          <a:p>
            <a:r>
              <a:t>R: Os indicadores são assimétricos e cheios de zeros. O Spearman usa a ordem (postos) dos setores e não depende de distribuição normal. O Pearson está no anexo.</a:t>
            </a:r>
          </a:p>
          <a:p>
            <a:r>
              <a:t>De onde: ART007 seção 11.2 (Guia FIOCRUZ); anexo, aba Correlacao_Pearson</a:t>
            </a:r>
          </a:p>
          <a:p/>
          <a:p>
            <a:r>
              <a:t>P: Qual o par mais forte?</a:t>
            </a:r>
          </a:p>
          <a:p>
            <a:r>
              <a:t>R: Maior correlação: Sem banheiro e Banheiro graduado (1,000). Correlação negativa mais forte: População 0–14 e Índice de envelhecimento (-0,917).</a:t>
            </a:r>
          </a:p>
          <a:p>
            <a:r>
              <a:t>De onde: DC07, matriz; T12_correlacao_spearman.csv</a:t>
            </a:r>
          </a:p>
          <a:p/>
          <a:p>
            <a:r>
              <a:t>P: Por que Sem banheiro × Banheiro graduado dá 1,000?</a:t>
            </a:r>
          </a:p>
          <a:p>
            <a:r>
              <a:t>R: O graduado é feito com as três partes do sem banheiro, com pesos 1, 2 e 3. Os setores ficam praticamente na mesma ordem.</a:t>
            </a:r>
          </a:p>
          <a:p>
            <a:r>
              <a:t>De onde: DC07; definições nos slides DS</a:t>
            </a:r>
          </a:p>
          <a:p/>
          <a:p>
            <a:r>
              <a:t>P: O que fazer com dois indicadores muito correlacionados?</a:t>
            </a:r>
          </a:p>
          <a:p>
            <a:r>
              <a:t>R: Na fatorial eles medem quase a mesma coisa. Por isso entra um ou outro (uma renda só, um tipo de banheiro, "não chega" ou "sem canalização"), nunca os dois.</a:t>
            </a:r>
          </a:p>
          <a:p>
            <a:r>
              <a:t>De onde: VP03; FP04</a:t>
            </a:r>
          </a:p>
          <a:p/>
          <a:p>
            <a:r>
              <a:t>NA PONTA DA LÍNGUA</a:t>
            </a:r>
          </a:p>
          <a:p>
            <a:r>
              <a:t>· Maior correlação: Sem banheiro e Banheiro graduado (1,000). Correlação negativa mais forte: População 0–14 e Índice de envelhecimento (-0,917).</a:t>
            </a:r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FA00</a:t>
            </a:r>
          </a:p>
          <a:p/>
          <a:p>
            <a:r>
              <a:t>O QUE É</a:t>
            </a:r>
          </a:p>
          <a:p>
            <a:r>
              <a:t>Abre a fatorial da referência proposta do NB05: renda original, sem lixo, banheiro graduado, rotação promax, pesos 60/40 e normalização municipal. É uma proposta: a escolha é sua.</a:t>
            </a:r>
          </a:p>
          <a:p/>
          <a:p>
            <a:r>
              <a:t>PERGUNTAS</a:t>
            </a:r>
          </a:p>
          <a:p>
            <a:r>
              <a:t>P: O que é análise fatorial?</a:t>
            </a:r>
          </a:p>
          <a:p>
            <a:r>
              <a:t>R: Um método que resume muitas variáveis correlacionadas em poucos fatores (dimensões). Aqui gera duas dimensões, socioeconômica e saneamento, e a partir delas os pesos do índice.</a:t>
            </a:r>
          </a:p>
          <a:p>
            <a:r>
              <a:t>De onde: ART002 p.161; ART001</a:t>
            </a:r>
          </a:p>
          <a:p/>
          <a:p>
            <a:r>
              <a:t>P: Por que essa é a referência?</a:t>
            </a:r>
          </a:p>
          <a:p>
            <a:r>
              <a:t>R: Foi a primeira na ordem dos critérios fixados no NB05 (estabilidade, AUC no município e parcimônia) entre as elegíveis. É uma proposta para você avaliar, não uma decisão.</a:t>
            </a:r>
          </a:p>
          <a:p>
            <a:r>
              <a:t>De onde: estado_nb05 (referência proposta)</a:t>
            </a:r>
          </a:p>
          <a:p/>
          <a:p>
            <a:r>
              <a:t>P: A fatorial é o caminho certo para os pesos?</a:t>
            </a:r>
          </a:p>
          <a:p>
            <a:r>
              <a:t>R: Depende de o índice ser reflexivo ou formativo. Essa questão está em aberto e ainda vou ler os textos (Bollen; Diamantopoulos; Edwards).</a:t>
            </a:r>
          </a:p>
          <a:p>
            <a:r>
              <a:t>De onde: ART020; minhas notas da planilha</a:t>
            </a:r>
          </a:p>
          <a:p/>
          <a:p>
            <a:r>
              <a:t>NA PONTA DA LÍNGUA</a:t>
            </a:r>
          </a:p>
          <a:p>
            <a:r>
              <a:t>· Renda original · sem lixo · banheiro graduado · promax · 60/40 · municipal</a:t>
            </a:r>
          </a:p>
          <a:p/>
          <a:p>
            <a:r>
              <a:t>LEITURA PENDENTE (estudar antes): Formativo × reflexivo: ART020, ART021, ART022 planejados</a:t>
            </a:r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FA01</a:t>
            </a:r>
          </a:p>
          <a:p/>
          <a:p>
            <a:r>
              <a:t>O QUE É</a:t>
            </a:r>
          </a:p>
          <a:p>
            <a:r>
              <a:t>A amostra da fatorial: entram os setores com os sete componentes. Exclusão por lista: falta um, sai o setor.</a:t>
            </a:r>
          </a:p>
          <a:p/>
          <a:p>
            <a:r>
              <a:t>PERGUNTAS</a:t>
            </a:r>
          </a:p>
          <a:p>
            <a:r>
              <a:t>P: Quem tira mais setores?</a:t>
            </a:r>
          </a:p>
          <a:p>
            <a:r>
              <a:t>R: Analfabetismo 15+ (16.552 faltantes) e banheiro graduado (14.292).</a:t>
            </a:r>
          </a:p>
          <a:p>
            <a:r>
              <a:t>De onde: FA01, tabela</a:t>
            </a:r>
          </a:p>
          <a:p/>
          <a:p>
            <a:r>
              <a:t>P: Por que não usar todos os 104.108?</a:t>
            </a:r>
          </a:p>
          <a:p>
            <a:r>
              <a:t>R: A fatorial precisa de todas as variáveis no setor. Imputar criaria valores não divulgados; preferi tirar e mostrar quantos saem.</a:t>
            </a:r>
          </a:p>
          <a:p>
            <a:r>
              <a:t>De onde: FA01; DS01</a:t>
            </a:r>
          </a:p>
          <a:p/>
          <a:p>
            <a:r>
              <a:t>NA PONTA DA LÍNGUA</a:t>
            </a:r>
          </a:p>
          <a:p>
            <a:r>
              <a:t>· 73.878 entram; 30.230 saem</a:t>
            </a:r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FA02</a:t>
            </a:r>
          </a:p>
          <a:p/>
          <a:p>
            <a:r>
              <a:t>O QUE É</a:t>
            </a:r>
          </a:p>
          <a:p>
            <a:r>
              <a:t>A matriz de correlação que entra na fatorial: Spearman entre os sete componentes, nos 73.878 setores.</a:t>
            </a:r>
          </a:p>
          <a:p/>
          <a:p>
            <a:r>
              <a:t>PERGUNTAS</a:t>
            </a:r>
          </a:p>
          <a:p>
            <a:r>
              <a:t>P: Qual par é mais forte?</a:t>
            </a:r>
          </a:p>
          <a:p>
            <a:r>
              <a:t>R: Renda (invertida) e cor/raça PPI: 0,784. Depois renda e analfabetismo: 0,753.</a:t>
            </a:r>
          </a:p>
          <a:p>
            <a:r>
              <a:t>De onde: FA02, matriz</a:t>
            </a:r>
          </a:p>
          <a:p/>
          <a:p>
            <a:r>
              <a:t>P: Por que a renda está invertida?</a:t>
            </a:r>
          </a:p>
          <a:p>
            <a:r>
              <a:t>R: Para todas as variáveis apontarem para o mesmo lado: valor maior = mais vulnerável. Renda alta é menos vulnerável, então entra com sinal trocado.</a:t>
            </a:r>
          </a:p>
          <a:p>
            <a:r>
              <a:t>De onde: FA02; FA11</a:t>
            </a:r>
          </a:p>
          <a:p/>
          <a:p>
            <a:r>
              <a:t>P: Por que fatorial com Spearman?</a:t>
            </a:r>
          </a:p>
          <a:p>
            <a:r>
              <a:t>R: Os indicadores são assimétricos e cheios de zeros; a fatorial parte da matriz de postos, que não exige normalidade.</a:t>
            </a:r>
          </a:p>
          <a:p>
            <a:r>
              <a:t>De onde: ART007 seção 11.2; FA02</a:t>
            </a:r>
          </a:p>
          <a:p/>
          <a:p>
            <a:r>
              <a:t>NA PONTA DA LÍNGUA</a:t>
            </a:r>
          </a:p>
          <a:p>
            <a:r>
              <a:t>· Maior correlação: 0,784 (renda × cor/raça)</a:t>
            </a:r>
          </a:p>
          <a:p>
            <a:r>
              <a:t>· Menor: 0,083 (razão × banheiro graduado)</a:t>
            </a:r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FA03</a:t>
            </a:r>
          </a:p>
          <a:p/>
          <a:p>
            <a:r>
              <a:t>O QUE É</a:t>
            </a:r>
          </a:p>
          <a:p>
            <a:r>
              <a:t>Se os dados servem para fatorial. KMO compara as correlações entre as variáveis com as correlações parciais: vai de 0 a 1, e quanto maior, mais as variáveis têm algo em comum. Bartlett testa se a matriz de correlação é diferente da identidade.</a:t>
            </a:r>
          </a:p>
          <a:p/>
          <a:p>
            <a:r>
              <a:t>PERGUNTAS</a:t>
            </a:r>
          </a:p>
          <a:p>
            <a:r>
              <a:t>P: O KMO de 0,7807 é bom?</a:t>
            </a:r>
          </a:p>
          <a:p>
            <a:r>
              <a:t>R: Na escala de Matos (Enap) é "bom" (entre 0,7 e 0,8); na de Figueiredo, "mediano" (0,70 a 0,79). Passa o critério do NB05 (KMO ≥ 0,70).</a:t>
            </a:r>
          </a:p>
          <a:p>
            <a:r>
              <a:t>De onde: ART001 p.43; ART002 p.166; FA16</a:t>
            </a:r>
          </a:p>
          <a:p/>
          <a:p>
            <a:r>
              <a:t>P: E o Bartlett?</a:t>
            </a:r>
          </a:p>
          <a:p>
            <a:r>
              <a:t>R: Rejeita a hipótese de identidade (qui-quadrado 185.197,02, 21 graus de liberdade). Mas com amostra grande o Bartlett quase sempre rejeita, então sozinho não basta.</a:t>
            </a:r>
          </a:p>
          <a:p>
            <a:r>
              <a:t>De onde: ART001 p.43</a:t>
            </a:r>
          </a:p>
          <a:p/>
          <a:p>
            <a:r>
              <a:t>P: Quanto os dois fatores explicam?</a:t>
            </a:r>
          </a:p>
          <a:p>
            <a:r>
              <a:t>R: 60,82% da variância.</a:t>
            </a:r>
          </a:p>
          <a:p>
            <a:r>
              <a:t>De onde: FA03; FA05</a:t>
            </a:r>
          </a:p>
          <a:p/>
          <a:p>
            <a:r>
              <a:t>NA PONTA DA LÍNGUA</a:t>
            </a:r>
          </a:p>
          <a:p>
            <a:r>
              <a:t>· KMO 0,7807</a:t>
            </a:r>
          </a:p>
          <a:p>
            <a:r>
              <a:t>· n = 73.878; 7 variáveis</a:t>
            </a:r>
          </a:p>
          <a:p>
            <a:r>
              <a:t>· 2 fatores, 60,82%</a:t>
            </a:r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FA04</a:t>
            </a:r>
          </a:p>
          <a:p/>
          <a:p>
            <a:r>
              <a:t>O QUE É</a:t>
            </a:r>
          </a:p>
          <a:p>
            <a:r>
              <a:t>MSA é o KMO de cada variável: mostra se ela combina com as outras. Comunalidade é a parte da variância da variável que os dois fatores explicam.</a:t>
            </a:r>
          </a:p>
          <a:p/>
          <a:p>
            <a:r>
              <a:t>PERGUNTAS</a:t>
            </a:r>
          </a:p>
          <a:p>
            <a:r>
              <a:t>P: Qual variável é a mais fraca?</a:t>
            </a:r>
          </a:p>
          <a:p>
            <a:r>
              <a:t>R: Na MSA, renda (invertida), com 0,709; na comunalidade, razão de moradores, com 0,375. As duas passam os critérios (MSA ≥ 0,50; comunalidade ≥ 0,30).</a:t>
            </a:r>
          </a:p>
          <a:p>
            <a:r>
              <a:t>De onde: FA04; FA16</a:t>
            </a:r>
          </a:p>
          <a:p/>
          <a:p>
            <a:r>
              <a:t>P: Figueiredo pede comunalidade de 0,50. Por que 0,30?</a:t>
            </a:r>
          </a:p>
          <a:p>
            <a:r>
              <a:t>R: O NB05 usou 0,30. Com 0,50, razão de moradores (0,375) e banheiro graduado (0,446) ficariam abaixo. É uma questão para decidirmos.</a:t>
            </a:r>
          </a:p>
          <a:p>
            <a:r>
              <a:t>De onde: ART002 p.176; FA04</a:t>
            </a:r>
          </a:p>
          <a:p/>
          <a:p>
            <a:r>
              <a:t>P: Por que a comunalidade oblíqua é igual?</a:t>
            </a:r>
          </a:p>
          <a:p>
            <a:r>
              <a:t>R: Com dois fatores, a parte explicada da variável não muda com a rotação; muda só como se reparte entre F1 e F2.</a:t>
            </a:r>
          </a:p>
          <a:p>
            <a:r>
              <a:t>De onde: FA04</a:t>
            </a:r>
          </a:p>
          <a:p/>
          <a:p>
            <a:r>
              <a:t>NA PONTA DA LÍNGUA</a:t>
            </a:r>
          </a:p>
          <a:p>
            <a:r>
              <a:t>· Menor MSA: 0,709 (renda)</a:t>
            </a:r>
          </a:p>
          <a:p>
            <a:r>
              <a:t>· Menor comunalidade: 0,375 (razão de moradores)</a:t>
            </a:r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FA05</a:t>
            </a:r>
          </a:p>
          <a:p/>
          <a:p>
            <a:r>
              <a:t>O QUE É</a:t>
            </a:r>
          </a:p>
          <a:p>
            <a:r>
              <a:t>Autovalor é quanto da variância total um componente explica. Kaiser fica com os autovalores maiores que 1. Horn (análise paralela) compara cada autovalor com o que daria em dados aleatórios do mesmo tamanho e fica com os que passam.</a:t>
            </a:r>
          </a:p>
          <a:p/>
          <a:p>
            <a:r>
              <a:t>PERGUNTAS</a:t>
            </a:r>
          </a:p>
          <a:p>
            <a:r>
              <a:t>P: Quantos fatores?</a:t>
            </a:r>
          </a:p>
          <a:p>
            <a:r>
              <a:t>R: Dois: os dois primeiros autovalores (3,186 e 1,071) passam de 1 e da referência de Horn (1,026 e 1,015).</a:t>
            </a:r>
          </a:p>
          <a:p>
            <a:r>
              <a:t>De onde: FA05, tabela</a:t>
            </a:r>
          </a:p>
          <a:p/>
          <a:p>
            <a:r>
              <a:t>P: O segundo fator não está no limite?</a:t>
            </a:r>
          </a:p>
          <a:p>
            <a:r>
              <a:t>R: Está perto: 1,071 contra 1,015 de Horn. Por isso olho Kaiser e Horn juntos.</a:t>
            </a:r>
          </a:p>
          <a:p>
            <a:r>
              <a:t>De onde: FA05</a:t>
            </a:r>
          </a:p>
          <a:p/>
          <a:p>
            <a:r>
              <a:t>P: Kaiser é confiável aqui?</a:t>
            </a:r>
          </a:p>
          <a:p>
            <a:r>
              <a:t>R: Matos diz que Kaiser é preciso com n &gt; 250 e comunalidade média ≥ 0,6. O n passa; a comunalidade média fica no limite.</a:t>
            </a:r>
          </a:p>
          <a:p>
            <a:r>
              <a:t>De onde: ART001 p.29</a:t>
            </a:r>
          </a:p>
          <a:p/>
          <a:p>
            <a:r>
              <a:t>NA PONTA DA LÍNGUA</a:t>
            </a:r>
          </a:p>
          <a:p>
            <a:r>
              <a:t>· Autovalores: 3,186 e 1,071</a:t>
            </a:r>
          </a:p>
          <a:p>
            <a:r>
              <a:t>· Horn: 1,026 e 1,015</a:t>
            </a:r>
          </a:p>
          <a:p>
            <a:r>
              <a:t>· 60,82% acumulado</a:t>
            </a:r>
          </a:p>
          <a:p/>
          <a:p>
            <a:r>
              <a:t>LEITURA PENDENTE (estudar antes): Horn: artigo original (ART024) em andamento; a definição está em Figueiredo, ART002 p.168</a:t>
            </a:r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FA06</a:t>
            </a:r>
          </a:p>
          <a:p/>
          <a:p>
            <a:r>
              <a:t>O QUE É</a:t>
            </a:r>
          </a:p>
          <a:p>
            <a:r>
              <a:t>A decisão do número de fatores: Kaiser e Horn concordam em 2, e a solução fica com 2.</a:t>
            </a:r>
          </a:p>
          <a:p/>
          <a:p>
            <a:r>
              <a:t>PERGUNTAS</a:t>
            </a:r>
          </a:p>
          <a:p>
            <a:r>
              <a:t>P: Por que reter 2 e não 1?</a:t>
            </a:r>
          </a:p>
          <a:p>
            <a:r>
              <a:t>R: Os dois critérios dão 2 nesta base. Também é o desenho do IVS-BH: uma dimensão socioeconômica e uma de saneamento.</a:t>
            </a:r>
          </a:p>
          <a:p>
            <a:r>
              <a:t>De onde: FA06; ART003</a:t>
            </a:r>
          </a:p>
          <a:p/>
          <a:p>
            <a:r>
              <a:t>P: E se desse 3?</a:t>
            </a:r>
          </a:p>
          <a:p>
            <a:r>
              <a:t>R: Nos cenários com mais variáveis Kaiser e Horn pedem 3 ou 4; mantive 2 para comparar com o IVS-BH. Está no FP06.</a:t>
            </a:r>
          </a:p>
          <a:p>
            <a:r>
              <a:t>De onde: FP06</a:t>
            </a:r>
          </a:p>
          <a:p/>
          <a:p>
            <a:r>
              <a:t>NA PONTA DA LÍNGUA</a:t>
            </a:r>
          </a:p>
          <a:p>
            <a:r>
              <a:t>· Kaiser 2; Horn 2; retidos 2</a:t>
            </a:r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FA07</a:t>
            </a:r>
          </a:p>
          <a:p/>
          <a:p>
            <a:r>
              <a:t>O QUE É</a:t>
            </a:r>
          </a:p>
          <a:p>
            <a:r>
              <a:t>Cargas sem rotação: a correlação de cada variável com cada fator antes de girar os eixos. O primeiro fator pega um pouco de tudo, o que dificulta dar nome.</a:t>
            </a:r>
          </a:p>
          <a:p/>
          <a:p>
            <a:r>
              <a:t>PERGUNTAS</a:t>
            </a:r>
          </a:p>
          <a:p>
            <a:r>
              <a:t>P: O que é carga?</a:t>
            </a:r>
          </a:p>
          <a:p>
            <a:r>
              <a:t>R: A correlação entre a variável e o fator. Acima de 0,40 em módulo, a variável é considerada parte do fator (critério do NB05).</a:t>
            </a:r>
          </a:p>
          <a:p>
            <a:r>
              <a:t>De onde: FA16; ART002</a:t>
            </a:r>
          </a:p>
          <a:p/>
          <a:p>
            <a:r>
              <a:t>P: Por que mostrar sem rotação?</a:t>
            </a:r>
          </a:p>
          <a:p>
            <a:r>
              <a:t>R: Para comparar: a rotação não muda o total explicado, só reparte entre os fatores.</a:t>
            </a:r>
          </a:p>
          <a:p>
            <a:r>
              <a:t>De onde: FA07; FA08</a:t>
            </a:r>
          </a:p>
          <a:p/>
          <a:p>
            <a:r>
              <a:t>NA PONTA DA LÍNGUA</a:t>
            </a:r>
          </a:p>
          <a:p>
            <a:r>
              <a:t>· Maior carga em F1: renda (0,868)</a:t>
            </a:r>
          </a:p>
          <a:p>
            <a:r>
              <a:t>· Maior em F2: água inadequada (0,625)</a:t>
            </a:r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FA08</a:t>
            </a:r>
          </a:p>
          <a:p/>
          <a:p>
            <a:r>
              <a:t>O QUE É</a:t>
            </a:r>
          </a:p>
          <a:p>
            <a:r>
              <a:t>Cargas Varimax: rotação ortogonal, que deixa cada variável carregar forte num fator só. Os fatores ficam sem correlação entre si.</a:t>
            </a:r>
          </a:p>
          <a:p/>
          <a:p>
            <a:r>
              <a:t>PERGUNTAS</a:t>
            </a:r>
          </a:p>
          <a:p>
            <a:r>
              <a:t>P: Como ficam os dois fatores?</a:t>
            </a:r>
          </a:p>
          <a:p>
            <a:r>
              <a:t>R: F1 socioeconômico (renda 0,906, analfabetismo 0,861, cor/raça 0,848, razão de moradores 0,592); F2 saneamento (água 0,752, banheiro graduado 0,668, esgoto 0,560).</a:t>
            </a:r>
          </a:p>
          <a:p>
            <a:r>
              <a:t>De onde: FA08, tabela</a:t>
            </a:r>
          </a:p>
          <a:p/>
          <a:p>
            <a:r>
              <a:t>P: E o esgoto?</a:t>
            </a:r>
          </a:p>
          <a:p>
            <a:r>
              <a:t>R: Carrega nos dois (0,447 e 0,560): fica entre as dimensões.</a:t>
            </a:r>
          </a:p>
          <a:p>
            <a:r>
              <a:t>De onde: FA08</a:t>
            </a:r>
          </a:p>
          <a:p/>
          <a:p>
            <a:r>
              <a:t>NA PONTA DA LÍNGUA</a:t>
            </a:r>
          </a:p>
          <a:p>
            <a:r>
              <a:t>· F1: renda, analfabetismo, cor/raça, razão</a:t>
            </a:r>
          </a:p>
          <a:p>
            <a:r>
              <a:t>· F2: água, banheiro, esgoto</a:t>
            </a:r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FA09</a:t>
            </a:r>
          </a:p>
          <a:p/>
          <a:p>
            <a:r>
              <a:t>O QUE É</a:t>
            </a:r>
          </a:p>
          <a:p>
            <a:r>
              <a:t>Cargas promax, a rotação oblíqua da referência. Padrão: efeito próprio de cada fator. Estrutura: correlação total da variável com o fator, incluindo o que vem pela correlação entre os fatores.</a:t>
            </a:r>
          </a:p>
          <a:p/>
          <a:p>
            <a:r>
              <a:t>PERGUNTAS</a:t>
            </a:r>
          </a:p>
          <a:p>
            <a:r>
              <a:t>P: Por que promax e não Varimax?</a:t>
            </a:r>
          </a:p>
          <a:p>
            <a:r>
              <a:t>R: Os fatores são correlacionados (Φ = 0,411); a promax permite isso. Matos descreve a promax como um método rápido para bases grandes.</a:t>
            </a:r>
          </a:p>
          <a:p>
            <a:r>
              <a:t>De onde: FA10; ART001 p.38</a:t>
            </a:r>
          </a:p>
          <a:p/>
          <a:p>
            <a:r>
              <a:t>P: Qual matriz vira peso?</a:t>
            </a:r>
          </a:p>
          <a:p>
            <a:r>
              <a:t>R: A padrão: os pesos saem do quadrado das cargas padrão.</a:t>
            </a:r>
          </a:p>
          <a:p>
            <a:r>
              <a:t>De onde: FA11</a:t>
            </a:r>
          </a:p>
          <a:p/>
          <a:p>
            <a:r>
              <a:t>P: Por que há carga negativa (-0,207 no banheiro em F1)?</a:t>
            </a:r>
          </a:p>
          <a:p>
            <a:r>
              <a:t>R: Na matriz padrão, descontado o que vem de F2, o banheiro quase não tem relação própria com F1. É pequena e não entra no peso de F1.</a:t>
            </a:r>
          </a:p>
          <a:p>
            <a:r>
              <a:t>De onde: FA09; FA11</a:t>
            </a:r>
          </a:p>
          <a:p/>
          <a:p>
            <a:r>
              <a:t>NA PONTA DA LÍNGUA</a:t>
            </a:r>
          </a:p>
          <a:p>
            <a:r>
              <a:t>· Padrão: renda 0,937 em F1; água 0,783 em F2</a:t>
            </a:r>
          </a:p>
          <a:p>
            <a:r>
              <a:t>· Estrutura: renda 0,908; água 0,772</a:t>
            </a:r>
          </a:p>
          <a:p/>
          <a:p>
            <a:r>
              <a:t>LEITURA PENDENTE (estudar antes): Promax: ART025 em andamento; padrão × estrutura sem leitura no fichamento</a:t>
            </a:r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FA10</a:t>
            </a:r>
          </a:p>
          <a:p/>
          <a:p>
            <a:r>
              <a:t>O QUE É</a:t>
            </a:r>
          </a:p>
          <a:p>
            <a:r>
              <a:t>Φ é a correlação entre os dois fatores na rotação oblíqua. Na Varimax ela é zero por construção.</a:t>
            </a:r>
          </a:p>
          <a:p/>
          <a:p>
            <a:r>
              <a:t>PERGUNTAS</a:t>
            </a:r>
          </a:p>
          <a:p>
            <a:r>
              <a:t>P: O Φ de 0,411 é alto?</a:t>
            </a:r>
          </a:p>
          <a:p>
            <a:r>
              <a:t>R: É moderado: setores com pior condição socioeconômica tendem a ter pior saneamento. Por isso uma rotação oblíqua faz sentido.</a:t>
            </a:r>
          </a:p>
          <a:p>
            <a:r>
              <a:t>De onde: FA10</a:t>
            </a:r>
          </a:p>
          <a:p/>
          <a:p>
            <a:r>
              <a:t>P: E se fosse perto de zero?</a:t>
            </a:r>
          </a:p>
          <a:p>
            <a:r>
              <a:t>R: A Varimax daria quase o mesmo e seria mais simples.</a:t>
            </a:r>
          </a:p>
          <a:p>
            <a:r>
              <a:t>De onde: ART002 p.169</a:t>
            </a:r>
          </a:p>
          <a:p/>
          <a:p>
            <a:r>
              <a:t>NA PONTA DA LÍNGUA</a:t>
            </a:r>
          </a:p>
          <a:p>
            <a:r>
              <a:t>· Φ = 0,411</a:t>
            </a:r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FA11</a:t>
            </a:r>
          </a:p>
          <a:p/>
          <a:p>
            <a:r>
              <a:t>O QUE É</a:t>
            </a:r>
          </a:p>
          <a:p>
            <a:r>
              <a:t>Como as cargas viram pesos: em cada dimensão, o peso da variável é o quadrado da sua carga padrão dividido pela soma dos quadrados; depois, a dimensão socioeconômica vale 60% e a de saneamento 40%.</a:t>
            </a:r>
          </a:p>
          <a:p/>
          <a:p>
            <a:r>
              <a:t>PERGUNTAS</a:t>
            </a:r>
          </a:p>
          <a:p>
            <a:r>
              <a:t>P: Por que 60/40?</a:t>
            </a:r>
          </a:p>
          <a:p>
            <a:r>
              <a:t>R: É a repartição do IVS-BH 2012 (60,4% e 39,6%), arredondada.</a:t>
            </a:r>
          </a:p>
          <a:p>
            <a:r>
              <a:t>De onde: ART009 p.7; ART003</a:t>
            </a:r>
          </a:p>
          <a:p/>
          <a:p>
            <a:r>
              <a:t>P: Por que o quadrado das cargas?</a:t>
            </a:r>
          </a:p>
          <a:p>
            <a:r>
              <a:t>R: Para medir a importância relativa de cada variável no fator, como no ISU de Passarelli-Araujo.</a:t>
            </a:r>
          </a:p>
          <a:p>
            <a:r>
              <a:t>De onde: ART009 p.7</a:t>
            </a:r>
          </a:p>
          <a:p/>
          <a:p>
            <a:r>
              <a:t>P: Quem pesa mais?</a:t>
            </a:r>
          </a:p>
          <a:p>
            <a:r>
              <a:t>R: Renda (invertida), 19,28%; depois analfabetismo (17,36%) e água (17,32%).</a:t>
            </a:r>
          </a:p>
          <a:p>
            <a:r>
              <a:t>De onde: FA11</a:t>
            </a:r>
          </a:p>
          <a:p/>
          <a:p>
            <a:r>
              <a:t>NA PONTA DA LÍNGUA</a:t>
            </a:r>
          </a:p>
          <a:p>
            <a:r>
              <a:t>· F1 60% · F2 40%</a:t>
            </a:r>
          </a:p>
          <a:p>
            <a:r>
              <a:t>· Renda 19,28%; analfabetismo 17,36%; água 17,32%</a:t>
            </a:r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FA12</a:t>
            </a:r>
          </a:p>
          <a:p/>
          <a:p>
            <a:r>
              <a:t>O QUE É</a:t>
            </a:r>
          </a:p>
          <a:p>
            <a:r>
              <a:t>O índice: cada variável é normalizada de 0 a 1 dentro do município (min-max) e somada com os pesos. O resultado vai de 0 a 1; maior = mais vulnerável.</a:t>
            </a:r>
          </a:p>
          <a:p/>
          <a:p>
            <a:r>
              <a:t>PERGUNTAS</a:t>
            </a:r>
          </a:p>
          <a:p>
            <a:r>
              <a:t>P: O que é a normalização municipal?</a:t>
            </a:r>
          </a:p>
          <a:p>
            <a:r>
              <a:t>R: Cada variável vira (valor - mínimo) / (máximo - mínimo) entre os setores do próprio município. Assim o índice compara setores dentro da cidade.</a:t>
            </a:r>
          </a:p>
          <a:p>
            <a:r>
              <a:t>De onde: ART004 (Conversão de escala); estado_nb05</a:t>
            </a:r>
          </a:p>
          <a:p/>
          <a:p>
            <a:r>
              <a:t>P: Como se distribui?</a:t>
            </a:r>
          </a:p>
          <a:p>
            <a:r>
              <a:t>R: Mediana 0,3306; metade dos setores entre 0,2832 e 0,3757 (P25 e P75); máximo 0,9120.</a:t>
            </a:r>
          </a:p>
          <a:p>
            <a:r>
              <a:t>De onde: FA12, tabela</a:t>
            </a:r>
          </a:p>
          <a:p/>
          <a:p>
            <a:r>
              <a:t>P: Dá para comparar índice entre municípios?</a:t>
            </a:r>
          </a:p>
          <a:p>
            <a:r>
              <a:t>R: Não diretamente: a escala é de cada município. Para comparar entre cidades, a normalização global é a alternativa testada no NB05.</a:t>
            </a:r>
          </a:p>
          <a:p>
            <a:r>
              <a:t>De onde: estado_nb05</a:t>
            </a:r>
          </a:p>
          <a:p/>
          <a:p>
            <a:r>
              <a:t>NA PONTA DA LÍNGUA</a:t>
            </a:r>
          </a:p>
          <a:p>
            <a:r>
              <a:t>· Mediana 0,3306; média 0,3338</a:t>
            </a:r>
          </a:p>
          <a:p>
            <a:r>
              <a:t>· P10 0,2313; P90 0,4311</a:t>
            </a:r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FA13</a:t>
            </a:r>
          </a:p>
          <a:p/>
          <a:p>
            <a:r>
              <a:t>O QUE É</a:t>
            </a:r>
          </a:p>
          <a:p>
            <a:r>
              <a:t>As faixas por duas regras. IVS-BH: médio = média ± 0,5 desvio-padrão; baixo, abaixo; elevado, até 1,5 DP acima; muito elevado, acima disso. Quartis: um quarto dos setores em cada faixa.</a:t>
            </a:r>
          </a:p>
          <a:p/>
          <a:p>
            <a:r>
              <a:t>PERGUNTAS</a:t>
            </a:r>
          </a:p>
          <a:p>
            <a:r>
              <a:t>P: Quantos setores estão em vulnerabilidade muito elevada?</a:t>
            </a:r>
          </a:p>
          <a:p>
            <a:r>
              <a:t>R: Pela regra do IVS-BH, 3.933 (5,32%).</a:t>
            </a:r>
          </a:p>
          <a:p>
            <a:r>
              <a:t>De onde: FA13, tabela</a:t>
            </a:r>
          </a:p>
          <a:p/>
          <a:p>
            <a:r>
              <a:t>P: Por que 1 setor fica "indefinido"?</a:t>
            </a:r>
          </a:p>
          <a:p>
            <a:r>
              <a:t>R: Um município tem um setor só nesta amostra: não tem desvio-padrão, então a regra não se aplica.</a:t>
            </a:r>
          </a:p>
          <a:p>
            <a:r>
              <a:t>De onde: estado_nb05</a:t>
            </a:r>
          </a:p>
          <a:p/>
          <a:p>
            <a:r>
              <a:t>P: Qual regra usar?</a:t>
            </a:r>
          </a:p>
          <a:p>
            <a:r>
              <a:t>R: A do IVS-BH mantém a comparação com 2012; quartis forçam faixas do mesmo tamanho. Fica para decidirmos.</a:t>
            </a:r>
          </a:p>
          <a:p>
            <a:r>
              <a:t>De onde: ART003 p.10</a:t>
            </a:r>
          </a:p>
          <a:p/>
          <a:p>
            <a:r>
              <a:t>NA PONTA DA LÍNGUA</a:t>
            </a:r>
          </a:p>
          <a:p>
            <a:r>
              <a:t>· Muito elevado: 3.933 (5,32%)</a:t>
            </a:r>
          </a:p>
          <a:p>
            <a:r>
              <a:t>· Médio: 31.052 (42,03%)</a:t>
            </a:r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FA14</a:t>
            </a:r>
          </a:p>
          <a:p/>
          <a:p>
            <a:r>
              <a:t>O QUE É</a:t>
            </a:r>
          </a:p>
          <a:p>
            <a:r>
              <a:t>Validação contra FCU. A curva ROC mostra quão bem o índice separa setores de favela (FCU) dos demais; a AUC é a área sob a curva: 0,5 é acaso, 1 é separação perfeita. A AUC é a chance de um setor FCU sorteado ter índice maior que um não FCU sorteado.</a:t>
            </a:r>
          </a:p>
          <a:p/>
          <a:p>
            <a:r>
              <a:t>PERGUNTAS</a:t>
            </a:r>
          </a:p>
          <a:p>
            <a:r>
              <a:t>P: A AUC de 0,8309 é boa?</a:t>
            </a:r>
          </a:p>
          <a:p>
            <a:r>
              <a:t>R: Separa bem: sorteando um setor FCU e um não FCU, a chance de o FCU ter índice maior é 0,8309.</a:t>
            </a:r>
          </a:p>
          <a:p>
            <a:r>
              <a:t>De onde: FA14</a:t>
            </a:r>
          </a:p>
          <a:p/>
          <a:p>
            <a:r>
              <a:t>P: Por que validar contra FCU?</a:t>
            </a:r>
          </a:p>
          <a:p>
            <a:r>
              <a:t>R: É um critério externo do IBGE, independente do índice. Mas a FCU já usa condições de moradia, então há alguma circularidade com o saneamento.</a:t>
            </a:r>
          </a:p>
          <a:p>
            <a:r>
              <a:t>De onde: ART005 p.47; estado_nb05</a:t>
            </a:r>
          </a:p>
          <a:p/>
          <a:p>
            <a:r>
              <a:t>P: Por que a AUC municipal?</a:t>
            </a:r>
          </a:p>
          <a:p>
            <a:r>
              <a:t>R: O índice é normalizado por município; a AUC dentro de cada município é a comparação justa. Uso a mediana dos 31 municípios com ao menos 30 setores de FCU e 30 fora.</a:t>
            </a:r>
          </a:p>
          <a:p>
            <a:r>
              <a:t>De onde: FA15</a:t>
            </a:r>
          </a:p>
          <a:p/>
          <a:p>
            <a:r>
              <a:t>NA PONTA DA LÍNGUA</a:t>
            </a:r>
          </a:p>
          <a:p>
            <a:r>
              <a:t>· AUC global 0,8309; mediana municipal 0,8186</a:t>
            </a:r>
          </a:p>
          <a:p>
            <a:r>
              <a:t>· 31 municípios na mediana</a:t>
            </a:r>
          </a:p>
          <a:p/>
          <a:p>
            <a:r>
              <a:t>LEITURA PENDENTE (estudar antes): ROC/AUC: sem leitura própria no fichamento</a:t>
            </a:r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FA15</a:t>
            </a:r>
          </a:p>
          <a:p/>
          <a:p>
            <a:r>
              <a:t>O QUE É</a:t>
            </a:r>
          </a:p>
          <a:p>
            <a:r>
              <a:t>A AUC em cada município, só onde há ao menos 30 setores de FCU e 30 fora (para a AUC não depender de poucos setores).</a:t>
            </a:r>
          </a:p>
          <a:p/>
          <a:p>
            <a:r>
              <a:t>PERGUNTAS</a:t>
            </a:r>
          </a:p>
          <a:p>
            <a:r>
              <a:t>P: Por que só 31 dos 41?</a:t>
            </a:r>
          </a:p>
          <a:p>
            <a:r>
              <a:t>R: Nos outros há menos de 30 setores de FCU ou menos de 30 fora.</a:t>
            </a:r>
          </a:p>
          <a:p>
            <a:r>
              <a:t>De onde: FA15</a:t>
            </a:r>
          </a:p>
          <a:p/>
          <a:p>
            <a:r>
              <a:t>P: Por que Duque de Caxias é tão baixo?</a:t>
            </a:r>
          </a:p>
          <a:p>
            <a:r>
              <a:t>R: Lá a AUC é 0,6037: o índice separa pouco FCU dos demais. Não investiguei o motivo.</a:t>
            </a:r>
          </a:p>
          <a:p>
            <a:r>
              <a:t>De onde: FA15 [A CONFERIR: Duque de Caxias]</a:t>
            </a:r>
          </a:p>
          <a:p/>
          <a:p>
            <a:r>
              <a:t>NA PONTA DA LÍNGUA</a:t>
            </a:r>
          </a:p>
          <a:p>
            <a:r>
              <a:t>· Mediana 0,8186</a:t>
            </a:r>
          </a:p>
          <a:p>
            <a:r>
              <a:t>· Menor 0,6037 (Duque de Caxias); maior 0,9544 (Campinas)</a:t>
            </a:r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FA16</a:t>
            </a:r>
          </a:p>
          <a:p/>
          <a:p>
            <a:r>
              <a:t>O QUE É</a:t>
            </a:r>
          </a:p>
          <a:p>
            <a:r>
              <a:t>Os critérios de elegibilidade do NB05, fixados antes de rodar: KMO ≥ 0,70; MSA ≥ 0,50 em todas; comunalidade ≥ 0,30 em todas; maior carga ≥ 0,40 em todas.</a:t>
            </a:r>
          </a:p>
          <a:p/>
          <a:p>
            <a:r>
              <a:t>PERGUNTAS</a:t>
            </a:r>
          </a:p>
          <a:p>
            <a:r>
              <a:t>P: A referência passa em tudo?</a:t>
            </a:r>
          </a:p>
          <a:p>
            <a:r>
              <a:t>R: Sim. O ponto mais perto do limite é a comunalidade da razão de moradores (0,3755) e a menor carga máxima é a do esgoto (0,5245).</a:t>
            </a:r>
          </a:p>
          <a:p>
            <a:r>
              <a:t>De onde: FA16</a:t>
            </a:r>
          </a:p>
          <a:p/>
          <a:p>
            <a:r>
              <a:t>P: Por que fixar os critérios antes?</a:t>
            </a:r>
          </a:p>
          <a:p>
            <a:r>
              <a:t>R: Para a escolha não depender de qual resultado parece melhor.</a:t>
            </a:r>
          </a:p>
          <a:p>
            <a:r>
              <a:t>De onde: FA16</a:t>
            </a:r>
          </a:p>
          <a:p/>
          <a:p>
            <a:r>
              <a:t>NA PONTA DA LÍNGUA</a:t>
            </a:r>
          </a:p>
          <a:p>
            <a:r>
              <a:t>· Comunalidade mínima 0,3755 (razão de moradores)</a:t>
            </a:r>
          </a:p>
          <a:p>
            <a:r>
              <a:t>· Menor carga máxima 0,5245 (esgoto)</a:t>
            </a:r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FP00</a:t>
            </a:r>
          </a:p>
          <a:p/>
          <a:p>
            <a:r>
              <a:t>O QUE É</a:t>
            </a:r>
          </a:p>
          <a:p>
            <a:r>
              <a:t>Abre as demandas sobre a fatorial: um slide por pedido, na ordem das demandas. Aqui a comparação entre cenários é o próprio pedido.</a:t>
            </a:r>
          </a:p>
          <a:p/>
          <a:p>
            <a:r>
              <a:t>PERGUNTAS</a:t>
            </a:r>
          </a:p>
          <a:p>
            <a:r>
              <a:t>P: Por que os cenários antes das demandas?</a:t>
            </a:r>
          </a:p>
          <a:p>
            <a:r>
              <a:t>R: Cada demanda compara cenários; os slides FC mostram antes quais setores entram em cada um.</a:t>
            </a:r>
          </a:p>
          <a:p>
            <a:r>
              <a:t>De onde: FC01 a FC09</a:t>
            </a:r>
          </a:p>
          <a:p/>
          <a:p>
            <a:r>
              <a:t>P: Os cenários usam o mesmo método da referência?</a:t>
            </a:r>
          </a:p>
          <a:p>
            <a:r>
              <a:t>R: Não: os cenários vêm da fatorial ampliada (antes do NB05), com pesos Varimax; a referência é do NB05, com promax e 60/40.</a:t>
            </a:r>
          </a:p>
          <a:p>
            <a:r>
              <a:t>De onde: FP11; FA00</a:t>
            </a:r>
          </a:p>
          <a:p/>
          <a:p>
            <a:r>
              <a:t>NA PONTA DA LÍNGUA</a:t>
            </a:r>
          </a:p>
          <a:p>
            <a:r>
              <a:t>· Cenários S0 a S7 e variantes</a:t>
            </a:r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FC01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87.545 setores?</a:t>
            </a:r>
          </a:p>
          <a:p>
            <a:r>
              <a:t>R: Entram os setores com as 7 variáveis: 87.545. Nenhum setor do S0 sai.</a:t>
            </a:r>
          </a:p>
          <a:p>
            <a:r>
              <a:t>De onde: FC01, tabelas de faltantes e "Sai do S0"; cenarios.csv</a:t>
            </a:r>
          </a:p>
          <a:p/>
          <a:p>
            <a:r>
              <a:t>P: Por que o S0 é a referência dos cenários?</a:t>
            </a:r>
          </a:p>
          <a:p>
            <a:r>
              <a:t>R: Reproduz o IVS-7 do NB04, a fatorial que já tínhamos. Os outros cenários mudam uma coisa por vez em relação a ele.</a:t>
            </a:r>
          </a:p>
          <a:p>
            <a:r>
              <a:t>De onde: FC01; DM11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S0: IVS-7</a:t>
            </a:r>
          </a:p>
          <a:p>
            <a:r>
              <a:t>· 87.545 setores; 7 variáveis; saem do S0: 0</a:t>
            </a:r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FC02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87.545 setores?</a:t>
            </a:r>
          </a:p>
          <a:p>
            <a:r>
              <a:t>R: Entram os setores com as 6 variáveis: 87.545. Nenhum setor do S0 sai.</a:t>
            </a:r>
          </a:p>
          <a:p>
            <a:r>
              <a:t>De onde: FC02, tabelas de faltantes e "Sai do S0"; cenarios.csv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S1: IVS-6 (IVS-7 sem lixo)</a:t>
            </a:r>
          </a:p>
          <a:p>
            <a:r>
              <a:t>· 87.545 setores; 6 variáveis; saem do S0: 0</a:t>
            </a:r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FC03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78.256 setores?</a:t>
            </a:r>
          </a:p>
          <a:p>
            <a:r>
              <a:t>R: Entram os setores com as 8 variáveis: 78.256. Saem 9.289 do S0; a variável que mais tira é Água não chega (9.289 setores sem o dado).</a:t>
            </a:r>
          </a:p>
          <a:p>
            <a:r>
              <a:t>De onde: FC03, tabelas de faltantes e "Sai do S0"; cenarios.csv</a:t>
            </a:r>
          </a:p>
          <a:p/>
          <a:p>
            <a:r>
              <a:t>P: Os setores que saem são diferentes dos que ficam?</a:t>
            </a:r>
          </a:p>
          <a:p>
            <a:r>
              <a:t>R: Não comparei o perfil dos que saem neste cenário; a tabela mostra só em que região ficam os que entram. Posso fazer essa comparação.</a:t>
            </a:r>
          </a:p>
          <a:p>
            <a:r>
              <a:t>De onde: FC03, tabela por região [A CONFERIR: perfil dos que saem]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S2: IVS-7 + não chega</a:t>
            </a:r>
          </a:p>
          <a:p>
            <a:r>
              <a:t>· 78.256 setores; 8 variáveis; saem do S0: 9.289</a:t>
            </a:r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FC04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87.512 setores?</a:t>
            </a:r>
          </a:p>
          <a:p>
            <a:r>
              <a:t>R: Entram os setores com as 8 variáveis: 87.512. Saem 33 do S0; a variável que mais tira é Sem água canalizada (33 setores sem o dado).</a:t>
            </a:r>
          </a:p>
          <a:p>
            <a:r>
              <a:t>De onde: FC04, tabelas de faltantes e "Sai do S0"; cenarios.csv</a:t>
            </a:r>
          </a:p>
          <a:p/>
          <a:p>
            <a:r>
              <a:t>P: Os setores que saem são diferentes dos que ficam?</a:t>
            </a:r>
          </a:p>
          <a:p>
            <a:r>
              <a:t>R: Não comparei o perfil dos que saem neste cenário; a tabela mostra só em que região ficam os que entram. Posso fazer essa comparação.</a:t>
            </a:r>
          </a:p>
          <a:p>
            <a:r>
              <a:t>De onde: FC04, tabela por região [A CONFERIR: perfil dos que saem]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S3: IVS-7 + sem canalização</a:t>
            </a:r>
          </a:p>
          <a:p>
            <a:r>
              <a:t>· 87.512 setores; 8 variáveis; saem do S0: 33</a:t>
            </a:r>
          </a:p>
        </p:txBody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FC05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75.955 setores?</a:t>
            </a:r>
          </a:p>
          <a:p>
            <a:r>
              <a:t>R: Entram os setores com as 8 variáveis: 75.955. Saem 11.590 do S0; a variável que mais tira é Sem banheiro (11.590 setores sem o dado).</a:t>
            </a:r>
          </a:p>
          <a:p>
            <a:r>
              <a:t>De onde: FC05, tabelas de faltantes e "Sai do S0"; cenarios.csv</a:t>
            </a:r>
          </a:p>
          <a:p/>
          <a:p>
            <a:r>
              <a:t>P: Os setores que saem são diferentes dos que ficam?</a:t>
            </a:r>
          </a:p>
          <a:p>
            <a:r>
              <a:t>R: Não comparei o perfil dos que saem neste cenário; a tabela mostra só em que região ficam os que entram. Posso fazer essa comparação.</a:t>
            </a:r>
          </a:p>
          <a:p>
            <a:r>
              <a:t>De onde: FC05, tabela por região [A CONFERIR: perfil dos que saem]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S4: IVS-7 + sem banheiro (V00495)</a:t>
            </a:r>
          </a:p>
          <a:p>
            <a:r>
              <a:t>· 75.955 setores; 8 variáveis; saem do S0: 11.590</a:t>
            </a:r>
          </a:p>
        </p:txBody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FC06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87.545 setores?</a:t>
            </a:r>
          </a:p>
          <a:p>
            <a:r>
              <a:t>R: Entram os setores com as 8 variáveis: 87.545. Nenhum setor do S0 sai.</a:t>
            </a:r>
          </a:p>
          <a:p>
            <a:r>
              <a:t>De onde: FC06, tabelas de faltantes e "Sai do S0"; cenarios.csv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S5: IVS-7 + não convencional</a:t>
            </a:r>
          </a:p>
          <a:p>
            <a:r>
              <a:t>· 87.545 setores; 8 variáveis; saem do S0: 0</a:t>
            </a:r>
          </a:p>
        </p:txBody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FC07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69.458 setores?</a:t>
            </a:r>
          </a:p>
          <a:p>
            <a:r>
              <a:t>R: Entram os setores com as 11 variáveis: 69.458. Saem 18.087 do S0; a variável que mais tira é Sem banheiro (11.590 setores sem o dado).</a:t>
            </a:r>
          </a:p>
          <a:p>
            <a:r>
              <a:t>De onde: FC07, tabelas de faltantes e "Sai do S0"; cenarios.csv</a:t>
            </a:r>
          </a:p>
          <a:p/>
          <a:p>
            <a:r>
              <a:t>P: Os setores que saem são diferentes dos que ficam?</a:t>
            </a:r>
          </a:p>
          <a:p>
            <a:r>
              <a:t>R: Não comparei o perfil dos que saem neste cenário; a tabela mostra só em que região ficam os que entram. Posso fazer essa comparação.</a:t>
            </a:r>
          </a:p>
          <a:p>
            <a:r>
              <a:t>De onde: FC07, tabela por região [A CONFERIR: perfil dos que saem]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S6: IVS-7 + as quatro</a:t>
            </a:r>
          </a:p>
          <a:p>
            <a:r>
              <a:t>· 69.458 setores; 11 variáveis; saem do S0: 18.087</a:t>
            </a:r>
          </a:p>
        </p:txBody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FC08</a:t>
            </a:r>
          </a:p>
          <a:p/>
          <a:p>
            <a:r>
              <a:t>O QUE É</a:t>
            </a:r>
          </a:p>
          <a:p>
            <a: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/>
          <a:p>
            <a:r>
              <a:t>PERGUNTAS</a:t>
            </a:r>
          </a:p>
          <a:p>
            <a:r>
              <a:t>P: Por que este cenário tem 69.458 setores?</a:t>
            </a:r>
          </a:p>
          <a:p>
            <a:r>
              <a:t>R: Entram os setores com as 10 variáveis: 69.458. Saem 18.087 do S0; a variável que mais tira é Sem banheiro (11.590 setores sem o dado).</a:t>
            </a:r>
          </a:p>
          <a:p>
            <a:r>
              <a:t>De onde: FC08, tabelas de faltantes e "Sai do S0"; cenarios.csv</a:t>
            </a:r>
          </a:p>
          <a:p/>
          <a:p>
            <a:r>
              <a:t>P: Os setores que saem são diferentes dos que ficam?</a:t>
            </a:r>
          </a:p>
          <a:p>
            <a:r>
              <a:t>R: Não comparei o perfil dos que saem neste cenário; a tabela mostra só em que região ficam os que entram. Posso fazer essa comparação.</a:t>
            </a:r>
          </a:p>
          <a:p>
            <a:r>
              <a:t>De onde: FC08, tabela por região [A CONFERIR: perfil dos que saem]</a:t>
            </a:r>
          </a:p>
          <a:p/>
          <a:p>
            <a:r>
              <a:t>P: Por que não imputar os faltantes?</a:t>
            </a:r>
          </a:p>
          <a:p>
            <a:r>
              <a:t>R: A fatorial precisa de todas as variáveis no setor. Imputar criaria valores que o IBGE não divulgou; preferi tirar o setor e mostrar quantos saem (exclusão por lista). É uma escolha que posso rever com você.</a:t>
            </a:r>
          </a:p>
          <a:p>
            <a:r>
              <a:t>De onde: DS01; FA01; ART034 p.537 (limitações)</a:t>
            </a:r>
          </a:p>
          <a:p/>
          <a:p>
            <a:r>
              <a:t>NA PONTA DA LÍNGUA</a:t>
            </a:r>
          </a:p>
          <a:p>
            <a:r>
              <a:t>· Cenário S7: S6 sem lixo</a:t>
            </a:r>
          </a:p>
          <a:p>
            <a:r>
              <a:t>· 69.458 setores; 10 variáveis; saem do S0: 18.087</a:t>
            </a:r>
          </a:p>
        </p:txBody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FC09</a:t>
            </a:r>
          </a:p>
          <a:p/>
          <a:p>
            <a:r>
              <a:t>O QUE É</a:t>
            </a:r>
          </a:p>
          <a:p>
            <a:r>
              <a:t>As variantes: mesmos setores do cenário de origem, mudando a renda (sem extremo ou com mediana) ou a escala (postos dentro do município).</a:t>
            </a:r>
          </a:p>
          <a:p/>
          <a:p>
            <a:r>
              <a:t>PERGUNTAS</a:t>
            </a:r>
          </a:p>
          <a:p>
            <a:r>
              <a:t>P: O que é "postos dentro do município"?</a:t>
            </a:r>
          </a:p>
          <a:p>
            <a:r>
              <a:t>R: Em vez do valor, cada setor recebe a sua posição (posto) entre os setores do mesmo município. Tira o efeito de escala entre cidades.</a:t>
            </a:r>
          </a:p>
          <a:p>
            <a:r>
              <a:t>De onde: FC09; FP11</a:t>
            </a:r>
          </a:p>
          <a:p/>
          <a:p>
            <a:r>
              <a:t>P: Por que a variante sem extremo tem um setor a menos?</a:t>
            </a:r>
          </a:p>
          <a:p>
            <a:r>
              <a:t>R: O setor extremo de BH fica vazio nela.</a:t>
            </a:r>
          </a:p>
          <a:p>
            <a:r>
              <a:t>De onde: FC09; DM02</a:t>
            </a:r>
          </a:p>
          <a:p/>
          <a:p>
            <a:r>
              <a:t>NA PONTA DA LÍNGUA</a:t>
            </a:r>
          </a:p>
          <a:p>
            <a:r>
              <a:t>· S0 sem extremo: 87.544 setores</a:t>
            </a:r>
          </a:p>
          <a:p>
            <a:r>
              <a:t>· S6 sem extremo: 69.457</a:t>
            </a:r>
          </a:p>
        </p:txBody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FP01</a:t>
            </a:r>
          </a:p>
          <a:p/>
          <a:p>
            <a:r>
              <a:t>O QUE É</a:t>
            </a:r>
          </a:p>
          <a:p>
            <a:r>
              <a:t>Demanda 1 na fatorial: o efeito das três rendas.</a:t>
            </a:r>
          </a:p>
          <a:p/>
          <a:p>
            <a:r>
              <a:t>PERGUNTAS</a:t>
            </a:r>
          </a:p>
          <a:p>
            <a:r>
              <a:t>P: A renda escolhida muda a fatorial?</a:t>
            </a:r>
          </a:p>
          <a:p>
            <a:r>
              <a:t>R: Não: KMO 0,783, 62,12% de variância e peso de F1 74,00% nas três. A troca afeta um setor só.</a:t>
            </a:r>
          </a:p>
          <a:p>
            <a:r>
              <a:t>De onde: FP01, tabela</a:t>
            </a:r>
          </a:p>
          <a:p/>
          <a:p>
            <a:r>
              <a:t>P: Então para que três rendas?</a:t>
            </a:r>
          </a:p>
          <a:p>
            <a:r>
              <a:t>R: Para mostrar que o setor extremo não distorce o resultado.</a:t>
            </a:r>
          </a:p>
          <a:p>
            <a:r>
              <a:t>De onde: DM02</a:t>
            </a:r>
          </a:p>
          <a:p/>
          <a:p>
            <a:r>
              <a:t>NA PONTA DA LÍNGUA</a:t>
            </a:r>
          </a:p>
          <a:p>
            <a:r>
              <a:t>· Três rendas: peso F1 74,00% em todas</a:t>
            </a:r>
          </a:p>
        </p:txBody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FP02</a:t>
            </a:r>
          </a:p>
          <a:p/>
          <a:p>
            <a:r>
              <a:t>O QUE É</a:t>
            </a:r>
          </a:p>
          <a:p>
            <a:r>
              <a:t>Demanda 3: as cargas do S0 (IVS-7) sem rotação, Varimax e promax lado a lado.</a:t>
            </a:r>
          </a:p>
          <a:p/>
          <a:p>
            <a:r>
              <a:t>PERGUNTAS</a:t>
            </a:r>
          </a:p>
          <a:p>
            <a:r>
              <a:t>P: O que muda entre as rotações?</a:t>
            </a:r>
          </a:p>
          <a:p>
            <a:r>
              <a:t>R: Pouco: o lixo carrega no F2 nas três (0,880 a 0,919); renda, analfabetismo e cor/raça ficam no F1.</a:t>
            </a:r>
          </a:p>
          <a:p>
            <a:r>
              <a:t>De onde: FP02, tabela</a:t>
            </a:r>
          </a:p>
          <a:p/>
          <a:p>
            <a:r>
              <a:t>P: Por que o lixo sozinho no F2?</a:t>
            </a:r>
          </a:p>
          <a:p>
            <a:r>
              <a:t>R: É o fator próprio do lixo: ele quase não se correlaciona com os outros.</a:t>
            </a:r>
          </a:p>
          <a:p>
            <a:r>
              <a:t>De onde: FP08; DC01</a:t>
            </a:r>
          </a:p>
          <a:p/>
          <a:p>
            <a:r>
              <a:t>NA PONTA DA LÍNGUA</a:t>
            </a:r>
          </a:p>
          <a:p>
            <a:r>
              <a:t>· Lixo em F2: 0,880 / 0,919 / 0,915</a:t>
            </a:r>
          </a:p>
        </p:txBody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FP03</a:t>
            </a:r>
          </a:p>
          <a:p/>
          <a:p>
            <a:r>
              <a:t>O QUE É</a:t>
            </a:r>
          </a:p>
          <a:p>
            <a:r>
              <a:t>Demanda 5: o perfil (medianas) dos setores com água não chega = 0 e &gt; 0.</a:t>
            </a:r>
          </a:p>
          <a:p/>
          <a:p>
            <a:r>
              <a:t>PERGUNTAS</a:t>
            </a:r>
          </a:p>
          <a:p>
            <a:r>
              <a:t>P: Como são os setores com "não chega" &gt; 0?</a:t>
            </a:r>
          </a:p>
          <a:p>
            <a:r>
              <a:t>R: Têm renda mediana menor (R$ 1.526,40 contra R$ 2.830,52), mais analfabetismo e mais cor/raça PPI.</a:t>
            </a:r>
          </a:p>
          <a:p>
            <a:r>
              <a:t>De onde: FP03, tabela</a:t>
            </a:r>
          </a:p>
          <a:p/>
          <a:p>
            <a:r>
              <a:t>P: Quantos setores têm "não chega" &gt; 0?</a:t>
            </a:r>
          </a:p>
          <a:p>
            <a:r>
              <a:t>R: 5.190, contra 89.212 com zero.</a:t>
            </a:r>
          </a:p>
          <a:p>
            <a:r>
              <a:t>De onde: FP03</a:t>
            </a:r>
          </a:p>
          <a:p/>
          <a:p>
            <a:r>
              <a:t>NA PONTA DA LÍNGUA</a:t>
            </a:r>
          </a:p>
          <a:p>
            <a:r>
              <a:t>· &gt; 0: 5.190 setores; = 0: 89.212</a:t>
            </a:r>
          </a:p>
          <a:p>
            <a:r>
              <a:t>· Renda mediana R$ 1.526,40 × R$ 2.830,52</a:t>
            </a:r>
          </a:p>
        </p:txBody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FP04</a:t>
            </a:r>
          </a:p>
          <a:p/>
          <a:p>
            <a:r>
              <a:t>O QUE É</a:t>
            </a:r>
          </a:p>
          <a:p>
            <a:r>
              <a:t>Demanda 6 na fatorial: o S4 usa a V00495; no NB05 as três versões do banheiro entram na grade.</a:t>
            </a:r>
          </a:p>
          <a:p/>
          <a:p>
            <a:r>
              <a:t>PERGUNTAS</a:t>
            </a:r>
          </a:p>
          <a:p>
            <a:r>
              <a:t>P: Qual versão do banheiro passa mais?</a:t>
            </a:r>
          </a:p>
          <a:p>
            <a:r>
              <a:t>R: Com a V00495, 96 de 108 especificações são elegíveis; fora e graduado, 48 de 108 cada.</a:t>
            </a:r>
          </a:p>
          <a:p>
            <a:r>
              <a:t>De onde: FP04</a:t>
            </a:r>
          </a:p>
          <a:p/>
          <a:p>
            <a:r>
              <a:t>P: Então por que a referência usa o graduado?</a:t>
            </a:r>
          </a:p>
          <a:p>
            <a:r>
              <a:t>R: O graduado gradua a gravidade e ficou na frente na ordem dos critérios do NB05. Com a V00495 há empate no topo em outra leitura; está em aberto.</a:t>
            </a:r>
          </a:p>
          <a:p>
            <a:r>
              <a:t>De onde: estado_nb05 (sensibilidade)</a:t>
            </a:r>
          </a:p>
          <a:p/>
          <a:p>
            <a:r>
              <a:t>NA PONTA DA LÍNGUA</a:t>
            </a:r>
          </a:p>
          <a:p>
            <a:r>
              <a:t>· V00495: 96 de 108 elegíveis</a:t>
            </a:r>
          </a:p>
          <a:p>
            <a:r>
              <a:t>· S4: 75.955 setores</a:t>
            </a:r>
          </a:p>
        </p:txBody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FP05</a:t>
            </a:r>
          </a:p>
          <a:p/>
          <a:p>
            <a:r>
              <a:t>O QUE É</a:t>
            </a:r>
          </a:p>
          <a:p>
            <a:r>
              <a:t>Demanda 7: cada cenário acrescenta uma variável ao IVS-7 e perde os setores sem ela.</a:t>
            </a:r>
          </a:p>
          <a:p/>
          <a:p>
            <a:r>
              <a:t>PERGUNTAS</a:t>
            </a:r>
          </a:p>
          <a:p>
            <a:r>
              <a:t>P: Alguma variável nova melhora a fatorial?</a:t>
            </a:r>
          </a:p>
          <a:p>
            <a:r>
              <a:t>R: O sem canalização (S3) tem o maior KMO (0,805) e quase não perde setores. Mas com as novas, Kaiser pede 3 fatores.</a:t>
            </a:r>
          </a:p>
          <a:p>
            <a:r>
              <a:t>De onde: FP05, tabela</a:t>
            </a:r>
          </a:p>
          <a:p/>
          <a:p>
            <a:r>
              <a:t>P: Por que a variância de 2 fatores cai?</a:t>
            </a:r>
          </a:p>
          <a:p>
            <a:r>
              <a:t>R: Com mais variáveis, dois fatores explicam uma parte menor do total: de 62,12% (S0) para 56,37% (S4).</a:t>
            </a:r>
          </a:p>
          <a:p>
            <a:r>
              <a:t>De onde: FP05</a:t>
            </a:r>
          </a:p>
          <a:p/>
          <a:p>
            <a:r>
              <a:t>NA PONTA DA LÍNGUA</a:t>
            </a:r>
          </a:p>
          <a:p>
            <a:r>
              <a:t>· S3: KMO 0,805; S4: 56,37%</a:t>
            </a:r>
          </a:p>
        </p:txBody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FP06</a:t>
            </a:r>
          </a:p>
          <a:p/>
          <a:p>
            <a:r>
              <a:t>O QUE É</a:t>
            </a:r>
          </a:p>
          <a:p>
            <a:r>
              <a:t>Demanda 8: tudo junto (S6), sem lixo (S7) e as variantes.</a:t>
            </a:r>
          </a:p>
          <a:p/>
          <a:p>
            <a:r>
              <a:t>PERGUNTAS</a:t>
            </a:r>
          </a:p>
          <a:p>
            <a:r>
              <a:t>P: Por que ficar com 2 fatores se Kaiser e Horn pedem 4?</a:t>
            </a:r>
          </a:p>
          <a:p>
            <a:r>
              <a:t>R: Para manter o desenho do IVS-BH (duas dimensões) e comparar os cenários. Com 4, o índice teria outra estrutura; posso rodar se você quiser.</a:t>
            </a:r>
          </a:p>
          <a:p>
            <a:r>
              <a:t>De onde: FP06; FA06</a:t>
            </a:r>
          </a:p>
          <a:p/>
          <a:p>
            <a:r>
              <a:t>P: E com postos dentro do município?</a:t>
            </a:r>
          </a:p>
          <a:p>
            <a:r>
              <a:t>R: O KMO cai para 0,769 e Kaiser e Horn pedem 3.</a:t>
            </a:r>
          </a:p>
          <a:p>
            <a:r>
              <a:t>De onde: FP06</a:t>
            </a:r>
          </a:p>
          <a:p/>
          <a:p>
            <a:r>
              <a:t>NA PONTA DA LÍNGUA</a:t>
            </a:r>
          </a:p>
          <a:p>
            <a:r>
              <a:t>· S6: Kaiser 4, Horn 4, 48,94%</a:t>
            </a:r>
          </a:p>
          <a:p>
            <a:r>
              <a:t>· S7: Kaiser 3, Horn 2</a:t>
            </a:r>
          </a:p>
        </p:txBody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FP07</a:t>
            </a:r>
          </a:p>
          <a:p/>
          <a:p>
            <a:r>
              <a:t>O QUE É</a:t>
            </a:r>
          </a:p>
          <a:p>
            <a:r>
              <a:t>Demanda 9 na fatorial: a moradia não convencional no S5 e no S6.</a:t>
            </a:r>
          </a:p>
          <a:p/>
          <a:p>
            <a:r>
              <a:t>PERGUNTAS</a:t>
            </a:r>
          </a:p>
          <a:p>
            <a:r>
              <a:t>P: A variável muda a fatorial?</a:t>
            </a:r>
          </a:p>
          <a:p>
            <a:r>
              <a:t>R: O KMO do S5 é igual ao do S0 (0,783), mas a variância de 2 fatores cai de 62,12% para 54,45%: a variável entra sem pertencer a nenhum fator.</a:t>
            </a:r>
          </a:p>
          <a:p>
            <a:r>
              <a:t>De onde: FP07; DM10</a:t>
            </a:r>
          </a:p>
          <a:p/>
          <a:p>
            <a:r>
              <a:t>P: Por que o S5 não perde setores?</a:t>
            </a:r>
          </a:p>
          <a:p>
            <a:r>
              <a:t>R: A moradia não convencional não tem faltantes: o S5 fica com os mesmos 87.545 setores do S0.</a:t>
            </a:r>
          </a:p>
          <a:p>
            <a:r>
              <a:t>De onde: FP07; DS02</a:t>
            </a:r>
          </a:p>
          <a:p/>
          <a:p>
            <a:r>
              <a:t>NA PONTA DA LÍNGUA</a:t>
            </a:r>
          </a:p>
          <a:p>
            <a:r>
              <a:t>· S5: KMO 0,783; 54,45%</a:t>
            </a:r>
          </a:p>
        </p:txBody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FP08</a:t>
            </a:r>
          </a:p>
          <a:p/>
          <a:p>
            <a:r>
              <a:t>O QUE É</a:t>
            </a:r>
          </a:p>
          <a:p>
            <a:r>
              <a:t>Demanda 10: o lixo. Com ele, Kaiser e Horn dão 2 fatores e o lixo forma um fator próprio; sem ele, 1.</a:t>
            </a:r>
          </a:p>
          <a:p/>
          <a:p>
            <a:r>
              <a:t>PERGUNTAS</a:t>
            </a:r>
          </a:p>
          <a:p>
            <a:r>
              <a:t>P: Então o IVS-7 tem um fator só de lixo?</a:t>
            </a:r>
          </a:p>
          <a:p>
            <a:r>
              <a:t>R: Na Varimax do S0, sim: o segundo fator é praticamente o lixo. Sem lixo (S1) sobra um fator.</a:t>
            </a:r>
          </a:p>
          <a:p>
            <a:r>
              <a:t>De onde: FP08; FP02</a:t>
            </a:r>
          </a:p>
          <a:p/>
          <a:p>
            <a:r>
              <a:t>P: No S6 o lixo também se separa?</a:t>
            </a:r>
          </a:p>
          <a:p>
            <a:r>
              <a:t>R: Não: com as quatro variáveis novas, ele não forma fator próprio.</a:t>
            </a:r>
          </a:p>
          <a:p>
            <a:r>
              <a:t>De onde: FP08</a:t>
            </a:r>
          </a:p>
          <a:p/>
          <a:p>
            <a:r>
              <a:t>NA PONTA DA LÍNGUA</a:t>
            </a:r>
          </a:p>
          <a:p>
            <a:r>
              <a:t>· S0: 2 fatores; S1: 1</a:t>
            </a:r>
          </a:p>
          <a:p>
            <a:r>
              <a:t>· S6: lixo não forma fator próprio</a:t>
            </a:r>
          </a:p>
        </p:txBody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FP09</a:t>
            </a:r>
          </a:p>
          <a:p/>
          <a:p>
            <a:r>
              <a:t>O QUE É</a:t>
            </a:r>
          </a:p>
          <a:p>
            <a:r>
              <a:t>Demanda 11: os pesos nas duas rotações, em S0, S1 e S6; na promax pelas duas matrizes.</a:t>
            </a:r>
          </a:p>
          <a:p/>
          <a:p>
            <a:r>
              <a:t>PERGUNTAS</a:t>
            </a:r>
          </a:p>
          <a:p>
            <a:r>
              <a:t>P: Onde a rotação muda mais o peso?</a:t>
            </a:r>
          </a:p>
          <a:p>
            <a:r>
              <a:t>R: No S1: o peso de F1 vai de 77,17% (sem rotação) a 59,64% (promax, estrutura).</a:t>
            </a:r>
          </a:p>
          <a:p>
            <a:r>
              <a:t>De onde: FP09</a:t>
            </a:r>
          </a:p>
          <a:p/>
          <a:p>
            <a:r>
              <a:t>P: Por que o Φ muda tanto entre cenários?</a:t>
            </a:r>
          </a:p>
          <a:p>
            <a:r>
              <a:t>R: Depende de quais variáveis entram: 0,151 no S0, 0,522 no S1 e 0,435 no S6.</a:t>
            </a:r>
          </a:p>
          <a:p>
            <a:r>
              <a:t>De onde: FP09</a:t>
            </a:r>
          </a:p>
          <a:p/>
          <a:p>
            <a:r>
              <a:t>NA PONTA DA LÍNGUA</a:t>
            </a:r>
          </a:p>
          <a:p>
            <a:r>
              <a:t>· Φ: 0,151 (S0), 0,522 (S1), 0,435 (S6)</a:t>
            </a:r>
          </a:p>
        </p:txBody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FP11</a:t>
            </a:r>
          </a:p>
          <a:p/>
          <a:p>
            <a:r>
              <a:t>O QUE É</a:t>
            </a:r>
          </a:p>
          <a:p>
            <a:r>
              <a:t>A AUC contra FCU em cada cenário: o índice com pesos Varimax, a renda invertida sozinha e a média simples dos postos das variáveis.</a:t>
            </a:r>
          </a:p>
          <a:p/>
          <a:p>
            <a:r>
              <a:t>PERGUNTAS</a:t>
            </a:r>
          </a:p>
          <a:p>
            <a:r>
              <a:t>P: O índice separa FCU melhor que a renda?</a:t>
            </a:r>
          </a:p>
          <a:p>
            <a:r>
              <a:t>R: Não: a renda invertida sozinha tem AUC maior em quase todos os cenários (0,8819 contra 0,8377 no S0). O índice só fica à frente em duas variantes com postos dentro do município (S0_postos_mun e S6_postos_mun).</a:t>
            </a:r>
          </a:p>
          <a:p>
            <a:r>
              <a:t>De onde: FP11, tabela</a:t>
            </a:r>
          </a:p>
          <a:p/>
          <a:p>
            <a:r>
              <a:t>P: O que é a média simples de postos?</a:t>
            </a:r>
          </a:p>
          <a:p>
            <a:r>
              <a:t>R: Um índice sem fatorial: cada variável vira posto e tira-se a média. Serve de comparação.</a:t>
            </a:r>
          </a:p>
          <a:p>
            <a:r>
              <a:t>De onde: FP11</a:t>
            </a:r>
          </a:p>
          <a:p/>
          <a:p>
            <a:r>
              <a:t>NA PONTA DA LÍNGUA</a:t>
            </a:r>
          </a:p>
          <a:p>
            <a:r>
              <a:t>· S0: índice 0,8377; renda 0,8819; postos 0,8684</a:t>
            </a:r>
          </a:p>
        </p:txBody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FP13</a:t>
            </a:r>
          </a:p>
          <a:p/>
          <a:p>
            <a:r>
              <a:t>O QUE É</a:t>
            </a:r>
          </a:p>
          <a:p>
            <a:r>
              <a:t>O que o índice acrescenta à renda. A renda sozinha separa FCU melhor; dentro de cada faixa de renda do município, o índice separa melhor.</a:t>
            </a:r>
          </a:p>
          <a:p/>
          <a:p>
            <a:r>
              <a:t>PERGUNTAS</a:t>
            </a:r>
          </a:p>
          <a:p>
            <a:r>
              <a:t>P: Se a renda sozinha é melhor, para que o índice?</a:t>
            </a:r>
          </a:p>
          <a:p>
            <a:r>
              <a:t>R: No geral a renda vence (0,8900 × 0,8309). Mas entre setores com renda parecida, o índice separa FCU melhor (0,7062 × 0,5900): ele acrescenta o que a renda não vê.</a:t>
            </a:r>
          </a:p>
          <a:p>
            <a:r>
              <a:t>De onde: FP13, tabela; acrescimo_renda.csv</a:t>
            </a:r>
          </a:p>
          <a:p/>
          <a:p>
            <a:r>
              <a:t>P: Somar o índice à renda ajuda?</a:t>
            </a:r>
          </a:p>
          <a:p>
            <a:r>
              <a:t>R: Melhora o modelo (queda da deviance de 135,45; z de 17,48), mas a AUC quase não muda.</a:t>
            </a:r>
          </a:p>
          <a:p>
            <a:r>
              <a:t>De onde: FP13; estado_nb05</a:t>
            </a:r>
          </a:p>
          <a:p/>
          <a:p>
            <a:r>
              <a:t>P: Em quantas especificações a renda vence?</a:t>
            </a:r>
          </a:p>
          <a:p>
            <a:r>
              <a:t>R: Em todas: em nenhuma das 192 o índice supera a renda na AUC global.</a:t>
            </a:r>
          </a:p>
          <a:p>
            <a:r>
              <a:t>De onde: FP13</a:t>
            </a:r>
          </a:p>
          <a:p/>
          <a:p>
            <a:r>
              <a:t>NA PONTA DA LÍNGUA</a:t>
            </a:r>
          </a:p>
          <a:p>
            <a:r>
              <a:t>· AUC global: índice 0,8309; renda 0,8900</a:t>
            </a:r>
          </a:p>
          <a:p>
            <a:r>
              <a:t>· Nos estratos de renda: índice 0,7062; renda 0,5900</a:t>
            </a:r>
          </a:p>
        </p:txBody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VP00</a:t>
            </a:r>
          </a:p>
          <a:p/>
          <a:p>
            <a:r>
              <a:t>O QUE É</a:t>
            </a:r>
          </a:p>
          <a:p>
            <a:r>
              <a:t>Abre as 108 versões: cinco escolhas (renda, lixo, água, banheiro, moradia) combinadas, todas com o mesmo método (promax, 60/40, normalização municipal).</a:t>
            </a:r>
          </a:p>
          <a:p/>
          <a:p>
            <a:r>
              <a:t>PERGUNTAS</a:t>
            </a:r>
          </a:p>
          <a:p>
            <a:r>
              <a:t>P: Por que 108?</a:t>
            </a:r>
          </a:p>
          <a:p>
            <a:r>
              <a:t>R: 3 rendas × 2 lixo × 3 água × 3 banheiro × 2 moradia = 108.</a:t>
            </a:r>
          </a:p>
          <a:p>
            <a:r>
              <a:t>De onde: VP03</a:t>
            </a:r>
          </a:p>
          <a:p/>
          <a:p>
            <a:r>
              <a:t>P: Para que tantas versões?</a:t>
            </a:r>
          </a:p>
          <a:p>
            <a:r>
              <a:t>R: Para ver o efeito de cada escolha, uma por vez, mantendo o resto igual. É uma análise de sensibilidade.</a:t>
            </a:r>
          </a:p>
          <a:p>
            <a:r>
              <a:t>De onde: ART039 p.775</a:t>
            </a:r>
          </a:p>
          <a:p/>
          <a:p>
            <a:r>
              <a:t>NA PONTA DA LÍNGUA</a:t>
            </a:r>
          </a:p>
          <a:p>
            <a:r>
              <a:t>· 108 versões; 24 passam</a:t>
            </a:r>
          </a:p>
        </p:txBody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VP02</a:t>
            </a:r>
          </a:p>
          <a:p/>
          <a:p>
            <a:r>
              <a:t>O QUE É</a:t>
            </a:r>
          </a:p>
          <a:p>
            <a:r>
              <a:t>Como ler as versões: método fixo, cada versão na sua amostra própria, comparações na amostra comum.</a:t>
            </a:r>
          </a:p>
          <a:p/>
          <a:p>
            <a:r>
              <a:t>PERGUNTAS</a:t>
            </a:r>
          </a:p>
          <a:p>
            <a:r>
              <a:t>P: O que é a amostra comum?</a:t>
            </a:r>
          </a:p>
          <a:p>
            <a:r>
              <a:t>R: Os 67.981 setores que têm as variáveis de todas as 108. Comparar na mesma amostra evita que a diferença venha dos setores e não da versão.</a:t>
            </a:r>
          </a:p>
          <a:p>
            <a:r>
              <a:t>De onde: VP02</a:t>
            </a:r>
          </a:p>
          <a:p/>
          <a:p>
            <a:r>
              <a:t>P: Os critérios são os mesmos do NB05?</a:t>
            </a:r>
          </a:p>
          <a:p>
            <a:r>
              <a:t>R: Sim: KMO ≥ 0,70; MSA ≥ 0,50; comunalidade ≥ 0,30; carga ≥ 0,40.</a:t>
            </a:r>
          </a:p>
          <a:p>
            <a:r>
              <a:t>De onde: VP02; FA16</a:t>
            </a:r>
          </a:p>
          <a:p/>
          <a:p>
            <a:r>
              <a:t>NA PONTA DA LÍNGUA</a:t>
            </a:r>
          </a:p>
          <a:p>
            <a:r>
              <a:t>· Amostra comum: 67.981 setores</a:t>
            </a:r>
          </a:p>
        </p:txBody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VP03</a:t>
            </a:r>
          </a:p>
          <a:p/>
          <a:p>
            <a:r>
              <a:t>O QUE É</a:t>
            </a:r>
          </a:p>
          <a:p>
            <a:r>
              <a:t>Os cinco eixos e as opções de cada um. Seis variáveis ficam em todas as versões.</a:t>
            </a:r>
          </a:p>
          <a:p/>
          <a:p>
            <a:r>
              <a:t>PERGUNTAS</a:t>
            </a:r>
          </a:p>
          <a:p>
            <a:r>
              <a:t>P: Por que "não chega" e "sem canalização" não entram juntas?</a:t>
            </a:r>
          </a:p>
          <a:p>
            <a:r>
              <a:t>R: Uma contém a outra: entrariam duas vezes a mesma informação.</a:t>
            </a:r>
          </a:p>
          <a:p>
            <a:r>
              <a:t>De onde: VP03</a:t>
            </a:r>
          </a:p>
          <a:p/>
          <a:p>
            <a:r>
              <a:t>P: Por que essas variáveis fixas?</a:t>
            </a:r>
          </a:p>
          <a:p>
            <a:r>
              <a:t>R: São os componentes do IVS-7 que não estão em discussão: água, esgoto, razão de moradores, analfabetismo, renda e cor/raça.</a:t>
            </a:r>
          </a:p>
          <a:p>
            <a:r>
              <a:t>De onde: VP03</a:t>
            </a:r>
          </a:p>
          <a:p/>
          <a:p>
            <a:r>
              <a:t>NA PONTA DA LÍNGUA</a:t>
            </a:r>
          </a:p>
          <a:p>
            <a:r>
              <a:t>· 3 × 2 × 3 × 3 × 2 = 108</a:t>
            </a:r>
          </a:p>
          <a:p>
            <a:r>
              <a:t>· De 6 a 10 variáveis</a:t>
            </a:r>
          </a:p>
        </p:txBody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VP04</a:t>
            </a:r>
          </a:p>
          <a:p/>
          <a:p>
            <a:r>
              <a:t>O QUE É</a:t>
            </a:r>
          </a:p>
          <a:p>
            <a:r>
              <a:t>Quantos setores cada versão tem na amostra própria, por opção de cada eixo.</a:t>
            </a:r>
          </a:p>
          <a:p/>
          <a:p>
            <a:r>
              <a:t>PERGUNTAS</a:t>
            </a:r>
          </a:p>
          <a:p>
            <a:r>
              <a:t>P: Qual opção tira mais setores?</a:t>
            </a:r>
          </a:p>
          <a:p>
            <a:r>
              <a:t>R: Acrescentar "não chega": a mediana cai para 69.480 setores.</a:t>
            </a:r>
          </a:p>
          <a:p>
            <a:r>
              <a:t>De onde: VP04</a:t>
            </a:r>
          </a:p>
          <a:p/>
          <a:p>
            <a:r>
              <a:t>P: A renda muda a amostra?</a:t>
            </a:r>
          </a:p>
          <a:p>
            <a:r>
              <a:t>R: Quase nada: só o setor extremo de BH (68.000 × 68.001).</a:t>
            </a:r>
          </a:p>
          <a:p>
            <a:r>
              <a:t>De onde: VP04</a:t>
            </a:r>
          </a:p>
          <a:p/>
          <a:p>
            <a:r>
              <a:t>NA PONTA DA LÍNGUA</a:t>
            </a:r>
          </a:p>
          <a:p>
            <a:r>
              <a:t>· Amostras de 68.000 a 87.545 setores</a:t>
            </a:r>
          </a:p>
        </p:txBody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VP05</a:t>
            </a:r>
          </a:p>
          <a:p/>
          <a:p>
            <a:r>
              <a:t>O QUE É</a:t>
            </a:r>
          </a:p>
          <a:p>
            <a:r>
              <a:t>As 108 numa grade: cada célula é uma versão, em verde as que passam, com o primeiro critério que falha nas outras.</a:t>
            </a:r>
          </a:p>
          <a:p/>
          <a:p>
            <a:r>
              <a:t>PERGUNTAS</a:t>
            </a:r>
          </a:p>
          <a:p>
            <a:r>
              <a:t>P: Por que só 24 passam?</a:t>
            </a:r>
          </a:p>
          <a:p>
            <a:r>
              <a:t>R: Quase todas as que falham, falham na comunalidade (alguma variável abaixo de 0,30); algumas também na carga. Com lixo só 3 passam; sem lixo, 21.</a:t>
            </a:r>
          </a:p>
          <a:p>
            <a:r>
              <a:t>De onde: VP05; versoes.csv</a:t>
            </a:r>
          </a:p>
          <a:p/>
          <a:p>
            <a:r>
              <a:t>P: Que variável costuma ficar com comunalidade baixa?</a:t>
            </a:r>
          </a:p>
          <a:p>
            <a:r>
              <a:t>R: Lixo e moradia não convencional quase não se correlacionam com o resto (DC01, DM10).</a:t>
            </a:r>
          </a:p>
          <a:p>
            <a:r>
              <a:t>De onde: DC01; DM10 [A CONFERIR: variável que falha em cada versão]</a:t>
            </a:r>
          </a:p>
          <a:p/>
          <a:p>
            <a:r>
              <a:t>NA PONTA DA LÍNGUA</a:t>
            </a:r>
          </a:p>
          <a:p>
            <a:r>
              <a:t>· 24 de 108 passam; com lixo 3, sem lixo 21</a:t>
            </a:r>
          </a:p>
        </p:txBody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VP06</a:t>
            </a:r>
          </a:p>
          <a:p/>
          <a:p>
            <a:r>
              <a:t>O QUE É</a:t>
            </a:r>
          </a:p>
          <a:p>
            <a:r>
              <a:t>O KMO de cada versão, na mesma grade.</a:t>
            </a:r>
          </a:p>
          <a:p/>
          <a:p>
            <a:r>
              <a:t>PERGUNTAS</a:t>
            </a:r>
          </a:p>
          <a:p>
            <a:r>
              <a:t>P: Alguma versão falha no KMO?</a:t>
            </a:r>
          </a:p>
          <a:p>
            <a:r>
              <a:t>R: Não: o menor é 0,7653 (V048), acima de 0,70. O KMO não separa as versões; o que separa é a comunalidade.</a:t>
            </a:r>
          </a:p>
          <a:p>
            <a:r>
              <a:t>De onde: VP06; VP05</a:t>
            </a:r>
          </a:p>
          <a:p/>
          <a:p>
            <a:r>
              <a:t>P: Qual versão tem o maior KMO?</a:t>
            </a:r>
          </a:p>
          <a:p>
            <a:r>
              <a:t>R: A V033 (0,8143).</a:t>
            </a:r>
          </a:p>
          <a:p>
            <a:r>
              <a:t>De onde: VP06</a:t>
            </a:r>
          </a:p>
          <a:p/>
          <a:p>
            <a:r>
              <a:t>NA PONTA DA LÍNGUA</a:t>
            </a:r>
          </a:p>
          <a:p>
            <a:r>
              <a:t>· KMO de 0,765 a 0,814</a:t>
            </a:r>
          </a:p>
        </p:txBody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VP07</a:t>
            </a:r>
          </a:p>
          <a:p/>
          <a:p>
            <a:r>
              <a:t>O QUE É</a:t>
            </a:r>
          </a:p>
          <a:p>
            <a:r>
              <a:t>A AUC no município de cada versão, na amostra comum.</a:t>
            </a:r>
          </a:p>
          <a:p/>
          <a:p>
            <a:r>
              <a:t>PERGUNTAS</a:t>
            </a:r>
          </a:p>
          <a:p>
            <a:r>
              <a:t>P: A versão de maior AUC passa nos critérios?</a:t>
            </a:r>
          </a:p>
          <a:p>
            <a:r>
              <a:t>R: Sim: a V024 (0,8642) está na lista das que passam.</a:t>
            </a:r>
          </a:p>
          <a:p>
            <a:r>
              <a:t>De onde: VP07; VP13</a:t>
            </a:r>
          </a:p>
          <a:p/>
          <a:p>
            <a:r>
              <a:t>P: A AUC muda muito entre versões?</a:t>
            </a:r>
          </a:p>
          <a:p>
            <a:r>
              <a:t>R: Pouco: de 0,812 a 0,864.</a:t>
            </a:r>
          </a:p>
          <a:p>
            <a:r>
              <a:t>De onde: VP07</a:t>
            </a:r>
          </a:p>
          <a:p/>
          <a:p>
            <a:r>
              <a:t>NA PONTA DA LÍNGUA</a:t>
            </a:r>
          </a:p>
          <a:p>
            <a:r>
              <a:t>· AUC no município de 0,812 a 0,864</a:t>
            </a:r>
          </a:p>
        </p:txBody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VP08</a:t>
            </a:r>
          </a:p>
          <a:p/>
          <a:p>
            <a:r>
              <a:t>O QUE É</a:t>
            </a:r>
          </a:p>
          <a:p>
            <a: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/>
          <a:p>
            <a:r>
              <a:t>PERGUNTAS</a:t>
            </a:r>
          </a:p>
          <a:p>
            <a:r>
              <a:t>P: Mudar renda muda o índice?</a:t>
            </a:r>
          </a:p>
          <a:p>
            <a:r>
              <a:t>R: renda original → renda sem extremo: Spearman 0,999, 0,2% mudam de faixa; renda original → renda com mediana: Spearman 0,999, 0,2% mudam de faixa.</a:t>
            </a:r>
          </a:p>
          <a:p>
            <a:r>
              <a:t>De onde: VP08; pares_por_eixo.csv</a:t>
            </a:r>
          </a:p>
          <a:p/>
          <a:p>
            <a:r>
              <a:t>P: E quantas versões passam nos critérios?</a:t>
            </a:r>
          </a:p>
          <a:p>
            <a:r>
              <a:t>R: renda original → renda sem extremo: 8 → 8; renda original → renda com mediana: 8 → 8; renda sem extremo → renda com mediana: 8 → 8.</a:t>
            </a:r>
          </a:p>
          <a:p>
            <a:r>
              <a:t>De onde: VP08, coluna "Elegíveis antes → depois"</a:t>
            </a:r>
          </a:p>
          <a:p/>
          <a:p>
            <a:r>
              <a:t>P: O que é "mudar de faixa"?</a:t>
            </a:r>
          </a:p>
          <a:p>
            <a:r>
              <a:t>R: É o setor passar de uma faixa (baixo, médio, elevado, muito elevado) para outra entre as duas versões, pela regra do IVS-BH. Mostra o efeito prático da troca.</a:t>
            </a:r>
          </a:p>
          <a:p>
            <a:r>
              <a:t>De onde: FA13; ART003 p.10 (regra das faixas)</a:t>
            </a:r>
          </a:p>
          <a:p/>
          <a:p>
            <a:r>
              <a:t>NA PONTA DA LÍNGUA</a:t>
            </a:r>
          </a:p>
          <a:p>
            <a:r>
              <a:t>· renda original → renda sem extremo: 0,2% mudam de faixa</a:t>
            </a:r>
          </a:p>
          <a:p>
            <a:r>
              <a:t>· renda original → renda com mediana: 0,2% mudam de faixa</a:t>
            </a:r>
          </a:p>
          <a:p>
            <a:r>
              <a:t>· renda sem extremo → renda com mediana: 0,0% mudam de faixa</a:t>
            </a:r>
          </a:p>
        </p:txBody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VP09</a:t>
            </a:r>
          </a:p>
          <a:p/>
          <a:p>
            <a:r>
              <a:t>O QUE É</a:t>
            </a:r>
          </a:p>
          <a:p>
            <a: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/>
          <a:p>
            <a:r>
              <a:t>PERGUNTAS</a:t>
            </a:r>
          </a:p>
          <a:p>
            <a:r>
              <a:t>P: Mudar lixo muda o índice?</a:t>
            </a:r>
          </a:p>
          <a:p>
            <a:r>
              <a:t>R: com lixo → sem lixo: Spearman 0,990, 8,2% mudam de faixa.</a:t>
            </a:r>
          </a:p>
          <a:p>
            <a:r>
              <a:t>De onde: VP09; pares_por_eixo.csv</a:t>
            </a:r>
          </a:p>
          <a:p/>
          <a:p>
            <a:r>
              <a:t>P: E quantas versões passam nos critérios?</a:t>
            </a:r>
          </a:p>
          <a:p>
            <a:r>
              <a:t>R: com lixo → sem lixo: 3 → 21.</a:t>
            </a:r>
          </a:p>
          <a:p>
            <a:r>
              <a:t>De onde: VP09, coluna "Elegíveis antes → depois"</a:t>
            </a:r>
          </a:p>
          <a:p/>
          <a:p>
            <a:r>
              <a:t>P: O que é "mudar de faixa"?</a:t>
            </a:r>
          </a:p>
          <a:p>
            <a:r>
              <a:t>R: É o setor passar de uma faixa (baixo, médio, elevado, muito elevado) para outra entre as duas versões, pela regra do IVS-BH. Mostra o efeito prático da troca.</a:t>
            </a:r>
          </a:p>
          <a:p>
            <a:r>
              <a:t>De onde: FA13; ART003 p.10 (regra das faixas)</a:t>
            </a:r>
          </a:p>
          <a:p/>
          <a:p>
            <a:r>
              <a:t>NA PONTA DA LÍNGUA</a:t>
            </a:r>
          </a:p>
          <a:p>
            <a:r>
              <a:t>· com lixo → sem lixo: 8,2% mudam de faixa</a:t>
            </a:r>
          </a:p>
        </p:txBody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VP10</a:t>
            </a:r>
          </a:p>
          <a:p/>
          <a:p>
            <a:r>
              <a:t>O QUE É</a:t>
            </a:r>
          </a:p>
          <a:p>
            <a: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/>
          <a:p>
            <a:r>
              <a:t>PERGUNTAS</a:t>
            </a:r>
          </a:p>
          <a:p>
            <a:r>
              <a:t>P: Mudar água canalizada muda o índice?</a:t>
            </a:r>
          </a:p>
          <a:p>
            <a:r>
              <a:t>R: água: só a inadequada → + água não chega: Spearman 0,965, 16,3% mudam de faixa; água: só a inadequada → + sem água canalizada: Spearman 0,978, 12,1% mudam de faixa.</a:t>
            </a:r>
          </a:p>
          <a:p>
            <a:r>
              <a:t>De onde: VP10; pares_por_eixo.csv</a:t>
            </a:r>
          </a:p>
          <a:p/>
          <a:p>
            <a:r>
              <a:t>P: E quantas versões passam nos critérios?</a:t>
            </a:r>
          </a:p>
          <a:p>
            <a:r>
              <a:t>R: água: só a inadequada → + água não chega: 15 → 3; água: só a inadequada → + sem água canalizada: 15 → 6; + água não chega → + sem água canalizada: 3 → 6.</a:t>
            </a:r>
          </a:p>
          <a:p>
            <a:r>
              <a:t>De onde: VP10, coluna "Elegíveis antes → depois"</a:t>
            </a:r>
          </a:p>
          <a:p/>
          <a:p>
            <a:r>
              <a:t>P: O que é "mudar de faixa"?</a:t>
            </a:r>
          </a:p>
          <a:p>
            <a:r>
              <a:t>R: É o setor passar de uma faixa (baixo, médio, elevado, muito elevado) para outra entre as duas versões, pela regra do IVS-BH. Mostra o efeito prático da troca.</a:t>
            </a:r>
          </a:p>
          <a:p>
            <a:r>
              <a:t>De onde: FA13; ART003 p.10 (regra das faixas)</a:t>
            </a:r>
          </a:p>
          <a:p/>
          <a:p>
            <a:r>
              <a:t>NA PONTA DA LÍNGUA</a:t>
            </a:r>
          </a:p>
          <a:p>
            <a:r>
              <a:t>· água: só a inadequada → + água não chega: 16,3% mudam de faixa</a:t>
            </a:r>
          </a:p>
          <a:p>
            <a:r>
              <a:t>· água: só a inadequada → + sem água canalizada: 12,1% mudam de faixa</a:t>
            </a:r>
          </a:p>
          <a:p>
            <a:r>
              <a:t>· + água não chega → + sem água canalizada: 6,6% mudam de faixa</a:t>
            </a:r>
          </a:p>
        </p:txBody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VP11</a:t>
            </a:r>
          </a:p>
          <a:p/>
          <a:p>
            <a:r>
              <a:t>O QUE É</a:t>
            </a:r>
          </a:p>
          <a:p>
            <a: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/>
          <a:p>
            <a:r>
              <a:t>PERGUNTAS</a:t>
            </a:r>
          </a:p>
          <a:p>
            <a:r>
              <a:t>P: Mudar banheiro muda o índice?</a:t>
            </a:r>
          </a:p>
          <a:p>
            <a:r>
              <a:t>R: banheiro fora → + sem banheiro: Spearman 0,993, 9,8% mudam de faixa; banheiro fora → + banheiro graduado: Spearman 0,993, 11,3% mudam de faixa.</a:t>
            </a:r>
          </a:p>
          <a:p>
            <a:r>
              <a:t>De onde: VP11; pares_por_eixo.csv</a:t>
            </a:r>
          </a:p>
          <a:p/>
          <a:p>
            <a:r>
              <a:t>P: E quantas versões passam nos critérios?</a:t>
            </a:r>
          </a:p>
          <a:p>
            <a:r>
              <a:t>R: banheiro fora → + sem banheiro: 9 → 9; banheiro fora → + banheiro graduado: 9 → 6; + sem banheiro → + banheiro graduado: 9 → 6.</a:t>
            </a:r>
          </a:p>
          <a:p>
            <a:r>
              <a:t>De onde: VP11, coluna "Elegíveis antes → depois"</a:t>
            </a:r>
          </a:p>
          <a:p/>
          <a:p>
            <a:r>
              <a:t>P: O que é "mudar de faixa"?</a:t>
            </a:r>
          </a:p>
          <a:p>
            <a:r>
              <a:t>R: É o setor passar de uma faixa (baixo, médio, elevado, muito elevado) para outra entre as duas versões, pela regra do IVS-BH. Mostra o efeito prático da troca.</a:t>
            </a:r>
          </a:p>
          <a:p>
            <a:r>
              <a:t>De onde: FA13; ART003 p.10 (regra das faixas)</a:t>
            </a:r>
          </a:p>
          <a:p/>
          <a:p>
            <a:r>
              <a:t>NA PONTA DA LÍNGUA</a:t>
            </a:r>
          </a:p>
          <a:p>
            <a:r>
              <a:t>· banheiro fora → + sem banheiro: 9,8% mudam de faixa</a:t>
            </a:r>
          </a:p>
          <a:p>
            <a:r>
              <a:t>· banheiro fora → + banheiro graduado: 11,3% mudam de faixa</a:t>
            </a:r>
          </a:p>
          <a:p>
            <a:r>
              <a:t>· + sem banheiro → + banheiro graduado: 2,6% mudam de faixa</a:t>
            </a:r>
          </a:p>
        </p:txBody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VP12</a:t>
            </a:r>
          </a:p>
          <a:p/>
          <a:p>
            <a:r>
              <a:t>O QUE É</a:t>
            </a:r>
          </a:p>
          <a:p>
            <a: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/>
          <a:p>
            <a:r>
              <a:t>PERGUNTAS</a:t>
            </a:r>
          </a:p>
          <a:p>
            <a:r>
              <a:t>P: Mudar moradia muda o índice?</a:t>
            </a:r>
          </a:p>
          <a:p>
            <a:r>
              <a:t>R: moradia fora → + moradia não convencional: Spearman 1,000, 1,1% mudam de faixa.</a:t>
            </a:r>
          </a:p>
          <a:p>
            <a:r>
              <a:t>De onde: VP12; pares_por_eixo.csv</a:t>
            </a:r>
          </a:p>
          <a:p/>
          <a:p>
            <a:r>
              <a:t>P: E quantas versões passam nos critérios?</a:t>
            </a:r>
          </a:p>
          <a:p>
            <a:r>
              <a:t>R: moradia fora → + moradia não convencional: 21 → 3.</a:t>
            </a:r>
          </a:p>
          <a:p>
            <a:r>
              <a:t>De onde: VP12, coluna "Elegíveis antes → depois"</a:t>
            </a:r>
          </a:p>
          <a:p/>
          <a:p>
            <a:r>
              <a:t>P: O que é "mudar de faixa"?</a:t>
            </a:r>
          </a:p>
          <a:p>
            <a:r>
              <a:t>R: É o setor passar de uma faixa (baixo, médio, elevado, muito elevado) para outra entre as duas versões, pela regra do IVS-BH. Mostra o efeito prático da troca.</a:t>
            </a:r>
          </a:p>
          <a:p>
            <a:r>
              <a:t>De onde: FA13; ART003 p.10 (regra das faixas)</a:t>
            </a:r>
          </a:p>
          <a:p/>
          <a:p>
            <a:r>
              <a:t>NA PONTA DA LÍNGUA</a:t>
            </a:r>
          </a:p>
          <a:p>
            <a:r>
              <a:t>· moradia fora → + moradia não convencional: 1,1% mudam de faixa</a:t>
            </a:r>
          </a:p>
        </p:txBody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VP13</a:t>
            </a:r>
          </a:p>
          <a:p/>
          <a:p>
            <a:r>
              <a:t>O QUE É</a:t>
            </a:r>
          </a:p>
          <a:p>
            <a:r>
              <a:t>As versões que passam nos critérios, em ordem de código, com setores, KMO, AUC e o Spearman com a V023 (a referência do NB05).</a:t>
            </a:r>
          </a:p>
          <a:p/>
          <a:p>
            <a:r>
              <a:t>PERGUNTAS</a:t>
            </a:r>
          </a:p>
          <a:p>
            <a:r>
              <a:t>P: A referência do NB05 está entre elas?</a:t>
            </a:r>
          </a:p>
          <a:p>
            <a:r>
              <a:t>R: Sim: é a V023 (renda original, sem lixo, banheiro graduado), com 73.878 setores e KMO 0,781.</a:t>
            </a:r>
          </a:p>
          <a:p>
            <a:r>
              <a:t>De onde: VP13</a:t>
            </a:r>
          </a:p>
          <a:p/>
          <a:p>
            <a:r>
              <a:t>P: As que passam dão índices parecidos?</a:t>
            </a:r>
          </a:p>
          <a:p>
            <a:r>
              <a:t>R: O Spearman com a V023 mostra isso: perto de 1 quer dizer quase a mesma ordem de setores.</a:t>
            </a:r>
          </a:p>
          <a:p>
            <a:r>
              <a:t>De onde: VP13</a:t>
            </a:r>
          </a:p>
          <a:p/>
          <a:p>
            <a:r>
              <a:t>NA PONTA DA LÍNGUA</a:t>
            </a:r>
          </a:p>
          <a:p>
            <a:r>
              <a:t>· V023 = referência do NB05: 73.878 setores, KMO 0,781</a:t>
            </a:r>
          </a:p>
        </p:txBody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VP13-2</a:t>
            </a:r>
          </a:p>
          <a:p/>
          <a:p>
            <a:r>
              <a:t>O QUE É</a:t>
            </a:r>
          </a:p>
          <a:p>
            <a:r>
              <a:t>Continuação da lista das versões que passam.</a:t>
            </a:r>
          </a:p>
          <a:p/>
          <a:p>
            <a:r>
              <a:t>PERGUNTAS</a:t>
            </a:r>
          </a:p>
          <a:p>
            <a:r>
              <a:t>P: Por que em ordem de código?</a:t>
            </a:r>
          </a:p>
          <a:p>
            <a:r>
              <a:t>R: Para não sugerir uma escolha; a ordem pelos critérios está no VP14.</a:t>
            </a:r>
          </a:p>
          <a:p>
            <a:r>
              <a:t>De onde: VP14</a:t>
            </a:r>
          </a:p>
          <a:p/>
          <a:p>
            <a:r>
              <a:t>P: O que quer dizer o Spearman com a V023?</a:t>
            </a:r>
          </a:p>
          <a:p>
            <a:r>
              <a:t>R: Quanto a versão ordena os setores igual à referência do NB05: perto de 1, quase a mesma ordem.</a:t>
            </a:r>
          </a:p>
          <a:p>
            <a:r>
              <a:t>De onde: VP13</a:t>
            </a:r>
          </a:p>
          <a:p/>
          <a:p>
            <a:r>
              <a:t>NA PONTA DA LÍNGUA</a:t>
            </a:r>
          </a:p>
          <a:p>
            <a:r>
              <a:t>· 24 versões no total</a:t>
            </a:r>
          </a:p>
        </p:txBody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VP14</a:t>
            </a:r>
          </a:p>
          <a:p/>
          <a:p>
            <a:r>
              <a:t>O QUE É</a:t>
            </a:r>
          </a:p>
          <a:p>
            <a:r>
              <a:t>As elegíveis ordenadas pela posição média em três critérios: estabilidade (a maior variação do peso de uma variável quando se tira um município), AUC no município e parcimônia (menos variáveis). Empate: a mais próxima do IVS-BH 2012.</a:t>
            </a:r>
          </a:p>
          <a:p/>
          <a:p>
            <a:r>
              <a:t>PERGUNTAS</a:t>
            </a:r>
          </a:p>
          <a:p>
            <a:r>
              <a:t>P: Então a melhor é a V025?</a:t>
            </a:r>
          </a:p>
          <a:p>
            <a:r>
              <a:t>R: Não escolhi. A V025 tem a menor posição média (9,2) por esses critérios; a decisão é sua.</a:t>
            </a:r>
          </a:p>
          <a:p>
            <a:r>
              <a:t>De onde: VP14</a:t>
            </a:r>
          </a:p>
          <a:p/>
          <a:p>
            <a:r>
              <a:t>P: Por que a referência do NB05 (V023) não está no topo?</a:t>
            </a:r>
          </a:p>
          <a:p>
            <a:r>
              <a:t>R: Ela tem a maior variação de peso da lista (6,94 p.p.); a posição média é 12,3. A ordem do NB05 era em outra grade (com rotações e pesos diferentes).</a:t>
            </a:r>
          </a:p>
          <a:p>
            <a:r>
              <a:t>De onde: VP14; estado_nb05</a:t>
            </a:r>
          </a:p>
          <a:p/>
          <a:p>
            <a:r>
              <a:t>P: O que é parcimônia?</a:t>
            </a:r>
          </a:p>
          <a:p>
            <a:r>
              <a:t>R: Preferir a versão com menos variáveis quando o resultado é parecido.</a:t>
            </a:r>
          </a:p>
          <a:p>
            <a:r>
              <a:t>De onde: VP14</a:t>
            </a:r>
          </a:p>
          <a:p/>
          <a:p>
            <a:r>
              <a:t>NA PONTA DA LÍNGUA</a:t>
            </a:r>
          </a:p>
          <a:p>
            <a:r>
              <a:t>· V025: posição média 9,2</a:t>
            </a:r>
          </a:p>
          <a:p>
            <a:r>
              <a:t>· V023: 12,3; variação de peso 6,94 p.p.</a:t>
            </a:r>
          </a:p>
        </p:txBody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APOIO P00</a:t>
            </a:r>
          </a:p>
          <a:p/>
          <a:p>
            <a:r>
              <a:t>O QUE É</a:t>
            </a:r>
          </a:p>
          <a:p>
            <a:r>
              <a:t>Perguntas que podem vir em qualquer momento da reunião: andamento, como conferi, ferramentas, limitações e próximos passos.</a:t>
            </a:r>
          </a:p>
          <a:p/>
          <a:p>
            <a:r>
              <a:t>PERGUNTAS</a:t>
            </a:r>
          </a:p>
          <a:p>
            <a:r>
              <a:t>P: Em que pé está o trabalho?</a:t>
            </a:r>
          </a:p>
          <a:p>
            <a:r>
              <a:t>R: As 11 demandas de setembro estão feitas. A descritiva cobre 31 indicadores e as correlações; a fatorial tem uma referência proposta e 108 versões testadas. Falta você escolher a versão e decidir os pontos em aberto.</a:t>
            </a:r>
          </a:p>
          <a:p>
            <a:r>
              <a:t>De onde: DM01; DC07; VP00</a:t>
            </a:r>
          </a:p>
          <a:p/>
          <a:p>
            <a:r>
              <a:t>P: Como você conferiu os números?</a:t>
            </a:r>
          </a:p>
          <a:p>
            <a:r>
              <a:t>R: Recalculei os indicadores direto dos códigos V do Censo, por um caminho separado, e bateram com o banco e com as tabelas. Os números do relatório saem das tabelas de resultado.</a:t>
            </a:r>
          </a:p>
          <a:p>
            <a:r>
              <a:t>De onde: auditoria geral de 08/10 (17 checagens)</a:t>
            </a:r>
          </a:p>
          <a:p/>
          <a:p>
            <a:r>
              <a:t>P: Que ferramentas você usou?</a:t>
            </a:r>
          </a:p>
          <a:p>
            <a:r>
              <a:t>R: Python para tudo (scripts que geram tabelas e slides). [Escreva aqui, com as suas palavras, como usou IA e como conferiu.]</a:t>
            </a:r>
          </a:p>
          <a:p>
            <a:r>
              <a:t>De onde: [o Pedro decide a resposta]</a:t>
            </a:r>
          </a:p>
          <a:p/>
          <a:p>
            <a:r>
              <a:t>P: Quais as limitações?</a:t>
            </a:r>
          </a:p>
          <a:p>
            <a:r>
              <a:t>R: Sigilo não aleatório, exclusão por lista, sem análise espacial e validação só contra FCU. E é estudo ecológico: vale para setores, não para pessoas.</a:t>
            </a:r>
          </a:p>
          <a:p>
            <a:r>
              <a:t>De onde: notas do Pedro (ART034 p.537); ART008 p.194</a:t>
            </a:r>
          </a:p>
          <a:p/>
          <a:p>
            <a:r>
              <a:t>NA PONTA DA LÍNGUA</a:t>
            </a:r>
          </a:p>
          <a:p>
            <a:r>
              <a:t>· 11 demandas; 31 indicadores; 108 versões; 24 elegíveis</a:t>
            </a:r>
          </a:p>
          <a:p>
            <a:r>
              <a:t>· Em aberto: versão do índice, regra das faixas, formativo × reflexivo, moradia</a:t>
            </a:r>
          </a:p>
        </p:txBody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Setor censitário: A menor área do Censo, com algumas centenas de domicílios. É a unidade do índice, como no IVS-BH. (De onde: ART003 p.6)</a:t>
            </a:r>
          </a:p>
          <a:p>
            <a:r>
              <a:t>Dados_sig: Marca do setor: OK se tem dados divulgados. A regra vem da nota do IVS-BH. (De onde: ART004)</a:t>
            </a:r>
          </a:p>
          <a:p>
            <a:r>
              <a:t>Sigilo: O IBGE não divulga contagens de setores com poucos moradores, para não identificar ninguém. O valor fica vazio. (De onde: DS02)</a:t>
            </a:r>
          </a:p>
        </p:txBody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FCU: Favelas e Comunidades Urbanas: classificação do IBGE de 2022 (antes "aglomerados subnormais"). Usada como critério externo de validação. (De onde: ART005 p.46)</a:t>
            </a:r>
          </a:p>
          <a:p>
            <a:r>
              <a:t>Proporção × razão: Proporção vai de 0 a 1 (parte do total). Razão compara duas quantidades e pode passar de 1 (por exemplo, moradores por dormitório). (De onde: DS03; DS16)</a:t>
            </a:r>
          </a:p>
          <a:p>
            <a:r>
              <a:t>Exclusão por lista: Na fatorial, o setor sem alguma das variáveis sai inteiro. (De onde: DS01; FA01)</a:t>
            </a:r>
          </a:p>
        </p:txBody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Imputação: Pôr um valor no lugar de um dado. Só usei para o setor extremo de renda de BH (mediana do município). (De onde: DM02)</a:t>
            </a:r>
          </a:p>
          <a:p>
            <a:r>
              <a:t>Assimetria: Mede se a distribuição tem cauda: positiva, cauda à direita (poucos valores altos); negativa, à esquerda. (De onde: slides DS)</a:t>
            </a:r>
          </a:p>
          <a:p>
            <a:r>
              <a:t>Coeficiente de variação (CV): Desvio-padrão dividido pela média. Acima de 100%, o valor varia muito entre setores. (De onde: slides DS)</a:t>
            </a:r>
          </a:p>
        </p:txBody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P10, P25, P75, P90: Percentis: abaixo do P10 ficam 10% dos setores; abaixo do P90, 90%. (De onde: slides DS)</a:t>
            </a:r>
          </a:p>
          <a:p>
            <a:r>
              <a:t>Spearman: Correlação pela ordem (postos) dos setores; não exige normalidade. Vai de -1 a 1. (De onde: ART007 seção 11.2)</a:t>
            </a:r>
          </a:p>
          <a:p>
            <a:r>
              <a:t>Pearson: Correlação pelos valores; sensível a extremos e a muitos zeros. (De onde: ART007)</a:t>
            </a:r>
          </a:p>
        </p:txBody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Análise fatorial: Resume variáveis correlacionadas em poucos fatores (dimensões latentes). (De onde: ART002 p.161)</a:t>
            </a:r>
          </a:p>
          <a:p>
            <a:r>
              <a:t>Componente × fator: Componente vem da variância total (componentes principais); fator, só da parte comum. Aqui os autovalores são dos componentes. (De onde: ART001)</a:t>
            </a:r>
          </a:p>
          <a:p>
            <a:r>
              <a:t>Autovalor: Quanto da variância total um componente explica. A soma dos autovalores é o número de variáveis. (De onde: FA05)</a:t>
            </a:r>
          </a:p>
        </p:txBody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Critério de Kaiser: Fica com os componentes de autovalor maior que 1. Preciso com n &gt; 250 e comunalidade média ≥ 0,6. (De onde: ART001 p.29)</a:t>
            </a:r>
          </a:p>
          <a:p>
            <a:r>
              <a:t>Análise paralela de Horn: Compara cada autovalor com o de dados aleatórios do mesmo tamanho; fica com os que passam. (De onde: ART002 p.168)</a:t>
            </a:r>
          </a:p>
          <a:p>
            <a:r>
              <a:t>KMO: Kaiser-Meyer-Olkin: de 0 a 1, se as variáveis têm correlação suficiente para a fatorial. Acima de 0,7, bom (Matos). (De onde: ART001 p.43; ART002 p.166)</a:t>
            </a:r>
          </a:p>
        </p:txBody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MSA: O KMO de cada variável. Abaixo de 0,5, a variável não combina com as outras. (De onde: FA04)</a:t>
            </a:r>
          </a:p>
          <a:p>
            <a:r>
              <a:t>Bartlett: Testa se a matriz de correlação é a identidade. Com amostra grande quase sempre rejeita; não basta sozinho. (De onde: ART001 p.43)</a:t>
            </a:r>
          </a:p>
          <a:p>
            <a:r>
              <a:t>Comunalidade: Parte da variância da variável explicada pelos fatores. O NB05 exige ≥ 0,30; Figueiredo sugere 0,50. (De onde: ART002 p.176)</a:t>
            </a:r>
          </a:p>
        </p:txBody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Carga: Correlação da variável com o fator. O NB05 exige que a maior carga de cada variável seja ≥ 0,40. (De onde: FA16)</a:t>
            </a:r>
          </a:p>
          <a:p>
            <a:r>
              <a:t>Rotação: Girar os eixos para cada variável carregar forte num fator só. Não muda o total explicado. (De onde: ART002 p.169)</a:t>
            </a:r>
          </a:p>
          <a:p>
            <a:r>
              <a:t>Varimax: Rotação ortogonal: fatores sem correlação. (De onde: ART002 p.169)</a:t>
            </a:r>
          </a:p>
        </p:txBody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Promax: Rotação oblíqua: permite fatores correlacionados. Rápida, boa para bases grandes. (De onde: ART001 p.38)</a:t>
            </a:r>
          </a:p>
          <a:p>
            <a:r>
              <a:t>Φ (phi): Correlação entre os fatores numa rotação oblíqua. (De onde: FA10)</a:t>
            </a:r>
          </a:p>
          <a:p>
            <a:r>
              <a:t>Matriz padrão: Na oblíqua: o efeito próprio de cada fator sobre a variável. É a que vira peso. (De onde: FA09)</a:t>
            </a:r>
          </a:p>
        </p:txBody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Matriz estrutura: Na oblíqua: a correlação total variável-fator, incluindo o que vem do outro fator. (De onde: FA09)</a:t>
            </a:r>
          </a:p>
          <a:p>
            <a:r>
              <a:t>Pesos do índice: Quadrado das cargas, normalizado em cada dimensão, vezes o peso da dimensão (60/40). (De onde: FA11; ART009 p.7)</a:t>
            </a:r>
          </a:p>
          <a:p>
            <a:r>
              <a:t>Normalização min-max: (valor - mínimo) / (máximo - mínimo): põe cada variável entre 0 e 1. (De onde: ART004 (Conversão de escala))</a:t>
            </a:r>
          </a:p>
        </p:txBody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Normalização municipal: O min-max feito dentro de cada município. A global usa todos os setores juntos. (De onde: FA12)</a:t>
            </a:r>
          </a:p>
          <a:p>
            <a:r>
              <a:t>Faixas do IVS-BH: Médio = média ± 0,5 DP; baixo abaixo; elevado até 1,5 DP acima; muito elevado acima. (De onde: ART003 p.10)</a:t>
            </a:r>
          </a:p>
          <a:p>
            <a:r>
              <a:t>Quartis: Cortes que deixam um quarto dos setores em cada faixa. (De onde: FA13)</a:t>
            </a:r>
          </a:p>
        </p:txBody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Curva ROC: Para cada corte do índice, a proporção de FCU acima do corte contra a de não FCU acima. (De onde: FA14)</a:t>
            </a:r>
          </a:p>
          <a:p>
            <a:r>
              <a:t>AUC: Área sob a curva ROC: 0,5 é acaso; 1, separação perfeita. Chance de um FCU ter índice maior que um não FCU. (De onde: FA14)</a:t>
            </a:r>
          </a:p>
          <a:p>
            <a:r>
              <a:t>AUC municipal: A AUC calculada dentro de cada município; uso a mediana dos que têm ao menos 30 setores de FCU e 30 fora. (De onde: FA15)</a:t>
            </a:r>
          </a:p>
        </p:txBody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Média de postos: Índice sem fatorial: cada variável vira posto e tira-se a média. Serve de comparação. (De onde: FP11)</a:t>
            </a:r>
          </a:p>
          <a:p>
            <a:r>
              <a:t>Amostra comum: Os setores que têm as variáveis de todas as versões comparadas. (De onde: VP02)</a:t>
            </a:r>
          </a:p>
          <a:p>
            <a:r>
              <a:t>Estabilidade: Quanto os pesos mudam quando se tira um município de cada vez. (De onde: VP14)</a:t>
            </a:r>
          </a:p>
        </p:txBody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r>
              <a:t>Parcimônia: Preferir menos variáveis quando o resultado é parecido. (De onde: VP14)</a:t>
            </a:r>
          </a:p>
          <a:p>
            <a:r>
              <a:t>Formativo × reflexivo: Reflexivo: os indicadores refletem algo latente (fatorial serve). Formativo: os indicadores formam o índice (a fatorial pode não ser o caminho para os pesos). Em aberto. (De onde: ART020)</a:t>
            </a:r>
          </a:p>
          <a:p>
            <a:r>
              <a:t>Falácia ecológica: Associação entre setores não vale automaticamente para pessoas. (De onde: ART008 p.194)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6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66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67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6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7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7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7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7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74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75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76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· CENSO 2022 · 70 MUNICÍPIOS DO ELSI-BRASIL</a:t>
            </a:r>
            <a:endParaRPr lang="pt-BR" sz="1150" noProof="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descritivo do andamento</a:t>
            </a:r>
            <a:endParaRPr lang="pt-BR" sz="40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pt-BR" sz="14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setembro e como foram cobertas, a descritiva de cada indicador e a análise fatorial, para conferência com os seus resultados</a:t>
            </a:r>
            <a:endParaRPr lang="pt-BR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e como foram cobertas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11 demandas de setembro, uma por slide: o pedido, como lemos, o que foi feito, o que contornamos e onde está o resultado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11 demandas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cada uma e onde está o resultado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873428"/>
              </p:ext>
            </p:extLst>
          </p:nvPr>
        </p:nvGraphicFramePr>
        <p:xfrm>
          <a:off x="777240" y="1719072"/>
          <a:ext cx="10634472" cy="296265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coluna de renda com a 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DS18, FP01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DS03–DS33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e com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FP02, FP09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separar útil × inútil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MAPA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"não chega"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(as duas leituras)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com V00495; graduada (V00237) em aberto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adicionar canalização e 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de tudo isso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(leitura padrão da pergunta 6)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(como não convencional, sem excluir)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lixo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1: a renda com a mediana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de renda com a mediana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do próprio setor não existe no arquivo bruto do Censo (vêm V06001–V06005, não V06006). Lemos como: no setor extremo de Belo Horizonte, pôr a mediana do município calculada sem ele.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nova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renda_media_mediana_mun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na entrega (o banco passa de 104 para 105 colunas); tabela de sensibilidade com três alternativas.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Obstáculo: falta a mediana do setor (V06006). Saída: imputação pela mediana do município, só no setor excluído (310620005650366,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$ 170.418,06). Efeito: 1 setor difere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renda_media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7950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350649"/>
              </p:ext>
            </p:extLst>
          </p:nvPr>
        </p:nvGraphicFramePr>
        <p:xfrm>
          <a:off x="6446520" y="3105912"/>
          <a:ext cx="4965192" cy="13309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Alternativa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 imputado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em BH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nos 70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sem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$ 3.058,235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com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$ 3.060,310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dos 70 municípios sem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439920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 (a coluna nova) e FP01 (o efeito na fatorial).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2: quadro de indicadores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 de indicadores.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03835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92551"/>
              </p:ext>
            </p:extLst>
          </p:nvPr>
        </p:nvGraphicFramePr>
        <p:xfrm>
          <a:off x="777240" y="2349246"/>
          <a:ext cx="4965192" cy="1645920"/>
        </p:xfrm>
        <a:graphic>
          <a:graphicData uri="http://schemas.openxmlformats.org/drawingml/2006/table">
            <a:tbl>
              <a:tblPr/>
              <a:tblGrid>
                <a:gridCol w="2587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IVS-7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77240" y="4104894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DS03–DS33 (a definição em cada slide).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3: fatorial sem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sem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rotação? Rodamos as duas: sem rotação,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lado a lado.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saiu, como pedido. Para a incerteza entrou a sensibilidade de um município de fora por vez (S0, S1, S6).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949393"/>
              </p:ext>
            </p:extLst>
          </p:nvPr>
        </p:nvGraphicFramePr>
        <p:xfrm>
          <a:off x="6446520" y="2686812"/>
          <a:ext cx="4965192" cy="1371600"/>
        </p:xfrm>
        <a:graphic>
          <a:graphicData uri="http://schemas.openxmlformats.org/drawingml/2006/table">
            <a:tbl>
              <a:tblPr/>
              <a:tblGrid>
                <a:gridCol w="185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(S0)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75,89%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168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FP02 e FP09.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5: comparar "não chega"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"não chega".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leituras, as duas feitas: (a) contra as outras categorias de canalização;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contra os indicadores do IVS-7.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S2 (IVS-7 + não chega) na grade;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"água não chega" com o IVS-7 e com as outras categorias de água; perfil dos setores com valor &gt; 0 × = 0.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85,7% de zeros citados antes usavam os 104.108 setores como denominador, contando o faltante como não zero. Sobre os valores presentes, são 94,5%.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255837"/>
              </p:ext>
            </p:extLst>
          </p:nvPr>
        </p:nvGraphicFramePr>
        <p:xfrm>
          <a:off x="6446520" y="2896362"/>
          <a:ext cx="4965192" cy="2531999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 × …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94.391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81.303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94.368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85.098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538089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FP03.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6: juntar "sem banheiro"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Juntar "sem banheiro".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Usamos a V00495, que já contém a V00238 (conferido no banco). 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S4 (IVS-7 + sem banheiro, V00495) e a prova V00238 ≤ V00495. Depois, no NB05, a V00237 foi extraída e o banheiro graduado entrou na grade.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Obstáculo: a V00237 não estava na base. Saída: nova extração da V00237 dos arquivos do Censo. A partição V00495 = V00236 + V00237 + V00238 fecha em 91.199 de 91.199 setores.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041624"/>
              </p:ext>
            </p:extLst>
          </p:nvPr>
        </p:nvGraphicFramePr>
        <p:xfrm>
          <a:off x="6446520" y="2896362"/>
          <a:ext cx="4965192" cy="822960"/>
        </p:xfrm>
        <a:graphic>
          <a:graphicData uri="http://schemas.openxmlformats.org/drawingml/2006/table">
            <a:tbl>
              <a:tblPr/>
              <a:tblGrid>
                <a:gridCol w="3136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que vale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 ≤ V00495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90.858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 = V00236 + V00237 + V00238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91.199 de 91.199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82905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FP04 e DS13 (o banheiro graduado).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7: adicionar canalização e sem banheiro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Adicionar canalização e sem banheiro.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variável nova por vez sobre o IVS-7: não chega (S2), sem canalização (S3), sem banheiro (S4).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cenários na grade da fatorial ampliada, cada um uma fatorial completa sobre a mesma regra de setores.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variável nova perde setores diferentes; cada cenário tem o seu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comparado com o S0 pelos setores perdidos.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33229"/>
              </p:ext>
            </p:extLst>
          </p:nvPr>
        </p:nvGraphicFramePr>
        <p:xfrm>
          <a:off x="6446520" y="2686812"/>
          <a:ext cx="4965192" cy="16256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Perdidos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6446520" y="4422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FP05.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8: fatorial de tudo isso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de tudo.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IVS-7 + não chega + sem canalização + sem banheiro + não convencional.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 (as quatro juntas) e S7 (S6 sem lixo); o S6 também com as três rendas e com postos dentro do município.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 de dado. A leitura de "tudo isso" é nossa; falta confirmar se é essa.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31609"/>
              </p:ext>
            </p:extLst>
          </p:nvPr>
        </p:nvGraphicFramePr>
        <p:xfrm>
          <a:off x="6446520" y="2686812"/>
          <a:ext cx="4965192" cy="2773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57022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FP06.</a:t>
            </a:r>
            <a:endParaRPr lang="pt-BR" sz="1250" noProof="0" dirty="0"/>
          </a:p>
        </p:txBody>
      </p:sp>
      <p:sp>
        <p:nvSpPr>
          <p:cNvPr id="12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9: habitação convencional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convencional.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Entrou na direção da vulnerabilidade (moradia não convencional), com diagnóstico completo, sem excluir por variância baixa.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 S5 (IVS-7 + não convencional) e S6; MSA, comunalidade e % de zeros da variável.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tem variância baixa. Em vez de excluí-la, mostramos o diagnóstico para decidirmos se ela fica.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236986"/>
              </p:ext>
            </p:extLst>
          </p:nvPr>
        </p:nvGraphicFramePr>
        <p:xfrm>
          <a:off x="6446520" y="2896362"/>
          <a:ext cx="4965192" cy="8229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de zeros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82905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FP07.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10: testar lixo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lixo.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leitura só: rodar com e sem o lixo.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61366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(IVS-7 sem lixo) e S7 (S6 sem lixo); se o lixo forma fator próprio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se isso muda ao tirar um município.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contorno. Em S0, o lixo muda de fator em duas rodadas de um município de fora.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365444"/>
              </p:ext>
            </p:extLst>
          </p:nvPr>
        </p:nvGraphicFramePr>
        <p:xfrm>
          <a:off x="6446520" y="2686812"/>
          <a:ext cx="4965192" cy="9499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74650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FP08.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11: testar as duas rotações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as duas rotações.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as duas métricas (matriz padrão e matriz estrutura).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 da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da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(padrão e estrutura)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em todos os cenários; figura do plano dos fatores no S6.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 de dado.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570790"/>
              </p:ext>
            </p:extLst>
          </p:nvPr>
        </p:nvGraphicFramePr>
        <p:xfrm>
          <a:off x="6446520" y="2686812"/>
          <a:ext cx="4965192" cy="1371600"/>
        </p:xfrm>
        <a:graphic>
          <a:graphicData uri="http://schemas.openxmlformats.org/drawingml/2006/table">
            <a:tbl>
              <a:tblPr/>
              <a:tblGrid>
                <a:gridCol w="185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(S1)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65,82%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59,64%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168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FP09.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o que contornamos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302569"/>
              </p:ext>
            </p:extLst>
          </p:nvPr>
        </p:nvGraphicFramePr>
        <p:xfrm>
          <a:off x="777240" y="1719072"/>
          <a:ext cx="10634472" cy="316357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Obstáculo, saída e efeito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renda com a 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Obstáculo: falta a mediana do setor (V06006). Saída: imputação pela mediana do município. Efeito: 1 setor difere de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contorno. O quadro foi ampliado no NB05: de 26 para 28 indicadores, com só sanitário e banheiro de uso comum.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e com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saiu, como pedido. Para a incerteza entrou a sensibilidade de um município de fora por vez (S0, S1, S6).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"não chega"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85,7% de zeros citados antes usavam os 104.108 setores como denominador, contando o faltante como não zero. Sobre os valores presentes, são 94,5%.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Obstáculo: a V00237 não estava na base. Saída: nova extração da V00237 dos arquivos do Censo. A partição V00495 = V00236 + V00237 + V00238 fecha em 91.199 de 91.199 setores.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adicionar canalização e 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variável nova perde setores diferentes; cada cenário tem o seu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comparado com o S0 pelos setores perdidos.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variável tem variância baixa. Em vez de excluí-la, mostramos o diagnóstico para decidirmos se ela fica.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lixo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contorno. Em S0, o lixo muda de fator em duas rodadas de um município de fora.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 de dado.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 dos indicadores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indicador por slide, nos 104.108 setores urbanos com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Dados_sig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OK: como é calculado, de que arquivo vem e como se distribui. Sem cruzar indicadores.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109.032 setores dos 70 municípios aos que entram em cada parte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077945"/>
              </p:ext>
            </p:extLst>
          </p:nvPr>
        </p:nvGraphicFramePr>
        <p:xfrm>
          <a:off x="777240" y="1719072"/>
          <a:ext cx="6400800" cy="16565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quê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OK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30.230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604260"/>
            <a:ext cx="64008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descritiva usa 104.108 setores (urbanos com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Dados_sig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OK). A fatorial da referência proposta usa 73.878: saem 30.230 com algum componente faltante.</a:t>
            </a:r>
            <a:endParaRPr lang="pt-BR" sz="1250" noProof="0" dirty="0"/>
          </a:p>
        </p:txBody>
      </p:sp>
      <p:pic>
        <p:nvPicPr>
          <p:cNvPr id="8" name="Image 0" descr="O funil do recorte, etapa a etapa."/>
          <p:cNvPicPr>
            <a:picLocks noChangeAspect="1"/>
          </p:cNvPicPr>
          <p:nvPr/>
        </p:nvPicPr>
        <p:blipFill>
          <a:blip r:embed="rId3"/>
          <a:srcRect l="-5513" r="-5513"/>
          <a:stretch/>
        </p:blipFill>
        <p:spPr>
          <a:xfrm>
            <a:off x="71846" y="4133088"/>
            <a:ext cx="4810396" cy="21486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4242" y="6281784"/>
            <a:ext cx="2385604" cy="16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do recorte, etapa a etapa.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com valor, indicador a indicador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174997"/>
              </p:ext>
            </p:extLst>
          </p:nvPr>
        </p:nvGraphicFramePr>
        <p:xfrm>
          <a:off x="777240" y="1673352"/>
          <a:ext cx="5120640" cy="419709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9,32%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15.897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15,27%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2.969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9.694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13,73%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5756"/>
              </p:ext>
            </p:extLst>
          </p:nvPr>
        </p:nvGraphicFramePr>
        <p:xfrm>
          <a:off x="6291072" y="1673352"/>
          <a:ext cx="5120640" cy="3950208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5.139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9.103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4,29%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12.804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2.136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abastecimento de água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315541"/>
              </p:ext>
            </p:extLst>
          </p:nvPr>
        </p:nvGraphicFramePr>
        <p:xfrm>
          <a:off x="777240" y="1737360"/>
          <a:ext cx="3429000" cy="279107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9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— Domicílios Particulares Permanentes Ocupados, Utiliza poço profundo ou artesiano | V00113 — Domicílios Particulares Permanentes Ocupados, Utiliza poço raso, freático ou cacimba | V00114 — Domicílios Particulares Permanentes Ocupados, Utiliza fonte, nascente ou mina | V00115 — Domicílios Particulares Permanentes Ocupados, Utiliza carro-pipa | V00116 — Domicílios Particulares Permanentes Ocupados, Utiliza água da chuva armazenada | V00117 — Domicílios Particulares Permanentes Ocupados, Utiliza rios, açudes, córregos, lagos e igarapés | V00118 — Domicílios Particulares Permanentes Ocupados, Utiliza outra forma de abastecimento de água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78447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49466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19,74%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283,6%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77.295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77.295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74,25% dos setores têm valor zero; um em cada quatro tem mais de 1,18%, e um em cada dez, mais de 19,86%.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273884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(87,6%); a menor, a do Sudeste (12,8%). Nos setores de FCU, 36,8% têm valor acima de zero; nos demais, 23,2%. Entre os municípios, vai de 0,0% (São Paulo das Missões)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esgotamento sanitário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295883"/>
              </p:ext>
            </p:extLst>
          </p:nvPr>
        </p:nvGraphicFramePr>
        <p:xfrm>
          <a:off x="777240" y="1737360"/>
          <a:ext cx="3429000" cy="289179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06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— Domicílios Particulares Permanentes Ocupados, Destinação do esgoto do banheiro ou sanitário ou buraco para dejeções é fossa rudimentar ou buraco | V00313 — Domicílios Particulares Permanentes Ocupados, Destinação do esgoto do banheiro ou sanitário ou buraco para dejeções é vala | V00314 — Domicílios Particulares Permanentes Ocupados, Destinação do esgoto do banheiro ou sanitário ou buraco para dejeções é rio, lago, córrego ou mar | V00315 — Domicílios Particulares Permanentes Ocupados, Destinação do esgoto do banheiro ou sanitário ou buraco para dejeções é outra forma | V00316 — Domicílios Particulares Permanentes Ocupados, Destinação do esgoto inexistente, pois não tinham banheiro nem sanitário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885182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318368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75.511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75.511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72,53% dos setores têm valor zero; um em cada quatro tem mais de 1,82%, e um em cada dez, mais de 28,38%.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90423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23,76%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(68,1%); a menor, a do Sul (14,4%). Nos setores de FCU, 57,1% têm valor acima de zero; nos demais, 20,7%. Entre os municípios, vai de 0,0% (São Caetano do Sul) a 100,0%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Vicentinópolis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DS04-2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destino do lixo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498118"/>
              </p:ext>
            </p:extLst>
          </p:nvPr>
        </p:nvGraphicFramePr>
        <p:xfrm>
          <a:off x="777240" y="1737360"/>
          <a:ext cx="3429000" cy="2488946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— Domicílios Particulares Permanentes Ocupados, Lixo depositado em caçamba de serviço de limpeza | V00399 — Domicílios Particulares Permanentes Ocupados, Lixo queimado na propriedade | V00400 — Domicílios Particulares Permanentes Ocupados, Lixo enterrado na propriedade | V00401 — Domicílios Particulares Permanentes Ocupados, Lixo jogado em terreno baldio, encosta ou área pública | V00402 — Domicílios Particulares Permanentes Ocupados, Outro destino do lixo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82338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319614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25,24%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217,9%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65.359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65.359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62,78% dos setores têm valor zero; um em cada quatro tem mais de 5,94%, e um em cada dez, mais de 50,46%.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06873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24,80%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Nordeste (44,8%); a menor, a do Centro-Oeste (30,4%). Nos setores de FCU, 59,5% têm valor acima de zero; nos demais, 32,1%. Entre os municípios, vai de 0,0% (São Paulo das Missões)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DS05-2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não chega encanada até dentro do domicílio (complemento de V00199; equivale a V00200+V00201 sobre V00001)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702842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 — Domicílios Particulares Permanentes Ocupados, Água chega encanada até dentro da casa, apartamento ou habitação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99229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= complemento (1 − numerador/denominador)</a:t>
            </a:r>
            <a:endParaRPr lang="pt-BR" sz="850" noProof="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08065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 (0,04%)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458,0%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69,70%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72.537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72.537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69,70% dos setores têm valor zero; um em cada quatro tem mais de 0,48%, e um em cada dez, mais de 2,34%.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939555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9.485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84.629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(64,1%); a menor, a do Sul (17,8%). Nos setores de FCU, 52,1% têm valor acima de zero; nos demais, 25,3%. Entre os municípios, vai de 0,0% (São Paulo das Missões) a 100,0% (Portel).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DS06-2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não chega encanada ao domicílio (V00201)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603985"/>
              </p:ext>
            </p:extLst>
          </p:nvPr>
        </p:nvGraphicFramePr>
        <p:xfrm>
          <a:off x="777240" y="1737360"/>
          <a:ext cx="3429000" cy="236766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 — Domicílios Particulares Permanentes Ocupados, Água não chega encanada ao domicílio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233912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 (9,32%)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89.212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89.212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94,50%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051740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15.639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58.463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6.837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16.179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(21,2%); a menor, a do Sul (1,4%). Nos setores de FCU, 12,5% têm valor acima de zero; nos demais, 4,0%. Entre os municípios, vai de 0,0% (Chapada dos Guimarães) a 88,2% (Arara).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DS07-2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chega encanada apenas ao terreno (V00200)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79766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 — Domicílios Particulares Permanentes Ocupados, Água chega encanada, mas apenas ao terreno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638726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15.897 (15,27%)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548,5%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88,28%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77.876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77.876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88,28% dos setores têm valor zero; um em cada dez tem mais de 1,47%.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695421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15.021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54.406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7.987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73.141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(39,6%); a menor, a do Sul (3,0%). Nos setores de FCU, 28,0% têm valor acima de zero; nos demais, 8,4%. Entre os municípios, vai de 0,0% (Guapiaçu) a 100,0% (São Raimundo do Doca Bezerra).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DS08-2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sem banheiro de uso exclusivo com chuveiro e vaso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5480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 — Domicílios Particulares Permanentes Ocupados, Sem banheiro de uso exclusivo com chuveiro e vaso sanitário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28086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 (11,71%)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913,8%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95,60%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87.864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87.864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95,60%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6989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15.747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56.669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6.381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8.685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15.197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76.715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(24,0%); a menor, a do Centro-Oeste (1,3%). Nos setores de FCU, 14,1% têm valor acima de zero; nos demais, 2,5%. Entre os municípios, vai de 0,0% (Anápolis)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DS09-2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sem banheiro nem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368579"/>
              </p:ext>
            </p:extLst>
          </p:nvPr>
        </p:nvGraphicFramePr>
        <p:xfrm>
          <a:off x="777240" y="1737360"/>
          <a:ext cx="3429000" cy="236766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 — Domicílios Particulares Permanentes Ocupados, Não tinham banheiro nem sanitário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41906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2.969 (2,85%)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3.072,9%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100.786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100.786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99,65%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26556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5.450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18.246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61.032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9.346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18.061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83.078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(1,4%); a menor, a do Centro-Oeste (0,1%). Nos setores de FCU, 1,1% têm valor acima de zero; nos demais, 0,2%. Entre os municípios, vai de 0,0% (Anápolis) a 33,3% (São Raimundo do Doca Bezerra).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DS10-2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apenas sanitário ou buraco para dejeções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923970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 — Domicílios Particulares Permanentes Ocupados, Apenas sanitário ou buraco para dejeções, inclusive os localizados no terreno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73407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3.811 (3,66%)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1.670,2%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32,59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99.251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99.251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98,96%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593460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60.940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82.528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(4,0%); a menor, a do Sudeste (0,2%). Nos setores de FCU, 3,4% têm valor acima de zero; nos demais, 0,5%. Entre os municípios, vai de 0,0% (Anápolis) a 83,3%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DS11-2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apenas banheiro de uso comum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523576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— Domicílios Particulares Permanentes Ocupados, Apenas banheiro de uso comum a mais de um domicílio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96744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9.694 (9,31%)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1.214,7%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91.872 setores com zero. Eixo até o P99 (30,11%); 26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91.872 setores com zero. Eixo até o P99 (30,11%); 26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51226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97,31%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58195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16.630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57.872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78.566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(17,2%); a menor, a do Centro-Oeste (0,8%). Nos setores de FCU, 8,2% têm valor acima de zero; nos demais, 1,6%. Entre os municípios, vai de 0,0% (Anápolis) a 100,0% (São Raimundo do Doca Bezerra).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DS12-2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 de inadequação do banheiro: 0 = todos com banheiro, 1 = todos sem banheiro nem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632245"/>
              </p:ext>
            </p:extLst>
          </p:nvPr>
        </p:nvGraphicFramePr>
        <p:xfrm>
          <a:off x="777240" y="1737360"/>
          <a:ext cx="3429000" cy="188734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1·V00236 + 2·V00237 + 3·V00238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escala de 0 a 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14489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 (13,73%)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1.523,5%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87.864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87.864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97,83%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438891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14.667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56.336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13.956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75.860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(13,7%); a menor, a do Centro-Oeste (0,7%). Nos setores de FCU, 6,4% têm valor acima de zero; nos demais, 1,4%. Entre os municípios, vai de 0,0% (Anápolis)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 por domicílio (reproduz o V0005 do IBGE)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178474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— Domicílios Particulares Permanentes Ocupados, Quantidade de moradores | V00006 — Domicílios Particulares Improvisados Ocupados, Quantidade de moradores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99229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zero; sem corte em [0, 1] (não é proporção)</a:t>
            </a:r>
            <a:endParaRPr lang="pt-BR" sz="850" noProof="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4911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2,71; um em cada quatro tem mais de 2,93. Entre o P10 e o P90, vai de 2,20 a 3,14; nenhum setor tem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834811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(3,19); a menor, a do Sul (2,60). Nos setores de FCU a mediana é 2,92; nos demais, 2,67. Entre os municípios, a mediana vai de 2,38 (Porto Alegre) a 4,23 (Portel).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DS14-2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analfabetismo entre pessoas de 15 anos ou mais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492756"/>
              </p:ext>
            </p:extLst>
          </p:nvPr>
        </p:nvGraphicFramePr>
        <p:xfrm>
          <a:off x="777240" y="1737360"/>
          <a:ext cx="3429000" cy="230568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 — 15 anos ou mais, Morador não sabe ler e escrever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— 15 anos ou mais, Morador sabe ler e escrever | V00901 — 15 anos ou mais, Morador não sabe ler e escrever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Agregados_por_setores_alfabetizacao_BR.csv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denominador exige as 2 parcelas presentes (sem tolerância a sigilo parcial)</a:t>
            </a:r>
            <a:endParaRPr lang="pt-BR" sz="850" noProof="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627652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 (15,90%)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Eixo até o P99 (16,43%); 876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(16,43%); 876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2,71%; um em cada quatro tem mais de 4,99%. Entre o P10 e o P90, vai de 0,00% a 7,92%; 10,59%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174736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50.608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18.904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68.652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(5,16%); a menor, a do Sul (1,62%). Nos setores de FCU a mediana é 5,46%; nos demais, 2,13%. Entre os municípios, a mediana vai de 1,11% (São Caetano do Sul) a 23,06% (Arara).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DS15-2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Rendimento nominal médio mensal das pessoas responsáveis (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405752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 — Valor do rendimento nominal médio mensal das pessoas responsáveis com rendimentos por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(sem denominador)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Agregados_por_setores_renda_responsavel_BR.csv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Sim, como renda invertida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corte em [0, 1] (não é proporção)</a:t>
            </a:r>
            <a:endParaRPr lang="pt-BR" sz="850" noProof="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32749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$ 4.187,41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$ 4.150,66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$ 170.418,06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Eixo até o P99 (R$ 19.771,79); 1.041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$ 19.771,79); 1.041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$ 4.835,89.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$ 9.490,68; nenhum setor tem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371712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$ 1.820,99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$ 1.719,20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$ 2.730,60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$ 3.722,28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$ 3.127,12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$ 1.515,35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$ 3.067,01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$ 3.722,28); a menor, a do Nordeste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$ 1.719,20). Nos setores de FCU a mediana 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$ 1.515,35; nos demais,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$ 3.067,01. Entre os municípios, a mediana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$ 1.062,36 (Jaqueira)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$ 5.291,89 (São Caetano do Sul).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DS16-2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das pessoas responsáveis, com o setor extremo de BH vazio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219299"/>
              </p:ext>
            </p:extLst>
          </p:nvPr>
        </p:nvGraphicFramePr>
        <p:xfrm>
          <a:off x="777240" y="1737360"/>
          <a:ext cx="3429000" cy="202222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o setor 310620005650366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70254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$ 4.118,57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$ 140.172,64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Eixo até o P99 (R$ 19.771,58); 1.041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$ 19.771,58); 1.041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$ 4.835,83.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$ 9.490,42; nenhum setor tem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18650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$ 1.820,99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$ 1.719,20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$ 2.730,59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$ 3.722,28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$ 3.127,12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$ 1.515,32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$ 3.067,01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$ 3.722,28); a menor, a do Nordeste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$ 1.719,20). Nos setores de FCU a mediana 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$ 1.515,32; nos demais,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$ 3.067,01. Entre os municípios, a mediana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$ 1.062,36 (Jaqueira)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$ 5.291,89 (São Caetano do Sul).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DS17-2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das pessoas responsáveis, com o setor extremo de BH substituído pela mediana do município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15067"/>
              </p:ext>
            </p:extLst>
          </p:nvPr>
        </p:nvGraphicFramePr>
        <p:xfrm>
          <a:off x="777240" y="1737360"/>
          <a:ext cx="3429000" cy="202679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com imputação no setor 310620005650366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954748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$ 4.118,56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$ 140.172,64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Eixo até o P99 (R$ 19.771,58); 1.041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$ 19.771,58); 1.041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$ 4.835,82.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$ 9.490,41; nenhum setor tem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55492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$ 1.820,99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$ 1.719,20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$ 2.730,60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$ 3.722,28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$ 3.127,12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$ 1.515,35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$ 3.067,01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$ 3.722,28); a menor, a do Nordeste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$ 1.719,20). Nos setores de FCU a mediana 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$ 1.515,35; nos demais,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$ 3.067,01. Entre os municípios, a mediana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$ 1.062,36 (Jaqueira)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$ 5.291,89 (São Caetano do Sul).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cor/raça preta, parda ou indígena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859886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— Cor ou raça é preta | V01320 — Cor ou raça é parda | V01321 — Cor ou raça é indígena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Agregados_por_setores_cor_ou_raca_BR.csv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29473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52,67%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79,29%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57,19%; um em cada quatro tem mais de 70,44%. Entre o P10 e o P90, vai de 17,45% a 79,29%; 0,09%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57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225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450372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801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(76,99%); a menor, a do Sul (22,19%). Nos setores de FCU a mediana é 74,27%; nos demais, 50,96%. Entre os municípios, a mediana vai de 15,99% (Taió) a 88,89% (Salvador).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DS19-2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pessoa responsável do sexo feminino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538916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 — Pessoa responsável pelo domicílio, Sexo feminino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— Pessoa responsável pelo domicílio, Sexo masculino | V01063 — Pessoa responsável pelo domicílio, Sexo feminino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Agregados_por_setores_parentesco_BR.csv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993298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 (0,14%)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53,39%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58,80%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53,39%; um em cada quatro tem mais de 58,80%. Entre o P10 e o P90, vai de 41,41% a 63,40%; 0,02%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4554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54,69%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19.476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55,77%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61.909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50,57%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84.514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(55,77%); a menor, a do Centro-Oeste (50,57%). Nos setores de FCU a mediana é 56,78%; nos demais, 52,58%. Entre os municípios, a mediana vai de 34,11%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Vicentinópolis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a 61,94% (Rosário).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DS20-2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particulares improvisados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403821"/>
              </p:ext>
            </p:extLst>
          </p:nvPr>
        </p:nvGraphicFramePr>
        <p:xfrm>
          <a:off x="777240" y="1737360"/>
          <a:ext cx="3429000" cy="257543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 — Domicílios Particulares Improvisados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48300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5.139 (4,94%)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2.243,9%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98.189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98.189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99,21%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12514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18.384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59.390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8.862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80.677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Nordeste (1,0%); a menor, a do Sul (0,5%). Nos setores de FCU, 1,5% têm valor acima de zero; nos demais, 0,6%. Entre os municípios, vai de 0,0% (Arara) a 25,0%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Vicentinópolis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DS21-2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habitação precária (cortiço, estrutura degradada, improvisados)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496456"/>
              </p:ext>
            </p:extLst>
          </p:nvPr>
        </p:nvGraphicFramePr>
        <p:xfrm>
          <a:off x="777240" y="1737360"/>
          <a:ext cx="3429000" cy="339534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— Domicílios Particulares Permanentes Ocupados, Tipo de espécie é habitação em casa de cômodos ou cortiço | V00052 — Domicílios Particulares Permanentes Ocupados, Tipo de espécie é estrutura residencial permanente degradada ou inacabada | V00053 — Domicílios Particulares Improvisados Ocupados, Tipo de espécie é tenda ou barraca de lona, plástico ou tecido | V00054 — Domicílios Particulares Improvisados Ocupados, Tipo de espécie é dentro de estabelecimento em funcionamento | V00055 — Domicílios Particulares Improvisados Ocupados, Tipo de espécie é abrigo natural e outras estruturas improvisadas | V00056 — Domicílios Particulares Improvisados Ocupados, Tipo de espécie é estrutura improvisada em logradouro público, exceto tenda ou barraca | V00057 — Domicílios Particulares Improvisados Ocupados, Tipo de espécie é estrutura não residencial permanente degradada ou inacabada | V00058 — Domicílios Particulares Improvisados Ocupados, Tipo de espécie é veículo (carro, caminhão, trailer, barco 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etc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388737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983697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650,1%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96.260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96.260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92,46%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76321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Centro-Oeste (13,1%); a menor, a do Sul (3,4%). Nos setores de FCU, 11,8% têm valor acima de zero; nos demais, 6,6%. Entre os municípios, vai de 0,0% (Arara) a 29,4% (São Luís).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DS22-2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moradias convencionais (casa, casa de vila/condomínio, apartamento)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073528"/>
              </p:ext>
            </p:extLst>
          </p:nvPr>
        </p:nvGraphicFramePr>
        <p:xfrm>
          <a:off x="777240" y="1737360"/>
          <a:ext cx="3429000" cy="261556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1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— Domicílios Particulares Permanentes Ocupados, Tipo de espécie é casa | V00048 — Domicílios Particulares Permanentes Ocupados, Tipo de espécie é casa de vila ou em condomínio | V00049 — Domicílios Particulares Permanentes Ocupados, Tipo de espécie é apartamento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62318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97827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-12,34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Pelo menos metade dos setores tem 100,00%; o P10 é 98,40%, e 0,01%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41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063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114896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639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Centro-Oeste (100,00%); a menor, a do Centro-Oeste (100,00%). Nos setores de FCU a mediana é 100,00%; nos demais, 100,00%. Entre os municípios, a mediana vai de 99,55% (São Luís) a 100,00% (Água Preta).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moradias não convencionais (cortiço, maloca, estrutura degradada)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179132"/>
              </p:ext>
            </p:extLst>
          </p:nvPr>
        </p:nvGraphicFramePr>
        <p:xfrm>
          <a:off x="777240" y="1737360"/>
          <a:ext cx="3429000" cy="298742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— Domicílios Particulares Permanentes Ocupados, Tipo de espécie é habitação em casa de cômodos ou cortiço | V00051 — Domicílios Particulares Permanentes Ocupados, Tipo de espécie é habitação indígena sem paredes ou maloca | V00052 — Domicílios Particulares Permanentes Ocupados, Tipo de espécie é estrutura residencial permanente degradada ou inacabada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95037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09896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96.771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96.771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92,95%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60075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(12,6%); a menor, a do Sul (3,0%). Nos setores de FCU, 10,9% têm valor acima de zero; nos demais, 6,2%. Entre os municípios, vai de 0,0% (Arara) a 29,0% (São Luís).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DS24-2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apartamento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285723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 — Domicílios Particulares Permanentes Ocupados, Tipo de espécie é apartamento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82096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9.103 (8,74%)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128,6%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5,21%; um em cada quatro tem mais de 76,09%. Entre o P10 e o P90, vai de 0,00% a 99,52%; 38,52%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41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063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304182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56.971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8.557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17.139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77.866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639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(15,83%); a menor, a do Nordeste (1,96%). Nos setores de FCU a mediana é 0,00%; nos demais, 11,94%. Entre os municípios, a mediana vai de 0,00% (Ananindeua) a 64,73% (Porto Alegre).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DS25-2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casa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241673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— Domicílios Particulares Permanentes Ocupados, Tipo de espécie é casa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4478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4.466 (4,29%)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91,44%; um em cada quatro tem mais de 99,38%. Entre o P10 e o P90, vai de 0,00% a 100,00%; 10,11%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265187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89,43%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18.873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58.935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83,55%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19.429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98,68%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80.213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85,87%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(94,18%); a menor, a do Sul (83,55%). Nos setores de FCU a mediana é 98,68%; nos demais, 85,87%. Entre os municípios, a mediana vai de 43,57% (São Caetano do Sul) a 100,00% (Água Preta).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DS26-2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casa de vila ou em condomínio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227049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 — Domicílios Particulares Permanentes Ocupados, Tipo de espécie é casa de vila ou em condomínio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91488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12.804 (12,30%)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70,74%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64.589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64.589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70,74% dos setores têm valor zero; um em cada quatro tem mais de 2,19%, e um em cada dez, mais de 12,14%.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14159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16.901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54.803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8.383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16.793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74.511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(66,2%); a menor, a do Centro-Oeste (22,2%). Nos setores de FCU, 31,5% têm valor acima de zero; nos demais, 28,8%. Entre os municípios, vai de 0,0% (Arara) a 76,9% (Natal).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DS27-2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crianças de 0 a 4 anos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48703"/>
              </p:ext>
            </p:extLst>
          </p:nvPr>
        </p:nvGraphicFramePr>
        <p:xfrm>
          <a:off x="777240" y="1737360"/>
          <a:ext cx="3429000" cy="216623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427839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 (1,75%)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5,21%; um em cada quatro tem mais de 6,72%. Entre o P10 e o P90, vai de 2,81% a 8,26%; 0,52%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048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5135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844130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82.975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1711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(6,32%); a menor, a do Sul (4,65%). Nos setores de FCU a mediana é 6,81%; nos demais, 4,85%. Entre os municípios, a mediana vai de 4,14% (Porto Alegre) a 10,84% (Portel).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DS28-2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com menos de 15 anos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850354"/>
              </p:ext>
            </p:extLst>
          </p:nvPr>
        </p:nvGraphicFramePr>
        <p:xfrm>
          <a:off x="777240" y="1737360"/>
          <a:ext cx="3429000" cy="230568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 | V01032 — 5 a 9 anos | V01033 — 10 a 14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85534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 (0,25%)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17,19%; um em cada quatro tem mais de 20,98%. Entre o P10 e o P90, vai de 10,08% a 24,49%; 0,50%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901379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(20,64%); a menor, a do Sul (15,85%). Nos setores de FCU a mediana é 21,93%; nos demais, 16,07%. Entre os municípios, a mediana vai de 13,28% (São Paulo das Missões) a 28,57% (Autazes).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DS29-2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60 anos ou mais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767688"/>
              </p:ext>
            </p:extLst>
          </p:nvPr>
        </p:nvGraphicFramePr>
        <p:xfrm>
          <a:off x="777240" y="1737360"/>
          <a:ext cx="3429000" cy="230568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10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240632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 (0,27%)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85,71%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16,57%; um em cada quatro tem mais de 23,07%. Entre o P10 e o P90, vai de 7,20% a 29,26%; 0,30%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07265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84.454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(19,34%); a menor, a do Norte (11,18%). Nos setores de FCU a mediana é 10,55%; nos demais, 18,49%. Entre os municípios, a mediana vai de 7,30% (Portel) a 29,40% (São Paulo das Missões).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DS30-2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 Populacional: 60+ por 100 menores de 15 anos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05584"/>
              </p:ext>
            </p:extLst>
          </p:nvPr>
        </p:nvGraphicFramePr>
        <p:xfrm>
          <a:off x="777240" y="1737360"/>
          <a:ext cx="3429000" cy="216623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 | V01032 — 5 a 9 anos | V01033 — 10 a 14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189349"/>
            <a:ext cx="3429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zero; sem corte em [0, 1] (não é proporção); escala ×100</a:t>
            </a:r>
            <a:endParaRPr lang="pt-BR" sz="850" noProof="0" dirty="0"/>
          </a:p>
        </p:txBody>
      </p:sp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248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992 (0,95%)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134,66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141,59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275,00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4.750,00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Eixo até o P99 (633,33); 1.027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(633,33); 1.027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96,30; um em cada quatro tem mais de 169,57. Entre o P10 e o P90, vai de 30,77 a 275,00; 0,21%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605421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61.291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7.154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83.782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114,81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(122,93); a menor, a do Norte (53,55). Nos setores de FCU a mediana é 47,91; nos demais, 114,81. Entre os municípios, a mediana vai de 24,12 (Portel) a 217,46 (São Paulo das Missões).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DS31-2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Dependência de Idosos: 60+ por 100 pessoas de 15 a 59 anos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609446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— 15 a 19 anos | V01035 — 20 a 24 anos | V01036 — 25 a 29 anos | V01037 — 30 a 39 anos | V01038 — 40 a 49 anos | V01039 — 50 a 59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zero; sem corte em [0, 1] (não é proporção); escala ×100</a:t>
            </a:r>
            <a:endParaRPr lang="pt-BR" sz="850" noProof="0" dirty="0"/>
          </a:p>
        </p:txBody>
      </p:sp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65436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 (0,29%)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Eixo até o P99 (76,72); 1.038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(76,72); 1.038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25,16; um em cada quatro tem mais de 36,77. Entre o P10 e o P90, vai de 10,35 a 49,66; 0,30%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02085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(29,97); a menor, a do Norte (16,58). Nos setores de FCU a mediana é 15,67; nos demais, 28,39. Entre os municípios, a mediana vai de 11,86 (São José de Ribamar) a 50,58 (São Paulo das Missões).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DS32-2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70+ entre os de 60+ (proxy de longevidade; NÃO é o LI, que exigiria a faixa 75+, inexistente nos agregados por setor)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902162"/>
              </p:ext>
            </p:extLst>
          </p:nvPr>
        </p:nvGraphicFramePr>
        <p:xfrm>
          <a:off x="777240" y="1737360"/>
          <a:ext cx="3429000" cy="202679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049903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corte em [0, 1] (não é proporção); escala ×100</a:t>
            </a:r>
            <a:endParaRPr lang="pt-BR" sz="850" noProof="0" dirty="0"/>
          </a:p>
        </p:txBody>
      </p:sp>
      <p:graphicFrame>
        <p:nvGraphicFramePr>
          <p:cNvPr id="10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875909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2.136 (2,05%)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42,86; um em cada quatro tem mais de 50,00. Entre o P10 e o P90, vai de 28,95 a 55,95; 0,31%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033421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18.631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83.341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(43,97); a menor, a do Norte (38,46). Nos setores de FCU a mediana é 36,26; nos demais, 44,32. Entre os municípios, a mediana vai de 36,21 (Manaus) a 55,77 (Arara).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2b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 entre os indicadores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da descritiva de cada indicador, as correlações: os componentes do IVS, cada tema e os 31 juntos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IVS-7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631539"/>
              </p:ext>
            </p:extLst>
          </p:nvPr>
        </p:nvGraphicFramePr>
        <p:xfrm>
          <a:off x="777240" y="1719072"/>
          <a:ext cx="10635385" cy="202577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Correlação negativa mais forte: Renda média e Cor/raça PPI (-0,811).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IVS-7: mapa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401978"/>
              </p:ext>
            </p:extLst>
          </p:nvPr>
        </p:nvGraphicFramePr>
        <p:xfrm>
          <a:off x="777240" y="1719072"/>
          <a:ext cx="5532120" cy="21945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Lixo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Renda média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Correlação negativa mais forte: Renda média e Cor/raça PPI (-0,811).</a:t>
            </a:r>
            <a:endParaRPr lang="pt-BR" sz="1250" noProof="0" dirty="0"/>
          </a:p>
        </p:txBody>
      </p:sp>
      <p:pic>
        <p:nvPicPr>
          <p:cNvPr id="8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11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662" y="1673352"/>
            <a:ext cx="4440115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32520" y="1764792"/>
            <a:ext cx="2679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Sem banheiro e Banheiro graduado (1,000). A mais baixa: Lixo inadequado e Sem banheiro nem sanitário (0,064).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60624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611645"/>
              </p:ext>
            </p:extLst>
          </p:nvPr>
        </p:nvGraphicFramePr>
        <p:xfrm>
          <a:off x="777240" y="1719072"/>
          <a:ext cx="5532120" cy="21945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Renda média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Renda sem o extremo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Renda (mediana mun.)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Responsável mulher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Correlação negativa mais forte: Renda sem o extremo e Cor/raça PPI (-0,811).</a:t>
            </a:r>
            <a:endParaRPr lang="pt-BR" sz="1250" noProof="0" dirty="0"/>
          </a:p>
        </p:txBody>
      </p:sp>
      <p:pic>
        <p:nvPicPr>
          <p:cNvPr id="8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624371"/>
              </p:ext>
            </p:extLst>
          </p:nvPr>
        </p:nvGraphicFramePr>
        <p:xfrm>
          <a:off x="777240" y="1719072"/>
          <a:ext cx="5532120" cy="247954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Domicílio improvisado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Habitação precária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Moradia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Moradia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Apartamento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Casa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Casa de vila/condomínio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427220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Habitação precária e Moradia não convencional (0,965). Correlação negativa mais forte: Apartamento e Casa (-0,902).</a:t>
            </a:r>
            <a:endParaRPr lang="pt-BR" sz="1250" noProof="0" dirty="0"/>
          </a:p>
        </p:txBody>
      </p:sp>
      <p:pic>
        <p:nvPicPr>
          <p:cNvPr id="8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6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557207"/>
              </p:ext>
            </p:extLst>
          </p:nvPr>
        </p:nvGraphicFramePr>
        <p:xfrm>
          <a:off x="777240" y="1719072"/>
          <a:ext cx="4983480" cy="206273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Crianças 0–4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População 0–14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Pessoas 60+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Índice de envelhecimento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Dependência idosa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70+ entre 60+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010406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Pessoas 60+ e Dependência idosa (0,996). Correlação negativa mais forte: População 0–14 e Índice de envelhecimento (-0,917).</a:t>
            </a:r>
            <a:endParaRPr lang="pt-BR" sz="1250" noProof="0" dirty="0"/>
          </a:p>
        </p:txBody>
      </p:sp>
      <p:pic>
        <p:nvPicPr>
          <p:cNvPr id="8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31 indicadores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31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29" y="1673352"/>
            <a:ext cx="4425783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32520" y="1764792"/>
            <a:ext cx="2679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Sem banheiro e Banheiro graduado (1,000). Correlação negativa mais forte: População 0–14 e Índice de envelhecimento (-0,917).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60624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 da análise fatorial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lixo sem · banheiro graduado · rotação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pesos 60/40 · normalização municipal. 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da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432894"/>
              </p:ext>
            </p:extLst>
          </p:nvPr>
        </p:nvGraphicFramePr>
        <p:xfrm>
          <a:off x="777240" y="1719072"/>
          <a:ext cx="5303520" cy="21945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73.878 setores: os 104.108 da descritiva menos 30.230 com algum dos sete componentes faltante. Um setor sai se faltar qualquer um deles (exclusão por lista).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de correlação de entrada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73.878 setores 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786931"/>
              </p:ext>
            </p:extLst>
          </p:nvPr>
        </p:nvGraphicFramePr>
        <p:xfrm>
          <a:off x="777240" y="1719072"/>
          <a:ext cx="10635385" cy="202577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inadequad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gradu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fora da diagonal, em módulo, é 0,784, entre Renda (invertida) e Cor/raça PPI. A fatorial usa a correlação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dos dados à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46717"/>
              </p:ext>
            </p:extLst>
          </p:nvPr>
        </p:nvGraphicFramePr>
        <p:xfrm>
          <a:off x="777240" y="1719072"/>
          <a:ext cx="5486400" cy="27432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qui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-quadrado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185.197,02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0,0815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720840" y="1719072"/>
            <a:ext cx="46908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0,7807; Bartlett com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-quadrado de 185.197,02 e 21 graus de liberdade.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MSA e comunalidade por variável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117941"/>
              </p:ext>
            </p:extLst>
          </p:nvPr>
        </p:nvGraphicFramePr>
        <p:xfrm>
          <a:off x="777240" y="1719072"/>
          <a:ext cx="612648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(oblíqua)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60920" y="1719072"/>
            <a:ext cx="40507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(0,709). Menor comunalidade: Razão de moradores (0,375).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e análise paralela de Horn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variáveis · 73.878 setores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091453"/>
              </p:ext>
            </p:extLst>
          </p:nvPr>
        </p:nvGraphicFramePr>
        <p:xfrm>
          <a:off x="777240" y="1719072"/>
          <a:ext cx="5760720" cy="21945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de Horn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variância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1,071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73,61%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8,64%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autovalores passam de 1 (critério de Kaiser) e também ficam acima da referência de Horn. Os dois primeiros componentes somam 60,82% da variância.</a:t>
            </a:r>
            <a:endParaRPr lang="pt-BR" sz="1250" noProof="0" dirty="0"/>
          </a:p>
        </p:txBody>
      </p:sp>
      <p:pic>
        <p:nvPicPr>
          <p:cNvPr id="8" name="Image 0" descr="Autovalores observados e a referência da análise paralel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observados e a referência da análise paralela.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fatores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933009"/>
              </p:ext>
            </p:extLst>
          </p:nvPr>
        </p:nvGraphicFramePr>
        <p:xfrm>
          <a:off x="777240" y="1719072"/>
          <a:ext cx="5303520" cy="10972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 de Kaiser (autovalor &gt; 1)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Análise paralela de Horn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Retidos na solução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fatores cada; a solução retém 2, que explicam 60,82% da variância.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sem rotação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820941"/>
              </p:ext>
            </p:extLst>
          </p:nvPr>
        </p:nvGraphicFramePr>
        <p:xfrm>
          <a:off x="777240" y="1719072"/>
          <a:ext cx="457200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719072"/>
            <a:ext cx="56052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(invertida). Maior carga em F2: Água inadequada.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043429"/>
              </p:ext>
            </p:extLst>
          </p:nvPr>
        </p:nvGraphicFramePr>
        <p:xfrm>
          <a:off x="777240" y="1719072"/>
          <a:ext cx="457200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719072"/>
            <a:ext cx="56052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(invertida). Maior carga em F2: Água inadequada.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matriz padrão e matriz estrutura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000102"/>
              </p:ext>
            </p:extLst>
          </p:nvPr>
        </p:nvGraphicFramePr>
        <p:xfrm>
          <a:off x="777240" y="1719072"/>
          <a:ext cx="5852160" cy="2194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padrão dá o efeito próprio de cada fator; a estrutura, a correlação da variável com o fator. As duas são reportadas.</a:t>
            </a:r>
            <a:endParaRPr lang="pt-BR" sz="1250" noProof="0" dirty="0"/>
          </a:p>
        </p:txBody>
      </p:sp>
      <p:pic>
        <p:nvPicPr>
          <p:cNvPr id="8" name="Image 0" descr="Mapa das cargas da referênci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das cargas da referência.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entre os fatores (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569589"/>
              </p:ext>
            </p:extLst>
          </p:nvPr>
        </p:nvGraphicFramePr>
        <p:xfrm>
          <a:off x="777240" y="1719072"/>
          <a:ext cx="3657600" cy="822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92040" y="1719072"/>
            <a:ext cx="65196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F1 e F2 têm correlação de 0,411.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do índice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935936"/>
              </p:ext>
            </p:extLst>
          </p:nvPr>
        </p:nvGraphicFramePr>
        <p:xfrm>
          <a:off x="777240" y="1719072"/>
          <a:ext cx="7863840" cy="202577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7,46%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dimensões pesam 60% e 40%; o maior peso no índice é de Renda (invertida) (19,28%).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referência proposta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856934"/>
              </p:ext>
            </p:extLst>
          </p:nvPr>
        </p:nvGraphicFramePr>
        <p:xfrm>
          <a:off x="777240" y="1719072"/>
          <a:ext cx="384048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Estatística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0,9120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3951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índice até 0,3306; entre o P10 e o P90, vai de 0,2313 a 0,4311. As regiões estão no anexo (aba Fatorial).</a:t>
            </a:r>
            <a:endParaRPr lang="pt-BR" sz="1250" noProof="0" dirty="0"/>
          </a:p>
        </p:txBody>
      </p:sp>
      <p:pic>
        <p:nvPicPr>
          <p:cNvPr id="8" name="Image 0" descr="Histograma do índice, colorido pela faix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colorido pela faixa.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faixas, pelas duas regras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715223"/>
              </p:ext>
            </p:extLst>
          </p:nvPr>
        </p:nvGraphicFramePr>
        <p:xfrm>
          <a:off x="777240" y="1719072"/>
          <a:ext cx="530352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21.270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23,85%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3.933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24,97%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3.933 setores (5,32%) ficam na faixa muito elevada; pelos quartis, cada faixa tem cerca de um quarto.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contra as favelas (FCU)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475444"/>
              </p:ext>
            </p:extLst>
          </p:nvPr>
        </p:nvGraphicFramePr>
        <p:xfrm>
          <a:off x="777240" y="1719072"/>
          <a:ext cx="4754880" cy="10972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044952"/>
            <a:ext cx="576072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da AUC municipal: ao menos 30 setores de FCU e fora.</a:t>
            </a:r>
            <a:endParaRPr lang="pt-BR" sz="1250" noProof="0" dirty="0"/>
          </a:p>
        </p:txBody>
      </p:sp>
      <p:pic>
        <p:nvPicPr>
          <p:cNvPr id="8" name="Image 0" descr="Curva ROC do índice contra FCU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FCU.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por município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807326"/>
              </p:ext>
            </p:extLst>
          </p:nvPr>
        </p:nvGraphicFramePr>
        <p:xfrm>
          <a:off x="777240" y="1719072"/>
          <a:ext cx="4754880" cy="1645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com AUC calculada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Entram na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0,6037 (Duque de Caxias)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0,9544 (Campinas)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9359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na mediana só os municípios com ao menos 30 setores de FCU e 30 fora.</a:t>
            </a:r>
            <a:endParaRPr lang="pt-BR" sz="1250" noProof="0" dirty="0"/>
          </a:p>
        </p:txBody>
      </p:sp>
      <p:pic>
        <p:nvPicPr>
          <p:cNvPr id="8" name="Image 0" descr="Os municípios que entram na mediana; tracejado = mediana. A lista completa está no anexo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que entram na mediana; tracejado = mediana. A lista completa está no anexo.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Elegibilidade pelos critérios do NB05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188564"/>
              </p:ext>
            </p:extLst>
          </p:nvPr>
        </p:nvGraphicFramePr>
        <p:xfrm>
          <a:off x="777240" y="1719072"/>
          <a:ext cx="7863840" cy="2279904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2275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critérios foram fixados antes de rodar a grade do NB05.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Demandas da fatorial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S0: IVS-7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variáveis · 87.545 setores · referência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427867"/>
              </p:ext>
            </p:extLst>
          </p:nvPr>
        </p:nvGraphicFramePr>
        <p:xfrm>
          <a:off x="777240" y="1719072"/>
          <a:ext cx="4297680" cy="190131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360351"/>
              </p:ext>
            </p:extLst>
          </p:nvPr>
        </p:nvGraphicFramePr>
        <p:xfrm>
          <a:off x="5623560" y="1719072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7240" y="3803269"/>
            <a:ext cx="429768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7 variáveis: 87.545 dos 104.108. Nenhum setor do S0 sai: as variáveis deste cenário estão todas no S0.</a:t>
            </a:r>
            <a:endParaRPr lang="pt-BR" sz="1250" noProof="0" dirty="0"/>
          </a:p>
        </p:txBody>
      </p:sp>
      <p:sp>
        <p:nvSpPr>
          <p:cNvPr id="9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S1: IVS-6 (IVS-7 sem lixo)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variáveis · 87.545 setores · demanda 10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437443"/>
              </p:ext>
            </p:extLst>
          </p:nvPr>
        </p:nvGraphicFramePr>
        <p:xfrm>
          <a:off x="777240" y="1719072"/>
          <a:ext cx="4297680" cy="16626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622235"/>
              </p:ext>
            </p:extLst>
          </p:nvPr>
        </p:nvGraphicFramePr>
        <p:xfrm>
          <a:off x="5623560" y="1719072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7240" y="3564636"/>
            <a:ext cx="429768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6 variáveis: 87.545 dos 104.108. Nenhum setor do S0 sai: as variáveis deste cenário estão todas no S0.</a:t>
            </a:r>
            <a:endParaRPr lang="pt-BR" sz="1250" noProof="0" dirty="0"/>
          </a:p>
        </p:txBody>
      </p:sp>
      <p:sp>
        <p:nvSpPr>
          <p:cNvPr id="9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S2: IVS-7 + não chega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78.256 setores · demanda 5, 7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57432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126067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642833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14.083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47.308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5.167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7.493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78.256 dos 104.108. Em relação ao S0, saem 9.289: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S3: IVS-7 + sem canalização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87.512 setores · demanda 7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954298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839058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732301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50.580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87.512 dos 104.108. Em relação ao S0, saem 33: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S4: IVS-7 + sem banheiro (V00495)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75.955 setores · demanda 6, 7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319082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791756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70828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3.961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14.171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45.680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4.761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7.382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75.955 dos 104.108. Em relação ao S0, saem 11.590: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S5: IVS-7 + não convencional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87.545 setores · demanda 9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35644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211752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078598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87.545 dos 104.108. Nenhum setor do S0 sai: a variável nova não falta em nenhum deles.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S6: IVS-7 + as quatro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variáveis · 69.458 setores · demanda 8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438977"/>
              </p:ext>
            </p:extLst>
          </p:nvPr>
        </p:nvGraphicFramePr>
        <p:xfrm>
          <a:off x="777240" y="1719072"/>
          <a:ext cx="4297680" cy="285584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49109"/>
              </p:ext>
            </p:extLst>
          </p:nvPr>
        </p:nvGraphicFramePr>
        <p:xfrm>
          <a:off x="5623560" y="1719072"/>
          <a:ext cx="5029200" cy="142405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284251"/>
              </p:ext>
            </p:extLst>
          </p:nvPr>
        </p:nvGraphicFramePr>
        <p:xfrm>
          <a:off x="5623560" y="3371723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11.636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43.229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4.548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6.891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757801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11 variáveis: 69.458 dos 104.108. Em relação ao S0, saem 18.087: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S7: S6 sem lixo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variáveis · 69.458 setores · demanda 8, 10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817508"/>
              </p:ext>
            </p:extLst>
          </p:nvPr>
        </p:nvGraphicFramePr>
        <p:xfrm>
          <a:off x="777240" y="1719072"/>
          <a:ext cx="4297680" cy="26172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46737"/>
              </p:ext>
            </p:extLst>
          </p:nvPr>
        </p:nvGraphicFramePr>
        <p:xfrm>
          <a:off x="5623560" y="1719072"/>
          <a:ext cx="5029200" cy="142405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978433"/>
              </p:ext>
            </p:extLst>
          </p:nvPr>
        </p:nvGraphicFramePr>
        <p:xfrm>
          <a:off x="5623560" y="3371723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11.636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43.229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4.548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6.891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519168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10 variáveis: 69.458 dos 104.108. Em relação ao S0, saem 18.087: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variantes dos cenários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Mesmos setores do cenário de origem; muda a renda ou a escala (postos dentro do município)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565744"/>
              </p:ext>
            </p:extLst>
          </p:nvPr>
        </p:nvGraphicFramePr>
        <p:xfrm>
          <a:off x="777240" y="1719072"/>
          <a:ext cx="10634472" cy="19751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Variante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variantes de renda trocam só o setor extremo de Belo Horizonte; a de postos usa os mesmos setores.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1: o efeito das três rendas na fatorial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de renda com a mediana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611359"/>
              </p:ext>
            </p:extLst>
          </p:nvPr>
        </p:nvGraphicFramePr>
        <p:xfrm>
          <a:off x="777240" y="1719072"/>
          <a:ext cx="10634472" cy="128625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10972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de F1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é 74,00% nas três rendas (igual até a segunda casa): a troca afeta um setor só.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3: sem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sem 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357323"/>
              </p:ext>
            </p:extLst>
          </p:nvPr>
        </p:nvGraphicFramePr>
        <p:xfrm>
          <a:off x="777240" y="1719072"/>
          <a:ext cx="10607040" cy="19751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 (S0)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rot.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rot.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-0,373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soluções lado a lado no S0 (IVS-7, NB04); os pesos de cada rotação estão no DM04 e no FP09.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5: o perfil dos setores com e sem "água não chega"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"não chega"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863730"/>
              </p:ext>
            </p:extLst>
          </p:nvPr>
        </p:nvGraphicFramePr>
        <p:xfrm>
          <a:off x="777240" y="1719072"/>
          <a:ext cx="7863840" cy="19751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= 0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89.212)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0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5.190)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2,6878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2,8880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2.830,52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1.526,40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(a), contra as outras categorias de canalização, 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), contra o IVS-7: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está no DM06.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6: o "sem banheiro" na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644122"/>
              </p:ext>
            </p:extLst>
          </p:nvPr>
        </p:nvGraphicFramePr>
        <p:xfrm>
          <a:off x="777240" y="1719072"/>
          <a:ext cx="9418320" cy="74066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Perdidos 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vs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688336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 usa a V00495. No NB05, as três versões do banheiro entram na grade (banheiro fora: 108 especificações, 48 elegíveis; banheiro graduado: 108 especificações, 48 elegíveis; banheiro v00495: 108 especificações, 96 elegíveis) e o graduado vai para a referência proposta.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7: canalização e sem banheiro, uma por vez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830160"/>
              </p:ext>
            </p:extLst>
          </p:nvPr>
        </p:nvGraphicFramePr>
        <p:xfrm>
          <a:off x="777240" y="1719072"/>
          <a:ext cx="9692640" cy="12344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58,51%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59,24%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18211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cenário acrescenta uma variável ao IVS-7 (S0) e perde os setores sem ela.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8: tudo isso junto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191355"/>
              </p:ext>
            </p:extLst>
          </p:nvPr>
        </p:nvGraphicFramePr>
        <p:xfrm>
          <a:off x="777240" y="1719072"/>
          <a:ext cx="10058400" cy="21915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3918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S6, Kaiser e Horn indicam 4 fatores cada; a solução fica com 2 em todos os cenários.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9: a moradia não convencional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526704"/>
              </p:ext>
            </p:extLst>
          </p:nvPr>
        </p:nvGraphicFramePr>
        <p:xfrm>
          <a:off x="777240" y="1719072"/>
          <a:ext cx="9235440" cy="98755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convencional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54,45%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93522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diagnóstico da variável (MSA, comunalidade, % de zeros) está no DM10.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10: testar o lixo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01100"/>
              </p:ext>
            </p:extLst>
          </p:nvPr>
        </p:nvGraphicFramePr>
        <p:xfrm>
          <a:off x="777240" y="1719072"/>
          <a:ext cx="10634472" cy="137337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(Kaiser)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(Horn)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Variância,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forma fator próprio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321050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lixo (S0), Kaiser e Horn indicam 2 fatores cada, e o lixo forma fator próprio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Sem o lixo (S1), indicam 1 fator cada.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11: as duas rotações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352609"/>
              </p:ext>
            </p:extLst>
          </p:nvPr>
        </p:nvGraphicFramePr>
        <p:xfrm>
          <a:off x="777240" y="1719072"/>
          <a:ext cx="10634472" cy="320954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F1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F2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75,89%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77,17%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65,82%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59,64%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40,36%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71,15%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56,45%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55,48%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44,52%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46,18%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15721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reportada pelas duas matrizes (padrão e estrutura);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só existe na oblíqua.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contra FCU, cenário a cenário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derivado das perguntas em aberto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186472"/>
              </p:ext>
            </p:extLst>
          </p:nvPr>
        </p:nvGraphicFramePr>
        <p:xfrm>
          <a:off x="777240" y="1719072"/>
          <a:ext cx="10634472" cy="356247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indice_01 (pesos </a:t>
                      </a:r>
                      <a:r>
                        <a:rPr lang="pt-BR" sz="8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invertida sozinha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simples de postos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0,8651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5101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contra os setores de FCU: o índice, a renda invertida sozinha e a média simples de postos.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sozinha contra o índice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649193"/>
              </p:ext>
            </p:extLst>
          </p:nvPr>
        </p:nvGraphicFramePr>
        <p:xfrm>
          <a:off x="777240" y="1719072"/>
          <a:ext cx="6217920" cy="246888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 (referência proposta)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renda sozinha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média de postos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município: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nos estratos de renda: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0,7062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nos estratos de renda: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Queda da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deviance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ao somar o índice à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135,45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do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41655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nenhuma das 192 especificações avaliadas o índice supera a renda sozinha na AUC global.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5400" noProof="0" dirty="0"/>
          </a:p>
        </p:txBody>
      </p:sp>
      <p:sp>
        <p:nvSpPr>
          <p:cNvPr id="3" name="Text 1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versões da análise fatorial</a:t>
            </a:r>
            <a:endParaRPr lang="pt-BR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× lixo × água canalizada × banheiro × moradia, todas com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pesos 60/40 e normalização municipal: quem passa nos critérios e o que muda de um eixo para outro</a:t>
            </a:r>
            <a:endParaRPr lang="pt-B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 a V108.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48078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fixo.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versões usam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pesos 60/40 e normalização municipal, com 2 fatores. Muda só o que entra na fatorial.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577084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própria.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fatorial roda nos setores que têm todas as variáveis da versão.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3006090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comum.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comparações entre versões usam os 67.981 setores que têm as variáveis de todas as 108.</a:t>
            </a:r>
            <a:endParaRPr lang="pt-BR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3435096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Critérios. F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ixados antes: KMO ≥ 0,70; MSA ≥ 0,50; comunalidade ≥ 0,30; carga ≥ 0,40.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eixos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2 × 3 × 3 × 2 = 108 versões, de 6 a 10 variáveis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742053"/>
              </p:ext>
            </p:extLst>
          </p:nvPr>
        </p:nvGraphicFramePr>
        <p:xfrm>
          <a:off x="777240" y="1719072"/>
          <a:ext cx="10634472" cy="1517523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Opções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 · sem extremo ·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· sem 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 · + não chega · + sem canalização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sem banheiro (V00495) ·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437763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Fixas em todas: água inadequada, esgoto, razão de moradores, analfabetismo, renda e cor/raça. "Não chega" e "sem canalização" não entram juntas: uma contém a outra.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própria, por opção de cada eixo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968516"/>
              </p:ext>
            </p:extLst>
          </p:nvPr>
        </p:nvGraphicFramePr>
        <p:xfrm>
          <a:off x="777240" y="1719072"/>
          <a:ext cx="10634472" cy="3116199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03643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versão tem de 68.000 a 87.545 setores; a amostra comum às 108 tem 67.981.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quem passa nos critérios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das 108 passam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Cada célula é uma versão; abaixo do código, &quot;passa&quot; ou o primeiro critério que falha (comun. = comunalidade &lt; 0,30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célula é uma versão; abaixo do código, "passa" ou o primeiro critério que falha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= comunalidade &lt; 0,30).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lixo passam 3; sem lixo, 21.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VP05</a:t>
            </a:r>
            <a:endParaRPr lang="pt-BR" sz="1100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C04D47D-FFB7-342C-9AB1-A6B6EDCE5598}"/>
              </a:ext>
            </a:extLst>
          </p:cNvPr>
          <p:cNvSpPr/>
          <p:nvPr/>
        </p:nvSpPr>
        <p:spPr>
          <a:xfrm>
            <a:off x="2290450" y="107099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Critérios. F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ixados antes: KMO ≥ 0,70; MSA ≥ 0,50; comunalidade ≥ 0,30; carga ≥ 0,40.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KMO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0,765 a 0,814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Quanto mais escura a célula, maior o KM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mais escura a célula, maior o KMO.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KMO é o da V033 (0,8143); o menor, o da V048 (0,7653).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AUC no município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0,812 a 0,864, na amostra comum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Mediana da AUC contra FCU entre os municípios com ao menos 30 setores de FCU e 30 for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da AUC contra FCU entre os municípios com ao menos 30 setores de FCU e 30 fora.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é a da V024 (0,8642); a menor, a da V038 (0,8120).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renda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21047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sem extremo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→ renda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[1,000;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 [0,0%; 0,0%]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renda original → renda com mediana, metade dos pares tem até 0,2%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0,999.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lixo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527050"/>
              </p:ext>
            </p:extLst>
          </p:nvPr>
        </p:nvGraphicFramePr>
        <p:xfrm>
          <a:off x="777240" y="1719072"/>
          <a:ext cx="10634472" cy="96545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→ sem 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 [0,004; 0,007]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 [-1;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[-0,011; 0,033]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 [0,787;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 [4,5%; 33,3%]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21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com lixo → sem lixo, metade dos pares tem até 8,2%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água canalizada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756336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água não chega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 [-0,009; -0,002]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 [-0,022; 0,019]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 [0,833; 0,996]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 [6,0%; 34,3%]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sem 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[0,016; 0,023]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[-0,019; 0,012]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 [0,888;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12,1% [4,0%; 26,1%]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água não chega → + sem 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 [0,024; 0,027]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[-0,008; 0,003]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 [0,987; 0,998]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 [4,7%; 12,1%]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água: só a inadequada → + água não chega, metade dos pares tem até 16,3%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0,965.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banheiro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455762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sem banheiro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 [0,002; 0,010]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[0,011; 0,040]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[0,919; 0,996]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 [7,1%; 25,9%]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 [-0,015; -0,006]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 [0,010; 0,041]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[0,930;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 [8,0%; 25,6%]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→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-0,017 [-0,020; -0,015]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 [-0,007; 0,008]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 [0,997; 0,999]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 [2,4%; 4,2%]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banheiro fora → + banheiro graduado, metade dos pares tem até 11,3%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0,993.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moradia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603891"/>
              </p:ext>
            </p:extLst>
          </p:nvPr>
        </p:nvGraphicFramePr>
        <p:xfrm>
          <a:off x="777240" y="1719072"/>
          <a:ext cx="10634472" cy="96545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fora → + moradia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 [-0,002;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[-0,003; 0,029]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[0,943;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 [0,0%; 13,4%]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 → 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moradia fora → + moradia não convencional, metade dos pares tem até 1,1%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1,000.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versões, em ordem de código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571423"/>
              </p:ext>
            </p:extLst>
          </p:nvPr>
        </p:nvGraphicFramePr>
        <p:xfrm>
          <a:off x="777240" y="1719072"/>
          <a:ext cx="10634472" cy="390550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com a V023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com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+ moradia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com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+ moradia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 (2)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versões, em ordem de código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202257"/>
              </p:ext>
            </p:extLst>
          </p:nvPr>
        </p:nvGraphicFramePr>
        <p:xfrm>
          <a:off x="777240" y="1719072"/>
          <a:ext cx="10634472" cy="2597023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com a V023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com lixo · água: só a inadequada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+ moradia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das elegíveis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Posição média em estabilidade, AUC no município e parcimônia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737794"/>
              </p:ext>
            </p:extLst>
          </p:nvPr>
        </p:nvGraphicFramePr>
        <p:xfrm>
          <a:off x="777240" y="1719072"/>
          <a:ext cx="10634472" cy="333298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</a:t>
                      </a:r>
                      <a:r>
                        <a:rPr lang="pt-BR" sz="9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p.p</a:t>
                      </a: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Posição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53228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 lida pela maior variação do peso de uma variável (o peso de F1 é fixo em 60/40). Empates: a versão mais próxima do IVS-BH 2012.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A01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A01 · Relatório descritivo do andamento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Capa. O relatório tem cinco partes: as demandas de setembro e como foram cobertas, a descrição de cada indicador, as correlações, a análise fatorial (a referência proposta e as demandas sobre ela) e as 108 versões da fatorial.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70 municípios do ELSI-Brasil; Censo 2022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109.032 setores; 104.108 na descritiva; 73.878 na fatorial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273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o objetivo deste relatório?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Mostrar o que fiz de cada demanda de setembro, para você conferir os números com os seus resultados e decidir o que fica em aberto.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a base de dados?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setores censitários dos 70 municípios do ELSI-Brasil, Censo 2022: 109.032 setores, dos quais 104.108 são urbanos com dados divulgados.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DM00 · As demandas e como foram cobertas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Abre a parte das demandas de setembro. Cada slide tem: o pedido, como eu li, o que foi feito, o que contornei e onde está o resultado.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11 demandas, todas concluídas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Pontos abertos: demandas 6, 8 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517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Todas as demandas foram atendidas?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 11 estão concluídas. Três têm um ponto aberto: o banheiro graduado (demanda 6), a leitura de "fatorial de tudo isso" (demanda 8) e manter ou não a moradia não convencional (demanda 9).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"o que contornamos"?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onde o dado não deixou fazer exatamente o pedido, e o que fiz no lugar. Por exemplo, a mediana de renda do setor não existe no arquivo do Censo.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DM01 · As 11 demandas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 lista das 11 demandas de setembro, o estado de cada uma, o slide que a explica e o slide do resultado.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Demanda 6: V00495 feita; graduada em aberto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Demanda 9: moradia como não convencional, sem excluir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639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demanda 4 aparece com o DM05, que não está no relatório. Por quê?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Tirei o DM05 na edição. O resultado da demanda 4 (separar útil × inútil) está no mapa, como diz a coluna "Resultado em".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quer dizer "graduada (V00237) em aberto" na demanda 6?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sem banheiro foi juntado com a V00495. A versão graduada, que usa a V00237, foi feita depois, no NB05; fica em aberto se ela substitui a V00495.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demanda 8 diz "leitura padrão da pergunta 6"?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"Fatorial de tudo isso" pode ser lida de mais de um jeito. Usei a leitura de juntar as quatro variáveis novas ao IVS-7 (cenário S6); falta confirmar com você.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DM02 · Demanda 1: a renda com a mediana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1: uma coluna de renda com a mediana. A renda do Censo por setor é a média (V06004); a mediana do setor (V06006) não vem no arquivo. O setor extremo de Belo Horizonte tem renda média de R$ 170.418,06.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 310620005650366, R$ 170.418,06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Imputado: R$ 3.058,235 (mediana de BH sem o setor)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1 setor difere; base passa de 104 para 105 colunas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639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não usou a mediana do setor?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Ela não existe no arquivo do Censo: vêm V06001 a V06005, não V06006. Por isso troquei só o setor extremo pela mediana de BH calculada sem ele.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Quanto isso muda?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Só 1 setor fica diferente. A média de BH vai de R$ 4.649,57 a R$ 4.649,47 conforme a alternativa, e a média nos 70 fica em R$ 4.185,80.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esse setor é extremo?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o maior valor da base, muito acima dos outros, e ele sozinho puxava a média de BH. Não investiguei o motivo no setor (por exemplo, poucos domicílios de renda muito alta).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DM03 · Demanda 2: quadro de indicadores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2: o quadro de indicadores. São 28 indicadores em quatro dimensões; 7 deles formam o IVS-7, adaptado do IVS-BH 2012.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28 indicadores: 6 demografia, 7 morfologia, 10 saneamento, 5 socioeconômica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7 no IVS-7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está a definição de cada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Um slide por indicador (DS03 a DS33): numerador, denominador, arquivo do Censo e a distribuição. O quadro também está no Quadro_Indicadores.csv da entrega.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28 aqui e 31 slides de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28 do quadro mais as duas variantes de renda e o banheiro graduado, que foram criados depois, nas demandas 1 e 6.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o IVS-7?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sete componentes do IVS-BH 2012 adaptados ao Censo 2022: água, esgoto, lixo, razão de moradores, analfabetismo, renda e cor/raça.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DM04 · Demanda 3: fatorial sem bootstrap, sem e com rotação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727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3: fatorial sem bootstrap, sem e com rotação. Rotação é girar os eixos dos fatores para cada variável carregar forte num fator só, o que facilita dar nome aos fatores.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S0: F1 75,89% sem rotação; 74,00% Varimax; 74,69% promax padrão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Φ no S0: 0,151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tirou o bootstrap?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Foi o pedido. Para ter uma ideia da incerteza, rodei a fatorial tirando um município de cada vez (S0, S1 e S6).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a diferença entre Varimax e promax?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Varimax mantém os fatores sem correlação (ortogonal). A promax deixa os fatores se correlacionarem (oblíqua); por isso tem Φ, a correlação entre eles.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Os pesos mudam muito com a rotação?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 S0, o peso de F1 vai de 73,40% (promax, estrutura) a 75,89% (sem rotação). Como diz Figueiredo, as rotações costumam dar resultados parecidos quando o padrão é claro.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DM06 · Demanda 5: comparar "não chega"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5: comparar "água não chega" (a água não chega ao domicílio por canalização). Fiz duas leituras: (a) contra as outras categorias de água e (b) contra os indicadores do IVS-7.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Spearman com água inadequada: 0,459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Zeros: 94,5% dos setores com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mostra a comparação?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"Não chega" se correlaciona mais com as outras faltas de água: 0,514 com sem água canalizada e 0,506 com água só no terreno. Com o IVS-7, a maior é com água inadequada (0,459).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o % de zeros mudou de 85,7% para 94,5%?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85,7% usava os 104.108 setores como denominador e contava o faltante como não zero. Sobre os setores com valor, são 94,5%.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Os setores com "não chega" são mais vulneráveis?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mediana, sim: renda menor e analfabetismo, cor/raça PPI e esgoto inadequado maiores (FP03). É descrição, não causa.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DM07 · Demanda 6: juntar "sem banheiro"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727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6: juntar o "sem banheiro". A V00495 (sem banheiro de uso exclusivo) é a soma de três partes: V00236 (só banheiro de uso comum), V00237 (só sanitário) e V00238 (sem banheiro nem sanitário).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V00495 = V00236 + V00237 + V00238 em 91.199 de 91.199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Graduado: pesos 1, 2 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Como sabe que a V00495 contém as outras?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Conferi no banco: a soma V00236 + V00237 + V00238 fecha com a V00495 em 91.199 de 91.199 setores.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o banheiro graduado?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Uma nota de 0 a 1 que pesa a gravidade: 1 para uso comum, 2 para só sanitário, 3 para sem banheiro nem sanitário, dividido por 3 vezes o total de domicílios.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V00237 não estava na base?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 tinha sido extraída na primeira montagem. Extraí de novo dos arquivos do Censo.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DM08 · Demanda 7: adicionar canalização e sem banheiro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7: acrescentar canalização e sem banheiro. Uma variável nova por vez sobre o IVS-7: não chega (S2), sem canalização (S3) e sem banheiro (S4).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S2: 78.256 setores; S3: 87.512; S4: 75.955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KMO de 0,780 a 0,805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663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uma por vez?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 dá para ver o efeito de cada uma. Juntas, estão no S6 (demanda 8).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o S4 perde tantos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sem banheiro tem faltantes em muitos setores: o S4 fica com 75.955, 11.590 a menos que o S0.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KMO piora com as variáveis novas?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Não: fica entre 0,780 (S2) e 0,805 (S3); o S0 tem 0,783.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DM09 · Demanda 8: fatorial de tudo isso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8: fatorial de tudo isso. Li como o IVS-7 mais as quatro variáveis novas (não chega, sem canalização, sem banheiro e não convencional): cenário S6. O S7 é o S6 sem lixo.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S6: 69.458 setores, KMO 0,810, 48,94%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S7: KMO 0,813, 53,22%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907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o S6 explica menos variância?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Com 11 variáveis, dois fatores explicam 48,94%, contra 62,12% no IVS-7 (S0). Kaiser e Horn pedem 4 fatores no S6; fiquei com 2 para comparar com o IVS-BH.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Essa leitura de "tudo isso" está certa?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a minha leitura; preciso que você confirme. Se for outra, rodo de novo.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As três rendas mudam o resultado?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Não: o KMO é 0,810 nas três e a variância, 48,94%.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DM10 · Demanda 9: habitação convencional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9: habitação convencional. Usei no sentido da vulnerabilidade: moradia não convencional. Mostrei o diagnóstico em vez de tirar a variável.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Comunalidade 0,013 (S5); 0,018 (S6)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Zeros: 92,19% (S5)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moradia não convencional é problemática na fatorial?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Quase todo setor tem zero (92,19% no S5) e a comunalidade é muito baixa (0,013): a fatorial quase não "vê" a variável.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comunalidade?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parte da variância da variável que os fatores explicam. Abaixo de 0,30 ela fica fora pelos critérios do NB05.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Então tira ou mantém?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Pelo critério, sairia. Deixei o diagnóstico para decidirmos juntos.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DM11 · Demanda 10: testar lixo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996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10: testar lixo. Rodei com e sem o lixo: S1 (IVS-7 sem lixo) e S7 (S6 sem lixo).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S0: 2 fatores (Kaiser e Horn); S1: 1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Lixo × água inadequada: 0,095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acontece com o lixo?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 S0 ele forma um fator próprio na Varimax: Kaiser e Horn dão 2 fatores. Sem o lixo (S1) dão 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o lixo se separa?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Quase não se correlaciona com os outros indicadores (0,095 com água inadequada). Ele sozinho vira um fator.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Isso é estável?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 muito: em duas rodadas tirando um município de cada vez, o lixo muda de fator. E com lixo quase nenhuma versão passa nos critérios: só 3 das 108.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DM12 · Demanda 11: testar as duas rotações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727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11: testar as duas rotações. Varimax e promax; na promax há duas formas de ler as cargas: a matriz padrão (efeito próprio do fator) e a matriz estrutura (correlação da variável com o fator).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S1: F1 65,01% Varimax; 65,82% promax padrão; 59,64% estrutura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Φ no S1: 0,522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rotação usar?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 escolhi. Mostro as duas; os pesos de F1 no S1 ficam entre 59,64% e 65,82% nas leituras oblíquas e 65,01% na Varimax.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o Φ de 0,522 no S1?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correlação entre F1 e F2 na promax. Se fosse perto de zero, a Varimax bastaria.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Padrão ou estrutura?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padrão mostra quanto cada fator, sozinho, explica a variável; a estrutura soma também o que vem pela correlação entre os fatores. Reportei as duas.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DM14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DM14 · Tudo o que contornamos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996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Resumo de tudo o que contornei, demanda por demanda: o obstáculo, o que fiz no lugar e o efeito.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Renda: 1 setor muda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Zeros de "não chega": 94,5%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Algum contorno muda o resultado?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maior efeito é a perda de setores quando entra variável nova (demanda 7). A renda imputada muda 1 setor.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o erro dos 85,7%?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Um percentual calculado antes com o denominador errado; o certo é 94,5% (demanda 5).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DS00 · Descritiva dos indicadores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Abre a descritiva: um indicador por slide, sem cruzar indicadores. Cada um tem a definição, o arquivo do Censo e a distribuição nos 104.108 setores.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104.108 setores urbanos com Dados_sig =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104.108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São os urbanos com Dados_sig = OK: tirei os rurais e os sem dados divulgados.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não cruza indicadores aqui?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Foi a forma combinada: primeiro cada indicador sozinho; as correlações vêm depois (DC).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DS01 · A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O funil: de 109.032 setores para os que entram em cada parte. É a forma recomendada de abrir os resultados (como se chegou à amostra).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109.032 → 106.347 urbanos → 104.108 com dados → 73.878 na fatorial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Saem 30.230 na fatorial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saem 2.685 setores rurais?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IVS é de vulnerabilidade intraurbana: compara setores dentro da cidade, e os rurais ficam fora.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Dados_sig?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Uma marca por setor: OK se o setor tem dados divulgados. Saem 2.239 setores sem dado (sigilo ou sem domicílio ocupado). A regra vem do IVS-BH.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fatorial usa só 73.878?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Exclusão por lista: sai o setor que não tem algum dos sete componentes. Saem 30.230, a maior parte pelo analfabetismo e pelo banheiro graduado.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DS02 · Setores com valor, indicador a indicador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996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Quantos setores têm valor em cada indicador. Faltante = o setor não tem o dado (sigilo ou denominador zero).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Analfabetismo: 16.552 faltantes (15,90%)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Banheiro graduado: 14.292 (13,73%)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indicador perde mais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Analfabetismo 15+: 16.552 faltantes (15,90%). Depois água só no terreno (15.897) e banheiro graduado (14.292).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o analfabetismo perde tanto?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dados de alfabetização têm mais setores sem divulgação. Não verifiquei a causa setor a setor.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Isso enviesa a fatorial?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Pode: o sigilo não é aleatório (atinge setores pequenos). Está nas limitações.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DS03 · Água inadequada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com abastecimento de água inadequado ou ausente. Cada setor recebe um valor (proporção, mostrada em %); o slide mostra como esse valor se distribui nos setores urbanos com dados divulgados. Dimensão: saneamento.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104.108; faltantes: 0 (0,00%)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6,96%;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74,25%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Sim; referência: 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V00112, V00113, V00114, V00115 e mais 3;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74,25% dos setores nenhum domicílio está nessa situação: a condição se concentra em poucos setores. Por isso descrevo também a média (6,96%)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3,42: cauda à direita. Poucos setores com valor bem alto puxam a média (6,96%) para cima da mediana (0,00%).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Está no IVS-7 (os sete indicadores adaptados do IVS-BH 2012) e na referência proposta do NB05.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DS03-2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DS03-2 · Água inadequada: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Água inadequada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87,6%; Sudeste: 12,8%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36,8% × demais 23,2%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87,6%); a menor é a Sudeste (12,8%).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36,8%; nos demais, 23,2%.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(São Paulo das Missões) a 100,0% (Placas).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DS04 · Esgoto inadequado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com esgotamento sanitário inadequado ou ausente. Cada setor recebe um valor (proporção, mostrada em %); o slide mostra como esse valor se distribui nos setores urbanos com dados divulgados. Dimensão: saneamento.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104.107; faltantes: 1 (0,00%)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8,20%;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72,53%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Sim; referência: 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V00312, V00313, V00314, V00315 e mais 1;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72,53% dos setores nenhum domicílio está nessa situação: a condição se concentra em poucos setores. Por isso descrevo também a média (8,20%)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2,98: cauda à direita. Poucos setores com valor bem alto puxam a média (8,20%) para cima da mediana (0,00%).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Está no IVS-7 (os sete indicadores adaptados do IVS-BH 2012) e na referência proposta do NB05.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DS04-2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DS04-2 · Esgoto inadequado: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Esgoto inadequado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68,1%; Sul: 14,4%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57,1% × demais 20,7%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68,1%); a menor é a Sul (14,4%).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57,1%; nos demais, 20,7%.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(São Caetano do Sul) a 100,0% (Vicentinópolis).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DS05 · Lixo inadequado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com destino do lixo inadequado ou ausente. Cada setor recebe um valor (proporção, mostrada em %); o slide mostra como esse valor se distribui nos setores urbanos com dados divulgados. Dimensão: saneamento.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104.108; faltantes: 0 (0,00%)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11,58%;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62,78%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Sim;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V00398, V00399, V00400, V00401 e mais 1;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62,78% dos setores nenhum domicílio está nessa situação: a condição se concentra em poucos setores. Por isso descrevo também a média (11,58%)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2,38: cauda à direita. Poucos setores com valor bem alto puxam a média (11,58%) para cima da mediana (0,00%).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Está no IVS-7, mas a referência proposta do NB05 é a versão sem lixo: com o lixo, ele forma um fator próprio (FP08).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DS05-2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DS05-2 · Lixo inadequado: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Lixo inadequado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Nordeste: 44,8%; Centro-Oeste: 30,4%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59,5% × demais 32,1%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Nordeste (% de setores com valor acima de zero: 44,8%); a menor é a Centro-Oeste (30,4%).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59,5%; nos demais, 32,1%.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(São Paulo das Missões) a 100,0% (Placas).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DS06 · Sem água canalizada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94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em que a água não chega encanada até dentro do domicílio (complemento de V00199; equivale a V00200+V00201 sobre V00001). Cada setor recebe um valor (proporção, mostrada em %); o slide mostra como esse valor se distribui nos setores urbanos com dados divulgados. Dimensão: saneamento.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104.067; faltantes: 41 (0,04%)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1,50%;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69,70%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V00199;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69,70% dos setores nenhum domicílio está nessa situação: a condição se concentra em poucos setores. Por isso descrevo também a média (1,50%)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8,70: cauda à direita. Poucos setores com valor bem alto puxam a média (1,50%) para cima da mediana (0,00%).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Foi pedido na demanda 7. Testei nos cenários S3 e S6 e no eixo água das 108 versões; não está na referência proposta.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DS06-2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DS06-2 · Sem água canalizada: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Sem água canalizada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64,1%; Sul: 17,8%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52,1% × demais 25,3%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64,1%); a menor é a Sul (17,8%).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52,1%; nos demais, 25,3%.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(São Paulo das Missões) a 100,0% (Portel).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DS07 · Água não chega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em que a água não chega encanada ao domicílio (V00201). Cada setor recebe um valor (proporção, mostrada em %); o slide mostra como esse valor se distribui nos setores urbanos com dados divulgados. Dimensão: saneamento.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94.402; faltantes: 9.706 (9,32%)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0,47%;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94,50%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5004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V00201;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94,50% dos setores nenhum domicílio está nessa situação: a condição se concentra em poucos setores. Por isso descrevo também a média (0,47%)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9.706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Demandas 5 e 7. Testei nos cenários S2 e S6 e no eixo água das 108 versões; não está na referência proposta.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DS07-2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DS07-2 · Água não chega: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Água não chega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21,2%; Sul: 1,4%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12,5% × demais 4,0%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21,2%); a menor é a Sul (1,4%).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12,5%; nos demais, 4,0%.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(Chapada dos Guimarães) a 88,2% (Arara).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DS08 · Água só no terreno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em que a água chega encanada apenas ao terreno (V00200). Cada setor recebe um valor (proporção, mostrada em %); o slide mostra como esse valor se distribui nos setores urbanos com dados divulgados. Dimensão: saneamento.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88.211; faltantes: 15.897 (15,27%)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1,05%;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88,28%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5004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V00200;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88,28% dos setores nenhum domicílio está nessa situação: a condição se concentra em poucos setores. Por isso descrevo também a média (1,05%)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15.897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a canalização junto com "não chega" e "sem canalização". Não testei como componente da fatorial.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DS08-2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DS08-2 · Água só no terreno: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Água só no terreno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39,6%; Sul: 3,0%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28,0% × demais 8,4%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39,6%); a menor é a Sul (3,0%).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28,0%; nos demais, 8,4%.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(Guapiaçu) a 100,0% (São Raimundo do Doca Bezerra).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DS09 · Sem banheiro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sem banheiro de uso exclusivo com chuveiro e vaso sanitário. Cada setor recebe um valor (proporção, mostrada em %); o slide mostra como esse valor se distribui nos setores urbanos com dados divulgados. Dimensão: saneamento.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91.912; faltantes: 12.196 (11,71%)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0,23%;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95,60%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5004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V00495;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95,60% dos setores nenhum domicílio está nessa situação: a condição se concentra em poucos setores. Por isso descrevo também a média (0,23%)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12.196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Demanda 6. É a V00495, testada no cenário S4 e no eixo banheiro das 108 versões. Na referência entrou a forma graduada do banheiro.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DS09-2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DS09-2 · Sem banheiro: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Sem banheiro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24,0%; Centro-Oeste: 1,3%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14,1% × demais 2,5%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24,0%); a menor é a Centro-Oeste (1,3%).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14,1%; nos demais, 2,5%.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(Anápolis) a 100,0% (Placas).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DS10 · Sem banheiro nem sanitário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sem banheiro nem sanitário. Cada setor recebe um valor (proporção, mostrada em %); o slide mostra como esse valor se distribui nos setores urbanos com dados divulgados. Dimensão: saneamento.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101.139; faltantes: 2.969 (2,85%)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0,02%;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99,65%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5004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V00238;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99,65% dos setores nenhum domicílio está nessa situação: a condição se concentra em poucos setores. Por isso descrevo também a média (0,02%)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2.969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uma das três partes do sem banheiro. Entra no índice só dentro do banheiro graduado (peso 3), não sozinha.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DS10-2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DS10-2 · Sem banheiro nem sanitário: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Sem banheiro nem sanitário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1,4%; Sudeste: 0,1%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1,1% × demais 0,2%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1,4%); a menor é a Sudeste (0,1%).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1,1%; nos demais, 0,2%.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(Anápolis) a 33,3% (São Raimundo do Doca Bezerra).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DS11 · Só sanitário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com apenas sanitário ou buraco para dejeções. Cada setor recebe um valor (proporção, mostrada em %); o slide mostra como esse valor se distribui nos setores urbanos com dados divulgados. Dimensão: saneamento.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100.297; faltantes: 3.811 (3,66%)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0,06%;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98,96%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5004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V00237;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98,96% dos setores nenhum domicílio está nessa situação: a condição se concentra em poucos setores. Por isso descrevo também a média (0,06%)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3.811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uma das três partes do sem banheiro. Entra no índice só dentro do banheiro graduado (peso 2), não sozinha.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DS11-2 · Só sanitário: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Só sanitário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4,0%; Sudeste: 0,2%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3,4% × demais 0,5%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4,0%); a menor é a Sudeste (0,2%).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3,4%; nos demais, 0,5%.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(Anápolis) a 83,3% (Placas).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DS12 · Banheiro de uso comum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com apenas banheiro de uso comum. Cada setor recebe um valor (proporção, mostrada em %); o slide mostra como esse valor se distribui nos setores urbanos com dados divulgados. Dimensão: saneamento.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94.414; faltantes: 9.694 (9,31%)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0,11%;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97,31%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5004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V00236;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97,31% dos setores nenhum domicílio está nessa situação: a condição se concentra em poucos setores. Por isso descrevo também a média (0,11%)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9.694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uma das três partes do sem banheiro. Entra no índice só dentro do banheiro graduado (peso 1), não sozinha.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DS12-2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DS12-2 · Banheiro de uso comum: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Banheiro de uso comum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17,2%; Centro-Oeste: 0,8%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8,2% × demais 1,6%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17,2%); a menor é a Centro-Oeste (0,8%).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8,2%; nos demais, 1,6%.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(Anápolis) a 100,0% (São Raimundo do Doca Bezerra).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DS13 · Banheiro graduado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Grau de inadequação do banheiro: 0 = todos com banheiro, 1 = todos sem banheiro nem sanitário. Cada setor recebe um valor (escala de 0 a 1); o slide mostra como esse valor se distribui nos setores urbanos com dados divulgados. Dimensão: saneamento.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89.816; faltantes: 14.292 (13,73%)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0,001; mediana 0,000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97,83%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76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calculado a partir de outras colunas da base, que vêm do Censo 2022. Numerador: V00236, V00237, V00238;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97,83% dos setores nenhum domicílio está nessa situação: a condição se concentra em poucos setores. Por isso descrevo também a média (0,001)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14.292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 estava no IVS-BH 2012. Entrou na referência proposta como a forma graduada do sem banheiro (demanda 6).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DS13-2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DS13-2 · Banheiro graduado: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Banheiro graduado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13,7%; Centro-Oeste: 0,7%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6,4% × demais 1,4%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13,7%); a menor é a Centro-Oeste (0,7%).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6,4%; nos demais, 1,4%.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(Anápolis) a 100,0% (Placas).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DS14 · Razão de moradores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Razão de moradores por domicílio (reproduz o V0005 do IBGE). Cada setor recebe um valor (razão); o slide mostra como esse valor se distribui nos setores urbanos com dados divulgados. Dimensão: socioeconômica.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104.108; faltantes: 0 (0,00%)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2,69; mediana 2,71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Sim; referência: 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V00005, V00006;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Quase simétrica (assimetria -0,22): média (2,69) e mediana (2,71) ficam perto.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Está no IVS-7 (os sete indicadores adaptados do IVS-BH 2012) e na referência proposta do NB05.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DS14-2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DS14-2 · Razão de moradores: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Razão de moradores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3,19; Sul: 2,60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2,92 × demais 2,67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02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(mediana: 3,19); a menor é a Sul (2,60).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2,92; nos demais, 2,67.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2,38 (Porto Alegre) a 4,23 (Portel).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DS15 · Analfabetismo 15+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Taxa de analfabetismo entre pessoas de 15 anos ou mais. Cada setor recebe um valor (proporção, mostrada em %); o slide mostra como esse valor se distribui nos setores urbanos com dados divulgados. Dimensão: socioeconômica.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87.556; faltantes: 16.552 (15,90%)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3,64%; mediana 2,71%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10,59%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Sim; referência: 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(Agregados_por_setores_alfabetizacao_BR.csv). Numerador: V00901; denominador: V00900.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16.552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2,34: cauda à direita. Poucos setores com valor bem alto puxam a média (3,64%) para cima da mediana (2,71%).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Está no IVS-7 (os sete indicadores adaptados do IVS-BH 2012) e na referência proposta do NB05.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DS15-2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DS15-2 · Analfabetismo 15+: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Analfabetismo 15+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Nordeste: 5,16%; Sul: 1,62%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5,46% × demais 2,13%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02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Nordeste (mediana: 5,16%); a menor é a Sul (1,62%).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5,46%; nos demais, 2,13%.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1,11% (São Caetano do Sul) a 23,06% (Arara).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DS16 · Renda média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Rendimento nominal médio mensal das pessoas responsáveis (R$). Cada setor recebe um valor (reais (R$)); o slide mostra como esse valor se distribui nos setores urbanos com dados divulgados. Dimensão: socioeconômica.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104.096; faltantes: 12 (0,01%)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R$ 4.187,41; mediana R$ 2.572,39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Sim; referência: Sim, como renda invertida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(Agregados_por_setores_renda_responsavel_BR.csv). Numerador: V06004; não tem denominador (é o valor médio do setor).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3,74: cauda à direita. Poucos setores com valor bem alto puxam a média (R$ 4.187,41) para cima da mediana (R$ 2.572,39).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Está no IVS-7 (os sete indicadores adaptados do IVS-BH 2012) e na referência proposta do NB05, invertida: quanto menor a renda, maior a vulnerabilidade.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DS16-2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DS16-2 · Renda média: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Renda média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Sul: R$ 3.722,28; Nordeste: R$ 1.719,20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R$ 1.515,35 × demais R$ 3.067,01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Sul (mediana: R$ 3.722,28); a menor é a Nordeste (R$ 1.719,20).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R$ 1.515,35; nos demais, R$ 3.067,01.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R$ 1.062,36 (Jaqueira) a R$ 5.291,89 (São Caetano do Sul).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DS17 · Renda sem o extremo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Renda média das pessoas responsáveis, com o setor extremo de BH vazio. Cada setor recebe um valor (reais (R$)); o slide mostra como esse valor se distribui nos setores urbanos com dados divulgados. Dimensão: socioeconômica.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104.095; faltantes: 13 (0,01%)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R$ 4.185,81; mediana R$ 2.572,39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calculado a partir de outras colunas da base, que vêm do Censo 2022. Numerador: renda_media, sem o setor 310620005650366; denominador: —.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3,20: cauda à direita. Poucos setores com valor bem alto puxam a média (R$ 4.185,81) para cima da mediana (R$ 2.572,39).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uma variante da renda (demanda 1). Testei nos cenários S0 e S6 e no eixo renda das 108 versões; a referência usa a renda original.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DS17-2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DS17-2 · Renda sem o extremo: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Renda sem o extremo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Sul: R$ 3.722,28; Nordeste: R$ 1.719,20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R$ 1.515,32 × demais R$ 3.067,01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Sul (mediana: R$ 3.722,28); a menor é a Nordeste (R$ 1.719,20).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R$ 1.515,32; nos demais, R$ 3.067,01.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R$ 1.062,36 (Jaqueira) a R$ 5.291,89 (São Caetano do Sul).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DS18 · Renda (mediana mun.)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Renda média das pessoas responsáveis, com o setor extremo de BH substituído pela mediana do município. Cada setor recebe um valor (reais (R$)); o slide mostra como esse valor se distribui nos setores urbanos com dados divulgados. Dimensão: socioeconômica.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104.096; faltantes: 12 (0,01%)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R$ 4.185,80; mediana R$ 2.572,39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calculado a partir de outras colunas da base, que vêm do Censo 2022. Numerador: renda_media, com imputação no setor 310620005650366; denominador: —.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3,20: cauda à direita. Poucos setores com valor bem alto puxam a média (R$ 4.185,80) para cima da mediana (R$ 2.572,39).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uma variante da renda (demanda 1). Testei nos cenários S0 e S6 e no eixo renda das 108 versões; a referência usa a renda original.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DS18-2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DS18-2 · Renda (mediana mun.):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Renda (mediana mun.)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Sul: R$ 3.722,28; Nordeste: R$ 1.719,20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R$ 1.515,35 × demais R$ 3.067,01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Sul (mediana: R$ 3.722,28); a menor é a Nordeste (R$ 1.719,20).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R$ 1.515,35; nos demais, R$ 3.067,01.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R$ 1.062,36 (Jaqueira) a R$ 5.291,89 (São Caetano do Sul).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DS19 · Cor/raça PPI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pessoas de cor/raça preta, parda ou indígena. Cada setor recebe um valor (proporção, mostrada em %); o slide mostra como esse valor se distribui nos setores urbanos com dados divulgados. Dimensão: socioeconômica.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104.106; faltantes: 2 (0,00%)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52,67%; mediana 57,19%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0,09%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Sim; referência: 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(Agregados_por_setores_basico_BR_20250417.csv). Numerador: V01318, V01320, V01321; denominador: v0001.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Quase simétrica (assimetria -0,39): média (52,67%) e mediana (57,19%) ficam perto.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Está no IVS-7 (os sete indicadores adaptados do IVS-BH 2012) e na referência proposta do NB05.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DS19-2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DS19-2 · Cor/raça PPI: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Cor/raça PPI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76,99%; Sul: 22,19%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74,27% × demais 50,96%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02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(mediana: 76,99%); a menor é a Sul (22,19%).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74,27%; nos demais, 50,96%.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15,99% (Taió) a 88,89% (Salvador).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DS20 · Responsável mulher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com pessoa responsável do sexo feminino. Cada setor recebe um valor (proporção, mostrada em %); o slide mostra como esse valor se distribui nos setores urbanos com dados divulgados. Dimensão: socioeconômica.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103.961; faltantes: 147 (0,14%)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52,81%; mediana 53,39%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0,02%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(Agregados_por_setores_parentesco_BR.csv). Numerador: V01063; denominador: V01062.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Quase simétrica (assimetria -0,34): média (52,81%) e mediana (53,39%) ficam perto.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a população. Não está no IVS-BH 2012 e não testei na fatorial.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DS20-2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DS20-2 · Responsável mulher: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Responsável mulher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Nordeste: 55,77%; Centro-Oeste: 50,57%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56,78% × demais 52,58%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Nordeste (mediana: 55,77%); a menor é a Centro-Oeste (50,57%).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56,78%; nos demais, 52,58%.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34,11% (Vicentinópolis) a 61,94% (Rosário).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DS21 · Domicílio improvisado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particulares improvisados. Cada setor recebe um valor (proporção, mostrada em %); o slide mostra como esse valor se distribui nos setores urbanos com dados divulgados. Dimensão: morfologia.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98.969; faltantes: 5.139 (4,94%)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0,07%;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99,21%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5004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V00002;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99,21% dos setores nenhum domicílio está nessa situação: a condição se concentra em poucos setores. Por isso descrevo também a média (0,07%)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5.139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o tipo de moradia (demanda 9). Na fatorial testei só a moradia não convencional.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DS21-2 · Domicílio improvisado: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Domicílio improvisado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Nordeste: 1,0%; Sul: 0,5%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1,5% × demais 0,6%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Nordeste (% de setores com valor acima de zero: 1,0%); a menor é a Sul (0,5%).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1,5%; nos demais, 0,6%.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(Arara) a 25,0% (Vicentinópolis).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DS22 · Habitação precária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em habitação precária (cortiço, estrutura degradada, improvisados). Cada setor recebe um valor (proporção, mostrada em %); o slide mostra como esse valor se distribui nos setores urbanos com dados divulgados. Dimensão: morfologia.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104.108; faltantes: 0 (0,00%)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0,65%;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92,46%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V00050, V00052, V00053, V00054 e mais 4;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92,46% dos setores nenhum domicílio está nessa situação: a condição se concentra em poucos setores. Por isso descrevo também a média (0,65%)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12,43: cauda à direita. Poucos setores com valor bem alto puxam a média (0,65%) para cima da mediana (0,00%).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o tipo de moradia (demanda 9). Na fatorial testei só a moradia não convencional.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DS22-2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DS22-2 · Habitação precária: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Habitação precária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Centro-Oeste: 13,1%; Sul: 3,4%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11,8% × demais 6,6%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Centro-Oeste (% de setores com valor acima de zero: 13,1%); a menor é a Sul (3,4%).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11,8%; nos demais, 6,6%.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(Arara) a 29,4% (São Luís).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DS23 · Moradia convencional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moradias convencionais (casa, casa de vila/condomínio, apartamento). Cada setor recebe um valor (proporção, mostrada em %); o slide mostra como esse valor se distribui nos setores urbanos com dados divulgados. Dimensão: morfologia.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104.108; faltantes: 0 (0,00%)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99,10%; mediana 100,00%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0,01%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V00047, V00048, V00049;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-12,34: cauda à esquerda. A maioria dos setores tem valor alto e poucos têm valor baixo; a média (99,10%) fica abaixo da mediana (100,00%).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o tipo de moradia (demanda 9). Na fatorial testei só a moradia não convencional.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DS23-2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DS23-2 · Moradia convencional: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Moradia convencional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100,00%; Norte: 100,00%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100,00% × demais 100,00%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02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(mediana: 100,00%); a menor é a Norte (100,00%).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100,00%; nos demais, 100,00%.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99,55% (São Luís) a 100,00% (Água Preta).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DS24 · Moradia não convencional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moradias não convencionais (cortiço, maloca, estrutura degradada). Cada setor recebe um valor (proporção, mostrada em %); o slide mostra como esse valor se distribui nos setores urbanos com dados divulgados. Dimensão: morfologia.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104.108; faltantes: 0 (0,00%)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0,59%;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92,95%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V00050, V00051, V00052;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92,95% dos setores nenhum domicílio está nessa situação: a condição se concentra em poucos setores. Por isso descrevo também a média (0,59%)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13,01: cauda à direita. Poucos setores com valor bem alto puxam a média (0,59%) para cima da mediana (0,00%).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Demanda 9. Testei nos cenários S5 e S6 e no eixo moradia das 108 versões. Tem variância baixa (DM10) e não está na referência.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DS24-2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DS24-2 · Moradia não convencional: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Moradia não convencional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12,6%; Sul: 3,0%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10,9% × demais 6,2%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12,6%); a menor é a Sul (3,0%).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10,9%; nos demais, 6,2%.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(Arara) a 29,0% (São Luís).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DS25 · Apartamento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do tipo apartamento. Cada setor recebe um valor (proporção, mostrada em %); o slide mostra como esse valor se distribui nos setores urbanos com dados divulgados. Dimensão: morfologia.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95.005; faltantes: 9.103 (8,74%)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31,48%; mediana 5,21%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38,52%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V00049;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9.103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0,83: cauda à direita. Poucos setores com valor bem alto puxam a média (31,48%) para cima da mediana (5,21%).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o tipo de moradia (demanda 9). Na fatorial testei só a moradia não convencional.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DS25-2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DS25-2 · Apartamento: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Apartamento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Sul: 15,83%; Nordeste: 1,96%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0,00% × demais 11,94%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02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Sul (mediana: 15,83%); a menor é a Nordeste (1,96%).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0,00%; nos demais, 11,94%.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0,00% (Ananindeua) a 64,73% (Porto Alegre).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DS26 · Casa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do tipo casa. Cada setor recebe um valor (proporção, mostrada em %); o slide mostra como esse valor se distribui nos setores urbanos com dados divulgados. Dimensão: morfologia.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99.642; faltantes: 4.466 (4,29%)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69,47%; mediana 91,44%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10,11%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76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V00047;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4.466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-0,91: cauda à esquerda. A maioria dos setores tem valor alto e poucos têm valor baixo; a média (69,47%) fica abaixo da mediana (91,44%).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o tipo de moradia (demanda 9). Na fatorial testei só a moradia não convencional.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DS26-2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DS26-2 · Casa: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Casa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Nordeste: 94,18%; Sul: 83,55%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98,68% × demais 85,87%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Nordeste (mediana: 94,18%); a menor é a Sul (83,55%).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98,68%; nos demais, 85,87%.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43,57% (São Caetano do Sul) a 100,00% (Água Preta).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DS27 · Casa de vila/condomínio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domicílios do tipo casa de vila ou em condomínio. Cada setor recebe um valor (proporção, mostrada em %); o slide mostra como esse valor se distribui nos setores urbanos com dados divulgados. Dimensão: morfologia.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91.304; faltantes: 12.804 (12,30%)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4,43%; mediana 0,00%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70,74%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5004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(Agregados_por_setores_caracteristicas_domicilio1_BR.csv). Numerador: V00048; denominador: V00001.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mediana é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70,74% dos setores nenhum domicílio está nessa situação: a condição se concentra em poucos setores. Por isso descrevo também a média (4,43%) e o % de setores com valor acima de zero (slide seguinte).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12.804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o tipo de moradia (demanda 9). Na fatorial testei só a moradia não convencional.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DS27-2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DS27-2 · Casa de vila/condomínio: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Casa de vila/condomínio separado por região, por município e entre setores de favela (FCU) e os demais. Como a maioria dos setores tem zero, compara o % de setores com valor acima de zero e a média.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66,2%; Centro-Oeste: 22,2%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31,5% × demais 28,8%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(% de setores com valor acima de zero: 66,2%); a menor é a Centro-Oeste (22,2%).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31,5%; nos demais, 28,8%.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vai de 0,0% (Arara) a 76,9% (Natal).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DS28 · Crianças 0–4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crianças de 0 a 4 anos na população residente. Cada setor recebe um valor (proporção, mostrada em %); o slide mostra como esse valor se distribui nos setores urbanos com dados divulgados. Dimensão: demografia.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102.288; faltantes: 1.820 (1,75%)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5,41%; mediana 5,21%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0,52%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(Agregados_por_setores_basico_BR_20250417.csv). Numerador: V01031; denominador: v0001.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1.820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0,74: cauda à direita. Poucos setores com valor bem alto puxam a média (5,41%) para cima da mediana (5,21%).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a idade da população, contexto do ELSI (idosos). Não entra no índice de vulnerabilidade.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DS28-2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DS28-2 · Crianças 0–4: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Crianças 0–4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6,32%; Sul: 4,65%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6,81% × demais 4,85%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02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(mediana: 6,32%); a menor é a Sul (4,65%).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6,81%; nos demais, 4,85%.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4,14% (Porto Alegre) a 10,84% (Portel).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DS29 · População 0–14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pessoas com menos de 15 anos na população residente. Cada setor recebe um valor (proporção, mostrada em %); o slide mostra como esse valor se distribui nos setores urbanos com dados divulgados. Dimensão: demografia.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103.850; faltantes: 258 (0,25%)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17,26%; mediana 17,19%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0,50%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(Agregados_por_setores_basico_BR_20250417.csv). Numerador: V01031, V01032, V01033; denominador: v0001.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Quase simétrica (assimetria 0,11): média (17,26%) e mediana (17,19%) ficam perto.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a idade da população, contexto do ELSI (idosos). Não entra no índice de vulnerabilidade.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DS29-2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DS29-2 · População 0–14: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População 0–14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Norte: 20,64%; Sul: 15,85%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21,93% × demais 16,07%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Norte (mediana: 20,64%); a menor é a Sul (15,85%).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21,93%; nos demais, 16,07%.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13,28% (São Paulo das Missões) a 28,57% (Autazes).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DS30 · Pessoas 60+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pessoas de 60 anos ou mais na população residente. Cada setor recebe um valor (proporção, mostrada em %); o slide mostra como esse valor se distribui nos setores urbanos com dados divulgados. Dimensão: demografia.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103.823; faltantes: 285 (0,27%)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17,53%; mediana 16,57%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0,30%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(Agregados_por_setores_basico_BR_20250417.csv). Numerador: V01040, V01041; denominador: v0001.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0,55: cauda à direita. Poucos setores com valor bem alto puxam a média (17,53%) para cima da mediana (16,57%).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a idade da população, contexto do ELSI (idosos). Não entra no índice de vulnerabilidade.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DS30-2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DS30-2 · Pessoas 60+: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Pessoas 60+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Sul: 19,34%; Norte: 11,18%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10,55% × demais 18,49%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Sul (mediana: 19,34%); a menor é a Norte (11,18%).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10,55%; nos demais, 18,49%.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7,30% (Portel) a 29,40% (São Paulo das Missões).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DS31 · Índice de envelhecimento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459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Índice de Envelhecimento Populacional: 60+ por 100 menores de 15 anos. Cada setor recebe um valor (por 100); o slide mostra como esse valor se distribui nos setores urbanos com dados divulgados. Dimensão: demografia.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103.116; faltantes: 992 (0,95%)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134,66; mediana 96,30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0,21%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02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(Agregados_por_setores_demografia_BR.csv). Numerador: V01040, V01041; denominador: V01031.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5,74: cauda à direita. Poucos setores com valor bem alto puxam a média (134,66) para cima da mediana (96,30).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a idade da população, contexto do ELSI (idosos). Não entra no índice de vulnerabilidade.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quer dizer o coeficiente de variação de 105,1%?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desvio-padrão é maior que a média: o valor muda muito de um setor para outro.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DS31-2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DS31-2 · Índice de envelhecimento: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Índice de envelhecimento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Sul: 122,93; Norte: 53,55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47,91 × demais 114,81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Sul (mediana: 122,93); a menor é a Norte (53,55).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47,91; nos demais, 114,81.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24,12 (Portel) a 217,46 (São Paulo das Missões).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DS32 · Dependência idosa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Razão de Dependência de Idosos: 60+ por 100 pessoas de 15 a 59 anos. Cada setor recebe um valor (por 100); o slide mostra como esse valor se distribui nos setores urbanos com dados divulgados. Dimensão: demografia.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103.810; faltantes: 298 (0,29%)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28,12; mediana 25,16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0,30%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(Agregados_por_setores_demografia_BR.csv). Numerador: V01040, V01041; denominador: V01034.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Assimetria 4,30: cauda à direita. Poucos setores com valor bem alto puxam a média (28,12) para cima da mediana (25,16).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a idade da população, contexto do ELSI (idosos). Não entra no índice de vulnerabilidade.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DS32-2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DS32-2 · Dependência idosa: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Dependência idosa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Sul: 29,97; Norte: 16,58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15,67 × demais 28,39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Sul (mediana: 29,97); a menor é a Norte (16,58).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15,67; nos demais, 28,39.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11,86 (São José de Ribamar) a 50,58 (São Paulo das Missões).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DS33 · 70+ entre 60+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Proporção de pessoas de 70+ entre os de 60+ (proxy de longevidade; NÃO é o LI, que exigiria a faixa 75+, inexistente nos agregados por setor). Cada setor recebe um valor (por 100); o slide mostra como esse valor se distribui nos setores urbanos com dados divulgados. Dimensão: demografia.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valor: 101.972; faltantes: 2.136 (2,05%)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Média 42,67; mediana 42,86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Setores com zero: 0,31%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IVS-7: Não; referência: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De onde vem esse indicador?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 Censo 2022, agregados por setor (Agregados_por_setores_demografia_BR.csv). Numerador: V01041; denominador: V01040.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2.136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fica sem valor quando o IBGE não divulgou o dado (sigilo, em setores com poucos moradores) ou quando o denominador é zero. Não separei as duas causas por indicador. O setor sai só deste indicador; na fatorial, sai inteiro (exclusão por lista).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distribuição é simétrica?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Quase simétrica (assimetria 0,10): média (42,67) e mediana (42,86) ficam perto.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entra (ou não) no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Descreve a idade da população, contexto do ELSI (idosos). Não entra no índice de vulnerabilidade.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DS33-2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DS33-2 · 70+ entre 60+: por região, município e FCU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70+ entre 60+ separado por região, por município e entre setores de favela (FCU) e os demais. Compara a mediana de cada recorte (caixas sem os pontos extremos).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Sul: 43,97; Norte: 38,46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FCU 36,26 × demais 44,32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029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é maior?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região Sul (mediana: 43,97); a menor é a Norte (38,46).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nas favelas?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setores de FCU, 36,26; nos demais, 44,32. É descrição de grupos de setores, não de pessoas: num estudo ecológico não dá para passar para o indivíduo.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município se destaca?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Entre os municípios, a mediana vai de 36,21 (Manaus) a 55,77 (Arara). A lista completa está no anexo (aba Por_municipio).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comparar com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FCU é a classificação do IBGE de Favelas e Comunidades Urbanas. Uso como critério externo: mais adiante, o índice é validado pela AUC contra FCU.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DC00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DC00 · 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99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Abre as correlações: primeiro os componentes do IVS-7, depois cada tema (saneamento, socioeconômica, morfologia, demografia) e por fim os 31 juntos.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Spearman em todas as matrizes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273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Para que servem as correlações antes da fatorial?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fatorial parte da matriz de correlação. Ver os pares antes mostra o que deve ficar junto num fator e o que é quase repetido.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separar por tema?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Com os 31 juntos a matriz fica grande demais para ler; por tema dá para ver os pares de cada dimensão, e a matriz completa vem no fim (DC07).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DC01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DC01 · Os componentes do IVS-7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Maior correlação: Analfabetismo 15+ e Cor/raça PPI (0,626). Correlação negativa mais forte: Renda média e Cor/raça PPI (-0,811).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Spearman e não Pearson?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indicadores são assimétricos e cheios de zeros. O Spearman usa a ordem (postos) dos setores e não depende de distribuição normal. O Pearson está no anexo.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o par mais forte?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Maior correlação: Analfabetismo 15+ e Cor/raça PPI (0,626). Correlação negativa mais forte: Renda média e Cor/raça PPI (-0,811).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fazer com dois indicadores muito correlacionados?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fatorial eles medem quase a mesma coisa. Por isso entra um ou outro (uma renda só, um tipo de banheiro, "não chega" ou "sem canalização"), nunca os dois.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DC02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DC02 · Os componentes do IVS-7: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Maior correlação: Analfabetismo 15+ e Cor/raça PPI (0,626). Correlação negativa mais forte: Renda média e Cor/raça PPI (-0,811).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Spearman e não Pearson?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indicadores são assimétricos e cheios de zeros. O Spearman usa a ordem (postos) dos setores e não depende de distribuição normal. O Pearson está no anexo.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o par mais forte?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Maior correlação: Analfabetismo 15+ e Cor/raça PPI (0,626). Correlação negativa mais forte: Renda média e Cor/raça PPI (-0,811).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fazer com dois indicadores muito correlacionados?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fatorial eles medem quase a mesma coisa. Por isso entra um ou outro (uma renda só, um tipo de banheiro, "não chega" ou "sem canalização"), nunca os dois.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DC03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DC03 · Saneamento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Maior correlação: Sem banheiro e Banheiro graduado (1,000). A mais baixa: Lixo inadequado e Sem banheiro nem sanitário (0,064).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27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Spearman e não Pearson?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indicadores são assimétricos e cheios de zeros. O Spearman usa a ordem (postos) dos setores e não depende de distribuição normal. O Pearson está no anexo.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o par mais forte?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Maior correlação: Sem banheiro e Banheiro graduado (1,000). A mais baixa: Lixo inadequado e Sem banheiro nem sanitário (0,064).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Sem banheiro × Banheiro graduado dá 1,000?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graduado é feito com as três partes do sem banheiro, com pesos 1, 2 e 3. Os setores ficam praticamente na mesma ordem.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fazer com dois indicadores muito correlacionados?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fatorial eles medem quase a mesma coisa. Por isso entra um ou outro (uma renda só, um tipo de banheiro, "não chega" ou "sem canalização"), nunca os dois.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DC04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DC04 · Socioeconômica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Maior correlação: Analfabetismo 15+ e Cor/raça PPI (0,626). Correlação negativa mais forte: Renda sem o extremo e Cor/raça PPI (-0,811).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Spearman e não Pearson?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indicadores são assimétricos e cheios de zeros. O Spearman usa a ordem (postos) dos setores e não depende de distribuição normal. O Pearson está no anexo.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o par mais forte?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Maior correlação: Analfabetismo 15+ e Cor/raça PPI (0,626). Correlação negativa mais forte: Renda sem o extremo e Cor/raça PPI (-0,811).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as três rendas dão 1,00 entre si?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Elas só diferem no setor extremo de Belo Horizonte; em todos os outros setores o valor é o mesmo.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fazer com dois indicadores muito correlacionados?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fatorial eles medem quase a mesma coisa. Por isso entra um ou outro (uma renda só, um tipo de banheiro, "não chega" ou "sem canalização"), nunca os dois.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DC05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DC05 · Morfologia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Maior correlação: Habitação precária e Moradia não convencional (0,965). Correlação negativa mais forte: Apartamento e Casa (-0,902).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Spearman e não Pearson?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indicadores são assimétricos e cheios de zeros. O Spearman usa a ordem (postos) dos setores e não depende de distribuição normal. O Pearson está no anexo.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o par mais forte?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Maior correlação: Habitação precária e Moradia não convencional (0,965). Correlação negativa mais forte: Apartamento e Casa (-0,902).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fazer com dois indicadores muito correlacionados?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fatorial eles medem quase a mesma coisa. Por isso entra um ou outro (uma renda só, um tipo de banheiro, "não chega" ou "sem canalização"), nunca os dois.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DC06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DC06 · Demografia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Maior correlação: Pessoas 60+ e Dependência idosa (0,996). Correlação negativa mais forte: População 0–14 e Índice de envelhecimento (-0,917).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Spearman e não Pearson?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indicadores são assimétricos e cheios de zeros. O Spearman usa a ordem (postos) dos setores e não depende de distribuição normal. O Pearson está no anexo.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o par mais forte?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Maior correlação: Pessoas 60+ e Dependência idosa (0,996). Correlação negativa mais forte: População 0–14 e Índice de envelhecimento (-0,917).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Pessoas 60+ e Dependência idosa andam juntas?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 duas têm os idosos no numerador; muda só o denominador (toda a população ou só 15 a 59 anos).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fazer com dois indicadores muito correlacionados?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fatorial eles medem quase a mesma coisa. Por isso entra um ou outro (uma renda só, um tipo de banheiro, "não chega" ou "sem canalização"), nunca os dois.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DC07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DC07 · Os 31 indicadores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Correlação de Spearman entre pares de indicadores, nos setores que têm os dois valores. Vai de -1 a 1: perto de 1, os setores ficam na mesma ordem nos dois; perto de -1, em ordem inversa; perto de 0, sem relação de ordem.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Maior correlação: Sem banheiro e Banheiro graduado (1,000). Correlação negativa mais forte: População 0–14 e Índice de envelhecimento (-0,917).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517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Spearman e não Pearson?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indicadores são assimétricos e cheios de zeros. O Spearman usa a ordem (postos) dos setores e não depende de distribuição normal. O Pearson está no anexo.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o par mais forte?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Maior correlação: Sem banheiro e Banheiro graduado (1,000). Correlação negativa mais forte: População 0–14 e Índice de envelhecimento (-0,917).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Sem banheiro × Banheiro graduado dá 1,000?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graduado é feito com as três partes do sem banheiro, com pesos 1, 2 e 3. Os setores ficam praticamente na mesma ordem.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fazer com dois indicadores muito correlacionados?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fatorial eles medem quase a mesma coisa. Por isso entra um ou outro (uma renda só, um tipo de banheiro, "não chega" ou "sem canalização"), nunca os dois.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FA00 · Descritiva da análise fatorial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Abre a fatorial da referência proposta do NB05: renda original, sem lixo, banheiro graduado, rotação promax, pesos 60/40 e normalização municipal. É uma proposta: a escolha é sua.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Renda original · sem lixo · banheiro graduado · promax · 60/40 · municipal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639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análise fatorial?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Um método que resume muitas variáveis correlacionadas em poucos fatores (dimensões). Aqui gera duas dimensões, socioeconômica e saneamento, e a partir delas os pesos do índice.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essa é a referência?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Foi a primeira na ordem dos critérios fixados no NB05 (estabilidade, AUC no município e parcimônia) entre as elegíveis. É uma proposta para você avaliar, não uma decisão.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fatorial é o caminho certo para os pesos?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Depende de o índice ser reflexivo ou formativo. Essa questão está em aberto e ainda vou ler os textos (Bollen; Diamantopoulos; Edwards).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FA01 · A amostra da fatorial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7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 amostra da fatorial: entram os setores com os sete componentes. Exclusão por lista: falta um, sai o setor.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73.878 entram; 30.230 saem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786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Quem tira mais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Analfabetismo 15+ (16.552 faltantes) e banheiro graduado (14.292).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não usar todos os 104.108?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fatorial precisa de todas as variáveis no setor. Imputar criaria valores não divulgados; preferi tirar e mostrar quantos saem.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FA02 · A matriz de correlação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 matriz de correlação que entra na fatorial: Spearman entre os sete componentes, nos 73.878 setores.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Maior correlação: 0,784 (renda × cor/raça)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Menor: 0,083 (razão × banheiro graduado)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par é mais forte?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Renda (invertida) e cor/raça PPI: 0,784. Depois renda e analfabetismo: 0,753.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renda está invertida?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Para todas as variáveis apontarem para o mesmo lado: valor maior = mais vulnerável. Renda alta é menos vulnerável, então entra com sinal trocado.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fatorial com Spearman?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indicadores são assimétricos e cheios de zeros; a fatorial parte da matriz de postos, que não exige normalidade.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FA03 · Adequação dos dados à fatorial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Se os dados servem para fatorial. KMO compara as correlações entre as variáveis com as correlações parciais: vai de 0 a 1, e quanto maior, mais as variáveis têm algo em comum. Bartlett testa se a matriz de correlação é diferente da identidade.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KMO 0,7807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 = 73.878; 7 variáveis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2 fatores, 60,82%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KMO de 0,7807 é bom?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escala de Matos (Enap) é "bom" (entre 0,7 e 0,8); na de Figueiredo, "mediano" (0,70 a 0,79). Passa o critério do NB05 (KMO ≥ 0,70).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o Bartlett?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Rejeita a hipótese de identidade (qui-quadrado 185.197,02, 21 graus de liberdade). Mas com amostra grande o Bartlett quase sempre rejeita, então sozinho não basta.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Quanto os dois fatores explicam?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60,82% da variância.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FA04 · MSA e comunalidade por variável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MSA é o KMO de cada variável: mostra se ela combina com as outras. Comunalidade é a parte da variância da variável que os dois fatores explicam.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Menor MSA: 0,709 (renda)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Menor comunalidade: 0,375 (razão de moradores)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variável é a mais fraca?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MSA, renda (invertida), com 0,709; na comunalidade, razão de moradores, com 0,375. As duas passam os critérios (MSA ≥ 0,50; comunalidade ≥ 0,30).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Figueiredo pede comunalidade de 0,50. Por que 0,30?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NB05 usou 0,30. Com 0,50, razão de moradores (0,375) e banheiro graduado (0,446) ficariam abaixo. É uma questão para decidirmos.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comunalidade oblíqua é igual?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Com dois fatores, a parte explicada da variável não muda com a rotação; muda só como se reparte entre F1 e F2.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FA05 · Autovalores e análise paralela de Horn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Autovalor é quanto da variância total um componente explica. Kaiser fica com os autovalores maiores que 1. Horn (análise paralela) compara cada autovalor com o que daria em dados aleatórios do mesmo tamanho e fica com os que passam.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Autovalores: 3,186 e 1,071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Horn: 1,026 e 1,015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60,82% acumulado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Quantos fatores?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Dois: os dois primeiros autovalores (3,186 e 1,071) passam de 1 e da referência de Horn (1,026 e 1,015).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segundo fator não está no limite?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Está perto: 1,071 contra 1,015 de Horn. Por isso olho Kaiser e Horn juntos.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Kaiser é confiável aqui?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Matos diz que Kaiser é preciso com n &gt; 250 e comunalidade média ≥ 0,6. O n passa; a comunalidade média fica no limite.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FA06 · Quantos fatores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7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 decisão do número de fatores: Kaiser e Horn concordam em 2, e a solução fica com 2.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Kaiser 2; Horn 2; retidos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reter 2 e não 1?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dois critérios dão 2 nesta base. Também é o desenho do IVS-BH: uma dimensão socioeconômica e uma de saneamento.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se desse 3?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cenários com mais variáveis Kaiser e Horn pedem 3 ou 4; mantive 2 para comparar com o IVS-BH. Está no FP06.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FA07 · Cargas sem rotação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Cargas sem rotação: a correlação de cada variável com cada fator antes de girar os eixos. O primeiro fator pega um pouco de tudo, o que dificulta dar nome.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Maior carga em F1: renda (0,868)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Maior em F2: água inadequada (0,625)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carga?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correlação entre a variável e o fator. Acima de 0,40 em módulo, a variável é considerada parte do fator (critério do NB05).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mostrar sem rotação?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Para comparar: a rotação não muda o total explicado, só reparte entre os fatores.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FA08 · Cargas Varimax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Cargas Varimax: rotação ortogonal, que deixa cada variável carregar forte num fator só. Os fatores ficam sem correlação entre si.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F1: renda, analfabetismo, cor/raça, razão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F2: água, banheiro, esgoto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Como ficam os dois fatores?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F1 socioeconômico (renda 0,906, analfabetismo 0,861, cor/raça 0,848, razão de moradores 0,592); F2 saneamento (água 0,752, banheiro graduado 0,668, esgoto 0,560).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o esgoto?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Carrega nos dois (0,447 e 0,560): fica entre as dimensões.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FA09 · Cargas promax: matriz padrão e matriz 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727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Cargas promax, a rotação oblíqua da referência. Padrão: efeito próprio de cada fator. Estrutura: correlação total da variável com o fator, incluindo o que vem pela correlação entre os fatores.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Padrão: renda 0,937 em F1; água 0,783 em F2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Estrutura: renda 0,908; água 0,772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663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promax e não Varimax?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fatores são correlacionados (Φ = 0,411); a promax permite isso. Matos descreve a promax como um método rápido para bases grandes.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matriz vira peso?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padrão: os pesos saem do quadrado das cargas padrão.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há carga negativa (-0,207 no banheiro em F1)?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matriz padrão, descontado o que vem de F2, o banheiro quase não tem relação própria com F1. É pequena e não entra no peso de F1.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FA10 · Correlação entre os fatores (Φ)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7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Φ é a correlação entre os dois fatores na rotação oblíqua. Na Varimax ela é zero por construção.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Φ = 0,411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786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Φ de 0,411 é alto?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moderado: setores com pior condição socioeconômica tendem a ter pior saneamento. Por isso uma rotação oblíqua faz sentido.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se fosse perto de zero?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Varimax daria quase o mesmo e seria mais simples.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FA11 · Os pesos do 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Como as cargas viram pesos: em cada dimensão, o peso da variável é o quadrado da sua carga padrão dividido pela soma dos quadrados; depois, a dimensão socioeconômica vale 60% e a de saneamento 40%.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F1 60% · F2 40%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Renda 19,28%; analfabetismo 17,36%; água 17,32%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663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60/40?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a repartição do IVS-BH 2012 (60,4% e 39,6%), arredondada.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o quadrado das cargas?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Para medir a importância relativa de cada variável no fator, como no ISU de Passarelli-Araujo.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Quem pesa mais?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Renda (invertida), 19,28%; depois analfabetismo (17,36%) e água (17,32%).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FA12 · O índice da referência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O índice: cada variável é normalizada de 0 a 1 dentro do município (min-max) e somada com os pesos. O resultado vai de 0 a 1; maior = mais vulnerável.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Mediana 0,3306; média 0,3338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P10 0,2313; P90 0,4311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a normalização municipal?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Cada variável vira (valor - mínimo) / (máximo - mínimo) entre os setores do próprio município. Assim o índice compara setores dentro da cidade.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Como se distribui?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Mediana 0,3306; metade dos setores entre 0,2832 e 0,3757 (P25 e P75); máximo 0,9120.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Dá para comparar índice entre municípios?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 diretamente: a escala é de cada município. Para comparar entre cidades, a normalização global é a alternativa testada no NB05.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FA13 · As faixas, pelas duas regras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As faixas por duas regras. IVS-BH: médio = média ± 0,5 desvio-padrão; baixo, abaixo; elevado, até 1,5 DP acima; muito elevado, acima disso. Quartis: um quarto dos setores em cada faixa.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Muito elevado: 3.933 (5,32%)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Médio: 31.052 (42,03%)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663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Quantos setores estão em vulnerabilidade muito elevada?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Pela regra do IVS-BH, 3.933 (5,32%).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1 setor fica "indefinido"?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Um município tem um setor só nesta amostra: não tem desvio-padrão, então a regra não se aplica.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regra usar?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do IVS-BH mantém a comparação com 2012; quartis forçam faixas do mesmo tamanho. Fica para decidirmos.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FA14 · Validação contra as favelas (FCU)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Validação contra FCU. A curva ROC mostra quão bem o índice separa setores de favela (FCU) dos demais; a AUC é a área sob a curva: 0,5 é acaso, 1 é separação perfeita. A AUC é a chance de um setor FCU sorteado ter índice maior que um não FCU sorteado.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AUC global 0,8309; mediana municipal 0,8186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31 municípios na mediana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AUC de 0,8309 é boa?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Separa bem: sorteando um setor FCU e um não FCU, a chance de o FCU ter índice maior é 0,8309.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validar contra FCU?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um critério externo do IBGE, independente do índice. Mas a FCU já usa condições de moradia, então há alguma circularidade com o saneamento.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AUC municipal?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índice é normalizado por município; a AUC dentro de cada município é a comparação justa. Uso a mediana dos 31 municípios com ao menos 30 setores de FCU e 30 fora.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FA15 · AUC por município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 AUC em cada município, só onde há ao menos 30 setores de FCU e 30 fora (para a AUC não depender de poucos setores).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Mediana 0,8186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Menor 0,6037 (Duque de Caxias); maior 0,9544 (Campinas)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786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só 31 dos 41?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Nos outros há menos de 30 setores de FCU ou menos de 30 fora.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Duque de Caxias é tão baixo?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Lá a AUC é 0,6037: o índice separa pouco FCU dos demais. Não investiguei o motivo.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FA16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FA16 · Elegibilidade pelos critérios do NB05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Os critérios de elegibilidade do NB05, fixados antes de rodar: KMO ≥ 0,70; MSA ≥ 0,50 em todas; comunalidade ≥ 0,30 em todas; maior carga ≥ 0,40 em todas.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Comunalidade mínima 0,3755 (razão de moradores)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Menor carga máxima 0,5245 (esgoto)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786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referência passa em tudo?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Sim. O ponto mais perto do limite é a comunalidade da razão de moradores (0,3755) e a menor carga máxima é a do esgoto (0,5245).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fixar os critérios 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Para a escolha não depender de qual resultado parece melhor.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FP00 · Demandas da fatorial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99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Abre as demandas sobre a fatorial: um slide por pedido, na ordem das demandas. Aqui a comparação entre cenários é o próprio pedido.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Cenários S0 a S7 e variantes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os cenários antes das demandas?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Cada demanda compara cenários; os slides FC mostram antes quais setores entram em cada um.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Os cenários usam o mesmo método da referência?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Não: os cenários vêm da fatorial ampliada (antes do NB05), com pesos Varimax; a referência é do NB05, com promax e 60/40.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FC01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FC01 · Cenário S0: IVS-7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Cenário S0: IVS-7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87.545 setores; 7 variáveis; saem do S0: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este cenário tem 87.545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Entram os setores com as 7 variáveis: 87.545. Nenhum setor do S0 sai.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o S0 é a referência dos cenários?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Reproduz o IVS-7 do NB04, a fatorial que já tínhamos. Os outros cenários mudam uma coisa por vez em relação a ele.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não imputar os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fatorial precisa de todas as variáveis no setor. Imputar criaria valores que o IBGE não divulgou; preferi tirar o setor e mostrar quantos saem (exclusão por lista). É uma escolha que posso rever com você.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FC02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FC02 · Cenário S1: IVS-6 (IVS-7 sem lixo)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Cenário S1: IVS-6 (IVS-7 sem lixo)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87.545 setores; 6 variáveis; saem do S0: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517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este cenário tem 87.545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Entram os setores com as 6 variáveis: 87.545. Nenhum setor do S0 sai.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não imputar os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fatorial precisa de todas as variáveis no setor. Imputar criaria valores que o IBGE não divulgou; preferi tirar o setor e mostrar quantos saem (exclusão por lista). É uma escolha que posso rever com você.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FC03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FC03 · Cenário S2: IVS-7 + não chega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Cenário S2: IVS-7 + não chega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78.256 setores; 8 variáveis; saem do S0: 9.289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este cenário tem 78.256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Entram os setores com as 8 variáveis: 78.256. Saem 9.289 do S0; a variável que mais tira é Água não chega (9.289 setores sem o dado).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Os setores que saem são diferentes dos que ficam?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 comparei o perfil dos que saem neste cenário; a tabela mostra só em que região ficam os que entram. Posso fazer essa comparação.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não imputar os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fatorial precisa de todas as variáveis no setor. Imputar criaria valores que o IBGE não divulgou; preferi tirar o setor e mostrar quantos saem (exclusão por lista). É uma escolha que posso rever com você.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FC04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FC04 · Cenário S3: IVS-7 + sem canalização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Cenário S3: IVS-7 + sem canalização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87.512 setores; 8 variáveis; saem do S0: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este cenário tem 87.512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Entram os setores com as 8 variáveis: 87.512. Saem 33 do S0; a variável que mais tira é Sem água canalizada (33 setores sem o dado).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Os setores que saem são diferentes dos que ficam?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 comparei o perfil dos que saem neste cenário; a tabela mostra só em que região ficam os que entram. Posso fazer essa comparação.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não imputar os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fatorial precisa de todas as variáveis no setor. Imputar criaria valores que o IBGE não divulgou; preferi tirar o setor e mostrar quantos saem (exclusão por lista). É uma escolha que posso rever com você.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FC05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FC05 · Cenário S4: IVS-7 + sem banheiro (V00495)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Cenário S4: IVS-7 + sem banheiro (V00495)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75.955 setores; 8 variáveis; saem do S0: 11.590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este cenário tem 75.955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Entram os setores com as 8 variáveis: 75.955. Saem 11.590 do S0; a variável que mais tira é Sem banheiro (11.590 setores sem o dado).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Os setores que saem são diferentes dos que ficam?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 comparei o perfil dos que saem neste cenário; a tabela mostra só em que região ficam os que entram. Posso fazer essa comparação.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não imputar os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fatorial precisa de todas as variáveis no setor. Imputar criaria valores que o IBGE não divulgou; preferi tirar o setor e mostrar quantos saem (exclusão por lista). É uma escolha que posso rever com você.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FC06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FC06 · Cenário S5: IVS-7 + não convencional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Cenário S5: IVS-7 + não convencional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87.545 setores; 8 variáveis; saem do S0: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517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este cenário tem 87.545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Entram os setores com as 8 variáveis: 87.545. Nenhum setor do S0 sai.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não imputar os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fatorial precisa de todas as variáveis no setor. Imputar criaria valores que o IBGE não divulgou; preferi tirar o setor e mostrar quantos saem (exclusão por lista). É uma escolha que posso rever com você.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FC07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FC07 · Cenário S6: IVS-7 + as quatro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Cenário S6: IVS-7 + as quatro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69.458 setores; 11 variáveis; saem do S0: 18.087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este cenário tem 69.458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Entram os setores com as 11 variáveis: 69.458. Saem 18.087 do S0; a variável que mais tira é Sem banheiro (11.590 setores sem o dado).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Os setores que saem são diferentes dos que ficam?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 comparei o perfil dos que saem neste cenário; a tabela mostra só em que região ficam os que entram. Posso fazer essa comparação.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não imputar os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fatorial precisa de todas as variáveis no setor. Imputar criaria valores que o IBGE não divulgou; preferi tirar o setor e mostrar quantos saem (exclusão por lista). É uma escolha que posso rever com você.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FC08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FC08 · Cenário S7: S6 sem lixo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215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Um cenário é um conjunto de variáveis rodado numa fatorial. Entram os setores urbanos com dados divulgados e com todas as variáveis do cenário; por isso o número de setores muda de um cenário para outro. Tudo é comparado com o S0, que reproduz o IVS-7 do NB04.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Cenário S7: S6 sem lixo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69.458 setores; 10 variáveis; saem do S0: 18.087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este cenário tem 69.458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Entram os setores com as 10 variáveis: 69.458. Saem 18.087 do S0; a variável que mais tira é Sem banheiro (11.590 setores sem o dado).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Os setores que saem são diferentes dos que ficam?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 comparei o perfil dos que saem neste cenário; a tabela mostra só em que região ficam os que entram. Posso fazer essa comparação.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não imputar os faltantes?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fatorial precisa de todas as variáveis no setor. Imputar criaria valores que o IBGE não divulgou; preferi tirar o setor e mostrar quantos saem (exclusão por lista). É uma escolha que posso rever com você.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FC09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FC09 · As variantes dos cenários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As variantes: mesmos setores do cenário de origem, mudando a renda (sem extremo ou com mediana) ou a escala (postos dentro do município).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S0 sem extremo: 87.544 setores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S6 sem extremo: 69.457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786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"postos dentro do município"?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vez do valor, cada setor recebe a sua posição (posto) entre os setores do mesmo município. Tira o efeito de escala entre cidades.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variante sem extremo tem um setor a menos?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setor extremo de BH fica vazio nela.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FP01 · Demanda 1: o efeito das três rendas na fatorial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1 na fatorial: o efeito das três rendas.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Três rendas: peso F1 74,00% em todas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786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renda escolhida muda a fatorial?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Não: KMO 0,783, 62,12% de variância e peso de F1 74,00% nas três. A troca afeta um setor só.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Então para que três rendas?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Para mostrar que o setor extremo não distorce o resultado.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FP02 · Demanda 3: sem bootstrap, sem e com rotação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3: as cargas do S0 (IVS-7) sem rotação, Varimax e promax lado a lado.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Lixo em F2: 0,880 / 0,919 / 0,915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muda entre as rotações?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Pouco: o lixo carrega no F2 nas três (0,880 a 0,919); renda, analfabetismo e cor/raça ficam no F1.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o lixo sozinho no F2?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o fator próprio do lixo: ele quase não se correlaciona com os outros.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FP03 · Demanda 5: o perfil dos setores com e sem "água não chega"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7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5: o perfil (medianas) dos setores com água não chega = 0 e &gt; 0.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&gt; 0: 5.190 setores; = 0: 89.212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Renda mediana R$ 1.526,40 × R$ 2.830,52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786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Como são os setores com "não chega" &gt; 0?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Têm renda mediana menor (R$ 1.526,40 contra R$ 2.830,52), mais analfabetismo e mais cor/raça PPI.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Quantos setores têm "não chega" &gt; 0?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5.190, contra 89.212 com zero.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FP04 · Demanda 6: o "sem banheiro" na fatorial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996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6 na fatorial: o S4 usa a V00495; no NB05 as três versões do banheiro entram na grade.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V00495: 96 de 108 elegíveis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S4: 75.955 setores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273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versão do banheiro passa mais?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Com a V00495, 96 de 108 especificações são elegíveis; fora e graduado, 48 de 108 cada.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Então por que a referência usa o graduado?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graduado gradua a gravidade e ficou na frente na ordem dos critérios do NB05. Com a V00495 há empate no topo em outra leitura; está em aberto.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FP05 · Demanda 7: canalização e sem banheiro, uma por vez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7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7: cada cenário acrescenta uma variável ao IVS-7 e perde os setores sem ela.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S3: KMO 0,805; S4: 56,37%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Alguma variável nova melhora a fatorial?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sem canalização (S3) tem o maior KMO (0,805) e quase não perde setores. Mas com as novas, Kaiser pede 3 fatores.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variância de 2 fatores cai?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Com mais variáveis, dois fatores explicam uma parte menor do total: de 62,12% (S0) para 56,37% (S4).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FP06 · Demanda 8: tudo isso junto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7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8: tudo junto (S6), sem lixo (S7) e as variantes.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S6: Kaiser 4, Horn 4, 48,94%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S7: Kaiser 3, Horn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ficar com 2 fatores se Kaiser e Horn pedem 4?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Para manter o desenho do IVS-BH (duas dimensões) e comparar os cenários. Com 4, o índice teria outra estrutura; posso rodar se você quiser.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com postos dentro do município?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KMO cai para 0,769 e Kaiser e Horn pedem 3.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FP07 · Demanda 9: a moradia não convencional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9 na fatorial: a moradia não convencional no S5 e no S6.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S5: KMO 0,783; 54,45%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273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variável muda a fatorial?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KMO do S5 é igual ao do S0 (0,783), mas a variância de 2 fatores cai de 62,12% para 54,45%: a variável entra sem pertencer a nenhum fator.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o S5 não perde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moradia não convencional não tem faltantes: o S5 fica com os mesmos 87.545 setores do S0.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FP08 · Demanda 10: testar o lixo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996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10: o lixo. Com ele, Kaiser e Horn dão 2 fatores e o lixo forma um fator próprio; sem ele, 1.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S0: 2 fatores; S1: 1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S6: lixo não forma fator próprio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786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Então o IVS-7 tem um fator só de lixo?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Na Varimax do S0, sim: o segundo fator é praticamente o lixo. Sem lixo (S1) sobra um fator.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No S6 o lixo também se separa?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Não: com as quatro variáveis novas, ele não forma fator próprio.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FP09 · Demanda 11: as duas rotações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Demanda 11: os pesos nas duas rotações, em S0, S1 e S6; na promax pelas duas matrizes.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Φ: 0,151 (S0), 0,522 (S1), 0,435 (S6)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Onde a rotação muda mais o peso?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 S1: o peso de F1 vai de 77,17% (sem rotação) a 59,64% (promax, estrutura).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o Φ muda tanto entre cenários?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Depende de quais variáveis entram: 0,151 no S0, 0,522 no S1 e 0,435 no S6.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FP11 · Validação contra FCU, cenário a cenário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 AUC contra FCU em cada cenário: o índice com pesos Varimax, a renda invertida sozinha e a média simples dos postos das variáveis.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S0: índice 0,8377; renda 0,8819; postos 0,8684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517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índice separa FCU melhor que a renda?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Não: a renda invertida sozinha tem AUC maior em quase todos os cenários (0,8819 contra 0,8377 no S0). O índice só fica à frente em duas variantes com postos dentro do município (S0_postos_mun e S6_postos_mun).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a média simples de postos?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Um índice sem fatorial: cada variável vira posto e tira-se a média. Serve de comparação.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FP13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FP13 · A renda sozinha contra o 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O que o índice acrescenta à renda. A renda sozinha separa FCU melhor; dentro de cada faixa de renda do município, o índice separa melhor.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AUC global: índice 0,8309; renda 0,8900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Nos estratos de renda: índice 0,7062; renda 0,5900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Se a renda sozinha é melhor, para que 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No geral a renda vence (0,8900 × 0,8309). Mas entre setores com renda parecida, o índice separa FCU melhor (0,7062 × 0,5900): ele acrescenta o que a renda não vê.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Somar o índice à renda ajuda?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Melhora o modelo (queda da deviance de 135,45; z de 17,48), mas a AUC quase não muda.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Em quantas especificações a renda vence?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Em todas: em nenhuma das 192 o índice supera a renda na AUC global.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VP00 · As 108 versões da análise fatorial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99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Abre as 108 versões: cinco escolhas (renda, lixo, água, banheiro, moradia) combinadas, todas com o mesmo método (promax, 60/40, normalização municipal).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108 versões; 24 passam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786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108?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3 rendas × 2 lixo × 3 água × 3 banheiro × 2 moradia = 108.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Para que tantas versões?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Para ver o efeito de cada escolha, uma por vez, mantendo o resto igual. É uma análise de sensibilidade.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VP02 · Como 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7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Como ler as versões: método fixo, cada versão na sua amostra própria, comparações na amostra comum.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Amostra comum: 67.981 setores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a amostra comum?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Os 67.981 setores que têm as variáveis de todas as 108. Comparar na mesma amostra evita que a diferença venha dos setores e não da versão.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Os critérios são os mesmos do NB05?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Sim: KMO ≥ 0,70; MSA ≥ 0,50; comunalidade ≥ 0,30; carga ≥ 0,40.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VP03 · Os cinco eixos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7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Os cinco eixos e as opções de cada um. Seis variáveis ficam em todas as versões.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3 × 2 × 3 × 3 × 2 = 108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De 6 a 10 variáveis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786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"não chega" e "sem canalização" não entram juntas?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Uma contém a outra: entrariam duas vezes a mesma informação.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essas variáveis fixas?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São os componentes do IVS-7 que não estão em discussão: água, esgoto, razão de moradores, analfabetismo, renda e cor/raça.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VP04 · A amostra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Quantos setores cada versão tem na amostra própria, por opção de cada eixo.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Amostras de 68.000 a 87.545 setores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542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opção tira mais setores?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Acrescentar "não chega": a mediana cai para 69.480 setores.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renda muda a amostra?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Quase nada: só o setor extremo de BH (68.000 × 68.001).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VP05 · As 108 de uma vez: quem passa nos critérios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7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As 108 numa grade: cada célula é uma versão, em verde as que passam, com o primeiro critério que falha nas outras.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24 de 108 passam; com lixo 3, sem lixo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273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só 24 passam?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Quase todas as que falham, falham na comunalidade (alguma variável abaixo de 0,30); algumas também na carga. Com lixo só 3 passam; sem lixo, 21.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Que variável costuma ficar com comunalidade baixa?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Lixo e moradia não convencional quase não se correlacionam com o resto (DC01, DM10).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VP06 · As 108 de uma vez: KMO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26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O KMO de cada versão, na mesma grade.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KMO de 0,765 a 0,814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786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Alguma versão falha no KMO?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Não: o menor é 0,7653 (V048), acima de 0,70. O KMO não separa as versões; o que separa é a comunalidade.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Qual versão tem o maior KMO?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 V033 (0,8143).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VP07 · As 108 de uma vez: AUC no município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 AUC no município de cada versão, na amostra comum.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AUC no município de 0,812 a 0,864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1542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versão de maior AUC passa nos critérios?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Sim: a V024 (0,8642) está na lista das que passam.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AUC muda muito entre versões?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Pouco: de 0,812 a 0,864.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VP08 · Um eixo por vez: renda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renda original → renda sem extremo: 0,2% mudam de faixa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renda original → renda com mediana: 0,2% mudam de faixa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renda sem extremo → renda com mediana: 0,0% mudam de faixa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Mudar renda muda 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renda original → renda sem extremo: Spearman 0,999, 0,2% mudam de faixa; renda original → renda com mediana: Spearman 0,999, 0,2% mudam de faixa.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quantas versões passam nos critérios?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renda original → renda sem extremo: 8 → 8; renda original → renda com mediana: 8 → 8; renda sem extremo → renda com mediana: 8 → 8.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"mudar de faixa"?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o setor passar de uma faixa (baixo, médio, elevado, muito elevado) para outra entre as duas versões, pela regra do IVS-BH. Mostra o efeito prático da troca.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VP09 · Um eixo por vez: lixo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com lixo → sem lixo: 8,2% mudam de faixa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663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Mudar lixo muda 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com lixo → sem lixo: Spearman 0,990, 8,2% mudam de faixa.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quantas versões passam nos critérios?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com lixo → sem lixo: 3 → 21.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"mudar de faixa"?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o setor passar de uma faixa (baixo, médio, elevado, muito elevado) para outra entre as duas versões, pela regra do IVS-BH. Mostra o efeito prático da troca.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VP10 · Um eixo por vez: água canalizada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água: só a inadequada → + água não chega: 16,3% mudam de faixa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água: só a inadequada → + sem água canalizada: 12,1% mudam de faixa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+ água não chega → + sem água canalizada: 6,6% mudam de faixa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639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Mudar água canalizada muda 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água: só a inadequada → + água não chega: Spearman 0,965, 16,3% mudam de faixa; água: só a inadequada → + sem água canalizada: Spearman 0,978, 12,1% mudam de faixa.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quantas versões passam nos critérios?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água: só a inadequada → + água não chega: 15 → 3; água: só a inadequada → + sem água canalizada: 15 → 6; + água não chega → + sem água canalizada: 3 → 6.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"mudar de faixa"?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o setor passar de uma faixa (baixo, médio, elevado, muito elevado) para outra entre as duas versões, pela regra do IVS-BH. Mostra o efeito prático da troca.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VP11 · Um eixo por vez: banheiro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3703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banheiro fora → + sem banheiro: 9,8% mudam de faixa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banheiro fora → + banheiro graduado: 11,3% mudam de faixa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+ sem banheiro → + banheiro graduado: 2,6% mudam de faixa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395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Mudar banheiro muda 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banheiro fora → + sem banheiro: Spearman 0,993, 9,8% mudam de faixa; banheiro fora → + banheiro graduado: Spearman 0,993, 11,3% mudam de faixa.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quantas versões passam nos critérios?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banheiro fora → + sem banheiro: 9 → 9; banheiro fora → + banheiro graduado: 9 → 6; + sem banheiro → + banheiro graduado: 9 → 6.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"mudar de faixa"?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o setor passar de uma faixa (baixo, médio, elevado, muito elevado) para outra entre as duas versões, pela regra do IVS-BH. Mostra o efeito prático da troca.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VP12 · Um eixo por vez: moradia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727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Compara pares de versões iguais em tudo, menos neste eixo. Para cada troca: a mediana da diferença entre os pares e, entre colchetes, a menor e a maior. Spearman perto de 1 quer dizer que as duas versões ordenam os setores quase igual.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moradia fora → + moradia não convencional: 1,1% mudam de faixa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9077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Mudar moradia muda o índice?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moradia fora → + moradia não convencional: Spearman 1,000, 1,1% mudam de faixa.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 quantas versões passam nos critérios?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moradia fora → + moradia não convencional: 21 → 3.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"mudar de faixa"?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É o setor passar de uma faixa (baixo, médio, elevado, muito elevado) para outra entre as duas versões, pela regra do IVS-BH. Mostra o efeito prático da troca.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VP13 · As versões que passam nos critérios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996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As versões que passam nos critérios, em ordem de código, com setores, KMO, AUC e o Spearman com a V023 (a referência do NB05).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V023 = referência do NB05: 73.878 setores, KMO 0,781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 referência do NB05 está entre elas?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Sim: é a V023 (renda original, sem lixo, banheiro graduado), com 73.878 setores e KMO 0,781.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As que passam dão índices parecidos?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O Spearman com a V023 mostra isso: perto de 1 quer dizer quase a mesma ordem de setores.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VP13-2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VP13-2 · As versões que passam nos critérios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Continuação da lista das versões que passam.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24 versões no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2029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em ordem de código?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Para não sugerir uma escolha; a ordem pelos critérios está no VP14.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quer dizer o Spearman com a V023?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Quanto a versão ordena os setores igual à referência do NB05: perto de 1, quase a mesma ordem.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VP14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VP14 · A ordem das elegíveis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727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As elegíveis ordenadas pela posição média em três critérios: estabilidade (a maior variação do peso de uma variável quando se tira um município), AUC no município e parcimônia (menos variáveis). Empate: a mais próxima do IVS-BH 2012.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V025: posição média 9,2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V023: 12,3; variação de peso 6,94 p.p.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3151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Então a melhor é a V025?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Não escolhi. A V025 tem a menor posição média (9,2) por esses critérios; a decisão é sua.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Por que a referência do NB05 (V023) não está no topo?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Ela tem a maior variação de peso da lista (6,94 p.p.); a posição média é 12,3. A ordem do NB05 era em outra grade (com rotações e pesos diferentes).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O que é parcimônia?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Preferir a versão com menos variáveis quando o resultado é parecido.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P00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Perguntas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4160520" cy="2484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O que é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Perguntas que podem vir em qualquer momento da reunião: andamento, como conferi, ferramentas, limitações e próximos passos.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1F4E4A"/>
                </a:solidFill>
                <a:latin typeface="Cambria"/>
              </a:rPr>
              <a:t>Ter na ponta da língua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11 demandas; 31 indicadores; 108 versões; 24 elegíveis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1A1A18"/>
                </a:solidFill>
                <a:latin typeface="Cambria"/>
              </a:rPr>
              <a:t>· Em aberto: versão do índice, regra das faixas, formativo × reflexivo, moradia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6611112" cy="476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F4E4A"/>
                </a:solidFill>
                <a:latin typeface="Cambria"/>
              </a:rPr>
              <a:t>Perguntas prováveis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Em que pé está o trabalho?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As 11 demandas de setembro estão feitas. A descritiva cobre 31 indicadores e as correlações; a fatorial tem uma referência proposta e 108 versões testadas. Falta você escolher a versão e decidir os pontos em aberto.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Como você conferiu os números?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Recalculei os indicadores direto dos códigos V do Censo, por um caminho separado, e bateram com o banco e com as tabelas. Os números do relatório saem das tabelas de resultado.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Que ferramentas você usou?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Python para tudo (scripts que geram tabelas e slides). [Escreva aqui, com as suas palavras, como usou IA e como conferiu.]</a:t>
            </a:r>
          </a:p>
          <a:p>
            <a:pPr>
              <a:spcBef>
                <a:spcPts val="9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P: </a:t>
            </a:r>
            <a:r>
              <a:rPr sz="1600" b="1">
                <a:solidFill>
                  <a:srgbClr val="1A1A18"/>
                </a:solidFill>
                <a:latin typeface="Cambria"/>
              </a:rPr>
              <a:t>Quais as limitações?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A1A18"/>
                </a:solidFill>
                <a:latin typeface="Cambria"/>
              </a:rPr>
              <a:t>R: </a:t>
            </a:r>
            <a:r>
              <a:rPr sz="1600" b="0">
                <a:solidFill>
                  <a:srgbClr val="1A1A18"/>
                </a:solidFill>
                <a:latin typeface="Cambria"/>
              </a:rPr>
              <a:t>Sigilo não aleatório, exclusão por lista, sem análise espacial e validação só contra FCU. E é estudo ecológico: vale para setores, não para pessoas.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(1/14)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Setor censitário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A menor área do Censo, com algumas centenas de domicílios. É a unidade do índice, como no IVS-BH.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Dados_sig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Marca do setor: OK se tem dados divulgados. A regra vem da nota do IVS-BH.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Sigilo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O IBGE não divulga contagens de setores com poucos moradores, para não identificar ninguém. O valor fica vazio.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(2/14)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FCU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Favelas e Comunidades Urbanas: classificação do IBGE de 2022 (antes "aglomerados subnormais"). Usada como critério externo de validação.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Proporção × razão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Proporção vai de 0 a 1 (parte do total). Razão compara duas quantidades e pode passar de 1 (por exemplo, moradores por dormitório).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Exclusão por lista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Na fatorial, o setor sem alguma das variáveis sai inteiro.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(3/14)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Imputação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Pôr um valor no lugar de um dado. Só usei para o setor extremo de renda de BH (mediana do município).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Assimetria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Mede se a distribuição tem cauda: positiva, cauda à direita (poucos valores altos); negativa, à esquerda.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Coeficiente de variação (CV)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Desvio-padrão dividido pela média. Acima de 100%, o valor varia muito entre setores.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(4/14)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P10, P25, P75, P90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Percentis: abaixo do P10 ficam 10% dos setores; abaixo do P90, 90%.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Spearman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Correlação pela ordem (postos) dos setores; não exige normalidade. Vai de -1 a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Pearson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Correlação pelos valores; sensível a extremos e a muitos zeros.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(5/14)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Análise fatorial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Resume variáveis correlacionadas em poucos fatores (dimensões latentes).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Componente × fator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Componente vem da variância total (componentes principais); fator, só da parte comum. Aqui os autovalores são dos componentes.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Autovalor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Quanto da variância total um componente explica. A soma dos autovalores é o número de variáveis.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(6/14)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Critério de Kaiser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Fica com os componentes de autovalor maior que 1. Preciso com n &gt; 250 e comunalidade média ≥ 0,6.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Análise paralela de Horn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Compara cada autovalor com o de dados aleatórios do mesmo tamanho; fica com os que passam.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KMO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Kaiser-Meyer-Olkin: de 0 a 1, se as variáveis têm correlação suficiente para a fatorial. Acima de 0,7, bom (Matos).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(7/14)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MSA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O KMO de cada variável. Abaixo de 0,5, a variável não combina com as outras.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Bartlett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Testa se a matriz de correlação é a identidade. Com amostra grande quase sempre rejeita; não basta sozinho.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Comunalidade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Parte da variância da variável explicada pelos fatores. O NB05 exige ≥ 0,30; Figueiredo sugere 0,50.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(8/14)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Carga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Correlação da variável com o fator. O NB05 exige que a maior carga de cada variável seja ≥ 0,40.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Rotação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Girar os eixos para cada variável carregar forte num fator só. Não muda o total explicado.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Varimax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Rotação ortogonal: fatores sem correlação.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(9/14)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Promax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Rotação oblíqua: permite fatores correlacionados. Rápida, boa para bases grandes.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Φ (phi)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Correlação entre os fatores numa rotação oblíqua.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Matriz padrão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Na oblíqua: o efeito próprio de cada fator sobre a variável. É a que vira peso.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(10/14)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Matriz estrutura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Na oblíqua: a correlação total variável-fator, incluindo o que vem do outro fator.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Pesos do índice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Quadrado das cargas, normalizado em cada dimensão, vezes o peso da dimensão (60/40).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Normalização min-max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(valor - mínimo) / (máximo - mínimo): põe cada variável entre 0 e 1.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(11/14)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Normalização municipal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O min-max feito dentro de cada município. A global usa todos os setores juntos.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Faixas do IVS-BH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Médio = média ± 0,5 DP; baixo abaixo; elevado até 1,5 DP acima; muito elevado acima.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Quartis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Cortes que deixam um quarto dos setores em cada faixa.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(12/14)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Curva 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Para cada corte do índice, a proporção de FCU acima do corte contra a de não FCU acima.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Área sob a curva ROC: 0,5 é acaso; 1, separação perfeita. Chance de um FCU ter índice maior que um não FCU.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AUC municipal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A AUC calculada dentro de cada município; uso a mediana dos que têm ao menos 30 setores de FCU e 30 fora.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(13/14)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Média de 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Índice sem fatorial: cada variável vira posto e tira-se a média. Serve de comparação.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Amostra comum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Os setores que têm as variáveis de todas as versões comparadas.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Estabilidade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Quanto os pesos mudam quando se tira um município de cada vez.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APOIO · NÃO COMPARTILHAR · G14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A1A18"/>
                </a:solidFill>
                <a:latin typeface="Cambria"/>
              </a:rPr>
              <a:t>Glossário (14/14)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Parcimônia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Preferir menos variáveis quando o resultado é parecido.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Formativo × reflexivo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Reflexivo: os indicadores refletem algo latente (fatorial serve). Formativo: os indicadores formam o índice (a fatorial pode não ser o caminho para os pesos). Em aberto.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4E4A"/>
                </a:solidFill>
                <a:latin typeface="Cambria"/>
              </a:rPr>
              <a:t>Falácia ecológica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A1A18"/>
                </a:solidFill>
                <a:latin typeface="Cambria"/>
              </a:rPr>
              <a:t>Associação entre setores não vale automaticamente para pessoas.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33519</Words>
  <Application>Microsoft Macintosh PowerPoint</Application>
  <PresentationFormat>Widescreen</PresentationFormat>
  <Paragraphs>5769</Paragraphs>
  <Slides>140</Slides>
  <Notes>140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140</vt:i4>
      </vt:variant>
    </vt:vector>
  </HeadingPairs>
  <TitlesOfParts>
    <vt:vector size="143" baseType="lpstr">
      <vt:lpstr>Arial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Apoio da reunião: relatório descritivo IVS Censo 2022</dc:title>
  <dc:subject>apoio, não compartilhar</dc:subject>
  <dc:creator>Pedro Dias Soares</dc:creator>
  <cp:lastModifiedBy>Pedro Dias Soares</cp:lastModifiedBy>
  <cp:revision>5</cp:revision>
  <dcterms:created xsi:type="dcterms:W3CDTF">2026-10-07T21:47:51Z</dcterms:created>
  <dcterms:modified xsi:type="dcterms:W3CDTF">2026-10-08T21:27:12Z</dcterms:modified>
  <cp:keywords/>
  <dc:description/>
  <cp:category/>
</cp:coreProperties>
</file>