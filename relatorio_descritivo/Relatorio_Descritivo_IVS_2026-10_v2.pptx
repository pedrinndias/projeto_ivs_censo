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2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5" r:id="rId16"/>
    <p:sldId id="276" r:id="rId17"/>
    <p:sldId id="277" r:id="rId18"/>
    <p:sldId id="278" r:id="rId19"/>
    <p:sldId id="357" r:id="rId20"/>
    <p:sldId id="279" r:id="rId21"/>
    <p:sldId id="358" r:id="rId22"/>
    <p:sldId id="280" r:id="rId23"/>
    <p:sldId id="359" r:id="rId24"/>
    <p:sldId id="281" r:id="rId25"/>
    <p:sldId id="360" r:id="rId26"/>
    <p:sldId id="282" r:id="rId27"/>
    <p:sldId id="361" r:id="rId28"/>
    <p:sldId id="283" r:id="rId29"/>
    <p:sldId id="362" r:id="rId30"/>
    <p:sldId id="284" r:id="rId31"/>
    <p:sldId id="363" r:id="rId32"/>
    <p:sldId id="285" r:id="rId33"/>
    <p:sldId id="364" r:id="rId34"/>
    <p:sldId id="286" r:id="rId35"/>
    <p:sldId id="365" r:id="rId36"/>
    <p:sldId id="287" r:id="rId37"/>
    <p:sldId id="366" r:id="rId38"/>
    <p:sldId id="288" r:id="rId39"/>
    <p:sldId id="367" r:id="rId40"/>
    <p:sldId id="289" r:id="rId41"/>
    <p:sldId id="368" r:id="rId42"/>
    <p:sldId id="290" r:id="rId43"/>
    <p:sldId id="369" r:id="rId44"/>
    <p:sldId id="291" r:id="rId45"/>
    <p:sldId id="370" r:id="rId46"/>
    <p:sldId id="292" r:id="rId47"/>
    <p:sldId id="371" r:id="rId48"/>
    <p:sldId id="293" r:id="rId49"/>
    <p:sldId id="372" r:id="rId50"/>
    <p:sldId id="294" r:id="rId51"/>
    <p:sldId id="373" r:id="rId52"/>
    <p:sldId id="295" r:id="rId53"/>
    <p:sldId id="374" r:id="rId54"/>
    <p:sldId id="296" r:id="rId55"/>
    <p:sldId id="375" r:id="rId56"/>
    <p:sldId id="297" r:id="rId57"/>
    <p:sldId id="376" r:id="rId58"/>
    <p:sldId id="298" r:id="rId59"/>
    <p:sldId id="377" r:id="rId60"/>
    <p:sldId id="299" r:id="rId61"/>
    <p:sldId id="378" r:id="rId62"/>
    <p:sldId id="300" r:id="rId63"/>
    <p:sldId id="379" r:id="rId64"/>
    <p:sldId id="301" r:id="rId65"/>
    <p:sldId id="380" r:id="rId66"/>
    <p:sldId id="302" r:id="rId67"/>
    <p:sldId id="381" r:id="rId68"/>
    <p:sldId id="303" r:id="rId69"/>
    <p:sldId id="382" r:id="rId70"/>
    <p:sldId id="304" r:id="rId71"/>
    <p:sldId id="383" r:id="rId72"/>
    <p:sldId id="305" r:id="rId73"/>
    <p:sldId id="384" r:id="rId74"/>
    <p:sldId id="306" r:id="rId75"/>
    <p:sldId id="385" r:id="rId76"/>
    <p:sldId id="307" r:id="rId77"/>
    <p:sldId id="386" r:id="rId78"/>
    <p:sldId id="308" r:id="rId79"/>
    <p:sldId id="387" r:id="rId80"/>
    <p:sldId id="388" r:id="rId81"/>
    <p:sldId id="389" r:id="rId82"/>
    <p:sldId id="390" r:id="rId83"/>
    <p:sldId id="391" r:id="rId84"/>
    <p:sldId id="392" r:id="rId85"/>
    <p:sldId id="393" r:id="rId86"/>
    <p:sldId id="394" r:id="rId87"/>
    <p:sldId id="395" r:id="rId88"/>
    <p:sldId id="310" r:id="rId89"/>
    <p:sldId id="311" r:id="rId90"/>
    <p:sldId id="312" r:id="rId91"/>
    <p:sldId id="313" r:id="rId92"/>
    <p:sldId id="314" r:id="rId93"/>
    <p:sldId id="315" r:id="rId94"/>
    <p:sldId id="316" r:id="rId95"/>
    <p:sldId id="317" r:id="rId96"/>
    <p:sldId id="318" r:id="rId97"/>
    <p:sldId id="319" r:id="rId98"/>
    <p:sldId id="320" r:id="rId99"/>
    <p:sldId id="321" r:id="rId100"/>
    <p:sldId id="322" r:id="rId101"/>
    <p:sldId id="323" r:id="rId102"/>
    <p:sldId id="324" r:id="rId103"/>
    <p:sldId id="325" r:id="rId104"/>
    <p:sldId id="326" r:id="rId105"/>
    <p:sldId id="327" r:id="rId106"/>
    <p:sldId id="396" r:id="rId107"/>
    <p:sldId id="397" r:id="rId108"/>
    <p:sldId id="398" r:id="rId109"/>
    <p:sldId id="399" r:id="rId110"/>
    <p:sldId id="400" r:id="rId111"/>
    <p:sldId id="401" r:id="rId112"/>
    <p:sldId id="402" r:id="rId113"/>
    <p:sldId id="403" r:id="rId114"/>
    <p:sldId id="404" r:id="rId115"/>
    <p:sldId id="328" r:id="rId116"/>
    <p:sldId id="329" r:id="rId117"/>
    <p:sldId id="330" r:id="rId118"/>
    <p:sldId id="331" r:id="rId119"/>
    <p:sldId id="332" r:id="rId120"/>
    <p:sldId id="333" r:id="rId121"/>
    <p:sldId id="334" r:id="rId122"/>
    <p:sldId id="335" r:id="rId123"/>
    <p:sldId id="336" r:id="rId124"/>
    <p:sldId id="338" r:id="rId125"/>
    <p:sldId id="340" r:id="rId126"/>
    <p:sldId id="342" r:id="rId127"/>
    <p:sldId id="343" r:id="rId128"/>
    <p:sldId id="344" r:id="rId129"/>
    <p:sldId id="345" r:id="rId130"/>
    <p:sldId id="346" r:id="rId131"/>
    <p:sldId id="347" r:id="rId132"/>
    <p:sldId id="348" r:id="rId133"/>
    <p:sldId id="349" r:id="rId134"/>
    <p:sldId id="350" r:id="rId135"/>
    <p:sldId id="351" r:id="rId136"/>
    <p:sldId id="352" r:id="rId137"/>
    <p:sldId id="353" r:id="rId138"/>
    <p:sldId id="354" r:id="rId139"/>
    <p:sldId id="355" r:id="rId140"/>
    <p:sldId id="356" r:id="rId1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8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1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[A01] Relatório descritivo do andamento
Requisitos: R1, R14
Fontes: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[DM00] As demandas e como foram cobertas
Requisitos: R2, R3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[DM01] As 11 demandas
Requisitos: R2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[DM02] Demanda 1 — a renda com a mediana
Requisitos: R2, R3
Textos tirados de: docs/prompts/estado_demandas_2026-09.md:16; docs/prompts/estado_demandas_2026-09.md:35-38; docs/prompts/estado_demandas_2026-09.md:105-120; src/ivs_censo/renda.py:91-97
Fontes: docs/prompts/estado_demandas_2026-09.md:16, 35-38, 105-120; banco_de_dados/eda/atualizada/renda_imputacao_alternativas.csv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[DM03] Demanda 2 — quadro de indicadores
Requisitos: R2, R3
Textos tirados de: docs/prompts/estado_demandas_2026-09.md:17; docs/prompts/estado_demandas_2026-09.md:122-125; docs/prompts/estado_nb05_2026-09.md:1; docs/prompts/estado_nb05_2026-09.md:234-245
Fontes: docs/prompts/estado_demandas_2026-09.md:17; docs/prompts/estado_demandas_2026-09.md:122-125; banco_de_dados/entrega_orientadora/Quadro_Indicadores.csv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[DM04] Demanda 3 — fatorial sem bootstrap, sem e com rotação
Requisitos: R2, R3
Textos tirados de: docs/prompts/estado_demandas_2026-09.md:18; docs/prompts/estado_demandas_2026-09.md:28-61; docs/prompts/estado_demandas_2026-09.md:140-148
Fontes: docs/prompts/estado_demandas_2026-09.md:18; docs/prompts/estado_demandas_2026-09.md:39-40, 140-148; banco_de_dados/eda/fatorial_ampliada/pesos.csv (S0)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[DM06] Demanda 5 — comparar "não chega"
Requisitos: R2, R3
Textos tirados de: docs/prompts/estado_demandas_2026-09.md:20; docs/prompts/estado_demandas_2026-09.md:28-61; docs/prompts/estado_demandas_2026-09.md:288-293
Fontes: docs/prompts/estado_demandas_2026-09.md:20; docs/prompts/estado_demandas_2026-09.md:41-42, 290-293; banco_de_dados/eda/fatorial_ampliada/comparacao_nao_chega_banheiro.csv (bloco spearman)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[DM07] Demanda 6 — juntar "sem banheiro"
Requisitos: R2, R3
Textos tirados de: docs/prompts/estado_demandas_2026-09.md:21; docs/prompts/estado_demandas_2026-09.md:28-61; docs/prompts/estado_nb05_2026-09.md:1; docs/prompts/estado_nb05_2026-09.md:195-245
Fontes: docs/prompts/estado_demandas_2026-09.md:21; docs/prompts/estado_demandas_2026-09.md:43-45; docs/prompts/estado_nb05_2026-09.md:195-245; comparacao_nao_chega_banheiro.csv (prova_juncao); banco_de_dados/eda/fatorial_ampliada/banheiro_particao.csv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[DM08] Demanda 7 — adicionar canalização e sem banheiro
Requisitos: R2, R3
Textos tirados de: docs/prompts/estado_demandas_2026-09.md:22; docs/prompts/estado_demandas_2026-09.md:140-148
Fontes: docs/prompts/estado_demandas_2026-09.md:22; banco_de_dados/eda/fatorial_ampliada/cenarios.csv (n, perdidos_vs_S0, kmo)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[DM09] Demanda 8 — fatorial de tudo isso
Requisitos: R2, R3
Textos tirados de: docs/prompts/estado_demandas_2026-09.md:23; docs/prompts/estado_demandas_2026-09.md:28-61
Fontes: docs/prompts/estado_demandas_2026-09.md:23; banco_de_dados/eda/fatorial_ampliada/cenarios.csv (n, kmo, var_explicada_2f)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[DM10] Demanda 9 — habitação convencional
Requisitos: R2, R3
Textos tirados de: docs/prompts/estado_demandas_2026-09.md:24; docs/prompts/estado_demandas_2026-09.md:28-61; docs/prompts/estado_demandas_2026-09.md:318-324
Fontes: docs/prompts/estado_demandas_2026-09.md:24; docs/prompts/estado_demandas_2026-09.md:46-48, 318-324; banco_de_dados/eda/fatorial_ampliada/cargas.csv (moradia não convencional)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[DM11] Demanda 10 — testar lixo
Requisitos: R2, R3
Textos tirados de: docs/prompts/estado_demandas_2026-09.md:25; docs/prompts/estado_demandas_2026-09.md:288-306
Fontes: docs/prompts/estado_demandas_2026-09.md:25; banco_de_dados/eda/fatorial_ampliada/cenarios.csv; docs/prompts/estado_demandas_2026-09.md:301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[DM12] Demanda 11 — testar as duas rotações
Requisitos: R2, R3
Textos tirados de: docs/prompts/estado_demandas_2026-09.md:26; docs/prompts/estado_demandas_2026-09.md:28-61; docs/prompts/estado_demandas_2026-09.md:288-306; docs/prompts/estado_demandas_2026-09.md:343-347
Fontes: docs/prompts/estado_demandas_2026-09.md:26; docs/prompts/estado_demandas_2026-09.md:53-55, 302-304, 344-347; banco_de_dados/eda/fatorial_ampliada/pesos.csv (S1)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[DM14] Tudo o que contornamos
Requisitos: R3
Fontes: caixas "O que contornamos" de DM02–DM12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[DS00] Descritiva dos indicadores
Requisitos: R4, R5
Fontes: analises_exploratorias/00_referencia/tabelas/T03_descritivas_global.csv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[DS01] A base
Requisitos: R6, R10
Fontes: analises_exploratorias/00_referencia/tabelas/T01_funil.csv; F01_funil.png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[DS02] Setores com valor, indicador a indicador
Requisitos: R4, R10
Fontes: analises_exploratorias/00_referencia/tabelas/T02_perdas_por_indicador.csv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[DS03] Água inadequada
Requisitos: R4, R5, R6, R10
Gerado por ds() em scripts/dados_relatorio_descritivo.py. Coluna no .db: pct_agua_inad (tabela setores_censitarios, recorte urbano == 1 e Dados_sig = OK). Conferir: T03 e T02 da 00_referencia, linha pct_agua_inad.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[DS03-2] Água inadequada: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[DS04] Esgoto inadequado
Requisitos: R4, R5, R6, R10
Gerado por ds() em scripts/dados_relatorio_descritivo.py. Coluna no .db: pct_esgoto_inad (tabela setores_censitarios, recorte urbano == 1 e Dados_sig = OK). Conferir: T03 e T02 da 00_referencia, linha pct_esgoto_inad.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[DS04-2] Esgoto inadequado: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[DS05] Lixo inadequado
Requisitos: R4, R5, R6, R10
Gerado por ds() em scripts/dados_relatorio_descritivo.py. Coluna no .db: pct_lixo_inad (tabela setores_censitarios, recorte urbano == 1 e Dados_sig = OK). Conferir: T03 e T02 da 00_referencia, linha pct_lixo_inad.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[DS05-2] Lixo inadequado: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[DS06] Sem água canalizada
Requisitos: R4, R5, R6, R10
Gerado por ds() em scripts/dados_relatorio_descritivo.py. Coluna no .db: pct_sem_agua_canalizada (tabela setores_censitarios, recorte urbano == 1 e Dados_sig = OK). Conferir: T03 e T02 da 00_referencia, linha pct_sem_agua_canalizada.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[DS06-2] Sem água canalizada: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[DS07] Água não chega
Requisitos: R4, R5, R6, R10
Gerado por ds() em scripts/dados_relatorio_descritivo.py. Coluna no .db: pct_agua_nao_encanada (tabela setores_censitarios, recorte urbano == 1 e Dados_sig = OK). Conferir: T03 e T02 da 00_referencia, linha pct_agua_nao_encanada.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157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[DS07-2] Água não chega: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[DS08] Água só no terreno
Requisitos: R4, R5, R6, R10
Gerado por ds() em scripts/dados_relatorio_descritivo.py. Coluna no .db: pct_agua_so_terreno (tabela setores_censitarios, recorte urbano == 1 e Dados_sig = OK). Conferir: T03 e T02 da 00_referencia, linha pct_agua_so_terreno.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[DS08-2] Água só no terreno: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[DS09] Sem banheiro
Requisitos: R4, R5, R6, R10
Gerado por ds() em scripts/dados_relatorio_descritivo.py. Coluna no .db: pct_sem_banheiro (tabela setores_censitarios, recorte urbano == 1 e Dados_sig = OK). Conferir: T03 e T02 da 00_referencia, linha pct_sem_banheiro.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[DS09-2] Sem banheiro: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[DS10] Sem banheiro nem sanitário
Requisitos: R4, R5, R6, R10
Gerado por ds() em scripts/dados_relatorio_descritivo.py. Coluna no .db: pct_sem_banheiro_nem_sanitario (tabela setores_censitarios, recorte urbano == 1 e Dados_sig = OK). Conferir: T03 e T02 da 00_referencia, linha pct_sem_banheiro_nem_sanitario.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[DS10-2] Sem banheiro nem sanitário: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[DS11] Só sanitário
Requisitos: R4, R5, R6, R10
Gerado por ds() em scripts/dados_relatorio_descritivo.py. Coluna no .db: pct_so_sanitario (tabela setores_censitarios, recorte urbano == 1 e Dados_sig = OK). Conferir: T03 e T02 da 00_referencia, linha pct_so_sanitario.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[DS11-2] Só sanitário: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[DS12] Banheiro de uso comum
Requisitos: R4, R5, R6, R10
Gerado por ds() em scripts/dados_relatorio_descritivo.py. Coluna no .db: pct_banheiro_comum (tabela setores_censitarios, recorte urbano == 1 e Dados_sig = OK). Conferir: T03 e T02 da 00_referencia, linha pct_banheiro_comum.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[DS12-2] Banheiro de uso comum: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[DS13] Banheiro graduado
Requisitos: R4, R5, R6, R10
Gerado por ds() em scripts/dados_relatorio_descritivo.py. Coluna no .db: banheiro_graduado (tabela setores_censitarios, recorte urbano == 1 e Dados_sig = OK). Conferir: T03 e T02 da 00_referencia, linha banheiro_graduado.
Fontes: analises_exploratorias/00_referencia/tabelas/T03_descritivas_global.csv; T02_perdas_por_indicador.csv; scripts/ivs_especificacoes.py:58-62; Relatorios e Andamento/gerenciamento_artigos_cientificos_IC.xlsx, aba Indicadores</a:t>
            </a:r>
          </a:p>
          <a:p>
            <a:r>
              <a:t>Calculado em: scripts/ivs_especificacoes.py, função banheiro_graduado (linha 58)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[DS13-2] Banheiro graduado: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[DS14] Razão de moradores
Requisitos: R4, R5, R6, R10
Gerado por ds() em scripts/dados_relatorio_descritivo.py. Coluna no .db: razao_moradores (tabela setores_censitarios, recorte urbano == 1 e Dados_sig = OK). Conferir: T03 e T02 da 00_referencia, linha razao_moradores.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[DS14-2] Razão de moradores: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[DS15] Analfabetismo 15+
Requisitos: R4, R5, R6, R10
Gerado por ds() em scripts/dados_relatorio_descritivo.py. Coluna no .db: pct_analfab (tabela setores_censitarios, recorte urbano == 1 e Dados_sig = OK). Conferir: T03 e T02 da 00_referencia, linha pct_analfab.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[DS15-2] Analfabetismo 15+: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[DS16] Renda média
Requisitos: R4, R5, R6, R10
Gerado por ds() em scripts/dados_relatorio_descritivo.py. Coluna no .db: renda_media (tabela setores_censitarios, recorte urbano == 1 e Dados_sig = OK). Conferir: T03 e T02 da 00_referencia, linha renda_media.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[DS16-2] Renda média: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[DS17] Renda sem o extremo
Requisitos: R4, R5, R6, R10
Gerado por ds() em scripts/dados_relatorio_descritivo.py. Coluna no .db: renda_media_sem_extremo (tabela setores_censitarios, recorte urbano == 1 e Dados_sig = OK). Conferir: T03 e T02 da 00_referencia, linha renda_media_sem_extremo.
Fontes: analises_exploratorias/00_referencia/tabelas/T03_descritivas_global.csv; T02_perdas_por_indicador.csv; src/ivs_censo/renda.py:113-127; Relatorios e Andamento/gerenciamento_artigos_cientificos_IC.xlsx, aba Indicadores</a:t>
            </a:r>
          </a:p>
          <a:p>
            <a:r>
              <a:t>Calculado em: src/ivs_censo/renda.py, função renda_sem_extremos (linha 113)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[DS17-2] Renda sem o extremo: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[DS18] Renda (mediana mun.)
Requisitos: R4, R5, R6, R10
Gerado por ds() em scripts/dados_relatorio_descritivo.py. Coluna no .db: renda_media_mediana_mun (tabela setores_censitarios, recorte urbano == 1 e Dados_sig = OK). Conferir: T03 e T02 da 00_referencia, linha renda_media_mediana_mun.
Fontes: analises_exploratorias/00_referencia/tabelas/T03_descritivas_global.csv; T02_perdas_por_indicador.csv; src/ivs_censo/renda.py:130-144; Relatorios e Andamento/gerenciamento_artigos_cientificos_IC.xlsx, aba Indicadores</a:t>
            </a:r>
          </a:p>
          <a:p>
            <a:r>
              <a:t>Calculado em: src/ivs_censo/renda.py, função renda_imputada_mediana_municipal (linha 130)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[DS18-2] Renda (mediana mun.):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[DS19] Cor/raça PPI
Requisitos: R4, R5, R6, R10
Gerado por ds() em scripts/dados_relatorio_descritivo.py. Coluna no .db: pct_raca_pretpardind (tabela setores_censitarios, recorte urbano == 1 e Dados_sig = OK). Conferir: T03 e T02 da 00_referencia, linha pct_raca_pretpardind.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[DS19-2] Cor/raça PPI: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[DS20] Responsável mulher
Requisitos: R4, R5, R6, R10
Gerado por ds() em scripts/dados_relatorio_descritivo.py. Coluna no .db: pct_resp_feminino (tabela setores_censitarios, recorte urbano == 1 e Dados_sig = OK). Conferir: T03 e T02 da 00_referencia, linha pct_resp_feminino.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[DS20-2] Responsável mulher: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[DS21] Domicílio improvisado
Requisitos: R4, R5, R6, R10
Gerado por ds() em scripts/dados_relatorio_descritivo.py. Coluna no .db: pct_dom_improv (tabela setores_censitarios, recorte urbano == 1 e Dados_sig = OK). Conferir: T03 e T02 da 00_referencia, linha pct_dom_improv.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[DS21-2] Domicílio improvisado: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[DS22] Habitação precária
Requisitos: R4, R5, R6, R10
Gerado por ds() em scripts/dados_relatorio_descritivo.py. Coluna no .db: pct_hab_precaria (tabela setores_censitarios, recorte urbano == 1 e Dados_sig = OK). Conferir: T03 e T02 da 00_referencia, linha pct_hab_precaria.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[DS22-2] Habitação precária: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[DS23] Moradia convencional
Requisitos: R4, R5, R6, R10
Gerado por ds() em scripts/dados_relatorio_descritivo.py. Coluna no .db: pct_moradia_convencional (tabela setores_censitarios, recorte urbano == 1 e Dados_sig = OK). Conferir: T03 e T02 da 00_referencia, linha pct_moradia_convencional.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[DS23-2] Moradia convencional: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[DS24] Moradia não convencional
Requisitos: R4, R5, R6, R10
Gerado por ds() em scripts/dados_relatorio_descritivo.py. Coluna no .db: pct_moradia_nao_convencional (tabela setores_censitarios, recorte urbano == 1 e Dados_sig = OK). Conferir: T03 e T02 da 00_referencia, linha pct_moradia_nao_convencional.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[DS24-2] Moradia não convencional: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[DS25] Apartamento
Requisitos: R4, R5, R6, R10
Gerado por ds() em scripts/dados_relatorio_descritivo.py. Coluna no .db: pct_apartamento (tabela setores_censitarios, recorte urbano == 1 e Dados_sig = OK). Conferir: T03 e T02 da 00_referencia, linha pct_apartamento.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[DS25-2] Apartamento: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[DS26] Casa
Requisitos: R4, R5, R6, R10
Gerado por ds() em scripts/dados_relatorio_descritivo.py. Coluna no .db: pct_casa (tabela setores_censitarios, recorte urbano == 1 e Dados_sig = OK). Conferir: T03 e T02 da 00_referencia, linha pct_casa.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[DS26-2] Casa: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[DS27] Casa de vila/condomínio
Requisitos: R4, R5, R6, R10
Gerado por ds() em scripts/dados_relatorio_descritivo.py. Coluna no .db: pct_casa_vila_condominio (tabela setores_censitarios, recorte urbano == 1 e Dados_sig = OK). Conferir: T03 e T02 da 00_referencia, linha pct_casa_vila_condominio.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[DS27-2] Casa de vila/condomínio: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[DS28] Crianças 0–4
Requisitos: R4, R5, R6, R10
Gerado por ds() em scripts/dados_relatorio_descritivo.py. Coluna no .db: pct_crianca_0a4 (tabela setores_censitarios, recorte urbano == 1 e Dados_sig = OK). Conferir: T03 e T02 da 00_referencia, linha pct_crianca_0a4.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[DS28-2] Crianças 0–4: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[DS29] População 0–14
Requisitos: R4, R5, R6, R10
Gerado por ds() em scripts/dados_relatorio_descritivo.py. Coluna no .db: pct_pop_0a14 (tabela setores_censitarios, recorte urbano == 1 e Dados_sig = OK). Conferir: T03 e T02 da 00_referencia, linha pct_pop_0a14.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[DS29-2] População 0–14: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[DS30] Pessoas 60+
Requisitos: R4, R5, R6, R10
Gerado por ds() em scripts/dados_relatorio_descritivo.py. Coluna no .db: pct_idoso_60mais (tabela setores_censitarios, recorte urbano == 1 e Dados_sig = OK). Conferir: T03 e T02 da 00_referencia, linha pct_idoso_60mais.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[DS30-2] Pessoas 60+: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[DS31] Índice de envelhecimento
Requisitos: R4, R5, R6, R10
Gerado por ds() em scripts/dados_relatorio_descritivo.py. Coluna no .db: iep_setor (tabela setores_censitarios, recorte urbano == 1 e Dados_sig = OK). Conferir: T03 e T02 da 00_referencia, linha iep_setor.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[DS31-2] Índice de envelhecimento: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[DS32] Dependência idosa
Requisitos: R4, R5, R6, R10
Gerado por ds() em scripts/dados_relatorio_descritivo.py. Coluna no .db: rdi_setor (tabela setores_censitarios, recorte urbano == 1 e Dados_sig = OK). Conferir: T03 e T02 da 00_referencia, linha rdi_setor.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[DS32-2] Dependência idosa: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[DS33] 70+ entre 60+
Requisitos: R4, R5, R6, R10
Gerado por ds() em scripts/dados_relatorio_descritivo.py. Coluna no .db: prop_70mais_entre_60mais (tabela setores_censitarios, recorte urbano == 1 e Dados_sig = OK). Conferir: T03 e T02 da 00_referencia, linha prop_70mais_entre_60mais.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  <a:p>
            <a:r>
              <a:t>Calculado em: src/ivs_censo/indicadores.py, linha 191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[DS33-2] 70+ entre 60+: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[DC00] Correlações entre os indicadores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[DC01] Os componentes do IVS-7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[DC02] Os componentes do IVS-7: mapa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[DC03] Saneamento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[DC04] Socioeconômica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[DC05] Morfologia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[DC06] Demografia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[DC07] Os 31 indicadores
Requisitos: C-04
Fontes: analises_exploratorias/00_referencia/tabelas/T12_correlacao_spearman.csv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[FA00] Descritiva da análise fatorial
Requisitos: R7
Fontes: banco_de_dados/eda/ivs_especificacoes/referencia.csv (leitura principal)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[FA01] A amostra da fatorial
Requisitos: R7
Fontes: analises_exploratorias/00_referencia/tabelas/T01_funil.csv; analises_exploratorias/00_referencia/tabelas/T02_perdas_por_indicador.csv; analises_exploratorias/00_referencia/tabelas/T20_variaveis_cargas.csv (variáveis)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[FA02] A matriz de correlação de entrada
Requisitos: R7
Recalculada por fa02() com matriz_correlacao(X, "spearman") de src/ivs_censo/fatorial.py:394, na base de montar_base(00_referencia) com os sete componentes completos.
Fontes: src/ivs_censo/fatorial.py:394-400 (matriz_correlacao) e 579-594 (rodar_cenario); base: Base_ELSI_70Municipios_Censo2022.db, recorte da 00_referencia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[FA03] Adequação dos dados à fatorial
Requisitos: R7
Fontes: analises_exploratorias/00_referencia/tabelas/T19_adequacao_fatorial.csv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[FA04] MSA e comunalidade por variável
Requisitos: R7
Fontes: analises_exploratorias/00_referencia/tabelas/T20_variaveis_cargas.csv (msa, comunalidade, comunalidade_obliqua)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[FA05] Autovalores e análise paralela de Horn
Requisitos: R7
Fontes: analises_exploratorias/00_referencia/tabelas/T21_autovalores.csv; F22_sedimentacao_horn.png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[FA06] Quantos fatores
Requisitos: R7
Fontes: analises_exploratorias/00_referencia/tabelas/T19_adequacao_fatorial.csv; analises_exploratorias/00_referencia/tabelas/T23_pesos.csv (dimensões)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[FA07] Cargas sem rotação
Requisitos: R7
Fontes: analises_exploratorias/00_referencia/tabelas/T20_variaveis_cargas.csv (sem_rotacao_f1, sem_rotacao_f2)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[FA08] Cargas Varimax
Requisitos: R7
Fontes: analises_exploratorias/00_referencia/tabelas/T20_variaveis_cargas.csv (varimax_f1, varimax_f2)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[FA09] Cargas promax: matriz padrão e matriz estrutura
Requisitos: R7
Fontes: analises_exploratorias/00_referencia/tabelas/T20_variaveis_cargas.csv (promax_*); F23_mapa_cargas.png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[FA10] Correlação entre os fatores (Φ)
Requisitos: R7
Fontes: analises_exploratorias/00_referencia/tabelas/T22_phi.csv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[FA11] Os pesos do índice
Requisitos: R7
Fontes: analises_exploratorias/00_referencia/tabelas/T23_pesos.csv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[FA12] O índice da referência proposta
Requisitos: R7
Fontes: analises_exploratorias/00_referencia/tabelas/T24_indice_descritivas.csv (Total); F24_histograma_por_faixa.png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[FA13] As faixas, pelas duas regras
Requisitos: R7
Fontes: analises_exploratorias/00_referencia/tabelas/T25_faixas.csv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[FA14] Validação contra as favelas (FCU)
Requisitos: R7
Fontes: analises_exploratorias/00_referencia/tabelas/T26_auc_e_elegibilidade.csv; F25_curva_roc.png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[FA15] AUC por município
Requisitos: R7
Fontes: analises_exploratorias/00_referencia/tabelas/T27_auc_por_municipio.csv; analises_exploratorias/00_referencia/tabelas/T26_auc_e_elegibilidade.csv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[FA16] Elegibilidade pelos critérios do NB05
Requisitos: R7
Fontes: analises_exploratorias/00_referencia/tabelas/T26_auc_e_elegibilidade.csv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[FP00] O que a orientadora pediu da fatorial
Requisitos: R8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[FC01] Cenário S0: IVS-7 (referência, reproduz o NB04)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[FC02] Cenário S1: IVS-6 (IVS-7 sem lixo)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[FC03] Cenário S2: IVS-7 + não chega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[FC04] Cenário S3: IVS-7 + sem canalização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[FC05] Cenário S4: IVS-7 + sem banheiro (V00495)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[FC06] Cenário S5: IVS-7 + não convencional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[FC07] Cenário S6: IVS-7 + as quatro ("tudo isso")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[FC08] Cenário S7: S6 sem lixo
Requisitos: C-04
Fontes: banco_de_dados/eda/fatorial_ampliada/cenarios.csv; scripts/fatorial_ampliada.py (CENARIOS, carregar, montar)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[FC09] As variantes dos cenários
Requisitos: C-04
Fontes: banco_de_dados/eda/fatorial_ampliada/cenarios.csv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[FP01] Demanda 1 — o efeito das três rendas na fatorial
Requisitos: R8
Fontes: banco_de_dados/eda/fatorial_ampliada/cenarios.csv; banco_de_dados/eda/fatorial_ampliada/pesos.csv (varimax)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[FP02] Demanda 3 — sem bootstrap, sem e com rotação
Requisitos: R8
Fontes: banco_de_dados/eda/fatorial_ampliada/cargas.csv (S0)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[FP03] Demanda 5 — o perfil dos setores com e sem "água não chega"
Requisitos: R8
Fontes: banco_de_dados/eda/fatorial_ampliada/comparacao_nao_chega_banheiro.csv (bloco perfil_mediana)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[FP04] Demanda 6 — o "sem banheiro" na fatorial
Requisitos: R8
Fontes: banco_de_dados/eda/fatorial_ampliada/cenarios.csv; banco_de_dados/eda/ivs_especificacoes/especificacoes.csv (banheiro, 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[FP05] Demanda 7 — canalização e sem banheiro, uma por vez
Requisitos: R8
Fontes: banco_de_dados/eda/fatorial_ampliada/cenarios.csv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[FP06] Demanda 8 — tudo isso junto
Requisitos: R8
Fontes: banco_de_dados/eda/fatorial_ampliada/cenarios.csv; docs/prompts/estado_demandas_2026-09.md:298-299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[FP07] Demanda 9 — a moradia não convencional
Requisitos: R8
Fontes: banco_de_dados/eda/fatorial_ampliada/cenarios.csv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[FP08] Demanda 10 — testar o lixo
Requisitos: R8
Fontes: banco_de_dados/eda/fatorial_ampliada/cenarios.csv (colunas n, kmo, fatores_kaiser, fatores_horn, var_explicada_2f, lixo_fator_proprio_varimax); docs/prompts/estado_demandas_2026-09.md:25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[FP09] Demanda 11 — as duas rotações
Requisitos: R8
Fontes: banco_de_dados/eda/fatorial_ampliada/pesos.csv (S0, S1, S6)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[FP11] Validação contra FCU, cenário a cenário
Requisitos: R8
Fontes: banco_de_dados/eda/fatorial_ampliada/validacao_fcu.csv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[FP13] A renda sozinha contra o índice
Requisitos: R8
Fontes: banco_de_dados/eda/ivs_especificacoes/acrescimo_renda.csv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[VP00] As 108 versões da análise fatorial
Fontes: banco_de_dados/eda/versoes_fatorial/versoes.csv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[VP02] Como ler
Fontes: versoes_fatorial/INTERPRETACAO.md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[VP03] Os cinco eixos
Fontes: versoes_fatorial/VERSOES.md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[VP04] A amostra
Fontes: banco_de_dados/eda/versoes_fatorial/versoes.csv (n, n_comum)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[VP05] As 108 de uma vez: quem passa nos critérios
Fontes: banco_de_dados/eda/versoes_fatorial/versoes.csv (elegivel, criterio_que_falhou)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[VP06] As 108 de uma vez: KMO
Fontes: banco_de_dados/eda/versoes_fatorial/versoes.csv (kmo)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[VP07] As 108 de uma vez: AUC no município
Fontes: banco_de_dados/eda/versoes_fatorial/versoes.csv (auc_mun_comum)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[VP08] Um eixo por vez: renda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[VP09] Um eixo por vez: lixo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[VP10] Um eixo por vez: água canalizada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[VP11] Um eixo por vez: banheiro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[VP12] Um eixo por vez: moradia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[VP13] As versões que passam nos critérios
Fontes: banco_de_dados/eda/versoes_fatorial/versoes.csv (elegivel)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[VP13-2] As versões que passam nos critérios (2)
Fontes: banco_de_dados/eda/versoes_fatorial/versoes.csv (elegivel)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[VP14] A ordem das elegíveis pelos critérios do NB05
Fontes: banco_de_dados/eda/versoes_fatorial/versoes.csv; banco_de_dados/eda/versoes_fatorial/estabilidade.csv; scripts/ivs_especificacoes.py:ordenar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descritivo do andamento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 e como foram cobertas, a descritiva de cada indicador e a análise fatorial, para conferência com os seus resultados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como foram cobertas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 de setembro, uma por slide: o pedido, como lemos, o que foi feito, o que contornamos e onde está o resultado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cada uma e onde está o resultado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73428"/>
              </p:ext>
            </p:extLst>
          </p:nvPr>
        </p:nvGraphicFramePr>
        <p:xfrm>
          <a:off x="777240" y="1719072"/>
          <a:ext cx="10634472" cy="296265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DS18, FP01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DS03–DS33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FP02, 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(as duas leituras)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com V00495; graduada (V00237) em aberto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(leitura padrão da pergunta 6)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(como não convencional, sem excluir)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a renda com a mediana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do próprio setor não existe no arquivo bruto do Censo (vêm V06001–V06005, não V06006). Lemos como: no setor extremo de Belo Horizonte, pôr a mediana do município calculada sem ele.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nova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renda_media_mediana_mun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 entrega (o banco passa de 104 para 105 colunas); tabela de sensibilidade com três alternativas.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falta a mediana do setor (V06006). Saída: imputação pela mediana do município, só no setor excluído (310620005650366,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$ 170.418,06). Efeito: 1 setor difere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7950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50649"/>
              </p:ext>
            </p:extLst>
          </p:nvPr>
        </p:nvGraphicFramePr>
        <p:xfrm>
          <a:off x="6446520" y="3105912"/>
          <a:ext cx="4965192" cy="1330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em BH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nos 70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$ 3.058,235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$ 3.060,310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3992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 (a coluna nova) e FP01 (o efeito na fatorial).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2: quadro de indicadores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de indicadores.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03835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2551"/>
              </p:ext>
            </p:extLst>
          </p:nvPr>
        </p:nvGraphicFramePr>
        <p:xfrm>
          <a:off x="777240" y="2349246"/>
          <a:ext cx="4965192" cy="1645920"/>
        </p:xfrm>
        <a:graphic>
          <a:graphicData uri="http://schemas.openxmlformats.org/drawingml/2006/table">
            <a:tbl>
              <a:tblPr/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IVS-7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77240" y="4104894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DS03–DS33 (a definição em cada slide).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fatorial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rotação? Rodamos as duas: sem rotação,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lado a lado.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saiu, como pedido. Para a incerteza entrou a sensibilidade de um município de fora por vez (S0, S1, S6).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49393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 e 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comparar "não chega"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leituras, as duas feitas: (a) contra as outras categorias de canalização;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contra os indicadores do IVS-7.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 (IVS-7 + não chega) na grade;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"água não chega" com o IVS-7 e com as outras categorias de água; perfil dos setores com valor &gt; 0 × = 0.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85,7% de zeros citados antes usavam os 104.108 setores como denominador, contando o faltante como não zero. Sobre os valores presentes, são 94,5%.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255837"/>
              </p:ext>
            </p:extLst>
          </p:nvPr>
        </p:nvGraphicFramePr>
        <p:xfrm>
          <a:off x="6446520" y="2896362"/>
          <a:ext cx="4965192" cy="2531999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× …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81.303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94.368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85.098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38089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juntar "sem banheiro"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"sem banheiro".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Usamos a V00495, que já contém a V00238 (conferido no banco). 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 (IVS-7 + sem banheiro, V00495) e a prova V00238 ≤ V00495. Depois, no NB05, a V00237 foi extraída e o banheiro graduado entrou na grade.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a V00237 não estava na base. Saída: nova extração da V00237 dos arquivos do Censo. A partição V00495 = V00236 + V00237 + V00238 fecha em 91.199 de 91.199 setores.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41624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que vale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≤ V00495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= V00236 + V00237 + V00238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 de 91.199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 e DS13 (o banheiro graduado).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adicionar canalização e sem banheiro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canalização e sem banheiro.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nova por vez sobre o IVS-7: não chega (S2), sem canalização (S3), sem banheiro (S4).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 na grade da fatorial ampliada, cada um uma fatorial completa sobre a mesma regra de setores.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nova perde setores diferentes; cada cenário tem o seu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comparado com o S0 pelos setores perdidos.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3229"/>
              </p:ext>
            </p:extLst>
          </p:nvPr>
        </p:nvGraphicFramePr>
        <p:xfrm>
          <a:off x="6446520" y="2686812"/>
          <a:ext cx="4965192" cy="1625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6446520" y="4422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fatorial de tudo isso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de tudo.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+ não chega + sem canalização + sem banheiro + não convencional.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(as quatro juntas) e S7 (S6 sem lixo); o S6 também com as três rendas e com postos dentro do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 A leitura de "tudo isso" é nossa; falta confirmar se é essa.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31609"/>
              </p:ext>
            </p:extLst>
          </p:nvPr>
        </p:nvGraphicFramePr>
        <p:xfrm>
          <a:off x="6446520" y="2686812"/>
          <a:ext cx="4965192" cy="2773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7022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FP06.</a:t>
            </a:r>
            <a:endParaRPr lang="pt-BR" sz="1250" noProof="0" dirty="0"/>
          </a:p>
        </p:txBody>
      </p:sp>
      <p:sp>
        <p:nvSpPr>
          <p:cNvPr id="12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habitação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convencional.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 (moradia não convencional), com diagnóstico completo, sem excluir por variância baixa.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S5 (IVS-7 + não convencional) e S6; MSA, comunalidade e % de zeros da variável.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tem variância baixa. Em vez de excluí-la, mostramos o diagnóstico para decidirmos se ela fica.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236986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de zeros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lixo.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rodar com e sem o lixo.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(IVS-7 sem lixo) e S7 (S6 sem lixo); se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se isso muda ao tirar um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Em S0, o lixo muda de fator em duas rodadas de um município de fora.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365444"/>
              </p:ext>
            </p:extLst>
          </p:nvPr>
        </p:nvGraphicFramePr>
        <p:xfrm>
          <a:off x="6446520" y="2686812"/>
          <a:ext cx="4965192" cy="949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74650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testar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as duas rotações.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as duas métricas (matriz padrão e matriz estrutura).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(padrão e estrutura)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em todos os cenários; figura do plano dos fatores no S6.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70790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(S1)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contornamos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302569"/>
              </p:ext>
            </p:extLst>
          </p:nvPr>
        </p:nvGraphicFramePr>
        <p:xfrm>
          <a:off x="777240" y="1719072"/>
          <a:ext cx="10634472" cy="316357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Obstáculo, saída e efeito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falta a mediana do setor (V06006). Saída: imputação pela mediana do município. Efeito: 1 setor difere de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O quadro foi ampliado no NB05: de 26 para 28 indicadores, com só sanitário e banheiro de uso comum.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saiu, como pedido. Para a incerteza entrou a sensibilidade de um município de fora por vez (S0, S1, S6).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85,7% de zeros citados antes usavam os 104.108 setores como denominador, contando o faltante como não zero. Sobre os valores presentes, são 94,5%.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a V00237 não estava na base. Saída: nova extração da V00237 dos arquivos do Censo. A partição V00495 = V00236 + V00237 + V00238 fecha em 91.199 de 91.199 setores.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variável nova perde setores diferentes; cada cenário tem o seu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comparado com o S0 pelos setores perdidos.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variável tem variância baixa. Em vez de excluí-la, mostramos o diagnóstico para decidirmos se ela fica.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Em S0, o lixo muda de fator em duas rodadas de um município de fora.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 de dado.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indicador por slide, nos 104.108 setores urbanos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OK: como é calculado, de que arquivo vem e como se distribui. Sem cruzar indicadores.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109.032 setores dos 70 municípios aos que entram em cada parte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77945"/>
              </p:ext>
            </p:extLst>
          </p:nvPr>
        </p:nvGraphicFramePr>
        <p:xfrm>
          <a:off x="777240" y="1719072"/>
          <a:ext cx="6400800" cy="16565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OK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604260"/>
            <a:ext cx="64008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descritiva usa 104.108 setores (urbanos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OK). A fatorial da referência proposta usa 73.878: saem 30.230 com algum componente faltante.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S01.png"/>
          <p:cNvPicPr>
            <a:picLocks noChangeAspect="1"/>
          </p:cNvPicPr>
          <p:nvPr/>
        </p:nvPicPr>
        <p:blipFill>
          <a:blip r:embed="rId3"/>
          <a:srcRect l="-5513" r="-5513"/>
          <a:stretch/>
        </p:blipFill>
        <p:spPr>
          <a:xfrm>
            <a:off x="71846" y="4133088"/>
            <a:ext cx="4810396" cy="2148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4242" y="6281784"/>
            <a:ext cx="2385604" cy="16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recorte, etapa a etapa.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valor, indicador a indicador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74997"/>
              </p:ext>
            </p:extLst>
          </p:nvPr>
        </p:nvGraphicFramePr>
        <p:xfrm>
          <a:off x="777240" y="1673352"/>
          <a:ext cx="5120640" cy="41970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9,32%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13,73%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5756"/>
              </p:ext>
            </p:extLst>
          </p:nvPr>
        </p:nvGraphicFramePr>
        <p:xfrm>
          <a:off x="6291072" y="1673352"/>
          <a:ext cx="5120640" cy="395020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abastecimento de água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315541"/>
              </p:ext>
            </p:extLst>
          </p:nvPr>
        </p:nvGraphicFramePr>
        <p:xfrm>
          <a:off x="777240" y="1737360"/>
          <a:ext cx="3429000" cy="279107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— Domicílios Particulares Permanentes Ocupados, Utiliza poço profundo ou artesiano | V00113 — Domicílios Particulares Permanentes Ocupados, Utiliza poço raso, freático ou cacimba | V00114 — Domicílios Particulares Permanentes Ocupados, Utiliza fonte, nascente ou mina | V00115 — Domicílios Particulares Permanentes Ocupados, Utiliza carro-pipa | V00116 — Domicílios Particulares Permanentes Ocupados, Utiliza água da chuva armazenada | V00117 — Domicílios Particulares Permanentes Ocupados, Utiliza rios, açudes, córregos, lagos e igarapés | V00118 — Domicílios Particulares Permanentes Ocupados, Utiliza outra forma de abastecimento de água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78447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49466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77.295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74,25% dos setores têm valor zero; um em cada quatro tem mais de 1,18%, e um em cada dez, mais de 19,86%.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7388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(87,6%); a menor, a do Sudeste (12,8%). Nos setores de FCU, 36,8% têm valor acima de zero; nos demais, 23,2%.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esgotamento sanitário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95883"/>
              </p:ext>
            </p:extLst>
          </p:nvPr>
        </p:nvGraphicFramePr>
        <p:xfrm>
          <a:off x="777240" y="1737360"/>
          <a:ext cx="3429000" cy="289179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— Domicílios Particulares Permanentes Ocupados, Destinação do esgoto do banheiro ou sanitário ou buraco para dejeções é fossa rudimentar ou buraco | V00313 — Domicílios Particulares Permanentes Ocupados, Destinação do esgoto do banheiro ou sanitário ou buraco para dejeções é vala | V00314 — Domicílios Particulares Permanentes Ocupados, Destinação do esgoto do banheiro ou sanitário ou buraco para dejeções é rio, lago, córrego ou mar | V00315 — Domicílios Particulares Permanentes Ocupados, Destinação do esgoto do banheiro ou sanitário ou buraco para dejeções é outra forma | V00316 — Domicílios Particulares Permanentes Ocupados, Destinação do esgoto inexistente, pois não tinham banheiro nem sanitário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885182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1836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75.511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72,53% dos setores têm valor zero; um em cada quatro tem mais de 1,82%, e um em cada dez, mais de 28,38%.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0423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(68,1%); a menor, a do Sul (14,4%). Nos setores de FCU, 57,1% têm valor acima de zero; nos demais, 20,7%. Entre os municípios, vai de 0,0% (São Caetano do Sul) a 100,0%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destino do lixo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98118"/>
              </p:ext>
            </p:extLst>
          </p:nvPr>
        </p:nvGraphicFramePr>
        <p:xfrm>
          <a:off x="777240" y="1737360"/>
          <a:ext cx="3429000" cy="248894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— Domicílios Particulares Permanentes Ocupados, Lixo depositado em caçamba de serviço de limpeza | V00399 — Domicílios Particulares Permanentes Ocupados, Lixo queimado na propriedade | V00400 — Domicílios Particulares Permanentes Ocupados, Lixo enterrado na propriedade | V00401 — Domicílios Particulares Permanentes Ocupados, Lixo jogado em terreno baldio, encosta ou área pública | V00402 — Domicílios Particulares Permanentes Ocupados, Outro destino do lixo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82338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1961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65.359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62,78% dos setores têm valor zero; um em cada quatro tem mais de 5,94%, e um em cada dez, mais de 50,46%.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6873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(44,8%); a menor, a do Centro-Oeste (30,4%). Nos setores de FCU, 59,5% têm valor acima de zero; nos demais, 32,1%.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até dentro do domicílio (complemento de V00199; equivale a V00200+V00201 sobre V00001)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02842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 — Domicílios Particulares Permanentes Ocupados, Água chega encanada até dentro da casa, apartamento ou habitação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= complemento (1 − numerador/denominador)</a:t>
            </a:r>
            <a:endParaRPr lang="pt-BR" sz="850" noProof="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8065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 (0,04%)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72.537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69,70% dos setores têm valor zero; um em cada quatro tem mais de 0,48%, e um em cada dez, mais de 2,34%.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3955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(64,1%); a menor, a do Sul (17,8%). Nos setores de FCU, 52,1% têm valor acima de zero; nos demais, 25,3%. Entre os municípios, vai de 0,0% (São Paulo das Missões) a 100,0%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ao domicílio (V00201)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03985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 — Domicílios Particulares Permanentes Ocupados, Água não chega encanada ao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3391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 (9,32%)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89.212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94,50%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5174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(21,2%); a menor, a do Sul (1,4%). Nos setores de FCU, 12,5% têm valor acima de zero; nos demais, 4,0%. Entre os municípios, vai de 0,0% (Chapada dos Guimarães) a 88,2%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chega encanada apenas ao terreno (V00200)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7976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 — Domicílios Particulares Permanentes Ocupados, Água chega encanada, mas apenas ao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63872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 (15,27%)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77.876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88,28% dos setores têm valor zero; um em cada dez tem mais de 1,47%.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9542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73.141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(39,6%); a menor, a do Sul (3,0%). Nos setores de FCU, 28,0% têm valor acima de zero; nos demais, 8,4%. Entre os municípios, vai de 0,0% (Guapiaçu)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de uso exclusivo com chuveiro e vaso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548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— Domicílios Particulares Permanentes Ocupados, Sem banheiro de uso exclusivo com chuveiro e vaso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8086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 (11,71%)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95,60%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0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698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76.715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(24,0%); a menor, a do Centro-Oeste (1,3%). Nos setores de FCU, 14,1% têm valor acima de zero; nos demais, 2,5%.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68579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— Domicílios Particulares Permanentes Ocupados, Não tinham banheiro nem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190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 (2,85%)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100.786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99,65%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6556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83.078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(1,4%); a menor, a do Centro-Oeste (0,1%). Nos setores de FCU, 1,1% têm valor acima de zero; nos demais, 0,2%. Entre os municípios, vai de 0,0% (Anápolis) a 33,3%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sanitário ou buraco para dejeções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92397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 — Domicílios Particulares Permanentes Ocupados, Apenas sanitário ou buraco para dejeções, inclusive os localizados no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3407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 (3,66%)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99.251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98,96%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9346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82.528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(4,0%); a menor, a do Sudeste (0,2%). Nos setores de FCU, 3,4% têm valor acima de zero; nos demais, 0,5%. Entre os municípios, vai de 0,0% (Anápolis) a 83,3%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banheiro de uso comum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2357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— Domicílios Particulares Permanentes Ocupados, Apenas banheiro de uso comum a mais de um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96744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 (9,31%)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91.872 setores com zero. Eixo até o P99 (30,11%); 26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51226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97,31%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5819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78.566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(17,2%); a menor, a do Centro-Oeste (0,8%). Nos setores de FCU, 8,2% têm valor acima de zero; nos demais, 1,6%. Entre os municípios, vai de 0,0% (Anápolis)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inadequação do banheiro: 0 = todos com banheiro, 1 = todos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32245"/>
              </p:ext>
            </p:extLst>
          </p:nvPr>
        </p:nvGraphicFramePr>
        <p:xfrm>
          <a:off x="777240" y="1737360"/>
          <a:ext cx="3429000" cy="188734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1·V00236 + 2·V00237 + 3·V00238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escala de 0 a 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4489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 (13,73%)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97,83%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3889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75.860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(13,7%); a menor, a do Centro-Oeste (0,7%). Nos setores de FCU, 6,4% têm valor acima de zero; nos demais, 1,4%.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por domicílio (reproduz o V0005 do IBGE)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78474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— Domicílios Particulares Permanentes Ocupados, Quantidade de moradores | V00006 — Domicílios Particulares Improvisados Ocupados, Quantidade de moradores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</a:t>
            </a:r>
            <a:endParaRPr lang="pt-BR" sz="850" noProof="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4911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2,71; um em cada quatro tem mais de 2,93. Entre o P10 e o P90, vai de 2,20 a 3,14;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3481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(3,19); a menor, a do Sul (2,60). Nos setores de FCU a mediana é 2,92; nos demais, 2,67. Entre os municípios, a mediana vai de 2,38 (Porto Alegre) a 4,23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analfabetismo entre pessoas de 15 anos ou mais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92756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— 15 anos ou mais, Morador sabe ler e escrever | 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Agregados_por_setores_alfabetizacao_BR.csv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exige as 2 parcelas presentes (sem tolerância a sigilo parcial)</a:t>
            </a:r>
            <a:endParaRPr lang="pt-BR" sz="850" noProof="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2765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 (15,90%)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(16,43%); 876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2,71%; um em cada quatro tem mais de 4,99%. Entre o P10 e o P90, vai de 0,00% a 7,92%; 10,59%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7473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68.652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(5,16%); a menor, a do Sul (1,62%). Nos setores de FCU a mediana é 5,46%; nos demais, 2,13%. Entre os municípios, a mediana vai de 1,11% (São Caetano do Sul) a 23,06%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nominal médio mensal das pessoas responsáveis (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05752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— Valor do rendimento nominal médio mensal das pessoas responsáveis com rendimentos por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 denominador)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Agregados_por_setores_renda_responsavel_BR.csv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</a:t>
            </a:r>
            <a:endParaRPr lang="pt-BR" sz="850" noProof="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274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$ 4.187,41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$ 4.150,66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$ 170.418,06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$ 19.771,79); 1.041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$ 4.835,89.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$ 9.490,68;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7171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vazio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19299"/>
              </p:ext>
            </p:extLst>
          </p:nvPr>
        </p:nvGraphicFramePr>
        <p:xfrm>
          <a:off x="777240" y="1737360"/>
          <a:ext cx="3429000" cy="20222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0254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$ 4.835,83.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$ 9.490,42;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8650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$ 1.515,32;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substituído pela mediana do município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15067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 imputação no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95474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$ 4.835,82.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$ 9.490,41;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5492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cor/raça preta, parda ou indígena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5988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— Cor ou raça é preta | V01320 — Cor ou raça é parda | V01321 — Cor ou raça é indígena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Agregados_por_setores_cor_ou_raca_BR.csv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9473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79,29%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57,19%; um em cada quatro tem mais de 70,44%. Entre o P10 e o P90, vai de 17,45% a 79,29%; 0,09%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1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57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22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5037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80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(76,99%); a menor, a do Sul (22,19%). Nos setores de FCU a mediana é 74,27%; nos demais, 50,96%. Entre os municípios, a mediana vai de 15,99% (Taió) a 88,89% (Salvador).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pessoa responsável do sexo feminino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3891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— Pessoa responsável pelo domicílio, Sexo masculino | 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Agregados_por_setores_parentesco_BR.csv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99329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 (0,14%)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53,39%; um em cada quatro tem mais de 58,80%. Entre o P10 e o P90, vai de 41,41% a 63,40%; 0,02%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554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84.514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(55,77%); a menor, a do Centro-Oeste (50,57%). Nos setores de FCU a mediana é 56,78%; nos demais, 52,58%. Entre os municípios, a mediana vai de 34,11%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a 61,94% (Rosário).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particulares improvisados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03821"/>
              </p:ext>
            </p:extLst>
          </p:nvPr>
        </p:nvGraphicFramePr>
        <p:xfrm>
          <a:off x="777240" y="1737360"/>
          <a:ext cx="3429000" cy="257543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8300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 (4,94%)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98.189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1251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80.677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(1,0%); a menor, a do Sul (0,5%). Nos setores de FCU, 1,5% têm valor acima de zero; nos demais, 0,6%. Entre os municípios, vai de 0,0% (Arara) a 25,0%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habitação precária (cortiço, estrutura degradada, improvisados)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96456"/>
              </p:ext>
            </p:extLst>
          </p:nvPr>
        </p:nvGraphicFramePr>
        <p:xfrm>
          <a:off x="777240" y="1737360"/>
          <a:ext cx="3429000" cy="339534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V00052 — Domicílios Particulares Permanentes Ocupados, Tipo de espécie é estrutura residencial permanente degradada ou inacabada | V00053 — Domicílios Particulares Improvisados Ocupados, Tipo de espécie é tenda ou barraca de lona, plástico ou tecido | V00054 — Domicílios Particulares Improvisados Ocupados, Tipo de espécie é dentro de estabelecimento em funcionamento | V00055 — Domicílios Particulares Improvisados Ocupados, Tipo de espécie é abrigo natural e outras estruturas improvisadas | V00056 — Domicílios Particulares Improvisados Ocupados, Tipo de espécie é estrutura improvisada em logradouro público, exceto tenda ou barraca | V00057 — Domicílios Particulares Improvisados Ocupados, Tipo de espécie é estrutura não residencial permanente degradada ou inacabada | V00058 — Domicílios Particulares Improvisados Ocupados, Tipo de espécie é veículo (carro, caminhão, trailer, barco 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3887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8369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96.260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92,46%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76321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Centro-Oeste (13,1%); a menor, a do Sul (3,4%). Nos setores de FCU, 11,8% têm valor acima de zero; nos demais, 6,6%. Entre os municípios, vai de 0,0% (Arara) a 29,4%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convencionais (casa, casa de vila/condomínio, apartamento)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73528"/>
              </p:ext>
            </p:extLst>
          </p:nvPr>
        </p:nvGraphicFramePr>
        <p:xfrm>
          <a:off x="777240" y="1737360"/>
          <a:ext cx="3429000" cy="261556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 | V00048 — Domicílios Particulares Permanentes Ocupados, Tipo de espécie é casa de vila ou em condomínio | V00049 — Domicílios Particulares Permanentes Ocupados, Tipo de espécie é apartamento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2318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97827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100,00%; um em cada quatro tem mais de 100,00%. Entre o P10 e o P90, vai de 98,40% a 100,00%; 0,01%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1489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Centro-Oeste (100,00%); a menor, a do Centro-Oeste (100,00%). Nos setores de FCU a mediana é 100,00%; nos demais, 100,00%. Entre os municípios, a mediana vai de 99,55% (São Luís)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não convencionais (cortiço, maloca, estrutura degradada)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79132"/>
              </p:ext>
            </p:extLst>
          </p:nvPr>
        </p:nvGraphicFramePr>
        <p:xfrm>
          <a:off x="777240" y="1737360"/>
          <a:ext cx="3429000" cy="29874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V00051 — Domicílios Particulares Permanentes Ocupados, Tipo de espécie é habitação indígena sem paredes ou maloca | V00052 — Domicílios Particulares Permanentes Ocupados, Tipo de espécie é estrutura residencial permanente degradada ou inacabada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950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989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96.771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92,95%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60075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(12,6%); a menor, a do Sul (3,0%). Nos setores de FCU, 10,9% têm valor acima de zero; nos demais, 6,2%. Entre os municípios, vai de 0,0% (Arara) a 29,0%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apartamento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8572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 — Domicílios Particulares Permanentes Ocupados, Tipo de espécie é 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209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 (8,74%)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76,09%. Entre o P10 e o P90, vai de 0,00% a 99,52%; 38,52%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30418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77.866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(15,83%); a menor, a do Nordeste (1,96%). Nos setores de FCU a mediana é 0,00%; nos demais, 11,94%. Entre os municípios, a mediana vai de 0,00% (Ananindeua) a 64,73% (Porto Alegre).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4167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447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 (4,29%)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91,44%; um em cada quatro tem mais de 99,38%. Entre o P10 e o P90, vai de 0,00% a 100,00%; 10,11%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265187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80.213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85,87%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(94,18%); a menor, a do Sul (83,55%). Nos setores de FCU a mediana é 98,68%; nos demais, 85,87%. Entre os municípios, a mediana vai de 43,57% (São Caetano do Sul)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 de vila ou em condomínio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27049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 — Domicílios Particulares Permanentes Ocupados, Tipo de espécie é casa de vila ou em 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148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 (12,30%)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64.589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70,74% dos setores têm valor zero; um em cada quatro tem mais de 2,19%, e um em cada dez, mais de 12,14%.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1415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(66,2%); a menor, a do Centro-Oeste (22,2%). Nos setores de FCU, 31,5% têm valor acima de zero; nos demais, 28,8%. Entre os municípios, vai de 0,0% (Arara) a 76,9% (Natal).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de 0 a 4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48703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2783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 (1,75%)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6,72%. Entre o P10 e o P90, vai de 2,81% a 8,26%; 0,52%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048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513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44130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82.975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171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(6,32%); a menor, a do Sul (4,65%). Nos setores de FCU a mediana é 6,81%; nos demais, 4,85%. Entre os municípios, a mediana vai de 4,14% (Porto Alegre) a 10,84%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com menos de 15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50354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5534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 (0,25%)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17,19%; um em cada quatro tem mais de 20,98%. Entre o P10 e o P90, vai de 10,08% a 24,49%; 0,50%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2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01379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(20,64%); a menor, a do Sul (15,85%). Nos setores de FCU a mediana é 21,93%; nos demais, 16,07%. Entre os municípios, a mediana vai de 13,28% (São Paulo das Missões) a 28,57% (Autazes).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60 anos ou mais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767688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063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 (0,27%)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16,57%; um em cada quatro tem mais de 23,07%. Entre o P10 e o P90, vai de 7,20% a 29,26%;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3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7265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(19,34%); a menor, a do Norte (11,18%). Nos setores de FCU a mediana é 10,55%; nos demais, 18,49%. Entre os municípios, a mediana vai de 7,30% (Portel) a 29,40%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Populacional: 60+ por 100 menores de 15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05584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89349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24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 (0,95%)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275,00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(633,33); 1.027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96,30; um em cada quatro tem mais de 169,57. Entre o P10 e o P90, vai de 30,77 a 275,00; 0,21%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3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05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83.782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(122,93); a menor, a do Norte (53,55). Nos setores de FCU a mediana é 47,91; nos demais, 114,81. Entre os municípios, a mediana vai de 24,12 (Portel) a 217,46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Dependência de Idosos: 60+ por 100 pessoas de 15 a 59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60944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— 15 a 19 anos | V01035 — 20 a 24 anos | V01036 — 25 a 29 anos | V01037 — 30 a 39 anos | V01038 — 40 a 49 anos | V01039 — 50 a 59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5436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 (0,29%)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(76,72); 1.038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25,16; um em cada quatro tem mais de 36,77. Entre o P10 e o P90, vai de 10,35 a 49,66;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3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2085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(29,97); a menor, a do Norte (16,58). Nos setores de FCU a mediana é 15,67; nos demais, 28,39. Entre os municípios, a mediana vai de 11,86 (São José de Ribamar) a 50,58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70+ entre os de 60+ (proxy de longevidade; NÃO é o LI, que exigiria a faixa 75+, inexistente nos agregados por setor)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02162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49903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7590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 (2,05%)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42,86; um em cada quatro tem mais de 50,00. Entre o P10 e o P90, vai de 28,95 a 55,95; 0,31%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/Users/pedro/Documents/Iniciacao Cientifica/Projeto_IVS_Censo22/relatorio_descritivo/figuras/DS3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033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83.341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(43,97); a menor, a do Norte (38,46). Nos setores de FCU a mediana é 36,26; nos demais, 44,32. Entre os municípios, a mediana vai de 36,21 (Manaus) a 55,77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descritiva de cada indicador, as correlações: os componentes do IVS, cada tema e os 31 juntos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31539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IVS-7: mapa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01978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C02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11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relatorio_descritivo/figuras/DC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62" y="1673352"/>
            <a:ext cx="444011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A mais baixa: Lixo inadequado e Sem banheiro nem sanitário (0,064).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11645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Renda sem o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Renda (mediana mun.)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Responsável mulher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sem o extremo e Cor/raça PPI (-0,811).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C04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4371"/>
              </p:ext>
            </p:extLst>
          </p:nvPr>
        </p:nvGraphicFramePr>
        <p:xfrm>
          <a:off x="777240" y="1719072"/>
          <a:ext cx="5532120" cy="247954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Domicílio improvisado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Habitação precária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Moradia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Apartamento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Casa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Casa de vila/condomínio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27220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Habitação precária e Moradia não convencional (0,965). Correlação negativa mais forte: Apartamento e Casa (-0,902).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C05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6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57207"/>
              </p:ext>
            </p:extLst>
          </p:nvPr>
        </p:nvGraphicFramePr>
        <p:xfrm>
          <a:off x="777240" y="1719072"/>
          <a:ext cx="4983480" cy="206273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Crianças 0–4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População 0–14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Pessoas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Índice de envelhecimento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Dependência idosa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70+ entre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010406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Pessoas 60+ e Dependência idosa (0,996). Correlação negativa mais forte: População 0–14 e Índice de envelhecimento (-0,917).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C06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31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relatorio_descritivo/figuras/D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29" y="1673352"/>
            <a:ext cx="442578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Correlação negativa mais forte: População 0–14 e Índice de envelhecimento (-0,917).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da análise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lixo sem · banheiro graduado · rotação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pesos 60/40 · normalização municipal. 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32894"/>
              </p:ext>
            </p:extLst>
          </p:nvPr>
        </p:nvGraphicFramePr>
        <p:xfrm>
          <a:off x="777240" y="1719072"/>
          <a:ext cx="530352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73.878 setores: os 104.108 da descritiva menos 30.230 com algum dos sete componentes faltante. Um setor sai se faltar qualquer um deles (exclusão por lista).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 de entrada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73.878 setores 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86931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fora da diagonal, em módulo, é 0,784, entre Renda (invertida) e Cor/raça PPI. A fatorial usa a correlação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dos dados à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6717"/>
              </p:ext>
            </p:extLst>
          </p:nvPr>
        </p:nvGraphicFramePr>
        <p:xfrm>
          <a:off x="777240" y="1719072"/>
          <a:ext cx="5486400" cy="27432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-quadrado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719072"/>
            <a:ext cx="46908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0,7807; Bartlett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-quadrado de 185.197,02 e 21 graus de liberdade.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e comunalidade por variável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17941"/>
              </p:ext>
            </p:extLst>
          </p:nvPr>
        </p:nvGraphicFramePr>
        <p:xfrm>
          <a:off x="777240" y="1719072"/>
          <a:ext cx="6126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(oblíqua)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719072"/>
            <a:ext cx="40507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(0,709). Menor comunalidade: Razão de moradores (0,375).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análise paralela de Horn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73.878 setores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91453"/>
              </p:ext>
            </p:extLst>
          </p:nvPr>
        </p:nvGraphicFramePr>
        <p:xfrm>
          <a:off x="777240" y="1719072"/>
          <a:ext cx="576072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de Horn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variância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73,61%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autovalores passam de 1 (critério de Kaiser) e também ficam acima da referência de Horn. Os dois primeiros componentes somam 60,82% da variância.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05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e a referência da análise paralela.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33009"/>
              </p:ext>
            </p:extLst>
          </p:nvPr>
        </p:nvGraphicFramePr>
        <p:xfrm>
          <a:off x="777240" y="1719072"/>
          <a:ext cx="5303520" cy="1097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de Kaiser (autovalor &gt; 1)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Retidos na solução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fatores cada; a solução retém 2, que explicam 60,82% da variância.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sem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20941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43429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matriz padrão e matriz estrutura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00102"/>
              </p:ext>
            </p:extLst>
          </p:nvPr>
        </p:nvGraphicFramePr>
        <p:xfrm>
          <a:off x="777240" y="1719072"/>
          <a:ext cx="585216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 dá o efeito próprio de cada fator; a estrutura, a correlação da variável com o fator. As duas são reportadas.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09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cargas da referência.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fatores (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569589"/>
              </p:ext>
            </p:extLst>
          </p:nvPr>
        </p:nvGraphicFramePr>
        <p:xfrm>
          <a:off x="777240" y="1719072"/>
          <a:ext cx="365760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92040" y="1719072"/>
            <a:ext cx="65196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F1 e F2 têm correlação de 0,411.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935936"/>
              </p:ext>
            </p:extLst>
          </p:nvPr>
        </p:nvGraphicFramePr>
        <p:xfrm>
          <a:off x="777240" y="1719072"/>
          <a:ext cx="7863840" cy="20257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dimensões pesam 60% e 40%; o maior peso no índice é de Renda (invertida) (19,28%).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referência proposta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56934"/>
              </p:ext>
            </p:extLst>
          </p:nvPr>
        </p:nvGraphicFramePr>
        <p:xfrm>
          <a:off x="777240" y="1719072"/>
          <a:ext cx="38404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3951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índice até 0,3306; entre o P10 e o P90, vai de 0,2313 a 0,4311. As regiões estão no anexo (aba Fatorial).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2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colorido pela faixa.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faixas, pelas duas regras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15223"/>
              </p:ext>
            </p:extLst>
          </p:nvPr>
        </p:nvGraphicFramePr>
        <p:xfrm>
          <a:off x="777240" y="1719072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23,85%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24,97%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3.933 setores (5,32%) ficam na faixa muito elevada; pelos quartis, cada faixa tem cerca de um quarto.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as favelas (FCU)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75444"/>
              </p:ext>
            </p:extLst>
          </p:nvPr>
        </p:nvGraphicFramePr>
        <p:xfrm>
          <a:off x="777240" y="1719072"/>
          <a:ext cx="4754880" cy="1097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044952"/>
            <a:ext cx="576072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da AUC municipal: ao menos 30 setores de FCU e fora.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4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FCU.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por município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07326"/>
              </p:ext>
            </p:extLst>
          </p:nvPr>
        </p:nvGraphicFramePr>
        <p:xfrm>
          <a:off x="777240" y="1719072"/>
          <a:ext cx="47548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AUC calculada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Entram na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 (Duque de Caxias)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 (Campinas)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na mediana só os municípios com ao menos 30 setores de FCU e 30 fora.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5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que entram na mediana; tracejado = mediana. A lista completa está no anexo.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 pelos critérios do NB05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88564"/>
              </p:ext>
            </p:extLst>
          </p:nvPr>
        </p:nvGraphicFramePr>
        <p:xfrm>
          <a:off x="777240" y="1719072"/>
          <a:ext cx="7863840" cy="227990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275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foram fixados antes de rodar a grade do NB05.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da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S0: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87.545 setores · referência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27867"/>
              </p:ext>
            </p:extLst>
          </p:nvPr>
        </p:nvGraphicFramePr>
        <p:xfrm>
          <a:off x="777240" y="1719072"/>
          <a:ext cx="4297680" cy="190131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60351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803269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7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S1: IVS-6 (IVS-7 sem lixo)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variáveis · 87.545 setores · demanda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437443"/>
              </p:ext>
            </p:extLst>
          </p:nvPr>
        </p:nvGraphicFramePr>
        <p:xfrm>
          <a:off x="777240" y="1719072"/>
          <a:ext cx="4297680" cy="16626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22235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564636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6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S2: IVS-7 + não chega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78.256 setores · demanda 5,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743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26067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42833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47.308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5.167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78.256 dos 104.108. Em relação ao S0, saem 9.289: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S3: IVS-7 + sem canalização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87.512 setores · demanda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54298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839058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32301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87.512 dos 104.108. Em relação ao S0, saem 33: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S4: IVS-7 + sem banheiro (V00495)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75.955 setores · demanda 6,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31908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91756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7082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45.680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7.382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75.955 dos 104.108. Em relação ao S0, saem 11.590: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S5: IVS-7 + não convencional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87.545 setores · demanda 9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35644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11752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7859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87.545 dos 104.108. Nenhum setor do S0 sai: a variável nova não falta em nenhum deles.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S6: IVS-7 + as quatro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variáveis · 69.458 setores · demanda 8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438977"/>
              </p:ext>
            </p:extLst>
          </p:nvPr>
        </p:nvGraphicFramePr>
        <p:xfrm>
          <a:off x="777240" y="1719072"/>
          <a:ext cx="4297680" cy="285584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9109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84251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757801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11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S7: S6 sem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variáveis · 69.458 setores · demanda 8,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17508"/>
              </p:ext>
            </p:extLst>
          </p:nvPr>
        </p:nvGraphicFramePr>
        <p:xfrm>
          <a:off x="777240" y="1719072"/>
          <a:ext cx="4297680" cy="26172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46737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78433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519168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10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dos cenários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setores do cenário de origem; muda a renda ou a escala (postos dentro do município)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5744"/>
              </p:ext>
            </p:extLst>
          </p:nvPr>
        </p:nvGraphicFramePr>
        <p:xfrm>
          <a:off x="777240" y="1719072"/>
          <a:ext cx="10634472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Variante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de renda trocam só o setor extremo de Belo Horizonte; a de postos usa os mesmos setores.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o efeito das três rendas na fatorial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11359"/>
              </p:ext>
            </p:extLst>
          </p:nvPr>
        </p:nvGraphicFramePr>
        <p:xfrm>
          <a:off x="777240" y="1719072"/>
          <a:ext cx="10634472" cy="12862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0972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de F1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74,00% nas três rendas (igual até a segunda casa): a troca afeta um setor só.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57323"/>
              </p:ext>
            </p:extLst>
          </p:nvPr>
        </p:nvGraphicFramePr>
        <p:xfrm>
          <a:off x="777240" y="1719072"/>
          <a:ext cx="10607040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soluções lado a lado no S0 (IVS-7, NB04); os pesos de cada rotação estão no DM04 e no FP09.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o perfil dos setores com e sem "água não chega"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863730"/>
              </p:ext>
            </p:extLst>
          </p:nvPr>
        </p:nvGraphicFramePr>
        <p:xfrm>
          <a:off x="777240" y="1719072"/>
          <a:ext cx="7863840" cy="1975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89.212)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5.190)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2.830,52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1.526,40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(a), contra as outras categorias de canalização, 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contra o IVS-7: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está no DM06.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o "sem banheiro" na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44122"/>
              </p:ext>
            </p:extLst>
          </p:nvPr>
        </p:nvGraphicFramePr>
        <p:xfrm>
          <a:off x="777240" y="1719072"/>
          <a:ext cx="9418320" cy="7406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vs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688336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usa a V00495. No NB05, as três versões do banheiro entram na grade (banheiro fora: 108 especificações, 48 elegíveis; banheiro graduado: 108 especificações, 48 elegíveis; banheiro v00495: 108 especificações, 96 elegíveis) e o graduado vai para a referência proposta.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canalização e sem banheiro, uma por vez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30160"/>
              </p:ext>
            </p:extLst>
          </p:nvPr>
        </p:nvGraphicFramePr>
        <p:xfrm>
          <a:off x="777240" y="1719072"/>
          <a:ext cx="9692640" cy="1234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8211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cenário acrescenta uma variável ao IVS-7 (S0) e perde os setores sem ela.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tudo isso junto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1355"/>
              </p:ext>
            </p:extLst>
          </p:nvPr>
        </p:nvGraphicFramePr>
        <p:xfrm>
          <a:off x="777240" y="1719072"/>
          <a:ext cx="10058400" cy="21915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3918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S6, Kaiser e Horn indicam 4 fatores cada; a solução fica com 2 em todos os cenários.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a moradia não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6704"/>
              </p:ext>
            </p:extLst>
          </p:nvPr>
        </p:nvGraphicFramePr>
        <p:xfrm>
          <a:off x="777240" y="1719072"/>
          <a:ext cx="9235440" cy="9875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da variável (MSA, comunalidade, % de zeros) está no DM10.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o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1100"/>
              </p:ext>
            </p:extLst>
          </p:nvPr>
        </p:nvGraphicFramePr>
        <p:xfrm>
          <a:off x="777240" y="1719072"/>
          <a:ext cx="10634472" cy="137337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(Horn)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Variância,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forma fator próprio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2105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(S0), Kaiser e Horn indicam 2 fatores cada, 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Sem o lixo (S1), indicam 1 fator cada.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52609"/>
              </p:ext>
            </p:extLst>
          </p:nvPr>
        </p:nvGraphicFramePr>
        <p:xfrm>
          <a:off x="777240" y="1719072"/>
          <a:ext cx="10634472" cy="32095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5721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reportada pelas duas matrizes (padrão e estrutura);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só existe na oblíqua.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FCU, cenário a cenário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em aberto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86472"/>
              </p:ext>
            </p:extLst>
          </p:nvPr>
        </p:nvGraphicFramePr>
        <p:xfrm>
          <a:off x="777240" y="1719072"/>
          <a:ext cx="10634472" cy="35624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indice_01 (pesos </a:t>
                      </a: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invertida sozinha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simples de postos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101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renda invertida sozinha e a média simples de postos.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49193"/>
              </p:ext>
            </p:extLst>
          </p:nvPr>
        </p:nvGraphicFramePr>
        <p:xfrm>
          <a:off x="777240" y="1719072"/>
          <a:ext cx="6217920" cy="2468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 (referência proposta)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renda sozinha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média de postos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Queda da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deviance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ao somar o índice à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do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1655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nenhuma das 192 especificações avaliadas o índice supera a renda sozinha na AUC global.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todas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municipal: quem passa nos critérios e o que muda de um eixo para outro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municipal, com 2 fatores. Muda só o que entra na fatorial.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pt-B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42053"/>
              </p:ext>
            </p:extLst>
          </p:nvPr>
        </p:nvGraphicFramePr>
        <p:xfrm>
          <a:off x="777240" y="1719072"/>
          <a:ext cx="10634472" cy="1517523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968516"/>
              </p:ext>
            </p:extLst>
          </p:nvPr>
        </p:nvGraphicFramePr>
        <p:xfrm>
          <a:off x="777240" y="1719072"/>
          <a:ext cx="10634472" cy="311619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= comunalidade &lt; 0,30).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pt-BR" sz="11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04D47D-FFB7-342C-9AB1-A6B6EDCE5598}"/>
              </a:ext>
            </a:extLst>
          </p:cNvPr>
          <p:cNvSpPr/>
          <p:nvPr/>
        </p:nvSpPr>
        <p:spPr>
          <a:xfrm>
            <a:off x="2290450" y="107099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21047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527050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756336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0,965.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455762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0,993.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03891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1,000.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71423"/>
              </p:ext>
            </p:extLst>
          </p:nvPr>
        </p:nvGraphicFramePr>
        <p:xfrm>
          <a:off x="777240" y="1719072"/>
          <a:ext cx="10634472" cy="39055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02257"/>
              </p:ext>
            </p:extLst>
          </p:nvPr>
        </p:nvGraphicFramePr>
        <p:xfrm>
          <a:off x="777240" y="1719072"/>
          <a:ext cx="10634472" cy="2597023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37794"/>
              </p:ext>
            </p:extLst>
          </p:nvPr>
        </p:nvGraphicFramePr>
        <p:xfrm>
          <a:off x="777240" y="1719072"/>
          <a:ext cx="10634472" cy="33329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</a:t>
                      </a: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p.p</a:t>
                      </a: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pt-B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33519</Words>
  <Application>Microsoft Macintosh PowerPoint</Application>
  <PresentationFormat>Widescreen</PresentationFormat>
  <Paragraphs>5769</Paragraphs>
  <Slides>140</Slides>
  <Notes>140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140</vt:i4>
      </vt:variant>
    </vt:vector>
  </HeadingPairs>
  <TitlesOfParts>
    <vt:vector size="143" baseType="lpstr">
      <vt:lpstr>Arial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descritivo do andamento — IVS Censo 2022</dc:title>
  <dc:subject>PptxGenJS Presentation</dc:subject>
  <dc:creator>Pedro Dias Soares</dc:creator>
  <cp:lastModifiedBy>Pedro Dias Soares</cp:lastModifiedBy>
  <cp:revision>5</cp:revision>
  <dcterms:created xsi:type="dcterms:W3CDTF">2026-10-07T21:47:51Z</dcterms:created>
  <dcterms:modified xsi:type="dcterms:W3CDTF">2026-10-08T21:27:12Z</dcterms:modified>
</cp:coreProperties>
</file>