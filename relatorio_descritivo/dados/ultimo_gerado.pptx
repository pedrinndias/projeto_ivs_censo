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[A01] Relatório descritivo do andamento
Requisitos: R1, R14
Fontes: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[A02] Como ler
Requisitos: R10, R13
Fontes: analises_exploratorias/00_referencia/tabelas/T01_funil.csv; banco_de_dados/eda/fatorial_ampliada/cenarios.csv (S0, coluna 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[A03] Roteiro
Requisitos: R1, R13
Fontes: analises_exploratorias/00_referencia/tabelas/T01_funil.csv; banco_de_dados/eda/fatorial_ampliada/cenarios.csv (S0)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[DM00] As demandas e como foram cobertas
Requisitos: R2, R3
Fontes: docs/prompts/estado_demandas_2026-09.md:16-26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[DM01] As 11 demandas
Requisitos: R2
Fontes: docs/prompts/estado_demandas_2026-09.md:16-26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[DM02] Demanda 1 — a renda com a mediana
Requisitos: R2, R3
Textos tirados de: docs/prompts/estado_demandas_2026-09.md:16; docs/prompts/estado_demandas_2026-09.md:35-38; docs/prompts/estado_demandas_2026-09.md:105-120; src/ivs_censo/renda.py:91-97
Fontes: docs/prompts/estado_demandas_2026-09.md:16, 35-38, 105-120; banco_de_dados/eda/atualizada/renda_imputacao_alternativas.csv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[DM03] Demanda 2 — quadro de indicadores
Requisitos: R2, R3
Textos tirados de: docs/prompts/estado_demandas_2026-09.md:17; docs/prompts/estado_demandas_2026-09.md:122-125; docs/prompts/estado_nb05_2026-09.md:1; docs/prompts/estado_nb05_2026-09.md:234-245
Fontes: docs/prompts/estado_demandas_2026-09.md:17; docs/prompts/estado_demandas_2026-09.md:122-125; banco_de_dados/entrega_orientadora/Quadro_Indicadores.csv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[DM04] Demanda 3 — fatorial sem bootstrap, sem e com rotação
Requisitos: R2, R3
Textos tirados de: docs/prompts/estado_demandas_2026-09.md:18; docs/prompts/estado_demandas_2026-09.md:28-61; docs/prompts/estado_demandas_2026-09.md:140-148
Fontes: docs/prompts/estado_demandas_2026-09.md:18; docs/prompts/estado_demandas_2026-09.md:39-40, 140-148; banco_de_dados/eda/fatorial_ampliada/pesos.csv (S0)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[DM05] Demanda 4 — separar útil × inútil
Requisitos: R2, R3
Textos tirados de: docs/prompts/estado_demandas_2026-09.md:19; docs/Apresentacoes_IVS/MAPA_APRESENTACAO_FINAL.md:1-79
Fontes: docs/prompts/estado_demandas_2026-09.md:19; docs/Apresentacoes_IVS/MAPA_APRESENTACAO_FINAL.md (contagem das três tabelas)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[DM06] Demanda 5 — comparar "não chega"
Requisitos: R2, R3
Textos tirados de: docs/prompts/estado_demandas_2026-09.md:20; docs/prompts/estado_demandas_2026-09.md:28-61; docs/prompts/estado_demandas_2026-09.md:288-293
Fontes: docs/prompts/estado_demandas_2026-09.md:20; docs/prompts/estado_demandas_2026-09.md:41-42, 290-293; banco_de_dados/eda/fatorial_ampliada/comparacao_nao_chega_banheiro.csv (bloco spearman)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[DM07] Demanda 6 — juntar "sem banheiro"
Requisitos: R2, R3
Textos tirados de: docs/prompts/estado_demandas_2026-09.md:21; docs/prompts/estado_demandas_2026-09.md:28-61; docs/prompts/estado_nb05_2026-09.md:1; docs/prompts/estado_nb05_2026-09.md:195-245
Fontes: docs/prompts/estado_demandas_2026-09.md:21; docs/prompts/estado_demandas_2026-09.md:43-45; docs/prompts/estado_nb05_2026-09.md:195-245; comparacao_nao_chega_banheiro.csv (prova_juncao); banco_de_dados/eda/fatorial_ampliada/banheiro_particao.csv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[DM08] Demanda 7 — adicionar canalização e sem banheiro
Requisitos: R2, R3
Textos tirados de: docs/prompts/estado_demandas_2026-09.md:22; docs/prompts/estado_demandas_2026-09.md:140-148
Fontes: docs/prompts/estado_demandas_2026-09.md:22; banco_de_dados/eda/fatorial_ampliada/cenarios.csv (n, perdidos_vs_S0, kmo)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[DM09] Demanda 8 — fatorial de tudo isso
Requisitos: R2, R3
Textos tirados de: docs/prompts/estado_demandas_2026-09.md:23; docs/prompts/estado_demandas_2026-09.md:28-61
Fontes: docs/prompts/estado_demandas_2026-09.md:23; banco_de_dados/eda/fatorial_ampliada/cenarios.csv (n, kmo, var_explicada_2f)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[DM10] Demanda 9 — habitação convencional
Requisitos: R2, R3
Textos tirados de: docs/prompts/estado_demandas_2026-09.md:24; docs/prompts/estado_demandas_2026-09.md:28-61; docs/prompts/estado_demandas_2026-09.md:318-324
Fontes: docs/prompts/estado_demandas_2026-09.md:24; docs/prompts/estado_demandas_2026-09.md:46-48, 318-324; banco_de_dados/eda/fatorial_ampliada/cargas.csv (moradia não convencional)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[DM11] Demanda 10 — testar lixo
Requisitos: R2, R3
Textos tirados de: docs/prompts/estado_demandas_2026-09.md:25; docs/prompts/estado_demandas_2026-09.md:288-306
Fontes: docs/prompts/estado_demandas_2026-09.md:25; banco_de_dados/eda/fatorial_ampliada/cenarios.csv; docs/prompts/estado_demandas_2026-09.md:301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[DM12] Demanda 11 — testar as duas rotações
Requisitos: R2, R3
Textos tirados de: docs/prompts/estado_demandas_2026-09.md:26; docs/prompts/estado_demandas_2026-09.md:28-61; docs/prompts/estado_demandas_2026-09.md:288-306; docs/prompts/estado_demandas_2026-09.md:343-347
Fontes: docs/prompts/estado_demandas_2026-09.md:26; docs/prompts/estado_demandas_2026-09.md:53-55, 302-304, 344-347; banco_de_dados/eda/fatorial_ampliada/pesos.csv (S1)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[DM13] Os desdobramentos no NB05
Requisitos: R2
Fontes: docs/prompts/estado_nb05_2026-09.md:23-31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[DM14] Tudo o que contornamos
Requisitos: R3
Fontes: caixas "O que contornamos" de DM02–DM12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[DM15] As perguntas à orientadora
Requisitos: R2, R3
Fontes: docs/prompts/estado_demandas_2026-09.md:28-61; docs/prompts/estado_demandas_2026-09.md:63 (Decisões tomadas: vazia)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[DS00] Descritiva dos indicadores
Requisitos: R4, R5
Fontes: analises_exploratorias/00_referencia/tabelas/T03_descritivas_global.csv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[DS01] A base
Requisitos: R6, R10
Fontes: analises_exploratorias/00_referencia/tabelas/T01_funil.csv; F01_funil.png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[DS02] Setores com valor, indicador a indicador
Requisitos: R4, R10
Fontes: analises_exploratorias/00_referencia/tabelas/T02_perdas_por_indicador.csv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[DS03] Água inadequada
Requisitos: R4, R5, R6, R10
Gerado por ds() em scripts/dados_relatorio_descritivo.py. Coluna no .db: pct_agua_inad (tabela setores_censitarios, recorte urbano == 1 e Dados_sig = OK). Conferir: T03 e T02 da 00_referencia, linha pct_agua_inad.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[DS04] Esgoto inadequado
Requisitos: R4, R5, R6, R10
Gerado por ds() em scripts/dados_relatorio_descritivo.py. Coluna no .db: pct_esgoto_inad (tabela setores_censitarios, recorte urbano == 1 e Dados_sig = OK). Conferir: T03 e T02 da 00_referencia, linha pct_esgoto_inad.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[DS05] Lixo inadequado
Requisitos: R4, R5, R6, R10
Gerado por ds() em scripts/dados_relatorio_descritivo.py. Coluna no .db: pct_lixo_inad (tabela setores_censitarios, recorte urbano == 1 e Dados_sig = OK). Conferir: T03 e T02 da 00_referencia, linha pct_lixo_inad.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[DS06] Sem água canalizada
Requisitos: R4, R5, R6, R10
Gerado por ds() em scripts/dados_relatorio_descritivo.py. Coluna no .db: pct_sem_agua_canalizada (tabela setores_censitarios, recorte urbano == 1 e Dados_sig = OK). Conferir: T03 e T02 da 00_referencia, linha pct_sem_agua_canalizada.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[DS07] Água não chega
Requisitos: R4, R5, R6, R10
Gerado por ds() em scripts/dados_relatorio_descritivo.py. Coluna no .db: pct_agua_nao_encanada (tabela setores_censitarios, recorte urbano == 1 e Dados_sig = OK). Conferir: T03 e T02 da 00_referencia, linha pct_agua_nao_encanada.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[DS08] Água só no terreno
Requisitos: R4, R5, R6, R10
Gerado por ds() em scripts/dados_relatorio_descritivo.py. Coluna no .db: pct_agua_so_terreno (tabela setores_censitarios, recorte urbano == 1 e Dados_sig = OK). Conferir: T03 e T02 da 00_referencia, linha pct_agua_so_terreno.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[DS09] Sem banheiro
Requisitos: R4, R5, R6, R10
Gerado por ds() em scripts/dados_relatorio_descritivo.py. Coluna no .db: pct_sem_banheiro (tabela setores_censitarios, recorte urbano == 1 e Dados_sig = OK). Conferir: T03 e T02 da 00_referencia, linha pct_sem_banheiro.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[DS10] Sem banheiro nem sanitário
Requisitos: R4, R5, R6, R10
Gerado por ds() em scripts/dados_relatorio_descritivo.py. Coluna no .db: pct_sem_banheiro_nem_sanitario (tabela setores_censitarios, recorte urbano == 1 e Dados_sig = OK). Conferir: T03 e T02 da 00_referencia, linha pct_sem_banheiro_nem_sanitario.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[DS11] Só sanitário
Requisitos: R4, R5, R6, R10
Gerado por ds() em scripts/dados_relatorio_descritivo.py. Coluna no .db: pct_so_sanitario (tabela setores_censitarios, recorte urbano == 1 e Dados_sig = OK). Conferir: T03 e T02 da 00_referencia, linha pct_so_sanitario.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[DS12] Banheiro de uso comum
Requisitos: R4, R5, R6, R10
Gerado por ds() em scripts/dados_relatorio_descritivo.py. Coluna no .db: pct_banheiro_comum (tabela setores_censitarios, recorte urbano == 1 e Dados_sig = OK). Conferir: T03 e T02 da 00_referencia, linha pct_banheiro_comum.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[DS13] Banheiro graduado
Requisitos: R4, R5, R6, R10
Gerado por ds() em scripts/dados_relatorio_descritivo.py. Coluna no .db: banheiro_graduado (tabela setores_censitarios, recorte urbano == 1 e Dados_sig = OK). Conferir: T03 e T02 da 00_referencia, linha banheiro_graduado.
Fontes: analises_exploratorias/00_referencia/tabelas/T03_descritivas_global.csv; T02_perdas_por_indicador.csv; scripts/ivs_especificacoes.py:58-62;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[DS14] Razão de moradores
Requisitos: R4, R5, R6, R10
Gerado por ds() em scripts/dados_relatorio_descritivo.py. Coluna no .db: razao_moradores (tabela setores_censitarios, recorte urbano == 1 e Dados_sig = OK). Conferir: T03 e T02 da 00_referencia, linha razao_moradores.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[DS15] Analfabetismo 15+
Requisitos: R4, R5, R6, R10
Gerado por ds() em scripts/dados_relatorio_descritivo.py. Coluna no .db: pct_analfab (tabela setores_censitarios, recorte urbano == 1 e Dados_sig = OK). Conferir: T03 e T02 da 00_referencia, linha pct_analfab.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[DS16] Renda média
Requisitos: R4, R5, R6, R10
Gerado por ds() em scripts/dados_relatorio_descritivo.py. Coluna no .db: renda_media (tabela setores_censitarios, recorte urbano == 1 e Dados_sig = OK). Conferir: T03 e T02 da 00_referencia, linha renda_media.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[DS17] Renda sem o extremo
Requisitos: R4, R5, R6, R10
Gerado por ds() em scripts/dados_relatorio_descritivo.py. Coluna no .db: renda_media_sem_extremo (tabela setores_censitarios, recorte urbano == 1 e Dados_sig = OK). Conferir: T03 e T02 da 00_referencia, linha renda_media_sem_extremo.
Fontes: analises_exploratorias/00_referencia/tabelas/T03_descritivas_global.csv; T02_perdas_por_indicador.csv; src/ivs_censo/renda.py:113-127;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[DS18] Renda (mediana mun.)
Requisitos: R4, R5, R6, R10
Gerado por ds() em scripts/dados_relatorio_descritivo.py. Coluna no .db: renda_media_mediana_mun (tabela setores_censitarios, recorte urbano == 1 e Dados_sig = OK). Conferir: T03 e T02 da 00_referencia, linha renda_media_mediana_mun.
Fontes: analises_exploratorias/00_referencia/tabelas/T03_descritivas_global.csv; T02_perdas_por_indicador.csv; src/ivs_censo/renda.py:130-144;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[DS19] Cor/raça PPI
Requisitos: R4, R5, R6, R10
Gerado por ds() em scripts/dados_relatorio_descritivo.py. Coluna no .db: pct_raca_pretpardind (tabela setores_censitarios, recorte urbano == 1 e Dados_sig = OK). Conferir: T03 e T02 da 00_referencia, linha pct_raca_pretpardind.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[DS20] Responsável mulher
Requisitos: R4, R5, R6, R10
Gerado por ds() em scripts/dados_relatorio_descritivo.py. Coluna no .db: pct_resp_feminino (tabela setores_censitarios, recorte urbano == 1 e Dados_sig = OK). Conferir: T03 e T02 da 00_referencia, linha pct_resp_feminino.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[DS21] Domicílio improvisado
Requisitos: R4, R5, R6, R10
Gerado por ds() em scripts/dados_relatorio_descritivo.py. Coluna no .db: pct_dom_improv (tabela setores_censitarios, recorte urbano == 1 e Dados_sig = OK). Conferir: T03 e T02 da 00_referencia, linha pct_dom_improv.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[DS22] Habitação precária
Requisitos: R4, R5, R6, R10
Gerado por ds() em scripts/dados_relatorio_descritivo.py. Coluna no .db: pct_hab_precaria (tabela setores_censitarios, recorte urbano == 1 e Dados_sig = OK). Conferir: T03 e T02 da 00_referencia, linha pct_hab_precaria.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[DS23] Moradia convencional
Requisitos: R4, R5, R6, R10
Gerado por ds() em scripts/dados_relatorio_descritivo.py. Coluna no .db: pct_moradia_convencional (tabela setores_censitarios, recorte urbano == 1 e Dados_sig = OK). Conferir: T03 e T02 da 00_referencia, linha pct_moradia_convencional.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[DS24] Moradia não convencional
Requisitos: R4, R5, R6, R10
Gerado por ds() em scripts/dados_relatorio_descritivo.py. Coluna no .db: pct_moradia_nao_convencional (tabela setores_censitarios, recorte urbano == 1 e Dados_sig = OK). Conferir: T03 e T02 da 00_referencia, linha pct_moradia_nao_convencional.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[DS25] Apartamento
Requisitos: R4, R5, R6, R10
Gerado por ds() em scripts/dados_relatorio_descritivo.py. Coluna no .db: pct_apartamento (tabela setores_censitarios, recorte urbano == 1 e Dados_sig = OK). Conferir: T03 e T02 da 00_referencia, linha pct_apartamento.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[DS26] Casa
Requisitos: R4, R5, R6, R10
Gerado por ds() em scripts/dados_relatorio_descritivo.py. Coluna no .db: pct_casa (tabela setores_censitarios, recorte urbano == 1 e Dados_sig = OK). Conferir: T03 e T02 da 00_referencia, linha pct_casa.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[DS27] Casa de vila/condomínio
Requisitos: R4, R5, R6, R10
Gerado por ds() em scripts/dados_relatorio_descritivo.py. Coluna no .db: pct_casa_vila_condominio (tabela setores_censitarios, recorte urbano == 1 e Dados_sig = OK). Conferir: T03 e T02 da 00_referencia, linha pct_casa_vila_condominio.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[DS28] Crianças 0–4
Requisitos: R4, R5, R6, R10
Gerado por ds() em scripts/dados_relatorio_descritivo.py. Coluna no .db: pct_crianca_0a4 (tabela setores_censitarios, recorte urbano == 1 e Dados_sig = OK). Conferir: T03 e T02 da 00_referencia, linha pct_crianca_0a4.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[DS29] População 0–14
Requisitos: R4, R5, R6, R10
Gerado por ds() em scripts/dados_relatorio_descritivo.py. Coluna no .db: pct_pop_0a14 (tabela setores_censitarios, recorte urbano == 1 e Dados_sig = OK). Conferir: T03 e T02 da 00_referencia, linha pct_pop_0a14.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[DS30] Pessoas 60+
Requisitos: R4, R5, R6, R10
Gerado por ds() em scripts/dados_relatorio_descritivo.py. Coluna no .db: pct_idoso_60mais (tabela setores_censitarios, recorte urbano == 1 e Dados_sig = OK). Conferir: T03 e T02 da 00_referencia, linha pct_idoso_60mais.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[DS31] Índice de envelhecimento
Requisitos: R4, R5, R6, R10
Gerado por ds() em scripts/dados_relatorio_descritivo.py. Coluna no .db: iep_setor (tabela setores_censitarios, recorte urbano == 1 e Dados_sig = OK). Conferir: T03 e T02 da 00_referencia, linha iep_setor.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[DS32] Dependência idosa
Requisitos: R4, R5, R6, R10
Gerado por ds() em scripts/dados_relatorio_descritivo.py. Coluna no .db: rdi_setor (tabela setores_censitarios, recorte urbano == 1 e Dados_sig = OK). Conferir: T03 e T02 da 00_referencia, linha rdi_setor.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[DS33] 70+ entre 60+
Requisitos: R4, R5, R6, R10
Gerado por ds() em scripts/dados_relatorio_descritivo.py. Coluna no .db: prop_70mais_entre_60mais (tabela setores_censitarios, recorte urbano == 1 e Dados_sig = OK). Conferir: T03 e T02 da 00_referencia, linha prop_70mais_entre_60mais.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[DS34] Por município e por região
Requisitos: R4, R10
Fontes: analises_exploratorias/00_referencia/tabelas/T04_descritivas_regiao.csv; analises_exploratorias/00_referencia/tabelas/T05_descritivas_municipio.csv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[FA00] Descritiva da análise fatorial
Requisitos: R7
Fontes: banco_de_dados/eda/ivs_especificacoes/referencia.csv (leitura principal)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[FA01] A amostra da fatorial
Requisitos: R7
Fontes: analises_exploratorias/00_referencia/tabelas/T01_funil.csv; analises_exploratorias/00_referencia/tabelas/T02_perdas_por_indicador.csv; analises_exploratorias/00_referencia/tabelas/T20_variaveis_cargas.csv (variáveis)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[FA02] A matriz de correlação de entrada
Requisitos: R7
Recalculada por fa02() com matriz_correlacao(X, "spearman") de src/ivs_censo/fatorial.py:394, na base de montar_base(00_referencia) com os sete componentes completos.
Fontes: src/ivs_censo/fatorial.py:394-400 (matriz_correlacao) e 579-594 (rodar_cenario); base: Base_ELSI_70Municipios_Censo2022.db, recorte da 00_referencia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[FA03] Adequação dos dados à fatorial
Requisitos: R7
Fontes: analises_exploratorias/00_referencia/tabelas/T19_adequacao_fatorial.csv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[FA04] MSA e comunalidade por variável
Requisitos: R7
Fontes: analises_exploratorias/00_referencia/tabelas/T20_variaveis_cargas.csv (msa, comunalidade, comunalidade_obliqua)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[FA05] Autovalores e análise paralela de Horn
Requisitos: R7
Fontes: analises_exploratorias/00_referencia/tabelas/T21_autovalores.csv; F22_sedimentacao_horn.png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[FA06] Quantos fatores
Requisitos: R7
Fontes: analises_exploratorias/00_referencia/tabelas/T19_adequacao_fatorial.csv; analises_exploratorias/00_referencia/tabelas/T23_pesos.csv (dimensões)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[FA07] Cargas sem rotação
Requisitos: R7
Fontes: analises_exploratorias/00_referencia/tabelas/T20_variaveis_cargas.csv (sem_rotacao_f1, sem_rotacao_f2)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[FA08] Cargas Varimax
Requisitos: R7
Fontes: analises_exploratorias/00_referencia/tabelas/T20_variaveis_cargas.csv (varimax_f1, varimax_f2)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[FA09] Cargas promax: matriz padrão e matriz estrutura
Requisitos: R7
Fontes: analises_exploratorias/00_referencia/tabelas/T20_variaveis_cargas.csv (promax_*); F23_mapa_cargas.png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[FA10] Correlação entre os fatores (Φ)
Requisitos: R7
Fontes: analises_exploratorias/00_referencia/tabelas/T22_phi.csv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[FA11] Os pesos do índice
Requisitos: R7
Fontes: analises_exploratorias/00_referencia/tabelas/T23_pesos.csv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[FA12] O índice da referência proposta
Requisitos: R7
Fontes: analises_exploratorias/00_referencia/tabelas/T24_indice_descritivas.csv (Total); F24_histograma_por_faixa.png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[FA13] As faixas, pelas duas regras
Requisitos: R7
Fontes: analises_exploratorias/00_referencia/tabelas/T25_faixas.csv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[FA14] Validação contra as favelas (FCU)
Requisitos: R7
Fontes: analises_exploratorias/00_referencia/tabelas/T26_auc_e_elegibilidade.csv; F25_curva_roc.png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[FA15] AUC por município
Requisitos: R7
Fontes: analises_exploratorias/00_referencia/tabelas/T27_auc_por_municipio.csv; analises_exploratorias/00_referencia/tabelas/T26_auc_e_elegibilidade.csv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[FA16] Elegibilidade pelos critérios do NB05
Requisitos: R7
Fontes: analises_exploratorias/00_referencia/tabelas/T26_auc_e_elegibilidade.csv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[FP00] O que a orientadora pediu da fatorial
Requisitos: R8
Fontes: docs/prompts/estado_demandas_2026-09.md:16-26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[FP01] Demanda 1 — o efeito das três rendas na fatorial
Requisitos: R8
Fontes: banco_de_dados/eda/fatorial_ampliada/cenarios.csv; banco_de_dados/eda/fatorial_ampliada/pesos.csv (varimax)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[FP02] Demanda 3 — sem bootstrap, sem e com rotação
Requisitos: R8
Fontes: banco_de_dados/eda/fatorial_ampliada/cargas.csv (S0)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[FP03] Demanda 5 — o perfil dos setores com e sem "água não chega"
Requisitos: R8
Fontes: banco_de_dados/eda/fatorial_ampliada/comparacao_nao_chega_banheiro.csv (bloco perfil_mediana)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[FP04] Demanda 6 — o "sem banheiro" na fatorial
Requisitos: R8
Fontes: banco_de_dados/eda/fatorial_ampliada/cenarios.csv; banco_de_dados/eda/ivs_especificacoes/especificacoes.csv (banheiro, elegivel)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[FP05] Demanda 7 — canalização e sem banheiro, uma por vez
Requisitos: R8
Fontes: banco_de_dados/eda/fatorial_ampliada/cenarios.csv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[FP06] Demanda 8 — tudo isso junto
Requisitos: R8
Fontes: banco_de_dados/eda/fatorial_ampliada/cenarios.csv; docs/prompts/estado_demandas_2026-09.md:298-299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[FP07] Demanda 9 — a moradia não convencional
Requisitos: R8
Fontes: banco_de_dados/eda/fatorial_ampliada/cenarios.csv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[FP08] Demanda 10 — testar o lixo
Requisitos: R8
Fontes: banco_de_dados/eda/fatorial_ampliada/cenarios.csv (colunas n, kmo, fatores_kaiser, fatores_horn, var_explicada_2f, lixo_fator_proprio_varimax); docs/prompts/estado_demandas_2026-09.md:25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[FP09] Demanda 11 — as duas rotações
Requisitos: R8
Fontes: banco_de_dados/eda/fatorial_ampliada/pesos.csv (S0, S1, S6)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[FP10] Incerteza: um município de fora por vez
Requisitos: R8
Fontes: banco_de_dados/eda/fatorial_ampliada/sensibilidade_municipios.csv; docs/prompts/estado_demandas_2026-09.md:28-61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[FP11] Validação contra FCU, cenário a cenário
Requisitos: R8
Fontes: banco_de_dados/eda/fatorial_ampliada/validacao_fcu.csv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[FP12] A grade do NB05
Requisitos: R8
Fontes: banco_de_dados/eda/ivs_especificacoes/especificacoes.csv (elegivel)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[FP13] A renda sozinha contra o índice
Requisitos: R8
Fontes: banco_de_dados/eda/ivs_especificacoes/acrescimo_renda.csv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[Z02] O que está em aberto
Requisitos: R2, R7
Fontes: banco_de_dados/eda/ivs_especificacoes/referencia.csv; docs/prompts/estado_demandas_2026-09.md:28-63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70 MUNICÍPIOS DO ELSI-BRASIL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descritivo do andamento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setembro e como foram cobertas, a descritiva de cada indicador e a análise fatorial — para conferência com os resultados da orientadora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· outubro de 2026 · deck v3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slide tem um código e uma base declarada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1206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canto superior direito (DM, DS, FA, FP). Para pedir correção ou marcar o que vai para o artigo, basta citar o código.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75916"/>
            <a:ext cx="51206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Proporções em % com duas casas; renda em R$; razões com duas casas. Os valores com precisão total ficam no anexo xlsx.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1206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CONFERIR.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o que não tem fonte no projeto. Nada foi preenchido por suposição.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bases de cada parte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29968"/>
          <a:ext cx="5120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73736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 dos 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Urbanos com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da referência proposta (NB05)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mesmos, com os 7 componentes completos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do NB04 e cenários S0–S7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completo (S0); cada cenário tem o seu 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partes, cada uma com os seus códigos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120640"/>
                <a:gridCol w="1554480"/>
                <a:gridCol w="32278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tem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demandas e como foram cobertas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DM00–DM15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 dos indicadores, um por slide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DS00–DS34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 da análise fatorial (referência proposta)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FA00–FA16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a orientadora pediu da fatorial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FP00–FP13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 (S0) e o n de cada cenário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Fechamento: o que está em aberto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como foram cobertas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 de setembro, uma por slide: o pedido, como lemos, o que foi feito, o que contornamos e onde está o resultado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registro, estado e onde está cada uma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3749040"/>
                <a:gridCol w="822960"/>
                <a:gridCol w="23134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 (registro)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de renda com a 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DS18, FP01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DS03–DS33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bootstrap, sem e com rotação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FP02, FP09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útil × inútil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(as duas leituras)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com V00495; graduada (V00237) em aberto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tudo isso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(leitura padrão da pergunta 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(como não convencional, sem excluir)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 — a renda com a mediana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"coluna de renda com a mediana"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do próprio setor não existe no arquivo bruto do Censo (vêm V06001–V06005, não V06006). Lemos como: no setor extremo de Belo Horizonte, pôr a mediana do município calculada sem ele.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renda_imputada_mediana_municipal em src/ivs_censo/renda.py; coluna nova renda_media_mediana_mun na entrega (o banco passa de 104 para 105 colunas); CSV de sensibilidade com três alternativas.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falta a mediana do setor (V06006). Saída: imputação pela mediana do município, só no setor excluído a pedido da orientadora em 01/09/2026 (310620005650366, R$ 170.418,06). Efeito: 1 setor difere de renda_media.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7950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105912"/>
          <a:ext cx="496519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05840"/>
                <a:gridCol w="996696"/>
                <a:gridCol w="99669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Alternativa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imputado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em 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nos 70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sem 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R$ 3.058,235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R$ 4.649,57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R$ 4.185,80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com 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R$ 3.060,310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R$ 4.649,57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R$ 4.185,80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dos 70 municípios sem 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R$ 2.572,390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R$ 4.649,47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R$ 4.185,80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439920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 (a coluna nova) e FP01 (o efeito na fatorial).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2 — quadro de indicadores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"quadro de indicadores"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de indicadores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scripts/gerar_quadro_indicadores.py monta o Quadro_Indicadores (csv, xlsx e md) a partir de TODOS_INDICADORES, com numerador, denominador e a descrição oficial do IBGE por código V.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contorno. O quadro foi ampliado no NB05: TODOS_INDICADORES sobe de 26 para 28, com pct_so_sanitario e pct_banheiro_comum.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896362"/>
          <a:ext cx="4965192" cy="914400"/>
        </p:xfrm>
        <a:graphic>
          <a:graphicData uri="http://schemas.openxmlformats.org/drawingml/2006/table">
            <a:tbl>
              <a:tblPr/>
              <a:tblGrid>
                <a:gridCol w="2587752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IVS-7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65201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DS03–DS33 (a definição em cada slide).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 — fatorial sem bootstrap, sem e com rotação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"fatorial sem bootstrap, sem e com rotação"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bootstrap, sem e com rotação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rotação? Rodamos as duas: sem rotação, Varimax e promax lado a lado (a demanda 11 já pede isso).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rodar_cenario em src/ivs_censo/fatorial.py (um cenário inteiro, com o sinal orientado em sem rotação, Varimax e promax) e scripts/fatorial_ampliada.py, com a grade de 15 cenários.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bootstrap saiu, como pedido. Para a incerteza entrou a sensibilidade de um município de fora por vez (S0, S1, S6).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86812"/>
          <a:ext cx="4965192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109728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estrutura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 e FP09.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4 — separar útil × inútil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"separar útil × inútil"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útil × inútil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só: classificar cada material em ATUAL, SUPERADO ou HISTÓRICO, sem mover nem apagar nada. Quem decide é o Pedro.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scripts/inventario_apresentacao.py gerou o MAPA_APRESENTACAO_FINAL.md; o deck da fatorial (98 slides) foi corrigido e ganhou o bloco da fatorial ampliada; guia de apoio em PDF.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deck de 98 slides não é 100% reproduzível por script (base gerada, slides anexados e edição manual). O bloco novo foi anexado ao fim pelo juntador, sem regerar o deck.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896362"/>
          <a:ext cx="4965192" cy="914400"/>
        </p:xfrm>
        <a:graphic>
          <a:graphicData uri="http://schemas.openxmlformats.org/drawingml/2006/table">
            <a:tbl>
              <a:tblPr/>
              <a:tblGrid>
                <a:gridCol w="3136392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ATUAL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SUPERADO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HISTÓRICO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03370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da apresentação final (documento do projeto).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 — comparar "não chega"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"comparar "não chega"" · estado: concluída (as duas leituras)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leituras, as duas feitas: (a) contra as outras categorias de canalização; (b) contra os indicadores do IVS-7.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 (IVS-7 + não chega) na grade; Spearman de "água não chega" com o IVS-7 e com as outras categorias de água; perfil dos setores com valor &gt; 0 × = 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85,7% de zeros citados antes usavam os 104.108 setores como denominador, contando o faltante como não zero. Sobre os valores presentes, são 94,5%.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896362"/>
          <a:ext cx="496519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005840"/>
                <a:gridCol w="10972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× …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78.266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81.303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94.368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85.098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38089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 — juntar "sem banheiro"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"juntar "sem banheiro"" · estado: concluída com V00495; graduada (V00237) em aberto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"sem banheiro"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Usamos a V00495, que já contém a V00238 (conferido no banco). A versão graduada, com V00237, exigia reextração do NB01 e ficou em aberto na época.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 (IVS-7 + sem banheiro, V00495) e a prova V00238 ≤ V00495. Depois, no NB05, a V00237 foi extraída e o banheiro graduado entrou na grade.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a V00237 não estava na base. Saída: reextração no NB01, sem gravar o notebook. A partição V00495 = V00236 + V00237 + V00238 fecha em 91.199 de 91.199 setores.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896362"/>
          <a:ext cx="4965192" cy="914400"/>
        </p:xfrm>
        <a:graphic>
          <a:graphicData uri="http://schemas.openxmlformats.org/drawingml/2006/table">
            <a:tbl>
              <a:tblPr/>
              <a:tblGrid>
                <a:gridCol w="3136392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que vale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≤ V00495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= V00236 + V00237 + V00238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 de 91.199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 e DS13 (o banheiro graduado).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 — adicionar canalização e sem banheiro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"adicionar canalização e sem banheiro"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canalização e sem banheiro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nova por vez sobre o IVS-7: não chega (S2), sem canalização (S3), sem banheiro (S4).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 na grade da fatorial ampliada, cada um uma fatorial completa sobre a mesma regra de setores.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variável nova perde setores diferentes; cada cenário tem o seu n, comparado com o S0 na coluna perdidos_vs_S0.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86812"/>
          <a:ext cx="49651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810512"/>
                <a:gridCol w="822960"/>
                <a:gridCol w="8229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422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 — fatorial de tudo isso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"fatorial de tudo isso" · estado: concluída (leitura padrão da pergunta 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de tudo isso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 + não chega + sem canalização + sem banheiro + não convencional (pergunta 6, sem confirmação registrada).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(as quatro juntas) e S7 (S6 sem lixo); o S6 também com as três rendas e com postos dentro do município.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 A leitura de "tudo isso" é nossa e está registrada como pergunta à orientadora.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86812"/>
          <a:ext cx="49651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99032"/>
                <a:gridCol w="777240"/>
                <a:gridCol w="64008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7022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DM09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 — habitação convencional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"habitação convencional" · estado: concluída (como não convencional, sem excluir)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convencional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na direção da vulnerabilidade (moradia não convencional), com diagnóstico completo, sem excluir por variância baixa.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S5 (IVS-7 + não convencional) e S6; MSA, comunalidade e % de zeros em cargas.csv.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tem variância baixa. Em vez de excluí-la, mostramos o diagnóstico; manter ou não é decisão da orientadora.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896362"/>
          <a:ext cx="49651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1097280"/>
                <a:gridCol w="100584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de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Varimax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 — testar lixo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"testar lixo"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lixo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só: rodar com e sem o lixo.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(IVS-7 sem lixo) e S7 (S6 sem lixo); se o lixo forma fator próprio na Varimax e se isso muda ao tirar um município (lixo_muda).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contorno. Registro: em S0, o lixo muda de fator em duas rodadas de um município de fora.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86812"/>
          <a:ext cx="49651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84832"/>
                <a:gridCol w="822960"/>
                <a:gridCol w="64008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74650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 — testar as duas rotações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"testar as duas rotações" · estado: concluída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as duas rotações (redação do registro).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 e promax; na promax, as duas métricas (matriz padrão e matriz estrutura), sem dizer que uma se afasta ou se aproxima da literatura.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pesos.csv com Varimax e promax (padrão e estrutura) e Φ, em todos os cenários; figura fa_plano_s6.png.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posicionador de rótulos da figura veio do NB04; a figura foi conferida rótulo a rótulo antes de ir para slide.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86812"/>
          <a:ext cx="4965192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109728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estrutura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desdobramentos no NB05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Origem: estado do NB05 — não são demandas diretas da orientadora (A CONFERIR com o Pedro)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496519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é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Fase e estado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original · sem extremo · mediana municipal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feito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Rotação: sem rotação · Varimax · promax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feito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na oblíqua: 5 alternativas (padrão, estrutura, comunalidades, 50/50, 60/40)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feito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Lixo: com · sem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feito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Banheiro: fora · V00495 · graduado (extração de V00237)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 — feito (partição e indicadores); C — feito (as três versões na grade do motor)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Motor de especificação do IVS e todos os testes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feito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três inferências dos agentes → verificação determinística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— feito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Pendências pequenas: 8.1 dicionário, 8.2 deck EDA Central, 8.3 reexecução eda scripts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— feito (8.1, 8.2 e 8.3)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 NB05, relatório e slides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 — feito (D.1–D.4: notebook, relatório, slides e documentação)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contornamos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obstáculo, a saída adotada e o efeito, demanda a demanda (o mesmo texto dos slides DM02–DM12)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7251192"/>
                <a:gridCol w="822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Obstáculo, saída e efeito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renda com a 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falta a mediana do setor (V06006). Saída: imputação pela mediana do município, só no setor excluído a pedido da orientadora em 01/09/2026 (310620005650366, R$ 170.418,06). Efeito: 1 setor difere de renda_media.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O quadro foi ampliado no NB05: TODOS_INDICADORES sobe de 26 para 28, com pct_so_sanitario e pct_banheiro_comum.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bootstrap, sem e com rotação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bootstrap saiu, como pedido. Para a incerteza entrou a sensibilidade de um município de fora por vez (S0, S1, S6).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útil × inútil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deck de 98 slides não é 100% reproduzível por script (base gerada, slides anexados e edição manual). O bloco novo foi anexado ao fim pelo juntador, sem regerar o deck.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85,7% de zeros citados antes usavam os 104.108 setores como denominador, contando o faltante como não zero. Sobre os valores presentes, são 94,5%.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a V00237 não estava na base. Saída: reextração no NB01, sem gravar o notebook. A partição V00495 = V00236 + V00237 + V00238 fecha em 91.199 de 91.199 setores.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variável nova perde setores diferentes; cada cenário tem o seu n, comparado com o S0 na coluna perdidos_vs_S0.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tudo isso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 de dado. A leitura de "tudo isso" é nossa e está registrada como pergunta à orientadora.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variável tem variância baixa. Em vez de excluí-la, mostramos o diagnóstico; manter ou não é decisão da orientadora.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Registro: em S0, o lixo muda de fator em duas rodadas de um município de fora.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posicionador de rótulos da figura veio do NB04; a figura foi conferida rótulo a rótulo antes de ir para slide.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DM14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perguntas à orientadora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Enviadas na Fase 0, com o padrão seguido em cada uma. Nenhuma resposta registrada (A CONFERIR)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784555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Ponto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seguido enquanto não há resposta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(demanda 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"a mediana" de quê? A mediana do próprio setor não existe no arquivo bruto do Censo (só vem V06001–V06005, não V06006). Vou entrar com uma coluna nova usando a mediana de Belo Horizonte sem o setor extremo (R$ 3.058,235), e registrar num CSV de sensibilidade o efeito das alternativas: mediana de BH com o setor e mediana dos 70 municípios.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com rotação (demanda 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rotação? Vou rodar as duas — sem rotação, Varimax e Promax lado a lado (a demanda 11 já pede isso).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"Comparar com os outros" (demanda 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vou tratar as duas leituras — (a) contra as outras categorias de canalização e (b) contra os indicadores do IVS-7.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 (demanda 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vou usar a V00495, que já contém a V00238 (confirmei isso no banco). A versão graduada, com V00237 (só sanitário ou buraco), exige reextração do NB01 e fica em aberto — quer que eu faça?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 (demanda 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vou entrar com a variável na direção da vulnerabilidade (não convencional), com diagnóstico completo. Não vou excluir por variância baixa — prefiro mostrar o resultado e você decide.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"Tudo isso" na fatorial ampliada (demanda 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meu entendimento é IVS-7 + não chega + sem canalização + sem banheiro + não convencional. Confirma?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Repartição oblíqua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vou reportar as duas métricas (matriz padrão e matriz estrutura), sem dizer que uma "afasta" ou "aproxima" da literatura.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no índice final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vou rodar os cenários de referência com as três opções (renda original, sem o extremo, imputada com a mediana) e você escolhe depois.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Incerteza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vez do bootstrap, vou apresentar sensibilidade por município (deixando um de fora por vez), não como bootstrap.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dos indicadores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indicador por slide, nos 104.108 setores urbanos com Dados_sig = OK: como é calculado, de que arquivo vem e como se distribui. Sem cruzar indicadores.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109.032 setores dos 70 municípios aos que entram em cada parte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77724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quê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30.230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604260"/>
            <a:ext cx="64008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descritiva usa 104.108 setores (urbanos com Dados_sig = OK). A fatorial da referência proposta usa 73.878: saem 30.230 com algum componente faltante.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DS01.png">    </p:cNvPr>
          <p:cNvPicPr>
            <a:picLocks noChangeAspect="1"/>
          </p:cNvPicPr>
          <p:nvPr/>
        </p:nvPicPr>
        <p:blipFill>
          <a:blip r:embed="rId1"/>
          <a:srcRect l="-5513" r="-5513" t="0" b="0"/>
          <a:stretch/>
        </p:blipFill>
        <p:spPr>
          <a:xfrm>
            <a:off x="7452360" y="1719072"/>
            <a:ext cx="395935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535838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do recorte, etapa a etapa.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valor, indicador a indicador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 = setor da base sem o dado (sigilo ou denominador zero)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51206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914400"/>
                <a:gridCol w="7772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73352"/>
          <a:ext cx="51206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914400"/>
                <a:gridCol w="7772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abastecimento de água inadequado ou ausente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9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— Domicílios Particulares Permanentes Ocupados, Utiliza poço profundo ou artesiano | V00113 — Domicílios Particulares Permanentes Ocupados, Utiliza poço raso, freático ou cacimba | V00114 — Domicílios Particulares Permanentes Ocupados, Utiliza fonte, nascente ou mina | V00115 — Domicílios Particulares Permanentes Ocupados, Utiliza carro-pipa | V00116 — Domicílios Particulares Permanentes Ocupados, Utiliza água da chuva armazenada | V00117 — Domicílios Particulares Permanentes Ocupados, Utiliza rios, açudes, córregos, lagos e igarapés | V00118 — Domicílios Particulares Permanentes Ocupados, Utiliza outra forma de abastecimento de água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87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8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78447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3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77.295 setores com zero.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1,18%. Entre o P10 e o P90, vai de 0,00% a 19,86%; 74,25%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esgotamento sanitário inadequado ou ausente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06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— Domicílios Particulares Permanentes Ocupados, Destinação do esgoto do banheiro ou sanitário ou buraco para dejeções é fossa rudimentar ou buraco | V00313 — Domicílios Particulares Permanentes Ocupados, Destinação do esgoto do banheiro ou sanitário ou buraco para dejeções é vala | V00314 — Domicílios Particulares Permanentes Ocupados, Destinação do esgoto do banheiro ou sanitário ou buraco para dejeções é rio, lago, córrego ou mar | V00315 — Domicílios Particulares Permanentes Ocupados, Destinação do esgoto do banheiro ou sanitário ou buraco para dejeções é outra forma | V00316 — Domicílios Particulares Permanentes Ocupados, Destinação do esgoto inexistente, pois não tinham banheiro nem sanitário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90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8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885182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4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75.511 setores com zero.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1,82%. Entre o P10 e o P90, vai de 0,00% a 28,38%; 72,53%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destino do lixo inadequado ou ausente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8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— Domicílios Particulares Permanentes Ocupados, Lixo depositado em caçamba de serviço de limpeza | V00399 — Domicílios Particulares Permanentes Ocupados, Lixo queimado na propriedade | V00400 — Domicílios Particulares Permanentes Ocupados, Lixo enterrado na propriedade | V00401 — Domicílios Particulares Permanentes Ocupados, Lixo jogado em terreno baldio, encosta ou área pública | V00402 — Domicílios Particulares Permanentes Ocupados, Outro destino do lixo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93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8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82338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62,78%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5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65.359 setores com zero.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5,94%. Entre o P10 e o P90, vai de 0,00% a 50,46%; 62,78%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até dentro do domicílio (complemento de V00199; equivale a V00200+V00201 sobre V00001)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 — Domicílios Particulares Permanentes Ocupados, Água chega encanada até dentro da casa, apartamento ou habitação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= complemento (1 − numerador/denominador)</a:t>
            </a:r>
            <a:endParaRPr lang="en-US" sz="8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 (0,04%)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6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72.537 setores com zero.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0,48%. Entre o P10 e o P90, vai de 0,00% a 2,34%; 69,70%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ao domicílio (V00201)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 — Domicílios Particulares Permanentes Ocupados, Água não chega encanada ao domicílio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 (9,32%)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7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89.212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94,50%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chega encanada apenas ao terreno (V00200)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 — Domicílios Particulares Permanentes Ocupados, Água chega encanada, mas apenas ao terreno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 (15,27%)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88,28%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8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77.876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1,47%; 88,28%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de uso exclusivo com chuveiro e vaso sanitário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— Domicílios Particulares Permanentes Ocupados, Sem banheiro de uso exclusivo com chuveiro e vaso sanitário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 (11,71%)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9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8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95,60%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nem sanitário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— Domicílios Particulares Permanentes Ocupados, Não tinham banheiro nem sanitário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167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 (2,85%)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0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100.786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99,65%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sanitário ou buraco para dejeções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 — Domicílios Particulares Permanentes Ocupados, Apenas sanitário ou buraco para dejeções, inclusive os localizados no terreno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 (3,66%)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1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10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99.251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98,96%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banheiro de uso comum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— Domicílios Particulares Permanentes Ocupados, Apenas banheiro de uso comum a mais de um domicílio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 (9,31%)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2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91.872 setores com zero. Eixo até o P99 (30,11%); 26 setores acima dele ficam fora do desenho, não da tabela.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51226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97,31%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de inadequação do banheiro: 0 = todos com banheiro, 1 = todos sem banheiro nem sanitário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1·V00236 + 2·V00237 + 3·V00238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scripts/ivs_especificacoes.py, função banheiro_graduado (linha 58)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escala de 0 a 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 (13,73%)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3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0,000; um em cada quatro tem mais de 0,000. Entre o P10 e o P90, vai de 0,000 a 0,000; 97,83%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por domicílio (reproduz o V0005 do IBGE)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— Domicílios Particulares Permanentes Ocupados, Quantidade de moradores | V00006 — Domicílios Particulares Improvisados Ocupados, Quantidade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(min_count=1); sem corte em [0, 1] — não é proporção</a:t>
            </a:r>
            <a:endParaRPr lang="en-US" sz="85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4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2,71; um em cada quatro tem mais de 2,93. Entre o P10 e o P90, vai de 2,20 a 3,14; nenhum setor tem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analfabetismo entre pessoas de 15 anos ou mais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 — 15 anos ou mais, Morador não sabe ler e escrever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— 15 anos ou mais, Morador sabe ler e escrever | V00901 — 15 anos ou mais, Morador não sabe ler e escrever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Agregados_por_setores_alfabetizacao_BR.csv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99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exige as 2 parcelas presentes (sem tolerância a sigilo parcial)</a:t>
            </a:r>
            <a:endParaRPr lang="en-US" sz="85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 (15,90%)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5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14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(16,43%); 876 setores acima dele ficam fora do desenho, não da tabela.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2,71%; um em cada quatro tem mais de 4,99%. Entre o P10 e o P90, vai de 0,00% a 7,92%; 10,59%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Rendimento nominal médio mensal das pessoas responsáveis (R$)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— Valor do rendimento nominal médio mensal das pessoas responsáveis com rendimentos por domicílios particulares permanentes ocupados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 denominador)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Agregados_por_setores_renda_responsavel_BR.csv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102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(R$)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— não é proporção</a:t>
            </a:r>
            <a:endParaRPr lang="en-US" sz="85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R$ 4.187,41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R$ 4.150,66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R$ 318,88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R$ 1.387,94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R$ 1.752,48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R$ 4.835,89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R$ 9.490,68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R$ 170.418,06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6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(R$ 19.771,79); 1.041 setores acima dele ficam fora do desenho, não da tabela.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R$ 2.572,39; um em cada quatro tem mais de R$ 4.835,89. Entre o P10 e o P90, vai de R$ 1.387,94 a R$ 9.490,68; nenhum setor tem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vazio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renda_media, sem o setor 310620005650366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src/ivs_censo/renda.py, função renda_sem_extremos (linha 113)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(R$)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 (0,01%)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R$ 4.185,81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R$ 4.118,57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R$ 318,88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R$ 1.387,94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R$ 1.752,47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R$ 4.835,83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R$ 9.490,42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7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16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(R$ 19.771,58); 1.041 setores acima dele ficam fora do desenho, não da tabela.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R$ 2.572,39; um em cada quatro tem mais de R$ 4.835,83. Entre o P10 e o P90, vai de R$ 1.387,94 a R$ 9.490,42; nenhum setor tem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substituído pela mediana do município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renda_media, com imputação no setor 310620005650366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src/ivs_censo/renda.py, função renda_imputada_mediana_municipal (linha 130)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(R$)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R$ 4.185,80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R$ 4.118,56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R$ 318,88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R$ 1.387,94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R$ 1.752,48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R$ 4.835,82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R$ 9.490,41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8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(R$ 19.771,58); 1.041 setores acima dele ficam fora do desenho, não da tabela.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R$ 2.572,39; um em cada quatro tem mais de R$ 4.835,82. Entre o P10 e o P90, vai de R$ 1.387,94 a R$ 9.490,41; nenhum setor tem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cor/raça preta, parda ou indígena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— Cor ou raça é preta | V01320 — Cor ou raça é parda | V01321 — Cor ou raça é indígena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Agregados_por_setores_cor_ou_raca_BR.csv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105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52,67%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70,44%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79,29%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9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18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57,19%; um em cada quatro tem mais de 70,44%. Entre o P10 e o P90, vai de 17,45% a 79,29%; 0,09%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pessoa responsável do sexo feminino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 — Pessoa responsável pelo domicílio, Sexo feminino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— Pessoa responsável pelo domicílio, Sexo masculino | V01063 — Pessoa responsável pelo domicílio, Sexo feminino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Agregados_por_setores_parentesco_BR.csv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176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 (0,14%)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52,81%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63,40%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0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53,39%; um em cada quatro tem mais de 58,80%. Entre o P10 e o P90, vai de 41,41% a 63,40%; 0,02%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particulares improvisados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 — Domicílios Particulares Improvisados Ocupados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 (4,94%)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97,25%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1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20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98.189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99,21%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habitação precária (cortiço, estrutura degradada, improvisados)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V00052 — Domicílios Particulares Permanentes Ocupados, Tipo de espécie é estrutura residencial permanente degradada ou inacabada | V00053 — Domicílios Particulares Improvisados Ocupados, Tipo de espécie é tenda ou barraca de lona, plástico ou tecido | V00054 — Domicílios Particulares Improvisados Ocupados, Tipo de espécie é dentro de estabelecimento em funcionamento | V00055 — Domicílios Particulares Improvisados Ocupados, Tipo de espécie é abrigo natural e outras estruturas improvisadas | V00056 — Domicílios Particulares Improvisados Ocupados, Tipo de espécie é estrutura improvisada em logradouro público, exceto tenda ou barraca | V00057 — Domicílios Particulares Improvisados Ocupados, Tipo de espécie é estrutura não residencial permanente degradada ou inacabada | V00058 — Domicílios Particulares Improvisados Ocupados, Tipo de espécie é veículo (carro, caminhão, trailer, barco etc)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8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124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8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3887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2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96.260 setores com zero.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92,46%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convencionais (casa, casa de vila/condomínio, apartamento)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 | V00048 — Domicílios Particulares Permanentes Ocupados, Tipo de espécie é casa de vila ou em condomínio | V00049 — Domicílios Particulares Permanentes Ocupados, Tipo de espécie é apartamento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2318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3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100,00%; um em cada quatro tem mais de 100,00%. Entre o P10 e o P90, vai de 98,40% a 100,00%; 0,01%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não convencionais (cortiço, maloca, estrutura degradada)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7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V00051 — Domicílios Particulares Permanentes Ocupados, Tipo de espécie é habitação indígena sem paredes ou maloca | V00052 — Domicílios Particulares Permanentes Ocupados, Tipo de espécie é estrutura residencial permanente degradada ou inacabada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950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4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96.771 setores com zero.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92,95%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apartamento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 — Domicílios Particulares Permanentes Ocupados, Tipo de espécie é apartamento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 (8,74%)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5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24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76,09%. Entre o P10 e o P90, vai de 0,00% a 99,52%; 38,52%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135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 (4,29%)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69,47%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91,44%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6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91,44%; um em cada quatro tem mais de 99,38%. Entre o P10 e o P90, vai de 0,00% a 100,00%; 10,11%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 de vila ou em condomínio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 — Domicílios Particulares Permanentes Ocupados, Tipo de espécie é casa de vila ou em condomínio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137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 (12,30%)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7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26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64.589 setores com zero.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2,19%. Entre o P10 e o P90, vai de 0,00% a 12,14%; 70,74%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crianças de 0 a 4 anos na população residente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Agregados_por_setores_demografia_BR.csv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 (1,75%)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8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6,72%. Entre o P10 e o P90, vai de 2,81% a 8,26%; 0,52% dos setores têm valor zero.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com menos de 15 anos na população residente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Agregados_por_setores_demografia_BR.csv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 (0,25%)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48,78%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9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28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17,19%; um em cada quatro tem mais de 20,98%. Entre o P10 e o P90, vai de 10,08% a 24,49%; 0,50%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60 anos ou mais na população residente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Agregados_por_setores_demografia_BR.csv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182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</a:t>
            </a:r>
            <a:endParaRPr lang="en-US" sz="850" dirty="0"/>
          </a:p>
        </p:txBody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 (0,27%)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85,71%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0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16,57%; um em cada quatro tem mais de 23,07%. Entre o P10 e o P90, vai de 7,20% a 29,26%; 0,30%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Populacional: 60+ por 100 menores de 15 anos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185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189349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(min_count=1); sem corte em [0, 1] — não é proporção; escala ×100</a:t>
            </a:r>
            <a:endParaRPr lang="en-US" sz="85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 (0,95%)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275,00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1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30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(633,33); 1.027 setores acima dele ficam fora do desenho, não da tabela.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96,30; um em cada quatro tem mais de 169,57. Entre o P10 e o P90, vai de 30,77 a 275,00; 0,21%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Dependência de Idosos: 60+ por 100 pessoas de 15 a 59 anos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— 15 a 19 anos | V01035 — 20 a 24 anos | V01036 — 25 a 29 anos | V01037 — 30 a 39 anos | V01038 — 40 a 49 anos | V01039 — 50 a 59 anos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188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(min_count=1); sem corte em [0, 1] — não é proporção; escala ×100</a:t>
            </a:r>
            <a:endParaRPr lang="en-US" sz="85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 (0,29%)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2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(76,72); 1.038 setores acima dele ficam fora do desenho, não da tabela.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25,16; um em cada quatro tem mais de 36,77. Entre o P10 e o P90, vai de 10,35 a 49,66; 0,30%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70+ entre os de 60+ (proxy de longevidade; NÃO é o LI, que exigiria a faixa 75+, inexistente nos agregados por setor)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en-US" sz="1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3429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 — 70 anos ou mais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src/ivs_censo/indicadores.py, linha 191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49903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— não é proporção; escala ×100</a:t>
            </a:r>
            <a:endParaRPr lang="en-US" sz="85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00784"/>
          <a:ext cx="2971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 (2,05%)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3.png">    </p:cNvPr>
          <p:cNvPicPr>
            <a:picLocks noChangeAspect="1"/>
          </p:cNvPicPr>
          <p:nvPr/>
        </p:nvPicPr>
        <p:blipFill>
          <a:blip r:embed="rId1"/>
          <a:srcRect l="-22456" r="-22456" t="0" b="0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42,86; um em cada quatro tem mais de 50,00. Entre o P10 e o P90, vai de 28,95 a 55,95; 0,31% dos setores têm valor zero.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município e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mesmas estatísticas, por recorte, ficam no anexo — sem gráfico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86868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planilha Relatorio_Descritivo_numeros.xlsx, entregue junto com este relatório.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86868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Por_municipio.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31 indicadores nos 70 municípios (2.170 linhas), com as mesmas colunas da tabela dos slides DS.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86868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Por_regiao.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31 indicadores nas cinco regiões.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60954"/>
            <a:ext cx="86868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Descritivas.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dos slides DS com precisão total, mais a definição, o arquivo do Censo e o local do cálculo.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da análise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lixo sem · banheiro graduado · rotação promax · pesos 60/40 · normalização municipal. Referência proposta no NB05 — proposta, não escolhida; a escolha é da orientadora.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FA00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da fatorial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73.878 setores: os 104.108 da descritiva menos 30.230 com algum dos sete componentes faltante. Um setor sai se faltar qualquer um deles (exclusão por lista).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FA01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correlação de entrada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73.878 setores · 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538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18895"/>
                <a:gridCol w="1218895"/>
                <a:gridCol w="1218895"/>
                <a:gridCol w="1218895"/>
                <a:gridCol w="1218895"/>
                <a:gridCol w="1218895"/>
                <a:gridCol w="1218895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fora da diagonal, em módulo, é 0,784, entre Renda (invertida) e Cor/raça PPI. A fatorial usa a correlação de Spearman.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FA02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dos dados à fatorial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719072"/>
            <a:ext cx="46908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0,7807; Bartlett com qui-quadrado de 185.197,02 e 21 graus de liberdade.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FA03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e comunalidade por variável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6126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28016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(oblíqua)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60920" y="1719072"/>
            <a:ext cx="40507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(0,709). Menor comunalidade: Razão de moradores (0,375).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FA04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e análise paralela de Horn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do NB05 (proposta, não escolhida) · 7 variáveis · 73.878 setores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7607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137160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variância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12,79%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83,79%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92,43%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autovalores passam de 1 (critério de Kaiser); 2 ficam acima da referência de Horn. Os dois primeiros componentes somam 60,82% da variância.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FA05.png">    </p:cNvPr>
          <p:cNvPicPr>
            <a:picLocks noChangeAspect="1"/>
          </p:cNvPicPr>
          <p:nvPr/>
        </p:nvPicPr>
        <p:blipFill>
          <a:blip r:embed="rId1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observados e a referência da análise paralela.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FA05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3035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de Kaiser (autovalor &gt; 1)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paralela de Horn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Retidos na solução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2; a solução retém 2, que explicam 60,82% da variância.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FA06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sem rotação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572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FA07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Varimax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572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FA08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promax: matriz padrão e matriz estrutura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padrão dá o efeito próprio de cada fator; a estrutura, a correlação da variável com o fator. As duas são reportadas (pergunta 7 à orientadora).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FA09.png">    </p:cNvPr>
          <p:cNvPicPr>
            <a:picLocks noChangeAspect="1"/>
          </p:cNvPicPr>
          <p:nvPr/>
        </p:nvPicPr>
        <p:blipFill>
          <a:blip r:embed="rId1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34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das cargas da referência.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FA09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os fatores (Φ)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92040" y="1719072"/>
            <a:ext cx="65196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promax, F1 e F2 têm correlação de 0,411.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FA10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822960"/>
                <a:gridCol w="1463040"/>
                <a:gridCol w="1371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dimensões pesam 60% e 40%; o maior peso no índice é de Renda (invertida) (19,28%).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FA11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referência proposta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3840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3951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índice até 0,3306; entre o P10 e o P90, vai de 0,2313 a 0,4311. As regiões estão no anexo (aba Fatorial).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FA12.png">    </p:cNvPr>
          <p:cNvPicPr>
            <a:picLocks noChangeAspect="1"/>
          </p:cNvPicPr>
          <p:nvPr/>
        </p:nvPicPr>
        <p:blipFill>
          <a:blip r:embed="rId1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colorido pela faixa.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FA12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faixas, pelas duas regras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18872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28,79%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42,03%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23,85%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24,97%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24,99%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25,03%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3.933 setores (5,32%) ficam na faixa muito elevada; pelos quartis, cada faixa tem cerca de um quarto.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FA13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as favelas (FCU)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75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044952"/>
            <a:ext cx="576072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da AUC municipal: ao menos 30 setores de FCU e fora.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FA14.png">    </p:cNvPr>
          <p:cNvPicPr>
            <a:picLocks noChangeAspect="1"/>
          </p:cNvPicPr>
          <p:nvPr/>
        </p:nvPicPr>
        <p:blipFill>
          <a:blip r:embed="rId1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36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FCU.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FA14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por município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754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AUC calculada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Entram na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 (Duque de Caxias)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 (Campinas)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9359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na mediana só os municípios com ao menos 30 setores de FCU e 30 fora.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FA15.png">    </p:cNvPr>
          <p:cNvPicPr>
            <a:picLocks noChangeAspect="1"/>
          </p:cNvPicPr>
          <p:nvPr/>
        </p:nvPicPr>
        <p:blipFill>
          <a:blip r:embed="rId1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que entram na mediana; tracejado = mediana. A lista completa está no anexo.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FA15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Elegibilidade pelos critérios do NB05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78638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  <a:gridCol w="2743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275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foram fixados antes de rodar a grade do NB05.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FA16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orientadora pediu da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slide por pedido, na ordem das demandas. Aqui a comparação entre cenários é o próprio pedido.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FP00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 — o efeito das três rendas na fatorial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"coluna de renda com a mediana"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1097280"/>
                <a:gridCol w="822960"/>
                <a:gridCol w="1463040"/>
                <a:gridCol w="1856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(Varimax)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de F1 na Varimax é 74,00% nas três rendas (igual até a segunda casa): a troca afeta um setor só.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FP01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 — sem bootstrap, sem e com rotação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"fatorial sem bootstrap, sem e com rotação"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07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(S0)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soluções lado a lado no S0 (IVS-7, NB04); os pesos de cada rotação estão no DM04 e no FP09.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 — o perfil dos setores com e sem "água não chega"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"comparar "não chega""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7863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3774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= 0 (n = 89.212)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0 (n = 5.190)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2.830,52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1.526,40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(a), contra as outras categorias de canalização, e (b), contra o IVS-7: o Spearman está no DM06.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 — o "sem banheiro" na fatorial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"juntar "sem banheiro""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94183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1097280"/>
                <a:gridCol w="146304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 vs S0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688336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usa a V00495. No NB05, as três versões do banheiro entram na grade (banheiro fora: 108 especificações, 48 elegíveis; banheiro graduado: 108 especificações, 48 elegíveis; banheiro v00495: 108 especificações, 96 elegíveis) e o graduado vai para a referência proposta.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 — canalização e sem banheiro, uma por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"adicionar canalização e sem banheiro"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9692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1005840"/>
                <a:gridCol w="822960"/>
                <a:gridCol w="1005840"/>
                <a:gridCol w="822960"/>
                <a:gridCol w="822960"/>
                <a:gridCol w="1463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8211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cenário acrescenta uma variável ao IVS-7 (S0) e perde os setores sem ela.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 — tudo isso junto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"fatorial de tudo isso"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058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1005840"/>
                <a:gridCol w="822960"/>
                <a:gridCol w="822960"/>
                <a:gridCol w="822960"/>
                <a:gridCol w="1463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3918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S6, Kaiser e Horn indicam 4 e 4 fatores; a solução fica com 2 em todos os cenários.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 — a moradia não convencional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"habitação convencional"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9235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1097280"/>
                <a:gridCol w="1005840"/>
                <a:gridCol w="1097280"/>
                <a:gridCol w="1463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da variável (MSA, comunalidade, % de zeros) está no DM10.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 — testar o lixo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"testar lixo" · cenários com e sem o lixo inadequado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80360"/>
                <a:gridCol w="868680"/>
                <a:gridCol w="640080"/>
                <a:gridCol w="1005840"/>
                <a:gridCol w="1005840"/>
                <a:gridCol w="1234440"/>
                <a:gridCol w="226771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(Kaiser)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(Horn)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Variância, 2 fatores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forma fator próprio (Varimax)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21050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 (S0), Kaiser e Horn indicam 2 e 2 fatores, e o lixo forma fator próprio na Varimax. Sem o lixo (S1), indicam 1 e 1.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 — as duas rotações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registro: "testar as duas rotações"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005840"/>
                <a:gridCol w="1005840"/>
                <a:gridCol w="731520"/>
                <a:gridCol w="2651760"/>
                <a:gridCol w="27706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estrutura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estrutura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71,15%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28,85%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43,55%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55,48%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44,52%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estrutura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53,82%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46,18%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5721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 reportada pelas duas matrizes (padrão e estrutura); Φ só existe na oblíqua.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Incerteza: um município de fora por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à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97200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463040"/>
                <a:gridCol w="2743200"/>
                <a:gridCol w="2743200"/>
                <a:gridCol w="9418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Rodadas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cheio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 peso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peso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71,20% (sem Salvador)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74,91% (sem Brasília)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62,89% (sem São Paulo)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66,58% (sem Manaus)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55,11% (sem São Paulo)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56,94% (sem Belém)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lugar do bootstrap (pergunta 9): cada rodada tira um município e refaz a Varimax.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FP10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FCU, cenário a cenário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à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2478024"/>
                <a:gridCol w="2478024"/>
                <a:gridCol w="2478024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indice_01 (pesos Varimax)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invertida sozinha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simples de postos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5101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FCU: o índice, a renda invertida sozinha e a média simples de postos.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FP11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 do NB05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à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8961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1828800"/>
                <a:gridCol w="1828800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Especificações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mediana_mun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sem_rotacao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87010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das 324 especificações passam nos critérios fixados antes de rodar.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FP12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contra o índice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do NB05 (item 6 do estado): o que o índice acrescenta à renda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62179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 (referência proposta)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renda sozinha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média de postos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Queda da deviance ao somar o índice à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135,45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1655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192 especificações avaliadas, o índice supera a renda sozinha na AUC global em 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FP13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em aberto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da orientadora: as perguntas do DM15 e qual especificação adotar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949440"/>
                <a:gridCol w="149047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 dos critérios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Especificação de melhor posição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principal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original·lixo_sem·banheiro_graduado·promax·60_40·municipal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amostra_propria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original·lixo_sem·banheiro_v00495·promax·60_40·municipal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estabilidade_pesos_variaveis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sem_extremo·lixo_sem·banheiro_fora·promax·comunalidades·municipal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normalizacao_global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sem_extremo·lixo_sem·banheiro_fora·varimax·60_40·global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21106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9 perguntas do DM15 seguem sem resposta registrada. A especificação descrita na parte FA é a da leitura principal; as outras três leituras levam às especificações acima.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descritivo do andamento — IVS Censo 2022</dc:title>
  <dc:subject>PptxGenJS Presentation</dc:subject>
  <dc:creator>Pedro Dias Soares</dc:creator>
  <cp:lastModifiedBy>Pedro Dias Soares</cp:lastModifiedBy>
  <cp:revision>1</cp:revision>
  <dcterms:created xsi:type="dcterms:W3CDTF">2026-10-08T12:46:30Z</dcterms:created>
  <dcterms:modified xsi:type="dcterms:W3CDTF">2026-10-08T12:46:30Z</dcterms:modified>
</cp:coreProperties>
</file>