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</p:sldIdLst>
  <p:notesMasterIdLst>
    <p:notesMasterId r:id="rId1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notesMaster" Target="notesMasters/notesMaster1.xml"/><Relationship Id="rId113" Type="http://schemas.openxmlformats.org/officeDocument/2006/relationships/presProps" Target="presProps.xml"/><Relationship Id="rId114" Type="http://schemas.openxmlformats.org/officeDocument/2006/relationships/viewProps" Target="viewProps.xml"/><Relationship Id="rId115" Type="http://schemas.openxmlformats.org/officeDocument/2006/relationships/theme" Target="theme/theme1.xml"/><Relationship Id="rId1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[VF00] As 108 versões da análise fatorial
Fontes: banco_de_dados/eda/versoes_fatorial/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[VF01] Como ler uma ficha
Fontes: versoes_fatorial/INTERPRETACAO.md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[V001] Versão V001
Gerada por ficha() em scripts/dados_versoes_fatorial.py.
Fontes: banco_de_dados/eda/versoes_fatorial/versoes.csv (linha V001); banco_de_dados/eda/versoes_fatorial/cargas.csv; banco_de_dados/eda/versoes_fatorial/estabilidade.csv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[V002] Versão V002
Gerada por ficha() em scripts/dados_versoes_fatorial.py.
Fontes: banco_de_dados/eda/versoes_fatorial/versoes.csv (linha V002); banco_de_dados/eda/versoes_fatorial/cargas.csv; banco_de_dados/eda/versoes_fatorial/estabilidade.csv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[V003] Versão V003
Gerada por ficha() em scripts/dados_versoes_fatorial.py.
Fontes: banco_de_dados/eda/versoes_fatorial/versoes.csv (linha V003); banco_de_dados/eda/versoes_fatorial/cargas.csv; banco_de_dados/eda/versoes_fatorial/estabilidade.csv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[V004] Versão V004
Gerada por ficha() em scripts/dados_versoes_fatorial.py.
Fontes: banco_de_dados/eda/versoes_fatorial/versoes.csv (linha V004); banco_de_dados/eda/versoes_fatorial/cargas.csv; banco_de_dados/eda/versoes_fatorial/estabilidade.csv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[V005] Versão V005
Gerada por ficha() em scripts/dados_versoes_fatorial.py.
Fontes: banco_de_dados/eda/versoes_fatorial/versoes.csv (linha V005); banco_de_dados/eda/versoes_fatorial/cargas.csv; banco_de_dados/eda/versoes_fatorial/estabilidade.csv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[V006] Versão V006
Gerada por ficha() em scripts/dados_versoes_fatorial.py.
Fontes: banco_de_dados/eda/versoes_fatorial/versoes.csv (linha V006); banco_de_dados/eda/versoes_fatorial/cargas.csv; banco_de_dados/eda/versoes_fatorial/estabilidade.csv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[V007] Versão V007
Gerada por ficha() em scripts/dados_versoes_fatorial.py.
Fontes: banco_de_dados/eda/versoes_fatorial/versoes.csv (linha V007); banco_de_dados/eda/versoes_fatorial/cargas.csv; banco_de_dados/eda/versoes_fatorial/estabilidade.csv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[V008] Versão V008
Gerada por ficha() em scripts/dados_versoes_fatorial.py.
Fontes: banco_de_dados/eda/versoes_fatorial/versoes.csv (linha V008); banco_de_dados/eda/versoes_fatorial/cargas.csv; banco_de_dados/eda/versoes_fatorial/estabilidade.csv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[V009] Versão V009
Gerada por ficha() em scripts/dados_versoes_fatorial.py.
Fontes: banco_de_dados/eda/versoes_fatorial/versoes.csv (linha V009); banco_de_dados/eda/versoes_fatorial/cargas.csv; banco_de_dados/eda/versoes_fatorial/estabilidade.csv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[V010] Versão V010
Gerada por ficha() em scripts/dados_versoes_fatorial.py.
Fontes: banco_de_dados/eda/versoes_fatorial/versoes.csv (linha V010); banco_de_dados/eda/versoes_fatorial/cargas.csv; banco_de_dados/eda/versoes_fatorial/estabilidade.csv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[V011] Versão V011
Gerada por ficha() em scripts/dados_versoes_fatorial.py.
Fontes: banco_de_dados/eda/versoes_fatorial/versoes.csv (linha V011); banco_de_dados/eda/versoes_fatorial/cargas.csv; banco_de_dados/eda/versoes_fatorial/estabilidade.csv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[V012] Versão V012
Gerada por ficha() em scripts/dados_versoes_fatorial.py.
Fontes: banco_de_dados/eda/versoes_fatorial/versoes.csv (linha V012); banco_de_dados/eda/versoes_fatorial/cargas.csv; banco_de_dados/eda/versoes_fatorial/estabilidade.csv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[V013] Versão V013
Gerada por ficha() em scripts/dados_versoes_fatorial.py.
Fontes: banco_de_dados/eda/versoes_fatorial/versoes.csv (linha V013); banco_de_dados/eda/versoes_fatorial/cargas.csv; banco_de_dados/eda/versoes_fatorial/estabilidade.csv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[V014] Versão V014
Gerada por ficha() em scripts/dados_versoes_fatorial.py.
Fontes: banco_de_dados/eda/versoes_fatorial/versoes.csv (linha V014); banco_de_dados/eda/versoes_fatorial/cargas.csv; banco_de_dados/eda/versoes_fatorial/estabilidade.csv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[V015] Versão V015
Gerada por ficha() em scripts/dados_versoes_fatorial.py.
Fontes: banco_de_dados/eda/versoes_fatorial/versoes.csv (linha V015); banco_de_dados/eda/versoes_fatorial/cargas.csv; banco_de_dados/eda/versoes_fatorial/estabilidade.csv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[V016] Versão V016
Gerada por ficha() em scripts/dados_versoes_fatorial.py.
Fontes: banco_de_dados/eda/versoes_fatorial/versoes.csv (linha V016); banco_de_dados/eda/versoes_fatorial/cargas.csv; banco_de_dados/eda/versoes_fatorial/estabilidade.csv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[V017] Versão V017
Gerada por ficha() em scripts/dados_versoes_fatorial.py.
Fontes: banco_de_dados/eda/versoes_fatorial/versoes.csv (linha V017); banco_de_dados/eda/versoes_fatorial/cargas.csv; banco_de_dados/eda/versoes_fatorial/estabilidade.csv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[V018] Versão V018
Gerada por ficha() em scripts/dados_versoes_fatorial.py.
Fontes: banco_de_dados/eda/versoes_fatorial/versoes.csv (linha V018); banco_de_dados/eda/versoes_fatorial/cargas.csv; banco_de_dados/eda/versoes_fatorial/estabilidade.csv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[V019] Versão V019
Gerada por ficha() em scripts/dados_versoes_fatorial.py.
Fontes: banco_de_dados/eda/versoes_fatorial/versoes.csv (linha V019); banco_de_dados/eda/versoes_fatorial/cargas.csv; banco_de_dados/eda/versoes_fatorial/estabilidade.csv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[V020] Versão V020
Gerada por ficha() em scripts/dados_versoes_fatorial.py.
Fontes: banco_de_dados/eda/versoes_fatorial/versoes.csv (linha V020); banco_de_dados/eda/versoes_fatorial/cargas.csv; banco_de_dados/eda/versoes_fatorial/estabilidade.csv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[V021] Versão V021
Gerada por ficha() em scripts/dados_versoes_fatorial.py.
Fontes: banco_de_dados/eda/versoes_fatorial/versoes.csv (linha V021); banco_de_dados/eda/versoes_fatorial/cargas.csv; banco_de_dados/eda/versoes_fatorial/estabilidade.csv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[V022] Versão V022
Gerada por ficha() em scripts/dados_versoes_fatorial.py.
Fontes: banco_de_dados/eda/versoes_fatorial/versoes.csv (linha V022); banco_de_dados/eda/versoes_fatorial/cargas.csv; banco_de_dados/eda/versoes_fatorial/estabilidade.csv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[V023] Versão V023
Gerada por ficha() em scripts/dados_versoes_fatorial.py.
Fontes: banco_de_dados/eda/versoes_fatorial/versoes.csv (linha V023); banco_de_dados/eda/versoes_fatorial/cargas.csv; banco_de_dados/eda/versoes_fatorial/estabilidade.csv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[V024] Versão V024
Gerada por ficha() em scripts/dados_versoes_fatorial.py.
Fontes: banco_de_dados/eda/versoes_fatorial/versoes.csv (linha V024); banco_de_dados/eda/versoes_fatorial/cargas.csv; banco_de_dados/eda/versoes_fatorial/estabilidade.csv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[V025] Versão V025
Gerada por ficha() em scripts/dados_versoes_fatorial.py.
Fontes: banco_de_dados/eda/versoes_fatorial/versoes.csv (linha V025); banco_de_dados/eda/versoes_fatorial/cargas.csv; banco_de_dados/eda/versoes_fatorial/estabilidade.csv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[V026] Versão V026
Gerada por ficha() em scripts/dados_versoes_fatorial.py.
Fontes: banco_de_dados/eda/versoes_fatorial/versoes.csv (linha V026); banco_de_dados/eda/versoes_fatorial/cargas.csv; banco_de_dados/eda/versoes_fatorial/estabilidade.csv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[V027] Versão V027
Gerada por ficha() em scripts/dados_versoes_fatorial.py.
Fontes: banco_de_dados/eda/versoes_fatorial/versoes.csv (linha V027); banco_de_dados/eda/versoes_fatorial/cargas.csv; banco_de_dados/eda/versoes_fatorial/estabilidade.csv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[V028] Versão V028
Gerada por ficha() em scripts/dados_versoes_fatorial.py.
Fontes: banco_de_dados/eda/versoes_fatorial/versoes.csv (linha V028); banco_de_dados/eda/versoes_fatorial/cargas.csv; banco_de_dados/eda/versoes_fatorial/estabilidade.csv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[V029] Versão V029
Gerada por ficha() em scripts/dados_versoes_fatorial.py.
Fontes: banco_de_dados/eda/versoes_fatorial/versoes.csv (linha V029); banco_de_dados/eda/versoes_fatorial/cargas.csv; banco_de_dados/eda/versoes_fatorial/estabilidade.csv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[V030] Versão V030
Gerada por ficha() em scripts/dados_versoes_fatorial.py.
Fontes: banco_de_dados/eda/versoes_fatorial/versoes.csv (linha V030); banco_de_dados/eda/versoes_fatorial/cargas.csv; banco_de_dados/eda/versoes_fatorial/estabilidade.csv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[V031] Versão V031
Gerada por ficha() em scripts/dados_versoes_fatorial.py.
Fontes: banco_de_dados/eda/versoes_fatorial/versoes.csv (linha V031); banco_de_dados/eda/versoes_fatorial/cargas.csv; banco_de_dados/eda/versoes_fatorial/estabilidade.csv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[V032] Versão V032
Gerada por ficha() em scripts/dados_versoes_fatorial.py.
Fontes: banco_de_dados/eda/versoes_fatorial/versoes.csv (linha V032); banco_de_dados/eda/versoes_fatorial/cargas.csv; banco_de_dados/eda/versoes_fatorial/estabilidade.csv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[V033] Versão V033
Gerada por ficha() em scripts/dados_versoes_fatorial.py.
Fontes: banco_de_dados/eda/versoes_fatorial/versoes.csv (linha V033); banco_de_dados/eda/versoes_fatorial/cargas.csv; banco_de_dados/eda/versoes_fatorial/estabilidade.csv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[V034] Versão V034
Gerada por ficha() em scripts/dados_versoes_fatorial.py.
Fontes: banco_de_dados/eda/versoes_fatorial/versoes.csv (linha V034); banco_de_dados/eda/versoes_fatorial/cargas.csv; banco_de_dados/eda/versoes_fatorial/estabilidade.csv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[V035] Versão V035
Gerada por ficha() em scripts/dados_versoes_fatorial.py.
Fontes: banco_de_dados/eda/versoes_fatorial/versoes.csv (linha V035); banco_de_dados/eda/versoes_fatorial/cargas.csv; banco_de_dados/eda/versoes_fatorial/estabilidade.csv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[V036] Versão V036
Gerada por ficha() em scripts/dados_versoes_fatorial.py.
Fontes: banco_de_dados/eda/versoes_fatorial/versoes.csv (linha V036); banco_de_dados/eda/versoes_fatorial/cargas.csv; banco_de_dados/eda/versoes_fatorial/estabilidade.csv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[V037] Versão V037
Gerada por ficha() em scripts/dados_versoes_fatorial.py.
Fontes: banco_de_dados/eda/versoes_fatorial/versoes.csv (linha V037); banco_de_dados/eda/versoes_fatorial/cargas.csv; banco_de_dados/eda/versoes_fatorial/estabilidade.csv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[V038] Versão V038
Gerada por ficha() em scripts/dados_versoes_fatorial.py.
Fontes: banco_de_dados/eda/versoes_fatorial/versoes.csv (linha V038); banco_de_dados/eda/versoes_fatorial/cargas.csv; banco_de_dados/eda/versoes_fatorial/estabilidade.csv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[V039] Versão V039
Gerada por ficha() em scripts/dados_versoes_fatorial.py.
Fontes: banco_de_dados/eda/versoes_fatorial/versoes.csv (linha V039); banco_de_dados/eda/versoes_fatorial/cargas.csv; banco_de_dados/eda/versoes_fatorial/estabilidade.csv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[V040] Versão V040
Gerada por ficha() em scripts/dados_versoes_fatorial.py.
Fontes: banco_de_dados/eda/versoes_fatorial/versoes.csv (linha V040); banco_de_dados/eda/versoes_fatorial/cargas.csv; banco_de_dados/eda/versoes_fatorial/estabilidade.csv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[V041] Versão V041
Gerada por ficha() em scripts/dados_versoes_fatorial.py.
Fontes: banco_de_dados/eda/versoes_fatorial/versoes.csv (linha V041); banco_de_dados/eda/versoes_fatorial/cargas.csv; banco_de_dados/eda/versoes_fatorial/estabilidade.csv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[V042] Versão V042
Gerada por ficha() em scripts/dados_versoes_fatorial.py.
Fontes: banco_de_dados/eda/versoes_fatorial/versoes.csv (linha V042); banco_de_dados/eda/versoes_fatorial/cargas.csv; banco_de_dados/eda/versoes_fatorial/estabilidade.csv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[V043] Versão V043
Gerada por ficha() em scripts/dados_versoes_fatorial.py.
Fontes: banco_de_dados/eda/versoes_fatorial/versoes.csv (linha V043); banco_de_dados/eda/versoes_fatorial/cargas.csv; banco_de_dados/eda/versoes_fatorial/estabilidade.csv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[V044] Versão V044
Gerada por ficha() em scripts/dados_versoes_fatorial.py.
Fontes: banco_de_dados/eda/versoes_fatorial/versoes.csv (linha V044); banco_de_dados/eda/versoes_fatorial/cargas.csv; banco_de_dados/eda/versoes_fatorial/estabilidade.csv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[V045] Versão V045
Gerada por ficha() em scripts/dados_versoes_fatorial.py.
Fontes: banco_de_dados/eda/versoes_fatorial/versoes.csv (linha V045); banco_de_dados/eda/versoes_fatorial/cargas.csv; banco_de_dados/eda/versoes_fatorial/estabilidade.csv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[V046] Versão V046
Gerada por ficha() em scripts/dados_versoes_fatorial.py.
Fontes: banco_de_dados/eda/versoes_fatorial/versoes.csv (linha V046); banco_de_dados/eda/versoes_fatorial/cargas.csv; banco_de_dados/eda/versoes_fatorial/estabilidade.csv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[V047] Versão V047
Gerada por ficha() em scripts/dados_versoes_fatorial.py.
Fontes: banco_de_dados/eda/versoes_fatorial/versoes.csv (linha V047); banco_de_dados/eda/versoes_fatorial/cargas.csv; banco_de_dados/eda/versoes_fatorial/estabilidade.csv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[V048] Versão V048
Gerada por ficha() em scripts/dados_versoes_fatorial.py.
Fontes: banco_de_dados/eda/versoes_fatorial/versoes.csv (linha V048); banco_de_dados/eda/versoes_fatorial/cargas.csv; banco_de_dados/eda/versoes_fatorial/estabilidade.csv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[V049] Versão V049
Gerada por ficha() em scripts/dados_versoes_fatorial.py.
Fontes: banco_de_dados/eda/versoes_fatorial/versoes.csv (linha V049); banco_de_dados/eda/versoes_fatorial/cargas.csv; banco_de_dados/eda/versoes_fatorial/estabilidade.csv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[V050] Versão V050
Gerada por ficha() em scripts/dados_versoes_fatorial.py.
Fontes: banco_de_dados/eda/versoes_fatorial/versoes.csv (linha V050); banco_de_dados/eda/versoes_fatorial/cargas.csv; banco_de_dados/eda/versoes_fatorial/estabilidade.csv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[V051] Versão V051
Gerada por ficha() em scripts/dados_versoes_fatorial.py.
Fontes: banco_de_dados/eda/versoes_fatorial/versoes.csv (linha V051); banco_de_dados/eda/versoes_fatorial/cargas.csv; banco_de_dados/eda/versoes_fatorial/estabilidade.csv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[V052] Versão V052
Gerada por ficha() em scripts/dados_versoes_fatorial.py.
Fontes: banco_de_dados/eda/versoes_fatorial/versoes.csv (linha V052); banco_de_dados/eda/versoes_fatorial/cargas.csv; banco_de_dados/eda/versoes_fatorial/estabilidade.csv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[V053] Versão V053
Gerada por ficha() em scripts/dados_versoes_fatorial.py.
Fontes: banco_de_dados/eda/versoes_fatorial/versoes.csv (linha V053); banco_de_dados/eda/versoes_fatorial/cargas.csv; banco_de_dados/eda/versoes_fatorial/estabilidade.csv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[V054] Versão V054
Gerada por ficha() em scripts/dados_versoes_fatorial.py.
Fontes: banco_de_dados/eda/versoes_fatorial/versoes.csv (linha V054); banco_de_dados/eda/versoes_fatorial/cargas.csv; banco_de_dados/eda/versoes_fatorial/estabilidade.csv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[V055] Versão V055
Gerada por ficha() em scripts/dados_versoes_fatorial.py.
Fontes: banco_de_dados/eda/versoes_fatorial/versoes.csv (linha V055); banco_de_dados/eda/versoes_fatorial/cargas.csv; banco_de_dados/eda/versoes_fatorial/estabilidade.csv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[V056] Versão V056
Gerada por ficha() em scripts/dados_versoes_fatorial.py.
Fontes: banco_de_dados/eda/versoes_fatorial/versoes.csv (linha V056); banco_de_dados/eda/versoes_fatorial/cargas.csv; banco_de_dados/eda/versoes_fatorial/estabilidade.csv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[V057] Versão V057
Gerada por ficha() em scripts/dados_versoes_fatorial.py.
Fontes: banco_de_dados/eda/versoes_fatorial/versoes.csv (linha V057); banco_de_dados/eda/versoes_fatorial/cargas.csv; banco_de_dados/eda/versoes_fatorial/estabilidade.csv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[V058] Versão V058
Gerada por ficha() em scripts/dados_versoes_fatorial.py.
Fontes: banco_de_dados/eda/versoes_fatorial/versoes.csv (linha V058); banco_de_dados/eda/versoes_fatorial/cargas.csv; banco_de_dados/eda/versoes_fatorial/estabilidade.csv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[V059] Versão V059
Gerada por ficha() em scripts/dados_versoes_fatorial.py.
Fontes: banco_de_dados/eda/versoes_fatorial/versoes.csv (linha V059); banco_de_dados/eda/versoes_fatorial/cargas.csv; banco_de_dados/eda/versoes_fatorial/estabilidade.csv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[V060] Versão V060
Gerada por ficha() em scripts/dados_versoes_fatorial.py.
Fontes: banco_de_dados/eda/versoes_fatorial/versoes.csv (linha V060); banco_de_dados/eda/versoes_fatorial/cargas.csv; banco_de_dados/eda/versoes_fatorial/estabilidade.csv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[V061] Versão V061
Gerada por ficha() em scripts/dados_versoes_fatorial.py.
Fontes: banco_de_dados/eda/versoes_fatorial/versoes.csv (linha V061); banco_de_dados/eda/versoes_fatorial/cargas.csv; banco_de_dados/eda/versoes_fatorial/estabilidade.csv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[V062] Versão V062
Gerada por ficha() em scripts/dados_versoes_fatorial.py.
Fontes: banco_de_dados/eda/versoes_fatorial/versoes.csv (linha V062); banco_de_dados/eda/versoes_fatorial/cargas.csv; banco_de_dados/eda/versoes_fatorial/estabilidade.csv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[V063] Versão V063
Gerada por ficha() em scripts/dados_versoes_fatorial.py.
Fontes: banco_de_dados/eda/versoes_fatorial/versoes.csv (linha V063); banco_de_dados/eda/versoes_fatorial/cargas.csv; banco_de_dados/eda/versoes_fatorial/estabilidade.csv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[V064] Versão V064
Gerada por ficha() em scripts/dados_versoes_fatorial.py.
Fontes: banco_de_dados/eda/versoes_fatorial/versoes.csv (linha V064); banco_de_dados/eda/versoes_fatorial/cargas.csv; banco_de_dados/eda/versoes_fatorial/estabilidade.csv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[V065] Versão V065
Gerada por ficha() em scripts/dados_versoes_fatorial.py.
Fontes: banco_de_dados/eda/versoes_fatorial/versoes.csv (linha V065); banco_de_dados/eda/versoes_fatorial/cargas.csv; banco_de_dados/eda/versoes_fatorial/estabilidade.csv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[V066] Versão V066
Gerada por ficha() em scripts/dados_versoes_fatorial.py.
Fontes: banco_de_dados/eda/versoes_fatorial/versoes.csv (linha V066); banco_de_dados/eda/versoes_fatorial/cargas.csv; banco_de_dados/eda/versoes_fatorial/estabilidade.csv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[V067] Versão V067
Gerada por ficha() em scripts/dados_versoes_fatorial.py.
Fontes: banco_de_dados/eda/versoes_fatorial/versoes.csv (linha V067); banco_de_dados/eda/versoes_fatorial/cargas.csv; banco_de_dados/eda/versoes_fatorial/estabilidade.csv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[V068] Versão V068
Gerada por ficha() em scripts/dados_versoes_fatorial.py.
Fontes: banco_de_dados/eda/versoes_fatorial/versoes.csv (linha V068); banco_de_dados/eda/versoes_fatorial/cargas.csv; banco_de_dados/eda/versoes_fatorial/estabilidade.csv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[V069] Versão V069
Gerada por ficha() em scripts/dados_versoes_fatorial.py.
Fontes: banco_de_dados/eda/versoes_fatorial/versoes.csv (linha V069); banco_de_dados/eda/versoes_fatorial/cargas.csv; banco_de_dados/eda/versoes_fatorial/estabilidade.csv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[V070] Versão V070
Gerada por ficha() em scripts/dados_versoes_fatorial.py.
Fontes: banco_de_dados/eda/versoes_fatorial/versoes.csv (linha V070); banco_de_dados/eda/versoes_fatorial/cargas.csv; banco_de_dados/eda/versoes_fatorial/estabilidade.csv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[V071] Versão V071
Gerada por ficha() em scripts/dados_versoes_fatorial.py.
Fontes: banco_de_dados/eda/versoes_fatorial/versoes.csv (linha V071); banco_de_dados/eda/versoes_fatorial/cargas.csv; banco_de_dados/eda/versoes_fatorial/estabilidade.csv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[V072] Versão V072
Gerada por ficha() em scripts/dados_versoes_fatorial.py.
Fontes: banco_de_dados/eda/versoes_fatorial/versoes.csv (linha V072); banco_de_dados/eda/versoes_fatorial/cargas.csv; banco_de_dados/eda/versoes_fatorial/estabilidade.csv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[V073] Versão V073
Gerada por ficha() em scripts/dados_versoes_fatorial.py.
Fontes: banco_de_dados/eda/versoes_fatorial/versoes.csv (linha V073); banco_de_dados/eda/versoes_fatorial/cargas.csv; banco_de_dados/eda/versoes_fatorial/estabilidade.csv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[V074] Versão V074
Gerada por ficha() em scripts/dados_versoes_fatorial.py.
Fontes: banco_de_dados/eda/versoes_fatorial/versoes.csv (linha V074); banco_de_dados/eda/versoes_fatorial/cargas.csv; banco_de_dados/eda/versoes_fatorial/estabilidade.csv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[V075] Versão V075
Gerada por ficha() em scripts/dados_versoes_fatorial.py.
Fontes: banco_de_dados/eda/versoes_fatorial/versoes.csv (linha V075); banco_de_dados/eda/versoes_fatorial/cargas.csv; banco_de_dados/eda/versoes_fatorial/estabilidade.csv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[V076] Versão V076
Gerada por ficha() em scripts/dados_versoes_fatorial.py.
Fontes: banco_de_dados/eda/versoes_fatorial/versoes.csv (linha V076); banco_de_dados/eda/versoes_fatorial/cargas.csv; banco_de_dados/eda/versoes_fatorial/estabilidade.csv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[V077] Versão V077
Gerada por ficha() em scripts/dados_versoes_fatorial.py.
Fontes: banco_de_dados/eda/versoes_fatorial/versoes.csv (linha V077); banco_de_dados/eda/versoes_fatorial/cargas.csv; banco_de_dados/eda/versoes_fatorial/estabilidade.csv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[V078] Versão V078
Gerada por ficha() em scripts/dados_versoes_fatorial.py.
Fontes: banco_de_dados/eda/versoes_fatorial/versoes.csv (linha V078); banco_de_dados/eda/versoes_fatorial/cargas.csv; banco_de_dados/eda/versoes_fatorial/estabilidade.csv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[V079] Versão V079
Gerada por ficha() em scripts/dados_versoes_fatorial.py.
Fontes: banco_de_dados/eda/versoes_fatorial/versoes.csv (linha V079); banco_de_dados/eda/versoes_fatorial/cargas.csv; banco_de_dados/eda/versoes_fatorial/estabilidade.csv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[V080] Versão V080
Gerada por ficha() em scripts/dados_versoes_fatorial.py.
Fontes: banco_de_dados/eda/versoes_fatorial/versoes.csv (linha V080); banco_de_dados/eda/versoes_fatorial/cargas.csv; banco_de_dados/eda/versoes_fatorial/estabilidade.csv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[V081] Versão V081
Gerada por ficha() em scripts/dados_versoes_fatorial.py.
Fontes: banco_de_dados/eda/versoes_fatorial/versoes.csv (linha V081); banco_de_dados/eda/versoes_fatorial/cargas.csv; banco_de_dados/eda/versoes_fatorial/estabilidade.csv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[V082] Versão V082
Gerada por ficha() em scripts/dados_versoes_fatorial.py.
Fontes: banco_de_dados/eda/versoes_fatorial/versoes.csv (linha V082); banco_de_dados/eda/versoes_fatorial/cargas.csv; banco_de_dados/eda/versoes_fatorial/estabilidade.csv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[V083] Versão V083
Gerada por ficha() em scripts/dados_versoes_fatorial.py.
Fontes: banco_de_dados/eda/versoes_fatorial/versoes.csv (linha V083); banco_de_dados/eda/versoes_fatorial/cargas.csv; banco_de_dados/eda/versoes_fatorial/estabilidade.csv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[V084] Versão V084
Gerada por ficha() em scripts/dados_versoes_fatorial.py.
Fontes: banco_de_dados/eda/versoes_fatorial/versoes.csv (linha V084); banco_de_dados/eda/versoes_fatorial/cargas.csv; banco_de_dados/eda/versoes_fatorial/estabilidade.csv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[V085] Versão V085
Gerada por ficha() em scripts/dados_versoes_fatorial.py.
Fontes: banco_de_dados/eda/versoes_fatorial/versoes.csv (linha V085); banco_de_dados/eda/versoes_fatorial/cargas.csv; banco_de_dados/eda/versoes_fatorial/estabilidade.csv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[V086] Versão V086
Gerada por ficha() em scripts/dados_versoes_fatorial.py.
Fontes: banco_de_dados/eda/versoes_fatorial/versoes.csv (linha V086); banco_de_dados/eda/versoes_fatorial/cargas.csv; banco_de_dados/eda/versoes_fatorial/estabilidade.csv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[V087] Versão V087
Gerada por ficha() em scripts/dados_versoes_fatorial.py.
Fontes: banco_de_dados/eda/versoes_fatorial/versoes.csv (linha V087); banco_de_dados/eda/versoes_fatorial/cargas.csv; banco_de_dados/eda/versoes_fatorial/estabilidade.csv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[V088] Versão V088
Gerada por ficha() em scripts/dados_versoes_fatorial.py.
Fontes: banco_de_dados/eda/versoes_fatorial/versoes.csv (linha V088); banco_de_dados/eda/versoes_fatorial/cargas.csv; banco_de_dados/eda/versoes_fatorial/estabilidade.csv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[V089] Versão V089
Gerada por ficha() em scripts/dados_versoes_fatorial.py.
Fontes: banco_de_dados/eda/versoes_fatorial/versoes.csv (linha V089); banco_de_dados/eda/versoes_fatorial/cargas.csv; banco_de_dados/eda/versoes_fatorial/estabilidade.csv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[V090] Versão V090
Gerada por ficha() em scripts/dados_versoes_fatorial.py.
Fontes: banco_de_dados/eda/versoes_fatorial/versoes.csv (linha V090); banco_de_dados/eda/versoes_fatorial/cargas.csv; banco_de_dados/eda/versoes_fatorial/estabilidade.csv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[V091] Versão V091
Gerada por ficha() em scripts/dados_versoes_fatorial.py.
Fontes: banco_de_dados/eda/versoes_fatorial/versoes.csv (linha V091); banco_de_dados/eda/versoes_fatorial/cargas.csv; banco_de_dados/eda/versoes_fatorial/estabilidade.csv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[V092] Versão V092
Gerada por ficha() em scripts/dados_versoes_fatorial.py.
Fontes: banco_de_dados/eda/versoes_fatorial/versoes.csv (linha V092); banco_de_dados/eda/versoes_fatorial/cargas.csv; banco_de_dados/eda/versoes_fatorial/estabilidade.csv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[V093] Versão V093
Gerada por ficha() em scripts/dados_versoes_fatorial.py.
Fontes: banco_de_dados/eda/versoes_fatorial/versoes.csv (linha V093); banco_de_dados/eda/versoes_fatorial/cargas.csv; banco_de_dados/eda/versoes_fatorial/estabilidade.csv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[V094] Versão V094
Gerada por ficha() em scripts/dados_versoes_fatorial.py.
Fontes: banco_de_dados/eda/versoes_fatorial/versoes.csv (linha V094); banco_de_dados/eda/versoes_fatorial/cargas.csv; banco_de_dados/eda/versoes_fatorial/estabilidade.csv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[V095] Versão V095
Gerada por ficha() em scripts/dados_versoes_fatorial.py.
Fontes: banco_de_dados/eda/versoes_fatorial/versoes.csv (linha V095); banco_de_dados/eda/versoes_fatorial/cargas.csv; banco_de_dados/eda/versoes_fatorial/estabilidade.csv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[V096] Versão V096
Gerada por ficha() em scripts/dados_versoes_fatorial.py.
Fontes: banco_de_dados/eda/versoes_fatorial/versoes.csv (linha V096); banco_de_dados/eda/versoes_fatorial/cargas.csv; banco_de_dados/eda/versoes_fatorial/estabilidade.csv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[V097] Versão V097
Gerada por ficha() em scripts/dados_versoes_fatorial.py.
Fontes: banco_de_dados/eda/versoes_fatorial/versoes.csv (linha V097); banco_de_dados/eda/versoes_fatorial/cargas.csv; banco_de_dados/eda/versoes_fatorial/estabilidade.csv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[V098] Versão V098
Gerada por ficha() em scripts/dados_versoes_fatorial.py.
Fontes: banco_de_dados/eda/versoes_fatorial/versoes.csv (linha V098); banco_de_dados/eda/versoes_fatorial/cargas.csv; banco_de_dados/eda/versoes_fatorial/estabilidade.csv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[V099] Versão V099
Gerada por ficha() em scripts/dados_versoes_fatorial.py.
Fontes: banco_de_dados/eda/versoes_fatorial/versoes.csv (linha V099); banco_de_dados/eda/versoes_fatorial/cargas.csv; banco_de_dados/eda/versoes_fatorial/estabilidade.csv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[V100] Versão V100
Gerada por ficha() em scripts/dados_versoes_fatorial.py.
Fontes: banco_de_dados/eda/versoes_fatorial/versoes.csv (linha V100); banco_de_dados/eda/versoes_fatorial/cargas.csv; banco_de_dados/eda/versoes_fatorial/estabilidade.csv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[V101] Versão V101
Gerada por ficha() em scripts/dados_versoes_fatorial.py.
Fontes: banco_de_dados/eda/versoes_fatorial/versoes.csv (linha V101); banco_de_dados/eda/versoes_fatorial/cargas.csv; banco_de_dados/eda/versoes_fatorial/estabilidade.csv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[V102] Versão V102
Gerada por ficha() em scripts/dados_versoes_fatorial.py.
Fontes: banco_de_dados/eda/versoes_fatorial/versoes.csv (linha V102); banco_de_dados/eda/versoes_fatorial/cargas.csv; banco_de_dados/eda/versoes_fatorial/estabilidade.csv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[V103] Versão V103
Gerada por ficha() em scripts/dados_versoes_fatorial.py.
Fontes: banco_de_dados/eda/versoes_fatorial/versoes.csv (linha V103); banco_de_dados/eda/versoes_fatorial/cargas.csv; banco_de_dados/eda/versoes_fatorial/estabilidade.csv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[V104] Versão V104
Gerada por ficha() em scripts/dados_versoes_fatorial.py.
Fontes: banco_de_dados/eda/versoes_fatorial/versoes.csv (linha V104); banco_de_dados/eda/versoes_fatorial/cargas.csv; banco_de_dados/eda/versoes_fatorial/estabilidade.csv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[V105] Versão V105
Gerada por ficha() em scripts/dados_versoes_fatorial.py.
Fontes: banco_de_dados/eda/versoes_fatorial/versoes.csv (linha V105); banco_de_dados/eda/versoes_fatorial/cargas.csv; banco_de_dados/eda/versoes_fatorial/estabilidade.csv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[V106] Versão V106
Gerada por ficha() em scripts/dados_versoes_fatorial.py.
Fontes: banco_de_dados/eda/versoes_fatorial/versoes.csv (linha V106); banco_de_dados/eda/versoes_fatorial/cargas.csv; banco_de_dados/eda/versoes_fatorial/estabilidade.csv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[V107] Versão V107
Gerada por ficha() em scripts/dados_versoes_fatorial.py.
Fontes: banco_de_dados/eda/versoes_fatorial/versoes.csv (linha V107); banco_de_dados/eda/versoes_fatorial/cargas.csv; banco_de_dados/eda/versoes_fatorial/estabilidade.csv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[V108] Versão V108
Gerada por ficha() em scripts/dados_versoes_fatorial.py.
Fontes: banco_de_dados/eda/versoes_fatorial/versoes.csv (linha V108); banco_de_dados/eda/versoes_fatorial/cargas.csv; banco_de_dados/eda/versoes_fatorial/estabilidade.csv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234440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IVS · CENSO 2022 · CADERNO DE FICHAS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777240" y="162763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783080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108 versões da análise fatorial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77240" y="2788920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versão por página: renda × lixo × água canalizada × banheiro × moradia, todas com promax, pesos 60/40 e normalização municipal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5623560"/>
            <a:ext cx="10634472" cy="0"/>
          </a:xfrm>
          <a:prstGeom prst="line">
            <a:avLst/>
          </a:prstGeom>
          <a:noFill/>
          <a:ln w="9525">
            <a:solidFill>
              <a:srgbClr val="C8C6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760720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Pedro Dias Soares · outubro de 2026 · caderno v1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VF00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uma ficha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mesmo desenho nas 108 páginas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19072"/>
            <a:ext cx="960120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Código.  </a:t>
            </a:r>
            <a:pPr indent="0" marL="0"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V001 a V108, no canto superior direito; o mesmo da planilha e do deck principal.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2148078"/>
            <a:ext cx="960120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Selo.  </a:t>
            </a:r>
            <a:pPr indent="0" marL="0"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alto, à esquerda: se a versão passa nos quatro critérios do NB05 (KMO ≥ 0,70; MSA ≥ 0,50; comunalidade ≥ 0,30; carga ≥ 0,40) ou qual deles falha.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2786634"/>
            <a:ext cx="960120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versão.  </a:t>
            </a:r>
            <a:pPr indent="0" marL="0"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cinco eixos e quantos setores entram. Amostra própria: os setores com todas as variáveis da versão. Amostra comum: os que têm as variáveis de todas as 108.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3425190"/>
            <a:ext cx="960120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Adequação.  </a:t>
            </a:r>
            <a:pPr indent="0" marL="0"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KMO, Bartlett, o menor MSA, quantos fatores cada critério indica (a solução usa sempre 2), a variância, a correlação Φ e quanto o maior peso varia tirando um município por vez.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" y="4063746"/>
            <a:ext cx="960120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e pesos.  </a:t>
            </a:r>
            <a:pPr indent="0" marL="0"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padrão da promax: F1 é o fator onde a renda carrega mais.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77240" y="4492752"/>
            <a:ext cx="960120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 faixas.  </a:t>
            </a:r>
            <a:pPr indent="0" marL="0"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contra os setores de favela (FCU), a distribuição pelas faixas do IVS-BH e a comparação com a V023, a referência proposta.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VF01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PASSA: comunalidade &lt; 0,30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Versão V001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original · com lixo · água: só a inadequada · banheiro fora · moradia fora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09928"/>
          <a:ext cx="2926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original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própria)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comum)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67.981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840480" y="1673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</a:t>
            </a:r>
            <a:endParaRPr lang="en-US" sz="12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709928"/>
          <a:ext cx="3429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0,7826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qui-quadrado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235.084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graus de liberdade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mínimo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0,700 (Lixo inadequado)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de Horn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retidos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dos 2 fatores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62,12%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 entre F1 e F2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variação de peso (um município de fora)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12,73 p.p.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406640" y="16733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e pesos (promax, matriz padrão)</a:t>
            </a:r>
            <a:endParaRPr lang="en-US" sz="1200" dirty="0"/>
          </a:p>
        </p:txBody>
      </p:sp>
      <p:graphicFrame>
        <p:nvGraphicFramePr>
          <p:cNvPr id="1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984248"/>
          <a:ext cx="4005072" cy="914400"/>
        </p:xfrm>
        <a:graphic>
          <a:graphicData uri="http://schemas.openxmlformats.org/drawingml/2006/table">
            <a:tbl>
              <a:tblPr/>
              <a:tblGrid>
                <a:gridCol w="1490472"/>
                <a:gridCol w="530352"/>
                <a:gridCol w="530352"/>
                <a:gridCol w="868680"/>
                <a:gridCol w="585216"/>
              </a:tblGrid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0,479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0,253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4,25%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0,625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0,470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7,25%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0,915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40,00%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0,707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-0,439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0,599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9,28%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-0,005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0,681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12,68%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13,65%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0,725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12,89%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777240" y="4636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 faixas</a:t>
            </a:r>
            <a:endParaRPr lang="en-US" sz="1200" dirty="0"/>
          </a:p>
        </p:txBody>
      </p:sp>
      <p:graphicFrame>
        <p:nvGraphicFramePr>
          <p:cNvPr id="1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946904"/>
          <a:ext cx="106344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463040"/>
                <a:gridCol w="1051560"/>
                <a:gridCol w="1051560"/>
                <a:gridCol w="1051560"/>
                <a:gridCol w="1234440"/>
                <a:gridCol w="1234440"/>
                <a:gridCol w="1261872"/>
              </a:tblGrid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(própria)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(comum)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 (comum, nº mun.)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baixa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média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muito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com a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 de faixa vs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0,8365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0,8440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0,8120 (30)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30,4%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50,0%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11,1%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8,6%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0,7962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38,6%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777240" y="5619115"/>
            <a:ext cx="10634472" cy="294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Kaiser e Horn indicam 2 e 2 fatores; a solução usa 2, que somam 62,12% da variância. A maior carga em F1 é de Renda (invertida); em F2, de Lixo inadequado.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V001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PASSA: comunalidade &lt; 0,30; carga &lt; 0,40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Versão V002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original · com lixo · água: só a inadequada · banheiro fora · + moradia não convencional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09928"/>
          <a:ext cx="2926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original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não convencional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própria)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comum)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67.981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840480" y="1673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</a:t>
            </a:r>
            <a:endParaRPr lang="en-US" sz="12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709928"/>
          <a:ext cx="3429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0,7826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qui-quadrado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235.721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graus de liberdade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mínimo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0,700 (Lixo inadequado)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de Horn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retidos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dos 2 fatores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54,45%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 entre F1 e F2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variação de peso (um município de fora)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12,64 p.p.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406640" y="16733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e pesos (promax, matriz padrão)</a:t>
            </a:r>
            <a:endParaRPr lang="en-US" sz="120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984248"/>
          <a:ext cx="4005072" cy="914400"/>
        </p:xfrm>
        <a:graphic>
          <a:graphicData uri="http://schemas.openxmlformats.org/drawingml/2006/table">
            <a:tbl>
              <a:tblPr/>
              <a:tblGrid>
                <a:gridCol w="1490472"/>
                <a:gridCol w="530352"/>
                <a:gridCol w="530352"/>
                <a:gridCol w="868680"/>
                <a:gridCol w="585216"/>
              </a:tblGrid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0,478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0,254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4,24%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0,625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0,470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7,24%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0,913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40,00%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0,706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-0,441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0,600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9,24%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-0,007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0,681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12,65%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13,61%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0,725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12,87%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777240" y="4636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 faixas</a:t>
            </a:r>
            <a:endParaRPr lang="en-US" sz="1200" dirty="0"/>
          </a:p>
        </p:txBody>
      </p:sp>
      <p:graphicFrame>
        <p:nvGraphicFramePr>
          <p:cNvPr id="1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946904"/>
          <a:ext cx="106344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463040"/>
                <a:gridCol w="1051560"/>
                <a:gridCol w="1051560"/>
                <a:gridCol w="1051560"/>
                <a:gridCol w="1234440"/>
                <a:gridCol w="1234440"/>
                <a:gridCol w="1261872"/>
              </a:tblGrid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(própria)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(comum)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 (comum, nº mun.)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baixa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média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muito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com a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 de faixa vs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0,8365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0,8439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0,8120 (30)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30,4%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50,0%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11,1%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8,6%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0,7961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38,6%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777240" y="5619115"/>
            <a:ext cx="10634472" cy="294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Kaiser e Horn indicam 2 e 2 fatores; a solução usa 2, que somam 54,45% da variância. A maior carga em F1 é de Renda (invertida); em F2, de Lixo inadequado.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V002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PASSA NOS CRITÉRIOS DO NB05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Versão V003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original · com lixo · água: só a inadequada · + sem banheiro · moradia fora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09928"/>
          <a:ext cx="2926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original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sem banheiro (V00495)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própria)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75.955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comum)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67.981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840480" y="1673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</a:t>
            </a:r>
            <a:endParaRPr lang="en-US" sz="12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709928"/>
          <a:ext cx="3429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0,7915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qui-quadrado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211.934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graus de liberdade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mínimo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0,691 (Lixo inadequado)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de Horn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retidos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dos 2 fatores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56,37%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 entre F1 e F2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0,394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variação de peso (um município de fora)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28,22 p.p.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406640" y="16733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e pesos (promax, matriz padrão)</a:t>
            </a:r>
            <a:endParaRPr lang="en-US" sz="1200" dirty="0"/>
          </a:p>
        </p:txBody>
      </p:sp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984248"/>
          <a:ext cx="4005072" cy="914400"/>
        </p:xfrm>
        <a:graphic>
          <a:graphicData uri="http://schemas.openxmlformats.org/drawingml/2006/table">
            <a:tbl>
              <a:tblPr/>
              <a:tblGrid>
                <a:gridCol w="1490472"/>
                <a:gridCol w="530352"/>
                <a:gridCol w="530352"/>
                <a:gridCol w="868680"/>
                <a:gridCol w="585216"/>
              </a:tblGrid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0,585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9,24%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0,363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0,495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0,519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6,61%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-0,186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0,713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13,72%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-0,196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0,479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12,14%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-0,029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16,41%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17,00%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14,45%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0,622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10,43%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777240" y="4636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 faixas</a:t>
            </a:r>
            <a:endParaRPr lang="en-US" sz="1200" dirty="0"/>
          </a:p>
        </p:txBody>
      </p:sp>
      <p:graphicFrame>
        <p:nvGraphicFramePr>
          <p:cNvPr id="2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946904"/>
          <a:ext cx="106344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463040"/>
                <a:gridCol w="1051560"/>
                <a:gridCol w="1051560"/>
                <a:gridCol w="1051560"/>
                <a:gridCol w="1234440"/>
                <a:gridCol w="1234440"/>
                <a:gridCol w="1261872"/>
              </a:tblGrid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(própria)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(comum)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 (comum, nº mun.)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baixa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média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muito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com a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 de faixa vs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0,8593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0,8619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0,8453 (30)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29,4%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44,5%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19,0%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7,1%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0,9244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22,5%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777240" y="5619115"/>
            <a:ext cx="10634472" cy="294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Kaiser e Horn indicam 3 e 2 fatores; a solução usa 2, que somam 56,37% da variância. A maior carga em F1 é de Renda (invertida); em F2, de Lixo inadequado.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V003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PASSA: comunalidade &lt; 0,30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Versão V004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original · com lixo · água: só a inadequada · + sem banheiro · + moradia não convencional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09928"/>
          <a:ext cx="2926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original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sem banheiro (V00495)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não convencional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própria)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75.955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comum)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67.981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840480" y="1673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</a:t>
            </a:r>
            <a:endParaRPr lang="en-US" sz="12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709928"/>
          <a:ext cx="3429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0,7900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qui-quadrado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213.479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graus de liberdade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mínimo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0,680 (Moradia não convencional)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de Horn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retidos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dos 2 fatores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50,42%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 entre F1 e F2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0,367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variação de peso (um município de fora)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7,11 p.p.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406640" y="16733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e pesos (promax, matriz padrão)</a:t>
            </a:r>
            <a:endParaRPr lang="en-US" sz="1200" dirty="0"/>
          </a:p>
        </p:txBody>
      </p:sp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984248"/>
          <a:ext cx="4005072" cy="914400"/>
        </p:xfrm>
        <a:graphic>
          <a:graphicData uri="http://schemas.openxmlformats.org/drawingml/2006/table">
            <a:tbl>
              <a:tblPr/>
              <a:tblGrid>
                <a:gridCol w="1490472"/>
                <a:gridCol w="530352"/>
                <a:gridCol w="530352"/>
                <a:gridCol w="868680"/>
                <a:gridCol w="585216"/>
              </a:tblGrid>
              <a:tr h="207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0,548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8,00%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0,497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5,59%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-0,108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0,603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0,327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9,66%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0,721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-0,159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11,58%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-0,009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0,729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16,36%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17,30%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14,76%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-0,008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0,673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12,04%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-0,145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0,420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4,70%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777240" y="4636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 faixas</a:t>
            </a:r>
            <a:endParaRPr lang="en-US" sz="1200" dirty="0"/>
          </a:p>
        </p:txBody>
      </p:sp>
      <p:graphicFrame>
        <p:nvGraphicFramePr>
          <p:cNvPr id="2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946904"/>
          <a:ext cx="106344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463040"/>
                <a:gridCol w="1051560"/>
                <a:gridCol w="1051560"/>
                <a:gridCol w="1051560"/>
                <a:gridCol w="1234440"/>
                <a:gridCol w="1234440"/>
                <a:gridCol w="1261872"/>
              </a:tblGrid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(própria)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(comum)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 (comum, nº mun.)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baixa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média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muito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com a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 de faixa vs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0,8639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0,8668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0,8524 (30)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28,9%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43,6%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21,0%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0,9465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777240" y="5619115"/>
            <a:ext cx="10634472" cy="294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Kaiser e Horn indicam 3 e 3 fatores; a solução usa 2, que somam 50,42% da variância. A maior carga em F1 é de Renda (invertida); em F2, de Sem banheiro.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V004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PASSA: comunalidade &lt; 0,30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Versão V005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original · com lixo · água: só a inadequada · + banheiro graduado · moradia fora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09928"/>
          <a:ext cx="2926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original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banheiro graduado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própria)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comum)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67.981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840480" y="1673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</a:t>
            </a:r>
            <a:endParaRPr lang="en-US" sz="12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709928"/>
          <a:ext cx="3429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0,7741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qui-quadrado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192.172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graus de liberdade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mínimo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0,643 (Lixo inadequado)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de Horn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retidos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dos 2 fatores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54,29%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 entre F1 e F2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variação de peso (um município de fora)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16,17 p.p.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406640" y="16733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e pesos (promax, matriz padrão)</a:t>
            </a:r>
            <a:endParaRPr lang="en-US" sz="120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984248"/>
          <a:ext cx="4005072" cy="914400"/>
        </p:xfrm>
        <a:graphic>
          <a:graphicData uri="http://schemas.openxmlformats.org/drawingml/2006/table">
            <a:tbl>
              <a:tblPr/>
              <a:tblGrid>
                <a:gridCol w="1490472"/>
                <a:gridCol w="530352"/>
                <a:gridCol w="530352"/>
                <a:gridCol w="868680"/>
                <a:gridCol w="585216"/>
              </a:tblGrid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0,369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8,43%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0,406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0,492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6,29%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-0,140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0,713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15,60%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-0,239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0,478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11,78%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-0,038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0,725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16,32%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17,09%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14,80%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-0,052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0,562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0,299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9,68%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777240" y="4636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 faixas</a:t>
            </a:r>
            <a:endParaRPr lang="en-US" sz="1200" dirty="0"/>
          </a:p>
        </p:txBody>
      </p:sp>
      <p:graphicFrame>
        <p:nvGraphicFramePr>
          <p:cNvPr id="29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946904"/>
          <a:ext cx="106344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463040"/>
                <a:gridCol w="1051560"/>
                <a:gridCol w="1051560"/>
                <a:gridCol w="1051560"/>
                <a:gridCol w="1234440"/>
                <a:gridCol w="1234440"/>
                <a:gridCol w="1261872"/>
              </a:tblGrid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(própria)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(comum)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 (comum, nº mun.)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baixa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média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muito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com a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 de faixa vs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0,8573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0,8611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0,8460 (30)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29,5%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44,7%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18,7%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7,1%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0,9146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23,1%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777240" y="5619115"/>
            <a:ext cx="10634472" cy="294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Kaiser e Horn indicam 3 e 3 fatores; a solução usa 2, que somam 54,29% da variância. A maior carga em F1 é de Renda (invertida); em F2, de Lixo inadequado.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V005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PASSA: comunalidade &lt; 0,30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Versão V006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original · com lixo · água: só a inadequada · + banheiro graduado · + moradia não convencional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09928"/>
          <a:ext cx="2926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original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banheiro graduado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não convencional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própria)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comum)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67.981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840480" y="1673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</a:t>
            </a:r>
            <a:endParaRPr lang="en-US" sz="12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709928"/>
          <a:ext cx="3429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0,7724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qui-quadrado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193.549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graus de liberdade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mínimo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0,637 (Moradia não convencional)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de Horn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retidos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dos 2 fatores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48,57%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 entre F1 e F2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0,313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variação de peso (um município de fora)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31,46 p.p.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406640" y="16733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e pesos (promax, matriz padrão)</a:t>
            </a:r>
            <a:endParaRPr lang="en-US" sz="1200" dirty="0"/>
          </a:p>
        </p:txBody>
      </p:sp>
      <p:graphicFrame>
        <p:nvGraphicFramePr>
          <p:cNvPr id="2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984248"/>
          <a:ext cx="4005072" cy="914400"/>
        </p:xfrm>
        <a:graphic>
          <a:graphicData uri="http://schemas.openxmlformats.org/drawingml/2006/table">
            <a:tbl>
              <a:tblPr/>
              <a:tblGrid>
                <a:gridCol w="1490472"/>
                <a:gridCol w="530352"/>
                <a:gridCol w="530352"/>
                <a:gridCol w="868680"/>
                <a:gridCol w="585216"/>
              </a:tblGrid>
              <a:tr h="207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0,226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0,328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7,26%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0,381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4,24%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-0,040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0,559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10,70%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0,705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-0,204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0,449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10,20%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-0,035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0,719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15,11%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0,889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-0,006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16,22%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0,069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14,22%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-0,084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0,663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15,08%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-0,121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6,96%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777240" y="4636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 faixas</a:t>
            </a:r>
            <a:endParaRPr lang="en-US" sz="1200" dirty="0"/>
          </a:p>
        </p:txBody>
      </p:sp>
      <p:graphicFrame>
        <p:nvGraphicFramePr>
          <p:cNvPr id="3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946904"/>
          <a:ext cx="106344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463040"/>
                <a:gridCol w="1051560"/>
                <a:gridCol w="1051560"/>
                <a:gridCol w="1051560"/>
                <a:gridCol w="1234440"/>
                <a:gridCol w="1234440"/>
                <a:gridCol w="1261872"/>
              </a:tblGrid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(própria)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(comum)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 (comum, nº mun.)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baixa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média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muito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com a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 de faixa vs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0,8619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0,8660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0,8531 (30)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43,8%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6,6%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0,9368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20,4%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777240" y="5619115"/>
            <a:ext cx="10634472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Kaiser e Horn indicam 3 e 3 fatores; a solução usa 2, que somam 48,57% da variância. A maior carga em F1 é de Renda (invertida); em F2, de Banheiro graduado.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V006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PASSA: comunalidade &lt; 0,30; carga &lt; 0,40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Versão V007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original · com lixo · + água não chega · banheiro fora · moradia fora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09928"/>
          <a:ext cx="2926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original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não chega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própria)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78.256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comum)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67.981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840480" y="1673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</a:t>
            </a:r>
            <a:endParaRPr lang="en-US" sz="12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709928"/>
          <a:ext cx="3429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0,7803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qui-quadrado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232.556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graus de liberdade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mínimo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0,693 (Água inadequada)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de Horn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retidos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dos 2 fatores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58,51%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 entre F1 e F2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variação de peso (um município de fora)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5,09 p.p.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406640" y="16733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e pesos (promax, matriz padrão)</a:t>
            </a:r>
            <a:endParaRPr lang="en-US" sz="1200" dirty="0"/>
          </a:p>
        </p:txBody>
      </p:sp>
      <p:graphicFrame>
        <p:nvGraphicFramePr>
          <p:cNvPr id="28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984248"/>
          <a:ext cx="4005072" cy="914400"/>
        </p:xfrm>
        <a:graphic>
          <a:graphicData uri="http://schemas.openxmlformats.org/drawingml/2006/table">
            <a:tbl>
              <a:tblPr/>
              <a:tblGrid>
                <a:gridCol w="1490472"/>
                <a:gridCol w="530352"/>
                <a:gridCol w="530352"/>
                <a:gridCol w="868680"/>
                <a:gridCol w="585216"/>
              </a:tblGrid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-0,041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0,684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16,37%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0,495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4,79%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2,54%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0,676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-0,098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9,71%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-0,081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17,13%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-0,043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18,12%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15,04%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-0,104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0,644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16,31%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777240" y="4636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 faixas</a:t>
            </a:r>
            <a:endParaRPr lang="en-US" sz="1200" dirty="0"/>
          </a:p>
        </p:txBody>
      </p:sp>
      <p:graphicFrame>
        <p:nvGraphicFramePr>
          <p:cNvPr id="3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946904"/>
          <a:ext cx="106344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463040"/>
                <a:gridCol w="1051560"/>
                <a:gridCol w="1051560"/>
                <a:gridCol w="1051560"/>
                <a:gridCol w="1234440"/>
                <a:gridCol w="1234440"/>
                <a:gridCol w="1261872"/>
              </a:tblGrid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(própria)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(comum)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 (comum, nº mun.)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baixa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média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muito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com a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 de faixa vs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0,8417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0,8472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0,8311 (30)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42,2%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23,9%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5,2%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0,9916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777240" y="5619115"/>
            <a:ext cx="10634472" cy="294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Kaiser e Horn indicam 3 e 3 fatores; a solução usa 2, que somam 58,51% da variância. A maior carga em F1 é de Renda (invertida); em F2, de Água inadequada.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V007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PASSA: comunalidade &lt; 0,30; carga &lt; 0,40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Versão V008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original · com lixo · + água não chega · banheiro fora · + moradia não convencional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09928"/>
          <a:ext cx="2926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original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não chega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não convencional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própria)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78.256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comum)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67.981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840480" y="1673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</a:t>
            </a:r>
            <a:endParaRPr lang="en-US" sz="12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709928"/>
          <a:ext cx="3429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0,7805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qui-quadrado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233.212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graus de liberdade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mínimo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0,694 (Água inadequada)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de Horn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retidos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dos 2 fatores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52,10%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 entre F1 e F2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variação de peso (um município de fora)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5,02 p.p.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406640" y="16733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e pesos (promax, matriz padrão)</a:t>
            </a:r>
            <a:endParaRPr lang="en-US" sz="1200" dirty="0"/>
          </a:p>
        </p:txBody>
      </p:sp>
      <p:graphicFrame>
        <p:nvGraphicFramePr>
          <p:cNvPr id="31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984248"/>
          <a:ext cx="4005072" cy="914400"/>
        </p:xfrm>
        <a:graphic>
          <a:graphicData uri="http://schemas.openxmlformats.org/drawingml/2006/table">
            <a:tbl>
              <a:tblPr/>
              <a:tblGrid>
                <a:gridCol w="1490472"/>
                <a:gridCol w="530352"/>
                <a:gridCol w="530352"/>
                <a:gridCol w="868680"/>
                <a:gridCol w="585216"/>
              </a:tblGrid>
              <a:tr h="207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-0,040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0,684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16,37%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0,495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4,77%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2,53%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0,675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-0,098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0,408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9,63%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0,899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-0,083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17,08%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-0,044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18,04%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0,049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15,00%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-0,104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0,645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16,32%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0,25%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777240" y="4636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 faixas</a:t>
            </a:r>
            <a:endParaRPr lang="en-US" sz="1200" dirty="0"/>
          </a:p>
        </p:txBody>
      </p:sp>
      <p:graphicFrame>
        <p:nvGraphicFramePr>
          <p:cNvPr id="4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946904"/>
          <a:ext cx="106344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463040"/>
                <a:gridCol w="1051560"/>
                <a:gridCol w="1051560"/>
                <a:gridCol w="1051560"/>
                <a:gridCol w="1234440"/>
                <a:gridCol w="1234440"/>
                <a:gridCol w="1261872"/>
              </a:tblGrid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(própria)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(comum)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 (comum, nº mun.)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baixa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média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muito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com a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 de faixa vs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0,8417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0,8473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0,8310 (30)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42,2%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5,2%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0,9916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777240" y="5619115"/>
            <a:ext cx="10634472" cy="294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Kaiser e Horn indicam 3 e 3 fatores; a solução usa 2, que somam 52,10% da variância. A maior carga em F1 é de Renda (invertida); em F2, de Água inadequada.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V008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PASSA: comunalidade &lt; 0,30; carga &lt; 0,40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Versão V009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original · com lixo · + água não chega · + sem banheiro · moradia fora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09928"/>
          <a:ext cx="2926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original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não chega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sem banheiro (V00495)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própria)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69.480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comum)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67.981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840480" y="1673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709928"/>
          <a:ext cx="3429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0,7839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qui-quadrado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216.122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graus de liberdade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mínimo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0,693 (Lixo inadequado)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de Horn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retidos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dos 2 fatores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54,63%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 entre F1 e F2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0,414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variação de peso (um município de fora)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3,36 p.p.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406640" y="16733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e pesos (promax, matriz padrão)</a:t>
            </a:r>
            <a:endParaRPr lang="en-US" sz="1200" dirty="0"/>
          </a:p>
        </p:txBody>
      </p:sp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984248"/>
          <a:ext cx="4005072" cy="914400"/>
        </p:xfrm>
        <a:graphic>
          <a:graphicData uri="http://schemas.openxmlformats.org/drawingml/2006/table">
            <a:tbl>
              <a:tblPr/>
              <a:tblGrid>
                <a:gridCol w="1490472"/>
                <a:gridCol w="530352"/>
                <a:gridCol w="530352"/>
                <a:gridCol w="868680"/>
                <a:gridCol w="585216"/>
              </a:tblGrid>
              <a:tr h="207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0,543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10,85%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0,409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3,40%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0,313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1,99%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0,673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-0,092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9,62%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-0,069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16,87%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-0,043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18,03%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15,48%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-0,098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0,633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14,04%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-0,059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0,691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9,71%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777240" y="4636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 faixas</a:t>
            </a:r>
            <a:endParaRPr lang="en-US" sz="1200" dirty="0"/>
          </a:p>
        </p:txBody>
      </p:sp>
      <p:graphicFrame>
        <p:nvGraphicFramePr>
          <p:cNvPr id="4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946904"/>
          <a:ext cx="106344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463040"/>
                <a:gridCol w="1051560"/>
                <a:gridCol w="1051560"/>
                <a:gridCol w="1051560"/>
                <a:gridCol w="1234440"/>
                <a:gridCol w="1234440"/>
                <a:gridCol w="1261872"/>
              </a:tblGrid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(própria)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(comum)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 (comum, nº mun.)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baixa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média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muito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com a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 de faixa vs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0,8541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0,8522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0,8493 (30)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28,6%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26,1%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0,9886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9,3%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777240" y="5619115"/>
            <a:ext cx="10634472" cy="294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Kaiser e Horn indicam 3 e 3 fatores; a solução usa 2, que somam 54,63% da variância. A maior carga em F1 é de Renda (invertida); em F2, de Água não chega.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V009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PASSA: comunalidade &lt; 0,30; carga &lt; 0,40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Versão V010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original · com lixo · + água não chega · + sem banheiro · + moradia não convencional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09928"/>
          <a:ext cx="2926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original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não chega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sem banheiro (V00495)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não convencional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própria)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69.480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comum)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67.981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840480" y="1673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</a:t>
            </a:r>
            <a:endParaRPr lang="en-US" sz="12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709928"/>
          <a:ext cx="3429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0,7825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qui-quadrado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217.615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graus de liberdade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mínimo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0,673 (Moradia não convencional)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de Horn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retidos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dos 2 fatores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49,30%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 entre F1 e F2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0,416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variação de peso (um município de fora)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3,40 p.p.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406640" y="16733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e pesos (promax, matriz padrão)</a:t>
            </a:r>
            <a:endParaRPr lang="en-US" sz="1200" dirty="0"/>
          </a:p>
        </p:txBody>
      </p:sp>
      <p:graphicFrame>
        <p:nvGraphicFramePr>
          <p:cNvPr id="3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984248"/>
          <a:ext cx="4005072" cy="914400"/>
        </p:xfrm>
        <a:graphic>
          <a:graphicData uri="http://schemas.openxmlformats.org/drawingml/2006/table">
            <a:tbl>
              <a:tblPr/>
              <a:tblGrid>
                <a:gridCol w="1490472"/>
                <a:gridCol w="530352"/>
                <a:gridCol w="530352"/>
                <a:gridCol w="868680"/>
                <a:gridCol w="585216"/>
              </a:tblGrid>
              <a:tr h="207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0,724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0,535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10,60%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0,405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3,32%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0,310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1,94%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0,675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-0,097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9,66%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-0,069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16,84%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-0,045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18,02%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15,47%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-0,097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0,624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13,79%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0,701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9,94%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777240" y="4636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 faixas</a:t>
            </a:r>
            <a:endParaRPr lang="en-US" sz="1200" dirty="0"/>
          </a:p>
        </p:txBody>
      </p:sp>
      <p:graphicFrame>
        <p:nvGraphicFramePr>
          <p:cNvPr id="49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946904"/>
          <a:ext cx="106344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463040"/>
                <a:gridCol w="1051560"/>
                <a:gridCol w="1051560"/>
                <a:gridCol w="1051560"/>
                <a:gridCol w="1234440"/>
                <a:gridCol w="1234440"/>
                <a:gridCol w="1261872"/>
              </a:tblGrid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(própria)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(comum)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 (comum, nº mun.)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baixa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média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muito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com a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 de faixa vs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0,8543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0,8525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0,8497 (30)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28,6%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40,4%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26,2%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0,9881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9,4%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777240" y="5619115"/>
            <a:ext cx="10634472" cy="294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Kaiser e Horn indicam 4 e 4 fatores; a solução usa 2, que somam 49,30% da variância. A maior carga em F1 é de Renda (invertida); em F2, de Água não chega.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V010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PASSA: comunalidade &lt; 0,30; carga &lt; 0,40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Versão V011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original · com lixo · + água não chega · + banheiro graduado · moradia fora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09928"/>
          <a:ext cx="2926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original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não chega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banheiro graduado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própria)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68.001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comum)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67.981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840480" y="1673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</a:t>
            </a:r>
            <a:endParaRPr lang="en-US" sz="120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709928"/>
          <a:ext cx="3429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0,7670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qui-quadrado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191.836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graus de liberdade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mínimo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0,637 (Lixo inadequado)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de Horn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retidos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dos 2 fatores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51,86%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 entre F1 e F2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0,360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variação de peso (um município de fora)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3,43 p.p.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406640" y="16733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e pesos (promax, matriz padrão)</a:t>
            </a:r>
            <a:endParaRPr lang="en-US" sz="1200" dirty="0"/>
          </a:p>
        </p:txBody>
      </p:sp>
      <p:graphicFrame>
        <p:nvGraphicFramePr>
          <p:cNvPr id="4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984248"/>
          <a:ext cx="4005072" cy="914400"/>
        </p:xfrm>
        <a:graphic>
          <a:graphicData uri="http://schemas.openxmlformats.org/drawingml/2006/table">
            <a:tbl>
              <a:tblPr/>
              <a:tblGrid>
                <a:gridCol w="1490472"/>
                <a:gridCol w="530352"/>
                <a:gridCol w="530352"/>
                <a:gridCol w="868680"/>
                <a:gridCol w="585216"/>
              </a:tblGrid>
              <a:tr h="207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0,558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12,63%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0,399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0,404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0,439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3,77%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0,286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1,88%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0,662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-0,096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0,402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9,49%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16,87%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0,915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-0,037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18,11%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15,53%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-0,093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0,590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14,61%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-0,092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0,556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0,281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7,12%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777240" y="4636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 faixas</a:t>
            </a:r>
            <a:endParaRPr lang="en-US" sz="1200" dirty="0"/>
          </a:p>
        </p:txBody>
      </p:sp>
      <p:graphicFrame>
        <p:nvGraphicFramePr>
          <p:cNvPr id="5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946904"/>
          <a:ext cx="106344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463040"/>
                <a:gridCol w="1051560"/>
                <a:gridCol w="1051560"/>
                <a:gridCol w="1051560"/>
                <a:gridCol w="1234440"/>
                <a:gridCol w="1234440"/>
                <a:gridCol w="1261872"/>
              </a:tblGrid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(própria)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(comum)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 (comum, nº mun.)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baixa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média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muito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com a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 de faixa vs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0,8471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0,8473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0,8456 (30)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28,7%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40,3%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26,2%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4,9%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0,9929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8,7%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777240" y="5619115"/>
            <a:ext cx="10634472" cy="294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Kaiser e Horn indicam 3 e 3 fatores; a solução usa 2, que somam 51,86% da variância. A maior carga em F1 é de Renda (invertida); em F2, de Água não chega.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V011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PASSA: comunalidade &lt; 0,30; carga &lt; 0,40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Versão V012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original · com lixo · + água não chega · + banheiro graduado · + moradia não convencional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09928"/>
          <a:ext cx="2926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original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não chega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banheiro graduado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não convencional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própria)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68.001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comum)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67.981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840480" y="1673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</a:t>
            </a:r>
            <a:endParaRPr lang="en-US" sz="1200" dirty="0"/>
          </a:p>
        </p:txBody>
      </p:sp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709928"/>
          <a:ext cx="3429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0,7654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qui-quadrado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193.209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graus de liberdade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mínimo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0,635 (Lixo inadequado)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de Horn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retidos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dos 2 fatores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46,79%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 entre F1 e F2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0,362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variação de peso (um município de fora)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3,46 p.p.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406640" y="16733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e pesos (promax, matriz padrão)</a:t>
            </a:r>
            <a:endParaRPr lang="en-US" sz="1200" dirty="0"/>
          </a:p>
        </p:txBody>
      </p:sp>
      <p:graphicFrame>
        <p:nvGraphicFramePr>
          <p:cNvPr id="4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984248"/>
          <a:ext cx="4005072" cy="914400"/>
        </p:xfrm>
        <a:graphic>
          <a:graphicData uri="http://schemas.openxmlformats.org/drawingml/2006/table">
            <a:tbl>
              <a:tblPr/>
              <a:tblGrid>
                <a:gridCol w="1490472"/>
                <a:gridCol w="530352"/>
                <a:gridCol w="530352"/>
                <a:gridCol w="868680"/>
                <a:gridCol w="585216"/>
              </a:tblGrid>
              <a:tr h="207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0,547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13,52%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0,401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0,399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3,29%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0,283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2,02%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0,664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-0,100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0,402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9,00%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15,92%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0,915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-0,038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17,11%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14,68%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-0,091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0,789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0,580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15,74%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-0,099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0,573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0,297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8,29%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777240" y="4636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 faixas</a:t>
            </a:r>
            <a:endParaRPr lang="en-US" sz="1200" dirty="0"/>
          </a:p>
        </p:txBody>
      </p:sp>
      <p:graphicFrame>
        <p:nvGraphicFramePr>
          <p:cNvPr id="5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946904"/>
          <a:ext cx="106344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463040"/>
                <a:gridCol w="1051560"/>
                <a:gridCol w="1051560"/>
                <a:gridCol w="1051560"/>
                <a:gridCol w="1234440"/>
                <a:gridCol w="1234440"/>
                <a:gridCol w="1261872"/>
              </a:tblGrid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(própria)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(comum)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 (comum, nº mun.)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baixa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média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muito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com a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 de faixa vs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0,8454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0,8456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0,8425 (30)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28,7%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40,6%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25,9%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0,9930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777240" y="5619115"/>
            <a:ext cx="10634472" cy="294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Kaiser e Horn indicam 4 e 4 fatores; a solução usa 2, que somam 46,79% da variância. A maior carga em F1 é de Renda (invertida); em F2, de Água não chega.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V012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PASSA: comunalidade &lt; 0,30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Versão V013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original · com lixo · + sem água canalizada · banheiro fora · moradia fora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</a:t>
            </a:r>
            <a:endParaRPr lang="en-US" sz="1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09928"/>
          <a:ext cx="2926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original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sem canalização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própria)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87.512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comum)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67.981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840480" y="1673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</a:t>
            </a:r>
            <a:endParaRPr lang="en-US" sz="1200" dirty="0"/>
          </a:p>
        </p:txBody>
      </p:sp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709928"/>
          <a:ext cx="3429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0,8051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qui-quadrado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271.498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graus de liberdade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mínimo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0,733 (Lixo inadequado)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de Horn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retidos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dos 2 fatores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59,24%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 entre F1 e F2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variação de peso (um município de fora)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8,80 p.p.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406640" y="16733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e pesos (promax, matriz padrão)</a:t>
            </a:r>
            <a:endParaRPr lang="en-US" sz="1200" dirty="0"/>
          </a:p>
        </p:txBody>
      </p:sp>
      <p:graphicFrame>
        <p:nvGraphicFramePr>
          <p:cNvPr id="4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984248"/>
          <a:ext cx="4005072" cy="914400"/>
        </p:xfrm>
        <a:graphic>
          <a:graphicData uri="http://schemas.openxmlformats.org/drawingml/2006/table">
            <a:tbl>
              <a:tblPr/>
              <a:tblGrid>
                <a:gridCol w="1490472"/>
                <a:gridCol w="530352"/>
                <a:gridCol w="530352"/>
                <a:gridCol w="868680"/>
                <a:gridCol w="585216"/>
              </a:tblGrid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-0,042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0,596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14,11%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0,516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6,22%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-0,141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0,574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0,277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7,45%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-0,160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12,17%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0,870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-0,021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16,97%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0,877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17,24%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13,62%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0,610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12,22%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777240" y="4636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 faixas</a:t>
            </a:r>
            <a:endParaRPr lang="en-US" sz="1200" dirty="0"/>
          </a:p>
        </p:txBody>
      </p:sp>
      <p:graphicFrame>
        <p:nvGraphicFramePr>
          <p:cNvPr id="6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946904"/>
          <a:ext cx="106344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463040"/>
                <a:gridCol w="1051560"/>
                <a:gridCol w="1051560"/>
                <a:gridCol w="1051560"/>
                <a:gridCol w="1234440"/>
                <a:gridCol w="1234440"/>
                <a:gridCol w="1261872"/>
              </a:tblGrid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(própria)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(comum)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 (comum, nº mun.)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baixa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média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muito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com a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 de faixa vs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0,8444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0,8553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0,8235 (30)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29,1%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44,0%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20,7%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6,3%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0,9685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777240" y="5619115"/>
            <a:ext cx="10634472" cy="294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Kaiser e Horn indicam 3 e 3 fatores; a solução usa 2, que somam 59,24% da variância. A maior carga em F1 é de Renda (invertida); em F2, de Água inadequada.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V013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PASSA: comunalidade &lt; 0,30; carga &lt; 0,40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Versão V014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original · com lixo · + sem água canalizada · banheiro fora · + moradia não convencional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09928"/>
          <a:ext cx="2926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original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sem canalização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não convencional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própria)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87.512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comum)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67.981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840480" y="1673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</a:t>
            </a:r>
            <a:endParaRPr lang="en-US" sz="1200" dirty="0"/>
          </a:p>
        </p:txBody>
      </p:sp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709928"/>
          <a:ext cx="3429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0,8051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qui-quadrado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272.211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graus de liberdade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mínimo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0,732 (Lixo inadequado)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de Horn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retidos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dos 2 fatores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52,75%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 entre F1 e F2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variação de peso (um município de fora)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8,64 p.p.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406640" y="16733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e pesos (promax, matriz padrão)</a:t>
            </a:r>
            <a:endParaRPr lang="en-US" sz="1200" dirty="0"/>
          </a:p>
        </p:txBody>
      </p:sp>
      <p:graphicFrame>
        <p:nvGraphicFramePr>
          <p:cNvPr id="4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984248"/>
          <a:ext cx="4005072" cy="914400"/>
        </p:xfrm>
        <a:graphic>
          <a:graphicData uri="http://schemas.openxmlformats.org/drawingml/2006/table">
            <a:tbl>
              <a:tblPr/>
              <a:tblGrid>
                <a:gridCol w="1490472"/>
                <a:gridCol w="530352"/>
                <a:gridCol w="530352"/>
                <a:gridCol w="868680"/>
                <a:gridCol w="585216"/>
              </a:tblGrid>
              <a:tr h="207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-0,042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0,789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0,594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14,02%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0,309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0,514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6,15%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-0,138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0,569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0,272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7,31%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-0,162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12,17%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0,871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16,96%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0,878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17,26%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13,61%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0,610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12,19%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777240" y="4636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 faixas</a:t>
            </a:r>
            <a:endParaRPr lang="en-US" sz="1200" dirty="0"/>
          </a:p>
        </p:txBody>
      </p:sp>
      <p:graphicFrame>
        <p:nvGraphicFramePr>
          <p:cNvPr id="6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946904"/>
          <a:ext cx="106344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463040"/>
                <a:gridCol w="1051560"/>
                <a:gridCol w="1051560"/>
                <a:gridCol w="1051560"/>
                <a:gridCol w="1234440"/>
                <a:gridCol w="1234440"/>
                <a:gridCol w="1261872"/>
              </a:tblGrid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(própria)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(comum)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 (comum, nº mun.)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baixa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média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muito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com a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 de faixa vs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0,8445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0,8554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0,8240 (30)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29,0%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44,0%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6,2%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0,9692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18,6%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777240" y="5619115"/>
            <a:ext cx="10634472" cy="294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Kaiser e Horn indicam 3 e 3 fatores; a solução usa 2, que somam 52,75% da variância. A maior carga em F1 é de Renda (invertida); em F2, de Água inadequada.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V014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PASSA: comunalidade &lt; 0,30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Versão V015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original · com lixo · + sem água canalizada · + sem banheiro · moradia fora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09928"/>
          <a:ext cx="2926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original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sem canalização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sem banheiro (V00495)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própria)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75.927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comum)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67.981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840480" y="1673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</a:t>
            </a:r>
            <a:endParaRPr lang="en-US" sz="1200" dirty="0"/>
          </a:p>
        </p:txBody>
      </p:sp>
      <p:graphicFrame>
        <p:nvGraphicFramePr>
          <p:cNvPr id="3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709928"/>
          <a:ext cx="3429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0,8105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qui-quadrado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243.281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graus de liberdade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mínimo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0,727 (Lixo inadequado)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de Horn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retidos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dos 2 fatores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54,91%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 entre F1 e F2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variação de peso (um município de fora)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4,62 p.p.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406640" y="16733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e pesos (promax, matriz padrão)</a:t>
            </a:r>
            <a:endParaRPr lang="en-US" sz="1200" dirty="0"/>
          </a:p>
        </p:txBody>
      </p:sp>
      <p:graphicFrame>
        <p:nvGraphicFramePr>
          <p:cNvPr id="5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984248"/>
          <a:ext cx="4005072" cy="914400"/>
        </p:xfrm>
        <a:graphic>
          <a:graphicData uri="http://schemas.openxmlformats.org/drawingml/2006/table">
            <a:tbl>
              <a:tblPr/>
              <a:tblGrid>
                <a:gridCol w="1490472"/>
                <a:gridCol w="530352"/>
                <a:gridCol w="530352"/>
                <a:gridCol w="868680"/>
                <a:gridCol w="585216"/>
              </a:tblGrid>
              <a:tr h="207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-0,036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0,544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11,30%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0,317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0,491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0,482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4,80%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-0,071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4,08%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0,699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-0,106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10,72%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-0,034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17,04%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0,900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17,79%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14,45%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0,049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0,599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11,22%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-0,070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0,657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8,60%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777240" y="4636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 faixas</a:t>
            </a:r>
            <a:endParaRPr lang="en-US" sz="1200" dirty="0"/>
          </a:p>
        </p:txBody>
      </p:sp>
      <p:graphicFrame>
        <p:nvGraphicFramePr>
          <p:cNvPr id="69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946904"/>
          <a:ext cx="106344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463040"/>
                <a:gridCol w="1051560"/>
                <a:gridCol w="1051560"/>
                <a:gridCol w="1051560"/>
                <a:gridCol w="1234440"/>
                <a:gridCol w="1234440"/>
                <a:gridCol w="1261872"/>
              </a:tblGrid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(própria)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(comum)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 (comum, nº mun.)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baixa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média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muito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com a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 de faixa vs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0,8512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0,8548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0,8428 (30)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28,7%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42,2%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5,6%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0,9839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10,9%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777240" y="5619115"/>
            <a:ext cx="10634472" cy="294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Kaiser e Horn indicam 3 e 3 fatores; a solução usa 2, que somam 54,91% da variância. A maior carga em F1 é de Renda (invertida); em F2, de Água inadequada.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V015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PASSA: comunalidade &lt; 0,30; carga &lt; 0,40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Versão V016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original · com lixo · + sem água canalizada · + sem banheiro · + moradia não convencional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</a:t>
            </a:r>
            <a:endParaRPr lang="en-US" sz="1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09928"/>
          <a:ext cx="2926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original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sem canalização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sem banheiro (V00495)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não convencional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própria)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75.927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comum)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67.981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840480" y="1673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</a:t>
            </a:r>
            <a:endParaRPr lang="en-US" sz="1200" dirty="0"/>
          </a:p>
        </p:txBody>
      </p:sp>
      <p:graphicFrame>
        <p:nvGraphicFramePr>
          <p:cNvPr id="3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709928"/>
          <a:ext cx="3429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0,8094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qui-quadrado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244.827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graus de liberdade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mínimo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0,713 (Moradia não convencional)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de Horn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retidos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dos 2 fatores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49,61%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 entre F1 e F2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0,445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variação de peso (um município de fora)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4,63 p.p.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406640" y="16733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e pesos (promax, matriz padrão)</a:t>
            </a:r>
            <a:endParaRPr lang="en-US" sz="1200" dirty="0"/>
          </a:p>
        </p:txBody>
      </p:sp>
      <p:graphicFrame>
        <p:nvGraphicFramePr>
          <p:cNvPr id="5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984248"/>
          <a:ext cx="4005072" cy="914400"/>
        </p:xfrm>
        <a:graphic>
          <a:graphicData uri="http://schemas.openxmlformats.org/drawingml/2006/table">
            <a:tbl>
              <a:tblPr/>
              <a:tblGrid>
                <a:gridCol w="1490472"/>
                <a:gridCol w="530352"/>
                <a:gridCol w="530352"/>
                <a:gridCol w="868680"/>
                <a:gridCol w="585216"/>
              </a:tblGrid>
              <a:tr h="207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-0,016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10,58%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0,329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0,477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0,476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4,52%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-0,056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3,76%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0,697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-0,105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10,74%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0,876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-0,027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16,95%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17,81%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14,50%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0,587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10,78%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-0,082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0,677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9,11%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-0,072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0,251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1,25%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777240" y="4636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 faixas</a:t>
            </a:r>
            <a:endParaRPr lang="en-US" sz="1200" dirty="0"/>
          </a:p>
        </p:txBody>
      </p:sp>
      <p:graphicFrame>
        <p:nvGraphicFramePr>
          <p:cNvPr id="7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946904"/>
          <a:ext cx="106344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463040"/>
                <a:gridCol w="1051560"/>
                <a:gridCol w="1051560"/>
                <a:gridCol w="1051560"/>
                <a:gridCol w="1234440"/>
                <a:gridCol w="1234440"/>
                <a:gridCol w="1261872"/>
              </a:tblGrid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(própria)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(comum)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 (comum, nº mun.)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baixa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média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muito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com a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 de faixa vs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0,8520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0,8554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0,8449 (30)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28,6%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42,0%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23,9%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0,9838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10,6%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777240" y="5619115"/>
            <a:ext cx="10634472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Kaiser e Horn indicam 4 e 3 fatores; a solução usa 2, que somam 49,61% da variância. A maior carga em F1 é de Renda (invertida); em F2, de Sem água canalizada.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V016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PASSA: comunalidade &lt; 0,30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Versão V017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original · com lixo · + sem água canalizada · + banheiro graduado · moradia fora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</a:t>
            </a:r>
            <a:endParaRPr lang="en-US" sz="1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09928"/>
          <a:ext cx="2926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original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sem canalização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banheiro graduado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própria)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73.854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comum)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67.981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840480" y="1673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</a:t>
            </a:r>
            <a:endParaRPr lang="en-US" sz="1200" dirty="0"/>
          </a:p>
        </p:txBody>
      </p:sp>
      <p:graphicFrame>
        <p:nvGraphicFramePr>
          <p:cNvPr id="3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709928"/>
          <a:ext cx="3429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0,7912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qui-quadrado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216.732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graus de liberdade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mínimo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0,677 (Lixo inadequado)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de Horn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retidos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dos 2 fatores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52,48%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 entre F1 e F2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0,399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variação de peso (um município de fora)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4,50 p.p.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406640" y="16733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e pesos (promax, matriz padrão)</a:t>
            </a:r>
            <a:endParaRPr lang="en-US" sz="1200" dirty="0"/>
          </a:p>
        </p:txBody>
      </p:sp>
      <p:graphicFrame>
        <p:nvGraphicFramePr>
          <p:cNvPr id="58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984248"/>
          <a:ext cx="4005072" cy="914400"/>
        </p:xfrm>
        <a:graphic>
          <a:graphicData uri="http://schemas.openxmlformats.org/drawingml/2006/table">
            <a:tbl>
              <a:tblPr/>
              <a:tblGrid>
                <a:gridCol w="1490472"/>
                <a:gridCol w="530352"/>
                <a:gridCol w="530352"/>
                <a:gridCol w="868680"/>
                <a:gridCol w="585216"/>
              </a:tblGrid>
              <a:tr h="207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-0,025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0,544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12,39%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0,476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5,03%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-0,053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0,425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4,00%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0,689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-0,117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0,424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10,57%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0,873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-0,026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16,99%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17,87%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0,739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14,57%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0,574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11,95%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-0,122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0,546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0,260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6,62%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777240" y="4636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 faixas</a:t>
            </a:r>
            <a:endParaRPr lang="en-US" sz="1200" dirty="0"/>
          </a:p>
        </p:txBody>
      </p:sp>
      <p:graphicFrame>
        <p:nvGraphicFramePr>
          <p:cNvPr id="7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946904"/>
          <a:ext cx="106344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463040"/>
                <a:gridCol w="1051560"/>
                <a:gridCol w="1051560"/>
                <a:gridCol w="1051560"/>
                <a:gridCol w="1234440"/>
                <a:gridCol w="1234440"/>
                <a:gridCol w="1261872"/>
              </a:tblGrid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(própria)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(comum)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 (comum, nº mun.)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baixa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média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muito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com a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 de faixa vs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0,8453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0,8513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0,8411 (30)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28,7%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41,9%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0,9873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9,7%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777240" y="5619115"/>
            <a:ext cx="10634472" cy="294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Kaiser e Horn indicam 3 e 3 fatores; a solução usa 2, que somam 52,48% da variância. A maior carga em F1 é de Renda (invertida); em F2, de Água inadequada.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V017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PASSA: comunalidade &lt; 0,30; carga &lt; 0,40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Versão V018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original · com lixo · + sem água canalizada · + banheiro graduado · + moradia não convencional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</a:t>
            </a:r>
            <a:endParaRPr lang="en-US" sz="1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09928"/>
          <a:ext cx="2926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original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sem canalização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banheiro graduado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não convencional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própria)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73.854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comum)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67.981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840480" y="1673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</a:t>
            </a:r>
            <a:endParaRPr lang="en-US" sz="1200" dirty="0"/>
          </a:p>
        </p:txBody>
      </p:sp>
      <p:graphicFrame>
        <p:nvGraphicFramePr>
          <p:cNvPr id="4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709928"/>
          <a:ext cx="3429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0,7898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qui-quadrado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218.120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graus de liberdade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mínimo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0,662 (Moradia não convencional)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de Horn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retidos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dos 2 fatores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47,38%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 entre F1 e F2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variação de peso (um município de fora)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4,46 p.p.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406640" y="16733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e pesos (promax, matriz padrão)</a:t>
            </a:r>
            <a:endParaRPr lang="en-US" sz="1200" dirty="0"/>
          </a:p>
        </p:txBody>
      </p:sp>
      <p:graphicFrame>
        <p:nvGraphicFramePr>
          <p:cNvPr id="61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984248"/>
          <a:ext cx="4005072" cy="914400"/>
        </p:xfrm>
        <a:graphic>
          <a:graphicData uri="http://schemas.openxmlformats.org/drawingml/2006/table">
            <a:tbl>
              <a:tblPr/>
              <a:tblGrid>
                <a:gridCol w="1490472"/>
                <a:gridCol w="530352"/>
                <a:gridCol w="530352"/>
                <a:gridCol w="868680"/>
                <a:gridCol w="585216"/>
              </a:tblGrid>
              <a:tr h="207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-0,002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0,720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0,518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11,52%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0,344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4,70%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-0,039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0,408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3,69%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0,687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-0,116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10,58%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-0,019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16,89%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17,89%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0,739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14,64%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0,717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0,560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11,43%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-0,141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0,581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0,293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7,50%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-0,054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0,229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1,16%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777240" y="4636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 faixas</a:t>
            </a:r>
            <a:endParaRPr lang="en-US" sz="1200" dirty="0"/>
          </a:p>
        </p:txBody>
      </p:sp>
      <p:graphicFrame>
        <p:nvGraphicFramePr>
          <p:cNvPr id="8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946904"/>
          <a:ext cx="106344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463040"/>
                <a:gridCol w="1051560"/>
                <a:gridCol w="1051560"/>
                <a:gridCol w="1051560"/>
                <a:gridCol w="1234440"/>
                <a:gridCol w="1234440"/>
                <a:gridCol w="1261872"/>
              </a:tblGrid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(própria)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(comum)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 (comum, nº mun.)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baixa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média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muito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com a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 de faixa vs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0,8462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0,8520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0,8430 (30)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28,6%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41,7%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24,3%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5,4%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0,9874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9,6%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777240" y="5619115"/>
            <a:ext cx="10634472" cy="294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Kaiser e Horn indicam 4 e 4 fatores; a solução usa 2, que somam 47,38% da variância. A maior carga em F1 é de Renda (invertida); em F2, de Água inadequada.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V018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PASSA NOS CRITÉRIOS DO NB05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Versão V019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original · sem lixo · água: só a inadequada · banheiro fora · moradia fora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</a:t>
            </a:r>
            <a:endParaRPr lang="en-US" sz="12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09928"/>
          <a:ext cx="2926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original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própria)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comum)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67.981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840480" y="1673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</a:t>
            </a:r>
            <a:endParaRPr lang="en-US" sz="1200" dirty="0"/>
          </a:p>
        </p:txBody>
      </p:sp>
      <p:graphicFrame>
        <p:nvGraphicFramePr>
          <p:cNvPr id="4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709928"/>
          <a:ext cx="3429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0,7870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qui-quadrado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225.320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graus de liberdade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mínimo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0,715 (Renda (invertida))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de Horn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retidos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dos 2 fatores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69,96%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 entre F1 e F2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variação de peso (um município de fora)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4,69 p.p.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406640" y="16733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e pesos (promax, matriz padrão)</a:t>
            </a:r>
            <a:endParaRPr lang="en-US" sz="1200" dirty="0"/>
          </a:p>
        </p:txBody>
      </p:sp>
      <p:graphicFrame>
        <p:nvGraphicFramePr>
          <p:cNvPr id="6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984248"/>
          <a:ext cx="4005072" cy="914400"/>
        </p:xfrm>
        <a:graphic>
          <a:graphicData uri="http://schemas.openxmlformats.org/drawingml/2006/table">
            <a:tbl>
              <a:tblPr/>
              <a:tblGrid>
                <a:gridCol w="1490472"/>
                <a:gridCol w="530352"/>
                <a:gridCol w="530352"/>
                <a:gridCol w="868680"/>
                <a:gridCol w="585216"/>
              </a:tblGrid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-0,211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27,95%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0,656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0,615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12,05%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0,490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0,380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5,17%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0,930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-0,111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18,63%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0,979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-0,113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20,64%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15,56%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777240" y="4636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 faixas</a:t>
            </a:r>
            <a:endParaRPr lang="en-US" sz="1200" dirty="0"/>
          </a:p>
        </p:txBody>
      </p:sp>
      <p:graphicFrame>
        <p:nvGraphicFramePr>
          <p:cNvPr id="8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946904"/>
          <a:ext cx="106344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463040"/>
                <a:gridCol w="1051560"/>
                <a:gridCol w="1051560"/>
                <a:gridCol w="1051560"/>
                <a:gridCol w="1234440"/>
                <a:gridCol w="1234440"/>
                <a:gridCol w="1261872"/>
              </a:tblGrid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(própria)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(comum)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 (comum, nº mun.)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baixa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média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muito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com a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 de faixa vs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0,8172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0,8338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0,8164 (30)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29,1%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46,0%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6,1%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0,9913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777240" y="5619115"/>
            <a:ext cx="10634472" cy="294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Kaiser e Horn indicam 1 e 1 fatores; a solução usa 2, que somam 69,96% da variância. A maior carga em F1 é de Renda (invertida); em F2, de Água inadequada.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V019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PASSA: comunalidade &lt; 0,30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Versão V020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original · sem lixo · água: só a inadequada · banheiro fora · + moradia não convencional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</a:t>
            </a:r>
            <a:endParaRPr lang="en-US" sz="12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09928"/>
          <a:ext cx="2926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original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não convencional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própria)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comum)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67.981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840480" y="1673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</a:t>
            </a:r>
            <a:endParaRPr lang="en-US" sz="1200" dirty="0"/>
          </a:p>
        </p:txBody>
      </p:sp>
      <p:graphicFrame>
        <p:nvGraphicFramePr>
          <p:cNvPr id="4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709928"/>
          <a:ext cx="3429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0,7871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qui-quadrado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225.954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graus de liberdade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mínimo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0,715 (Renda (invertida))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de Horn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retidos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dos 2 fatores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60,59%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 entre F1 e F2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variação de peso (um município de fora)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37,52 p.p.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406640" y="16733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e pesos (promax, matriz padrão)</a:t>
            </a:r>
            <a:endParaRPr lang="en-US" sz="1200" dirty="0"/>
          </a:p>
        </p:txBody>
      </p:sp>
      <p:graphicFrame>
        <p:nvGraphicFramePr>
          <p:cNvPr id="6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984248"/>
          <a:ext cx="4005072" cy="914400"/>
        </p:xfrm>
        <a:graphic>
          <a:graphicData uri="http://schemas.openxmlformats.org/drawingml/2006/table">
            <a:tbl>
              <a:tblPr/>
              <a:tblGrid>
                <a:gridCol w="1490472"/>
                <a:gridCol w="530352"/>
                <a:gridCol w="530352"/>
                <a:gridCol w="868680"/>
                <a:gridCol w="585216"/>
              </a:tblGrid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0,482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0,264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4,31%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0,654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7,93%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0,624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-0,045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0,383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7,21%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-0,039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0,685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12,82%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-0,049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0,764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14,33%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-0,002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0,723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13,40%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0,977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40,00%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777240" y="4636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 faixas</a:t>
            </a:r>
            <a:endParaRPr lang="en-US" sz="1200" dirty="0"/>
          </a:p>
        </p:txBody>
      </p:sp>
      <p:graphicFrame>
        <p:nvGraphicFramePr>
          <p:cNvPr id="89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946904"/>
          <a:ext cx="106344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463040"/>
                <a:gridCol w="1051560"/>
                <a:gridCol w="1051560"/>
                <a:gridCol w="1051560"/>
                <a:gridCol w="1234440"/>
                <a:gridCol w="1234440"/>
                <a:gridCol w="1261872"/>
              </a:tblGrid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(própria)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(comum)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 (comum, nº mun.)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baixa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média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muito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com a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 de faixa vs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0,8399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0,8520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0,8454 (30)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27,7%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45,9%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21,0%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5,4%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0,9602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777240" y="5619115"/>
            <a:ext cx="10634472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Kaiser e Horn indicam 1 e 1 fatores; a solução usa 2, que somam 60,59% da variância. A maior carga em F1 é de Renda (invertida); em F2, de Moradia não convencional.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V020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PASSA NOS CRITÉRIOS DO NB05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Versão V021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original · sem lixo · água: só a inadequada · + sem banheiro · moradia fora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</a:t>
            </a:r>
            <a:endParaRPr lang="en-US" sz="12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09928"/>
          <a:ext cx="2926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original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sem banheiro (V00495)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própria)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75.955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comum)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67.981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840480" y="1673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</a:t>
            </a:r>
            <a:endParaRPr lang="en-US" sz="1200" dirty="0"/>
          </a:p>
        </p:txBody>
      </p:sp>
      <p:graphicFrame>
        <p:nvGraphicFramePr>
          <p:cNvPr id="4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709928"/>
          <a:ext cx="3429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0,7967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qui-quadrado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203.868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graus de liberdade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mínimo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0,721 (Renda (invertida))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de Horn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retidos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dos 2 fatores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62,98%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 entre F1 e F2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0,473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variação de peso (um município de fora)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5,96 p.p.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406640" y="16733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e pesos (promax, matriz padrão)</a:t>
            </a:r>
            <a:endParaRPr lang="en-US" sz="1200" dirty="0"/>
          </a:p>
        </p:txBody>
      </p:sp>
      <p:graphicFrame>
        <p:nvGraphicFramePr>
          <p:cNvPr id="7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984248"/>
          <a:ext cx="4005072" cy="914400"/>
        </p:xfrm>
        <a:graphic>
          <a:graphicData uri="http://schemas.openxmlformats.org/drawingml/2006/table">
            <a:tbl>
              <a:tblPr/>
              <a:tblGrid>
                <a:gridCol w="1490472"/>
                <a:gridCol w="530352"/>
                <a:gridCol w="530352"/>
                <a:gridCol w="868680"/>
                <a:gridCol w="585216"/>
              </a:tblGrid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-0,088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0,633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17,56%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0,275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0,563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0,540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8,02%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0,578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0,384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7,21%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0,903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-0,071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0,761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17,63%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0,949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-0,072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19,44%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15,73%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-0,128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0,495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14,42%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777240" y="4636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 faixas</a:t>
            </a:r>
            <a:endParaRPr lang="en-US" sz="1200" dirty="0"/>
          </a:p>
        </p:txBody>
      </p:sp>
      <p:graphicFrame>
        <p:nvGraphicFramePr>
          <p:cNvPr id="9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946904"/>
          <a:ext cx="106344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463040"/>
                <a:gridCol w="1051560"/>
                <a:gridCol w="1051560"/>
                <a:gridCol w="1051560"/>
                <a:gridCol w="1234440"/>
                <a:gridCol w="1234440"/>
                <a:gridCol w="1261872"/>
              </a:tblGrid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(própria)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(comum)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 (comum, nº mun.)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baixa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média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muito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com a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 de faixa vs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0,8349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0,8395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0,8350 (30)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28,9%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42,5%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23,2%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0,9992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777240" y="5619115"/>
            <a:ext cx="10634472" cy="294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Kaiser e Horn indicam 2 e 2 fatores; a solução usa 2, que somam 62,98% da variância. A maior carga em F1 é de Renda (invertida); em F2, de Água inadequada.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V021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PASSA: comunalidade &lt; 0,30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Versão V022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original · sem lixo · água: só a inadequada · + sem banheiro · + moradia não convencional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</a:t>
            </a:r>
            <a:endParaRPr lang="en-US" sz="12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09928"/>
          <a:ext cx="2926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original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sem banheiro (V00495)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não convencional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própria)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75.955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comum)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67.981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840480" y="1673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</a:t>
            </a:r>
            <a:endParaRPr lang="en-US" sz="1200" dirty="0"/>
          </a:p>
        </p:txBody>
      </p:sp>
      <p:graphicFrame>
        <p:nvGraphicFramePr>
          <p:cNvPr id="4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709928"/>
          <a:ext cx="3429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0,7952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qui-quadrado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205.400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graus de liberdade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mínimo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0,686 (Moradia não convencional)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de Horn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retidos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dos 2 fatores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55,64%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 entre F1 e F2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0,409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variação de peso (um município de fora)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8,04 p.p.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406640" y="16733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e pesos (promax, matriz padrão)</a:t>
            </a:r>
            <a:endParaRPr lang="en-US" sz="1200" dirty="0"/>
          </a:p>
        </p:txBody>
      </p:sp>
      <p:graphicFrame>
        <p:nvGraphicFramePr>
          <p:cNvPr id="7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984248"/>
          <a:ext cx="4005072" cy="914400"/>
        </p:xfrm>
        <a:graphic>
          <a:graphicData uri="http://schemas.openxmlformats.org/drawingml/2006/table">
            <a:tbl>
              <a:tblPr/>
              <a:tblGrid>
                <a:gridCol w="1490472"/>
                <a:gridCol w="530352"/>
                <a:gridCol w="530352"/>
                <a:gridCol w="868680"/>
                <a:gridCol w="585216"/>
              </a:tblGrid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0,635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10,78%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0,486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5,02%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0,613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8,33%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0,875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-0,043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16,94%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-0,050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18,85%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15,88%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14,81%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-0,256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0,593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0,293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9,39%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777240" y="4636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 faixas</a:t>
            </a:r>
            <a:endParaRPr lang="en-US" sz="1200" dirty="0"/>
          </a:p>
        </p:txBody>
      </p:sp>
      <p:graphicFrame>
        <p:nvGraphicFramePr>
          <p:cNvPr id="9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946904"/>
          <a:ext cx="106344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463040"/>
                <a:gridCol w="1051560"/>
                <a:gridCol w="1051560"/>
                <a:gridCol w="1051560"/>
                <a:gridCol w="1234440"/>
                <a:gridCol w="1234440"/>
                <a:gridCol w="1261872"/>
              </a:tblGrid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(própria)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(comum)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 (comum, nº mun.)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baixa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média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muito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com a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 de faixa vs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0,8444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0,8478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0,8566 (30)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28,4%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5,0%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0,9908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6,2%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777240" y="5619115"/>
            <a:ext cx="10634472" cy="294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Kaiser e Horn indicam 2 e 2 fatores; a solução usa 2, que somam 55,64% da variância. A maior carga em F1 é de Renda (invertida); em F2, de Sem banheiro.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V022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PASSA NOS CRITÉRIOS DO NB05 · REFERÊNCIA PROPOSTA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Versão V023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original · sem lixo · água: só a inadequada · + banheiro graduado · moradia fora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</a:t>
            </a:r>
            <a:endParaRPr lang="en-US" sz="12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09928"/>
          <a:ext cx="2926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original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banheiro graduado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própria)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comum)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67.981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840480" y="1673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</a:t>
            </a:r>
            <a:endParaRPr lang="en-US" sz="1200" dirty="0"/>
          </a:p>
        </p:txBody>
      </p:sp>
      <p:graphicFrame>
        <p:nvGraphicFramePr>
          <p:cNvPr id="5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709928"/>
          <a:ext cx="3429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0,7807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qui-quadrado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185.197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graus de liberdade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mínimo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0,709 (Renda (invertida))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de Horn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retidos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dos 2 fatores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60,82%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 entre F1 e F2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variação de peso (um município de fora)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6,94 p.p.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406640" y="16733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e pesos (promax, matriz padrão)</a:t>
            </a:r>
            <a:endParaRPr lang="en-US" sz="1200" dirty="0"/>
          </a:p>
        </p:txBody>
      </p:sp>
      <p:graphicFrame>
        <p:nvGraphicFramePr>
          <p:cNvPr id="7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984248"/>
          <a:ext cx="4005072" cy="914400"/>
        </p:xfrm>
        <a:graphic>
          <a:graphicData uri="http://schemas.openxmlformats.org/drawingml/2006/table">
            <a:tbl>
              <a:tblPr/>
              <a:tblGrid>
                <a:gridCol w="1490472"/>
                <a:gridCol w="530352"/>
                <a:gridCol w="530352"/>
                <a:gridCol w="868680"/>
                <a:gridCol w="585216"/>
              </a:tblGrid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-0,028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0,596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17,32%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0,318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0,513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7,78%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0,583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7,46%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17,36%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0,937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19,28%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15,90%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-0,207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0,726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14,90%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777240" y="4636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 faixas</a:t>
            </a:r>
            <a:endParaRPr lang="en-US" sz="1200" dirty="0"/>
          </a:p>
        </p:txBody>
      </p:sp>
      <p:graphicFrame>
        <p:nvGraphicFramePr>
          <p:cNvPr id="10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946904"/>
          <a:ext cx="106344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463040"/>
                <a:gridCol w="1051560"/>
                <a:gridCol w="1051560"/>
                <a:gridCol w="1051560"/>
                <a:gridCol w="1234440"/>
                <a:gridCol w="1234440"/>
                <a:gridCol w="1261872"/>
              </a:tblGrid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(própria)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(comum)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 (comum, nº mun.)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baixa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média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muito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com a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 de faixa vs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0,8309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0,8381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0,8352 (30)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42,0%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23,9%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5,3%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777240" y="5619115"/>
            <a:ext cx="10634472" cy="294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Kaiser e Horn indicam 2 e 2 fatores; a solução usa 2, que somam 60,82% da variância. A maior carga em F1 é de Renda (invertida); em F2, de Água inadequada.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V023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PASSA NOS CRITÉRIOS DO NB05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Versão V024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original · sem lixo · água: só a inadequada · + banheiro graduado · + moradia não convencional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</a:t>
            </a:r>
            <a:endParaRPr lang="en-US" sz="12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09928"/>
          <a:ext cx="2926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original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banheiro graduado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não convencional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própria)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comum)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67.981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840480" y="1673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</a:t>
            </a:r>
            <a:endParaRPr lang="en-US" sz="1200" dirty="0"/>
          </a:p>
        </p:txBody>
      </p:sp>
      <p:graphicFrame>
        <p:nvGraphicFramePr>
          <p:cNvPr id="5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709928"/>
          <a:ext cx="3429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0,7790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qui-quadrado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186.562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graus de liberdade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mínimo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0,643 (Moradia não convencional)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de Horn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retidos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dos 2 fatores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53,81%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 entre F1 e F2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variação de peso (um município de fora)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9,98 p.p.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406640" y="16733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e pesos (promax, matriz padrão)</a:t>
            </a:r>
            <a:endParaRPr lang="en-US" sz="1200" dirty="0"/>
          </a:p>
        </p:txBody>
      </p:sp>
      <p:graphicFrame>
        <p:nvGraphicFramePr>
          <p:cNvPr id="7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984248"/>
          <a:ext cx="4005072" cy="914400"/>
        </p:xfrm>
        <a:graphic>
          <a:graphicData uri="http://schemas.openxmlformats.org/drawingml/2006/table">
            <a:tbl>
              <a:tblPr/>
              <a:tblGrid>
                <a:gridCol w="1490472"/>
                <a:gridCol w="530352"/>
                <a:gridCol w="530352"/>
                <a:gridCol w="868680"/>
                <a:gridCol w="585216"/>
              </a:tblGrid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0,213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0,496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0,366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8,15%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0,482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0,315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4,68%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0,629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-0,033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0,382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7,96%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0,871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-0,073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0,720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15,30%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-0,088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17,08%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-0,011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14,98%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-0,122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18,95%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-0,197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0,624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0,341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12,89%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777240" y="4636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 faixas</a:t>
            </a:r>
            <a:endParaRPr lang="en-US" sz="1200" dirty="0"/>
          </a:p>
        </p:txBody>
      </p:sp>
      <p:graphicFrame>
        <p:nvGraphicFramePr>
          <p:cNvPr id="10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946904"/>
          <a:ext cx="106344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463040"/>
                <a:gridCol w="1051560"/>
                <a:gridCol w="1051560"/>
                <a:gridCol w="1051560"/>
                <a:gridCol w="1234440"/>
                <a:gridCol w="1234440"/>
                <a:gridCol w="1261872"/>
              </a:tblGrid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(própria)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(comum)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 (comum, nº mun.)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baixa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média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muito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com a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 de faixa vs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0,8428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0,8483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0,8642 (30)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28,3%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40,4%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26,5%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0,9866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7,9%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777240" y="5619115"/>
            <a:ext cx="10634472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Kaiser e Horn indicam 3 e 2 fatores; a solução usa 2, que somam 53,81% da variância. A maior carga em F1 é de Renda (invertida); em F2, de Banheiro graduado.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V024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PASSA NOS CRITÉRIOS DO NB05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Versão V025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original · sem lixo · + água não chega · banheiro fora · moradia fora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</a:t>
            </a:r>
            <a:endParaRPr lang="en-US" sz="12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09928"/>
          <a:ext cx="2926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original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não chega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própria)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78.256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comum)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67.981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840480" y="1673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</a:t>
            </a:r>
            <a:endParaRPr lang="en-US" sz="1200" dirty="0"/>
          </a:p>
        </p:txBody>
      </p:sp>
      <p:graphicFrame>
        <p:nvGraphicFramePr>
          <p:cNvPr id="5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709928"/>
          <a:ext cx="3429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0,7843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qui-quadrado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224.292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graus de liberdade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mínimo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0,689 (Água inadequada)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de Horn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retidos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dos 2 fatores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65,93%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 entre F1 e F2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variação de peso (um município de fora)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4,08 p.p.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406640" y="16733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e pesos (promax, matriz padrão)</a:t>
            </a:r>
            <a:endParaRPr lang="en-US" sz="1200" dirty="0"/>
          </a:p>
        </p:txBody>
      </p:sp>
      <p:graphicFrame>
        <p:nvGraphicFramePr>
          <p:cNvPr id="8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984248"/>
          <a:ext cx="4005072" cy="914400"/>
        </p:xfrm>
        <a:graphic>
          <a:graphicData uri="http://schemas.openxmlformats.org/drawingml/2006/table">
            <a:tbl>
              <a:tblPr/>
              <a:tblGrid>
                <a:gridCol w="1490472"/>
                <a:gridCol w="530352"/>
                <a:gridCol w="530352"/>
                <a:gridCol w="868680"/>
                <a:gridCol w="585216"/>
              </a:tblGrid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-0,054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0,879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18,07%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0,381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0,487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4,58%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0,637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-0,018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8,63%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0,902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-0,087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17,33%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0,934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18,60%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15,43%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-0,110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0,672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17,35%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777240" y="4636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 faixas</a:t>
            </a:r>
            <a:endParaRPr lang="en-US" sz="1200" dirty="0"/>
          </a:p>
        </p:txBody>
      </p:sp>
      <p:graphicFrame>
        <p:nvGraphicFramePr>
          <p:cNvPr id="109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946904"/>
          <a:ext cx="106344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463040"/>
                <a:gridCol w="1051560"/>
                <a:gridCol w="1051560"/>
                <a:gridCol w="1051560"/>
                <a:gridCol w="1234440"/>
                <a:gridCol w="1234440"/>
                <a:gridCol w="1261872"/>
              </a:tblGrid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(própria)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(comum)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 (comum, nº mun.)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baixa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média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muito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com a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 de faixa vs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0,8307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0,8360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0,8317 (30)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28,6%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42,1%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0,9955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777240" y="5619115"/>
            <a:ext cx="10634472" cy="294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Kaiser e Horn indicam 2 e 2 fatores; a solução usa 2, que somam 65,93% da variância. A maior carga em F1 é de Renda (invertida); em F2, de Água inadequada.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V025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PASSA: comunalidade &lt; 0,30; carga &lt; 0,40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Versão V026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original · sem lixo · + água não chega · banheiro fora · + moradia não convencional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</a:t>
            </a:r>
            <a:endParaRPr lang="en-US" sz="12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09928"/>
          <a:ext cx="2926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original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não chega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não convencional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própria)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78.256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comum)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67.981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840480" y="1673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</a:t>
            </a:r>
            <a:endParaRPr lang="en-US" sz="1200" dirty="0"/>
          </a:p>
        </p:txBody>
      </p:sp>
      <p:graphicFrame>
        <p:nvGraphicFramePr>
          <p:cNvPr id="5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709928"/>
          <a:ext cx="3429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0,7845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qui-quadrado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224.944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graus de liberdade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mínimo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0,690 (Água inadequada)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de Horn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retidos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dos 2 fatores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57,80%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 entre F1 e F2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variação de peso (um município de fora)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4,01 p.p.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406640" y="16733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e pesos (promax, matriz padrão)</a:t>
            </a:r>
            <a:endParaRPr lang="en-US" sz="1200" dirty="0"/>
          </a:p>
        </p:txBody>
      </p:sp>
      <p:graphicFrame>
        <p:nvGraphicFramePr>
          <p:cNvPr id="8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984248"/>
          <a:ext cx="4005072" cy="914400"/>
        </p:xfrm>
        <a:graphic>
          <a:graphicData uri="http://schemas.openxmlformats.org/drawingml/2006/table">
            <a:tbl>
              <a:tblPr/>
              <a:tblGrid>
                <a:gridCol w="1490472"/>
                <a:gridCol w="530352"/>
                <a:gridCol w="530352"/>
                <a:gridCol w="868680"/>
                <a:gridCol w="585216"/>
              </a:tblGrid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-0,054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0,879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18,07%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0,381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0,487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4,57%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0,635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-0,018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8,56%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0,902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-0,088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17,28%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0,934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18,52%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15,39%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-0,110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0,672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17,36%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0,26%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777240" y="4636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 faixas</a:t>
            </a:r>
            <a:endParaRPr lang="en-US" sz="1200" dirty="0"/>
          </a:p>
        </p:txBody>
      </p:sp>
      <p:graphicFrame>
        <p:nvGraphicFramePr>
          <p:cNvPr id="11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946904"/>
          <a:ext cx="106344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463040"/>
                <a:gridCol w="1051560"/>
                <a:gridCol w="1051560"/>
                <a:gridCol w="1051560"/>
                <a:gridCol w="1234440"/>
                <a:gridCol w="1234440"/>
                <a:gridCol w="1261872"/>
              </a:tblGrid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(própria)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(comum)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 (comum, nº mun.)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baixa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média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muito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com a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 de faixa vs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0,8307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0,8361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0,8316 (30)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28,6%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42,1%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24,4%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0,9955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777240" y="5619115"/>
            <a:ext cx="10634472" cy="294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Kaiser e Horn indicam 2 e 2 fatores; a solução usa 2, que somam 57,80% da variância. A maior carga em F1 é de Renda (invertida); em F2, de Água inadequada.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V026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PASSA: carga &lt; 0,40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Versão V027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original · sem lixo · + água não chega · + sem banheiro · moradia fora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</a:t>
            </a:r>
            <a:endParaRPr lang="en-US" sz="12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09928"/>
          <a:ext cx="2926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original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não chega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sem banheiro (V00495)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própria)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69.480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comum)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67.981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840480" y="1673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</a:t>
            </a:r>
            <a:endParaRPr lang="en-US" sz="1200" dirty="0"/>
          </a:p>
        </p:txBody>
      </p:sp>
      <p:graphicFrame>
        <p:nvGraphicFramePr>
          <p:cNvPr id="5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709928"/>
          <a:ext cx="3429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0,7878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qui-quadrado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209.109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graus de liberdade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mínimo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0,716 (Água inadequada)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de Horn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retidos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dos 2 fatores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60,67%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 entre F1 e F2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variação de peso (um município de fora)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2,79 p.p.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406640" y="16733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e pesos (promax, matriz padrão)</a:t>
            </a:r>
            <a:endParaRPr lang="en-US" sz="1200" dirty="0"/>
          </a:p>
        </p:txBody>
      </p:sp>
      <p:graphicFrame>
        <p:nvGraphicFramePr>
          <p:cNvPr id="88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984248"/>
          <a:ext cx="4005072" cy="914400"/>
        </p:xfrm>
        <a:graphic>
          <a:graphicData uri="http://schemas.openxmlformats.org/drawingml/2006/table">
            <a:tbl>
              <a:tblPr/>
              <a:tblGrid>
                <a:gridCol w="1490472"/>
                <a:gridCol w="530352"/>
                <a:gridCol w="530352"/>
                <a:gridCol w="868680"/>
                <a:gridCol w="585216"/>
              </a:tblGrid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0,571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12,80%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0,400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3,22%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0,648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-0,037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0,402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8,47%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-0,070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16,06%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-0,055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17,34%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14,91%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-0,102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0,658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16,23%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-0,059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0,697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10,98%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777240" y="4636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 faixas</a:t>
            </a:r>
            <a:endParaRPr lang="en-US" sz="1200" dirty="0"/>
          </a:p>
        </p:txBody>
      </p:sp>
      <p:graphicFrame>
        <p:nvGraphicFramePr>
          <p:cNvPr id="11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946904"/>
          <a:ext cx="106344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463040"/>
                <a:gridCol w="1051560"/>
                <a:gridCol w="1051560"/>
                <a:gridCol w="1051560"/>
                <a:gridCol w="1234440"/>
                <a:gridCol w="1234440"/>
                <a:gridCol w="1261872"/>
              </a:tblGrid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(própria)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(comum)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 (comum, nº mun.)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baixa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média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muito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com a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 de faixa vs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0,8421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0,8397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0,8464 (30)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28,6%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26,4%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0,9940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7,9%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777240" y="5619115"/>
            <a:ext cx="10634472" cy="294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Kaiser e Horn indicam 2 e 2 fatores; a solução usa 2, que somam 60,67% da variância. A maior carga em F1 é de Renda (invertida); em F2, de Água não chega.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V027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PASSA: comunalidade &lt; 0,30; carga &lt; 0,40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Versão V028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original · sem lixo · + água não chega · + sem banheiro · + moradia não convencional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</a:t>
            </a:r>
            <a:endParaRPr lang="en-US" sz="12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09928"/>
          <a:ext cx="2926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original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não chega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sem banheiro (V00495)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não convencional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própria)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69.480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comum)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67.981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840480" y="1673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</a:t>
            </a:r>
            <a:endParaRPr lang="en-US" sz="1200" dirty="0"/>
          </a:p>
        </p:txBody>
      </p:sp>
      <p:graphicFrame>
        <p:nvGraphicFramePr>
          <p:cNvPr id="6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709928"/>
          <a:ext cx="3429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0,7864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qui-quadrado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210.588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graus de liberdade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mínimo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0,679 (Moradia não convencional)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de Horn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retidos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dos 2 fatores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54,09%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 entre F1 e F2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variação de peso (um município de fora)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2,82 p.p.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406640" y="16733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e pesos (promax, matriz padrão)</a:t>
            </a:r>
            <a:endParaRPr lang="en-US" sz="1200" dirty="0"/>
          </a:p>
        </p:txBody>
      </p:sp>
      <p:graphicFrame>
        <p:nvGraphicFramePr>
          <p:cNvPr id="91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984248"/>
          <a:ext cx="4005072" cy="914400"/>
        </p:xfrm>
        <a:graphic>
          <a:graphicData uri="http://schemas.openxmlformats.org/drawingml/2006/table">
            <a:tbl>
              <a:tblPr/>
              <a:tblGrid>
                <a:gridCol w="1490472"/>
                <a:gridCol w="530352"/>
                <a:gridCol w="530352"/>
                <a:gridCol w="868680"/>
                <a:gridCol w="585216"/>
              </a:tblGrid>
              <a:tr h="207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0,561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12,43%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0,401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3,24%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0,651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-0,043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0,402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8,52%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-0,070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0,749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16,02%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-0,057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17,32%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14,89%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-0,100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0,648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15,86%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0,707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11,22%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0,49%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777240" y="4636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 faixas</a:t>
            </a:r>
            <a:endParaRPr lang="en-US" sz="1200" dirty="0"/>
          </a:p>
        </p:txBody>
      </p:sp>
      <p:graphicFrame>
        <p:nvGraphicFramePr>
          <p:cNvPr id="12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946904"/>
          <a:ext cx="106344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463040"/>
                <a:gridCol w="1051560"/>
                <a:gridCol w="1051560"/>
                <a:gridCol w="1051560"/>
                <a:gridCol w="1234440"/>
                <a:gridCol w="1234440"/>
                <a:gridCol w="1261872"/>
              </a:tblGrid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(própria)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(comum)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 (comum, nº mun.)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baixa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média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muito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com a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 de faixa vs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0,8427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0,8403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0,8470 (30)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28,6%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26,4%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0,9937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8,0%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777240" y="5619115"/>
            <a:ext cx="10634472" cy="294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Kaiser e Horn indicam 3 e 3 fatores; a solução usa 2, que somam 54,09% da variância. A maior carga em F1 é de Renda (invertida); em F2, de Água não chega.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V028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PASSA: comunalidade &lt; 0,30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Versão V029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original · sem lixo · + água não chega · + banheiro graduado · moradia fora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</a:t>
            </a:r>
            <a:endParaRPr lang="en-US" sz="12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09928"/>
          <a:ext cx="2926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original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não chega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banheiro graduado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própria)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68.001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comum)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67.981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840480" y="1673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</a:t>
            </a:r>
            <a:endParaRPr lang="en-US" sz="1200" dirty="0"/>
          </a:p>
        </p:txBody>
      </p:sp>
      <p:graphicFrame>
        <p:nvGraphicFramePr>
          <p:cNvPr id="6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709928"/>
          <a:ext cx="3429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0,7726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qui-quadrado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185.711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graus de liberdade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mínimo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0,667 (Água inadequada)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de Horn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retidos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dos 2 fatores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57,74%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 entre F1 e F2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variação de peso (um município de fora)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2,65 p.p.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406640" y="16733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e pesos (promax, matriz padrão)</a:t>
            </a:r>
            <a:endParaRPr lang="en-US" sz="1200" dirty="0"/>
          </a:p>
        </p:txBody>
      </p:sp>
      <p:graphicFrame>
        <p:nvGraphicFramePr>
          <p:cNvPr id="9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984248"/>
          <a:ext cx="4005072" cy="914400"/>
        </p:xfrm>
        <a:graphic>
          <a:graphicData uri="http://schemas.openxmlformats.org/drawingml/2006/table">
            <a:tbl>
              <a:tblPr/>
              <a:tblGrid>
                <a:gridCol w="1490472"/>
                <a:gridCol w="530352"/>
                <a:gridCol w="530352"/>
                <a:gridCol w="868680"/>
                <a:gridCol w="585216"/>
              </a:tblGrid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0,763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0,589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14,93%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0,405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0,429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3,37%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0,640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-0,038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8,39%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16,01%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-0,050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17,34%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14,89%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-0,097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0,616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16,99%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-0,092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0,561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0,287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8,08%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777240" y="4636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 faixas</a:t>
            </a:r>
            <a:endParaRPr lang="en-US" sz="1200" dirty="0"/>
          </a:p>
        </p:txBody>
      </p:sp>
      <p:graphicFrame>
        <p:nvGraphicFramePr>
          <p:cNvPr id="12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946904"/>
          <a:ext cx="106344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463040"/>
                <a:gridCol w="1051560"/>
                <a:gridCol w="1051560"/>
                <a:gridCol w="1051560"/>
                <a:gridCol w="1234440"/>
                <a:gridCol w="1234440"/>
                <a:gridCol w="1261872"/>
              </a:tblGrid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(própria)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(comum)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 (comum, nº mun.)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baixa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média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muito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com a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 de faixa vs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0,8346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0,8348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0,8414 (30)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28,7%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40,3%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26,6%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0,9961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777240" y="5619115"/>
            <a:ext cx="10634472" cy="294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Kaiser e Horn indicam 2 e 2 fatores; a solução usa 2, que somam 57,74% da variância. A maior carga em F1 é de Renda (invertida); em F2, de Água não chega.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V029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PASSA: comunalidade &lt; 0,30; carga &lt; 0,40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Versão V030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original · sem lixo · + água não chega · + banheiro graduado · + moradia não convencional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</a:t>
            </a:r>
            <a:endParaRPr lang="en-US" sz="12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09928"/>
          <a:ext cx="2926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original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não chega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banheiro graduado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não convencional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própria)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68.001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comum)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67.981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840480" y="1673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</a:t>
            </a:r>
            <a:endParaRPr lang="en-US" sz="1200" dirty="0"/>
          </a:p>
        </p:txBody>
      </p:sp>
      <p:graphicFrame>
        <p:nvGraphicFramePr>
          <p:cNvPr id="6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709928"/>
          <a:ext cx="3429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0,7710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qui-quadrado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187.069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graus de liberdade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mínimo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0,645 (Moradia não convencional)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de Horn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retidos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dos 2 fatores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51,45%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 entre F1 e F2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0,360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variação de peso (um município de fora)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2,69 p.p.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406640" y="16733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e pesos (promax, matriz padrão)</a:t>
            </a:r>
            <a:endParaRPr lang="en-US" sz="1200" dirty="0"/>
          </a:p>
        </p:txBody>
      </p:sp>
      <p:graphicFrame>
        <p:nvGraphicFramePr>
          <p:cNvPr id="9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984248"/>
          <a:ext cx="4005072" cy="914400"/>
        </p:xfrm>
        <a:graphic>
          <a:graphicData uri="http://schemas.openxmlformats.org/drawingml/2006/table">
            <a:tbl>
              <a:tblPr/>
              <a:tblGrid>
                <a:gridCol w="1490472"/>
                <a:gridCol w="530352"/>
                <a:gridCol w="530352"/>
                <a:gridCol w="868680"/>
                <a:gridCol w="585216"/>
              </a:tblGrid>
              <a:tr h="207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0,575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14,42%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0,408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0,384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0,427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3,40%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0,642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-0,044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8,44%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15,97%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-0,051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17,32%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14,87%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-0,094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0,604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16,55%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-0,100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0,579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8,55%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0,48%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777240" y="4636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 faixas</a:t>
            </a:r>
            <a:endParaRPr lang="en-US" sz="1200" dirty="0"/>
          </a:p>
        </p:txBody>
      </p:sp>
      <p:graphicFrame>
        <p:nvGraphicFramePr>
          <p:cNvPr id="129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946904"/>
          <a:ext cx="106344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463040"/>
                <a:gridCol w="1051560"/>
                <a:gridCol w="1051560"/>
                <a:gridCol w="1051560"/>
                <a:gridCol w="1234440"/>
                <a:gridCol w="1234440"/>
                <a:gridCol w="1261872"/>
              </a:tblGrid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(própria)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(comum)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 (comum, nº mun.)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baixa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média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muito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com a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 de faixa vs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0,8354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0,8356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0,8424 (30)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28,6%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40,3%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26,6%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0,9960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7,9%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777240" y="5619115"/>
            <a:ext cx="10634472" cy="294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Kaiser e Horn indicam 3 e 3 fatores; a solução usa 2, que somam 51,45% da variância. A maior carga em F1 é de Renda (invertida); em F2, de Água não chega.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V030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PASSA NOS CRITÉRIOS DO NB05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Versão V031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original · sem lixo · + sem água canalizada · banheiro fora · moradia fora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</a:t>
            </a:r>
            <a:endParaRPr lang="en-US" sz="12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09928"/>
          <a:ext cx="2926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original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sem canalização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própria)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87.512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comum)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67.981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840480" y="1673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</a:t>
            </a:r>
            <a:endParaRPr lang="en-US" sz="1200" dirty="0"/>
          </a:p>
        </p:txBody>
      </p:sp>
      <p:graphicFrame>
        <p:nvGraphicFramePr>
          <p:cNvPr id="6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709928"/>
          <a:ext cx="3429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0,8087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qui-quadrado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261.353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graus de liberdade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mínimo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0,737 (Renda (invertida))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de Horn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retidos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dos 2 fatores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66,49%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 entre F1 e F2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variação de peso (um município de fora)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6,43 p.p.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406640" y="16733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e pesos (promax, matriz padrão)</a:t>
            </a:r>
            <a:endParaRPr lang="en-US" sz="1200" dirty="0"/>
          </a:p>
        </p:txBody>
      </p:sp>
      <p:graphicFrame>
        <p:nvGraphicFramePr>
          <p:cNvPr id="10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984248"/>
          <a:ext cx="4005072" cy="914400"/>
        </p:xfrm>
        <a:graphic>
          <a:graphicData uri="http://schemas.openxmlformats.org/drawingml/2006/table">
            <a:tbl>
              <a:tblPr/>
              <a:tblGrid>
                <a:gridCol w="1490472"/>
                <a:gridCol w="530352"/>
                <a:gridCol w="530352"/>
                <a:gridCol w="868680"/>
                <a:gridCol w="585216"/>
              </a:tblGrid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-0,180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0,955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0,765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20,20%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0,286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0,519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6,18%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0,612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7,95%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-0,104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0,762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18,05%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0,953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-0,076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19,26%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14,74%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0,647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13,62%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777240" y="4636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 faixas</a:t>
            </a:r>
            <a:endParaRPr lang="en-US" sz="1200" dirty="0"/>
          </a:p>
        </p:txBody>
      </p:sp>
      <p:graphicFrame>
        <p:nvGraphicFramePr>
          <p:cNvPr id="13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946904"/>
          <a:ext cx="106344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463040"/>
                <a:gridCol w="1051560"/>
                <a:gridCol w="1051560"/>
                <a:gridCol w="1051560"/>
                <a:gridCol w="1234440"/>
                <a:gridCol w="1234440"/>
                <a:gridCol w="1261872"/>
              </a:tblGrid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(própria)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(comum)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 (comum, nº mun.)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baixa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média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muito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com a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 de faixa vs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0,8209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0,8349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0,8272 (30)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28,7%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43,9%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22,1%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5,3%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0,9954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9,9%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777240" y="5619115"/>
            <a:ext cx="10634472" cy="294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Kaiser e Horn indicam 2 e 2 fatores; a solução usa 2, que somam 66,49% da variância. A maior carga em F1 é de Renda (invertida); em F2, de Água inadequada.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V031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PASSA: comunalidade &lt; 0,30; carga &lt; 0,40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Versão V032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original · sem lixo · + sem água canalizada · banheiro fora · + moradia não convencional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</a:t>
            </a:r>
            <a:endParaRPr lang="en-US" sz="12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09928"/>
          <a:ext cx="2926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original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sem canalização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não convencional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própria)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87.512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comum)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67.981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840480" y="1673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</a:t>
            </a:r>
            <a:endParaRPr lang="en-US" sz="1200" dirty="0"/>
          </a:p>
        </p:txBody>
      </p:sp>
      <p:graphicFrame>
        <p:nvGraphicFramePr>
          <p:cNvPr id="6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709928"/>
          <a:ext cx="3429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0,8087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qui-quadrado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262.061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graus de liberdade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mínimo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0,736 (Renda (invertida))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de Horn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retidos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dos 2 fatores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58,29%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 entre F1 e F2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variação de peso (um município de fora)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6,48 p.p.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406640" y="16733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e pesos (promax, matriz padrão)</a:t>
            </a:r>
            <a:endParaRPr lang="en-US" sz="1200" dirty="0"/>
          </a:p>
        </p:txBody>
      </p:sp>
      <p:graphicFrame>
        <p:nvGraphicFramePr>
          <p:cNvPr id="10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984248"/>
          <a:ext cx="4005072" cy="914400"/>
        </p:xfrm>
        <a:graphic>
          <a:graphicData uri="http://schemas.openxmlformats.org/drawingml/2006/table">
            <a:tbl>
              <a:tblPr/>
              <a:tblGrid>
                <a:gridCol w="1490472"/>
                <a:gridCol w="530352"/>
                <a:gridCol w="530352"/>
                <a:gridCol w="868680"/>
                <a:gridCol w="585216"/>
              </a:tblGrid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-0,176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0,948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19,87%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0,289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0,517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6,08%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0,615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8,03%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-0,103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0,761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18,02%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0,953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-0,076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19,25%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14,70%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0,645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13,53%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-0,010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777240" y="4636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 faixas</a:t>
            </a:r>
            <a:endParaRPr lang="en-US" sz="1200" dirty="0"/>
          </a:p>
        </p:txBody>
      </p:sp>
      <p:graphicFrame>
        <p:nvGraphicFramePr>
          <p:cNvPr id="13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946904"/>
          <a:ext cx="106344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463040"/>
                <a:gridCol w="1051560"/>
                <a:gridCol w="1051560"/>
                <a:gridCol w="1051560"/>
                <a:gridCol w="1234440"/>
                <a:gridCol w="1234440"/>
                <a:gridCol w="1261872"/>
              </a:tblGrid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(própria)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(comum)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 (comum, nº mun.)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baixa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média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muito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com a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 de faixa vs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0,8213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0,8352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0,8278 (30)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28,7%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43,7%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22,3%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5,3%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0,9955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9,7%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777240" y="5619115"/>
            <a:ext cx="10634472" cy="294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Kaiser e Horn indicam 2 e 2 fatores; a solução usa 2, que somam 58,29% da variância. A maior carga em F1 é de Renda (invertida); em F2, de Água inadequada.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V032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PASSA NOS CRITÉRIOS DO NB05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Versão V033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original · sem lixo · + sem água canalizada · + sem banheiro · moradia fora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</a:t>
            </a:r>
            <a:endParaRPr lang="en-US" sz="12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09928"/>
          <a:ext cx="2926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original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sem canalização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sem banheiro (V00495)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própria)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75.927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comum)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67.981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840480" y="1673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</a:t>
            </a:r>
            <a:endParaRPr lang="en-US" sz="1200" dirty="0"/>
          </a:p>
        </p:txBody>
      </p:sp>
      <p:graphicFrame>
        <p:nvGraphicFramePr>
          <p:cNvPr id="7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709928"/>
          <a:ext cx="3429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0,8143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qui-quadrado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235.028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graus de liberdade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mínimo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0,738 (Renda (invertida))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de Horn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retidos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dos 2 fatores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60,77%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 entre F1 e F2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0,482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variação de peso (um município de fora)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5,15 p.p.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406640" y="16733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e pesos (promax, matriz padrão)</a:t>
            </a:r>
            <a:endParaRPr lang="en-US" sz="1200" dirty="0"/>
          </a:p>
        </p:txBody>
      </p:sp>
      <p:graphicFrame>
        <p:nvGraphicFramePr>
          <p:cNvPr id="10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984248"/>
          <a:ext cx="4005072" cy="914400"/>
        </p:xfrm>
        <a:graphic>
          <a:graphicData uri="http://schemas.openxmlformats.org/drawingml/2006/table">
            <a:tbl>
              <a:tblPr/>
              <a:tblGrid>
                <a:gridCol w="1490472"/>
                <a:gridCol w="530352"/>
                <a:gridCol w="530352"/>
                <a:gridCol w="868680"/>
                <a:gridCol w="585216"/>
              </a:tblGrid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-0,093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0,617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13,78%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0,316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0,480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0,477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4,66%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0,636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-0,017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8,70%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0,900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17,45%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0,933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-0,046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18,74%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15,11%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0,623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12,18%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-0,092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0,682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9,38%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777240" y="4636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 faixas</a:t>
            </a:r>
            <a:endParaRPr lang="en-US" sz="1200" dirty="0"/>
          </a:p>
        </p:txBody>
      </p:sp>
      <p:graphicFrame>
        <p:nvGraphicFramePr>
          <p:cNvPr id="14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946904"/>
          <a:ext cx="106344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463040"/>
                <a:gridCol w="1051560"/>
                <a:gridCol w="1051560"/>
                <a:gridCol w="1051560"/>
                <a:gridCol w="1234440"/>
                <a:gridCol w="1234440"/>
                <a:gridCol w="1261872"/>
              </a:tblGrid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(própria)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(comum)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 (comum, nº mun.)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baixa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média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muito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com a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 de faixa vs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0,8356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0,8392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0,8449 (30)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28,6%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41,6%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5,0%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0,9957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5,4%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777240" y="5619115"/>
            <a:ext cx="10634472" cy="294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Kaiser e Horn indicam 2 e 2 fatores; a solução usa 2, que somam 60,77% da variância. A maior carga em F1 é de Renda (invertida); em F2, de Água inadequada.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V033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PASSA: comunalidade &lt; 0,30; carga &lt; 0,40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Versão V034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original · sem lixo · + sem água canalizada · + sem banheiro · + moradia não convencional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</a:t>
            </a:r>
            <a:endParaRPr lang="en-US" sz="12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09928"/>
          <a:ext cx="2926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original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sem canalização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sem banheiro (V00495)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não convencional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própria)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75.927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comum)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67.981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840480" y="1673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</a:t>
            </a:r>
            <a:endParaRPr lang="en-US" sz="1200" dirty="0"/>
          </a:p>
        </p:txBody>
      </p:sp>
      <p:graphicFrame>
        <p:nvGraphicFramePr>
          <p:cNvPr id="7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709928"/>
          <a:ext cx="3429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0,8132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qui-quadrado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236.560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graus de liberdade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mínimo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0,719 (Moradia não convencional)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de Horn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retidos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dos 2 fatores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54,25%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 entre F1 e F2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variação de peso (um município de fora)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5,13 p.p.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406640" y="16733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e pesos (promax, matriz padrão)</a:t>
            </a:r>
            <a:endParaRPr lang="en-US" sz="1200" dirty="0"/>
          </a:p>
        </p:txBody>
      </p:sp>
      <p:graphicFrame>
        <p:nvGraphicFramePr>
          <p:cNvPr id="10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984248"/>
          <a:ext cx="4005072" cy="914400"/>
        </p:xfrm>
        <a:graphic>
          <a:graphicData uri="http://schemas.openxmlformats.org/drawingml/2006/table">
            <a:tbl>
              <a:tblPr/>
              <a:tblGrid>
                <a:gridCol w="1490472"/>
                <a:gridCol w="530352"/>
                <a:gridCol w="530352"/>
                <a:gridCol w="868680"/>
                <a:gridCol w="585216"/>
              </a:tblGrid>
              <a:tr h="207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0,789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0,582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12,57%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0,470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4,34%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0,639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-0,021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8,89%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-0,053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17,30%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-0,036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18,68%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15,12%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0,605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11,52%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-0,102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0,702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9,95%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-0,095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0,283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1,62%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777240" y="4636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 faixas</a:t>
            </a:r>
            <a:endParaRPr lang="en-US" sz="1200" dirty="0"/>
          </a:p>
        </p:txBody>
      </p:sp>
      <p:graphicFrame>
        <p:nvGraphicFramePr>
          <p:cNvPr id="14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946904"/>
          <a:ext cx="106344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463040"/>
                <a:gridCol w="1051560"/>
                <a:gridCol w="1051560"/>
                <a:gridCol w="1051560"/>
                <a:gridCol w="1234440"/>
                <a:gridCol w="1234440"/>
                <a:gridCol w="1261872"/>
              </a:tblGrid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(própria)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(comum)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 (comum, nº mun.)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baixa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média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muito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com a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 de faixa vs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0,8375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0,8409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0,8472 (30)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41,4%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25,2%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4,9%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0,9944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6,0%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777240" y="5619115"/>
            <a:ext cx="10634472" cy="294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Kaiser e Horn indicam 3 e 2 fatores; a solução usa 2, que somam 54,25% da variância. A maior carga em F1 é de Renda (invertida); em F2, de Água inadequada.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V034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PASSA: comunalidade &lt; 0,30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Versão V035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original · sem lixo · + sem água canalizada · + banheiro graduado · moradia fora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</a:t>
            </a:r>
            <a:endParaRPr lang="en-US" sz="12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09928"/>
          <a:ext cx="2926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original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sem canalização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banheiro graduado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própria)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73.854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comum)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67.981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840480" y="1673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</a:t>
            </a:r>
            <a:endParaRPr lang="en-US" sz="1200" dirty="0"/>
          </a:p>
        </p:txBody>
      </p:sp>
      <p:graphicFrame>
        <p:nvGraphicFramePr>
          <p:cNvPr id="7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709928"/>
          <a:ext cx="3429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0,7964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qui-quadrado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209.574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graus de liberdade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mínimo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0,719 (Água inadequada)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de Horn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retidos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dos 2 fatores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58,21%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 entre F1 e F2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variação de peso (um município de fora)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4,82 p.p.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406640" y="16733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e pesos (promax, matriz padrão)</a:t>
            </a:r>
            <a:endParaRPr lang="en-US" sz="1200" dirty="0"/>
          </a:p>
        </p:txBody>
      </p:sp>
      <p:graphicFrame>
        <p:nvGraphicFramePr>
          <p:cNvPr id="11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984248"/>
          <a:ext cx="4005072" cy="914400"/>
        </p:xfrm>
        <a:graphic>
          <a:graphicData uri="http://schemas.openxmlformats.org/drawingml/2006/table">
            <a:tbl>
              <a:tblPr/>
              <a:tblGrid>
                <a:gridCol w="1490472"/>
                <a:gridCol w="530352"/>
                <a:gridCol w="530352"/>
                <a:gridCol w="868680"/>
                <a:gridCol w="585216"/>
              </a:tblGrid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-0,076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0,623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15,01%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4,81%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0,632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-0,027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0,385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8,75%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-0,057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17,35%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-0,039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18,74%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15,17%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0,598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12,87%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-0,142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0,571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0,277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7,31%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777240" y="4636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 faixas</a:t>
            </a:r>
            <a:endParaRPr lang="en-US" sz="1200" dirty="0"/>
          </a:p>
        </p:txBody>
      </p:sp>
      <p:graphicFrame>
        <p:nvGraphicFramePr>
          <p:cNvPr id="149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946904"/>
          <a:ext cx="106344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463040"/>
                <a:gridCol w="1051560"/>
                <a:gridCol w="1051560"/>
                <a:gridCol w="1051560"/>
                <a:gridCol w="1234440"/>
                <a:gridCol w="1234440"/>
                <a:gridCol w="1261872"/>
              </a:tblGrid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(própria)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(comum)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 (comum, nº mun.)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baixa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média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muito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com a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 de faixa vs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0,8289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0,8357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0,8421 (30)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28,6%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41,4%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25,1%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4,9%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0,9972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4,6%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777240" y="5619115"/>
            <a:ext cx="10634472" cy="294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Kaiser e Horn indicam 2 e 2 fatores; a solução usa 2, que somam 58,21% da variância. A maior carga em F1 é de Renda (invertida); em F2, de Água inadequada.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V035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PASSA: comunalidade &lt; 0,30; carga &lt; 0,40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Versão V036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original · sem lixo · + sem água canalizada · + banheiro graduado · + moradia não convencional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</a:t>
            </a:r>
            <a:endParaRPr lang="en-US" sz="12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09928"/>
          <a:ext cx="2926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original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sem canalização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banheiro graduado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não convencional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própria)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73.854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comum)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67.981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840480" y="1673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</a:t>
            </a:r>
            <a:endParaRPr lang="en-US" sz="1200" dirty="0"/>
          </a:p>
        </p:txBody>
      </p:sp>
      <p:graphicFrame>
        <p:nvGraphicFramePr>
          <p:cNvPr id="7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709928"/>
          <a:ext cx="3429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0,7950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qui-quadrado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210.949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graus de liberdade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mínimo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0,669 (Moradia não convencional)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de Horn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retidos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dos 2 fatores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51,93%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 entre F1 e F2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0,415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variação de peso (um município de fora)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4,81 p.p.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406640" y="16733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e pesos (promax, matriz padrão)</a:t>
            </a:r>
            <a:endParaRPr lang="en-US" sz="1200" dirty="0"/>
          </a:p>
        </p:txBody>
      </p:sp>
      <p:graphicFrame>
        <p:nvGraphicFramePr>
          <p:cNvPr id="11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984248"/>
          <a:ext cx="4005072" cy="914400"/>
        </p:xfrm>
        <a:graphic>
          <a:graphicData uri="http://schemas.openxmlformats.org/drawingml/2006/table">
            <a:tbl>
              <a:tblPr/>
              <a:tblGrid>
                <a:gridCol w="1490472"/>
                <a:gridCol w="530352"/>
                <a:gridCol w="530352"/>
                <a:gridCol w="868680"/>
                <a:gridCol w="585216"/>
              </a:tblGrid>
              <a:tr h="207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-0,040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0,580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13,58%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0,348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4,43%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0,635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-0,031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0,387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8,93%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-0,043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17,19%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0,918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-0,029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18,67%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15,21%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0,577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12,10%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-0,162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0,611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0,317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8,38%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-0,075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0,259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1,51%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777240" y="4636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 faixas</a:t>
            </a:r>
            <a:endParaRPr lang="en-US" sz="1200" dirty="0"/>
          </a:p>
        </p:txBody>
      </p:sp>
      <p:graphicFrame>
        <p:nvGraphicFramePr>
          <p:cNvPr id="15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946904"/>
          <a:ext cx="106344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463040"/>
                <a:gridCol w="1051560"/>
                <a:gridCol w="1051560"/>
                <a:gridCol w="1051560"/>
                <a:gridCol w="1234440"/>
                <a:gridCol w="1234440"/>
                <a:gridCol w="1261872"/>
              </a:tblGrid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(própria)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(comum)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 (comum, nº mun.)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baixa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média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muito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com a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 de faixa vs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0,8310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0,8375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0,8450 (30)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41,1%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25,6%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4,9%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0,9963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5,6%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777240" y="5619115"/>
            <a:ext cx="10634472" cy="294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Kaiser e Horn indicam 3 e 3 fatores; a solução usa 2, que somam 51,93% da variância. A maior carga em F1 é de Renda (invertida); em F2, de Água inadequada.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V036</a:t>
            </a:r>
            <a:endParaRPr lang="en-US" sz="1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PASSA: comunalidade &lt; 0,30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Versão V037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sem extremo · com lixo · água: só a inadequada · banheiro fora · moradia fora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</a:t>
            </a:r>
            <a:endParaRPr lang="en-US" sz="12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09928"/>
          <a:ext cx="2926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extremo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própria)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87.544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comum)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67.981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840480" y="1673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</a:t>
            </a:r>
            <a:endParaRPr lang="en-US" sz="1200" dirty="0"/>
          </a:p>
        </p:txBody>
      </p:sp>
      <p:graphicFrame>
        <p:nvGraphicFramePr>
          <p:cNvPr id="7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709928"/>
          <a:ext cx="3429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0,7825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qui-quadrado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235.110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graus de liberdade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mínimo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0,700 (Lixo inadequado)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de Horn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retidos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dos 2 fatores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62,12%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 entre F1 e F2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variação de peso (um município de fora)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12,73 p.p.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406640" y="16733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e pesos (promax, matriz padrão)</a:t>
            </a:r>
            <a:endParaRPr lang="en-US" sz="1200" dirty="0"/>
          </a:p>
        </p:txBody>
      </p:sp>
      <p:graphicFrame>
        <p:nvGraphicFramePr>
          <p:cNvPr id="118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984248"/>
          <a:ext cx="4005072" cy="914400"/>
        </p:xfrm>
        <a:graphic>
          <a:graphicData uri="http://schemas.openxmlformats.org/drawingml/2006/table">
            <a:tbl>
              <a:tblPr/>
              <a:tblGrid>
                <a:gridCol w="1490472"/>
                <a:gridCol w="530352"/>
                <a:gridCol w="530352"/>
                <a:gridCol w="868680"/>
                <a:gridCol w="585216"/>
              </a:tblGrid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0,479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0,253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4,25%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0,625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0,470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7,25%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0,915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40,00%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0,707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-0,439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0,599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9,28%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-0,005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0,681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12,68%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13,65%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0,725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12,89%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777240" y="4636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 faixas</a:t>
            </a:r>
            <a:endParaRPr lang="en-US" sz="1200" dirty="0"/>
          </a:p>
        </p:txBody>
      </p:sp>
      <p:graphicFrame>
        <p:nvGraphicFramePr>
          <p:cNvPr id="15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946904"/>
          <a:ext cx="106344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463040"/>
                <a:gridCol w="1051560"/>
                <a:gridCol w="1051560"/>
                <a:gridCol w="1051560"/>
                <a:gridCol w="1234440"/>
                <a:gridCol w="1234440"/>
                <a:gridCol w="1261872"/>
              </a:tblGrid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(própria)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(comum)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 (comum, nº mun.)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baixa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média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muito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com a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 de faixa vs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0,8368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0,8443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0,8120 (30)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30,4%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50,0%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11,1%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8,6%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0,7960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38,6%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777240" y="5619115"/>
            <a:ext cx="10634472" cy="294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Kaiser e Horn indicam 2 e 2 fatores; a solução usa 2, que somam 62,12% da variância. A maior carga em F1 é de Renda (invertida); em F2, de Lixo inadequado.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V037</a:t>
            </a:r>
            <a:endParaRPr lang="en-US" sz="11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PASSA: comunalidade &lt; 0,30; carga &lt; 0,40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Versão V038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sem extremo · com lixo · água: só a inadequada · banheiro fora · + moradia não convencional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</a:t>
            </a:r>
            <a:endParaRPr lang="en-US" sz="12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09928"/>
          <a:ext cx="2926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extremo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não convencional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própria)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87.544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comum)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67.981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840480" y="1673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</a:t>
            </a:r>
            <a:endParaRPr lang="en-US" sz="1200" dirty="0"/>
          </a:p>
        </p:txBody>
      </p:sp>
      <p:graphicFrame>
        <p:nvGraphicFramePr>
          <p:cNvPr id="8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709928"/>
          <a:ext cx="3429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0,7826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qui-quadrado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235.746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graus de liberdade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mínimo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0,700 (Lixo inadequado)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de Horn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retidos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dos 2 fatores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54,45%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 entre F1 e F2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variação de peso (um município de fora)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12,64 p.p.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406640" y="16733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e pesos (promax, matriz padrão)</a:t>
            </a:r>
            <a:endParaRPr lang="en-US" sz="1200" dirty="0"/>
          </a:p>
        </p:txBody>
      </p:sp>
      <p:graphicFrame>
        <p:nvGraphicFramePr>
          <p:cNvPr id="121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984248"/>
          <a:ext cx="4005072" cy="914400"/>
        </p:xfrm>
        <a:graphic>
          <a:graphicData uri="http://schemas.openxmlformats.org/drawingml/2006/table">
            <a:tbl>
              <a:tblPr/>
              <a:tblGrid>
                <a:gridCol w="1490472"/>
                <a:gridCol w="530352"/>
                <a:gridCol w="530352"/>
                <a:gridCol w="868680"/>
                <a:gridCol w="585216"/>
              </a:tblGrid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0,478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0,254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4,24%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0,625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0,470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7,24%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0,913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40,00%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0,706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-0,441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0,600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9,24%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-0,007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0,681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12,65%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13,61%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0,725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12,87%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777240" y="4636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 faixas</a:t>
            </a:r>
            <a:endParaRPr lang="en-US" sz="1200" dirty="0"/>
          </a:p>
        </p:txBody>
      </p:sp>
      <p:graphicFrame>
        <p:nvGraphicFramePr>
          <p:cNvPr id="16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946904"/>
          <a:ext cx="106344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463040"/>
                <a:gridCol w="1051560"/>
                <a:gridCol w="1051560"/>
                <a:gridCol w="1051560"/>
                <a:gridCol w="1234440"/>
                <a:gridCol w="1234440"/>
                <a:gridCol w="1261872"/>
              </a:tblGrid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(própria)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(comum)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 (comum, nº mun.)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baixa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média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muito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com a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 de faixa vs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0,8368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0,8443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0,8120 (30)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30,4%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50,0%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11,1%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8,6%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0,7959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38,6%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777240" y="5619115"/>
            <a:ext cx="10634472" cy="294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Kaiser e Horn indicam 2 e 2 fatores; a solução usa 2, que somam 54,45% da variância. A maior carga em F1 é de Renda (invertida); em F2, de Lixo inadequado.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V038</a:t>
            </a:r>
            <a:endParaRPr lang="en-US" sz="11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PASSA NOS CRITÉRIOS DO NB05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Versão V039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sem extremo · com lixo · água: só a inadequada · + sem banheiro · moradia fora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</a:t>
            </a:r>
            <a:endParaRPr lang="en-US" sz="12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09928"/>
          <a:ext cx="2926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extremo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sem banheiro (V00495)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própria)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75.954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comum)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67.981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840480" y="1673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</a:t>
            </a:r>
            <a:endParaRPr lang="en-US" sz="1200" dirty="0"/>
          </a:p>
        </p:txBody>
      </p:sp>
      <p:graphicFrame>
        <p:nvGraphicFramePr>
          <p:cNvPr id="8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709928"/>
          <a:ext cx="3429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0,7915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qui-quadrado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211.961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graus de liberdade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mínimo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0,691 (Lixo inadequado)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de Horn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retidos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dos 2 fatores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56,37%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 entre F1 e F2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0,394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variação de peso (um município de fora)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28,22 p.p.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406640" y="16733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e pesos (promax, matriz padrão)</a:t>
            </a:r>
            <a:endParaRPr lang="en-US" sz="1200" dirty="0"/>
          </a:p>
        </p:txBody>
      </p:sp>
      <p:graphicFrame>
        <p:nvGraphicFramePr>
          <p:cNvPr id="12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984248"/>
          <a:ext cx="4005072" cy="914400"/>
        </p:xfrm>
        <a:graphic>
          <a:graphicData uri="http://schemas.openxmlformats.org/drawingml/2006/table">
            <a:tbl>
              <a:tblPr/>
              <a:tblGrid>
                <a:gridCol w="1490472"/>
                <a:gridCol w="530352"/>
                <a:gridCol w="530352"/>
                <a:gridCol w="868680"/>
                <a:gridCol w="585216"/>
              </a:tblGrid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0,585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9,24%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0,363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0,495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0,519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6,61%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-0,186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0,713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13,72%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-0,196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0,479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12,14%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-0,029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16,41%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17,00%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14,45%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0,622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10,43%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777240" y="4636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 faixas</a:t>
            </a:r>
            <a:endParaRPr lang="en-US" sz="1200" dirty="0"/>
          </a:p>
        </p:txBody>
      </p:sp>
      <p:graphicFrame>
        <p:nvGraphicFramePr>
          <p:cNvPr id="16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946904"/>
          <a:ext cx="106344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463040"/>
                <a:gridCol w="1051560"/>
                <a:gridCol w="1051560"/>
                <a:gridCol w="1051560"/>
                <a:gridCol w="1234440"/>
                <a:gridCol w="1234440"/>
                <a:gridCol w="1261872"/>
              </a:tblGrid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(própria)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(comum)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 (comum, nº mun.)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baixa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média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muito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com a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 de faixa vs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0,8597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0,8623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0,8453 (30)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29,4%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44,5%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19,0%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7,1%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0,9239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22,4%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777240" y="5619115"/>
            <a:ext cx="10634472" cy="294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Kaiser e Horn indicam 3 e 2 fatores; a solução usa 2, que somam 56,37% da variância. A maior carga em F1 é de Renda (invertida); em F2, de Lixo inadequado.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V039</a:t>
            </a:r>
            <a:endParaRPr lang="en-US" sz="11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PASSA: comunalidade &lt; 0,30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Versão V040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sem extremo · com lixo · água: só a inadequada · + sem banheiro · + moradia não convencional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</a:t>
            </a:r>
            <a:endParaRPr lang="en-US" sz="12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09928"/>
          <a:ext cx="2926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extremo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sem banheiro (V00495)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não convencional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própria)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75.954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comum)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67.981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840480" y="1673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</a:t>
            </a:r>
            <a:endParaRPr lang="en-US" sz="1200" dirty="0"/>
          </a:p>
        </p:txBody>
      </p:sp>
      <p:graphicFrame>
        <p:nvGraphicFramePr>
          <p:cNvPr id="8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709928"/>
          <a:ext cx="3429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0,7899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qui-quadrado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213.506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graus de liberdade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mínimo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0,680 (Moradia não convencional)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de Horn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retidos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dos 2 fatores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50,42%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 entre F1 e F2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0,367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variação de peso (um município de fora)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7,11 p.p.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406640" y="16733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e pesos (promax, matriz padrão)</a:t>
            </a:r>
            <a:endParaRPr lang="en-US" sz="1200" dirty="0"/>
          </a:p>
        </p:txBody>
      </p:sp>
      <p:graphicFrame>
        <p:nvGraphicFramePr>
          <p:cNvPr id="12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984248"/>
          <a:ext cx="4005072" cy="914400"/>
        </p:xfrm>
        <a:graphic>
          <a:graphicData uri="http://schemas.openxmlformats.org/drawingml/2006/table">
            <a:tbl>
              <a:tblPr/>
              <a:tblGrid>
                <a:gridCol w="1490472"/>
                <a:gridCol w="530352"/>
                <a:gridCol w="530352"/>
                <a:gridCol w="868680"/>
                <a:gridCol w="585216"/>
              </a:tblGrid>
              <a:tr h="207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0,548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8,00%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0,497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5,59%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-0,108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0,603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0,327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9,66%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0,721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-0,159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11,58%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-0,009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0,729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16,36%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17,30%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14,76%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-0,008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0,673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12,04%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-0,145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0,420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4,70%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777240" y="4636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 faixas</a:t>
            </a:r>
            <a:endParaRPr lang="en-US" sz="1200" dirty="0"/>
          </a:p>
        </p:txBody>
      </p:sp>
      <p:graphicFrame>
        <p:nvGraphicFramePr>
          <p:cNvPr id="169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946904"/>
          <a:ext cx="106344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463040"/>
                <a:gridCol w="1051560"/>
                <a:gridCol w="1051560"/>
                <a:gridCol w="1051560"/>
                <a:gridCol w="1234440"/>
                <a:gridCol w="1234440"/>
                <a:gridCol w="1261872"/>
              </a:tblGrid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(própria)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(comum)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 (comum, nº mun.)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baixa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média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muito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com a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 de faixa vs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0,8643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0,8671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0,8524 (30)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28,9%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43,5%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21,1%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0,9460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18,7%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777240" y="5619115"/>
            <a:ext cx="10634472" cy="294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Kaiser e Horn indicam 3 e 3 fatores; a solução usa 2, que somam 50,42% da variância. A maior carga em F1 é de Renda (invertida); em F2, de Sem banheiro.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V040</a:t>
            </a:r>
            <a:endParaRPr lang="en-US" sz="11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PASSA: comunalidade &lt; 0,30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Versão V041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sem extremo · com lixo · água: só a inadequada · + banheiro graduado · moradia fora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</a:t>
            </a:r>
            <a:endParaRPr lang="en-US" sz="12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09928"/>
          <a:ext cx="2926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extremo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banheiro graduado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própria)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73.877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comum)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67.981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840480" y="1673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</a:t>
            </a:r>
            <a:endParaRPr lang="en-US" sz="1200" dirty="0"/>
          </a:p>
        </p:txBody>
      </p:sp>
      <p:graphicFrame>
        <p:nvGraphicFramePr>
          <p:cNvPr id="8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709928"/>
          <a:ext cx="3429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0,7741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qui-quadrado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192.199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graus de liberdade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mínimo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0,643 (Lixo inadequado)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de Horn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retidos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dos 2 fatores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54,29%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 entre F1 e F2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variação de peso (um município de fora)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16,17 p.p.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406640" y="16733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e pesos (promax, matriz padrão)</a:t>
            </a:r>
            <a:endParaRPr lang="en-US" sz="1200" dirty="0"/>
          </a:p>
        </p:txBody>
      </p:sp>
      <p:graphicFrame>
        <p:nvGraphicFramePr>
          <p:cNvPr id="13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984248"/>
          <a:ext cx="4005072" cy="914400"/>
        </p:xfrm>
        <a:graphic>
          <a:graphicData uri="http://schemas.openxmlformats.org/drawingml/2006/table">
            <a:tbl>
              <a:tblPr/>
              <a:tblGrid>
                <a:gridCol w="1490472"/>
                <a:gridCol w="530352"/>
                <a:gridCol w="530352"/>
                <a:gridCol w="868680"/>
                <a:gridCol w="585216"/>
              </a:tblGrid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0,369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8,43%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0,406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0,492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6,29%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-0,140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0,713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15,60%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-0,239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0,478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11,78%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-0,038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0,725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16,32%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17,09%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14,80%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-0,052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0,562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0,299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9,68%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777240" y="4636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 faixas</a:t>
            </a:r>
            <a:endParaRPr lang="en-US" sz="1200" dirty="0"/>
          </a:p>
        </p:txBody>
      </p:sp>
      <p:graphicFrame>
        <p:nvGraphicFramePr>
          <p:cNvPr id="17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946904"/>
          <a:ext cx="106344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463040"/>
                <a:gridCol w="1051560"/>
                <a:gridCol w="1051560"/>
                <a:gridCol w="1051560"/>
                <a:gridCol w="1234440"/>
                <a:gridCol w="1234440"/>
                <a:gridCol w="1261872"/>
              </a:tblGrid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(própria)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(comum)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 (comum, nº mun.)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baixa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média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muito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com a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 de faixa vs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0,8576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0,8614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0,8460 (30)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29,4%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44,6%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7,1%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0,9141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23,0%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777240" y="5619115"/>
            <a:ext cx="10634472" cy="294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Kaiser e Horn indicam 3 e 3 fatores; a solução usa 2, que somam 54,29% da variância. A maior carga em F1 é de Renda (invertida); em F2, de Lixo inadequado.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V041</a:t>
            </a:r>
            <a:endParaRPr lang="en-US" sz="11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PASSA: comunalidade &lt; 0,30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Versão V042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sem extremo · com lixo · água: só a inadequada · + banheiro graduado · + moradia não convencional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</a:t>
            </a:r>
            <a:endParaRPr lang="en-US" sz="12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09928"/>
          <a:ext cx="2926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extremo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banheiro graduado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não convencional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própria)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73.877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comum)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67.981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840480" y="1673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</a:t>
            </a:r>
            <a:endParaRPr lang="en-US" sz="1200" dirty="0"/>
          </a:p>
        </p:txBody>
      </p:sp>
      <p:graphicFrame>
        <p:nvGraphicFramePr>
          <p:cNvPr id="8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709928"/>
          <a:ext cx="3429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0,7723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qui-quadrado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193.577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graus de liberdade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mínimo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0,637 (Moradia não convencional)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de Horn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retidos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dos 2 fatores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48,57%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 entre F1 e F2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0,313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variação de peso (um município de fora)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31,46 p.p.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406640" y="16733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e pesos (promax, matriz padrão)</a:t>
            </a:r>
            <a:endParaRPr lang="en-US" sz="1200" dirty="0"/>
          </a:p>
        </p:txBody>
      </p:sp>
      <p:graphicFrame>
        <p:nvGraphicFramePr>
          <p:cNvPr id="13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984248"/>
          <a:ext cx="4005072" cy="914400"/>
        </p:xfrm>
        <a:graphic>
          <a:graphicData uri="http://schemas.openxmlformats.org/drawingml/2006/table">
            <a:tbl>
              <a:tblPr/>
              <a:tblGrid>
                <a:gridCol w="1490472"/>
                <a:gridCol w="530352"/>
                <a:gridCol w="530352"/>
                <a:gridCol w="868680"/>
                <a:gridCol w="585216"/>
              </a:tblGrid>
              <a:tr h="207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0,226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0,328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7,26%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0,381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4,24%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-0,040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0,559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10,70%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0,705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-0,204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0,449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10,20%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-0,035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0,719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15,11%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0,889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-0,006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16,22%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0,069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14,22%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-0,084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0,663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15,08%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-0,121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6,96%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777240" y="4636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 faixas</a:t>
            </a:r>
            <a:endParaRPr lang="en-US" sz="1200" dirty="0"/>
          </a:p>
        </p:txBody>
      </p:sp>
      <p:graphicFrame>
        <p:nvGraphicFramePr>
          <p:cNvPr id="17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946904"/>
          <a:ext cx="106344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463040"/>
                <a:gridCol w="1051560"/>
                <a:gridCol w="1051560"/>
                <a:gridCol w="1051560"/>
                <a:gridCol w="1234440"/>
                <a:gridCol w="1234440"/>
                <a:gridCol w="1261872"/>
              </a:tblGrid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(própria)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(comum)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 (comum, nº mun.)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baixa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média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muito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com a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 de faixa vs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0,8623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0,8663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0,8531 (30)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43,7%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20,9%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0,9362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20,3%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777240" y="5619115"/>
            <a:ext cx="10634472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Kaiser e Horn indicam 3 e 3 fatores; a solução usa 2, que somam 48,57% da variância. A maior carga em F1 é de Renda (invertida); em F2, de Banheiro graduado.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V042</a:t>
            </a:r>
            <a:endParaRPr lang="en-US" sz="11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PASSA: comunalidade &lt; 0,30; carga &lt; 0,40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Versão V043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sem extremo · com lixo · + água não chega · banheiro fora · moradia fora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</a:t>
            </a:r>
            <a:endParaRPr lang="en-US" sz="12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09928"/>
          <a:ext cx="2926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extremo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não chega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própria)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78.255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comum)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67.981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840480" y="1673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</a:t>
            </a:r>
            <a:endParaRPr lang="en-US" sz="1200" dirty="0"/>
          </a:p>
        </p:txBody>
      </p:sp>
      <p:graphicFrame>
        <p:nvGraphicFramePr>
          <p:cNvPr id="9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709928"/>
          <a:ext cx="3429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0,7803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qui-quadrado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232.582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graus de liberdade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mínimo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0,693 (Água inadequada)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de Horn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retidos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dos 2 fatores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58,51%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 entre F1 e F2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variação de peso (um município de fora)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5,09 p.p.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406640" y="16733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e pesos (promax, matriz padrão)</a:t>
            </a:r>
            <a:endParaRPr lang="en-US" sz="1200" dirty="0"/>
          </a:p>
        </p:txBody>
      </p:sp>
      <p:graphicFrame>
        <p:nvGraphicFramePr>
          <p:cNvPr id="13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984248"/>
          <a:ext cx="4005072" cy="914400"/>
        </p:xfrm>
        <a:graphic>
          <a:graphicData uri="http://schemas.openxmlformats.org/drawingml/2006/table">
            <a:tbl>
              <a:tblPr/>
              <a:tblGrid>
                <a:gridCol w="1490472"/>
                <a:gridCol w="530352"/>
                <a:gridCol w="530352"/>
                <a:gridCol w="868680"/>
                <a:gridCol w="585216"/>
              </a:tblGrid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-0,041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0,684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16,37%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0,495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4,79%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2,54%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0,676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-0,098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9,71%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-0,081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17,13%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-0,043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18,12%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15,04%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-0,104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0,644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16,30%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777240" y="4636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 faixas</a:t>
            </a:r>
            <a:endParaRPr lang="en-US" sz="1200" dirty="0"/>
          </a:p>
        </p:txBody>
      </p:sp>
      <p:graphicFrame>
        <p:nvGraphicFramePr>
          <p:cNvPr id="18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946904"/>
          <a:ext cx="106344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463040"/>
                <a:gridCol w="1051560"/>
                <a:gridCol w="1051560"/>
                <a:gridCol w="1051560"/>
                <a:gridCol w="1234440"/>
                <a:gridCol w="1234440"/>
                <a:gridCol w="1261872"/>
              </a:tblGrid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(própria)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(comum)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 (comum, nº mun.)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baixa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média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muito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com a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 de faixa vs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0,8423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0,8478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0,8311 (30)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28,7%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42,2%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24,0%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5,1%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0,9910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8,4%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777240" y="5619115"/>
            <a:ext cx="10634472" cy="294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Kaiser e Horn indicam 3 e 3 fatores; a solução usa 2, que somam 58,51% da variância. A maior carga em F1 é de Renda (invertida); em F2, de Água inadequada.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V043</a:t>
            </a:r>
            <a:endParaRPr lang="en-US" sz="11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PASSA: comunalidade &lt; 0,30; carga &lt; 0,40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Versão V044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sem extremo · com lixo · + água não chega · banheiro fora · + moradia não convencional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</a:t>
            </a:r>
            <a:endParaRPr lang="en-US" sz="120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09928"/>
          <a:ext cx="2926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extremo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não chega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não convencional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própria)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78.255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comum)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67.981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840480" y="1673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</a:t>
            </a:r>
            <a:endParaRPr lang="en-US" sz="1200" dirty="0"/>
          </a:p>
        </p:txBody>
      </p:sp>
      <p:graphicFrame>
        <p:nvGraphicFramePr>
          <p:cNvPr id="9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709928"/>
          <a:ext cx="3429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0,7804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qui-quadrado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233.239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graus de liberdade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mínimo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0,694 (Água inadequada)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de Horn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retidos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dos 2 fatores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52,10%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 entre F1 e F2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variação de peso (um município de fora)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5,02 p.p.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406640" y="16733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e pesos (promax, matriz padrão)</a:t>
            </a:r>
            <a:endParaRPr lang="en-US" sz="1200" dirty="0"/>
          </a:p>
        </p:txBody>
      </p:sp>
      <p:graphicFrame>
        <p:nvGraphicFramePr>
          <p:cNvPr id="13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984248"/>
          <a:ext cx="4005072" cy="914400"/>
        </p:xfrm>
        <a:graphic>
          <a:graphicData uri="http://schemas.openxmlformats.org/drawingml/2006/table">
            <a:tbl>
              <a:tblPr/>
              <a:tblGrid>
                <a:gridCol w="1490472"/>
                <a:gridCol w="530352"/>
                <a:gridCol w="530352"/>
                <a:gridCol w="868680"/>
                <a:gridCol w="585216"/>
              </a:tblGrid>
              <a:tr h="207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-0,040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0,684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16,37%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0,495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4,77%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2,54%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0,675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-0,098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0,408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9,63%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0,899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-0,083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17,08%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-0,044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18,04%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0,049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15,00%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-0,104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0,645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16,32%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0,25%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777240" y="4636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 faixas</a:t>
            </a:r>
            <a:endParaRPr lang="en-US" sz="1200" dirty="0"/>
          </a:p>
        </p:txBody>
      </p:sp>
      <p:graphicFrame>
        <p:nvGraphicFramePr>
          <p:cNvPr id="18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946904"/>
          <a:ext cx="106344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463040"/>
                <a:gridCol w="1051560"/>
                <a:gridCol w="1051560"/>
                <a:gridCol w="1051560"/>
                <a:gridCol w="1234440"/>
                <a:gridCol w="1234440"/>
                <a:gridCol w="1261872"/>
              </a:tblGrid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(própria)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(comum)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 (comum, nº mun.)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baixa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média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muito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com a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 de faixa vs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0,8423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0,8479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0,8310 (30)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28,7%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42,2%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23,9%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5,1%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0,9911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8,4%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777240" y="5619115"/>
            <a:ext cx="10634472" cy="294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Kaiser e Horn indicam 3 e 3 fatores; a solução usa 2, que somam 52,10% da variância. A maior carga em F1 é de Renda (invertida); em F2, de Água inadequada.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V044</a:t>
            </a:r>
            <a:endParaRPr lang="en-US" sz="11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PASSA: comunalidade &lt; 0,30; carga &lt; 0,40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Versão V045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sem extremo · com lixo · + água não chega · + sem banheiro · moradia fora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</a:t>
            </a:r>
            <a:endParaRPr lang="en-US" sz="120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09928"/>
          <a:ext cx="2926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extremo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não chega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sem banheiro (V00495)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própria)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69.479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comum)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67.981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840480" y="1673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</a:t>
            </a:r>
            <a:endParaRPr lang="en-US" sz="1200" dirty="0"/>
          </a:p>
        </p:txBody>
      </p:sp>
      <p:graphicFrame>
        <p:nvGraphicFramePr>
          <p:cNvPr id="9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709928"/>
          <a:ext cx="3429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0,7839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qui-quadrado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216.149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graus de liberdade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mínimo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0,693 (Lixo inadequado)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de Horn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retidos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dos 2 fatores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54,63%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 entre F1 e F2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0,414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variação de peso (um município de fora)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3,36 p.p.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406640" y="16733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e pesos (promax, matriz padrão)</a:t>
            </a:r>
            <a:endParaRPr lang="en-US" sz="1200" dirty="0"/>
          </a:p>
        </p:txBody>
      </p:sp>
      <p:graphicFrame>
        <p:nvGraphicFramePr>
          <p:cNvPr id="14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984248"/>
          <a:ext cx="4005072" cy="914400"/>
        </p:xfrm>
        <a:graphic>
          <a:graphicData uri="http://schemas.openxmlformats.org/drawingml/2006/table">
            <a:tbl>
              <a:tblPr/>
              <a:tblGrid>
                <a:gridCol w="1490472"/>
                <a:gridCol w="530352"/>
                <a:gridCol w="530352"/>
                <a:gridCol w="868680"/>
                <a:gridCol w="585216"/>
              </a:tblGrid>
              <a:tr h="207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0,543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10,85%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0,409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3,40%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0,313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1,99%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0,673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-0,092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9,62%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-0,069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16,87%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-0,043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18,03%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15,48%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-0,098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0,633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14,04%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-0,059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0,691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9,71%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777240" y="4636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 faixas</a:t>
            </a:r>
            <a:endParaRPr lang="en-US" sz="1200" dirty="0"/>
          </a:p>
        </p:txBody>
      </p:sp>
      <p:graphicFrame>
        <p:nvGraphicFramePr>
          <p:cNvPr id="189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946904"/>
          <a:ext cx="106344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463040"/>
                <a:gridCol w="1051560"/>
                <a:gridCol w="1051560"/>
                <a:gridCol w="1051560"/>
                <a:gridCol w="1234440"/>
                <a:gridCol w="1234440"/>
                <a:gridCol w="1261872"/>
              </a:tblGrid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(própria)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(comum)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 (comum, nº mun.)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baixa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média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muito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com a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 de faixa vs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0,8547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0,8528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0,8493 (30)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40,4%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26,2%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0,9881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9,3%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777240" y="5619115"/>
            <a:ext cx="10634472" cy="294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Kaiser e Horn indicam 3 e 3 fatores; a solução usa 2, que somam 54,63% da variância. A maior carga em F1 é de Renda (invertida); em F2, de Água não chega.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V045</a:t>
            </a:r>
            <a:endParaRPr lang="en-US" sz="11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PASSA: comunalidade &lt; 0,30; carga &lt; 0,40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Versão V046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sem extremo · com lixo · + água não chega · + sem banheiro · + moradia não convencional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</a:t>
            </a:r>
            <a:endParaRPr lang="en-US" sz="1200" dirty="0"/>
          </a:p>
        </p:txBody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09928"/>
          <a:ext cx="2926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extremo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não chega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sem banheiro (V00495)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não convencional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própria)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69.479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comum)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67.981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840480" y="1673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</a:t>
            </a:r>
            <a:endParaRPr lang="en-US" sz="1200" dirty="0"/>
          </a:p>
        </p:txBody>
      </p:sp>
      <p:graphicFrame>
        <p:nvGraphicFramePr>
          <p:cNvPr id="9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709928"/>
          <a:ext cx="3429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0,7825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qui-quadrado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217.643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graus de liberdade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mínimo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0,673 (Moradia não convencional)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de Horn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retidos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dos 2 fatores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49,30%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 entre F1 e F2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0,416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variação de peso (um município de fora)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3,40 p.p.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406640" y="16733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e pesos (promax, matriz padrão)</a:t>
            </a:r>
            <a:endParaRPr lang="en-US" sz="1200" dirty="0"/>
          </a:p>
        </p:txBody>
      </p:sp>
      <p:graphicFrame>
        <p:nvGraphicFramePr>
          <p:cNvPr id="14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984248"/>
          <a:ext cx="4005072" cy="914400"/>
        </p:xfrm>
        <a:graphic>
          <a:graphicData uri="http://schemas.openxmlformats.org/drawingml/2006/table">
            <a:tbl>
              <a:tblPr/>
              <a:tblGrid>
                <a:gridCol w="1490472"/>
                <a:gridCol w="530352"/>
                <a:gridCol w="530352"/>
                <a:gridCol w="868680"/>
                <a:gridCol w="585216"/>
              </a:tblGrid>
              <a:tr h="207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0,724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0,535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10,60%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0,405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3,32%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0,310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1,95%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0,675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-0,097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9,66%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-0,069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16,84%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-0,045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18,02%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15,47%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-0,097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0,624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13,79%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0,701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9,94%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777240" y="4636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 faixas</a:t>
            </a:r>
            <a:endParaRPr lang="en-US" sz="1200" dirty="0"/>
          </a:p>
        </p:txBody>
      </p:sp>
      <p:graphicFrame>
        <p:nvGraphicFramePr>
          <p:cNvPr id="19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946904"/>
          <a:ext cx="106344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463040"/>
                <a:gridCol w="1051560"/>
                <a:gridCol w="1051560"/>
                <a:gridCol w="1051560"/>
                <a:gridCol w="1234440"/>
                <a:gridCol w="1234440"/>
                <a:gridCol w="1261872"/>
              </a:tblGrid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(própria)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(comum)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 (comum, nº mun.)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baixa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média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muito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com a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 de faixa vs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0,8549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0,8531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0,8497 (30)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40,4%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26,3%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0,9877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777240" y="5619115"/>
            <a:ext cx="10634472" cy="294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Kaiser e Horn indicam 4 e 4 fatores; a solução usa 2, que somam 49,30% da variância. A maior carga em F1 é de Renda (invertida); em F2, de Água não chega.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V046</a:t>
            </a:r>
            <a:endParaRPr lang="en-US" sz="11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PASSA: comunalidade &lt; 0,30; carga &lt; 0,40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Versão V047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sem extremo · com lixo · + água não chega · + banheiro graduado · moradia fora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</a:t>
            </a:r>
            <a:endParaRPr lang="en-US" sz="1200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09928"/>
          <a:ext cx="2926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extremo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não chega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banheiro graduado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própria)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68.000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comum)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67.981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840480" y="1673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</a:t>
            </a:r>
            <a:endParaRPr lang="en-US" sz="1200" dirty="0"/>
          </a:p>
        </p:txBody>
      </p:sp>
      <p:graphicFrame>
        <p:nvGraphicFramePr>
          <p:cNvPr id="9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709928"/>
          <a:ext cx="3429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0,7669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qui-quadrado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191.864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graus de liberdade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mínimo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0,637 (Lixo inadequado)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de Horn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retidos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dos 2 fatores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51,86%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 entre F1 e F2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0,360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variação de peso (um município de fora)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3,43 p.p.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406640" y="16733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e pesos (promax, matriz padrão)</a:t>
            </a:r>
            <a:endParaRPr lang="en-US" sz="1200" dirty="0"/>
          </a:p>
        </p:txBody>
      </p:sp>
      <p:graphicFrame>
        <p:nvGraphicFramePr>
          <p:cNvPr id="148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984248"/>
          <a:ext cx="4005072" cy="914400"/>
        </p:xfrm>
        <a:graphic>
          <a:graphicData uri="http://schemas.openxmlformats.org/drawingml/2006/table">
            <a:tbl>
              <a:tblPr/>
              <a:tblGrid>
                <a:gridCol w="1490472"/>
                <a:gridCol w="530352"/>
                <a:gridCol w="530352"/>
                <a:gridCol w="868680"/>
                <a:gridCol w="585216"/>
              </a:tblGrid>
              <a:tr h="207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0,558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12,63%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0,399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0,404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0,439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3,77%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0,286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1,88%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0,662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-0,096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0,402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9,49%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16,87%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0,915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-0,037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18,11%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15,53%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-0,093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0,590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14,61%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-0,092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0,556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0,281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7,12%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777240" y="4636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 faixas</a:t>
            </a:r>
            <a:endParaRPr lang="en-US" sz="1200" dirty="0"/>
          </a:p>
        </p:txBody>
      </p:sp>
      <p:graphicFrame>
        <p:nvGraphicFramePr>
          <p:cNvPr id="19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946904"/>
          <a:ext cx="106344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463040"/>
                <a:gridCol w="1051560"/>
                <a:gridCol w="1051560"/>
                <a:gridCol w="1051560"/>
                <a:gridCol w="1234440"/>
                <a:gridCol w="1234440"/>
                <a:gridCol w="1261872"/>
              </a:tblGrid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(própria)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(comum)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 (comum, nº mun.)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baixa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média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muito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com a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 de faixa vs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0,8478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0,8479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0,8456 (30)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28,6%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40,2%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26,3%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0,9923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777240" y="5619115"/>
            <a:ext cx="10634472" cy="294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Kaiser e Horn indicam 3 e 3 fatores; a solução usa 2, que somam 51,86% da variância. A maior carga em F1 é de Renda (invertida); em F2, de Água não chega.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V047</a:t>
            </a:r>
            <a:endParaRPr lang="en-US" sz="11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PASSA: comunalidade &lt; 0,30; carga &lt; 0,40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Versão V048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sem extremo · com lixo · + água não chega · + banheiro graduado · + moradia não convencional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</a:t>
            </a:r>
            <a:endParaRPr lang="en-US" sz="1200" dirty="0"/>
          </a:p>
        </p:txBody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09928"/>
          <a:ext cx="2926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extremo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não chega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banheiro graduado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não convencional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própria)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68.000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comum)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67.981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840480" y="1673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</a:t>
            </a:r>
            <a:endParaRPr lang="en-US" sz="1200" dirty="0"/>
          </a:p>
        </p:txBody>
      </p:sp>
      <p:graphicFrame>
        <p:nvGraphicFramePr>
          <p:cNvPr id="10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709928"/>
          <a:ext cx="3429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0,7653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qui-quadrado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193.237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graus de liberdade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mínimo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0,636 (Lixo inadequado)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de Horn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retidos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dos 2 fatores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46,79%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 entre F1 e F2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0,362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variação de peso (um município de fora)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3,46 p.p.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406640" y="16733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e pesos (promax, matriz padrão)</a:t>
            </a:r>
            <a:endParaRPr lang="en-US" sz="1200" dirty="0"/>
          </a:p>
        </p:txBody>
      </p:sp>
      <p:graphicFrame>
        <p:nvGraphicFramePr>
          <p:cNvPr id="151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984248"/>
          <a:ext cx="4005072" cy="914400"/>
        </p:xfrm>
        <a:graphic>
          <a:graphicData uri="http://schemas.openxmlformats.org/drawingml/2006/table">
            <a:tbl>
              <a:tblPr/>
              <a:tblGrid>
                <a:gridCol w="1490472"/>
                <a:gridCol w="530352"/>
                <a:gridCol w="530352"/>
                <a:gridCol w="868680"/>
                <a:gridCol w="585216"/>
              </a:tblGrid>
              <a:tr h="207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0,547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13,52%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0,401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0,399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3,29%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0,283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2,02%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0,664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-0,100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0,402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9,00%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15,92%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0,915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-0,038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17,11%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14,68%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-0,091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0,789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0,580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15,74%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-0,099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0,573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0,297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8,29%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777240" y="4636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 faixas</a:t>
            </a:r>
            <a:endParaRPr lang="en-US" sz="1200" dirty="0"/>
          </a:p>
        </p:txBody>
      </p:sp>
      <p:graphicFrame>
        <p:nvGraphicFramePr>
          <p:cNvPr id="20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946904"/>
          <a:ext cx="106344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463040"/>
                <a:gridCol w="1051560"/>
                <a:gridCol w="1051560"/>
                <a:gridCol w="1051560"/>
                <a:gridCol w="1234440"/>
                <a:gridCol w="1234440"/>
                <a:gridCol w="1261872"/>
              </a:tblGrid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(própria)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(comum)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 (comum, nº mun.)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baixa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média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muito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com a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 de faixa vs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0,8461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0,8462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0,8425 (30)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28,7%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40,6%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26,0%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0,9924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8,6%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777240" y="5619115"/>
            <a:ext cx="10634472" cy="294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Kaiser e Horn indicam 4 e 4 fatores; a solução usa 2, que somam 46,79% da variância. A maior carga em F1 é de Renda (invertida); em F2, de Água não chega.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V048</a:t>
            </a:r>
            <a:endParaRPr lang="en-US" sz="11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PASSA: comunalidade &lt; 0,30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Versão V049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sem extremo · com lixo · + sem água canalizada · banheiro fora · moradia fora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</a:t>
            </a:r>
            <a:endParaRPr lang="en-US" sz="1200" dirty="0"/>
          </a:p>
        </p:txBody>
      </p:sp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09928"/>
          <a:ext cx="2926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extremo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sem canalização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própria)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87.511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comum)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67.981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840480" y="1673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</a:t>
            </a:r>
            <a:endParaRPr lang="en-US" sz="1200" dirty="0"/>
          </a:p>
        </p:txBody>
      </p:sp>
      <p:graphicFrame>
        <p:nvGraphicFramePr>
          <p:cNvPr id="10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709928"/>
          <a:ext cx="3429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0,8051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qui-quadrado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271.523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graus de liberdade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mínimo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0,733 (Lixo inadequado)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de Horn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retidos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dos 2 fatores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59,24%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 entre F1 e F2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variação de peso (um município de fora)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8,80 p.p.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406640" y="16733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e pesos (promax, matriz padrão)</a:t>
            </a:r>
            <a:endParaRPr lang="en-US" sz="1200" dirty="0"/>
          </a:p>
        </p:txBody>
      </p:sp>
      <p:graphicFrame>
        <p:nvGraphicFramePr>
          <p:cNvPr id="15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984248"/>
          <a:ext cx="4005072" cy="914400"/>
        </p:xfrm>
        <a:graphic>
          <a:graphicData uri="http://schemas.openxmlformats.org/drawingml/2006/table">
            <a:tbl>
              <a:tblPr/>
              <a:tblGrid>
                <a:gridCol w="1490472"/>
                <a:gridCol w="530352"/>
                <a:gridCol w="530352"/>
                <a:gridCol w="868680"/>
                <a:gridCol w="585216"/>
              </a:tblGrid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-0,042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0,596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14,11%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0,516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6,22%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-0,141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0,574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0,277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7,45%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-0,160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12,17%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0,870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-0,021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16,97%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0,877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17,24%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13,62%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0,610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12,22%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777240" y="4636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 faixas</a:t>
            </a:r>
            <a:endParaRPr lang="en-US" sz="1200" dirty="0"/>
          </a:p>
        </p:txBody>
      </p:sp>
      <p:graphicFrame>
        <p:nvGraphicFramePr>
          <p:cNvPr id="20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946904"/>
          <a:ext cx="106344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463040"/>
                <a:gridCol w="1051560"/>
                <a:gridCol w="1051560"/>
                <a:gridCol w="1051560"/>
                <a:gridCol w="1234440"/>
                <a:gridCol w="1234440"/>
                <a:gridCol w="1261872"/>
              </a:tblGrid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(própria)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(comum)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 (comum, nº mun.)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baixa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média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muito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com a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 de faixa vs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0,8447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0,8557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0,8235 (30)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29,0%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44,0%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6,2%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0,9679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18,6%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777240" y="5619115"/>
            <a:ext cx="10634472" cy="294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Kaiser e Horn indicam 3 e 3 fatores; a solução usa 2, que somam 59,24% da variância. A maior carga em F1 é de Renda (invertida); em F2, de Água inadequada.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V049</a:t>
            </a:r>
            <a:endParaRPr lang="en-US" sz="11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PASSA: comunalidade &lt; 0,30; carga &lt; 0,40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Versão V050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sem extremo · com lixo · + sem água canalizada · banheiro fora · + moradia não convencional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</a:t>
            </a:r>
            <a:endParaRPr lang="en-US" sz="1200" dirty="0"/>
          </a:p>
        </p:txBody>
      </p:sp>
      <p:graphicFrame>
        <p:nvGraphicFramePr>
          <p:cNvPr id="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09928"/>
          <a:ext cx="2926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extremo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sem canalização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não convencional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própria)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87.511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comum)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67.981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840480" y="1673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</a:t>
            </a:r>
            <a:endParaRPr lang="en-US" sz="1200" dirty="0"/>
          </a:p>
        </p:txBody>
      </p:sp>
      <p:graphicFrame>
        <p:nvGraphicFramePr>
          <p:cNvPr id="10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709928"/>
          <a:ext cx="3429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0,8051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qui-quadrado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272.236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graus de liberdade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mínimo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0,732 (Lixo inadequado)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de Horn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retidos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dos 2 fatores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52,75%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 entre F1 e F2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variação de peso (um município de fora)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8,64 p.p.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406640" y="16733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e pesos (promax, matriz padrão)</a:t>
            </a:r>
            <a:endParaRPr lang="en-US" sz="1200" dirty="0"/>
          </a:p>
        </p:txBody>
      </p:sp>
      <p:graphicFrame>
        <p:nvGraphicFramePr>
          <p:cNvPr id="15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984248"/>
          <a:ext cx="4005072" cy="914400"/>
        </p:xfrm>
        <a:graphic>
          <a:graphicData uri="http://schemas.openxmlformats.org/drawingml/2006/table">
            <a:tbl>
              <a:tblPr/>
              <a:tblGrid>
                <a:gridCol w="1490472"/>
                <a:gridCol w="530352"/>
                <a:gridCol w="530352"/>
                <a:gridCol w="868680"/>
                <a:gridCol w="585216"/>
              </a:tblGrid>
              <a:tr h="207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-0,042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0,594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14,02%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0,309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0,514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6,15%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-0,138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0,569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0,272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7,31%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-0,162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12,17%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0,871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16,96%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0,878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17,26%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13,61%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0,610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12,19%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777240" y="4636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 faixas</a:t>
            </a:r>
            <a:endParaRPr lang="en-US" sz="1200" dirty="0"/>
          </a:p>
        </p:txBody>
      </p:sp>
      <p:graphicFrame>
        <p:nvGraphicFramePr>
          <p:cNvPr id="209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946904"/>
          <a:ext cx="106344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463040"/>
                <a:gridCol w="1051560"/>
                <a:gridCol w="1051560"/>
                <a:gridCol w="1051560"/>
                <a:gridCol w="1234440"/>
                <a:gridCol w="1234440"/>
                <a:gridCol w="1261872"/>
              </a:tblGrid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(própria)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(comum)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 (comum, nº mun.)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baixa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média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muito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com a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 de faixa vs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0,8448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0,8558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0,8240 (30)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29,0%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44,0%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20,9%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6,2%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0,9686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777240" y="5619115"/>
            <a:ext cx="10634472" cy="294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Kaiser e Horn indicam 3 e 3 fatores; a solução usa 2, que somam 52,75% da variância. A maior carga em F1 é de Renda (invertida); em F2, de Água inadequada.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V050</a:t>
            </a:r>
            <a:endParaRPr lang="en-US" sz="11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PASSA: comunalidade &lt; 0,30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Versão V051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sem extremo · com lixo · + sem água canalizada · + sem banheiro · moradia fora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</a:t>
            </a:r>
            <a:endParaRPr lang="en-US" sz="1200" dirty="0"/>
          </a:p>
        </p:txBody>
      </p:sp>
      <p:graphicFrame>
        <p:nvGraphicFramePr>
          <p:cNvPr id="5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09928"/>
          <a:ext cx="2926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extremo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sem canalização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sem banheiro (V00495)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própria)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75.926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comum)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67.981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840480" y="1673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</a:t>
            </a:r>
            <a:endParaRPr lang="en-US" sz="1200" dirty="0"/>
          </a:p>
        </p:txBody>
      </p:sp>
      <p:graphicFrame>
        <p:nvGraphicFramePr>
          <p:cNvPr id="10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709928"/>
          <a:ext cx="3429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0,8105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qui-quadrado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243.308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graus de liberdade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mínimo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0,727 (Lixo inadequado)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de Horn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retidos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dos 2 fatores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54,91%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 entre F1 e F2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variação de peso (um município de fora)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4,62 p.p.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406640" y="16733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e pesos (promax, matriz padrão)</a:t>
            </a:r>
            <a:endParaRPr lang="en-US" sz="1200" dirty="0"/>
          </a:p>
        </p:txBody>
      </p:sp>
      <p:graphicFrame>
        <p:nvGraphicFramePr>
          <p:cNvPr id="16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984248"/>
          <a:ext cx="4005072" cy="914400"/>
        </p:xfrm>
        <a:graphic>
          <a:graphicData uri="http://schemas.openxmlformats.org/drawingml/2006/table">
            <a:tbl>
              <a:tblPr/>
              <a:tblGrid>
                <a:gridCol w="1490472"/>
                <a:gridCol w="530352"/>
                <a:gridCol w="530352"/>
                <a:gridCol w="868680"/>
                <a:gridCol w="585216"/>
              </a:tblGrid>
              <a:tr h="207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-0,036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0,544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11,30%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0,317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0,491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0,482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4,80%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-0,071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4,08%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0,699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-0,106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10,72%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-0,034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17,04%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0,900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17,79%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14,45%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0,049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0,599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11,22%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-0,070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0,657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8,60%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777240" y="4636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 faixas</a:t>
            </a:r>
            <a:endParaRPr lang="en-US" sz="1200" dirty="0"/>
          </a:p>
        </p:txBody>
      </p:sp>
      <p:graphicFrame>
        <p:nvGraphicFramePr>
          <p:cNvPr id="21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946904"/>
          <a:ext cx="106344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463040"/>
                <a:gridCol w="1051560"/>
                <a:gridCol w="1051560"/>
                <a:gridCol w="1051560"/>
                <a:gridCol w="1234440"/>
                <a:gridCol w="1234440"/>
                <a:gridCol w="1261872"/>
              </a:tblGrid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(própria)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(comum)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 (comum, nº mun.)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baixa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média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muito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com a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 de faixa vs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0,8516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0,8553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0,8428 (30)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28,7%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42,2%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23,6%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0,9833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777240" y="5619115"/>
            <a:ext cx="10634472" cy="294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Kaiser e Horn indicam 3 e 3 fatores; a solução usa 2, que somam 54,91% da variância. A maior carga em F1 é de Renda (invertida); em F2, de Água inadequada.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V051</a:t>
            </a:r>
            <a:endParaRPr lang="en-US" sz="11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PASSA: comunalidade &lt; 0,30; carga &lt; 0,40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Versão V052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sem extremo · com lixo · + sem água canalizada · + sem banheiro · + moradia não convencional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</a:t>
            </a:r>
            <a:endParaRPr lang="en-US" sz="1200" dirty="0"/>
          </a:p>
        </p:txBody>
      </p:sp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09928"/>
          <a:ext cx="2926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extremo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sem canalização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sem banheiro (V00495)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não convencional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própria)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75.926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comum)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67.981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840480" y="1673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</a:t>
            </a:r>
            <a:endParaRPr lang="en-US" sz="1200" dirty="0"/>
          </a:p>
        </p:txBody>
      </p:sp>
      <p:graphicFrame>
        <p:nvGraphicFramePr>
          <p:cNvPr id="10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709928"/>
          <a:ext cx="3429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0,8094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qui-quadrado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244.853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graus de liberdade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mínimo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0,713 (Moradia não convencional)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de Horn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retidos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dos 2 fatores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49,61%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 entre F1 e F2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0,445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variação de peso (um município de fora)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4,63 p.p.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406640" y="16733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e pesos (promax, matriz padrão)</a:t>
            </a:r>
            <a:endParaRPr lang="en-US" sz="1200" dirty="0"/>
          </a:p>
        </p:txBody>
      </p:sp>
      <p:graphicFrame>
        <p:nvGraphicFramePr>
          <p:cNvPr id="16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984248"/>
          <a:ext cx="4005072" cy="914400"/>
        </p:xfrm>
        <a:graphic>
          <a:graphicData uri="http://schemas.openxmlformats.org/drawingml/2006/table">
            <a:tbl>
              <a:tblPr/>
              <a:tblGrid>
                <a:gridCol w="1490472"/>
                <a:gridCol w="530352"/>
                <a:gridCol w="530352"/>
                <a:gridCol w="868680"/>
                <a:gridCol w="585216"/>
              </a:tblGrid>
              <a:tr h="207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-0,016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10,58%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0,329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0,477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0,476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4,52%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-0,056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3,76%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0,697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-0,105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10,74%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0,876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-0,027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16,95%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17,81%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14,50%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0,587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10,78%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-0,082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0,677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9,11%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-0,072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0,251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1,25%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777240" y="4636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 faixas</a:t>
            </a:r>
            <a:endParaRPr lang="en-US" sz="1200" dirty="0"/>
          </a:p>
        </p:txBody>
      </p:sp>
      <p:graphicFrame>
        <p:nvGraphicFramePr>
          <p:cNvPr id="21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946904"/>
          <a:ext cx="106344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463040"/>
                <a:gridCol w="1051560"/>
                <a:gridCol w="1051560"/>
                <a:gridCol w="1051560"/>
                <a:gridCol w="1234440"/>
                <a:gridCol w="1234440"/>
                <a:gridCol w="1261872"/>
              </a:tblGrid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(própria)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(comum)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 (comum, nº mun.)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baixa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média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muito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com a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 de faixa vs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0,8524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0,8559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0,8449 (30)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28,6%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42,0%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24,0%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5,4%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0,9833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777240" y="5619115"/>
            <a:ext cx="10634472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Kaiser e Horn indicam 4 e 3 fatores; a solução usa 2, que somam 49,61% da variância. A maior carga em F1 é de Renda (invertida); em F2, de Sem água canalizada.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V052</a:t>
            </a:r>
            <a:endParaRPr lang="en-US" sz="11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PASSA: comunalidade &lt; 0,30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Versão V053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sem extremo · com lixo · + sem água canalizada · + banheiro graduado · moradia fora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</a:t>
            </a:r>
            <a:endParaRPr lang="en-US" sz="1200" dirty="0"/>
          </a:p>
        </p:txBody>
      </p:sp>
      <p:graphicFrame>
        <p:nvGraphicFramePr>
          <p:cNvPr id="5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09928"/>
          <a:ext cx="2926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extremo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sem canalização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banheiro graduado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própria)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73.853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comum)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67.981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840480" y="1673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</a:t>
            </a:r>
            <a:endParaRPr lang="en-US" sz="1200" dirty="0"/>
          </a:p>
        </p:txBody>
      </p:sp>
      <p:graphicFrame>
        <p:nvGraphicFramePr>
          <p:cNvPr id="1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709928"/>
          <a:ext cx="3429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0,7912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qui-quadrado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216.758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graus de liberdade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mínimo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0,677 (Lixo inadequado)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de Horn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retidos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dos 2 fatores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52,48%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 entre F1 e F2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0,399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variação de peso (um município de fora)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4,50 p.p.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406640" y="16733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e pesos (promax, matriz padrão)</a:t>
            </a:r>
            <a:endParaRPr lang="en-US" sz="1200" dirty="0"/>
          </a:p>
        </p:txBody>
      </p:sp>
      <p:graphicFrame>
        <p:nvGraphicFramePr>
          <p:cNvPr id="16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984248"/>
          <a:ext cx="4005072" cy="914400"/>
        </p:xfrm>
        <a:graphic>
          <a:graphicData uri="http://schemas.openxmlformats.org/drawingml/2006/table">
            <a:tbl>
              <a:tblPr/>
              <a:tblGrid>
                <a:gridCol w="1490472"/>
                <a:gridCol w="530352"/>
                <a:gridCol w="530352"/>
                <a:gridCol w="868680"/>
                <a:gridCol w="585216"/>
              </a:tblGrid>
              <a:tr h="207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-0,025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0,544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12,39%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0,476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5,03%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-0,053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0,425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4,00%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0,689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-0,117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0,424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10,57%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0,873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-0,026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16,99%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17,87%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0,739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14,56%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0,574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11,95%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-0,122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0,546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0,260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6,62%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777240" y="4636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 faixas</a:t>
            </a:r>
            <a:endParaRPr lang="en-US" sz="1200" dirty="0"/>
          </a:p>
        </p:txBody>
      </p:sp>
      <p:graphicFrame>
        <p:nvGraphicFramePr>
          <p:cNvPr id="22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946904"/>
          <a:ext cx="106344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463040"/>
                <a:gridCol w="1051560"/>
                <a:gridCol w="1051560"/>
                <a:gridCol w="1051560"/>
                <a:gridCol w="1234440"/>
                <a:gridCol w="1234440"/>
                <a:gridCol w="1261872"/>
              </a:tblGrid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(própria)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(comum)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 (comum, nº mun.)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baixa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média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muito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com a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 de faixa vs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0,8457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0,8517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0,8411 (30)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28,7%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41,9%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23,9%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0,9867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9,7%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777240" y="5619115"/>
            <a:ext cx="10634472" cy="294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Kaiser e Horn indicam 3 e 3 fatores; a solução usa 2, que somam 52,48% da variância. A maior carga em F1 é de Renda (invertida); em F2, de Água inadequada.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V053</a:t>
            </a:r>
            <a:endParaRPr lang="en-US" sz="11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PASSA: comunalidade &lt; 0,30; carga &lt; 0,40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Versão V054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sem extremo · com lixo · + sem água canalizada · + banheiro graduado · + moradia não convencional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</a:t>
            </a:r>
            <a:endParaRPr lang="en-US" sz="1200" dirty="0"/>
          </a:p>
        </p:txBody>
      </p:sp>
      <p:graphicFrame>
        <p:nvGraphicFramePr>
          <p:cNvPr id="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09928"/>
          <a:ext cx="2926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extremo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sem canalização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banheiro graduado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não convencional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própria)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73.853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comum)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67.981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840480" y="1673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</a:t>
            </a:r>
            <a:endParaRPr lang="en-US" sz="1200" dirty="0"/>
          </a:p>
        </p:txBody>
      </p:sp>
      <p:graphicFrame>
        <p:nvGraphicFramePr>
          <p:cNvPr id="1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709928"/>
          <a:ext cx="3429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0,7897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qui-quadrado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218.146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graus de liberdade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mínimo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0,662 (Moradia não convencional)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de Horn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retidos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dos 2 fatores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47,38%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 entre F1 e F2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variação de peso (um município de fora)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4,46 p.p.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406640" y="16733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e pesos (promax, matriz padrão)</a:t>
            </a:r>
            <a:endParaRPr lang="en-US" sz="1200" dirty="0"/>
          </a:p>
        </p:txBody>
      </p:sp>
      <p:graphicFrame>
        <p:nvGraphicFramePr>
          <p:cNvPr id="16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984248"/>
          <a:ext cx="4005072" cy="914400"/>
        </p:xfrm>
        <a:graphic>
          <a:graphicData uri="http://schemas.openxmlformats.org/drawingml/2006/table">
            <a:tbl>
              <a:tblPr/>
              <a:tblGrid>
                <a:gridCol w="1490472"/>
                <a:gridCol w="530352"/>
                <a:gridCol w="530352"/>
                <a:gridCol w="868680"/>
                <a:gridCol w="585216"/>
              </a:tblGrid>
              <a:tr h="207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-0,002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0,720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0,518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11,52%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0,344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4,70%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-0,039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0,408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3,70%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0,687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-0,116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10,58%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-0,019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16,89%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17,89%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0,739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14,64%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0,717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0,560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11,43%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-0,141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0,581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0,293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7,50%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-0,054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0,229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1,16%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777240" y="4636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 faixas</a:t>
            </a:r>
            <a:endParaRPr lang="en-US" sz="1200" dirty="0"/>
          </a:p>
        </p:txBody>
      </p:sp>
      <p:graphicFrame>
        <p:nvGraphicFramePr>
          <p:cNvPr id="22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946904"/>
          <a:ext cx="106344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463040"/>
                <a:gridCol w="1051560"/>
                <a:gridCol w="1051560"/>
                <a:gridCol w="1051560"/>
                <a:gridCol w="1234440"/>
                <a:gridCol w="1234440"/>
                <a:gridCol w="1261872"/>
              </a:tblGrid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(própria)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(comum)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 (comum, nº mun.)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baixa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média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muito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com a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 de faixa vs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0,8466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0,8525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0,8430 (30)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28,6%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41,7%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24,4%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5,4%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0,9868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9,6%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777240" y="5619115"/>
            <a:ext cx="10634472" cy="294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Kaiser e Horn indicam 4 e 4 fatores; a solução usa 2, que somam 47,38% da variância. A maior carga em F1 é de Renda (invertida); em F2, de Água inadequada.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V054</a:t>
            </a:r>
            <a:endParaRPr lang="en-US" sz="11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PASSA NOS CRITÉRIOS DO NB05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Versão V055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sem extremo · sem lixo · água: só a inadequada · banheiro fora · moradia fora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</a:t>
            </a:r>
            <a:endParaRPr lang="en-US" sz="1200" dirty="0"/>
          </a:p>
        </p:txBody>
      </p:sp>
      <p:graphicFrame>
        <p:nvGraphicFramePr>
          <p:cNvPr id="5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09928"/>
          <a:ext cx="2926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extremo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própria)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87.544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comum)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67.981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840480" y="1673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</a:t>
            </a:r>
            <a:endParaRPr lang="en-US" sz="1200" dirty="0"/>
          </a:p>
        </p:txBody>
      </p:sp>
      <p:graphicFrame>
        <p:nvGraphicFramePr>
          <p:cNvPr id="1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709928"/>
          <a:ext cx="3429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0,7870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qui-quadrado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225.346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graus de liberdade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mínimo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0,715 (Renda (invertida))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de Horn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retidos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dos 2 fatores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69,96%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 entre F1 e F2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variação de peso (um município de fora)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4,69 p.p.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406640" y="16733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e pesos (promax, matriz padrão)</a:t>
            </a:r>
            <a:endParaRPr lang="en-US" sz="1200" dirty="0"/>
          </a:p>
        </p:txBody>
      </p:sp>
      <p:graphicFrame>
        <p:nvGraphicFramePr>
          <p:cNvPr id="17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984248"/>
          <a:ext cx="4005072" cy="914400"/>
        </p:xfrm>
        <a:graphic>
          <a:graphicData uri="http://schemas.openxmlformats.org/drawingml/2006/table">
            <a:tbl>
              <a:tblPr/>
              <a:tblGrid>
                <a:gridCol w="1490472"/>
                <a:gridCol w="530352"/>
                <a:gridCol w="530352"/>
                <a:gridCol w="868680"/>
                <a:gridCol w="585216"/>
              </a:tblGrid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-0,211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27,95%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0,656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0,615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12,05%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0,490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0,380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5,17%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0,930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-0,111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18,63%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0,979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-0,113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20,64%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15,56%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777240" y="4636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 faixas</a:t>
            </a:r>
            <a:endParaRPr lang="en-US" sz="1200" dirty="0"/>
          </a:p>
        </p:txBody>
      </p:sp>
      <p:graphicFrame>
        <p:nvGraphicFramePr>
          <p:cNvPr id="229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946904"/>
          <a:ext cx="106344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463040"/>
                <a:gridCol w="1051560"/>
                <a:gridCol w="1051560"/>
                <a:gridCol w="1051560"/>
                <a:gridCol w="1234440"/>
                <a:gridCol w="1234440"/>
                <a:gridCol w="1261872"/>
              </a:tblGrid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(própria)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(comum)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 (comum, nº mun.)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baixa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média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muito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com a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 de faixa vs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0,8177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0,8344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0,8164 (30)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29,1%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46,0%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18,9%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6,1%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0,9906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777240" y="5619115"/>
            <a:ext cx="10634472" cy="294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Kaiser e Horn indicam 1 e 1 fatores; a solução usa 2, que somam 69,96% da variância. A maior carga em F1 é de Renda (invertida); em F2, de Água inadequada.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V055</a:t>
            </a:r>
            <a:endParaRPr lang="en-US" sz="11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PASSA: comunalidade &lt; 0,30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Versão V056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sem extremo · sem lixo · água: só a inadequada · banheiro fora · + moradia não convencional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</a:t>
            </a:r>
            <a:endParaRPr lang="en-US" sz="1200" dirty="0"/>
          </a:p>
        </p:txBody>
      </p:sp>
      <p:graphicFrame>
        <p:nvGraphicFramePr>
          <p:cNvPr id="5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09928"/>
          <a:ext cx="2926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extremo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não convencional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própria)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87.544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comum)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67.981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840480" y="1673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</a:t>
            </a:r>
            <a:endParaRPr lang="en-US" sz="1200" dirty="0"/>
          </a:p>
        </p:txBody>
      </p:sp>
      <p:graphicFrame>
        <p:nvGraphicFramePr>
          <p:cNvPr id="1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709928"/>
          <a:ext cx="3429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0,7871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qui-quadrado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225.979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graus de liberdade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mínimo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0,715 (Renda (invertida))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de Horn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retidos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dos 2 fatores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60,59%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 entre F1 e F2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variação de peso (um município de fora)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37,52 p.p.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406640" y="16733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e pesos (promax, matriz padrão)</a:t>
            </a:r>
            <a:endParaRPr lang="en-US" sz="1200" dirty="0"/>
          </a:p>
        </p:txBody>
      </p:sp>
      <p:graphicFrame>
        <p:nvGraphicFramePr>
          <p:cNvPr id="17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984248"/>
          <a:ext cx="4005072" cy="914400"/>
        </p:xfrm>
        <a:graphic>
          <a:graphicData uri="http://schemas.openxmlformats.org/drawingml/2006/table">
            <a:tbl>
              <a:tblPr/>
              <a:tblGrid>
                <a:gridCol w="1490472"/>
                <a:gridCol w="530352"/>
                <a:gridCol w="530352"/>
                <a:gridCol w="868680"/>
                <a:gridCol w="585216"/>
              </a:tblGrid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0,482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0,264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4,31%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0,654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7,93%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0,624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-0,045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0,383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7,21%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-0,039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0,685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12,82%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-0,049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0,764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14,33%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-0,002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0,723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13,40%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0,977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40,00%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777240" y="4636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 faixas</a:t>
            </a:r>
            <a:endParaRPr lang="en-US" sz="1200" dirty="0"/>
          </a:p>
        </p:txBody>
      </p:sp>
      <p:graphicFrame>
        <p:nvGraphicFramePr>
          <p:cNvPr id="23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946904"/>
          <a:ext cx="106344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463040"/>
                <a:gridCol w="1051560"/>
                <a:gridCol w="1051560"/>
                <a:gridCol w="1051560"/>
                <a:gridCol w="1234440"/>
                <a:gridCol w="1234440"/>
                <a:gridCol w="1261872"/>
              </a:tblGrid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(própria)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(comum)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 (comum, nº mun.)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baixa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média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muito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com a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 de faixa vs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0,8404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0,8527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0,8454 (30)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27,7%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45,8%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21,1%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5,4%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0,9601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15,7%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777240" y="5619115"/>
            <a:ext cx="10634472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Kaiser e Horn indicam 1 e 1 fatores; a solução usa 2, que somam 60,59% da variância. A maior carga em F1 é de Renda (invertida); em F2, de Moradia não convencional.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V056</a:t>
            </a:r>
            <a:endParaRPr lang="en-US" sz="11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PASSA NOS CRITÉRIOS DO NB05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Versão V057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sem extremo · sem lixo · água: só a inadequada · + sem banheiro · moradia fora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</a:t>
            </a:r>
            <a:endParaRPr lang="en-US" sz="1200" dirty="0"/>
          </a:p>
        </p:txBody>
      </p:sp>
      <p:graphicFrame>
        <p:nvGraphicFramePr>
          <p:cNvPr id="6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09928"/>
          <a:ext cx="2926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extremo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sem banheiro (V00495)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própria)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75.954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comum)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67.981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840480" y="1673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</a:t>
            </a:r>
            <a:endParaRPr lang="en-US" sz="1200" dirty="0"/>
          </a:p>
        </p:txBody>
      </p:sp>
      <p:graphicFrame>
        <p:nvGraphicFramePr>
          <p:cNvPr id="1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709928"/>
          <a:ext cx="3429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0,7966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qui-quadrado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203.895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graus de liberdade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mínimo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0,721 (Renda (invertida))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de Horn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retidos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dos 2 fatores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62,98%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 entre F1 e F2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0,473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variação de peso (um município de fora)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5,96 p.p.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406640" y="16733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e pesos (promax, matriz padrão)</a:t>
            </a:r>
            <a:endParaRPr lang="en-US" sz="1200" dirty="0"/>
          </a:p>
        </p:txBody>
      </p:sp>
      <p:graphicFrame>
        <p:nvGraphicFramePr>
          <p:cNvPr id="178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984248"/>
          <a:ext cx="4005072" cy="914400"/>
        </p:xfrm>
        <a:graphic>
          <a:graphicData uri="http://schemas.openxmlformats.org/drawingml/2006/table">
            <a:tbl>
              <a:tblPr/>
              <a:tblGrid>
                <a:gridCol w="1490472"/>
                <a:gridCol w="530352"/>
                <a:gridCol w="530352"/>
                <a:gridCol w="868680"/>
                <a:gridCol w="585216"/>
              </a:tblGrid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-0,088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0,633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17,56%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0,275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0,563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0,540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8,02%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0,578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0,384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7,21%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0,903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-0,071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0,761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17,63%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0,949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-0,072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19,44%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15,73%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-0,128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0,495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14,42%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777240" y="4636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 faixas</a:t>
            </a:r>
            <a:endParaRPr lang="en-US" sz="1200" dirty="0"/>
          </a:p>
        </p:txBody>
      </p:sp>
      <p:graphicFrame>
        <p:nvGraphicFramePr>
          <p:cNvPr id="23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946904"/>
          <a:ext cx="106344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463040"/>
                <a:gridCol w="1051560"/>
                <a:gridCol w="1051560"/>
                <a:gridCol w="1051560"/>
                <a:gridCol w="1234440"/>
                <a:gridCol w="1234440"/>
                <a:gridCol w="1261872"/>
              </a:tblGrid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(própria)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(comum)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 (comum, nº mun.)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baixa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média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muito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com a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 de faixa vs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0,8355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0,8402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0,8350 (30)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42,4%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23,3%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0,9985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777240" y="5619115"/>
            <a:ext cx="10634472" cy="294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Kaiser e Horn indicam 2 e 2 fatores; a solução usa 2, que somam 62,98% da variância. A maior carga em F1 é de Renda (invertida); em F2, de Água inadequada.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V057</a:t>
            </a:r>
            <a:endParaRPr lang="en-US" sz="11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PASSA: comunalidade &lt; 0,30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Versão V058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sem extremo · sem lixo · água: só a inadequada · + sem banheiro · + moradia não convencional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</a:t>
            </a:r>
            <a:endParaRPr lang="en-US" sz="1200" dirty="0"/>
          </a:p>
        </p:txBody>
      </p:sp>
      <p:graphicFrame>
        <p:nvGraphicFramePr>
          <p:cNvPr id="6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09928"/>
          <a:ext cx="2926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extremo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sem banheiro (V00495)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não convencional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própria)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75.954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comum)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67.981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840480" y="1673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</a:t>
            </a:r>
            <a:endParaRPr lang="en-US" sz="1200" dirty="0"/>
          </a:p>
        </p:txBody>
      </p:sp>
      <p:graphicFrame>
        <p:nvGraphicFramePr>
          <p:cNvPr id="1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709928"/>
          <a:ext cx="3429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0,7951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qui-quadrado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205.427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graus de liberdade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mínimo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0,686 (Moradia não convencional)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de Horn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retidos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dos 2 fatores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55,65%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 entre F1 e F2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0,409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variação de peso (um município de fora)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8,04 p.p.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406640" y="16733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e pesos (promax, matriz padrão)</a:t>
            </a:r>
            <a:endParaRPr lang="en-US" sz="1200" dirty="0"/>
          </a:p>
        </p:txBody>
      </p:sp>
      <p:graphicFrame>
        <p:nvGraphicFramePr>
          <p:cNvPr id="181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984248"/>
          <a:ext cx="4005072" cy="914400"/>
        </p:xfrm>
        <a:graphic>
          <a:graphicData uri="http://schemas.openxmlformats.org/drawingml/2006/table">
            <a:tbl>
              <a:tblPr/>
              <a:tblGrid>
                <a:gridCol w="1490472"/>
                <a:gridCol w="530352"/>
                <a:gridCol w="530352"/>
                <a:gridCol w="868680"/>
                <a:gridCol w="585216"/>
              </a:tblGrid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0,635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10,78%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0,486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5,02%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0,613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8,33%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0,875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-0,043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16,94%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-0,050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18,85%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15,88%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14,81%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-0,256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0,593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0,293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9,39%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777240" y="4636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 faixas</a:t>
            </a:r>
            <a:endParaRPr lang="en-US" sz="1200" dirty="0"/>
          </a:p>
        </p:txBody>
      </p:sp>
      <p:graphicFrame>
        <p:nvGraphicFramePr>
          <p:cNvPr id="24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946904"/>
          <a:ext cx="106344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463040"/>
                <a:gridCol w="1051560"/>
                <a:gridCol w="1051560"/>
                <a:gridCol w="1051560"/>
                <a:gridCol w="1234440"/>
                <a:gridCol w="1234440"/>
                <a:gridCol w="1261872"/>
              </a:tblGrid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(própria)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(comum)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 (comum, nº mun.)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baixa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média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muito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com a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 de faixa vs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0,8450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0,8485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0,8566 (30)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28,3%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25,9%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4,9%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0,9904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6,3%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777240" y="5619115"/>
            <a:ext cx="10634472" cy="294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Kaiser e Horn indicam 2 e 2 fatores; a solução usa 2, que somam 55,65% da variância. A maior carga em F1 é de Renda (invertida); em F2, de Sem banheiro.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V058</a:t>
            </a:r>
            <a:endParaRPr lang="en-US" sz="11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PASSA NOS CRITÉRIOS DO NB05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Versão V059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sem extremo · sem lixo · água: só a inadequada · + banheiro graduado · moradia fora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</a:t>
            </a:r>
            <a:endParaRPr lang="en-US" sz="1200" dirty="0"/>
          </a:p>
        </p:txBody>
      </p:sp>
      <p:graphicFrame>
        <p:nvGraphicFramePr>
          <p:cNvPr id="6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09928"/>
          <a:ext cx="2926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extremo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banheiro graduado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própria)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73.877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comum)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67.981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840480" y="1673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</a:t>
            </a:r>
            <a:endParaRPr lang="en-US" sz="1200" dirty="0"/>
          </a:p>
        </p:txBody>
      </p:sp>
      <p:graphicFrame>
        <p:nvGraphicFramePr>
          <p:cNvPr id="1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709928"/>
          <a:ext cx="3429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0,7807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qui-quadrado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185.224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graus de liberdade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mínimo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0,709 (Renda (invertida))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de Horn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retidos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dos 2 fatores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60,82%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 entre F1 e F2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variação de peso (um município de fora)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6,94 p.p.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406640" y="16733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e pesos (promax, matriz padrão)</a:t>
            </a:r>
            <a:endParaRPr lang="en-US" sz="1200" dirty="0"/>
          </a:p>
        </p:txBody>
      </p:sp>
      <p:graphicFrame>
        <p:nvGraphicFramePr>
          <p:cNvPr id="18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984248"/>
          <a:ext cx="4005072" cy="914400"/>
        </p:xfrm>
        <a:graphic>
          <a:graphicData uri="http://schemas.openxmlformats.org/drawingml/2006/table">
            <a:tbl>
              <a:tblPr/>
              <a:tblGrid>
                <a:gridCol w="1490472"/>
                <a:gridCol w="530352"/>
                <a:gridCol w="530352"/>
                <a:gridCol w="868680"/>
                <a:gridCol w="585216"/>
              </a:tblGrid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-0,028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0,596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17,33%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0,318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0,513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7,78%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0,583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7,46%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17,36%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0,937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19,28%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15,90%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-0,207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0,726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14,90%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777240" y="4636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 faixas</a:t>
            </a:r>
            <a:endParaRPr lang="en-US" sz="1200" dirty="0"/>
          </a:p>
        </p:txBody>
      </p:sp>
      <p:graphicFrame>
        <p:nvGraphicFramePr>
          <p:cNvPr id="24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946904"/>
          <a:ext cx="106344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463040"/>
                <a:gridCol w="1051560"/>
                <a:gridCol w="1051560"/>
                <a:gridCol w="1051560"/>
                <a:gridCol w="1234440"/>
                <a:gridCol w="1234440"/>
                <a:gridCol w="1261872"/>
              </a:tblGrid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(própria)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(comum)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 (comum, nº mun.)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baixa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média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muito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com a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 de faixa vs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0,8315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0,8388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0,8352 (30)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28,7%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42,0%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23,9%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5,3%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0,9994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777240" y="5619115"/>
            <a:ext cx="10634472" cy="294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Kaiser e Horn indicam 2 e 2 fatores; a solução usa 2, que somam 60,82% da variância. A maior carga em F1 é de Renda (invertida); em F2, de Água inadequada.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V059</a:t>
            </a:r>
            <a:endParaRPr lang="en-US" sz="11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PASSA NOS CRITÉRIOS DO NB05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Versão V060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sem extremo · sem lixo · água: só a inadequada · + banheiro graduado · + moradia não convencional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</a:t>
            </a:r>
            <a:endParaRPr lang="en-US" sz="1200" dirty="0"/>
          </a:p>
        </p:txBody>
      </p:sp>
      <p:graphicFrame>
        <p:nvGraphicFramePr>
          <p:cNvPr id="6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09928"/>
          <a:ext cx="2926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extremo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banheiro graduado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não convencional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própria)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73.877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comum)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67.981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840480" y="1673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</a:t>
            </a:r>
            <a:endParaRPr lang="en-US" sz="1200" dirty="0"/>
          </a:p>
        </p:txBody>
      </p:sp>
      <p:graphicFrame>
        <p:nvGraphicFramePr>
          <p:cNvPr id="1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709928"/>
          <a:ext cx="3429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0,7789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qui-quadrado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186.589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graus de liberdade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mínimo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0,643 (Moradia não convencional)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de Horn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retidos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dos 2 fatores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53,81%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 entre F1 e F2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variação de peso (um município de fora)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9,98 p.p.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406640" y="16733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e pesos (promax, matriz padrão)</a:t>
            </a:r>
            <a:endParaRPr lang="en-US" sz="1200" dirty="0"/>
          </a:p>
        </p:txBody>
      </p:sp>
      <p:graphicFrame>
        <p:nvGraphicFramePr>
          <p:cNvPr id="18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984248"/>
          <a:ext cx="4005072" cy="914400"/>
        </p:xfrm>
        <a:graphic>
          <a:graphicData uri="http://schemas.openxmlformats.org/drawingml/2006/table">
            <a:tbl>
              <a:tblPr/>
              <a:tblGrid>
                <a:gridCol w="1490472"/>
                <a:gridCol w="530352"/>
                <a:gridCol w="530352"/>
                <a:gridCol w="868680"/>
                <a:gridCol w="585216"/>
              </a:tblGrid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0,213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0,496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0,366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8,15%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0,482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0,315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4,68%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0,629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-0,033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0,382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7,96%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0,871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-0,073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0,720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15,30%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-0,089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17,08%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-0,011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14,98%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-0,122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18,95%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-0,197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0,624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0,341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12,89%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777240" y="4636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 faixas</a:t>
            </a:r>
            <a:endParaRPr lang="en-US" sz="1200" dirty="0"/>
          </a:p>
        </p:txBody>
      </p:sp>
      <p:graphicFrame>
        <p:nvGraphicFramePr>
          <p:cNvPr id="249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946904"/>
          <a:ext cx="106344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463040"/>
                <a:gridCol w="1051560"/>
                <a:gridCol w="1051560"/>
                <a:gridCol w="1051560"/>
                <a:gridCol w="1234440"/>
                <a:gridCol w="1234440"/>
                <a:gridCol w="1261872"/>
              </a:tblGrid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(própria)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(comum)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 (comum, nº mun.)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baixa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média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muito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com a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 de faixa vs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0,8434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0,8490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0,8642 (30)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28,2%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40,4%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26,6%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4,7%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0,9863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8,0%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777240" y="5619115"/>
            <a:ext cx="10634472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Kaiser e Horn indicam 3 e 2 fatores; a solução usa 2, que somam 53,81% da variância. A maior carga em F1 é de Renda (invertida); em F2, de Banheiro graduado.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V060</a:t>
            </a:r>
            <a:endParaRPr lang="en-US" sz="11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PASSA NOS CRITÉRIOS DO NB05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Versão V061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sem extremo · sem lixo · + água não chega · banheiro fora · moradia fora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</a:t>
            </a:r>
            <a:endParaRPr lang="en-US" sz="1200" dirty="0"/>
          </a:p>
        </p:txBody>
      </p:sp>
      <p:graphicFrame>
        <p:nvGraphicFramePr>
          <p:cNvPr id="6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09928"/>
          <a:ext cx="2926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extremo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não chega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própria)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78.255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comum)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67.981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840480" y="1673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</a:t>
            </a:r>
            <a:endParaRPr lang="en-US" sz="1200" dirty="0"/>
          </a:p>
        </p:txBody>
      </p:sp>
      <p:graphicFrame>
        <p:nvGraphicFramePr>
          <p:cNvPr id="1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709928"/>
          <a:ext cx="3429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0,7843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qui-quadrado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224.318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graus de liberdade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mínimo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0,689 (Água inadequada)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de Horn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retidos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dos 2 fatores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65,94%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 entre F1 e F2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variação de peso (um município de fora)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4,08 p.p.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406640" y="16733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e pesos (promax, matriz padrão)</a:t>
            </a:r>
            <a:endParaRPr lang="en-US" sz="1200" dirty="0"/>
          </a:p>
        </p:txBody>
      </p:sp>
      <p:graphicFrame>
        <p:nvGraphicFramePr>
          <p:cNvPr id="19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984248"/>
          <a:ext cx="4005072" cy="914400"/>
        </p:xfrm>
        <a:graphic>
          <a:graphicData uri="http://schemas.openxmlformats.org/drawingml/2006/table">
            <a:tbl>
              <a:tblPr/>
              <a:tblGrid>
                <a:gridCol w="1490472"/>
                <a:gridCol w="530352"/>
                <a:gridCol w="530352"/>
                <a:gridCol w="868680"/>
                <a:gridCol w="585216"/>
              </a:tblGrid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-0,054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0,879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18,07%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0,381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0,487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4,58%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0,637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-0,018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8,63%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0,902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-0,087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17,33%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0,935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18,60%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15,43%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-0,110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0,672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17,35%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777240" y="4636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 faixas</a:t>
            </a:r>
            <a:endParaRPr lang="en-US" sz="1200" dirty="0"/>
          </a:p>
        </p:txBody>
      </p:sp>
      <p:graphicFrame>
        <p:nvGraphicFramePr>
          <p:cNvPr id="25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946904"/>
          <a:ext cx="106344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463040"/>
                <a:gridCol w="1051560"/>
                <a:gridCol w="1051560"/>
                <a:gridCol w="1051560"/>
                <a:gridCol w="1234440"/>
                <a:gridCol w="1234440"/>
                <a:gridCol w="1261872"/>
              </a:tblGrid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(própria)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(comum)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 (comum, nº mun.)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baixa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média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muito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com a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 de faixa vs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0,8314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0,8367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0,8317 (30)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28,6%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42,1%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0,9951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777240" y="5619115"/>
            <a:ext cx="10634472" cy="294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Kaiser e Horn indicam 2 e 2 fatores; a solução usa 2, que somam 65,94% da variância. A maior carga em F1 é de Renda (invertida); em F2, de Água inadequada.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V061</a:t>
            </a:r>
            <a:endParaRPr lang="en-US" sz="11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PASSA: comunalidade &lt; 0,30; carga &lt; 0,40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Versão V062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sem extremo · sem lixo · + água não chega · banheiro fora · + moradia não convencional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</a:t>
            </a:r>
            <a:endParaRPr lang="en-US" sz="1200" dirty="0"/>
          </a:p>
        </p:txBody>
      </p:sp>
      <p:graphicFrame>
        <p:nvGraphicFramePr>
          <p:cNvPr id="6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09928"/>
          <a:ext cx="2926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extremo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não chega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não convencional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própria)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78.255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comum)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67.981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840480" y="1673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</a:t>
            </a:r>
            <a:endParaRPr lang="en-US" sz="1200" dirty="0"/>
          </a:p>
        </p:txBody>
      </p:sp>
      <p:graphicFrame>
        <p:nvGraphicFramePr>
          <p:cNvPr id="1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709928"/>
          <a:ext cx="3429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0,7844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qui-quadrado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224.971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graus de liberdade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mínimo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0,690 (Água inadequada)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de Horn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retidos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dos 2 fatores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57,80%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 entre F1 e F2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variação de peso (um município de fora)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4,01 p.p.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406640" y="16733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e pesos (promax, matriz padrão)</a:t>
            </a:r>
            <a:endParaRPr lang="en-US" sz="1200" dirty="0"/>
          </a:p>
        </p:txBody>
      </p:sp>
      <p:graphicFrame>
        <p:nvGraphicFramePr>
          <p:cNvPr id="19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984248"/>
          <a:ext cx="4005072" cy="914400"/>
        </p:xfrm>
        <a:graphic>
          <a:graphicData uri="http://schemas.openxmlformats.org/drawingml/2006/table">
            <a:tbl>
              <a:tblPr/>
              <a:tblGrid>
                <a:gridCol w="1490472"/>
                <a:gridCol w="530352"/>
                <a:gridCol w="530352"/>
                <a:gridCol w="868680"/>
                <a:gridCol w="585216"/>
              </a:tblGrid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-0,054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0,879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18,07%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0,381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0,487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4,57%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0,635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-0,018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8,56%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0,902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-0,088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17,28%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0,934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18,52%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15,39%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-0,110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0,672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17,36%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0,26%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777240" y="4636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 faixas</a:t>
            </a:r>
            <a:endParaRPr lang="en-US" sz="1200" dirty="0"/>
          </a:p>
        </p:txBody>
      </p:sp>
      <p:graphicFrame>
        <p:nvGraphicFramePr>
          <p:cNvPr id="25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946904"/>
          <a:ext cx="106344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463040"/>
                <a:gridCol w="1051560"/>
                <a:gridCol w="1051560"/>
                <a:gridCol w="1051560"/>
                <a:gridCol w="1234440"/>
                <a:gridCol w="1234440"/>
                <a:gridCol w="1261872"/>
              </a:tblGrid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(própria)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(comum)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 (comum, nº mun.)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baixa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média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muito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com a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 de faixa vs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0,8314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0,8368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0,8316 (30)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28,6%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42,1%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0,9951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777240" y="5619115"/>
            <a:ext cx="10634472" cy="294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Kaiser e Horn indicam 2 e 2 fatores; a solução usa 2, que somam 57,80% da variância. A maior carga em F1 é de Renda (invertida); em F2, de Água inadequada.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V062</a:t>
            </a:r>
            <a:endParaRPr lang="en-US" sz="11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PASSA: carga &lt; 0,40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Versão V063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sem extremo · sem lixo · + água não chega · + sem banheiro · moradia fora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</a:t>
            </a:r>
            <a:endParaRPr lang="en-US" sz="1200" dirty="0"/>
          </a:p>
        </p:txBody>
      </p:sp>
      <p:graphicFrame>
        <p:nvGraphicFramePr>
          <p:cNvPr id="6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09928"/>
          <a:ext cx="2926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extremo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não chega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sem banheiro (V00495)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própria)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69.479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comum)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67.981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840480" y="1673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</a:t>
            </a:r>
            <a:endParaRPr lang="en-US" sz="1200" dirty="0"/>
          </a:p>
        </p:txBody>
      </p:sp>
      <p:graphicFrame>
        <p:nvGraphicFramePr>
          <p:cNvPr id="1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709928"/>
          <a:ext cx="3429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0,7877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qui-quadrado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209.136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graus de liberdade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mínimo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0,716 (Água inadequada)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de Horn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retidos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dos 2 fatores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60,67%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 entre F1 e F2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variação de peso (um município de fora)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2,79 p.p.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406640" y="16733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e pesos (promax, matriz padrão)</a:t>
            </a:r>
            <a:endParaRPr lang="en-US" sz="1200" dirty="0"/>
          </a:p>
        </p:txBody>
      </p:sp>
      <p:graphicFrame>
        <p:nvGraphicFramePr>
          <p:cNvPr id="19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984248"/>
          <a:ext cx="4005072" cy="914400"/>
        </p:xfrm>
        <a:graphic>
          <a:graphicData uri="http://schemas.openxmlformats.org/drawingml/2006/table">
            <a:tbl>
              <a:tblPr/>
              <a:tblGrid>
                <a:gridCol w="1490472"/>
                <a:gridCol w="530352"/>
                <a:gridCol w="530352"/>
                <a:gridCol w="868680"/>
                <a:gridCol w="585216"/>
              </a:tblGrid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0,571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12,80%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0,400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3,22%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0,648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-0,037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0,402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8,47%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-0,070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16,06%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-0,055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17,34%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14,91%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-0,102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0,658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16,23%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-0,059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0,697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10,98%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777240" y="4636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 faixas</a:t>
            </a:r>
            <a:endParaRPr lang="en-US" sz="1200" dirty="0"/>
          </a:p>
        </p:txBody>
      </p:sp>
      <p:graphicFrame>
        <p:nvGraphicFramePr>
          <p:cNvPr id="26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946904"/>
          <a:ext cx="106344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463040"/>
                <a:gridCol w="1051560"/>
                <a:gridCol w="1051560"/>
                <a:gridCol w="1051560"/>
                <a:gridCol w="1234440"/>
                <a:gridCol w="1234440"/>
                <a:gridCol w="1261872"/>
              </a:tblGrid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(própria)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(comum)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 (comum, nº mun.)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baixa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média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muito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com a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 de faixa vs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0,8428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0,8404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0,8464 (30)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26,5%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0,9936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8,0%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777240" y="5619115"/>
            <a:ext cx="10634472" cy="294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Kaiser e Horn indicam 2 e 2 fatores; a solução usa 2, que somam 60,67% da variância. A maior carga em F1 é de Renda (invertida); em F2, de Água não chega.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V063</a:t>
            </a:r>
            <a:endParaRPr lang="en-US" sz="11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PASSA: comunalidade &lt; 0,30; carga &lt; 0,40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Versão V064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sem extremo · sem lixo · + água não chega · + sem banheiro · + moradia não convencional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</a:t>
            </a:r>
            <a:endParaRPr lang="en-US" sz="1200" dirty="0"/>
          </a:p>
        </p:txBody>
      </p:sp>
      <p:graphicFrame>
        <p:nvGraphicFramePr>
          <p:cNvPr id="6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09928"/>
          <a:ext cx="2926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extremo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não chega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sem banheiro (V00495)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não convencional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própria)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69.479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comum)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67.981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840480" y="1673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</a:t>
            </a:r>
            <a:endParaRPr lang="en-US" sz="1200" dirty="0"/>
          </a:p>
        </p:txBody>
      </p:sp>
      <p:graphicFrame>
        <p:nvGraphicFramePr>
          <p:cNvPr id="1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709928"/>
          <a:ext cx="3429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0,7864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qui-quadrado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210.616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graus de liberdade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mínimo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0,679 (Moradia não convencional)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de Horn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retidos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dos 2 fatores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54,09%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 entre F1 e F2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variação de peso (um município de fora)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2,82 p.p.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406640" y="16733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e pesos (promax, matriz padrão)</a:t>
            </a:r>
            <a:endParaRPr lang="en-US" sz="1200" dirty="0"/>
          </a:p>
        </p:txBody>
      </p:sp>
      <p:graphicFrame>
        <p:nvGraphicFramePr>
          <p:cNvPr id="19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984248"/>
          <a:ext cx="4005072" cy="914400"/>
        </p:xfrm>
        <a:graphic>
          <a:graphicData uri="http://schemas.openxmlformats.org/drawingml/2006/table">
            <a:tbl>
              <a:tblPr/>
              <a:tblGrid>
                <a:gridCol w="1490472"/>
                <a:gridCol w="530352"/>
                <a:gridCol w="530352"/>
                <a:gridCol w="868680"/>
                <a:gridCol w="585216"/>
              </a:tblGrid>
              <a:tr h="207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0,561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12,43%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0,401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3,24%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0,651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-0,043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0,402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8,52%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-0,070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0,749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16,02%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-0,057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17,32%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14,89%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-0,100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0,648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15,86%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0,707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11,22%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0,49%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777240" y="4636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 faixas</a:t>
            </a:r>
            <a:endParaRPr lang="en-US" sz="1200" dirty="0"/>
          </a:p>
        </p:txBody>
      </p:sp>
      <p:graphicFrame>
        <p:nvGraphicFramePr>
          <p:cNvPr id="26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946904"/>
          <a:ext cx="106344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463040"/>
                <a:gridCol w="1051560"/>
                <a:gridCol w="1051560"/>
                <a:gridCol w="1051560"/>
                <a:gridCol w="1234440"/>
                <a:gridCol w="1234440"/>
                <a:gridCol w="1261872"/>
              </a:tblGrid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(própria)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(comum)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 (comum, nº mun.)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baixa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média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muito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com a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 de faixa vs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0,8434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0,8410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0,8470 (30)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26,5%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0,9933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8,1%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777240" y="5619115"/>
            <a:ext cx="10634472" cy="294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Kaiser e Horn indicam 3 e 3 fatores; a solução usa 2, que somam 54,09% da variância. A maior carga em F1 é de Renda (invertida); em F2, de Água não chega.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V064</a:t>
            </a:r>
            <a:endParaRPr lang="en-US" sz="11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PASSA: comunalidade &lt; 0,30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Versão V065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sem extremo · sem lixo · + água não chega · + banheiro graduado · moradia fora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</a:t>
            </a:r>
            <a:endParaRPr lang="en-US" sz="1200" dirty="0"/>
          </a:p>
        </p:txBody>
      </p:sp>
      <p:graphicFrame>
        <p:nvGraphicFramePr>
          <p:cNvPr id="6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09928"/>
          <a:ext cx="2926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extremo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não chega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banheiro graduado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própria)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68.000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comum)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67.981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840480" y="1673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</a:t>
            </a:r>
            <a:endParaRPr lang="en-US" sz="1200" dirty="0"/>
          </a:p>
        </p:txBody>
      </p:sp>
      <p:graphicFrame>
        <p:nvGraphicFramePr>
          <p:cNvPr id="13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709928"/>
          <a:ext cx="3429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0,7725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qui-quadrado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185.739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graus de liberdade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mínimo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0,667 (Água inadequada)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de Horn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retidos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dos 2 fatores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57,74%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 entre F1 e F2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variação de peso (um município de fora)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2,65 p.p.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406640" y="16733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e pesos (promax, matriz padrão)</a:t>
            </a:r>
            <a:endParaRPr lang="en-US" sz="1200" dirty="0"/>
          </a:p>
        </p:txBody>
      </p:sp>
      <p:graphicFrame>
        <p:nvGraphicFramePr>
          <p:cNvPr id="20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984248"/>
          <a:ext cx="4005072" cy="914400"/>
        </p:xfrm>
        <a:graphic>
          <a:graphicData uri="http://schemas.openxmlformats.org/drawingml/2006/table">
            <a:tbl>
              <a:tblPr/>
              <a:tblGrid>
                <a:gridCol w="1490472"/>
                <a:gridCol w="530352"/>
                <a:gridCol w="530352"/>
                <a:gridCol w="868680"/>
                <a:gridCol w="585216"/>
              </a:tblGrid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0,763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0,589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14,93%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0,405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0,429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3,37%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0,640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-0,038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8,39%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16,01%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-0,050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17,34%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14,89%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-0,097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0,616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16,99%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-0,092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0,561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0,287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8,08%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777240" y="4636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 faixas</a:t>
            </a:r>
            <a:endParaRPr lang="en-US" sz="1200" dirty="0"/>
          </a:p>
        </p:txBody>
      </p:sp>
      <p:graphicFrame>
        <p:nvGraphicFramePr>
          <p:cNvPr id="269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946904"/>
          <a:ext cx="106344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463040"/>
                <a:gridCol w="1051560"/>
                <a:gridCol w="1051560"/>
                <a:gridCol w="1051560"/>
                <a:gridCol w="1234440"/>
                <a:gridCol w="1234440"/>
                <a:gridCol w="1261872"/>
              </a:tblGrid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(própria)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(comum)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 (comum, nº mun.)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baixa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média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muito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com a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 de faixa vs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0,8354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0,8355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0,8414 (30)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28,6%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40,3%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26,6%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4,4%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0,9956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7,9%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777240" y="5619115"/>
            <a:ext cx="10634472" cy="294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Kaiser e Horn indicam 2 e 2 fatores; a solução usa 2, que somam 57,74% da variância. A maior carga em F1 é de Renda (invertida); em F2, de Água não chega.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V065</a:t>
            </a:r>
            <a:endParaRPr lang="en-US" sz="11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PASSA: comunalidade &lt; 0,30; carga &lt; 0,40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Versão V066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sem extremo · sem lixo · + água não chega · + banheiro graduado · + moradia não convencional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</a:t>
            </a:r>
            <a:endParaRPr lang="en-US" sz="1200" dirty="0"/>
          </a:p>
        </p:txBody>
      </p:sp>
      <p:graphicFrame>
        <p:nvGraphicFramePr>
          <p:cNvPr id="6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09928"/>
          <a:ext cx="2926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extremo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não chega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banheiro graduado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não convencional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própria)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68.000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comum)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67.981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840480" y="1673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</a:t>
            </a:r>
            <a:endParaRPr lang="en-US" sz="1200" dirty="0"/>
          </a:p>
        </p:txBody>
      </p:sp>
      <p:graphicFrame>
        <p:nvGraphicFramePr>
          <p:cNvPr id="13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709928"/>
          <a:ext cx="3429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0,7710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qui-quadrado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187.097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graus de liberdade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mínimo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0,645 (Moradia não convencional)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de Horn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retidos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dos 2 fatores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51,45%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 entre F1 e F2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0,360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variação de peso (um município de fora)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2,69 p.p.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406640" y="16733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e pesos (promax, matriz padrão)</a:t>
            </a:r>
            <a:endParaRPr lang="en-US" sz="1200" dirty="0"/>
          </a:p>
        </p:txBody>
      </p:sp>
      <p:graphicFrame>
        <p:nvGraphicFramePr>
          <p:cNvPr id="20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984248"/>
          <a:ext cx="4005072" cy="914400"/>
        </p:xfrm>
        <a:graphic>
          <a:graphicData uri="http://schemas.openxmlformats.org/drawingml/2006/table">
            <a:tbl>
              <a:tblPr/>
              <a:tblGrid>
                <a:gridCol w="1490472"/>
                <a:gridCol w="530352"/>
                <a:gridCol w="530352"/>
                <a:gridCol w="868680"/>
                <a:gridCol w="585216"/>
              </a:tblGrid>
              <a:tr h="207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0,575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14,42%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0,408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0,384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0,427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3,40%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0,642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-0,044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8,44%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15,97%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-0,051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17,32%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14,87%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-0,094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0,604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16,55%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-0,100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0,579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8,55%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0,48%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777240" y="4636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 faixas</a:t>
            </a:r>
            <a:endParaRPr lang="en-US" sz="1200" dirty="0"/>
          </a:p>
        </p:txBody>
      </p:sp>
      <p:graphicFrame>
        <p:nvGraphicFramePr>
          <p:cNvPr id="27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946904"/>
          <a:ext cx="106344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463040"/>
                <a:gridCol w="1051560"/>
                <a:gridCol w="1051560"/>
                <a:gridCol w="1051560"/>
                <a:gridCol w="1234440"/>
                <a:gridCol w="1234440"/>
                <a:gridCol w="1261872"/>
              </a:tblGrid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(própria)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(comum)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 (comum, nº mun.)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baixa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média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muito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com a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 de faixa vs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0,8361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0,8362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0,8424 (30)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28,6%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40,3%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26,7%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4,4%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0,9955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8,0%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777240" y="5619115"/>
            <a:ext cx="10634472" cy="294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Kaiser e Horn indicam 3 e 3 fatores; a solução usa 2, que somam 51,45% da variância. A maior carga em F1 é de Renda (invertida); em F2, de Água não chega.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V066</a:t>
            </a:r>
            <a:endParaRPr lang="en-US" sz="11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PASSA NOS CRITÉRIOS DO NB05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Versão V067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sem extremo · sem lixo · + sem água canalizada · banheiro fora · moradia fora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</a:t>
            </a:r>
            <a:endParaRPr lang="en-US" sz="1200" dirty="0"/>
          </a:p>
        </p:txBody>
      </p:sp>
      <p:graphicFrame>
        <p:nvGraphicFramePr>
          <p:cNvPr id="7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09928"/>
          <a:ext cx="2926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extremo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sem canalização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própria)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87.511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comum)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67.981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840480" y="1673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</a:t>
            </a:r>
            <a:endParaRPr lang="en-US" sz="1200" dirty="0"/>
          </a:p>
        </p:txBody>
      </p:sp>
      <p:graphicFrame>
        <p:nvGraphicFramePr>
          <p:cNvPr id="13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709928"/>
          <a:ext cx="3429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0,8087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qui-quadrado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261.377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graus de liberdade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mínimo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0,737 (Renda (invertida))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de Horn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retidos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dos 2 fatores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66,49%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 entre F1 e F2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variação de peso (um município de fora)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6,43 p.p.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406640" y="16733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e pesos (promax, matriz padrão)</a:t>
            </a:r>
            <a:endParaRPr lang="en-US" sz="1200" dirty="0"/>
          </a:p>
        </p:txBody>
      </p:sp>
      <p:graphicFrame>
        <p:nvGraphicFramePr>
          <p:cNvPr id="208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984248"/>
          <a:ext cx="4005072" cy="914400"/>
        </p:xfrm>
        <a:graphic>
          <a:graphicData uri="http://schemas.openxmlformats.org/drawingml/2006/table">
            <a:tbl>
              <a:tblPr/>
              <a:tblGrid>
                <a:gridCol w="1490472"/>
                <a:gridCol w="530352"/>
                <a:gridCol w="530352"/>
                <a:gridCol w="868680"/>
                <a:gridCol w="585216"/>
              </a:tblGrid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-0,180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0,955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0,765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20,20%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0,286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0,519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6,18%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0,612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7,95%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-0,104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0,762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18,05%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0,953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-0,076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19,26%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14,74%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0,647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13,62%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777240" y="4636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 faixas</a:t>
            </a:r>
            <a:endParaRPr lang="en-US" sz="1200" dirty="0"/>
          </a:p>
        </p:txBody>
      </p:sp>
      <p:graphicFrame>
        <p:nvGraphicFramePr>
          <p:cNvPr id="27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946904"/>
          <a:ext cx="106344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463040"/>
                <a:gridCol w="1051560"/>
                <a:gridCol w="1051560"/>
                <a:gridCol w="1051560"/>
                <a:gridCol w="1234440"/>
                <a:gridCol w="1234440"/>
                <a:gridCol w="1261872"/>
              </a:tblGrid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(própria)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(comum)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 (comum, nº mun.)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baixa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média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muito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com a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 de faixa vs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0,8215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0,8356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0,8272 (30)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28,6%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43,8%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22,2%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5,3%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0,9948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777240" y="5619115"/>
            <a:ext cx="10634472" cy="294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Kaiser e Horn indicam 2 e 2 fatores; a solução usa 2, que somam 66,49% da variância. A maior carga em F1 é de Renda (invertida); em F2, de Água inadequada.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V067</a:t>
            </a:r>
            <a:endParaRPr lang="en-US" sz="11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PASSA: comunalidade &lt; 0,30; carga &lt; 0,40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Versão V068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sem extremo · sem lixo · + sem água canalizada · banheiro fora · + moradia não convencional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</a:t>
            </a:r>
            <a:endParaRPr lang="en-US" sz="1200" dirty="0"/>
          </a:p>
        </p:txBody>
      </p:sp>
      <p:graphicFrame>
        <p:nvGraphicFramePr>
          <p:cNvPr id="7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09928"/>
          <a:ext cx="2926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extremo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sem canalização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não convencional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própria)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87.511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comum)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67.981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840480" y="1673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</a:t>
            </a:r>
            <a:endParaRPr lang="en-US" sz="1200" dirty="0"/>
          </a:p>
        </p:txBody>
      </p:sp>
      <p:graphicFrame>
        <p:nvGraphicFramePr>
          <p:cNvPr id="14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709928"/>
          <a:ext cx="3429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0,8087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qui-quadrado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262.086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graus de liberdade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mínimo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0,736 (Renda (invertida))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de Horn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retidos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dos 2 fatores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58,29%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 entre F1 e F2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variação de peso (um município de fora)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6,48 p.p.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406640" y="16733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e pesos (promax, matriz padrão)</a:t>
            </a:r>
            <a:endParaRPr lang="en-US" sz="1200" dirty="0"/>
          </a:p>
        </p:txBody>
      </p:sp>
      <p:graphicFrame>
        <p:nvGraphicFramePr>
          <p:cNvPr id="211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984248"/>
          <a:ext cx="4005072" cy="914400"/>
        </p:xfrm>
        <a:graphic>
          <a:graphicData uri="http://schemas.openxmlformats.org/drawingml/2006/table">
            <a:tbl>
              <a:tblPr/>
              <a:tblGrid>
                <a:gridCol w="1490472"/>
                <a:gridCol w="530352"/>
                <a:gridCol w="530352"/>
                <a:gridCol w="868680"/>
                <a:gridCol w="585216"/>
              </a:tblGrid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-0,176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0,948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19,87%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0,289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0,517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6,08%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0,615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8,03%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-0,103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0,761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18,02%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0,953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-0,076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19,25%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14,70%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0,645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13,53%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-0,010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777240" y="4636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 faixas</a:t>
            </a:r>
            <a:endParaRPr lang="en-US" sz="1200" dirty="0"/>
          </a:p>
        </p:txBody>
      </p:sp>
      <p:graphicFrame>
        <p:nvGraphicFramePr>
          <p:cNvPr id="28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946904"/>
          <a:ext cx="106344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463040"/>
                <a:gridCol w="1051560"/>
                <a:gridCol w="1051560"/>
                <a:gridCol w="1051560"/>
                <a:gridCol w="1234440"/>
                <a:gridCol w="1234440"/>
                <a:gridCol w="1261872"/>
              </a:tblGrid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(própria)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(comum)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 (comum, nº mun.)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baixa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média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muito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com a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 de faixa vs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0,8218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0,8359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0,8278 (30)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28,6%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43,7%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22,4%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5,3%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0,9949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9,6%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777240" y="5619115"/>
            <a:ext cx="10634472" cy="294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Kaiser e Horn indicam 2 e 2 fatores; a solução usa 2, que somam 58,29% da variância. A maior carga em F1 é de Renda (invertida); em F2, de Água inadequada.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V068</a:t>
            </a:r>
            <a:endParaRPr lang="en-US" sz="11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PASSA NOS CRITÉRIOS DO NB05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Versão V069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sem extremo · sem lixo · + sem água canalizada · + sem banheiro · moradia fora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</a:t>
            </a:r>
            <a:endParaRPr lang="en-US" sz="1200" dirty="0"/>
          </a:p>
        </p:txBody>
      </p:sp>
      <p:graphicFrame>
        <p:nvGraphicFramePr>
          <p:cNvPr id="7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09928"/>
          <a:ext cx="2926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extremo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sem canalização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sem banheiro (V00495)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própria)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75.926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comum)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67.981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840480" y="1673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</a:t>
            </a:r>
            <a:endParaRPr lang="en-US" sz="1200" dirty="0"/>
          </a:p>
        </p:txBody>
      </p:sp>
      <p:graphicFrame>
        <p:nvGraphicFramePr>
          <p:cNvPr id="14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709928"/>
          <a:ext cx="3429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0,8142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qui-quadrado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235.054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graus de liberdade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mínimo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0,738 (Renda (invertida))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de Horn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retidos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dos 2 fatores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60,77%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 entre F1 e F2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0,482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variação de peso (um município de fora)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5,15 p.p.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406640" y="16733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e pesos (promax, matriz padrão)</a:t>
            </a:r>
            <a:endParaRPr lang="en-US" sz="1200" dirty="0"/>
          </a:p>
        </p:txBody>
      </p:sp>
      <p:graphicFrame>
        <p:nvGraphicFramePr>
          <p:cNvPr id="21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984248"/>
          <a:ext cx="4005072" cy="914400"/>
        </p:xfrm>
        <a:graphic>
          <a:graphicData uri="http://schemas.openxmlformats.org/drawingml/2006/table">
            <a:tbl>
              <a:tblPr/>
              <a:tblGrid>
                <a:gridCol w="1490472"/>
                <a:gridCol w="530352"/>
                <a:gridCol w="530352"/>
                <a:gridCol w="868680"/>
                <a:gridCol w="585216"/>
              </a:tblGrid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-0,093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0,617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13,78%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0,316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0,480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0,477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4,66%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0,636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-0,017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8,70%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0,900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17,45%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0,933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-0,046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18,74%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15,11%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0,623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12,18%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-0,092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0,682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9,38%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777240" y="4636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 faixas</a:t>
            </a:r>
            <a:endParaRPr lang="en-US" sz="1200" dirty="0"/>
          </a:p>
        </p:txBody>
      </p:sp>
      <p:graphicFrame>
        <p:nvGraphicFramePr>
          <p:cNvPr id="28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946904"/>
          <a:ext cx="106344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463040"/>
                <a:gridCol w="1051560"/>
                <a:gridCol w="1051560"/>
                <a:gridCol w="1051560"/>
                <a:gridCol w="1234440"/>
                <a:gridCol w="1234440"/>
                <a:gridCol w="1261872"/>
              </a:tblGrid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(própria)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(comum)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 (comum, nº mun.)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baixa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média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muito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com a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 de faixa vs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0,8362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0,8399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0,8449 (30)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41,6%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24,9%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4,9%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0,9952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777240" y="5619115"/>
            <a:ext cx="10634472" cy="294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Kaiser e Horn indicam 2 e 2 fatores; a solução usa 2, que somam 60,77% da variância. A maior carga em F1 é de Renda (invertida); em F2, de Água inadequada.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V069</a:t>
            </a:r>
            <a:endParaRPr lang="en-US" sz="11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PASSA: comunalidade &lt; 0,30; carga &lt; 0,40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Versão V070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sem extremo · sem lixo · + sem água canalizada · + sem banheiro · + moradia não convencional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</a:t>
            </a:r>
            <a:endParaRPr lang="en-US" sz="1200" dirty="0"/>
          </a:p>
        </p:txBody>
      </p:sp>
      <p:graphicFrame>
        <p:nvGraphicFramePr>
          <p:cNvPr id="7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09928"/>
          <a:ext cx="2926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extremo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sem canalização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sem banheiro (V00495)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não convencional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própria)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75.926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comum)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67.981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840480" y="1673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</a:t>
            </a:r>
            <a:endParaRPr lang="en-US" sz="1200" dirty="0"/>
          </a:p>
        </p:txBody>
      </p:sp>
      <p:graphicFrame>
        <p:nvGraphicFramePr>
          <p:cNvPr id="14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709928"/>
          <a:ext cx="3429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0,8132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qui-quadrado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236.586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graus de liberdade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mínimo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0,719 (Moradia não convencional)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de Horn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retidos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dos 2 fatores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54,25%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 entre F1 e F2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variação de peso (um município de fora)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5,13 p.p.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406640" y="16733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e pesos (promax, matriz padrão)</a:t>
            </a:r>
            <a:endParaRPr lang="en-US" sz="1200" dirty="0"/>
          </a:p>
        </p:txBody>
      </p:sp>
      <p:graphicFrame>
        <p:nvGraphicFramePr>
          <p:cNvPr id="21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984248"/>
          <a:ext cx="4005072" cy="914400"/>
        </p:xfrm>
        <a:graphic>
          <a:graphicData uri="http://schemas.openxmlformats.org/drawingml/2006/table">
            <a:tbl>
              <a:tblPr/>
              <a:tblGrid>
                <a:gridCol w="1490472"/>
                <a:gridCol w="530352"/>
                <a:gridCol w="530352"/>
                <a:gridCol w="868680"/>
                <a:gridCol w="585216"/>
              </a:tblGrid>
              <a:tr h="207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0,789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0,582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12,57%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0,470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4,34%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0,639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-0,021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8,89%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-0,053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17,30%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-0,036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18,68%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15,12%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0,605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11,52%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-0,102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0,702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9,95%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-0,095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0,283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1,62%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777240" y="4636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 faixas</a:t>
            </a:r>
            <a:endParaRPr lang="en-US" sz="1200" dirty="0"/>
          </a:p>
        </p:txBody>
      </p:sp>
      <p:graphicFrame>
        <p:nvGraphicFramePr>
          <p:cNvPr id="289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946904"/>
          <a:ext cx="106344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463040"/>
                <a:gridCol w="1051560"/>
                <a:gridCol w="1051560"/>
                <a:gridCol w="1051560"/>
                <a:gridCol w="1234440"/>
                <a:gridCol w="1234440"/>
                <a:gridCol w="1261872"/>
              </a:tblGrid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(própria)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(comum)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 (comum, nº mun.)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baixa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média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muito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com a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 de faixa vs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0,8381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0,8416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0,8472 (30)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28,4%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41,4%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25,3%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4,9%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0,9940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6,1%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777240" y="5619115"/>
            <a:ext cx="10634472" cy="294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Kaiser e Horn indicam 3 e 2 fatores; a solução usa 2, que somam 54,25% da variância. A maior carga em F1 é de Renda (invertida); em F2, de Água inadequada.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V070</a:t>
            </a:r>
            <a:endParaRPr lang="en-US" sz="11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PASSA: comunalidade &lt; 0,30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Versão V071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sem extremo · sem lixo · + sem água canalizada · + banheiro graduado · moradia fora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</a:t>
            </a:r>
            <a:endParaRPr lang="en-US" sz="1200" dirty="0"/>
          </a:p>
        </p:txBody>
      </p:sp>
      <p:graphicFrame>
        <p:nvGraphicFramePr>
          <p:cNvPr id="7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09928"/>
          <a:ext cx="2926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extremo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sem canalização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banheiro graduado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própria)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73.853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comum)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67.981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840480" y="1673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</a:t>
            </a:r>
            <a:endParaRPr lang="en-US" sz="1200" dirty="0"/>
          </a:p>
        </p:txBody>
      </p:sp>
      <p:graphicFrame>
        <p:nvGraphicFramePr>
          <p:cNvPr id="14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709928"/>
          <a:ext cx="3429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0,7963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qui-quadrado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209.601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graus de liberdade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mínimo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0,719 (Água inadequada)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de Horn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retidos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dos 2 fatores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58,21%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 entre F1 e F2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variação de peso (um município de fora)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4,82 p.p.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406640" y="16733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e pesos (promax, matriz padrão)</a:t>
            </a:r>
            <a:endParaRPr lang="en-US" sz="1200" dirty="0"/>
          </a:p>
        </p:txBody>
      </p:sp>
      <p:graphicFrame>
        <p:nvGraphicFramePr>
          <p:cNvPr id="22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984248"/>
          <a:ext cx="4005072" cy="914400"/>
        </p:xfrm>
        <a:graphic>
          <a:graphicData uri="http://schemas.openxmlformats.org/drawingml/2006/table">
            <a:tbl>
              <a:tblPr/>
              <a:tblGrid>
                <a:gridCol w="1490472"/>
                <a:gridCol w="530352"/>
                <a:gridCol w="530352"/>
                <a:gridCol w="868680"/>
                <a:gridCol w="585216"/>
              </a:tblGrid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-0,076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0,623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15,01%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4,81%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0,632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-0,027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0,385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8,75%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-0,057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17,35%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-0,040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18,74%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15,17%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0,598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12,87%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-0,142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0,571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0,277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7,31%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777240" y="4636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 faixas</a:t>
            </a:r>
            <a:endParaRPr lang="en-US" sz="1200" dirty="0"/>
          </a:p>
        </p:txBody>
      </p:sp>
      <p:graphicFrame>
        <p:nvGraphicFramePr>
          <p:cNvPr id="29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946904"/>
          <a:ext cx="106344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463040"/>
                <a:gridCol w="1051560"/>
                <a:gridCol w="1051560"/>
                <a:gridCol w="1051560"/>
                <a:gridCol w="1234440"/>
                <a:gridCol w="1234440"/>
                <a:gridCol w="1261872"/>
              </a:tblGrid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(própria)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(comum)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 (comum, nº mun.)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baixa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média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muito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com a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 de faixa vs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0,8295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0,8364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0,8421 (30)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28,6%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41,4%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25,2%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4,9%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0,9966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4,7%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777240" y="5619115"/>
            <a:ext cx="10634472" cy="294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Kaiser e Horn indicam 2 e 2 fatores; a solução usa 2, que somam 58,21% da variância. A maior carga em F1 é de Renda (invertida); em F2, de Água inadequada.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V071</a:t>
            </a:r>
            <a:endParaRPr lang="en-US" sz="11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PASSA: comunalidade &lt; 0,30; carga &lt; 0,40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Versão V072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sem extremo · sem lixo · + sem água canalizada · + banheiro graduado · + moradia não convencional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</a:t>
            </a:r>
            <a:endParaRPr lang="en-US" sz="1200" dirty="0"/>
          </a:p>
        </p:txBody>
      </p:sp>
      <p:graphicFrame>
        <p:nvGraphicFramePr>
          <p:cNvPr id="7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09928"/>
          <a:ext cx="2926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extremo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sem canalização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banheiro graduado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não convencional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própria)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73.853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comum)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67.981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840480" y="1673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</a:t>
            </a:r>
            <a:endParaRPr lang="en-US" sz="1200" dirty="0"/>
          </a:p>
        </p:txBody>
      </p:sp>
      <p:graphicFrame>
        <p:nvGraphicFramePr>
          <p:cNvPr id="14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709928"/>
          <a:ext cx="3429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0,7949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qui-quadrado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210.975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graus de liberdade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mínimo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0,668 (Moradia não convencional)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de Horn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retidos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dos 2 fatores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51,93%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 entre F1 e F2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0,415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variação de peso (um município de fora)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4,81 p.p.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406640" y="16733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e pesos (promax, matriz padrão)</a:t>
            </a:r>
            <a:endParaRPr lang="en-US" sz="1200" dirty="0"/>
          </a:p>
        </p:txBody>
      </p:sp>
      <p:graphicFrame>
        <p:nvGraphicFramePr>
          <p:cNvPr id="22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984248"/>
          <a:ext cx="4005072" cy="914400"/>
        </p:xfrm>
        <a:graphic>
          <a:graphicData uri="http://schemas.openxmlformats.org/drawingml/2006/table">
            <a:tbl>
              <a:tblPr/>
              <a:tblGrid>
                <a:gridCol w="1490472"/>
                <a:gridCol w="530352"/>
                <a:gridCol w="530352"/>
                <a:gridCol w="868680"/>
                <a:gridCol w="585216"/>
              </a:tblGrid>
              <a:tr h="207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-0,040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0,580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13,58%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0,348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4,43%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0,635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-0,031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0,387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8,93%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-0,043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17,19%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0,918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-0,029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18,67%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15,21%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0,577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12,10%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-0,162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0,611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0,317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8,38%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-0,075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0,259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1,51%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777240" y="4636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 faixas</a:t>
            </a:r>
            <a:endParaRPr lang="en-US" sz="1200" dirty="0"/>
          </a:p>
        </p:txBody>
      </p:sp>
      <p:graphicFrame>
        <p:nvGraphicFramePr>
          <p:cNvPr id="29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946904"/>
          <a:ext cx="106344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463040"/>
                <a:gridCol w="1051560"/>
                <a:gridCol w="1051560"/>
                <a:gridCol w="1051560"/>
                <a:gridCol w="1234440"/>
                <a:gridCol w="1234440"/>
                <a:gridCol w="1261872"/>
              </a:tblGrid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(própria)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(comum)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 (comum, nº mun.)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baixa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média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muito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com a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 de faixa vs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0,8316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0,8382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0,8450 (30)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28,4%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41,1%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25,7%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0,9957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5,6%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777240" y="5619115"/>
            <a:ext cx="10634472" cy="294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Kaiser e Horn indicam 3 e 3 fatores; a solução usa 2, que somam 51,93% da variância. A maior carga em F1 é de Renda (invertida); em F2, de Água inadequada.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V072</a:t>
            </a:r>
            <a:endParaRPr lang="en-US" sz="11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PASSA: comunalidade &lt; 0,30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Versão V073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com mediana · com lixo · água: só a inadequada · banheiro fora · moradia fora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</a:t>
            </a:r>
            <a:endParaRPr lang="en-US" sz="1200" dirty="0"/>
          </a:p>
        </p:txBody>
      </p:sp>
      <p:graphicFrame>
        <p:nvGraphicFramePr>
          <p:cNvPr id="7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09928"/>
          <a:ext cx="2926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mediana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própria)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comum)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67.981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840480" y="1673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</a:t>
            </a:r>
            <a:endParaRPr lang="en-US" sz="1200" dirty="0"/>
          </a:p>
        </p:txBody>
      </p:sp>
      <p:graphicFrame>
        <p:nvGraphicFramePr>
          <p:cNvPr id="15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709928"/>
          <a:ext cx="3429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0,7825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qui-quadrado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235.101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graus de liberdade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mínimo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0,700 (Lixo inadequado)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de Horn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retidos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dos 2 fatores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62,12%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 entre F1 e F2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variação de peso (um município de fora)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12,74 p.p.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406640" y="16733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e pesos (promax, matriz padrão)</a:t>
            </a:r>
            <a:endParaRPr lang="en-US" sz="1200" dirty="0"/>
          </a:p>
        </p:txBody>
      </p:sp>
      <p:graphicFrame>
        <p:nvGraphicFramePr>
          <p:cNvPr id="22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984248"/>
          <a:ext cx="4005072" cy="914400"/>
        </p:xfrm>
        <a:graphic>
          <a:graphicData uri="http://schemas.openxmlformats.org/drawingml/2006/table">
            <a:tbl>
              <a:tblPr/>
              <a:tblGrid>
                <a:gridCol w="1490472"/>
                <a:gridCol w="530352"/>
                <a:gridCol w="530352"/>
                <a:gridCol w="868680"/>
                <a:gridCol w="585216"/>
              </a:tblGrid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0,479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0,253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4,25%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0,625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0,470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7,25%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0,915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40,00%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0,707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-0,439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0,599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9,28%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-0,005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0,681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12,68%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13,65%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0,725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12,89%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777240" y="4636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 faixas</a:t>
            </a:r>
            <a:endParaRPr lang="en-US" sz="1200" dirty="0"/>
          </a:p>
        </p:txBody>
      </p:sp>
      <p:graphicFrame>
        <p:nvGraphicFramePr>
          <p:cNvPr id="30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946904"/>
          <a:ext cx="106344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463040"/>
                <a:gridCol w="1051560"/>
                <a:gridCol w="1051560"/>
                <a:gridCol w="1051560"/>
                <a:gridCol w="1234440"/>
                <a:gridCol w="1234440"/>
                <a:gridCol w="1261872"/>
              </a:tblGrid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(própria)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(comum)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 (comum, nº mun.)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baixa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média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muito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com a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 de faixa vs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0,8368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0,8443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0,8120 (30)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30,4%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50,0%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11,1%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8,6%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0,7960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38,6%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777240" y="5619115"/>
            <a:ext cx="10634472" cy="294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Kaiser e Horn indicam 2 e 2 fatores; a solução usa 2, que somam 62,12% da variância. A maior carga em F1 é de Renda (invertida); em F2, de Lixo inadequado.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V073</a:t>
            </a:r>
            <a:endParaRPr lang="en-US" sz="11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PASSA: comunalidade &lt; 0,30; carga &lt; 0,40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Versão V074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com mediana · com lixo · água: só a inadequada · banheiro fora · + moradia não convencional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</a:t>
            </a:r>
            <a:endParaRPr lang="en-US" sz="1200" dirty="0"/>
          </a:p>
        </p:txBody>
      </p:sp>
      <p:graphicFrame>
        <p:nvGraphicFramePr>
          <p:cNvPr id="7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09928"/>
          <a:ext cx="2926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mediana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não convencional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própria)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comum)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67.981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840480" y="1673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</a:t>
            </a:r>
            <a:endParaRPr lang="en-US" sz="1200" dirty="0"/>
          </a:p>
        </p:txBody>
      </p:sp>
      <p:graphicFrame>
        <p:nvGraphicFramePr>
          <p:cNvPr id="15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709928"/>
          <a:ext cx="3429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0,7826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qui-quadrado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235.738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graus de liberdade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mínimo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0,700 (Lixo inadequado)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de Horn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retidos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dos 2 fatores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54,45%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 entre F1 e F2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variação de peso (um município de fora)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12,64 p.p.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406640" y="16733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e pesos (promax, matriz padrão)</a:t>
            </a:r>
            <a:endParaRPr lang="en-US" sz="1200" dirty="0"/>
          </a:p>
        </p:txBody>
      </p:sp>
      <p:graphicFrame>
        <p:nvGraphicFramePr>
          <p:cNvPr id="22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984248"/>
          <a:ext cx="4005072" cy="914400"/>
        </p:xfrm>
        <a:graphic>
          <a:graphicData uri="http://schemas.openxmlformats.org/drawingml/2006/table">
            <a:tbl>
              <a:tblPr/>
              <a:tblGrid>
                <a:gridCol w="1490472"/>
                <a:gridCol w="530352"/>
                <a:gridCol w="530352"/>
                <a:gridCol w="868680"/>
                <a:gridCol w="585216"/>
              </a:tblGrid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0,478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0,254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4,24%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0,625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0,470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7,24%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0,913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40,00%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0,706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-0,441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0,600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9,24%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-0,007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0,681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12,65%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13,61%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0,725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12,87%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777240" y="4636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 faixas</a:t>
            </a:r>
            <a:endParaRPr lang="en-US" sz="1200" dirty="0"/>
          </a:p>
        </p:txBody>
      </p:sp>
      <p:graphicFrame>
        <p:nvGraphicFramePr>
          <p:cNvPr id="30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946904"/>
          <a:ext cx="106344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463040"/>
                <a:gridCol w="1051560"/>
                <a:gridCol w="1051560"/>
                <a:gridCol w="1051560"/>
                <a:gridCol w="1234440"/>
                <a:gridCol w="1234440"/>
                <a:gridCol w="1261872"/>
              </a:tblGrid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(própria)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(comum)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 (comum, nº mun.)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baixa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média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muito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com a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 de faixa vs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0,8368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0,8443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0,8120 (30)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30,4%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50,0%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11,1%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8,6%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0,7959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38,6%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777240" y="5619115"/>
            <a:ext cx="10634472" cy="294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Kaiser e Horn indicam 2 e 2 fatores; a solução usa 2, que somam 54,45% da variância. A maior carga em F1 é de Renda (invertida); em F2, de Lixo inadequado.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V074</a:t>
            </a:r>
            <a:endParaRPr lang="en-US" sz="11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PASSA NOS CRITÉRIOS DO NB05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Versão V075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com mediana · com lixo · água: só a inadequada · + sem banheiro · moradia fora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</a:t>
            </a:r>
            <a:endParaRPr lang="en-US" sz="1200" dirty="0"/>
          </a:p>
        </p:txBody>
      </p:sp>
      <p:graphicFrame>
        <p:nvGraphicFramePr>
          <p:cNvPr id="7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09928"/>
          <a:ext cx="2926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mediana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sem banheiro (V00495)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própria)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75.955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comum)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67.981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840480" y="1673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</a:t>
            </a:r>
            <a:endParaRPr lang="en-US" sz="1200" dirty="0"/>
          </a:p>
        </p:txBody>
      </p:sp>
      <p:graphicFrame>
        <p:nvGraphicFramePr>
          <p:cNvPr id="15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709928"/>
          <a:ext cx="3429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0,7915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qui-quadrado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211.953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graus de liberdade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mínimo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0,691 (Lixo inadequado)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de Horn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retidos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dos 2 fatores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56,37%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 entre F1 e F2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0,394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variação de peso (um município de fora)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28,22 p.p.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406640" y="16733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e pesos (promax, matriz padrão)</a:t>
            </a:r>
            <a:endParaRPr lang="en-US" sz="1200" dirty="0"/>
          </a:p>
        </p:txBody>
      </p:sp>
      <p:graphicFrame>
        <p:nvGraphicFramePr>
          <p:cNvPr id="23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984248"/>
          <a:ext cx="4005072" cy="914400"/>
        </p:xfrm>
        <a:graphic>
          <a:graphicData uri="http://schemas.openxmlformats.org/drawingml/2006/table">
            <a:tbl>
              <a:tblPr/>
              <a:tblGrid>
                <a:gridCol w="1490472"/>
                <a:gridCol w="530352"/>
                <a:gridCol w="530352"/>
                <a:gridCol w="868680"/>
                <a:gridCol w="585216"/>
              </a:tblGrid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0,585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9,24%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0,363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0,495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0,519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6,61%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-0,186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0,713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13,71%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-0,196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0,479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12,14%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-0,029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16,41%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17,00%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14,45%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0,622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10,43%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777240" y="4636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 faixas</a:t>
            </a:r>
            <a:endParaRPr lang="en-US" sz="1200" dirty="0"/>
          </a:p>
        </p:txBody>
      </p:sp>
      <p:graphicFrame>
        <p:nvGraphicFramePr>
          <p:cNvPr id="309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946904"/>
          <a:ext cx="106344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463040"/>
                <a:gridCol w="1051560"/>
                <a:gridCol w="1051560"/>
                <a:gridCol w="1051560"/>
                <a:gridCol w="1234440"/>
                <a:gridCol w="1234440"/>
                <a:gridCol w="1261872"/>
              </a:tblGrid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(própria)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(comum)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 (comum, nº mun.)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baixa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média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muito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com a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 de faixa vs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0,8597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0,8623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0,8453 (30)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29,4%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44,5%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19,0%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7,1%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0,9239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22,4%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777240" y="5619115"/>
            <a:ext cx="10634472" cy="294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Kaiser e Horn indicam 3 e 2 fatores; a solução usa 2, que somam 56,37% da variância. A maior carga em F1 é de Renda (invertida); em F2, de Lixo inadequado.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V075</a:t>
            </a:r>
            <a:endParaRPr lang="en-US" sz="11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PASSA: comunalidade &lt; 0,30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Versão V076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com mediana · com lixo · água: só a inadequada · + sem banheiro · + moradia não convencional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</a:t>
            </a:r>
            <a:endParaRPr lang="en-US" sz="1200" dirty="0"/>
          </a:p>
        </p:txBody>
      </p:sp>
      <p:graphicFrame>
        <p:nvGraphicFramePr>
          <p:cNvPr id="7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09928"/>
          <a:ext cx="2926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mediana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sem banheiro (V00495)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não convencional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própria)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75.955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comum)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67.981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840480" y="1673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</a:t>
            </a:r>
            <a:endParaRPr lang="en-US" sz="1200" dirty="0"/>
          </a:p>
        </p:txBody>
      </p:sp>
      <p:graphicFrame>
        <p:nvGraphicFramePr>
          <p:cNvPr id="15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709928"/>
          <a:ext cx="3429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0,7900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qui-quadrado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213.498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graus de liberdade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mínimo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0,680 (Moradia não convencional)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de Horn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retidos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dos 2 fatores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50,42%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 entre F1 e F2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0,367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variação de peso (um município de fora)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7,11 p.p.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406640" y="16733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e pesos (promax, matriz padrão)</a:t>
            </a:r>
            <a:endParaRPr lang="en-US" sz="1200" dirty="0"/>
          </a:p>
        </p:txBody>
      </p:sp>
      <p:graphicFrame>
        <p:nvGraphicFramePr>
          <p:cNvPr id="23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984248"/>
          <a:ext cx="4005072" cy="914400"/>
        </p:xfrm>
        <a:graphic>
          <a:graphicData uri="http://schemas.openxmlformats.org/drawingml/2006/table">
            <a:tbl>
              <a:tblPr/>
              <a:tblGrid>
                <a:gridCol w="1490472"/>
                <a:gridCol w="530352"/>
                <a:gridCol w="530352"/>
                <a:gridCol w="868680"/>
                <a:gridCol w="585216"/>
              </a:tblGrid>
              <a:tr h="207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0,548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8,00%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0,497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5,59%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-0,108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0,602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0,327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9,66%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0,721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-0,159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11,58%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-0,009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0,729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16,36%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17,30%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14,76%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-0,008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0,673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12,04%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-0,145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0,420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4,70%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777240" y="4636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 faixas</a:t>
            </a:r>
            <a:endParaRPr lang="en-US" sz="1200" dirty="0"/>
          </a:p>
        </p:txBody>
      </p:sp>
      <p:graphicFrame>
        <p:nvGraphicFramePr>
          <p:cNvPr id="31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946904"/>
          <a:ext cx="106344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463040"/>
                <a:gridCol w="1051560"/>
                <a:gridCol w="1051560"/>
                <a:gridCol w="1051560"/>
                <a:gridCol w="1234440"/>
                <a:gridCol w="1234440"/>
                <a:gridCol w="1261872"/>
              </a:tblGrid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(própria)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(comum)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 (comum, nº mun.)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baixa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média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muito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com a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 de faixa vs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0,8643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0,8671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0,8524 (30)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43,5%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21,1%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0,9460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18,7%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777240" y="5619115"/>
            <a:ext cx="10634472" cy="294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Kaiser e Horn indicam 3 e 3 fatores; a solução usa 2, que somam 50,42% da variância. A maior carga em F1 é de Renda (invertida); em F2, de Sem banheiro.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V076</a:t>
            </a:r>
            <a:endParaRPr lang="en-US" sz="11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PASSA: comunalidade &lt; 0,30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Versão V077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com mediana · com lixo · água: só a inadequada · + banheiro graduado · moradia fora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</a:t>
            </a:r>
            <a:endParaRPr lang="en-US" sz="1200" dirty="0"/>
          </a:p>
        </p:txBody>
      </p:sp>
      <p:graphicFrame>
        <p:nvGraphicFramePr>
          <p:cNvPr id="8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09928"/>
          <a:ext cx="2926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mediana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banheiro graduado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própria)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comum)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67.981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840480" y="1673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</a:t>
            </a:r>
            <a:endParaRPr lang="en-US" sz="1200" dirty="0"/>
          </a:p>
        </p:txBody>
      </p:sp>
      <p:graphicFrame>
        <p:nvGraphicFramePr>
          <p:cNvPr id="15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709928"/>
          <a:ext cx="3429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0,7741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qui-quadrado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192.191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graus de liberdade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mínimo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0,643 (Lixo inadequado)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de Horn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retidos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dos 2 fatores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54,29%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 entre F1 e F2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variação de peso (um município de fora)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16,17 p.p.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406640" y="16733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e pesos (promax, matriz padrão)</a:t>
            </a:r>
            <a:endParaRPr lang="en-US" sz="1200" dirty="0"/>
          </a:p>
        </p:txBody>
      </p:sp>
      <p:graphicFrame>
        <p:nvGraphicFramePr>
          <p:cNvPr id="238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984248"/>
          <a:ext cx="4005072" cy="914400"/>
        </p:xfrm>
        <a:graphic>
          <a:graphicData uri="http://schemas.openxmlformats.org/drawingml/2006/table">
            <a:tbl>
              <a:tblPr/>
              <a:tblGrid>
                <a:gridCol w="1490472"/>
                <a:gridCol w="530352"/>
                <a:gridCol w="530352"/>
                <a:gridCol w="868680"/>
                <a:gridCol w="585216"/>
              </a:tblGrid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0,369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8,43%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0,406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0,492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6,29%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-0,140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0,713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15,60%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-0,239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0,478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11,78%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-0,038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0,725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16,32%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17,09%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14,80%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-0,052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0,562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0,299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9,69%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777240" y="4636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 faixas</a:t>
            </a:r>
            <a:endParaRPr lang="en-US" sz="1200" dirty="0"/>
          </a:p>
        </p:txBody>
      </p:sp>
      <p:graphicFrame>
        <p:nvGraphicFramePr>
          <p:cNvPr id="31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946904"/>
          <a:ext cx="106344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463040"/>
                <a:gridCol w="1051560"/>
                <a:gridCol w="1051560"/>
                <a:gridCol w="1051560"/>
                <a:gridCol w="1234440"/>
                <a:gridCol w="1234440"/>
                <a:gridCol w="1261872"/>
              </a:tblGrid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(própria)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(comum)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 (comum, nº mun.)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baixa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média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muito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com a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 de faixa vs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0,8576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0,8614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0,8460 (30)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29,4%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44,6%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7,1%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0,9141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23,0%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777240" y="5619115"/>
            <a:ext cx="10634472" cy="294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Kaiser e Horn indicam 3 e 3 fatores; a solução usa 2, que somam 54,29% da variância. A maior carga em F1 é de Renda (invertida); em F2, de Lixo inadequado.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V077</a:t>
            </a:r>
            <a:endParaRPr lang="en-US" sz="11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PASSA: comunalidade &lt; 0,30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Versão V078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com mediana · com lixo · água: só a inadequada · + banheiro graduado · + moradia não convencional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</a:t>
            </a:r>
            <a:endParaRPr lang="en-US" sz="1200" dirty="0"/>
          </a:p>
        </p:txBody>
      </p:sp>
      <p:graphicFrame>
        <p:nvGraphicFramePr>
          <p:cNvPr id="8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09928"/>
          <a:ext cx="2926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mediana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banheiro graduado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não convencional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própria)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comum)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67.981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840480" y="1673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</a:t>
            </a:r>
            <a:endParaRPr lang="en-US" sz="1200" dirty="0"/>
          </a:p>
        </p:txBody>
      </p:sp>
      <p:graphicFrame>
        <p:nvGraphicFramePr>
          <p:cNvPr id="16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709928"/>
          <a:ext cx="3429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0,7723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qui-quadrado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193.569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graus de liberdade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mínimo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0,637 (Moradia não convencional)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de Horn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retidos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dos 2 fatores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48,57%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 entre F1 e F2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0,313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variação de peso (um município de fora)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31,47 p.p.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406640" y="16733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e pesos (promax, matriz padrão)</a:t>
            </a:r>
            <a:endParaRPr lang="en-US" sz="1200" dirty="0"/>
          </a:p>
        </p:txBody>
      </p:sp>
      <p:graphicFrame>
        <p:nvGraphicFramePr>
          <p:cNvPr id="241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984248"/>
          <a:ext cx="4005072" cy="914400"/>
        </p:xfrm>
        <a:graphic>
          <a:graphicData uri="http://schemas.openxmlformats.org/drawingml/2006/table">
            <a:tbl>
              <a:tblPr/>
              <a:tblGrid>
                <a:gridCol w="1490472"/>
                <a:gridCol w="530352"/>
                <a:gridCol w="530352"/>
                <a:gridCol w="868680"/>
                <a:gridCol w="585216"/>
              </a:tblGrid>
              <a:tr h="207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0,226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0,328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7,27%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0,381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4,24%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-0,040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0,559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10,70%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0,705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-0,204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0,449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10,20%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-0,035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0,719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15,11%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0,889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-0,006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16,22%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0,069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14,22%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-0,084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0,663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15,08%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-0,121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6,96%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777240" y="4636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 faixas</a:t>
            </a:r>
            <a:endParaRPr lang="en-US" sz="1200" dirty="0"/>
          </a:p>
        </p:txBody>
      </p:sp>
      <p:graphicFrame>
        <p:nvGraphicFramePr>
          <p:cNvPr id="32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946904"/>
          <a:ext cx="106344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463040"/>
                <a:gridCol w="1051560"/>
                <a:gridCol w="1051560"/>
                <a:gridCol w="1051560"/>
                <a:gridCol w="1234440"/>
                <a:gridCol w="1234440"/>
                <a:gridCol w="1261872"/>
              </a:tblGrid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(própria)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(comum)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 (comum, nº mun.)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baixa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média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muito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com a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 de faixa vs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0,8623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0,8663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0,8530 (30)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43,7%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20,9%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0,9363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20,3%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777240" y="5619115"/>
            <a:ext cx="10634472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Kaiser e Horn indicam 3 e 3 fatores; a solução usa 2, que somam 48,57% da variância. A maior carga em F1 é de Renda (invertida); em F2, de Banheiro graduado.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V078</a:t>
            </a:r>
            <a:endParaRPr lang="en-US" sz="11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PASSA: comunalidade &lt; 0,30; carga &lt; 0,40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Versão V079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com mediana · com lixo · + água não chega · banheiro fora · moradia fora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</a:t>
            </a:r>
            <a:endParaRPr lang="en-US" sz="1200" dirty="0"/>
          </a:p>
        </p:txBody>
      </p:sp>
      <p:graphicFrame>
        <p:nvGraphicFramePr>
          <p:cNvPr id="8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09928"/>
          <a:ext cx="2926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mediana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não chega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própria)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78.256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comum)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67.981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840480" y="1673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</a:t>
            </a:r>
            <a:endParaRPr lang="en-US" sz="1200" dirty="0"/>
          </a:p>
        </p:txBody>
      </p:sp>
      <p:graphicFrame>
        <p:nvGraphicFramePr>
          <p:cNvPr id="16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709928"/>
          <a:ext cx="3429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0,7803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qui-quadrado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232.575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graus de liberdade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mínimo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0,693 (Água inadequada)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de Horn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retidos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dos 2 fatores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58,51%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 entre F1 e F2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variação de peso (um município de fora)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5,09 p.p.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406640" y="16733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e pesos (promax, matriz padrão)</a:t>
            </a:r>
            <a:endParaRPr lang="en-US" sz="1200" dirty="0"/>
          </a:p>
        </p:txBody>
      </p:sp>
      <p:graphicFrame>
        <p:nvGraphicFramePr>
          <p:cNvPr id="24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984248"/>
          <a:ext cx="4005072" cy="914400"/>
        </p:xfrm>
        <a:graphic>
          <a:graphicData uri="http://schemas.openxmlformats.org/drawingml/2006/table">
            <a:tbl>
              <a:tblPr/>
              <a:tblGrid>
                <a:gridCol w="1490472"/>
                <a:gridCol w="530352"/>
                <a:gridCol w="530352"/>
                <a:gridCol w="868680"/>
                <a:gridCol w="585216"/>
              </a:tblGrid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-0,041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0,684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16,37%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0,495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4,79%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2,54%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0,676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-0,098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9,71%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-0,081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17,13%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-0,043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18,12%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15,04%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-0,104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0,644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16,30%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777240" y="4636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 faixas</a:t>
            </a:r>
            <a:endParaRPr lang="en-US" sz="1200" dirty="0"/>
          </a:p>
        </p:txBody>
      </p:sp>
      <p:graphicFrame>
        <p:nvGraphicFramePr>
          <p:cNvPr id="32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946904"/>
          <a:ext cx="106344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463040"/>
                <a:gridCol w="1051560"/>
                <a:gridCol w="1051560"/>
                <a:gridCol w="1051560"/>
                <a:gridCol w="1234440"/>
                <a:gridCol w="1234440"/>
                <a:gridCol w="1261872"/>
              </a:tblGrid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(própria)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(comum)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 (comum, nº mun.)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baixa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média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muito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com a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 de faixa vs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0,8422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0,8478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0,8310 (30)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28,7%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42,2%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24,0%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5,1%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0,9910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8,4%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777240" y="5619115"/>
            <a:ext cx="10634472" cy="294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Kaiser e Horn indicam 3 e 3 fatores; a solução usa 2, que somam 58,51% da variância. A maior carga em F1 é de Renda (invertida); em F2, de Água inadequada.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V079</a:t>
            </a:r>
            <a:endParaRPr lang="en-US" sz="11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PASSA: comunalidade &lt; 0,30; carga &lt; 0,40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Versão V080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com mediana · com lixo · + água não chega · banheiro fora · + moradia não convencional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</a:t>
            </a:r>
            <a:endParaRPr lang="en-US" sz="1200" dirty="0"/>
          </a:p>
        </p:txBody>
      </p:sp>
      <p:graphicFrame>
        <p:nvGraphicFramePr>
          <p:cNvPr id="8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09928"/>
          <a:ext cx="2926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mediana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não chega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não convencional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própria)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78.256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comum)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67.981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840480" y="1673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</a:t>
            </a:r>
            <a:endParaRPr lang="en-US" sz="1200" dirty="0"/>
          </a:p>
        </p:txBody>
      </p:sp>
      <p:graphicFrame>
        <p:nvGraphicFramePr>
          <p:cNvPr id="16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709928"/>
          <a:ext cx="3429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0,7804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qui-quadrado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233.231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graus de liberdade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mínimo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0,694 (Água inadequada)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de Horn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retidos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dos 2 fatores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52,10%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 entre F1 e F2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variação de peso (um município de fora)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5,02 p.p.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406640" y="16733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e pesos (promax, matriz padrão)</a:t>
            </a:r>
            <a:endParaRPr lang="en-US" sz="1200" dirty="0"/>
          </a:p>
        </p:txBody>
      </p:sp>
      <p:graphicFrame>
        <p:nvGraphicFramePr>
          <p:cNvPr id="24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984248"/>
          <a:ext cx="4005072" cy="914400"/>
        </p:xfrm>
        <a:graphic>
          <a:graphicData uri="http://schemas.openxmlformats.org/drawingml/2006/table">
            <a:tbl>
              <a:tblPr/>
              <a:tblGrid>
                <a:gridCol w="1490472"/>
                <a:gridCol w="530352"/>
                <a:gridCol w="530352"/>
                <a:gridCol w="868680"/>
                <a:gridCol w="585216"/>
              </a:tblGrid>
              <a:tr h="207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-0,040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0,684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16,37%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0,495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4,78%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2,53%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0,675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-0,098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0,408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9,63%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0,899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-0,083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17,08%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-0,044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18,04%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0,049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15,00%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-0,104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0,645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16,32%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0,25%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777240" y="4636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 faixas</a:t>
            </a:r>
            <a:endParaRPr lang="en-US" sz="1200" dirty="0"/>
          </a:p>
        </p:txBody>
      </p:sp>
      <p:graphicFrame>
        <p:nvGraphicFramePr>
          <p:cNvPr id="329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946904"/>
          <a:ext cx="106344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463040"/>
                <a:gridCol w="1051560"/>
                <a:gridCol w="1051560"/>
                <a:gridCol w="1051560"/>
                <a:gridCol w="1234440"/>
                <a:gridCol w="1234440"/>
                <a:gridCol w="1261872"/>
              </a:tblGrid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(própria)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(comum)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 (comum, nº mun.)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baixa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média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muito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com a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 de faixa vs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0,8423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0,8479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0,8310 (30)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28,7%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42,2%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23,9%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5,1%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0,9911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8,4%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777240" y="5619115"/>
            <a:ext cx="10634472" cy="294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Kaiser e Horn indicam 3 e 3 fatores; a solução usa 2, que somam 52,10% da variância. A maior carga em F1 é de Renda (invertida); em F2, de Água inadequada.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V080</a:t>
            </a:r>
            <a:endParaRPr lang="en-US" sz="11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PASSA: comunalidade &lt; 0,30; carga &lt; 0,40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Versão V081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com mediana · com lixo · + água não chega · + sem banheiro · moradia fora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</a:t>
            </a:r>
            <a:endParaRPr lang="en-US" sz="1200" dirty="0"/>
          </a:p>
        </p:txBody>
      </p:sp>
      <p:graphicFrame>
        <p:nvGraphicFramePr>
          <p:cNvPr id="8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09928"/>
          <a:ext cx="2926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mediana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não chega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sem banheiro (V00495)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própria)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69.480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comum)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67.981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840480" y="1673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</a:t>
            </a:r>
            <a:endParaRPr lang="en-US" sz="1200" dirty="0"/>
          </a:p>
        </p:txBody>
      </p:sp>
      <p:graphicFrame>
        <p:nvGraphicFramePr>
          <p:cNvPr id="16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709928"/>
          <a:ext cx="3429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0,7839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qui-quadrado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216.142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graus de liberdade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mínimo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0,693 (Lixo inadequado)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de Horn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retidos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dos 2 fatores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54,63%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 entre F1 e F2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0,414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variação de peso (um município de fora)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3,36 p.p.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406640" y="16733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e pesos (promax, matriz padrão)</a:t>
            </a:r>
            <a:endParaRPr lang="en-US" sz="1200" dirty="0"/>
          </a:p>
        </p:txBody>
      </p:sp>
      <p:graphicFrame>
        <p:nvGraphicFramePr>
          <p:cNvPr id="25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984248"/>
          <a:ext cx="4005072" cy="914400"/>
        </p:xfrm>
        <a:graphic>
          <a:graphicData uri="http://schemas.openxmlformats.org/drawingml/2006/table">
            <a:tbl>
              <a:tblPr/>
              <a:tblGrid>
                <a:gridCol w="1490472"/>
                <a:gridCol w="530352"/>
                <a:gridCol w="530352"/>
                <a:gridCol w="868680"/>
                <a:gridCol w="585216"/>
              </a:tblGrid>
              <a:tr h="207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0,543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10,85%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0,409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3,40%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0,313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1,99%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0,673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-0,092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9,62%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-0,069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16,87%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-0,043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18,03%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15,48%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-0,098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0,633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14,04%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-0,059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0,691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9,71%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777240" y="4636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 faixas</a:t>
            </a:r>
            <a:endParaRPr lang="en-US" sz="1200" dirty="0"/>
          </a:p>
        </p:txBody>
      </p:sp>
      <p:graphicFrame>
        <p:nvGraphicFramePr>
          <p:cNvPr id="33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946904"/>
          <a:ext cx="106344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463040"/>
                <a:gridCol w="1051560"/>
                <a:gridCol w="1051560"/>
                <a:gridCol w="1051560"/>
                <a:gridCol w="1234440"/>
                <a:gridCol w="1234440"/>
                <a:gridCol w="1261872"/>
              </a:tblGrid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(própria)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(comum)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 (comum, nº mun.)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baixa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média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muito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com a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 de faixa vs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0,8547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0,8528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0,8493 (30)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40,4%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26,2%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0,9881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9,3%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777240" y="5619115"/>
            <a:ext cx="10634472" cy="294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Kaiser e Horn indicam 3 e 3 fatores; a solução usa 2, que somam 54,63% da variância. A maior carga em F1 é de Renda (invertida); em F2, de Água não chega.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V081</a:t>
            </a:r>
            <a:endParaRPr lang="en-US" sz="11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PASSA: comunalidade &lt; 0,30; carga &lt; 0,40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Versão V082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com mediana · com lixo · + água não chega · + sem banheiro · + moradia não convencional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</a:t>
            </a:r>
            <a:endParaRPr lang="en-US" sz="1200" dirty="0"/>
          </a:p>
        </p:txBody>
      </p:sp>
      <p:graphicFrame>
        <p:nvGraphicFramePr>
          <p:cNvPr id="8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09928"/>
          <a:ext cx="2926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mediana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não chega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sem banheiro (V00495)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não convencional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própria)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69.480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comum)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67.981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840480" y="1673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</a:t>
            </a:r>
            <a:endParaRPr lang="en-US" sz="1200" dirty="0"/>
          </a:p>
        </p:txBody>
      </p:sp>
      <p:graphicFrame>
        <p:nvGraphicFramePr>
          <p:cNvPr id="16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709928"/>
          <a:ext cx="3429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0,7825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qui-quadrado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217.636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graus de liberdade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mínimo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0,673 (Moradia não convencional)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de Horn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retidos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dos 2 fatores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49,30%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 entre F1 e F2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0,416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variação de peso (um município de fora)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3,40 p.p.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406640" y="16733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e pesos (promax, matriz padrão)</a:t>
            </a:r>
            <a:endParaRPr lang="en-US" sz="1200" dirty="0"/>
          </a:p>
        </p:txBody>
      </p:sp>
      <p:graphicFrame>
        <p:nvGraphicFramePr>
          <p:cNvPr id="25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984248"/>
          <a:ext cx="4005072" cy="914400"/>
        </p:xfrm>
        <a:graphic>
          <a:graphicData uri="http://schemas.openxmlformats.org/drawingml/2006/table">
            <a:tbl>
              <a:tblPr/>
              <a:tblGrid>
                <a:gridCol w="1490472"/>
                <a:gridCol w="530352"/>
                <a:gridCol w="530352"/>
                <a:gridCol w="868680"/>
                <a:gridCol w="585216"/>
              </a:tblGrid>
              <a:tr h="207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0,724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0,535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10,60%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0,405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3,32%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0,310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1,94%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0,675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-0,097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9,66%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-0,069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16,84%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-0,045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18,02%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15,47%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-0,097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0,624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13,79%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0,701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9,94%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777240" y="4636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 faixas</a:t>
            </a:r>
            <a:endParaRPr lang="en-US" sz="1200" dirty="0"/>
          </a:p>
        </p:txBody>
      </p:sp>
      <p:graphicFrame>
        <p:nvGraphicFramePr>
          <p:cNvPr id="33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946904"/>
          <a:ext cx="106344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463040"/>
                <a:gridCol w="1051560"/>
                <a:gridCol w="1051560"/>
                <a:gridCol w="1051560"/>
                <a:gridCol w="1234440"/>
                <a:gridCol w="1234440"/>
                <a:gridCol w="1261872"/>
              </a:tblGrid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(própria)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(comum)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 (comum, nº mun.)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baixa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média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muito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com a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 de faixa vs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0,8549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0,8531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0,8497 (30)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40,4%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26,3%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0,9877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777240" y="5619115"/>
            <a:ext cx="10634472" cy="294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Kaiser e Horn indicam 4 e 4 fatores; a solução usa 2, que somam 49,30% da variância. A maior carga em F1 é de Renda (invertida); em F2, de Água não chega.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V082</a:t>
            </a:r>
            <a:endParaRPr lang="en-US" sz="11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PASSA: comunalidade &lt; 0,30; carga &lt; 0,40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Versão V083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com mediana · com lixo · + água não chega · + banheiro graduado · moradia fora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</a:t>
            </a:r>
            <a:endParaRPr lang="en-US" sz="1200" dirty="0"/>
          </a:p>
        </p:txBody>
      </p:sp>
      <p:graphicFrame>
        <p:nvGraphicFramePr>
          <p:cNvPr id="8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09928"/>
          <a:ext cx="2926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mediana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não chega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banheiro graduado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própria)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68.001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comum)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67.981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840480" y="1673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</a:t>
            </a:r>
            <a:endParaRPr lang="en-US" sz="1200" dirty="0"/>
          </a:p>
        </p:txBody>
      </p:sp>
      <p:graphicFrame>
        <p:nvGraphicFramePr>
          <p:cNvPr id="17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709928"/>
          <a:ext cx="3429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0,7670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qui-quadrado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191.857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graus de liberdade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mínimo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0,637 (Lixo inadequado)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de Horn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retidos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dos 2 fatores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51,86%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 entre F1 e F2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0,360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variação de peso (um município de fora)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3,43 p.p.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406640" y="16733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e pesos (promax, matriz padrão)</a:t>
            </a:r>
            <a:endParaRPr lang="en-US" sz="1200" dirty="0"/>
          </a:p>
        </p:txBody>
      </p:sp>
      <p:graphicFrame>
        <p:nvGraphicFramePr>
          <p:cNvPr id="25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984248"/>
          <a:ext cx="4005072" cy="914400"/>
        </p:xfrm>
        <a:graphic>
          <a:graphicData uri="http://schemas.openxmlformats.org/drawingml/2006/table">
            <a:tbl>
              <a:tblPr/>
              <a:tblGrid>
                <a:gridCol w="1490472"/>
                <a:gridCol w="530352"/>
                <a:gridCol w="530352"/>
                <a:gridCol w="868680"/>
                <a:gridCol w="585216"/>
              </a:tblGrid>
              <a:tr h="207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0,558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12,63%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0,399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0,404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0,439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3,77%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0,286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1,88%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0,662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-0,096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0,402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9,49%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16,87%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0,915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-0,037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18,11%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15,53%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-0,093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0,590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14,61%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-0,092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0,556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0,281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7,12%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777240" y="4636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 faixas</a:t>
            </a:r>
            <a:endParaRPr lang="en-US" sz="1200" dirty="0"/>
          </a:p>
        </p:txBody>
      </p:sp>
      <p:graphicFrame>
        <p:nvGraphicFramePr>
          <p:cNvPr id="34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946904"/>
          <a:ext cx="106344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463040"/>
                <a:gridCol w="1051560"/>
                <a:gridCol w="1051560"/>
                <a:gridCol w="1051560"/>
                <a:gridCol w="1234440"/>
                <a:gridCol w="1234440"/>
                <a:gridCol w="1261872"/>
              </a:tblGrid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(própria)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(comum)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 (comum, nº mun.)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baixa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média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muito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com a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 de faixa vs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0,8478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0,8479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0,8456 (30)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28,6%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40,2%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26,3%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0,9923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777240" y="5619115"/>
            <a:ext cx="10634472" cy="294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Kaiser e Horn indicam 3 e 3 fatores; a solução usa 2, que somam 51,86% da variância. A maior carga em F1 é de Renda (invertida); em F2, de Água não chega.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V083</a:t>
            </a:r>
            <a:endParaRPr lang="en-US" sz="11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PASSA: comunalidade &lt; 0,30; carga &lt; 0,40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Versão V084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com mediana · com lixo · + água não chega · + banheiro graduado · + moradia não convencional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</a:t>
            </a:r>
            <a:endParaRPr lang="en-US" sz="1200" dirty="0"/>
          </a:p>
        </p:txBody>
      </p:sp>
      <p:graphicFrame>
        <p:nvGraphicFramePr>
          <p:cNvPr id="8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09928"/>
          <a:ext cx="2926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mediana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não chega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banheiro graduado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não convencional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própria)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68.001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comum)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67.981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840480" y="1673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</a:t>
            </a:r>
            <a:endParaRPr lang="en-US" sz="1200" dirty="0"/>
          </a:p>
        </p:txBody>
      </p:sp>
      <p:graphicFrame>
        <p:nvGraphicFramePr>
          <p:cNvPr id="17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709928"/>
          <a:ext cx="3429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0,7653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qui-quadrado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193.230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graus de liberdade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mínimo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0,636 (Lixo inadequado)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de Horn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retidos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dos 2 fatores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46,79%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 entre F1 e F2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0,362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variação de peso (um município de fora)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3,46 p.p.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406640" y="16733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e pesos (promax, matriz padrão)</a:t>
            </a:r>
            <a:endParaRPr lang="en-US" sz="1200" dirty="0"/>
          </a:p>
        </p:txBody>
      </p:sp>
      <p:graphicFrame>
        <p:nvGraphicFramePr>
          <p:cNvPr id="25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984248"/>
          <a:ext cx="4005072" cy="914400"/>
        </p:xfrm>
        <a:graphic>
          <a:graphicData uri="http://schemas.openxmlformats.org/drawingml/2006/table">
            <a:tbl>
              <a:tblPr/>
              <a:tblGrid>
                <a:gridCol w="1490472"/>
                <a:gridCol w="530352"/>
                <a:gridCol w="530352"/>
                <a:gridCol w="868680"/>
                <a:gridCol w="585216"/>
              </a:tblGrid>
              <a:tr h="207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0,547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13,52%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0,401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0,399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3,29%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0,283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2,02%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0,664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-0,100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0,402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9,00%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15,92%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0,915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-0,038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17,11%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14,68%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-0,091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0,789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0,580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15,74%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-0,099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0,573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0,297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8,29%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777240" y="4636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 faixas</a:t>
            </a:r>
            <a:endParaRPr lang="en-US" sz="1200" dirty="0"/>
          </a:p>
        </p:txBody>
      </p:sp>
      <p:graphicFrame>
        <p:nvGraphicFramePr>
          <p:cNvPr id="34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946904"/>
          <a:ext cx="106344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463040"/>
                <a:gridCol w="1051560"/>
                <a:gridCol w="1051560"/>
                <a:gridCol w="1051560"/>
                <a:gridCol w="1234440"/>
                <a:gridCol w="1234440"/>
                <a:gridCol w="1261872"/>
              </a:tblGrid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(própria)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(comum)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 (comum, nº mun.)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baixa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média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muito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com a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 de faixa vs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0,8461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0,8462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0,8425 (30)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28,7%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40,6%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26,0%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0,9924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8,6%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777240" y="5619115"/>
            <a:ext cx="10634472" cy="294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Kaiser e Horn indicam 4 e 4 fatores; a solução usa 2, que somam 46,79% da variância. A maior carga em F1 é de Renda (invertida); em F2, de Água não chega.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V084</a:t>
            </a:r>
            <a:endParaRPr lang="en-US" sz="11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PASSA: comunalidade &lt; 0,30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Versão V085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com mediana · com lixo · + sem água canalizada · banheiro fora · moradia fora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</a:t>
            </a:r>
            <a:endParaRPr lang="en-US" sz="1200" dirty="0"/>
          </a:p>
        </p:txBody>
      </p:sp>
      <p:graphicFrame>
        <p:nvGraphicFramePr>
          <p:cNvPr id="8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09928"/>
          <a:ext cx="2926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mediana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sem canalização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própria)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87.512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comum)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67.981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840480" y="1673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</a:t>
            </a:r>
            <a:endParaRPr lang="en-US" sz="1200" dirty="0"/>
          </a:p>
        </p:txBody>
      </p:sp>
      <p:graphicFrame>
        <p:nvGraphicFramePr>
          <p:cNvPr id="17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709928"/>
          <a:ext cx="3429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0,8051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qui-quadrado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271.515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graus de liberdade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mínimo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0,733 (Lixo inadequado)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de Horn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retidos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dos 2 fatores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59,24%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 entre F1 e F2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variação de peso (um município de fora)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8,81 p.p.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406640" y="16733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e pesos (promax, matriz padrão)</a:t>
            </a:r>
            <a:endParaRPr lang="en-US" sz="1200" dirty="0"/>
          </a:p>
        </p:txBody>
      </p:sp>
      <p:graphicFrame>
        <p:nvGraphicFramePr>
          <p:cNvPr id="26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984248"/>
          <a:ext cx="4005072" cy="914400"/>
        </p:xfrm>
        <a:graphic>
          <a:graphicData uri="http://schemas.openxmlformats.org/drawingml/2006/table">
            <a:tbl>
              <a:tblPr/>
              <a:tblGrid>
                <a:gridCol w="1490472"/>
                <a:gridCol w="530352"/>
                <a:gridCol w="530352"/>
                <a:gridCol w="868680"/>
                <a:gridCol w="585216"/>
              </a:tblGrid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-0,042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0,596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14,11%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0,516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6,22%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-0,141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0,574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0,276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7,45%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-0,160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12,16%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0,870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-0,021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16,97%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0,877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17,24%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13,63%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0,610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12,22%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777240" y="4636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 faixas</a:t>
            </a:r>
            <a:endParaRPr lang="en-US" sz="1200" dirty="0"/>
          </a:p>
        </p:txBody>
      </p:sp>
      <p:graphicFrame>
        <p:nvGraphicFramePr>
          <p:cNvPr id="349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946904"/>
          <a:ext cx="106344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463040"/>
                <a:gridCol w="1051560"/>
                <a:gridCol w="1051560"/>
                <a:gridCol w="1051560"/>
                <a:gridCol w="1234440"/>
                <a:gridCol w="1234440"/>
                <a:gridCol w="1261872"/>
              </a:tblGrid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(própria)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(comum)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 (comum, nº mun.)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baixa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média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muito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com a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 de faixa vs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0,8447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0,8557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0,8235 (30)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29,0%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44,0%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6,2%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0,9679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18,6%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777240" y="5619115"/>
            <a:ext cx="10634472" cy="294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Kaiser e Horn indicam 3 e 3 fatores; a solução usa 2, que somam 59,24% da variância. A maior carga em F1 é de Renda (invertida); em F2, de Água inadequada.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V085</a:t>
            </a:r>
            <a:endParaRPr lang="en-US" sz="11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PASSA: comunalidade &lt; 0,30; carga &lt; 0,40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Versão V086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com mediana · com lixo · + sem água canalizada · banheiro fora · + moradia não convencional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</a:t>
            </a:r>
            <a:endParaRPr lang="en-US" sz="1200" dirty="0"/>
          </a:p>
        </p:txBody>
      </p:sp>
      <p:graphicFrame>
        <p:nvGraphicFramePr>
          <p:cNvPr id="8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09928"/>
          <a:ext cx="2926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mediana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sem canalização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não convencional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própria)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87.512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comum)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67.981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840480" y="1673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</a:t>
            </a:r>
            <a:endParaRPr lang="en-US" sz="1200" dirty="0"/>
          </a:p>
        </p:txBody>
      </p:sp>
      <p:graphicFrame>
        <p:nvGraphicFramePr>
          <p:cNvPr id="17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709928"/>
          <a:ext cx="3429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0,8051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qui-quadrado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272.228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graus de liberdade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mínimo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0,732 (Lixo inadequado)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de Horn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retidos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dos 2 fatores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52,75%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 entre F1 e F2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variação de peso (um município de fora)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8,64 p.p.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406640" y="16733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e pesos (promax, matriz padrão)</a:t>
            </a:r>
            <a:endParaRPr lang="en-US" sz="1200" dirty="0"/>
          </a:p>
        </p:txBody>
      </p:sp>
      <p:graphicFrame>
        <p:nvGraphicFramePr>
          <p:cNvPr id="26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984248"/>
          <a:ext cx="4005072" cy="914400"/>
        </p:xfrm>
        <a:graphic>
          <a:graphicData uri="http://schemas.openxmlformats.org/drawingml/2006/table">
            <a:tbl>
              <a:tblPr/>
              <a:tblGrid>
                <a:gridCol w="1490472"/>
                <a:gridCol w="530352"/>
                <a:gridCol w="530352"/>
                <a:gridCol w="868680"/>
                <a:gridCol w="585216"/>
              </a:tblGrid>
              <a:tr h="207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-0,042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0,789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0,594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14,02%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0,309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0,514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6,15%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-0,138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0,569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0,272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7,31%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-0,162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12,17%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0,871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16,96%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0,878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17,26%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13,61%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0,610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12,20%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777240" y="4636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 faixas</a:t>
            </a:r>
            <a:endParaRPr lang="en-US" sz="1200" dirty="0"/>
          </a:p>
        </p:txBody>
      </p:sp>
      <p:graphicFrame>
        <p:nvGraphicFramePr>
          <p:cNvPr id="35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946904"/>
          <a:ext cx="106344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463040"/>
                <a:gridCol w="1051560"/>
                <a:gridCol w="1051560"/>
                <a:gridCol w="1051560"/>
                <a:gridCol w="1234440"/>
                <a:gridCol w="1234440"/>
                <a:gridCol w="1261872"/>
              </a:tblGrid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(própria)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(comum)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 (comum, nº mun.)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baixa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média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muito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com a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 de faixa vs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0,8448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0,8558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0,8240 (30)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29,0%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44,0%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20,9%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6,2%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0,9686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777240" y="5619115"/>
            <a:ext cx="10634472" cy="294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Kaiser e Horn indicam 3 e 3 fatores; a solução usa 2, que somam 52,75% da variância. A maior carga em F1 é de Renda (invertida); em F2, de Água inadequada.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V086</a:t>
            </a:r>
            <a:endParaRPr lang="en-US" sz="11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PASSA: comunalidade &lt; 0,30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Versão V087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com mediana · com lixo · + sem água canalizada · + sem banheiro · moradia fora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</a:t>
            </a:r>
            <a:endParaRPr lang="en-US" sz="1200" dirty="0"/>
          </a:p>
        </p:txBody>
      </p:sp>
      <p:graphicFrame>
        <p:nvGraphicFramePr>
          <p:cNvPr id="9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09928"/>
          <a:ext cx="2926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mediana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sem canalização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sem banheiro (V00495)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própria)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75.927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comum)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67.981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840480" y="1673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</a:t>
            </a:r>
            <a:endParaRPr lang="en-US" sz="1200" dirty="0"/>
          </a:p>
        </p:txBody>
      </p:sp>
      <p:graphicFrame>
        <p:nvGraphicFramePr>
          <p:cNvPr id="17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709928"/>
          <a:ext cx="3429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0,8105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qui-quadrado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243.300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graus de liberdade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mínimo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0,727 (Lixo inadequado)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de Horn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retidos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dos 2 fatores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54,91%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 entre F1 e F2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variação de peso (um município de fora)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4,62 p.p.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406640" y="16733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e pesos (promax, matriz padrão)</a:t>
            </a:r>
            <a:endParaRPr lang="en-US" sz="1200" dirty="0"/>
          </a:p>
        </p:txBody>
      </p:sp>
      <p:graphicFrame>
        <p:nvGraphicFramePr>
          <p:cNvPr id="268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984248"/>
          <a:ext cx="4005072" cy="914400"/>
        </p:xfrm>
        <a:graphic>
          <a:graphicData uri="http://schemas.openxmlformats.org/drawingml/2006/table">
            <a:tbl>
              <a:tblPr/>
              <a:tblGrid>
                <a:gridCol w="1490472"/>
                <a:gridCol w="530352"/>
                <a:gridCol w="530352"/>
                <a:gridCol w="868680"/>
                <a:gridCol w="585216"/>
              </a:tblGrid>
              <a:tr h="207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-0,036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0,544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11,30%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0,317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0,491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0,482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4,80%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-0,071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4,08%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0,699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-0,106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10,72%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-0,034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17,04%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0,900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17,79%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14,45%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0,049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0,599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11,22%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-0,070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0,657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8,60%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777240" y="4636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 faixas</a:t>
            </a:r>
            <a:endParaRPr lang="en-US" sz="1200" dirty="0"/>
          </a:p>
        </p:txBody>
      </p:sp>
      <p:graphicFrame>
        <p:nvGraphicFramePr>
          <p:cNvPr id="35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946904"/>
          <a:ext cx="106344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463040"/>
                <a:gridCol w="1051560"/>
                <a:gridCol w="1051560"/>
                <a:gridCol w="1051560"/>
                <a:gridCol w="1234440"/>
                <a:gridCol w="1234440"/>
                <a:gridCol w="1261872"/>
              </a:tblGrid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(própria)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(comum)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 (comum, nº mun.)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baixa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média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muito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com a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 de faixa vs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0,8516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0,8553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0,8428 (30)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28,7%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42,2%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23,6%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0,9833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777240" y="5619115"/>
            <a:ext cx="10634472" cy="294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Kaiser e Horn indicam 3 e 3 fatores; a solução usa 2, que somam 54,91% da variância. A maior carga em F1 é de Renda (invertida); em F2, de Água inadequada.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V087</a:t>
            </a:r>
            <a:endParaRPr lang="en-US" sz="11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PASSA: comunalidade &lt; 0,30; carga &lt; 0,40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Versão V088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com mediana · com lixo · + sem água canalizada · + sem banheiro · + moradia não convencional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</a:t>
            </a:r>
            <a:endParaRPr lang="en-US" sz="1200" dirty="0"/>
          </a:p>
        </p:txBody>
      </p:sp>
      <p:graphicFrame>
        <p:nvGraphicFramePr>
          <p:cNvPr id="9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09928"/>
          <a:ext cx="2926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mediana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sem canalização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sem banheiro (V00495)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não convencional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própria)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75.927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comum)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67.981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840480" y="1673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</a:t>
            </a:r>
            <a:endParaRPr lang="en-US" sz="1200" dirty="0"/>
          </a:p>
        </p:txBody>
      </p:sp>
      <p:graphicFrame>
        <p:nvGraphicFramePr>
          <p:cNvPr id="18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709928"/>
          <a:ext cx="3429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0,8094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qui-quadrado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244.846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graus de liberdade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mínimo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0,713 (Moradia não convencional)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de Horn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retidos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dos 2 fatores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49,61%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 entre F1 e F2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0,445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variação de peso (um município de fora)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4,63 p.p.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406640" y="16733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e pesos (promax, matriz padrão)</a:t>
            </a:r>
            <a:endParaRPr lang="en-US" sz="1200" dirty="0"/>
          </a:p>
        </p:txBody>
      </p:sp>
      <p:graphicFrame>
        <p:nvGraphicFramePr>
          <p:cNvPr id="271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984248"/>
          <a:ext cx="4005072" cy="914400"/>
        </p:xfrm>
        <a:graphic>
          <a:graphicData uri="http://schemas.openxmlformats.org/drawingml/2006/table">
            <a:tbl>
              <a:tblPr/>
              <a:tblGrid>
                <a:gridCol w="1490472"/>
                <a:gridCol w="530352"/>
                <a:gridCol w="530352"/>
                <a:gridCol w="868680"/>
                <a:gridCol w="585216"/>
              </a:tblGrid>
              <a:tr h="207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-0,016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10,58%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0,329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0,477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0,476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4,52%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-0,056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3,76%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0,697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-0,105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10,74%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0,876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-0,027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16,95%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17,81%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14,50%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0,587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10,78%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-0,082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0,677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9,11%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-0,072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0,251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1,25%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777240" y="4636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 faixas</a:t>
            </a:r>
            <a:endParaRPr lang="en-US" sz="1200" dirty="0"/>
          </a:p>
        </p:txBody>
      </p:sp>
      <p:graphicFrame>
        <p:nvGraphicFramePr>
          <p:cNvPr id="36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946904"/>
          <a:ext cx="106344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463040"/>
                <a:gridCol w="1051560"/>
                <a:gridCol w="1051560"/>
                <a:gridCol w="1051560"/>
                <a:gridCol w="1234440"/>
                <a:gridCol w="1234440"/>
                <a:gridCol w="1261872"/>
              </a:tblGrid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(própria)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(comum)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 (comum, nº mun.)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baixa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média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muito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com a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 de faixa vs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0,8524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0,8559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0,8449 (30)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28,6%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42,0%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24,0%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5,4%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0,9833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777240" y="5619115"/>
            <a:ext cx="10634472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Kaiser e Horn indicam 4 e 3 fatores; a solução usa 2, que somam 49,61% da variância. A maior carga em F1 é de Renda (invertida); em F2, de Sem água canalizada.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V088</a:t>
            </a:r>
            <a:endParaRPr lang="en-US" sz="11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PASSA: comunalidade &lt; 0,30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Versão V089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com mediana · com lixo · + sem água canalizada · + banheiro graduado · moradia fora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</a:t>
            </a:r>
            <a:endParaRPr lang="en-US" sz="1200" dirty="0"/>
          </a:p>
        </p:txBody>
      </p:sp>
      <p:graphicFrame>
        <p:nvGraphicFramePr>
          <p:cNvPr id="9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09928"/>
          <a:ext cx="2926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mediana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sem canalização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banheiro graduado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própria)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73.854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comum)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67.981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840480" y="1673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</a:t>
            </a:r>
            <a:endParaRPr lang="en-US" sz="1200" dirty="0"/>
          </a:p>
        </p:txBody>
      </p:sp>
      <p:graphicFrame>
        <p:nvGraphicFramePr>
          <p:cNvPr id="18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709928"/>
          <a:ext cx="3429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0,7912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qui-quadrado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216.751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graus de liberdade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mínimo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0,677 (Lixo inadequado)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de Horn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retidos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dos 2 fatores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52,48%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 entre F1 e F2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0,399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variação de peso (um município de fora)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4,50 p.p.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406640" y="16733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e pesos (promax, matriz padrão)</a:t>
            </a:r>
            <a:endParaRPr lang="en-US" sz="1200" dirty="0"/>
          </a:p>
        </p:txBody>
      </p:sp>
      <p:graphicFrame>
        <p:nvGraphicFramePr>
          <p:cNvPr id="27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984248"/>
          <a:ext cx="4005072" cy="914400"/>
        </p:xfrm>
        <a:graphic>
          <a:graphicData uri="http://schemas.openxmlformats.org/drawingml/2006/table">
            <a:tbl>
              <a:tblPr/>
              <a:tblGrid>
                <a:gridCol w="1490472"/>
                <a:gridCol w="530352"/>
                <a:gridCol w="530352"/>
                <a:gridCol w="868680"/>
                <a:gridCol w="585216"/>
              </a:tblGrid>
              <a:tr h="207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-0,025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0,544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12,39%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0,476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5,03%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-0,053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0,425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4,00%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0,689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-0,117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0,424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10,57%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0,873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-0,026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16,99%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17,87%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0,739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14,57%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0,574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11,95%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-0,122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0,546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0,260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6,62%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777240" y="4636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 faixas</a:t>
            </a:r>
            <a:endParaRPr lang="en-US" sz="1200" dirty="0"/>
          </a:p>
        </p:txBody>
      </p:sp>
      <p:graphicFrame>
        <p:nvGraphicFramePr>
          <p:cNvPr id="36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946904"/>
          <a:ext cx="106344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463040"/>
                <a:gridCol w="1051560"/>
                <a:gridCol w="1051560"/>
                <a:gridCol w="1051560"/>
                <a:gridCol w="1234440"/>
                <a:gridCol w="1234440"/>
                <a:gridCol w="1261872"/>
              </a:tblGrid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(própria)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(comum)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 (comum, nº mun.)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baixa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média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muito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com a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 de faixa vs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0,8457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0,8517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0,8411 (30)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28,7%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41,9%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23,9%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0,9867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9,7%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777240" y="5619115"/>
            <a:ext cx="10634472" cy="294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Kaiser e Horn indicam 3 e 3 fatores; a solução usa 2, que somam 52,48% da variância. A maior carga em F1 é de Renda (invertida); em F2, de Água inadequada.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V089</a:t>
            </a:r>
            <a:endParaRPr lang="en-US" sz="11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PASSA: comunalidade &lt; 0,30; carga &lt; 0,40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Versão V090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com mediana · com lixo · + sem água canalizada · + banheiro graduado · + moradia não convencional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</a:t>
            </a:r>
            <a:endParaRPr lang="en-US" sz="1200" dirty="0"/>
          </a:p>
        </p:txBody>
      </p:sp>
      <p:graphicFrame>
        <p:nvGraphicFramePr>
          <p:cNvPr id="9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09928"/>
          <a:ext cx="2926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mediana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sem canalização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banheiro graduado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não convencional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própria)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73.854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comum)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67.981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840480" y="1673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</a:t>
            </a:r>
            <a:endParaRPr lang="en-US" sz="1200" dirty="0"/>
          </a:p>
        </p:txBody>
      </p:sp>
      <p:graphicFrame>
        <p:nvGraphicFramePr>
          <p:cNvPr id="18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709928"/>
          <a:ext cx="3429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0,7897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qui-quadrado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218.139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graus de liberdade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mínimo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0,662 (Moradia não convencional)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de Horn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retidos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dos 2 fatores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47,38%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 entre F1 e F2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variação de peso (um município de fora)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4,46 p.p.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406640" y="16733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e pesos (promax, matriz padrão)</a:t>
            </a:r>
            <a:endParaRPr lang="en-US" sz="1200" dirty="0"/>
          </a:p>
        </p:txBody>
      </p:sp>
      <p:graphicFrame>
        <p:nvGraphicFramePr>
          <p:cNvPr id="27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984248"/>
          <a:ext cx="4005072" cy="914400"/>
        </p:xfrm>
        <a:graphic>
          <a:graphicData uri="http://schemas.openxmlformats.org/drawingml/2006/table">
            <a:tbl>
              <a:tblPr/>
              <a:tblGrid>
                <a:gridCol w="1490472"/>
                <a:gridCol w="530352"/>
                <a:gridCol w="530352"/>
                <a:gridCol w="868680"/>
                <a:gridCol w="585216"/>
              </a:tblGrid>
              <a:tr h="207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-0,002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0,720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0,518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11,52%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0,344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4,70%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-0,039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0,408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3,69%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0,687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-0,116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10,58%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-0,019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16,89%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17,89%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0,739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14,64%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0,717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0,560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11,43%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-0,141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0,581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0,293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7,50%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-0,054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0,229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1,16%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777240" y="4636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 faixas</a:t>
            </a:r>
            <a:endParaRPr lang="en-US" sz="1200" dirty="0"/>
          </a:p>
        </p:txBody>
      </p:sp>
      <p:graphicFrame>
        <p:nvGraphicFramePr>
          <p:cNvPr id="369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946904"/>
          <a:ext cx="106344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463040"/>
                <a:gridCol w="1051560"/>
                <a:gridCol w="1051560"/>
                <a:gridCol w="1051560"/>
                <a:gridCol w="1234440"/>
                <a:gridCol w="1234440"/>
                <a:gridCol w="1261872"/>
              </a:tblGrid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(própria)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(comum)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 (comum, nº mun.)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baixa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média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muito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com a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 de faixa vs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0,8466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0,8525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0,8430 (30)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28,6%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41,7%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24,4%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5,4%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0,9868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9,6%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777240" y="5619115"/>
            <a:ext cx="10634472" cy="294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Kaiser e Horn indicam 4 e 4 fatores; a solução usa 2, que somam 47,38% da variância. A maior carga em F1 é de Renda (invertida); em F2, de Água inadequada.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V090</a:t>
            </a:r>
            <a:endParaRPr lang="en-US" sz="11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PASSA NOS CRITÉRIOS DO NB05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Versão V091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com mediana · sem lixo · água: só a inadequada · banheiro fora · moradia fora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</a:t>
            </a:r>
            <a:endParaRPr lang="en-US" sz="1200" dirty="0"/>
          </a:p>
        </p:txBody>
      </p:sp>
      <p:graphicFrame>
        <p:nvGraphicFramePr>
          <p:cNvPr id="9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09928"/>
          <a:ext cx="2926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mediana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própria)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comum)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67.981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840480" y="1673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</a:t>
            </a:r>
            <a:endParaRPr lang="en-US" sz="1200" dirty="0"/>
          </a:p>
        </p:txBody>
      </p:sp>
      <p:graphicFrame>
        <p:nvGraphicFramePr>
          <p:cNvPr id="18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709928"/>
          <a:ext cx="3429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0,7870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qui-quadrado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225.337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graus de liberdade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mínimo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0,715 (Renda (invertida))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de Horn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retidos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dos 2 fatores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69,96%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 entre F1 e F2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variação de peso (um município de fora)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4,69 p.p.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406640" y="16733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e pesos (promax, matriz padrão)</a:t>
            </a:r>
            <a:endParaRPr lang="en-US" sz="1200" dirty="0"/>
          </a:p>
        </p:txBody>
      </p:sp>
      <p:graphicFrame>
        <p:nvGraphicFramePr>
          <p:cNvPr id="28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984248"/>
          <a:ext cx="4005072" cy="914400"/>
        </p:xfrm>
        <a:graphic>
          <a:graphicData uri="http://schemas.openxmlformats.org/drawingml/2006/table">
            <a:tbl>
              <a:tblPr/>
              <a:tblGrid>
                <a:gridCol w="1490472"/>
                <a:gridCol w="530352"/>
                <a:gridCol w="530352"/>
                <a:gridCol w="868680"/>
                <a:gridCol w="585216"/>
              </a:tblGrid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-0,211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27,95%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0,656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0,615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12,05%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0,490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0,380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5,17%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0,930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-0,111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18,63%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0,979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-0,113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20,64%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15,56%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777240" y="4636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 faixas</a:t>
            </a:r>
            <a:endParaRPr lang="en-US" sz="1200" dirty="0"/>
          </a:p>
        </p:txBody>
      </p:sp>
      <p:graphicFrame>
        <p:nvGraphicFramePr>
          <p:cNvPr id="37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946904"/>
          <a:ext cx="106344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463040"/>
                <a:gridCol w="1051560"/>
                <a:gridCol w="1051560"/>
                <a:gridCol w="1051560"/>
                <a:gridCol w="1234440"/>
                <a:gridCol w="1234440"/>
                <a:gridCol w="1261872"/>
              </a:tblGrid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(própria)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(comum)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 (comum, nº mun.)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baixa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média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muito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com a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 de faixa vs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0,8177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0,8344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0,8164 (30)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29,1%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46,0%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18,9%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6,1%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0,9906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777240" y="5619115"/>
            <a:ext cx="10634472" cy="294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Kaiser e Horn indicam 1 e 1 fatores; a solução usa 2, que somam 69,96% da variância. A maior carga em F1 é de Renda (invertida); em F2, de Água inadequada.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V091</a:t>
            </a:r>
            <a:endParaRPr lang="en-US" sz="11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PASSA: comunalidade &lt; 0,30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Versão V092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com mediana · sem lixo · água: só a inadequada · banheiro fora · + moradia não convencional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</a:t>
            </a:r>
            <a:endParaRPr lang="en-US" sz="1200" dirty="0"/>
          </a:p>
        </p:txBody>
      </p:sp>
      <p:graphicFrame>
        <p:nvGraphicFramePr>
          <p:cNvPr id="9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09928"/>
          <a:ext cx="2926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mediana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não convencional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própria)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comum)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67.981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840480" y="1673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</a:t>
            </a:r>
            <a:endParaRPr lang="en-US" sz="1200" dirty="0"/>
          </a:p>
        </p:txBody>
      </p:sp>
      <p:graphicFrame>
        <p:nvGraphicFramePr>
          <p:cNvPr id="18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709928"/>
          <a:ext cx="3429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0,7871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qui-quadrado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225.971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graus de liberdade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mínimo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0,715 (Renda (invertida))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de Horn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retidos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dos 2 fatores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60,59%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 entre F1 e F2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variação de peso (um município de fora)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37,52 p.p.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406640" y="16733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e pesos (promax, matriz padrão)</a:t>
            </a:r>
            <a:endParaRPr lang="en-US" sz="1200" dirty="0"/>
          </a:p>
        </p:txBody>
      </p:sp>
      <p:graphicFrame>
        <p:nvGraphicFramePr>
          <p:cNvPr id="28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984248"/>
          <a:ext cx="4005072" cy="914400"/>
        </p:xfrm>
        <a:graphic>
          <a:graphicData uri="http://schemas.openxmlformats.org/drawingml/2006/table">
            <a:tbl>
              <a:tblPr/>
              <a:tblGrid>
                <a:gridCol w="1490472"/>
                <a:gridCol w="530352"/>
                <a:gridCol w="530352"/>
                <a:gridCol w="868680"/>
                <a:gridCol w="585216"/>
              </a:tblGrid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0,482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0,264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4,31%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0,654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7,93%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0,624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-0,045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0,383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7,21%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-0,039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0,685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12,82%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-0,049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0,764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14,33%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-0,002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0,723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13,40%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0,977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40,00%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777240" y="4636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 faixas</a:t>
            </a:r>
            <a:endParaRPr lang="en-US" sz="1200" dirty="0"/>
          </a:p>
        </p:txBody>
      </p:sp>
      <p:graphicFrame>
        <p:nvGraphicFramePr>
          <p:cNvPr id="37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946904"/>
          <a:ext cx="106344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463040"/>
                <a:gridCol w="1051560"/>
                <a:gridCol w="1051560"/>
                <a:gridCol w="1051560"/>
                <a:gridCol w="1234440"/>
                <a:gridCol w="1234440"/>
                <a:gridCol w="1261872"/>
              </a:tblGrid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(própria)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(comum)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 (comum, nº mun.)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baixa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média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muito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com a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 de faixa vs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0,8404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0,8527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0,8455 (30)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27,7%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45,8%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21,1%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5,4%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0,9601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15,7%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777240" y="5619115"/>
            <a:ext cx="10634472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Kaiser e Horn indicam 1 e 1 fatores; a solução usa 2, que somam 60,59% da variância. A maior carga em F1 é de Renda (invertida); em F2, de Moradia não convencional.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V092</a:t>
            </a:r>
            <a:endParaRPr lang="en-US" sz="11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PASSA NOS CRITÉRIOS DO NB05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Versão V093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com mediana · sem lixo · água: só a inadequada · + sem banheiro · moradia fora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</a:t>
            </a:r>
            <a:endParaRPr lang="en-US" sz="1200" dirty="0"/>
          </a:p>
        </p:txBody>
      </p:sp>
      <p:graphicFrame>
        <p:nvGraphicFramePr>
          <p:cNvPr id="9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09928"/>
          <a:ext cx="2926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mediana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sem banheiro (V00495)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própria)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75.955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comum)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67.981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840480" y="1673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</a:t>
            </a:r>
            <a:endParaRPr lang="en-US" sz="1200" dirty="0"/>
          </a:p>
        </p:txBody>
      </p:sp>
      <p:graphicFrame>
        <p:nvGraphicFramePr>
          <p:cNvPr id="19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709928"/>
          <a:ext cx="3429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0,7966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qui-quadrado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203.887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graus de liberdade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mínimo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0,721 (Renda (invertida))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de Horn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retidos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dos 2 fatores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62,98%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 entre F1 e F2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0,473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variação de peso (um município de fora)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5,96 p.p.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406640" y="16733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e pesos (promax, matriz padrão)</a:t>
            </a:r>
            <a:endParaRPr lang="en-US" sz="1200" dirty="0"/>
          </a:p>
        </p:txBody>
      </p:sp>
      <p:graphicFrame>
        <p:nvGraphicFramePr>
          <p:cNvPr id="28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984248"/>
          <a:ext cx="4005072" cy="914400"/>
        </p:xfrm>
        <a:graphic>
          <a:graphicData uri="http://schemas.openxmlformats.org/drawingml/2006/table">
            <a:tbl>
              <a:tblPr/>
              <a:tblGrid>
                <a:gridCol w="1490472"/>
                <a:gridCol w="530352"/>
                <a:gridCol w="530352"/>
                <a:gridCol w="868680"/>
                <a:gridCol w="585216"/>
              </a:tblGrid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-0,088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0,633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17,56%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0,275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0,563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0,540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8,02%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0,578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0,384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7,21%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0,903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-0,071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0,761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17,63%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0,949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-0,072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19,44%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15,73%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-0,128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0,495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14,42%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777240" y="4636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 faixas</a:t>
            </a:r>
            <a:endParaRPr lang="en-US" sz="1200" dirty="0"/>
          </a:p>
        </p:txBody>
      </p:sp>
      <p:graphicFrame>
        <p:nvGraphicFramePr>
          <p:cNvPr id="38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946904"/>
          <a:ext cx="106344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463040"/>
                <a:gridCol w="1051560"/>
                <a:gridCol w="1051560"/>
                <a:gridCol w="1051560"/>
                <a:gridCol w="1234440"/>
                <a:gridCol w="1234440"/>
                <a:gridCol w="1261872"/>
              </a:tblGrid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(própria)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(comum)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 (comum, nº mun.)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baixa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média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muito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com a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 de faixa vs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0,8354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0,8402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0,8350 (30)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42,4%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23,3%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0,9985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777240" y="5619115"/>
            <a:ext cx="10634472" cy="294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Kaiser e Horn indicam 2 e 2 fatores; a solução usa 2, que somam 62,98% da variância. A maior carga em F1 é de Renda (invertida); em F2, de Água inadequada.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V093</a:t>
            </a:r>
            <a:endParaRPr lang="en-US" sz="11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PASSA: comunalidade &lt; 0,30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Versão V094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com mediana · sem lixo · água: só a inadequada · + sem banheiro · + moradia não convencional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</a:t>
            </a:r>
            <a:endParaRPr lang="en-US" sz="1200" dirty="0"/>
          </a:p>
        </p:txBody>
      </p:sp>
      <p:graphicFrame>
        <p:nvGraphicFramePr>
          <p:cNvPr id="9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09928"/>
          <a:ext cx="2926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mediana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sem banheiro (V00495)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não convencional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própria)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75.955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comum)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67.981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840480" y="1673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</a:t>
            </a:r>
            <a:endParaRPr lang="en-US" sz="1200" dirty="0"/>
          </a:p>
        </p:txBody>
      </p:sp>
      <p:graphicFrame>
        <p:nvGraphicFramePr>
          <p:cNvPr id="19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709928"/>
          <a:ext cx="3429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0,7951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qui-quadrado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205.419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graus de liberdade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mínimo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0,686 (Moradia não convencional)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de Horn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retidos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dos 2 fatores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55,65%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 entre F1 e F2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0,409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variação de peso (um município de fora)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8,04 p.p.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406640" y="16733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e pesos (promax, matriz padrão)</a:t>
            </a:r>
            <a:endParaRPr lang="en-US" sz="1200" dirty="0"/>
          </a:p>
        </p:txBody>
      </p:sp>
      <p:graphicFrame>
        <p:nvGraphicFramePr>
          <p:cNvPr id="28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984248"/>
          <a:ext cx="4005072" cy="914400"/>
        </p:xfrm>
        <a:graphic>
          <a:graphicData uri="http://schemas.openxmlformats.org/drawingml/2006/table">
            <a:tbl>
              <a:tblPr/>
              <a:tblGrid>
                <a:gridCol w="1490472"/>
                <a:gridCol w="530352"/>
                <a:gridCol w="530352"/>
                <a:gridCol w="868680"/>
                <a:gridCol w="585216"/>
              </a:tblGrid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0,635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10,78%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0,486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5,02%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0,613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8,33%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0,875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-0,043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16,94%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-0,050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18,85%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15,88%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14,81%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-0,256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0,593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0,293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9,39%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777240" y="4636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 faixas</a:t>
            </a:r>
            <a:endParaRPr lang="en-US" sz="1200" dirty="0"/>
          </a:p>
        </p:txBody>
      </p:sp>
      <p:graphicFrame>
        <p:nvGraphicFramePr>
          <p:cNvPr id="38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946904"/>
          <a:ext cx="106344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463040"/>
                <a:gridCol w="1051560"/>
                <a:gridCol w="1051560"/>
                <a:gridCol w="1051560"/>
                <a:gridCol w="1234440"/>
                <a:gridCol w="1234440"/>
                <a:gridCol w="1261872"/>
              </a:tblGrid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(própria)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(comum)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 (comum, nº mun.)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baixa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média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muito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com a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 de faixa vs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0,8450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0,8485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0,8566 (30)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28,3%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25,9%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4,9%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0,9904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6,3%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777240" y="5619115"/>
            <a:ext cx="10634472" cy="294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Kaiser e Horn indicam 2 e 2 fatores; a solução usa 2, que somam 55,65% da variância. A maior carga em F1 é de Renda (invertida); em F2, de Sem banheiro.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V094</a:t>
            </a:r>
            <a:endParaRPr lang="en-US" sz="11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PASSA NOS CRITÉRIOS DO NB05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Versão V095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com mediana · sem lixo · água: só a inadequada · + banheiro graduado · moradia fora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</a:t>
            </a:r>
            <a:endParaRPr lang="en-US" sz="1200" dirty="0"/>
          </a:p>
        </p:txBody>
      </p:sp>
      <p:graphicFrame>
        <p:nvGraphicFramePr>
          <p:cNvPr id="9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09928"/>
          <a:ext cx="2926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mediana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banheiro graduado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própria)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comum)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67.981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840480" y="1673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</a:t>
            </a:r>
            <a:endParaRPr lang="en-US" sz="1200" dirty="0"/>
          </a:p>
        </p:txBody>
      </p:sp>
      <p:graphicFrame>
        <p:nvGraphicFramePr>
          <p:cNvPr id="19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709928"/>
          <a:ext cx="3429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0,7807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qui-quadrado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185.216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graus de liberdade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mínimo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0,709 (Renda (invertida))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de Horn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retidos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dos 2 fatores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60,82%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 entre F1 e F2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variação de peso (um município de fora)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6,94 p.p.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406640" y="16733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e pesos (promax, matriz padrão)</a:t>
            </a:r>
            <a:endParaRPr lang="en-US" sz="1200" dirty="0"/>
          </a:p>
        </p:txBody>
      </p:sp>
      <p:graphicFrame>
        <p:nvGraphicFramePr>
          <p:cNvPr id="29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984248"/>
          <a:ext cx="4005072" cy="914400"/>
        </p:xfrm>
        <a:graphic>
          <a:graphicData uri="http://schemas.openxmlformats.org/drawingml/2006/table">
            <a:tbl>
              <a:tblPr/>
              <a:tblGrid>
                <a:gridCol w="1490472"/>
                <a:gridCol w="530352"/>
                <a:gridCol w="530352"/>
                <a:gridCol w="868680"/>
                <a:gridCol w="585216"/>
              </a:tblGrid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-0,028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0,596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17,33%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0,318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0,513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7,78%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0,583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7,46%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17,36%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0,937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19,28%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15,90%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-0,207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0,726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14,90%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777240" y="4636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 faixas</a:t>
            </a:r>
            <a:endParaRPr lang="en-US" sz="1200" dirty="0"/>
          </a:p>
        </p:txBody>
      </p:sp>
      <p:graphicFrame>
        <p:nvGraphicFramePr>
          <p:cNvPr id="389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946904"/>
          <a:ext cx="106344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463040"/>
                <a:gridCol w="1051560"/>
                <a:gridCol w="1051560"/>
                <a:gridCol w="1051560"/>
                <a:gridCol w="1234440"/>
                <a:gridCol w="1234440"/>
                <a:gridCol w="1261872"/>
              </a:tblGrid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(própria)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(comum)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 (comum, nº mun.)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baixa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média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muito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com a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 de faixa vs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0,8315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0,8388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0,8352 (30)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28,7%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42,0%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23,9%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5,3%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0,9994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777240" y="5619115"/>
            <a:ext cx="10634472" cy="294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Kaiser e Horn indicam 2 e 2 fatores; a solução usa 2, que somam 60,82% da variância. A maior carga em F1 é de Renda (invertida); em F2, de Água inadequada.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V095</a:t>
            </a:r>
            <a:endParaRPr lang="en-US" sz="11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PASSA NOS CRITÉRIOS DO NB05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Versão V096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com mediana · sem lixo · água: só a inadequada · + banheiro graduado · + moradia não convencional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</a:t>
            </a:r>
            <a:endParaRPr lang="en-US" sz="1200" dirty="0"/>
          </a:p>
        </p:txBody>
      </p:sp>
      <p:graphicFrame>
        <p:nvGraphicFramePr>
          <p:cNvPr id="9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09928"/>
          <a:ext cx="2926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mediana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banheiro graduado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não convencional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própria)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comum)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67.981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840480" y="1673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</a:t>
            </a:r>
            <a:endParaRPr lang="en-US" sz="1200" dirty="0"/>
          </a:p>
        </p:txBody>
      </p:sp>
      <p:graphicFrame>
        <p:nvGraphicFramePr>
          <p:cNvPr id="19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709928"/>
          <a:ext cx="3429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0,7789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qui-quadrado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186.581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graus de liberdade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mínimo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0,643 (Moradia não convencional)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de Horn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retidos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dos 2 fatores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53,81%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 entre F1 e F2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variação de peso (um município de fora)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9,98 p.p.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406640" y="16733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e pesos (promax, matriz padrão)</a:t>
            </a:r>
            <a:endParaRPr lang="en-US" sz="1200" dirty="0"/>
          </a:p>
        </p:txBody>
      </p:sp>
      <p:graphicFrame>
        <p:nvGraphicFramePr>
          <p:cNvPr id="29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984248"/>
          <a:ext cx="4005072" cy="914400"/>
        </p:xfrm>
        <a:graphic>
          <a:graphicData uri="http://schemas.openxmlformats.org/drawingml/2006/table">
            <a:tbl>
              <a:tblPr/>
              <a:tblGrid>
                <a:gridCol w="1490472"/>
                <a:gridCol w="530352"/>
                <a:gridCol w="530352"/>
                <a:gridCol w="868680"/>
                <a:gridCol w="585216"/>
              </a:tblGrid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0,213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0,496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0,366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8,15%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0,482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0,315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4,68%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0,629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-0,033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0,382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7,96%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0,871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-0,073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0,720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15,30%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-0,088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17,08%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-0,011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14,98%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-0,122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18,95%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-0,197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0,624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0,341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12,89%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777240" y="4636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 faixas</a:t>
            </a:r>
            <a:endParaRPr lang="en-US" sz="1200" dirty="0"/>
          </a:p>
        </p:txBody>
      </p:sp>
      <p:graphicFrame>
        <p:nvGraphicFramePr>
          <p:cNvPr id="39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946904"/>
          <a:ext cx="106344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463040"/>
                <a:gridCol w="1051560"/>
                <a:gridCol w="1051560"/>
                <a:gridCol w="1051560"/>
                <a:gridCol w="1234440"/>
                <a:gridCol w="1234440"/>
                <a:gridCol w="1261872"/>
              </a:tblGrid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(própria)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(comum)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 (comum, nº mun.)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baixa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média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muito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com a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 de faixa vs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0,8434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0,8490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0,8642 (30)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28,2%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40,4%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26,6%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4,7%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0,9863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8,0%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777240" y="5619115"/>
            <a:ext cx="10634472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Kaiser e Horn indicam 3 e 2 fatores; a solução usa 2, que somam 53,81% da variância. A maior carga em F1 é de Renda (invertida); em F2, de Banheiro graduado.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V096</a:t>
            </a:r>
            <a:endParaRPr lang="en-US" sz="11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PASSA NOS CRITÉRIOS DO NB05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Versão V097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com mediana · sem lixo · + água não chega · banheiro fora · moradia fora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</a:t>
            </a:r>
            <a:endParaRPr lang="en-US" sz="1200" dirty="0"/>
          </a:p>
        </p:txBody>
      </p:sp>
      <p:graphicFrame>
        <p:nvGraphicFramePr>
          <p:cNvPr id="10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09928"/>
          <a:ext cx="2926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mediana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não chega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própria)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78.256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comum)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67.981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840480" y="1673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</a:t>
            </a:r>
            <a:endParaRPr lang="en-US" sz="1200" dirty="0"/>
          </a:p>
        </p:txBody>
      </p:sp>
      <p:graphicFrame>
        <p:nvGraphicFramePr>
          <p:cNvPr id="19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709928"/>
          <a:ext cx="3429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0,7843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qui-quadrado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224.310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graus de liberdade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mínimo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0,689 (Água inadequada)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de Horn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retidos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dos 2 fatores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65,93%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 entre F1 e F2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variação de peso (um município de fora)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4,08 p.p.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406640" y="16733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e pesos (promax, matriz padrão)</a:t>
            </a:r>
            <a:endParaRPr lang="en-US" sz="1200" dirty="0"/>
          </a:p>
        </p:txBody>
      </p:sp>
      <p:graphicFrame>
        <p:nvGraphicFramePr>
          <p:cNvPr id="298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984248"/>
          <a:ext cx="4005072" cy="914400"/>
        </p:xfrm>
        <a:graphic>
          <a:graphicData uri="http://schemas.openxmlformats.org/drawingml/2006/table">
            <a:tbl>
              <a:tblPr/>
              <a:tblGrid>
                <a:gridCol w="1490472"/>
                <a:gridCol w="530352"/>
                <a:gridCol w="530352"/>
                <a:gridCol w="868680"/>
                <a:gridCol w="585216"/>
              </a:tblGrid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-0,054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0,879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18,07%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0,381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0,487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4,58%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0,637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-0,018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8,63%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0,902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-0,087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17,33%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0,935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18,60%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15,43%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-0,110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0,672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17,35%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777240" y="4636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 faixas</a:t>
            </a:r>
            <a:endParaRPr lang="en-US" sz="1200" dirty="0"/>
          </a:p>
        </p:txBody>
      </p:sp>
      <p:graphicFrame>
        <p:nvGraphicFramePr>
          <p:cNvPr id="39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946904"/>
          <a:ext cx="106344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463040"/>
                <a:gridCol w="1051560"/>
                <a:gridCol w="1051560"/>
                <a:gridCol w="1051560"/>
                <a:gridCol w="1234440"/>
                <a:gridCol w="1234440"/>
                <a:gridCol w="1261872"/>
              </a:tblGrid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(própria)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(comum)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 (comum, nº mun.)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baixa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média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muito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com a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 de faixa vs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0,8314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0,8367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0,8317 (30)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28,6%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42,1%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0,9951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777240" y="5619115"/>
            <a:ext cx="10634472" cy="294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Kaiser e Horn indicam 2 e 2 fatores; a solução usa 2, que somam 65,93% da variância. A maior carga em F1 é de Renda (invertida); em F2, de Água inadequada.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V097</a:t>
            </a:r>
            <a:endParaRPr lang="en-US" sz="11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PASSA: comunalidade &lt; 0,30; carga &lt; 0,40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Versão V098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com mediana · sem lixo · + água não chega · banheiro fora · + moradia não convencional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</a:t>
            </a:r>
            <a:endParaRPr lang="en-US" sz="1200" dirty="0"/>
          </a:p>
        </p:txBody>
      </p:sp>
      <p:graphicFrame>
        <p:nvGraphicFramePr>
          <p:cNvPr id="10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09928"/>
          <a:ext cx="2926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mediana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não chega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não convencional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própria)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78.256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comum)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67.981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840480" y="1673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</a:t>
            </a:r>
            <a:endParaRPr lang="en-US" sz="1200" dirty="0"/>
          </a:p>
        </p:txBody>
      </p:sp>
      <p:graphicFrame>
        <p:nvGraphicFramePr>
          <p:cNvPr id="20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709928"/>
          <a:ext cx="3429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0,7845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qui-quadrado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224.963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graus de liberdade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mínimo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0,690 (Água inadequada)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de Horn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retidos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dos 2 fatores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57,80%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 entre F1 e F2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variação de peso (um município de fora)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4,01 p.p.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406640" y="16733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e pesos (promax, matriz padrão)</a:t>
            </a:r>
            <a:endParaRPr lang="en-US" sz="1200" dirty="0"/>
          </a:p>
        </p:txBody>
      </p:sp>
      <p:graphicFrame>
        <p:nvGraphicFramePr>
          <p:cNvPr id="301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984248"/>
          <a:ext cx="4005072" cy="914400"/>
        </p:xfrm>
        <a:graphic>
          <a:graphicData uri="http://schemas.openxmlformats.org/drawingml/2006/table">
            <a:tbl>
              <a:tblPr/>
              <a:tblGrid>
                <a:gridCol w="1490472"/>
                <a:gridCol w="530352"/>
                <a:gridCol w="530352"/>
                <a:gridCol w="868680"/>
                <a:gridCol w="585216"/>
              </a:tblGrid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-0,054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0,879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18,07%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0,381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0,487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4,57%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0,635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-0,018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8,56%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0,902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-0,088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17,28%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0,934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18,52%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15,39%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-0,110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0,672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17,36%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0,26%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777240" y="4636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 faixas</a:t>
            </a:r>
            <a:endParaRPr lang="en-US" sz="1200" dirty="0"/>
          </a:p>
        </p:txBody>
      </p:sp>
      <p:graphicFrame>
        <p:nvGraphicFramePr>
          <p:cNvPr id="40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946904"/>
          <a:ext cx="106344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463040"/>
                <a:gridCol w="1051560"/>
                <a:gridCol w="1051560"/>
                <a:gridCol w="1051560"/>
                <a:gridCol w="1234440"/>
                <a:gridCol w="1234440"/>
                <a:gridCol w="1261872"/>
              </a:tblGrid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(própria)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(comum)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 (comum, nº mun.)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baixa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média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muito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com a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 de faixa vs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0,8314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0,8368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0,8316 (30)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28,6%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42,1%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0,9951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777240" y="5619115"/>
            <a:ext cx="10634472" cy="294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Kaiser e Horn indicam 2 e 2 fatores; a solução usa 2, que somam 57,80% da variância. A maior carga em F1 é de Renda (invertida); em F2, de Água inadequada.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V098</a:t>
            </a:r>
            <a:endParaRPr lang="en-US" sz="11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PASSA: carga &lt; 0,40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Versão V099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com mediana · sem lixo · + água não chega · + sem banheiro · moradia fora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</a:t>
            </a:r>
            <a:endParaRPr lang="en-US" sz="1200" dirty="0"/>
          </a:p>
        </p:txBody>
      </p:sp>
      <p:graphicFrame>
        <p:nvGraphicFramePr>
          <p:cNvPr id="10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09928"/>
          <a:ext cx="2926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mediana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não chega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sem banheiro (V00495)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própria)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69.480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comum)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67.981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840480" y="1673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</a:t>
            </a:r>
            <a:endParaRPr lang="en-US" sz="1200" dirty="0"/>
          </a:p>
        </p:txBody>
      </p:sp>
      <p:graphicFrame>
        <p:nvGraphicFramePr>
          <p:cNvPr id="20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709928"/>
          <a:ext cx="3429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0,7877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qui-quadrado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209.129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graus de liberdade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mínimo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0,716 (Água inadequada)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de Horn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retidos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dos 2 fatores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60,67%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 entre F1 e F2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variação de peso (um município de fora)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2,79 p.p.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406640" y="16733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e pesos (promax, matriz padrão)</a:t>
            </a:r>
            <a:endParaRPr lang="en-US" sz="1200" dirty="0"/>
          </a:p>
        </p:txBody>
      </p:sp>
      <p:graphicFrame>
        <p:nvGraphicFramePr>
          <p:cNvPr id="30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984248"/>
          <a:ext cx="4005072" cy="914400"/>
        </p:xfrm>
        <a:graphic>
          <a:graphicData uri="http://schemas.openxmlformats.org/drawingml/2006/table">
            <a:tbl>
              <a:tblPr/>
              <a:tblGrid>
                <a:gridCol w="1490472"/>
                <a:gridCol w="530352"/>
                <a:gridCol w="530352"/>
                <a:gridCol w="868680"/>
                <a:gridCol w="585216"/>
              </a:tblGrid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0,571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12,80%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0,400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3,22%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0,648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-0,037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0,402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8,47%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-0,070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16,06%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-0,055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17,34%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14,91%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-0,102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0,658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16,23%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-0,059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0,697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10,98%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777240" y="4636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 faixas</a:t>
            </a:r>
            <a:endParaRPr lang="en-US" sz="1200" dirty="0"/>
          </a:p>
        </p:txBody>
      </p:sp>
      <p:graphicFrame>
        <p:nvGraphicFramePr>
          <p:cNvPr id="40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946904"/>
          <a:ext cx="106344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463040"/>
                <a:gridCol w="1051560"/>
                <a:gridCol w="1051560"/>
                <a:gridCol w="1051560"/>
                <a:gridCol w="1234440"/>
                <a:gridCol w="1234440"/>
                <a:gridCol w="1261872"/>
              </a:tblGrid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(própria)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(comum)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 (comum, nº mun.)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baixa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média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muito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com a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 de faixa vs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0,8428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0,8404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0,8464 (30)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26,5%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0,9936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8,0%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777240" y="5619115"/>
            <a:ext cx="10634472" cy="294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Kaiser e Horn indicam 2 e 2 fatores; a solução usa 2, que somam 60,67% da variância. A maior carga em F1 é de Renda (invertida); em F2, de Água não chega.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V099</a:t>
            </a:r>
            <a:endParaRPr lang="en-US" sz="11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PASSA: comunalidade &lt; 0,30; carga &lt; 0,40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Versão V100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com mediana · sem lixo · + água não chega · + sem banheiro · + moradia não convencional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</a:t>
            </a:r>
            <a:endParaRPr lang="en-US" sz="1200" dirty="0"/>
          </a:p>
        </p:txBody>
      </p:sp>
      <p:graphicFrame>
        <p:nvGraphicFramePr>
          <p:cNvPr id="10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09928"/>
          <a:ext cx="2926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mediana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não chega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sem banheiro (V00495)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não convencional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própria)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69.480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comum)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67.981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840480" y="1673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</a:t>
            </a:r>
            <a:endParaRPr lang="en-US" sz="1200" dirty="0"/>
          </a:p>
        </p:txBody>
      </p:sp>
      <p:graphicFrame>
        <p:nvGraphicFramePr>
          <p:cNvPr id="20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709928"/>
          <a:ext cx="3429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0,7864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qui-quadrado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210.609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graus de liberdade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mínimo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0,679 (Moradia não convencional)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de Horn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retidos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dos 2 fatores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54,09%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 entre F1 e F2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variação de peso (um município de fora)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2,82 p.p.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406640" y="16733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e pesos (promax, matriz padrão)</a:t>
            </a:r>
            <a:endParaRPr lang="en-US" sz="1200" dirty="0"/>
          </a:p>
        </p:txBody>
      </p:sp>
      <p:graphicFrame>
        <p:nvGraphicFramePr>
          <p:cNvPr id="30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984248"/>
          <a:ext cx="4005072" cy="914400"/>
        </p:xfrm>
        <a:graphic>
          <a:graphicData uri="http://schemas.openxmlformats.org/drawingml/2006/table">
            <a:tbl>
              <a:tblPr/>
              <a:tblGrid>
                <a:gridCol w="1490472"/>
                <a:gridCol w="530352"/>
                <a:gridCol w="530352"/>
                <a:gridCol w="868680"/>
                <a:gridCol w="585216"/>
              </a:tblGrid>
              <a:tr h="207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0,561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12,43%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0,401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3,24%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0,651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-0,043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0,402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8,52%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-0,070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0,749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16,02%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-0,057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17,32%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14,89%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-0,100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0,648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15,86%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0,707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11,22%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0,49%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777240" y="4636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 faixas</a:t>
            </a:r>
            <a:endParaRPr lang="en-US" sz="1200" dirty="0"/>
          </a:p>
        </p:txBody>
      </p:sp>
      <p:graphicFrame>
        <p:nvGraphicFramePr>
          <p:cNvPr id="409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946904"/>
          <a:ext cx="106344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463040"/>
                <a:gridCol w="1051560"/>
                <a:gridCol w="1051560"/>
                <a:gridCol w="1051560"/>
                <a:gridCol w="1234440"/>
                <a:gridCol w="1234440"/>
                <a:gridCol w="1261872"/>
              </a:tblGrid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(própria)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(comum)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 (comum, nº mun.)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baixa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média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muito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com a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 de faixa vs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0,8434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0,8410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0,8470 (30)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26,5%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0,9933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8,1%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777240" y="5619115"/>
            <a:ext cx="10634472" cy="294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Kaiser e Horn indicam 3 e 3 fatores; a solução usa 2, que somam 54,09% da variância. A maior carga em F1 é de Renda (invertida); em F2, de Água não chega.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V100</a:t>
            </a:r>
            <a:endParaRPr lang="en-US" sz="11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PASSA: comunalidade &lt; 0,30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Versão V101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com mediana · sem lixo · + água não chega · + banheiro graduado · moradia fora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</a:t>
            </a:r>
            <a:endParaRPr lang="en-US" sz="1200" dirty="0"/>
          </a:p>
        </p:txBody>
      </p:sp>
      <p:graphicFrame>
        <p:nvGraphicFramePr>
          <p:cNvPr id="10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09928"/>
          <a:ext cx="2926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mediana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não chega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banheiro graduado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própria)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68.001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comum)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67.981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840480" y="1673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</a:t>
            </a:r>
            <a:endParaRPr lang="en-US" sz="1200" dirty="0"/>
          </a:p>
        </p:txBody>
      </p:sp>
      <p:graphicFrame>
        <p:nvGraphicFramePr>
          <p:cNvPr id="20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709928"/>
          <a:ext cx="3429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0,7725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qui-quadrado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185.732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graus de liberdade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mínimo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0,667 (Água inadequada)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de Horn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retidos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dos 2 fatores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57,74%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 entre F1 e F2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variação de peso (um município de fora)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2,65 p.p.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406640" y="16733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e pesos (promax, matriz padrão)</a:t>
            </a:r>
            <a:endParaRPr lang="en-US" sz="1200" dirty="0"/>
          </a:p>
        </p:txBody>
      </p:sp>
      <p:graphicFrame>
        <p:nvGraphicFramePr>
          <p:cNvPr id="31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984248"/>
          <a:ext cx="4005072" cy="914400"/>
        </p:xfrm>
        <a:graphic>
          <a:graphicData uri="http://schemas.openxmlformats.org/drawingml/2006/table">
            <a:tbl>
              <a:tblPr/>
              <a:tblGrid>
                <a:gridCol w="1490472"/>
                <a:gridCol w="530352"/>
                <a:gridCol w="530352"/>
                <a:gridCol w="868680"/>
                <a:gridCol w="585216"/>
              </a:tblGrid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0,763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0,589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14,93%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0,405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0,429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3,37%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0,640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-0,038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8,39%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16,01%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-0,050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17,34%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14,89%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-0,097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0,616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16,99%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-0,092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0,561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0,287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8,08%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777240" y="4636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 faixas</a:t>
            </a:r>
            <a:endParaRPr lang="en-US" sz="1200" dirty="0"/>
          </a:p>
        </p:txBody>
      </p:sp>
      <p:graphicFrame>
        <p:nvGraphicFramePr>
          <p:cNvPr id="41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946904"/>
          <a:ext cx="106344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463040"/>
                <a:gridCol w="1051560"/>
                <a:gridCol w="1051560"/>
                <a:gridCol w="1051560"/>
                <a:gridCol w="1234440"/>
                <a:gridCol w="1234440"/>
                <a:gridCol w="1261872"/>
              </a:tblGrid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(própria)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(comum)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 (comum, nº mun.)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baixa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média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muito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com a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 de faixa vs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0,8354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0,8355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0,8414 (30)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28,6%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40,3%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26,6%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4,4%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0,9956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7,9%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777240" y="5619115"/>
            <a:ext cx="10634472" cy="294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Kaiser e Horn indicam 2 e 2 fatores; a solução usa 2, que somam 57,74% da variância. A maior carga em F1 é de Renda (invertida); em F2, de Água não chega.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V101</a:t>
            </a:r>
            <a:endParaRPr lang="en-US" sz="11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PASSA: comunalidade &lt; 0,30; carga &lt; 0,40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Versão V102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com mediana · sem lixo · + água não chega · + banheiro graduado · + moradia não convencional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</a:t>
            </a:r>
            <a:endParaRPr lang="en-US" sz="1200" dirty="0"/>
          </a:p>
        </p:txBody>
      </p:sp>
      <p:graphicFrame>
        <p:nvGraphicFramePr>
          <p:cNvPr id="10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09928"/>
          <a:ext cx="2926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mediana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não chega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banheiro graduado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não convencional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própria)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68.001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comum)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67.981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840480" y="1673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</a:t>
            </a:r>
            <a:endParaRPr lang="en-US" sz="1200" dirty="0"/>
          </a:p>
        </p:txBody>
      </p:sp>
      <p:graphicFrame>
        <p:nvGraphicFramePr>
          <p:cNvPr id="20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709928"/>
          <a:ext cx="3429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0,7710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qui-quadrado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187.090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graus de liberdade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mínimo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0,645 (Moradia não convencional)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de Horn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retidos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dos 2 fatores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51,45%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 entre F1 e F2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0,360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variação de peso (um município de fora)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2,69 p.p.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406640" y="16733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e pesos (promax, matriz padrão)</a:t>
            </a:r>
            <a:endParaRPr lang="en-US" sz="1200" dirty="0"/>
          </a:p>
        </p:txBody>
      </p:sp>
      <p:graphicFrame>
        <p:nvGraphicFramePr>
          <p:cNvPr id="3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984248"/>
          <a:ext cx="4005072" cy="914400"/>
        </p:xfrm>
        <a:graphic>
          <a:graphicData uri="http://schemas.openxmlformats.org/drawingml/2006/table">
            <a:tbl>
              <a:tblPr/>
              <a:tblGrid>
                <a:gridCol w="1490472"/>
                <a:gridCol w="530352"/>
                <a:gridCol w="530352"/>
                <a:gridCol w="868680"/>
                <a:gridCol w="585216"/>
              </a:tblGrid>
              <a:tr h="207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0,575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14,42%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0,408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0,384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0,427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3,40%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0,642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-0,044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8,44%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15,97%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-0,051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17,32%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14,87%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-0,094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0,604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16,55%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-0,100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0,579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8,55%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0,48%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777240" y="4636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 faixas</a:t>
            </a:r>
            <a:endParaRPr lang="en-US" sz="1200" dirty="0"/>
          </a:p>
        </p:txBody>
      </p:sp>
      <p:graphicFrame>
        <p:nvGraphicFramePr>
          <p:cNvPr id="41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946904"/>
          <a:ext cx="106344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463040"/>
                <a:gridCol w="1051560"/>
                <a:gridCol w="1051560"/>
                <a:gridCol w="1051560"/>
                <a:gridCol w="1234440"/>
                <a:gridCol w="1234440"/>
                <a:gridCol w="1261872"/>
              </a:tblGrid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(própria)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(comum)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 (comum, nº mun.)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baixa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média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muito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com a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 de faixa vs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0,8361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0,8362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0,8424 (30)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28,6%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40,3%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26,7%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4,4%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0,9955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8,0%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777240" y="5619115"/>
            <a:ext cx="10634472" cy="294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Kaiser e Horn indicam 3 e 3 fatores; a solução usa 2, que somam 51,45% da variância. A maior carga em F1 é de Renda (invertida); em F2, de Água não chega.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V102</a:t>
            </a:r>
            <a:endParaRPr lang="en-US" sz="11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PASSA NOS CRITÉRIOS DO NB05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Versão V103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com mediana · sem lixo · + sem água canalizada · banheiro fora · moradia fora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</a:t>
            </a:r>
            <a:endParaRPr lang="en-US" sz="1200" dirty="0"/>
          </a:p>
        </p:txBody>
      </p:sp>
      <p:graphicFrame>
        <p:nvGraphicFramePr>
          <p:cNvPr id="10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09928"/>
          <a:ext cx="2926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mediana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sem canalização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própria)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87.512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comum)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67.981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840480" y="1673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</a:t>
            </a:r>
            <a:endParaRPr lang="en-US" sz="1200" dirty="0"/>
          </a:p>
        </p:txBody>
      </p:sp>
      <p:graphicFrame>
        <p:nvGraphicFramePr>
          <p:cNvPr id="2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709928"/>
          <a:ext cx="3429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0,8087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qui-quadrado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261.370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graus de liberdade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mínimo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0,737 (Renda (invertida))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de Horn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retidos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dos 2 fatores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66,49%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 entre F1 e F2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variação de peso (um município de fora)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6,43 p.p.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406640" y="16733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e pesos (promax, matriz padrão)</a:t>
            </a:r>
            <a:endParaRPr lang="en-US" sz="1200" dirty="0"/>
          </a:p>
        </p:txBody>
      </p:sp>
      <p:graphicFrame>
        <p:nvGraphicFramePr>
          <p:cNvPr id="3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984248"/>
          <a:ext cx="4005072" cy="914400"/>
        </p:xfrm>
        <a:graphic>
          <a:graphicData uri="http://schemas.openxmlformats.org/drawingml/2006/table">
            <a:tbl>
              <a:tblPr/>
              <a:tblGrid>
                <a:gridCol w="1490472"/>
                <a:gridCol w="530352"/>
                <a:gridCol w="530352"/>
                <a:gridCol w="868680"/>
                <a:gridCol w="585216"/>
              </a:tblGrid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-0,180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0,955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0,765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20,20%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0,286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0,519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6,18%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0,612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7,95%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-0,104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0,762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18,05%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0,953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-0,076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19,26%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14,74%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0,647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13,62%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777240" y="4636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 faixas</a:t>
            </a:r>
            <a:endParaRPr lang="en-US" sz="1200" dirty="0"/>
          </a:p>
        </p:txBody>
      </p:sp>
      <p:graphicFrame>
        <p:nvGraphicFramePr>
          <p:cNvPr id="42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946904"/>
          <a:ext cx="106344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463040"/>
                <a:gridCol w="1051560"/>
                <a:gridCol w="1051560"/>
                <a:gridCol w="1051560"/>
                <a:gridCol w="1234440"/>
                <a:gridCol w="1234440"/>
                <a:gridCol w="1261872"/>
              </a:tblGrid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(própria)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(comum)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 (comum, nº mun.)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baixa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média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muito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com a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 de faixa vs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0,8215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0,8356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0,8272 (30)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28,6%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43,8%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22,2%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5,3%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0,9948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777240" y="5619115"/>
            <a:ext cx="10634472" cy="294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Kaiser e Horn indicam 2 e 2 fatores; a solução usa 2, que somam 66,49% da variância. A maior carga em F1 é de Renda (invertida); em F2, de Água inadequada.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V103</a:t>
            </a:r>
            <a:endParaRPr lang="en-US" sz="11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PASSA: comunalidade &lt; 0,30; carga &lt; 0,40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Versão V104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com mediana · sem lixo · + sem água canalizada · banheiro fora · + moradia não convencional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</a:t>
            </a:r>
            <a:endParaRPr lang="en-US" sz="1200" dirty="0"/>
          </a:p>
        </p:txBody>
      </p:sp>
      <p:graphicFrame>
        <p:nvGraphicFramePr>
          <p:cNvPr id="10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09928"/>
          <a:ext cx="2926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mediana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sem canalização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não convencional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própria)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87.512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comum)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67.981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840480" y="1673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</a:t>
            </a:r>
            <a:endParaRPr lang="en-US" sz="1200" dirty="0"/>
          </a:p>
        </p:txBody>
      </p:sp>
      <p:graphicFrame>
        <p:nvGraphicFramePr>
          <p:cNvPr id="2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709928"/>
          <a:ext cx="3429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0,8087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qui-quadrado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262.078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graus de liberdade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mínimo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0,736 (Renda (invertida))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de Horn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retidos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dos 2 fatores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58,29%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 entre F1 e F2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variação de peso (um município de fora)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6,48 p.p.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406640" y="16733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e pesos (promax, matriz padrão)</a:t>
            </a:r>
            <a:endParaRPr lang="en-US" sz="1200" dirty="0"/>
          </a:p>
        </p:txBody>
      </p:sp>
      <p:graphicFrame>
        <p:nvGraphicFramePr>
          <p:cNvPr id="3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984248"/>
          <a:ext cx="4005072" cy="914400"/>
        </p:xfrm>
        <a:graphic>
          <a:graphicData uri="http://schemas.openxmlformats.org/drawingml/2006/table">
            <a:tbl>
              <a:tblPr/>
              <a:tblGrid>
                <a:gridCol w="1490472"/>
                <a:gridCol w="530352"/>
                <a:gridCol w="530352"/>
                <a:gridCol w="868680"/>
                <a:gridCol w="585216"/>
              </a:tblGrid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-0,176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0,948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19,87%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0,289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0,517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6,08%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0,615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8,03%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-0,103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0,761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18,02%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0,953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-0,076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19,25%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14,70%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0,645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13,53%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-0,010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777240" y="4636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 faixas</a:t>
            </a:r>
            <a:endParaRPr lang="en-US" sz="1200" dirty="0"/>
          </a:p>
        </p:txBody>
      </p:sp>
      <p:graphicFrame>
        <p:nvGraphicFramePr>
          <p:cNvPr id="42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946904"/>
          <a:ext cx="106344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463040"/>
                <a:gridCol w="1051560"/>
                <a:gridCol w="1051560"/>
                <a:gridCol w="1051560"/>
                <a:gridCol w="1234440"/>
                <a:gridCol w="1234440"/>
                <a:gridCol w="1261872"/>
              </a:tblGrid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(própria)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(comum)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 (comum, nº mun.)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baixa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média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muito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com a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 de faixa vs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0,8218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0,8359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0,8278 (30)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28,6%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43,7%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22,4%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5,3%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0,9949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9,6%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777240" y="5619115"/>
            <a:ext cx="10634472" cy="294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Kaiser e Horn indicam 2 e 2 fatores; a solução usa 2, que somam 58,29% da variância. A maior carga em F1 é de Renda (invertida); em F2, de Água inadequada.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V104</a:t>
            </a:r>
            <a:endParaRPr lang="en-US" sz="11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PASSA NOS CRITÉRIOS DO NB05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Versão V105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com mediana · sem lixo · + sem água canalizada · + sem banheiro · moradia fora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</a:t>
            </a:r>
            <a:endParaRPr lang="en-US" sz="1200" dirty="0"/>
          </a:p>
        </p:txBody>
      </p:sp>
      <p:graphicFrame>
        <p:nvGraphicFramePr>
          <p:cNvPr id="10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09928"/>
          <a:ext cx="2926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mediana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sem canalização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sem banheiro (V00495)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própria)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75.927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comum)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67.981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840480" y="1673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</a:t>
            </a:r>
            <a:endParaRPr lang="en-US" sz="1200" dirty="0"/>
          </a:p>
        </p:txBody>
      </p:sp>
      <p:graphicFrame>
        <p:nvGraphicFramePr>
          <p:cNvPr id="2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709928"/>
          <a:ext cx="3429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0,8143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qui-quadrado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235.047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graus de liberdade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mínimo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0,738 (Renda (invertida))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de Horn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retidos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dos 2 fatores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60,77%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 entre F1 e F2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0,482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variação de peso (um município de fora)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5,15 p.p.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406640" y="16733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e pesos (promax, matriz padrão)</a:t>
            </a:r>
            <a:endParaRPr lang="en-US" sz="1200" dirty="0"/>
          </a:p>
        </p:txBody>
      </p:sp>
      <p:graphicFrame>
        <p:nvGraphicFramePr>
          <p:cNvPr id="3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984248"/>
          <a:ext cx="4005072" cy="914400"/>
        </p:xfrm>
        <a:graphic>
          <a:graphicData uri="http://schemas.openxmlformats.org/drawingml/2006/table">
            <a:tbl>
              <a:tblPr/>
              <a:tblGrid>
                <a:gridCol w="1490472"/>
                <a:gridCol w="530352"/>
                <a:gridCol w="530352"/>
                <a:gridCol w="868680"/>
                <a:gridCol w="585216"/>
              </a:tblGrid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-0,093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0,617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13,78%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0,316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0,480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0,477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4,66%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0,636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-0,017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8,70%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0,900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17,45%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0,933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-0,046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18,74%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15,11%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0,623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12,18%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-0,092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0,682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9,38%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777240" y="4636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 faixas</a:t>
            </a:r>
            <a:endParaRPr lang="en-US" sz="1200" dirty="0"/>
          </a:p>
        </p:txBody>
      </p:sp>
      <p:graphicFrame>
        <p:nvGraphicFramePr>
          <p:cNvPr id="429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946904"/>
          <a:ext cx="106344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463040"/>
                <a:gridCol w="1051560"/>
                <a:gridCol w="1051560"/>
                <a:gridCol w="1051560"/>
                <a:gridCol w="1234440"/>
                <a:gridCol w="1234440"/>
                <a:gridCol w="1261872"/>
              </a:tblGrid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(própria)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(comum)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 (comum, nº mun.)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baixa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média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muito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com a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 de faixa vs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0,8362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0,8399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0,8449 (30)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41,6%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24,9%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4,9%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0,9952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777240" y="5619115"/>
            <a:ext cx="10634472" cy="294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Kaiser e Horn indicam 2 e 2 fatores; a solução usa 2, que somam 60,77% da variância. A maior carga em F1 é de Renda (invertida); em F2, de Água inadequada.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V105</a:t>
            </a:r>
            <a:endParaRPr lang="en-US" sz="11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PASSA: comunalidade &lt; 0,30; carga &lt; 0,40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Versão V106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com mediana · sem lixo · + sem água canalizada · + sem banheiro · + moradia não convencional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</a:t>
            </a:r>
            <a:endParaRPr lang="en-US" sz="1200" dirty="0"/>
          </a:p>
        </p:txBody>
      </p:sp>
      <p:graphicFrame>
        <p:nvGraphicFramePr>
          <p:cNvPr id="10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09928"/>
          <a:ext cx="2926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mediana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sem canalização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sem banheiro (V00495)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não convencional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própria)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75.927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comum)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67.981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840480" y="1673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</a:t>
            </a:r>
            <a:endParaRPr lang="en-US" sz="1200" dirty="0"/>
          </a:p>
        </p:txBody>
      </p:sp>
      <p:graphicFrame>
        <p:nvGraphicFramePr>
          <p:cNvPr id="2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709928"/>
          <a:ext cx="3429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0,8132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qui-quadrado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236.579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graus de liberdade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mínimo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0,719 (Moradia não convencional)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de Horn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retidos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dos 2 fatores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54,25%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 entre F1 e F2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variação de peso (um município de fora)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5,13 p.p.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406640" y="16733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e pesos (promax, matriz padrão)</a:t>
            </a:r>
            <a:endParaRPr lang="en-US" sz="1200" dirty="0"/>
          </a:p>
        </p:txBody>
      </p:sp>
      <p:graphicFrame>
        <p:nvGraphicFramePr>
          <p:cNvPr id="32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984248"/>
          <a:ext cx="4005072" cy="914400"/>
        </p:xfrm>
        <a:graphic>
          <a:graphicData uri="http://schemas.openxmlformats.org/drawingml/2006/table">
            <a:tbl>
              <a:tblPr/>
              <a:tblGrid>
                <a:gridCol w="1490472"/>
                <a:gridCol w="530352"/>
                <a:gridCol w="530352"/>
                <a:gridCol w="868680"/>
                <a:gridCol w="585216"/>
              </a:tblGrid>
              <a:tr h="207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0,789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0,582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12,57%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0,470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4,34%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0,639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-0,021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8,89%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-0,053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17,30%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-0,036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18,68%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15,12%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0,605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11,52%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-0,102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0,702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0,436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9,95%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-0,095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0,283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1,62%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777240" y="4636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 faixas</a:t>
            </a:r>
            <a:endParaRPr lang="en-US" sz="1200" dirty="0"/>
          </a:p>
        </p:txBody>
      </p:sp>
      <p:graphicFrame>
        <p:nvGraphicFramePr>
          <p:cNvPr id="43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946904"/>
          <a:ext cx="106344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463040"/>
                <a:gridCol w="1051560"/>
                <a:gridCol w="1051560"/>
                <a:gridCol w="1051560"/>
                <a:gridCol w="1234440"/>
                <a:gridCol w="1234440"/>
                <a:gridCol w="1261872"/>
              </a:tblGrid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(própria)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(comum)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 (comum, nº mun.)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baixa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média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muito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com a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 de faixa vs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0,8381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0,8416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0,8472 (30)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28,4%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41,4%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25,3%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4,9%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0,9940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6,1%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777240" y="5619115"/>
            <a:ext cx="10634472" cy="294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Kaiser e Horn indicam 3 e 2 fatores; a solução usa 2, que somam 54,25% da variância. A maior carga em F1 é de Renda (invertida); em F2, de Água inadequada.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V106</a:t>
            </a:r>
            <a:endParaRPr lang="en-US" sz="11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PASSA: comunalidade &lt; 0,30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Versão V107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com mediana · sem lixo · + sem água canalizada · + banheiro graduado · moradia fora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</a:t>
            </a:r>
            <a:endParaRPr lang="en-US" sz="1200" dirty="0"/>
          </a:p>
        </p:txBody>
      </p:sp>
      <p:graphicFrame>
        <p:nvGraphicFramePr>
          <p:cNvPr id="1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09928"/>
          <a:ext cx="2926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mediana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sem canalização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banheiro graduado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própria)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73.854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comum)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67.981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840480" y="1673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</a:t>
            </a:r>
            <a:endParaRPr lang="en-US" sz="1200" dirty="0"/>
          </a:p>
        </p:txBody>
      </p:sp>
      <p:graphicFrame>
        <p:nvGraphicFramePr>
          <p:cNvPr id="2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709928"/>
          <a:ext cx="3429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0,7964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qui-quadrado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209.594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graus de liberdade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mínimo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0,719 (Água inadequada)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de Horn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retidos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dos 2 fatores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58,21%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 entre F1 e F2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variação de peso (um município de fora)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4,82 p.p.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406640" y="16733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e pesos (promax, matriz padrão)</a:t>
            </a:r>
            <a:endParaRPr lang="en-US" sz="1200" dirty="0"/>
          </a:p>
        </p:txBody>
      </p:sp>
      <p:graphicFrame>
        <p:nvGraphicFramePr>
          <p:cNvPr id="328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984248"/>
          <a:ext cx="4005072" cy="914400"/>
        </p:xfrm>
        <a:graphic>
          <a:graphicData uri="http://schemas.openxmlformats.org/drawingml/2006/table">
            <a:tbl>
              <a:tblPr/>
              <a:tblGrid>
                <a:gridCol w="1490472"/>
                <a:gridCol w="530352"/>
                <a:gridCol w="530352"/>
                <a:gridCol w="868680"/>
                <a:gridCol w="585216"/>
              </a:tblGrid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-0,076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0,623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15,01%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4,81%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0,632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-0,027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0,385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8,75%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-0,057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17,35%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-0,039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18,74%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15,17%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0,598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12,87%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-0,142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0,571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0,277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7,31%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777240" y="4636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 faixas</a:t>
            </a:r>
            <a:endParaRPr lang="en-US" sz="1200" dirty="0"/>
          </a:p>
        </p:txBody>
      </p:sp>
      <p:graphicFrame>
        <p:nvGraphicFramePr>
          <p:cNvPr id="43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946904"/>
          <a:ext cx="106344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463040"/>
                <a:gridCol w="1051560"/>
                <a:gridCol w="1051560"/>
                <a:gridCol w="1051560"/>
                <a:gridCol w="1234440"/>
                <a:gridCol w="1234440"/>
                <a:gridCol w="1261872"/>
              </a:tblGrid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(própria)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(comum)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 (comum, nº mun.)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baixa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média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muito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com a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 de faixa vs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0,8295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0,8364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0,8421 (30)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28,6%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41,4%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25,2%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4,9%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0,9966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4,7%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777240" y="5619115"/>
            <a:ext cx="10634472" cy="294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Kaiser e Horn indicam 2 e 2 fatores; a solução usa 2, que somam 58,21% da variância. A maior carga em F1 é de Renda (invertida); em F2, de Água inadequada.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V107</a:t>
            </a:r>
            <a:endParaRPr lang="en-US" sz="11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PASSA: comunalidade &lt; 0,30; carga &lt; 0,40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Versão V108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com mediana · sem lixo · + sem água canalizada · + banheiro graduado · + moradia não convencional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versão</a:t>
            </a:r>
            <a:endParaRPr lang="en-US" sz="1200" dirty="0"/>
          </a:p>
        </p:txBody>
      </p:sp>
      <p:graphicFrame>
        <p:nvGraphicFramePr>
          <p:cNvPr id="1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09928"/>
          <a:ext cx="2926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mediana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sem canalização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banheiro graduado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não convencional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própria)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73.854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(amostra comum)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67.981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840480" y="1673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</a:t>
            </a:r>
            <a:endParaRPr lang="en-US" sz="1200" dirty="0"/>
          </a:p>
        </p:txBody>
      </p:sp>
      <p:graphicFrame>
        <p:nvGraphicFramePr>
          <p:cNvPr id="2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709928"/>
          <a:ext cx="3429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25880"/>
              </a:tblGrid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0,7950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qui-quadrado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210.968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Bartlett: graus de liberdade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mínimo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0,668 (Moradia não convencional)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de Horn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retidos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dos 2 fatores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51,93%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 entre F1 e F2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0,415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variação de peso (um município de fora)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4,80 p.p.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406640" y="16733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e pesos (promax, matriz padrão)</a:t>
            </a:r>
            <a:endParaRPr lang="en-US" sz="1200" dirty="0"/>
          </a:p>
        </p:txBody>
      </p:sp>
      <p:graphicFrame>
        <p:nvGraphicFramePr>
          <p:cNvPr id="331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984248"/>
          <a:ext cx="4005072" cy="914400"/>
        </p:xfrm>
        <a:graphic>
          <a:graphicData uri="http://schemas.openxmlformats.org/drawingml/2006/table">
            <a:tbl>
              <a:tblPr/>
              <a:tblGrid>
                <a:gridCol w="1490472"/>
                <a:gridCol w="530352"/>
                <a:gridCol w="530352"/>
                <a:gridCol w="868680"/>
                <a:gridCol w="585216"/>
              </a:tblGrid>
              <a:tr h="207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</a:t>
                      </a:r>
                      <a:endParaRPr lang="en-US" sz="7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-0,040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0,580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13,58%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0,348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4,43%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0,635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-0,031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0,387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8,93%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0,880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-0,043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17,19%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0,918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-0,029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18,67%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15,21%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0,058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0,734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0,577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12,10%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-0,162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0,611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0,317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8,38%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-0,075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0,259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0,057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1,51%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777240" y="4636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 faixas</a:t>
            </a:r>
            <a:endParaRPr lang="en-US" sz="1200" dirty="0"/>
          </a:p>
        </p:txBody>
      </p:sp>
      <p:graphicFrame>
        <p:nvGraphicFramePr>
          <p:cNvPr id="44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946904"/>
          <a:ext cx="106344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463040"/>
                <a:gridCol w="1051560"/>
                <a:gridCol w="1051560"/>
                <a:gridCol w="1051560"/>
                <a:gridCol w="1234440"/>
                <a:gridCol w="1234440"/>
                <a:gridCol w="1261872"/>
              </a:tblGrid>
              <a:tr h="339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(própria)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(comum)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 (comum, nº mun.)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baixa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média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muito elevada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com a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 de faixa vs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0,8316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0,8382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0,8450 (30)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28,4%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41,1%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25,7%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4,8%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0,9957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5,6%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777240" y="5619115"/>
            <a:ext cx="10634472" cy="294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Kaiser e Horn indicam 3 e 3 fatores; a solução usa 2, que somam 51,93% da variância. A maior carga em F1 é de Renda (invertida); em F2, de Água inadequada.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V108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110</Slides>
  <Notes>110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110</vt:i4>
      </vt:variant>
    </vt:vector>
  </HeadingPairs>
  <TitlesOfParts>
    <vt:vector size="1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Caderno de fichas — 108 versões</dc:title>
  <dc:subject>PptxGenJS Presentation</dc:subject>
  <dc:creator>Pedro Dias Soares</dc:creator>
  <cp:lastModifiedBy>Pedro Dias Soares</cp:lastModifiedBy>
  <cp:revision>1</cp:revision>
  <dcterms:created xsi:type="dcterms:W3CDTF">2026-10-08T15:01:04Z</dcterms:created>
  <dcterms:modified xsi:type="dcterms:W3CDTF">2026-10-08T15:01:04Z</dcterms:modified>
</cp:coreProperties>
</file>