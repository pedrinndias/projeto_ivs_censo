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notesMasterIdLst>
    <p:notesMasterId r:id="rId8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[FIN-01] Análise fatorial multiversão e o IVS proposto
Fontes: docs/prompts/prompt_fatorial_multiversao_2026-10.md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[FIN-02] Como esta apresentação está organizada
Fontes: docs/prompts/prompt_fatorial_multiversao_2026-10.md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[FIN-03] Ponto de partida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[FIN-04] A base é a do relatório parcial
O que é. O funil que leva dos setores censitários dos 70 municípios ao recorte desta análise.
Para que serve. Garante que todos os números partem da mesma base da seção VI do relatório parcial.
Como ler. Saem os setores sem moradores, os que o IBGE escondeu por sigilo e os rurais (o índice é intraurbano).
O que mostra. O recorte tem 104.108 setores urbanos.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[FIN-05] Os 12 indicadores
O que é. Os 12 indicadores do Quadro 2 do relatório: os 7 do IVS de 2012 e 5 complementares.
Para que serve. O código de três letras identifica o indicador em todos os slides e nas 12 apresentações próprias.
Como ler. "No IVS" = compõe o IVS de 2012 (Quadro 1). "Setores" = setores com o dado; a diferença para o recorte é sigilo do IBGE.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[FIN-06] O que as análises anteriores ensinaram
Fontes: docs/prompts/prompt_fatorial_multiversao_2026-10.md, seção 1.3; banco_de_dados/eda/fatorial_multiversao/camada2_especificacoes.csv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[FIN-07] A análise exploratória dos 12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[FIN-08] Painel descritivo dos 12
O que é. Média, mediana, percentil 75, assimetria e % de setores com zero de cada indicador.
Para que serve. Mostra de uma vez quais indicadores se concentram em poucos setores — o que pesa na padronização antes do índice.
Como ler. Assimetria acima de 1 e muitos zeros: poucos setores concentram o problema. Proporções de 0 a 1; renda em reais; razão de moradores em moradores por domicílio.
O que mostra. É a Tabela 1 do relatório parcial, com os 12 indicadores.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[FIN-09] As 12 distribuições
O que é. Um histograma por indicador: quantos setores caem em cada faixa de valor.
Para que serve. Compara a forma das distribuições lado a lado, antes de pôr todas na mesma régua do índice.
Como ler. Cada painel tem a sua escala. Barra alta no começo e cauda à direita: muitos setores com valor baixo e poucos com valor alto. Distribuição em sino: valores espalhados em torno do meio.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[FIN-10] Zeros e dados faltantes
O que é. Para cada indicador, quantos setores têm valor zero (verde) e quantos não têm o dado (vermelho).
Para que serve. São os dois problemas que o relatório parcial apontou antes do índice: zeros demais distorcem a régua de 0 a 1; dado faltante por sigilo não é aleatório.
Como ler. Barra verde longa: o indicador é zero na maioria dos setores. Barra vermelha: setores perdidos se o indicador entrar no índice.
O que mostra. Mais zeros: Sem banheiro (95,6%). Mais faltantes: Analfabetismo (15 anos ou mais) (15,9%).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[FIN-11] Os 12 por região
O que é. Cada célula é a média do indicador na região dividida pela média geral.
Para que serve. Põe na mesma escala indicadores com unidades diferentes e mostra quais têm padrão regional forte.
Como ler. 1 = igual à média dos 70 municípios; 2 = o dobro; 0,5 = a metade. Laranja: acima da média; roxo: abaixo.
O que mostra. Maior contraste: Sem banheiro no Norte (4,8 vezes a média).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[FIN-12] O gradiente de renda dos 12
O que é. Os setores de cada município divididos em 10 grupos pela renda; cada painel mostra a média do indicador em cada grupo.
Para que serve. Mostra quais indicadores seguem o gradiente social dentro das cidades — candidatos naturais à dimensão socioeconômica — e quais não seguem.
Como ler. Linha que desce da esquerda para a direita: o indicador é pior nos setores mais pobres. Linha plana: independe da renda.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[FIN-13] As matrizes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[FIN-14] Correlação no conjunto dos setores
O que é. A matriz de correlação de Spearman entre os 12 indicadores, comparando todos os setores dos 70 municípios.
Para que serve. É a matéria-prima da análise fatorial: a fatorial procura grupos de indicadores muito correlacionados entre si (os fatores).
Como ler. Cada célula é a correlação entre o indicador da linha e o da coluna, de −1 a 1. Vermelho forte: andam juntos; azul: andam em sentidos opostos; branco: sem relação. A diagonal é sempre 1. A renda entra invertida, para que "mais" seja sempre "mais vulnerável".
O que mostra. O par mais forte é Preta, parda ou indígena × Renda média do responsável (0,79).
Fontes: banco_de_dados/eda/fatorial_multiversao/camada1_12_global_correlacao.csv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[FIN-15] Correlação dentro dos municípios
O que é. A mesma matriz, mas cada setor é comparado só com os setores da própria cidade (posição de 0 a 1 dentro do município).
Para que serve. O IVS é intraurbano. Esta matriz mostra a estrutura que sobra quando se tiram as diferenças entre cidades — a que importa para achar desigualdade dentro delas.
Como ler. Cada célula é a correlação entre o indicador da linha e o da coluna, de −1 a 1. Vermelho forte: andam juntos; azul: andam em sentidos opostos; branco: sem relação. A diagonal é sempre 1. A renda entra invertida, para que "mais" seja sempre "mais vulnerável".
O que mostra. O par mais forte é Preta, parda ou indígena × Renda média do responsável (0,84).
Fontes: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[FIN-16] O que muda ao comparar dentro da cidade: o mapa
O que é. A diferença entre as duas matrizes anteriores, célula a célula.
Para que serve. Mostra quais relações vinham de diferenças entre cidades (somem dentro delas) e quais existem também dentro das cidades.
Como ler. Azul: a relação enfraquece dentro das cidades — parte dela era diferença entre cidades. Vermelho: fica mais forte dentro delas. Branco: não muda.
O que mostra. A maior mudança é em Água inadequada × Preta, parda ou indígena: de 0,33 para 0,08.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[FIN-17] O que muda ao comparar dentro da cidade: os pares
O que é. Os 10 pares de indicadores cuja correlação mais muda entre as duas réguas.
Para que serve. Aponta onde a escolha da régua (no conjunto ou dentro do município) mais pesa.
Como ler. Diferença negativa: a relação era, em boa parte, diferença entre cidades.
O que mostra. A maior mudança é em Água inadequada × Preta, parda ou indígena: de 0,33 para 0,08.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[FIN-18] Tabela: correlação no conjunto
Fontes: banco_de_dados/eda/fatorial_multiversao/camada1_12_global_correlacao.csv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[FIN-19] Matriz anti-imagem e o MSA de cada indicador
O que é. Fora da diagonal, a correlação entre dois indicadores depois de descontar o efeito de todos os outros (correlação parcial). Na diagonal, o MSA de cada indicador.
Para que serve. Numa boa fatorial, o que dois indicadores têm em comum vem dos fatores, então as parciais devem ser pequenas. O MSA resume isso por indicador.
Como ler. Fora da diagonal: quanto mais branco, melhor. Na diagonal: MSA de 0 a 1; abaixo de 0,50 o indicador não combina com os outros.
O que mostra. MSA de 0,73 (Moradia não convencional) a 0,92 (Esgoto inadequado).
Fontes: banco_de_dados/eda/fatorial_multiversao/camada1_12_global_antiimagem.csv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[FIN-20] Adequação da matriz: KMO, Bartlett e determinante
O que é. Três testes de se a matriz serve para uma análise fatorial, e duas regras para o número de fatores.
Para que serve. KMO: quanto da correlação é compartilhada (0 a 1). Bartlett: testa se a matriz difere de "nenhuma correlação". Determinante perto de zero: indicadores redundantes. Kaiser e Horn: quantos fatores reter.
Como ler. KMO acima de 0,70 é adequado. Com dezenas de milhares de setores o Bartlett sempre rejeita, então pouco informa. Kaiser conta autovalores acima de 1; Horn, os acima do esperado em dados aleatórios.
O que mostra. KMO dos 12 no conjunto: 0,826; dentro dos municípios: 0,833.
Fontes: banco_de_dados/eda/fatorial_multiversao/camada1_12_global_adequacao.csv; banco_de_dados/eda/fatorial_multiversao/camada1_nucleo_global_adequacao.csv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[FIN-21] Quantos fatores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[FIN-22] Autovalores: os 12 indicadores
O que é. O scree plot: cada ponto é um componente, e a altura (autovalor) diz quanta variação ele resume.
Para que serve. Decide quantos fatores a análise deve ter. Poucos fatores resumem muitos indicadores; fatores demais só reproduzem ruído.
Como ler. Kaiser: retém os pontos acima da linha 1. Horn: retém os pontos verdes acima da linha vermelha — o que dados sem estrutura nenhuma produziriam. O "cotovelo" da curva também sugere o número.
O que mostra. Horn retém 3 fatores no conjunto e 3 dentro dos municípios.
Fontes: banco_de_dados/eda/fatorial_multiversao/camada1_12_global_autovalores.csv; banco_de_dados/eda/fatorial_multiversao/camada1_12_municipal_autovalores.csv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[FIN-23] Autovalores: o núcleo (os 7 do Quadro 1)
O que é. O scree plot: cada ponto é um componente, e a altura (autovalor) diz quanta variação ele resume.
Para que serve. Decide quantos fatores a análise deve ter. Poucos fatores resumem muitos indicadores; fatores demais só reproduzem ruído.
Como ler. Kaiser: retém os pontos acima da linha 1. Horn: retém os pontos verdes acima da linha vermelha — o que dados sem estrutura nenhuma produziriam. O "cotovelo" da curva também sugere o número.
O que mostra. Horn retém 2 fatores no conjunto e 2 dentro dos municípios.
Fontes: banco_de_dados/eda/fatorial_multiversao/camada1_nucleo_global_autovalores.csv; banco_de_dados/eda/fatorial_multiversao/camada1_nucleo_municipal_autovalores.csv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[FIN-24] Quantos fatores as 4.017 combinações pedem
O que é. Em quantas combinações de indicadores o critério de Horn indica 1, 2 ou 3 fatores.
Para que serve. Diz se a estrutura em duas dimensões (saneamento e socioeconômica), herdada do IVS de 2012, aparece nos dados ou é imposta.
Como ler. Cada linha é um número de fatores; as colunas contam combinações.
O que mostra. Dois fatores em 54,5% das combinações (duas réguas somadas).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[FIN-25] As 4.017 combinações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[FIN-26] Como as 4.017 combinações foram rodadas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[FIN-27] O efeito de cada indicador, no conjunto
O que é. Para cada indicador, o que muda quando ele entra numa combinação (mediana sobre os pares).
Para que serve. Resume as 4.017 combinações numa linha por indicador: quem melhora a fatorial, quem custa setores e quem a faz deixar de passar nos critérios.
Como ler. Δ KMO positivo: melhora a adequação. "Derruba": % dos pares em que a combinação passava sem ele e deixa de passar com ele. h²: comunalidade mediana dele.
O que mostra. O que mais derruba a elegibilidade é Moradia não convencional (6,8% dos pares).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[FIN-28] O efeito de cada indicador, dentro dos municípios
O que é. Para cada indicador, o que muda quando ele entra numa combinação (mediana sobre os pares).
Para que serve. Resume as 4.017 combinações numa linha por indicador: quem melhora a fatorial, quem custa setores e quem a faz deixar de passar nos critérios.
Como ler. Δ KMO positivo: melhora a adequação. "Derruba": % dos pares em que a combinação passava sem ele e deixa de passar com ele. h²: comunalidade mediana dele.
O que mostra. O que mais derruba a elegibilidade é Água inadequada (1,2% dos pares).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[FIN-29] A comunalidade de cada indicador nas combinações
O que é. A comunalidade típica de cada indicador: a parte da variação dele que os fatores explicam.
Para que serve. É o critério que mais elimina combinações. Indicador com comunalidade baixa não compartilha muito com os outros: ou mede outra coisa, ou é ruído.
Como ler. Barras acima do tracejado passam no critério. Verde: no conjunto; vermelho: dentro dos municípios.
O que mostra. Abaixo do critério dentro dos municípios: Água inadequada, Esgoto inadequado, Lixo inadequado, Sem banheiro, Moradia não convencional.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[FIN-30] Elegibilidade pelo número de indicadores
O que é. A proporção de combinações que passa nos critérios, para cada número de indicadores.
Para que serve. Mostra se é mais fácil ter uma fatorial adequada com poucos ou com muitos indicadores.
Como ler. Curva que cai para a direita: quanto mais indicadores, mais chance de entrar um que não combina com os outros.
O que mostra. Com 3 indicadores, 0,5% elegíveis no conjunto; com 12, 0,0%.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[FIN-31] As combinações elegíveis de maior KMO (dentro dos municípios)
O que é. As 10 combinações elegíveis com a maior adequação (KMO), comparando dentro dos municípios.
Para que serve. Mostra quais conjuntos de indicadores formam a estrutura mais limpa — informação para a decisão P2.
Como ler. Os códigos de três letras estão no slide "Os 12 indicadores". h² mínima: a menor comunalidade e de quem é.
O que mostra. Lista descritiva, não escolha: KMO alto não diz se o conjunto é o certo para o índice.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[FIN-32] Os métodos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[FIN-33] Como os métodos foram comparados
Fontes: banco_de_dados/eda/fatorial_multiversao/camada2_especificacoes.csv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[FIN-34] O veredito de cada eixo
O que é. Para cada eixo de escolha, quantas alternativas dão o mesmo resultado que a referência.
Para que serve. Separa as escolhas que mudam o IVS das que não mudam — as primeiras vão para a orientadora.
Como ler. "Maior troca": a % de setores que mudam de faixa na alternativa mais distante.
O que mostra. 1 de 4 eixos dão "tanto faz".
Fontes: banco_de_dados/eda/fatorial_multiversao/camada2_efeito_eixo.csv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[FIN-35] Eixo: conjunto de indicadores (núcleo ± 1) — a tabela
O que é. Cada alternativa do eixo "conjunto de indicadores (núcleo ± 1)", comparada com o IVS proposto.
Para que serve. Mostra o custo de escolher diferente da referência neste eixo.
Como ler. "nucleo-X": o núcleo sem o indicador X; "nucleo+X": com X a mais.
O que mostra. Contra o IVS proposto (E0009). 7 de 12 não equivalentes; a mais distante troca a faixa de 36,1% dos setores.
Fontes: banco_de_dados/eda/fatorial_multiversao/camada2_especificacoes.csv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[FIN-36] Eixo: conjunto de indicadores (núcleo ± 1) — o gráfico
O que é. A % de setores que trocam de faixa em cada alternativa do eixo.
Para que serve. Visualiza quais alternativas mudam o resultado prático do índice.
Como ler. Tracejado: o limite de 10% da regra de equivalência. Barras vermelhas também podem falhar pela correlação, mesmo abaixo do tracejado.
O que mostra. Contra o IVS proposto (E0009). 7 de 12 não equivalentes; a mais distante troca a faixa de 36,1% dos setores.
Fontes: banco_de_dados/eda/fatorial_multiversao/camada2_especificacoes.csv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[FIN-37] Eixo: rotação e método de peso — a tabela
O que é. Cada alternativa do eixo "rotação e método de peso", comparada com o IVS proposto.
Para que serve. Mostra o custo de escolher diferente da referência neste eixo.
Como ler. "ss": pesos pela soma dos quadrados das cargas (dos dados); "50_50" e "60_40": divisão fixa entre as dimensões; "comunalidades": pela variação explicada de cada indicador.
O que mostra. Contra o IVS proposto (E0009). 3 de 8 não equivalentes; a mais distante troca a faixa de 18,5% dos setores.
Fontes: banco_de_dados/eda/fatorial_multiversao/camada2_especificacoes.csv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[FIN-38] Eixo: rotação e método de peso — o gráfico
O que é. A % de setores que trocam de faixa em cada alternativa do eixo.
Para que serve. Visualiza quais alternativas mudam o resultado prático do índice.
Como ler. Tracejado: o limite de 10% da regra de equivalência. Barras vermelhas também podem falhar pela correlação, mesmo abaixo do tracejado.
O que mostra. Contra o IVS proposto (E0009). 3 de 8 não equivalentes; a mais distante troca a faixa de 18,5% dos setores.
Fontes: banco_de_dados/eda/fatorial_multiversao/camada2_especificacoes.csv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[FIN-39] Eixo: normalização (régua) — a tabela
O que é. Cada alternativa do eixo "normalização (régua)", comparada com o IVS proposto.
Para que serve. Mostra o custo de escolher diferente da referência neste eixo.
Como ler. "municipal": de 0 a 1 dentro de cada município; "global": de 0 a 1 nos 70 juntos; "postos_municipal": posição do setor no município, o que trata zeros e assimetria.
O que mostra. Contra o IVS proposto (E0009). 1 de 2 não equivalentes; a mais distante troca a faixa de 31,8% dos setores.
Fontes: banco_de_dados/eda/fatorial_multiversao/camada2_especificacoes.csv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[FIN-40] Eixo: normalização (régua) — o gráfico
O que é. A % de setores que trocam de faixa em cada alternativa do eixo.
Para que serve. Visualiza quais alternativas mudam o resultado prático do índice.
Como ler. Tracejado: o limite de 10% da regra de equivalência. Barras vermelhas também podem falhar pela correlação, mesmo abaixo do tracejado.
O que mostra. Contra o IVS proposto (E0009). 1 de 2 não equivalentes; a mais distante troca a faixa de 31,8% dos setores.
Fontes: banco_de_dados/eda/fatorial_multiversao/camada2_especificacoes.csv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[FIN-41] Eixo: sigilo do analfabetismo — a tabela
O que é. Cada alternativa do eixo "sigilo do analfabetismo", comparada com o IVS proposto.
Para que serve. Mostra o custo de escolher diferente da referência neste eixo.
Como ler. "piso": o setor sigiloso recebe o menor valor possível (um analfabeto); "zero": recebe zero.
O que mostra. Contra o IVS proposto (E0009). Todas equivalentes.
Fontes: banco_de_dados/eda/fatorial_multiversao/camada2_especificacoes.csv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[FIN-42] Eixo: sigilo do analfabetismo — o gráfico
O que é. A % de setores que trocam de faixa em cada alternativa do eixo.
Para que serve. Visualiza quais alternativas mudam o resultado prático do índice.
Como ler. Tracejado: o limite de 10% da regra de equivalência. Barras vermelhas também podem falhar pela correlação, mesmo abaixo do tracejado.
O que mostra. Contra o IVS proposto (E0009). Todas equivalentes.
Fontes: banco_de_dados/eda/fatorial_multiversao/camada2_especificacoes.csv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[FIN-43] Quantas especificações são elegíveis
O que é. Quantas das especificações de cada conjunto passam nos critérios pré-registrados, por normalização.
Para que serve. Mostra se existe alguma combinação de escolhas que satisfaz os critérios fixados antes de rodar.
Como ler. Cada célula conta especificações elegíveis (todas as rotações, pesos e políticas de sigilo daquele conjunto).
O que mostra. 6 de 999 especificações são elegíveis.
Fontes: banco_de_dados/eda/fatorial_multiversao/camada2_especificacoes.csv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[FIN-44] A solução proposta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[FIN-45] A especificação proposta
Fontes: banco_de_dados/eda/fatorial_multiversao/camada3_finalistas.csv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[FIN-46] Matriz de cargas: sem rotação e Varimax
O que é. As cargas antes da rotação e depois da rotação Varimax, que mantém os fatores independentes.
Para que serve. As cargas definem a que dimensão cada indicador pertence e, por isso, como o peso da dimensão se reparte entre os indicadores.
Como ler. Carga perto de 1: o indicador pertence ao fator. F1 é a dimensão em que a renda carrega mais (socioeconômica); F2, a outra (saneamento).
Fontes: banco_de_dados/eda/fatorial_multiversao/camada3_finalistas.csv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[FIN-47] Matriz de cargas: promax padrão e estrutura
O que é. As cargas da rotação promax, que deixa os fatores se correlacionarem. "Padrão": o efeito próprio do fator (coeficiente de regressão); "estrutura": a correlação entre indicador e fator.
Para que serve. As cargas definem a que dimensão cada indicador pertence e, por isso, como o peso da dimensão se reparte entre os indicadores.
Como ler. Carga perto de 1: o indicador pertence ao fator. F1 é a dimensão em que a renda carrega mais (socioeconômica); F2, a outra (saneamento).
Fontes: banco_de_dados/eda/fatorial_multiversao/camada3_finalistas.csv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[FIN-48] As cargas em mapa de calor
O que é. A matriz padrão da promax em cores.
Para que serve. Mostra de relance a que fator cada indicador pertence.
Como ler. Vermelho forte numa coluna: o indicador pertence àquele fator. Células claras nas duas colunas: o indicador não pertence bem a nenhum.
Fontes: banco_de_dados/eda/fatorial_multiversao/camada3_finalistas.csv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[FIN-49] Comunalidades, MSA e correlação entre fatores
O que é. A comunalidade e o MSA de cada indicador na solução proposta.
Para que serve. Comunalidade baixa: o indicador fica quase fora da estrutura e recebe pouco peso. Φ (fi) é a correlação entre os dois fatores.
Como ler. Critérios: comunalidade ≥ 0,30, MSA ≥ 0,50. Φ perto de 1 seria um fator só; perto de 0, dois fatores independentes.
O que mostra. Φ = 0,695. Variância comum explicada pelos 2 fatores: 48,6%. Horn retém 2; Kaiser, 2.
Fontes: banco_de_dados/eda/fatorial_multiversao/camada3_finalistas.csv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[FIN-50] O plano fatorial
O que é. Cada ponto é um indicador, posicionado pelas cargas nos dois fatores.
Para que serve. Mostra os grupos que a fatorial encontrou: indicadores próximos medem a mesma coisa.
Como ler. Perto do eixo horizontal e à direita: dimensão socioeconômica. Perto do eixo vertical e no alto: saneamento. Perto da origem: o indicador quase não se explica pelos fatores.
Fontes: banco_de_dados/eda/fatorial_multiversao/camada3_finalistas.csv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[FIN-51] Os pesos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[FIN-52] O peso da dimensão socioeconômica em cada método
O que é. Quanto do índice vem da dimensão socioeconômica em cada forma de calcular os pesos.
Para que serve. O IVS de 2012 usa 60% socioeconômica e 40% saneamento. Aqui se vê quanto os dados dariam.
Como ler. Métodos "ss" e "comunalidades" saem dos dados; "50_50" e "60_40" são fixos. Sem rotação há um fator só, que leva tudo.
O que mostra. Pelos dados (promax, soma dos quadrados da padrão): 68,2%; pela estrutura: 56,6%. A divisão entre as dimensões é decisão (P1), não resultado.
Fontes: banco_de_dados/eda/fatorial_multiversao/camada2_especificacoes.csv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[FIN-53] O peso de cada indicador: a tabela
O que é. A fração do IVS proposto que vem de cada indicador, e o menor e o maior valor ao tirar um município.
Para que serve. É o que define o índice: IVS = soma de cada indicador padronizado vezes o seu peso.
Como ler. Dentro de cada dimensão, o peso se reparte pelo quadrado das cargas: quem carrega mais pesa mais.
O que mostra. O maior peso é o de Renda média do responsável (28,9%).
Fontes: banco_de_dados/eda/fatorial_multiversao/camada3_finalistas.csv;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[FIN-54] O peso de cada indicador: o gráfico
O que é. Os mesmos pesos em barras.
Para que serve. Mostra quem domina o índice.
Como ler. Barras longas: indicadores que mais determinam a posição de um setor no IVS.
O que mostra. O maior peso é o de Renda média do responsável (28,9%).
Fontes: banco_de_dados/eda/fatorial_multiversao/camada3_finalistas.csv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[FIN-55] A estabilidade: um município de fora por vez
O que é. Os pesos recalculados 70 vezes, cada vez sem um dos municípios.
Para que serve. É a medida de incerteza adotada: os municípios são a unidade de replicação do ELSI. Reamostrar setores subestimava a incerteza.
Como ler. Caixa estreita: peso estável. Pontos isolados: um município que, sozinho, muda o peso.
O que mostra. O peso socioeconômico fica em 60,0% por construção (pesos fixos); dentro das dimensões, o peso que mais varia é o de Água inadequada (3,4% a 24,2%).
Fontes: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[FIN-56] A replicação entre metades dos municípios
O que é. Os municípios foram divididos em duas metades sorteadas dentro de cada região; a fatorial rodou em cada metade e as cargas foram comparadas pelo coeficiente de Tucker.
Para que serve. Testa se a estrutura é dos dados ou de um grupo de municípios: se as duas metades dão as mesmas cargas, o resultado se replica.
Como ler. Tucker de 0,95 ou mais: fator replicado; de 0,85 a 0,94: parecido; abaixo: diferente.
O que mostra. Na proposta: 0,967 (F1) e 0,924 (F2).
Fontes: banco_de_dados/eda/fatorial_multiversao/camada3_replicacao.csv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[FIN-57] O IVS proposto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[FIN-58] A distribuição do IVS proposto
O que é. O histograma do IVS proposto: cada setor recebe um valor de 0 a 1.
Para que serve. É o índice final. 0 = o setor menos vulnerável da sua cidade em todos os indicadores; 1 = o mais.
Como ler. Como a régua é de cada município, o valor diz onde o setor fica dentro da própria cidade.
O que mostra. 87.544 setores com IVS (média 0,405, mediana 0,392); 16.564 ficam sem, por dado ausente num componente.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[FIN-59] As quatro faixas: setores e moradores
O que é. Quantos setores e quantos moradores ficam em cada faixa de vulnerabilidade.
Para que serve. As faixas são o produto que vai para os mapas e para a gestão: onde priorizar.
Como ler. Regra do IVS-BH 2012, dentro de cada município: médio = média ± 0,5 desvio-padrão; elevado até +1,5; acima, muito elevado; abaixo de −0,5, baixo.
O que mostra. 10.413.850 moradores em setores de faixa elevada ou muito elevada.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[FIN-60] As quatro faixas: o gráfico
O que é. Os moradores de cada faixa, em milhões.
Para que serve. Dá a dimensão da população em cada nível.
Como ler. Regra do IVS-BH 2012, dentro de cada município: médio = média ± 0,5 desvio-padrão; elevado até +1,5; acima, muito elevado; abaixo de −0,5, baixo.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[FIN-61] Faixas pela regra do IVS-BH e por quartis
O que é. O cruzamento das duas regras de faixa: a do IVS-BH (pelo desvio-padrão) e os quartis (25% dos setores de cada município em cada faixa).
Para que serve. Mostra o quanto a regra de corte muda a classificação — uma decisão a mais para a orientadora.
Como ler. Na diagonal, as duas regras concordam. "Indef.": municípios com menos de 4 setores, sem quartis.
O que mostra. As duas regras concordam em 52,9% dos setores.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[FIN-62] Os idosos em cada faixa: a tabela
O que é. Quantas pessoas de 60 anos ou mais moram em cada faixa e a proporção média de idosos nos setores.
Para que serve. É a pergunta do ELSI-Brasil: onde moram os idosos em relação à vulnerabilidade do território.
Como ler. "% dos idosos": distribuição dos idosos entre as faixas. "% idosos no setor": quanto da população dos setores daquela faixa é idosa.
O que mostra. 1.143.893 idosos moram em setores de faixa elevada ou muito elevada (15,6% dos idosos com IVS).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[FIN-63] Os idosos em cada faixa: o gráfico
O que é. A proporção média de pessoas de 60 anos ou mais nos setores de cada faixa.
Para que serve. Mostra se os setores mais vulneráveis são mais jovens ou mais envelhecidos.
Como ler. Barras que caem para a direita: os setores mais vulneráveis têm menos idosos proporcionalmente.
O que mostra. 1.143.893 idosos moram em setores de faixa elevada ou muito elevada (15,6% dos idosos com IVS).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[FIN-64] As favelas em cada faixa
O que é. A proporção de setores de favela e comunidade urbana em cada faixa.
Para que serve. Checagem de bom senso: favela deveria se concentrar nas faixas mais altas.
Como ler. Descrição, não validação: o critério de favela do IBGE já incorpora moradia, então a relação é parcialmente circular.
O que mostra. Na faixa muito elevada, 58,0% dos setores são de favela; na baixa, 4,9%.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[FIN-65] Por região: a distribuição das faixas
O que é. A parte dos setores em cada faixa, para cada grupo.
Para que serve. Mostra se algum grupo concentra setores nas faixas altas.
Como ler. Com a régua do município, a faixa diz onde o setor fica dentro da própria cidade. Comparar grupos descreve a forma das distribuições internas, não o nível de vulnerabilidade de cada região.
O que mostra. % de setores em faixa muito elevada: Norte 8,2%; Nordeste 7,5%; Sudeste 6,1%; Sul 5,5%; Centro-Oeste 7,8%.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[FIN-66] Por porte do município: a distribuição das faixas
O que é. A parte dos setores em cada faixa, para cada grupo.
Para que serve. Mostra se algum grupo concentra setores nas faixas altas.
Como ler. Com a régua do município, a faixa diz onde o setor fica dentro da própria cidade. Comparar grupos descreve a forma das distribuições internas, não o nível de vulnerabilidade de cada região.
O que mostra. % de setores em faixa muito elevada: até 100 mil 5,7%; 100 a 500 mil 6,6%; mais de 500 mil 6,7%.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[FIN-67] Os municípios com mais moradores em faixa elevada ou muito elevada
O que é. Os 15 municípios com mais moradores em setores de faixa elevada ou muito elevada.
Para que serve. Mostra onde está, em números absolutos, a população que o índice aponta como mais vulnerável.
Como ler. São contagens, não médias: a média de um índice padronizado por município não se compara entre cidades.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[FIN-68] Os finalistas lado a lado
O que é. A proposta e, para cada eixo que muda o resultado, a alternativa de maior impacto.
Para que serve. São as especificações que a orientadora precisa ver para decidir.
Como ler. "Troca": % de setores que mudam de faixa em relação à proposta.
Fontes: banco_de_dados/eda/fatorial_multiversao/camada3_finalistas.csv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[FIN-69] Sensibilidade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[FIN-70] Concordância entre os finalistas
O que é. A correlação de Spearman entre os IVS de cada par de finalistas.
Para que serve. Mostra o quanto as alternativas ordenam os setores do mesmo jeito.
Como ler. 1 = mesma ordem dos setores; quanto mais claro, mais as duas versões discordam.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[FIN-71] A AUC contra favela, como descrição
O que é. A AUC mede o quanto o índice separa os setores de favela dos demais: 0,5 = acaso; 1 = separação perfeita.
Para que serve. Era usada como validação nas versões anteriores. Fica aqui como descrição.
Como ler. Compare com a renda sozinha: se ela separa tão bem quanto o índice, a AUC mede o conteúdo socioeconômico, não a qualidade dos pesos.
Fontes: banco_de_dados/eda/fatorial_multiversao/camada3_finalistas.csv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[FIN-72] Quem são os setores que cada finalista perde
O que é. Os setores do recorte que ficam sem IVS em cada finalista, por dado ausente num componente.
Para que serve. Perder setores é decisão: se os perdidos são diferentes dos mantidos, o índice fica enviesado.
Como ler. Compare a renda mediana dos perdidos com a dos mantidos.
O que mostra. Nos setores mantidos pela proposta, a renda mediana é R$ 2.313,87.
Fontes: banco_de_dados/eda/fatorial_multiversao/camada3_perfil_perdidos.csv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[FIN-73] As decisões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[FIN-74] As cinco decisões
O que é. As cinco escolhas que definem o índice, o que a análise mostrou sobre cada uma e o padrão usado na proposta.
Para que serve. É o que a orientadora precisa decidir. Com as escolhas dela, o motor recalcula o IVS.
Como ler. P1: se o IVS é um construto único (reflexivo), uma soma de facetas (formativo) ou um híbrido (a fatorial pesa dentro de cada dimensão; a divisão entre dimensões é escolha).
Fontes: banco_de_dados/eda/fatorial_multiversao/camada2_efeito_eixo.csv; docs/prompts/estado_fatorial_multiversao_2026-10.md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[FIN-75] Limitações
Fontes: relatorio_parcial_raic/Relatorio_Parcial_RAIC_2026_Pedro_corrigido.pdf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[FIN-76] Próximos passos
Fontes: docs/prompts/prompt_fatorial_multiversao_2026-10.md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[FIN-77] Apêndice: correlação dentro dos municípios
Fontes: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[FIN-78] Apêndice: cargas dos 12, no conjunto
Fontes: banco_de_dados/eda/fatorial_multiversao/camada1_12_global_cargas.csv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[FIN-79] Apêndice: cargas dos 12, dentro dos municípios
Fontes: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[FIN-80] Apêndice: o IVS proposto nos 70 municípios (1 de 2)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[FIN-81] Apêndice: o IVS proposto nos 70 municípios (2 de 2)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ÍNDICE DE VULNERABILIDADE À SAÚDE · CENSO 2022 · 70 MUNICÍPIOS DO ELSI-BRASIL</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Análise fatorial multiversão e o IVS proposto</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A análise exploratória dos 12 indicadores, as matrizes, as 4.017 combinações, os métodos pedidos pela orientadora e o IVS calculado com as escolhas padrão — como proposta, com o custo de cada alternativa.</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Pedro Dias Soares · Fiocruz Minas — IRR · out/2026</a:t>
            </a:r>
            <a:endParaRPr lang="en-US" sz="110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esta apresentação está organizada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ponto de partida.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relatório parcial corrigido, os 12 indicadores e o que as análises anteriores ensinaram.</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A análise exploratória.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Os 12 indicadores lado a lado: distribuição, zeros, dados faltantes, regiões e o gradiente de renda. Cada indicador tem, além disso, uma apresentação própria com a exploração completa.</a:t>
            </a:r>
            <a:endParaRPr lang="en-US" sz="1350" dirty="0"/>
          </a:p>
        </p:txBody>
      </p:sp>
      <p:sp>
        <p:nvSpPr>
          <p:cNvPr id="7" name="Text 5"/>
          <p:cNvSpPr/>
          <p:nvPr/>
        </p:nvSpPr>
        <p:spPr>
          <a:xfrm>
            <a:off x="777240" y="2204847"/>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A análise fatorial.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As matrizes de correlação, o número de fatores, as 4.017 combinações de indicadores e os métodos de rotação, peso, normalização e sigilo.</a:t>
            </a:r>
            <a:endParaRPr lang="en-US" sz="1350" dirty="0"/>
          </a:p>
        </p:txBody>
      </p:sp>
      <p:sp>
        <p:nvSpPr>
          <p:cNvPr id="8" name="Text 6"/>
          <p:cNvSpPr/>
          <p:nvPr/>
        </p:nvSpPr>
        <p:spPr>
          <a:xfrm>
            <a:off x="777240" y="2760345"/>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IVS proposto.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solução com as escolhas padrão: cargas, pesos, estabilidade, faixas e quem mora em cada faixa.</a:t>
            </a:r>
            <a:endParaRPr lang="en-US" sz="1350" dirty="0"/>
          </a:p>
        </p:txBody>
      </p:sp>
      <p:sp>
        <p:nvSpPr>
          <p:cNvPr id="9" name="Text 7"/>
          <p:cNvSpPr/>
          <p:nvPr/>
        </p:nvSpPr>
        <p:spPr>
          <a:xfrm>
            <a:off x="777240" y="3092958"/>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As decisões.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que fica para a orientadora decidir, com o custo de cada opção.</a:t>
            </a:r>
            <a:endParaRPr lang="en-US" sz="1350" dirty="0"/>
          </a:p>
        </p:txBody>
      </p:sp>
      <p:sp>
        <p:nvSpPr>
          <p:cNvPr id="10"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Ponto de partida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relatório parcial corrigido e os 12 indicadores do Quadro 2.</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base é a do relatório parcial</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4572000"/>
                <a:gridCol w="14630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Etapa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dos 70 municípios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109.032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 moradores e sem sigilo (Dados_sig = OK)</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106.281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Urbanos — recorte de análise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104.108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funil que leva dos setores censitários dos 70 municípios ao recorte desta análise.</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Garante que todos os números partem da mesma base da seção VI do relatório parcial.</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Saem os setores sem moradores, os que o IBGE escondeu por sigilo e os rurais (o índice é intraurbano).</a:t>
            </a:r>
            <a:endParaRPr lang="en-US" sz="1150" dirty="0"/>
          </a:p>
        </p:txBody>
      </p:sp>
      <p:sp>
        <p:nvSpPr>
          <p:cNvPr id="10" name="Text 7"/>
          <p:cNvSpPr/>
          <p:nvPr/>
        </p:nvSpPr>
        <p:spPr>
          <a:xfrm>
            <a:off x="7726680" y="295668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recorte tem 104.108 setores urbanos.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12 indicadores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731520"/>
                <a:gridCol w="2651760"/>
                <a:gridCol w="1371600"/>
                <a:gridCol w="731520"/>
                <a:gridCol w="100584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Código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Dimensão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IVS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AGU</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104.108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104.107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104.108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104.108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87.556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104.095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PPI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104.106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CAN</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104.067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BAN</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91.912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MNC</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104.108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103.823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103.850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12 indicadores do Quadro 2 do relatório: os 7 do IVS de 2012 e 5 complementares.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código de três letras identifica o indicador em todos os slides e nas 12 apresentações próprias.</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 compõe o IVS de 2012 (Quadro 1). "Setores" = setores com o dado; a diferença para o recorte é sigilo do IBGE.</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as análises anteriores ensinaram</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Grades grandes não decidem.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As grades de 324 e de 108 versões geraram material, não escolha. Aqui cada análise responde a uma das 5 perguntas, e a apresentação termina nas decisões.</a:t>
            </a:r>
            <a:endParaRPr lang="en-US" sz="1350" dirty="0"/>
          </a:p>
        </p:txBody>
      </p:sp>
      <p:sp>
        <p:nvSpPr>
          <p:cNvPr id="6" name="Text 4"/>
          <p:cNvSpPr/>
          <p:nvPr/>
        </p:nvSpPr>
        <p:spPr>
          <a:xfrm>
            <a:off x="777240" y="1872234"/>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A estabilidade não escolhe.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Pesos fixos têm variação zero por construção; a estabilidade é reportada, nunca usada para ordenar.</a:t>
            </a:r>
            <a:endParaRPr lang="en-US" sz="1350" dirty="0"/>
          </a:p>
        </p:txBody>
      </p:sp>
      <p:sp>
        <p:nvSpPr>
          <p:cNvPr id="7" name="Text 5"/>
          <p:cNvSpPr/>
          <p:nvPr/>
        </p:nvSpPr>
        <p:spPr>
          <a:xfrm>
            <a:off x="777240" y="2427732"/>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A AUC contra favela não valida pesos.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No IVS proposto, a AUC é 0,831; a renda sozinha dá 0,882. Ela aparece só como descrição.</a:t>
            </a:r>
            <a:endParaRPr lang="en-US" sz="1350" dirty="0"/>
          </a:p>
        </p:txBody>
      </p:sp>
      <p:sp>
        <p:nvSpPr>
          <p:cNvPr id="8" name="Text 6"/>
          <p:cNvSpPr/>
          <p:nvPr/>
        </p:nvSpPr>
        <p:spPr>
          <a:xfrm>
            <a:off x="777240" y="298323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A incerteza é por município.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Deixar um município de fora e comparar metades de municípios, não reamostrar setores.</a:t>
            </a:r>
            <a:endParaRPr lang="en-US" sz="1350" dirty="0"/>
          </a:p>
        </p:txBody>
      </p:sp>
      <p:sp>
        <p:nvSpPr>
          <p:cNvPr id="9" name="Text 7"/>
          <p:cNvSpPr/>
          <p:nvPr/>
        </p:nvSpPr>
        <p:spPr>
          <a:xfrm>
            <a:off x="777240" y="3315843"/>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Perder setores é decisão.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Cada versão informa quantos setores perde e quem são eles.</a:t>
            </a:r>
            <a:endParaRPr lang="en-US" sz="1350" dirty="0"/>
          </a:p>
        </p:txBody>
      </p:sp>
      <p:sp>
        <p:nvSpPr>
          <p:cNvPr id="10"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 análise exploratória dos 12</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Os 12 indicadores lado a lado, antes da fatorial. A exploração completa de cada um está na apresentação própria dele.</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Painel descritivo dos 12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195763"/>
                <a:gridCol w="1053966"/>
                <a:gridCol w="1053966"/>
                <a:gridCol w="1053966"/>
                <a:gridCol w="614814"/>
                <a:gridCol w="702644"/>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Média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Mediana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p75</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Assim.</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 zeros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2,71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2,93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R$ 4.185,81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R$ 2.572,39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R$ 4.835,83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21,31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mediana, percentil 75, assimetria e % de setores com zero de cada indicador.</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uma vez quais indicadores se concentram em poucos setores — o que pesa na padronização antes do índice.</a:t>
            </a:r>
            <a:endParaRPr lang="en-US" sz="1150" dirty="0"/>
          </a:p>
        </p:txBody>
      </p:sp>
      <p:sp>
        <p:nvSpPr>
          <p:cNvPr id="9" name="Text 6"/>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Assimetria acima de 1 e muitos zeros: poucos setores concentram o problema. Proporções de 0 a 1; renda em reais; razão de moradores em moradores por domicílio.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a Tabela 1 do relatório parcial, com os 12 indicadores.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12 distribuições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eda_histogramas.png">    </p:cNvPr>
          <p:cNvPicPr>
            <a:picLocks noChangeAspect="1"/>
          </p:cNvPicPr>
          <p:nvPr/>
        </p:nvPicPr>
        <p:blipFill>
          <a:blip r:embed="rId1"/>
          <a:stretch>
            <a:fillRect/>
          </a:stretch>
        </p:blipFill>
        <p:spPr>
          <a:xfrm>
            <a:off x="777240" y="1298448"/>
            <a:ext cx="6675120" cy="4220372"/>
          </a:xfrm>
          <a:prstGeom prst="rect">
            <a:avLst/>
          </a:prstGeom>
        </p:spPr>
      </p:pic>
      <p:sp>
        <p:nvSpPr>
          <p:cNvPr id="6" name="Text 3"/>
          <p:cNvSpPr/>
          <p:nvPr/>
        </p:nvSpPr>
        <p:spPr>
          <a:xfrm>
            <a:off x="777240" y="557368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 — </a:t>
            </a:r>
            <a:pPr indent="0" marL="0">
              <a:buNone/>
            </a:pPr>
            <a:r>
              <a:rPr lang="en-US" sz="1050" dirty="0">
                <a:solidFill>
                  <a:srgbClr val="56534C"/>
                </a:solidFill>
                <a:latin typeface="Cambria" pitchFamily="34" charset="0"/>
                <a:ea typeface="Cambria" pitchFamily="34" charset="-122"/>
                <a:cs typeface="Cambria" pitchFamily="34" charset="-120"/>
              </a:rPr>
              <a:t>Histograma de cada indicador nos setores urbanos dos 70 municípios.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histograma por indicador: quantos setores caem em cada faixa de valor.</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a forma das distribuições lado a lado, antes de pôr todas na mesma régua do índice.</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painel tem a sua escala. Barra alta no começo e cauda à direita: muitos setores com valor baixo e poucos com valor alto. Distribuição em sino: valores espalhados em torno do meio.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Zeros e dados faltantes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eda_zeros_faltantes.png">    </p:cNvPr>
          <p:cNvPicPr>
            <a:picLocks noChangeAspect="1"/>
          </p:cNvPicPr>
          <p:nvPr/>
        </p:nvPicPr>
        <p:blipFill>
          <a:blip r:embed="rId1"/>
          <a:stretch>
            <a:fillRect/>
          </a:stretch>
        </p:blipFill>
        <p:spPr>
          <a:xfrm>
            <a:off x="777240" y="1298448"/>
            <a:ext cx="6675120" cy="3385848"/>
          </a:xfrm>
          <a:prstGeom prst="rect">
            <a:avLst/>
          </a:prstGeom>
        </p:spPr>
      </p:pic>
      <p:sp>
        <p:nvSpPr>
          <p:cNvPr id="6" name="Text 3"/>
          <p:cNvSpPr/>
          <p:nvPr/>
        </p:nvSpPr>
        <p:spPr>
          <a:xfrm>
            <a:off x="777240" y="4739160"/>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 — </a:t>
            </a:r>
            <a:pPr indent="0" marL="0">
              <a:buNone/>
            </a:pPr>
            <a:r>
              <a:rPr lang="en-US" sz="1050" dirty="0">
                <a:solidFill>
                  <a:srgbClr val="56534C"/>
                </a:solidFill>
                <a:latin typeface="Cambria" pitchFamily="34" charset="0"/>
                <a:ea typeface="Cambria" pitchFamily="34" charset="-122"/>
                <a:cs typeface="Cambria" pitchFamily="34" charset="-120"/>
              </a:rPr>
              <a:t>Proporção de setores com valor zero e sem o dado, por indicador.</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indicador, quantos setores têm valor zero (verde) e quantos não têm o dado (vermelho).</a:t>
            </a:r>
            <a:endParaRPr lang="en-US" sz="1150" dirty="0"/>
          </a:p>
        </p:txBody>
      </p:sp>
      <p:sp>
        <p:nvSpPr>
          <p:cNvPr id="9" name="Text 6"/>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São os dois problemas que o relatório parcial apontou antes do índice: zeros demais distorcem a régua de 0 a 1; dado faltante por sigilo não é aleatório.</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verde longa: o indicador é zero na maioria dos setores. Barra vermelha: setores perdidos se o indicador entrar no índice.</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Mais zeros: Sem banheiro (95,6%). Mais faltantes: Analfabetismo (15 anos ou mais) (15,9%).</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12 por região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eda_regiao.png">    </p:cNvPr>
          <p:cNvPicPr>
            <a:picLocks noChangeAspect="1"/>
          </p:cNvPicPr>
          <p:nvPr/>
        </p:nvPicPr>
        <p:blipFill>
          <a:blip r:embed="rId1"/>
          <a:stretch>
            <a:fillRect/>
          </a:stretch>
        </p:blipFill>
        <p:spPr>
          <a:xfrm>
            <a:off x="2528856" y="1298448"/>
            <a:ext cx="3171888"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3 — </a:t>
            </a:r>
            <a:pPr indent="0" marL="0">
              <a:buNone/>
            </a:pPr>
            <a:r>
              <a:rPr lang="en-US" sz="1050" dirty="0">
                <a:solidFill>
                  <a:srgbClr val="56534C"/>
                </a:solidFill>
                <a:latin typeface="Cambria" pitchFamily="34" charset="0"/>
                <a:ea typeface="Cambria" pitchFamily="34" charset="-122"/>
                <a:cs typeface="Cambria" pitchFamily="34" charset="-120"/>
              </a:rPr>
              <a:t>Média de cada indicador em cada região dividida pela média dos 70 municípios (1 = igual à média).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célula é a média do indicador na região dividida pela média geral.</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Põe na mesma escala indicadores com unidades diferentes e mostra quais têm padrão regional forte.</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 = igual à média dos 70 municípios; 2 = o dobro; 0,5 = a metade. Laranja: acima da média; roxo: abaixo.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contraste: Sem banheiro no Norte (4,8 vezes a média).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gradiente de renda dos 12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eda_gradiente.png">    </p:cNvPr>
          <p:cNvPicPr>
            <a:picLocks noChangeAspect="1"/>
          </p:cNvPicPr>
          <p:nvPr/>
        </p:nvPicPr>
        <p:blipFill>
          <a:blip r:embed="rId1"/>
          <a:stretch>
            <a:fillRect/>
          </a:stretch>
        </p:blipFill>
        <p:spPr>
          <a:xfrm>
            <a:off x="777240" y="1298448"/>
            <a:ext cx="6675120" cy="4227032"/>
          </a:xfrm>
          <a:prstGeom prst="rect">
            <a:avLst/>
          </a:prstGeom>
        </p:spPr>
      </p:pic>
      <p:sp>
        <p:nvSpPr>
          <p:cNvPr id="6" name="Text 3"/>
          <p:cNvSpPr/>
          <p:nvPr/>
        </p:nvSpPr>
        <p:spPr>
          <a:xfrm>
            <a:off x="777240" y="558034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4 — </a:t>
            </a:r>
            <a:pPr indent="0" marL="0">
              <a:buNone/>
            </a:pPr>
            <a:r>
              <a:rPr lang="en-US" sz="1050" dirty="0">
                <a:solidFill>
                  <a:srgbClr val="56534C"/>
                </a:solidFill>
                <a:latin typeface="Cambria" pitchFamily="34" charset="0"/>
                <a:ea typeface="Cambria" pitchFamily="34" charset="-122"/>
                <a:cs typeface="Cambria" pitchFamily="34" charset="-120"/>
              </a:rPr>
              <a:t>Média de cada indicador por decil de renda do setor no município (1 = mais pobre); a renda, por decil de cor/raça.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de cada município divididos em 10 grupos pela renda; cada painel mostra a média do indicador em cada grupo.</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quais indicadores seguem o gradiente social dentro das cidades — candidatos naturais à dimensão socioeconômica — e quais não seguem.</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Linha que desce da esquerda para a direita: o indicador é pior nos setores mais pobres. Linha plana: independe da renda.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3</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As matrizes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Correlação no conjunto e dentro dos municípios, anti-imagem e adequação.</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no conjunto dos setores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correlacao_global.png">    </p:cNvPr>
          <p:cNvPicPr>
            <a:picLocks noChangeAspect="1"/>
          </p:cNvPicPr>
          <p:nvPr/>
        </p:nvPicPr>
        <p:blipFill>
          <a:blip r:embed="rId1"/>
          <a:stretch>
            <a:fillRect/>
          </a:stretch>
        </p:blipFill>
        <p:spPr>
          <a:xfrm>
            <a:off x="1799885" y="1298448"/>
            <a:ext cx="4629830"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5 — </a:t>
            </a:r>
            <a:pPr indent="0" marL="0">
              <a:buNone/>
            </a:pPr>
            <a:r>
              <a:rPr lang="en-US" sz="1050" dirty="0">
                <a:solidFill>
                  <a:srgbClr val="56534C"/>
                </a:solidFill>
                <a:latin typeface="Cambria" pitchFamily="34" charset="0"/>
                <a:ea typeface="Cambria" pitchFamily="34" charset="-122"/>
                <a:cs typeface="Cambria" pitchFamily="34" charset="-120"/>
              </a:rPr>
              <a:t>Spearman entre os 12 indicadores, 75.629 setores com todos os dados.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matriz de correlação de Spearman entre os 12 indicadores, comparando todos os setores dos 70 municípios.</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a matéria-prima da análise fatorial: a fatorial procura grupos de indicadores muito correlacionados entre si (os fatores).</a:t>
            </a:r>
            <a:endParaRPr lang="en-US" sz="1150" dirty="0"/>
          </a:p>
        </p:txBody>
      </p:sp>
      <p:sp>
        <p:nvSpPr>
          <p:cNvPr id="10" name="Text 7"/>
          <p:cNvSpPr/>
          <p:nvPr/>
        </p:nvSpPr>
        <p:spPr>
          <a:xfrm>
            <a:off x="7726680" y="2657094"/>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célula é a correlação entre o indicador da linha e o da coluna, de −1 a 1. Vermelho forte: andam juntos; azul: andam em sentidos opostos; branco: sem relação. A diagonal é sempre 1. A renda entra invertida, para que "mais" seja sempre "mais vulnerável".</a:t>
            </a:r>
            <a:endParaRPr lang="en-US" sz="1150" dirty="0"/>
          </a:p>
        </p:txBody>
      </p:sp>
      <p:sp>
        <p:nvSpPr>
          <p:cNvPr id="11" name="Text 8"/>
          <p:cNvSpPr/>
          <p:nvPr/>
        </p:nvSpPr>
        <p:spPr>
          <a:xfrm>
            <a:off x="7726680" y="371614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par mais forte é Preta, parda ou indígena × Renda média do responsável (0,79).</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dentro dos municípios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correlacao_municipal.png">    </p:cNvPr>
          <p:cNvPicPr>
            <a:picLocks noChangeAspect="1"/>
          </p:cNvPicPr>
          <p:nvPr/>
        </p:nvPicPr>
        <p:blipFill>
          <a:blip r:embed="rId1"/>
          <a:stretch>
            <a:fillRect/>
          </a:stretch>
        </p:blipFill>
        <p:spPr>
          <a:xfrm>
            <a:off x="1799885" y="1298448"/>
            <a:ext cx="4629830"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6 — </a:t>
            </a:r>
            <a:pPr indent="0" marL="0">
              <a:buNone/>
            </a:pPr>
            <a:r>
              <a:rPr lang="en-US" sz="1050" dirty="0">
                <a:solidFill>
                  <a:srgbClr val="56534C"/>
                </a:solidFill>
                <a:latin typeface="Cambria" pitchFamily="34" charset="0"/>
                <a:ea typeface="Cambria" pitchFamily="34" charset="-122"/>
                <a:cs typeface="Cambria" pitchFamily="34" charset="-120"/>
              </a:rPr>
              <a:t>Correlação entre as posições (postos) de cada setor dentro do próprio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mesma matriz, mas cada setor é comparado só com os setores da própria cidade (posição de 0 a 1 dentro do município).</a:t>
            </a:r>
            <a:endParaRPr lang="en-US" sz="1150" dirty="0"/>
          </a:p>
        </p:txBody>
      </p:sp>
      <p:sp>
        <p:nvSpPr>
          <p:cNvPr id="9" name="Text 6"/>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é intraurbano. Esta matriz mostra a estrutura que sobra quando se tiram as diferenças entre cidades — a que importa para achar desigualdade dentro delas.</a:t>
            </a:r>
            <a:endParaRPr lang="en-US" sz="1150" dirty="0"/>
          </a:p>
        </p:txBody>
      </p:sp>
      <p:sp>
        <p:nvSpPr>
          <p:cNvPr id="10" name="Text 7"/>
          <p:cNvSpPr/>
          <p:nvPr/>
        </p:nvSpPr>
        <p:spPr>
          <a:xfrm>
            <a:off x="7726680" y="284695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célula é a correlação entre o indicador da linha e o da coluna, de −1 a 1. Vermelho forte: andam juntos; azul: andam em sentidos opostos; branco: sem relação. A diagonal é sempre 1. A renda entra invertida, para que "mais" seja sempre "mais vulnerável".</a:t>
            </a:r>
            <a:endParaRPr lang="en-US" sz="1150" dirty="0"/>
          </a:p>
        </p:txBody>
      </p:sp>
      <p:sp>
        <p:nvSpPr>
          <p:cNvPr id="11" name="Text 8"/>
          <p:cNvSpPr/>
          <p:nvPr/>
        </p:nvSpPr>
        <p:spPr>
          <a:xfrm>
            <a:off x="7726680" y="390601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par mais forte é Preta, parda ou indígena × Renda média do responsável (0,84).</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muda ao comparar dentro da cidade: o mapa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correlacao_diferenca.png">    </p:cNvPr>
          <p:cNvPicPr>
            <a:picLocks noChangeAspect="1"/>
          </p:cNvPicPr>
          <p:nvPr/>
        </p:nvPicPr>
        <p:blipFill>
          <a:blip r:embed="rId1"/>
          <a:stretch>
            <a:fillRect/>
          </a:stretch>
        </p:blipFill>
        <p:spPr>
          <a:xfrm>
            <a:off x="1799885" y="1298448"/>
            <a:ext cx="4629830"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7 — </a:t>
            </a:r>
            <a:pPr indent="0" marL="0">
              <a:buNone/>
            </a:pPr>
            <a:r>
              <a:rPr lang="en-US" sz="1050" dirty="0">
                <a:solidFill>
                  <a:srgbClr val="56534C"/>
                </a:solidFill>
                <a:latin typeface="Cambria" pitchFamily="34" charset="0"/>
                <a:ea typeface="Cambria" pitchFamily="34" charset="-122"/>
                <a:cs typeface="Cambria" pitchFamily="34" charset="-120"/>
              </a:rPr>
              <a:t>Diferença: correlação dentro dos municípios menos correlação no conjunto.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diferença entre as duas matrizes anteriores, célula a célula.</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quais relações vinham de diferenças entre cidades (somem dentro delas) e quais existem também dentro das cidades.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Azul: a relação enfraquece dentro das cidades — parte dela era diferença entre cidades. Vermelho: fica mais forte dentro delas. Branco: não muda.</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mudança é em Água inadequada × Preta, parda ou indígena: de 0,33 para 0,08.</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muda ao comparar dentro da cidade: os pares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3291840"/>
                <a:gridCol w="1097280"/>
                <a:gridCol w="1005840"/>
                <a:gridCol w="100584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Par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Diferença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 × 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 × 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 × 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 × 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 × 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 × 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 × 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 × 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 × 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 × 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pares de indicadores cuja correlação mais muda entre as duas réguas.</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Aponta onde a escolha da régua (no conjunto ou dentro do município) mais pesa.</a:t>
            </a:r>
            <a:endParaRPr lang="en-US" sz="1150" dirty="0"/>
          </a:p>
        </p:txBody>
      </p:sp>
      <p:sp>
        <p:nvSpPr>
          <p:cNvPr id="9" name="Text 6"/>
          <p:cNvSpPr/>
          <p:nvPr/>
        </p:nvSpPr>
        <p:spPr>
          <a:xfrm>
            <a:off x="7726680" y="227736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Diferença negativa: a relação era, em boa parte, diferença entre cidades.</a:t>
            </a:r>
            <a:endParaRPr lang="en-US" sz="1150" dirty="0"/>
          </a:p>
        </p:txBody>
      </p:sp>
      <p:sp>
        <p:nvSpPr>
          <p:cNvPr id="10" name="Text 7"/>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mudança é em Água inadequada × Preta, parda ou indígena: de 0,33 para 0,08.</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Tabela: correlação no conjunto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10634472" cy="914400"/>
        </p:xfrm>
        <a:graphic>
          <a:graphicData uri="http://schemas.openxmlformats.org/drawingml/2006/table">
            <a:tbl>
              <a:tblPr/>
              <a:tblGrid>
                <a:gridCol w="2011680"/>
                <a:gridCol w="718566"/>
                <a:gridCol w="718566"/>
                <a:gridCol w="718566"/>
                <a:gridCol w="718566"/>
                <a:gridCol w="718566"/>
                <a:gridCol w="718566"/>
                <a:gridCol w="718566"/>
                <a:gridCol w="718566"/>
                <a:gridCol w="718566"/>
                <a:gridCol w="718566"/>
                <a:gridCol w="718566"/>
                <a:gridCol w="718566"/>
              </a:tblGrid>
              <a:tr h="274320">
                <a:tc>
                  <a:txBody>
                    <a:bodyPr/>
                    <a:lstStyle/>
                    <a:p>
                      <a:pPr indent="0" marL="0">
                        <a:buNone/>
                      </a:pP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AGU</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ESG</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LIX</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MOR</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ANA</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REN</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PPI</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CAN</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BAN</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MNC</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IDO</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CRI</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Água inadequada</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Esgoto inadequado</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Lixo inadequado</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Razão de moradores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Analfabetismo (15 anos ou mais)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Renda média do responsável</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Preta, parda ou indígena</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Sem água canalizada</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Sem banheiro</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Moradia não convencional</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Idosos (60 anos ou mais)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Crianças (0 a 14 anos)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Matriz anti-imagem e o MSA de cada indicador</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antiimagem.png">    </p:cNvPr>
          <p:cNvPicPr>
            <a:picLocks noChangeAspect="1"/>
          </p:cNvPicPr>
          <p:nvPr/>
        </p:nvPicPr>
        <p:blipFill>
          <a:blip r:embed="rId1"/>
          <a:stretch>
            <a:fillRect/>
          </a:stretch>
        </p:blipFill>
        <p:spPr>
          <a:xfrm>
            <a:off x="1799885" y="1298448"/>
            <a:ext cx="4629830"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8 — </a:t>
            </a:r>
            <a:pPr indent="0" marL="0">
              <a:buNone/>
            </a:pPr>
            <a:r>
              <a:rPr lang="en-US" sz="1050" dirty="0">
                <a:solidFill>
                  <a:srgbClr val="56534C"/>
                </a:solidFill>
                <a:latin typeface="Cambria" pitchFamily="34" charset="0"/>
                <a:ea typeface="Cambria" pitchFamily="34" charset="-122"/>
                <a:cs typeface="Cambria" pitchFamily="34" charset="-120"/>
              </a:rPr>
              <a:t>Fora da diagonal, correlações parciais com sinal trocado; na diagonal, o MSA.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 da diagonal, a correlação entre dois indicadores depois de descontar o efeito de todos os outros (correlação parcial). Na diagonal, o MSA de cada indicador.</a:t>
            </a:r>
            <a:endParaRPr lang="en-US" sz="1150" dirty="0"/>
          </a:p>
        </p:txBody>
      </p:sp>
      <p:sp>
        <p:nvSpPr>
          <p:cNvPr id="9" name="Text 6"/>
          <p:cNvSpPr/>
          <p:nvPr/>
        </p:nvSpPr>
        <p:spPr>
          <a:xfrm>
            <a:off x="7726680" y="216763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Numa boa fatorial, o que dois indicadores têm em comum vem dos fatores, então as parciais devem ser pequenas. O MSA resume isso por indicador.</a:t>
            </a:r>
            <a:endParaRPr lang="en-US" sz="1150" dirty="0"/>
          </a:p>
        </p:txBody>
      </p:sp>
      <p:sp>
        <p:nvSpPr>
          <p:cNvPr id="10" name="Text 7"/>
          <p:cNvSpPr/>
          <p:nvPr/>
        </p:nvSpPr>
        <p:spPr>
          <a:xfrm>
            <a:off x="7726680" y="303682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 da diagonal: quanto mais branco, melhor. Na diagonal: MSA de 0 a 1; abaixo de 0,50 o indicador não combina com os outros.</a:t>
            </a:r>
            <a:endParaRPr lang="en-US" sz="1150" dirty="0"/>
          </a:p>
        </p:txBody>
      </p:sp>
      <p:sp>
        <p:nvSpPr>
          <p:cNvPr id="11" name="Text 8"/>
          <p:cNvSpPr/>
          <p:nvPr/>
        </p:nvSpPr>
        <p:spPr>
          <a:xfrm>
            <a:off x="7726680" y="371614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MSA de 0,73 (Moradia não convencional) a 0,92 (Esgoto inadequado).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Adequação da matriz: KMO, Bartlett e determinante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011680"/>
                <a:gridCol w="822960"/>
                <a:gridCol w="640080"/>
                <a:gridCol w="914400"/>
                <a:gridCol w="914400"/>
                <a:gridCol w="640080"/>
                <a:gridCol w="64008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KMO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Bartlett</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Determ.</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Kaiser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Horn</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 no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75.629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0,826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386.540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0,00603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 dentro dos municípios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75.629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368.921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0,00761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núcleo (7), no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0,783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235.110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0,06817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núcleo (7), dentro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0,799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226.520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0,07520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Três testes de se a matriz serve para uma análise fatorial, e duas regras para o número de fatores.</a:t>
            </a:r>
            <a:endParaRPr lang="en-US" sz="1150" dirty="0"/>
          </a:p>
        </p:txBody>
      </p:sp>
      <p:sp>
        <p:nvSpPr>
          <p:cNvPr id="8" name="Text 5"/>
          <p:cNvSpPr/>
          <p:nvPr/>
        </p:nvSpPr>
        <p:spPr>
          <a:xfrm>
            <a:off x="7726680" y="1977771"/>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quanto da correlação é compartilhada (0 a 1). Bartlett: testa se a matriz difere de "nenhuma correlação". Determinante perto de zero: indicadores redundantes. Kaiser e Horn: quantos fatores reter.</a:t>
            </a:r>
            <a:endParaRPr lang="en-US" sz="1150" dirty="0"/>
          </a:p>
        </p:txBody>
      </p:sp>
      <p:sp>
        <p:nvSpPr>
          <p:cNvPr id="9" name="Text 6"/>
          <p:cNvSpPr/>
          <p:nvPr/>
        </p:nvSpPr>
        <p:spPr>
          <a:xfrm>
            <a:off x="7726680" y="303682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acima de 0,70 é adequado. Com dezenas de milhares de setores o Bartlett sempre rejeita, então pouco informa. Kaiser conta autovalores acima de 1; Horn, os acima do esperado em dados aleatórios.</a:t>
            </a:r>
            <a:endParaRPr lang="en-US" sz="1150" dirty="0"/>
          </a:p>
        </p:txBody>
      </p:sp>
      <p:sp>
        <p:nvSpPr>
          <p:cNvPr id="10" name="Text 7"/>
          <p:cNvSpPr/>
          <p:nvPr/>
        </p:nvSpPr>
        <p:spPr>
          <a:xfrm>
            <a:off x="7726680" y="390601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dos 12 no conjunto: 0,826; dentro dos municípios: 0,833.</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4</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Quantos fatores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Autovalores, scree plot, Kaiser e a análise paralela de Horn.</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Autovalores: os 12 indicadores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scree_12.png">    </p:cNvPr>
          <p:cNvPicPr>
            <a:picLocks noChangeAspect="1"/>
          </p:cNvPicPr>
          <p:nvPr/>
        </p:nvPicPr>
        <p:blipFill>
          <a:blip r:embed="rId1"/>
          <a:stretch>
            <a:fillRect/>
          </a:stretch>
        </p:blipFill>
        <p:spPr>
          <a:xfrm>
            <a:off x="777240" y="1298448"/>
            <a:ext cx="6675120" cy="3034633"/>
          </a:xfrm>
          <a:prstGeom prst="rect">
            <a:avLst/>
          </a:prstGeom>
        </p:spPr>
      </p:pic>
      <p:sp>
        <p:nvSpPr>
          <p:cNvPr id="6" name="Text 3"/>
          <p:cNvSpPr/>
          <p:nvPr/>
        </p:nvSpPr>
        <p:spPr>
          <a:xfrm>
            <a:off x="777240" y="438794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9 — </a:t>
            </a:r>
            <a:pPr indent="0" marL="0">
              <a:buNone/>
            </a:pPr>
            <a:r>
              <a:rPr lang="en-US" sz="1050" dirty="0">
                <a:solidFill>
                  <a:srgbClr val="56534C"/>
                </a:solidFill>
                <a:latin typeface="Cambria" pitchFamily="34" charset="0"/>
                <a:ea typeface="Cambria" pitchFamily="34" charset="-122"/>
                <a:cs typeface="Cambria" pitchFamily="34" charset="-120"/>
              </a:rPr>
              <a:t>Autovalores observados (verde) e médios de dados aleatórios (vermelho); linha cinza em 1.</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scree plot: cada ponto é um componente, e a altura (autovalor) diz quanta variação ele resume.</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Decide quantos fatores a análise deve ter. Poucos fatores resumem muitos indicadores; fatores demais só reproduzem ruído.</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Kaiser: retém os pontos acima da linha 1. Horn: retém os pontos verdes acima da linha vermelha — o que dados sem estrutura nenhuma produziriam. O "cotovelo" da curva também sugere o número.</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Horn retém 3 fatores no conjunto e 3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Autovalores: o núcleo (os 7 do Quadro 1)</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scree_nucleo.png">    </p:cNvPr>
          <p:cNvPicPr>
            <a:picLocks noChangeAspect="1"/>
          </p:cNvPicPr>
          <p:nvPr/>
        </p:nvPicPr>
        <p:blipFill>
          <a:blip r:embed="rId1"/>
          <a:stretch>
            <a:fillRect/>
          </a:stretch>
        </p:blipFill>
        <p:spPr>
          <a:xfrm>
            <a:off x="777240" y="1298448"/>
            <a:ext cx="6675120" cy="2996128"/>
          </a:xfrm>
          <a:prstGeom prst="rect">
            <a:avLst/>
          </a:prstGeom>
        </p:spPr>
      </p:pic>
      <p:sp>
        <p:nvSpPr>
          <p:cNvPr id="6" name="Text 3"/>
          <p:cNvSpPr/>
          <p:nvPr/>
        </p:nvSpPr>
        <p:spPr>
          <a:xfrm>
            <a:off x="777240" y="4349440"/>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10 — </a:t>
            </a:r>
            <a:pPr indent="0" marL="0">
              <a:buNone/>
            </a:pPr>
            <a:r>
              <a:rPr lang="en-US" sz="1050" dirty="0">
                <a:solidFill>
                  <a:srgbClr val="56534C"/>
                </a:solidFill>
                <a:latin typeface="Cambria" pitchFamily="34" charset="0"/>
                <a:ea typeface="Cambria" pitchFamily="34" charset="-122"/>
                <a:cs typeface="Cambria" pitchFamily="34" charset="-120"/>
              </a:rPr>
              <a:t>Autovalores observados (verde) e médios de dados aleatórios (vermelho); linha cinza em 1.</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scree plot: cada ponto é um componente, e a altura (autovalor) diz quanta variação ele resume.</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Decide quantos fatores a análise deve ter. Poucos fatores resumem muitos indicadores; fatores demais só reproduzem ruído.</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Kaiser: retém os pontos acima da linha 1. Horn: retém os pontos verdes acima da linha vermelha — o que dados sem estrutura nenhuma produziriam. O "cotovelo" da curva também sugere o número.</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Horn retém 2 fatores no conjunto e 2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Quantos fatores as 4.017 combinações pedem</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5669280" cy="914400"/>
        </p:xfrm>
        <a:graphic>
          <a:graphicData uri="http://schemas.openxmlformats.org/drawingml/2006/table">
            <a:tbl>
              <a:tblPr/>
              <a:tblGrid>
                <a:gridCol w="1828800"/>
                <a:gridCol w="1645920"/>
                <a:gridCol w="21945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Fatores (Horn)</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No 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Dentro dos municípios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1.629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1.142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2.023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2.352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365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Em quantas combinações de indicadores o critério de Horn indica 1, 2 ou 3 fatores.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Diz se a estrutura em duas dimensões (saneamento e socioeconômica), herdada do IVS de 2012, aparece nos dados ou é imposta.</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linha é um número de fatores; as colunas contam combinações.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Dois fatores em 54,5% das combinações (duas réguas somadas).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5</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As 4.017 combinações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Todas as combinações de 3 ou mais dos 12 indicadores, cada uma com uma fatorial.</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as 4.017 combinações foram rodadas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pedido.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Versões com e sem cada um dos 12 indicadores: todas as combinações de 3 a 12 deles.</a:t>
            </a:r>
            <a:endParaRPr lang="en-US" sz="1350" dirty="0"/>
          </a:p>
        </p:txBody>
      </p:sp>
      <p:sp>
        <p:nvSpPr>
          <p:cNvPr id="6" name="Text 4"/>
          <p:cNvSpPr/>
          <p:nvPr/>
        </p:nvSpPr>
        <p:spPr>
          <a:xfrm>
            <a:off x="777240" y="164934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quê.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4.017 combinações, cada uma em duas réguas: posição do setor no conjunto e dentro do município (8.034 fatoriais).</a:t>
            </a:r>
            <a:endParaRPr lang="en-US" sz="1350" dirty="0"/>
          </a:p>
        </p:txBody>
      </p:sp>
      <p:sp>
        <p:nvSpPr>
          <p:cNvPr id="7" name="Text 5"/>
          <p:cNvSpPr/>
          <p:nvPr/>
        </p:nvSpPr>
        <p:spPr>
          <a:xfrm>
            <a:off x="777240" y="1981962"/>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Como.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Eixo principal, 2 fatores, rotação promax; cada combinação nos setores que têm todos os indicadores dela.</a:t>
            </a:r>
            <a:endParaRPr lang="en-US" sz="1350" dirty="0"/>
          </a:p>
        </p:txBody>
      </p:sp>
      <p:sp>
        <p:nvSpPr>
          <p:cNvPr id="8" name="Text 6"/>
          <p:cNvSpPr/>
          <p:nvPr/>
        </p:nvSpPr>
        <p:spPr>
          <a:xfrm>
            <a:off x="777240" y="2314575"/>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Critério.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Elegível com KMO ≥ 0,70, MSA ≥ 0,50, comunalidade ≥ 0,30 e carga ≥ 0,40, fixado antes de rodar.</a:t>
            </a:r>
            <a:endParaRPr lang="en-US" sz="1350" dirty="0"/>
          </a:p>
        </p:txBody>
      </p:sp>
      <p:sp>
        <p:nvSpPr>
          <p:cNvPr id="9" name="Text 7"/>
          <p:cNvSpPr/>
          <p:nvPr/>
        </p:nvSpPr>
        <p:spPr>
          <a:xfrm>
            <a:off x="777240" y="2647188"/>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Resultado.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Elegíveis: 3,3% no conjunto e 0,6% dentro dos municípios.</a:t>
            </a:r>
            <a:endParaRPr lang="en-US" sz="1350" dirty="0"/>
          </a:p>
        </p:txBody>
      </p:sp>
      <p:sp>
        <p:nvSpPr>
          <p:cNvPr id="10" name="Text 8"/>
          <p:cNvSpPr/>
          <p:nvPr/>
        </p:nvSpPr>
        <p:spPr>
          <a:xfrm>
            <a:off x="777240" y="2979801"/>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Como resumir 4.017.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Em vez de ler combinação por combinação, comparam-se os pares que só diferem por um indicador: isso isola o efeito de cada um (próximos slides).</a:t>
            </a:r>
            <a:endParaRPr lang="en-US" sz="1350" dirty="0"/>
          </a:p>
        </p:txBody>
      </p:sp>
      <p:sp>
        <p:nvSpPr>
          <p:cNvPr id="11"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efeito de cada indicador, no conjunto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2377440"/>
                <a:gridCol w="822960"/>
                <a:gridCol w="1280160"/>
                <a:gridCol w="9144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Δ KMO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 perdidos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Derruba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h² mediana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11.591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0,762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15.947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0,392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0,394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0,757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indicador, o que muda quando ele entra numa combinação (mediana sobre os pares).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Resume as 4.017 combinações numa linha por indicador: quem melhora a fatorial, quem custa setores e quem a faz deixar de passar nos critérios.</a:t>
            </a:r>
            <a:endParaRPr lang="en-US" sz="1150" dirty="0"/>
          </a:p>
        </p:txBody>
      </p:sp>
      <p:sp>
        <p:nvSpPr>
          <p:cNvPr id="9" name="Text 6"/>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Δ KMO positivo: melhora a adequação. "Derruba": % dos pares em que a combinação passava sem ele e deixa de passar com ele. h²: comunalidade mediana dele.</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que mais derruba a elegibilidade é Moradia não convencional (6,8% dos pares).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efeito de cada indicador, dentro dos municípios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2377440"/>
                <a:gridCol w="822960"/>
                <a:gridCol w="1280160"/>
                <a:gridCol w="9144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Δ KMO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 perdidos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Derruba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h² mediana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11.591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0,554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15.947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indicador, o que muda quando ele entra numa combinação (mediana sobre os pares).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Resume as 4.017 combinações numa linha por indicador: quem melhora a fatorial, quem custa setores e quem a faz deixar de passar nos critérios.</a:t>
            </a:r>
            <a:endParaRPr lang="en-US" sz="1150" dirty="0"/>
          </a:p>
        </p:txBody>
      </p:sp>
      <p:sp>
        <p:nvSpPr>
          <p:cNvPr id="9" name="Text 6"/>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Δ KMO positivo: melhora a adequação. "Derruba": % dos pares em que a combinação passava sem ele e deixa de passar com ele. h²: comunalidade mediana dele.</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que mais derruba a elegibilidade é Água inadequada (1,2% dos pares).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comunalidade de cada indicador nas combinações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efeito_h2.png">    </p:cNvPr>
          <p:cNvPicPr>
            <a:picLocks noChangeAspect="1"/>
          </p:cNvPicPr>
          <p:nvPr/>
        </p:nvPicPr>
        <p:blipFill>
          <a:blip r:embed="rId1"/>
          <a:stretch>
            <a:fillRect/>
          </a:stretch>
        </p:blipFill>
        <p:spPr>
          <a:xfrm>
            <a:off x="1289751" y="1298448"/>
            <a:ext cx="5650097"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11 — </a:t>
            </a:r>
            <a:pPr indent="0" marL="0">
              <a:buNone/>
            </a:pPr>
            <a:r>
              <a:rPr lang="en-US" sz="1050" dirty="0">
                <a:solidFill>
                  <a:srgbClr val="56534C"/>
                </a:solidFill>
                <a:latin typeface="Cambria" pitchFamily="34" charset="0"/>
                <a:ea typeface="Cambria" pitchFamily="34" charset="-122"/>
                <a:cs typeface="Cambria" pitchFamily="34" charset="-120"/>
              </a:rPr>
              <a:t>Comunalidade mediana de cada indicador nas combinações em que entra; tracejado: critério 0,30.</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típica de cada indicador: a parte da variação dele que os fatores explicam.</a:t>
            </a:r>
            <a:endParaRPr lang="en-US" sz="1150" dirty="0"/>
          </a:p>
        </p:txBody>
      </p:sp>
      <p:sp>
        <p:nvSpPr>
          <p:cNvPr id="9" name="Text 6"/>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o critério que mais elimina combinações. Indicador com comunalidade baixa não compartilha muito com os outros: ou mede outra coisa, ou é ruído.</a:t>
            </a:r>
            <a:endParaRPr lang="en-US" sz="1150" dirty="0"/>
          </a:p>
        </p:txBody>
      </p:sp>
      <p:sp>
        <p:nvSpPr>
          <p:cNvPr id="10" name="Text 7"/>
          <p:cNvSpPr/>
          <p:nvPr/>
        </p:nvSpPr>
        <p:spPr>
          <a:xfrm>
            <a:off x="7726680" y="265709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acima do tracejado passam no critério. Verde: no conjunto; vermelho: dentro dos municípios.</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Abaixo do critério dentro dos municípios: Água inadequada, Esgoto inadequado, Lixo inadequado, Sem banheiro, Moradia não convencional.</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Elegibilidade pelo número de indicadores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elegibilidade_p.png">    </p:cNvPr>
          <p:cNvPicPr>
            <a:picLocks noChangeAspect="1"/>
          </p:cNvPicPr>
          <p:nvPr/>
        </p:nvPicPr>
        <p:blipFill>
          <a:blip r:embed="rId1"/>
          <a:stretch>
            <a:fillRect/>
          </a:stretch>
        </p:blipFill>
        <p:spPr>
          <a:xfrm>
            <a:off x="777240" y="1298448"/>
            <a:ext cx="6675120" cy="4164694"/>
          </a:xfrm>
          <a:prstGeom prst="rect">
            <a:avLst/>
          </a:prstGeom>
        </p:spPr>
      </p:pic>
      <p:sp>
        <p:nvSpPr>
          <p:cNvPr id="6" name="Text 3"/>
          <p:cNvSpPr/>
          <p:nvPr/>
        </p:nvSpPr>
        <p:spPr>
          <a:xfrm>
            <a:off x="777240" y="5518006"/>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12 — </a:t>
            </a:r>
            <a:pPr indent="0" marL="0">
              <a:buNone/>
            </a:pPr>
            <a:r>
              <a:rPr lang="en-US" sz="1050" dirty="0">
                <a:solidFill>
                  <a:srgbClr val="56534C"/>
                </a:solidFill>
                <a:latin typeface="Cambria" pitchFamily="34" charset="0"/>
                <a:ea typeface="Cambria" pitchFamily="34" charset="-122"/>
                <a:cs typeface="Cambria" pitchFamily="34" charset="-120"/>
              </a:rPr>
              <a:t>Proporção de combinações elegíveis por tamanho.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combinações que passa nos critérios, para cada número de indicadores.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é mais fácil ter uma fatorial adequada com poucos ou com muitos indicadores.</a:t>
            </a:r>
            <a:endParaRPr lang="en-US" sz="1150" dirty="0"/>
          </a:p>
        </p:txBody>
      </p:sp>
      <p:sp>
        <p:nvSpPr>
          <p:cNvPr id="10" name="Text 7"/>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Curva que cai para a direita: quanto mais indicadores, mais chance de entrar um que não combina com os outros.</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 3 indicadores, 0,5% elegíveis no conjunto; com 12, 0,0%.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combinações elegíveis de maior KMO (dentro dos municípios)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3291840"/>
                <a:gridCol w="1005840"/>
                <a:gridCol w="731520"/>
                <a:gridCol w="15544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KMO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h² mínima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 · ANA · REN · PPI · CRI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87.386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0,518 (CRI)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 · ANA · REN · PPI · CRI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87.387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0,477 (MOR)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 · ANA · REN · PPI · IDO · CRI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87.222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0,326 (MOR)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 · REN · PPI · CRI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87.387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0,513 (CRI)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 · REN · PPI · IDO · CRI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87.222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0,640 (ANA)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 · REN · PPI · IDO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87.368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0,490 (IDO)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 · ANA · REN · PPI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87.545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0,343 (MOR)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 · ANA · PPI · IDO · CRI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87.232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0,762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0,332 (MOR)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 · ANA · PPI · CRI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87.397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0,520 (ANA)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 · ANA · REN · IDO · CRI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87.223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0,326 (MOR)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10 combinações elegíveis com a maior adequação (KMO), comparando dentro dos municípios.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quais conjuntos de indicadores formam a estrutura mais limpa — informação para a decisão P2.</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códigos de três letras estão no slide "Os 12 indicadores". h² mínima: a menor comunalidade e de quem é.</a:t>
            </a:r>
            <a:endParaRPr lang="en-US" sz="1150" dirty="0"/>
          </a:p>
        </p:txBody>
      </p:sp>
      <p:sp>
        <p:nvSpPr>
          <p:cNvPr id="10" name="Text 7"/>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Lista descritiva, não escolha: KMO alto não diz se o conjunto é o certo para o índice.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6</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Os métodos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Rotação × peso, normalização, sigilo e conjunto: o que muda o IVS e o que não muda.</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os métodos foram comparados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A referência.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IVS proposto: os 7 do Quadro 1, rotação promax, pesos 60/40, régua municipal, analfabetismo sigiloso deixado ausente.</a:t>
            </a:r>
            <a:endParaRPr lang="en-US" sz="1350" dirty="0"/>
          </a:p>
        </p:txBody>
      </p:sp>
      <p:sp>
        <p:nvSpPr>
          <p:cNvPr id="6" name="Text 4"/>
          <p:cNvSpPr/>
          <p:nvPr/>
        </p:nvSpPr>
        <p:spPr>
          <a:xfrm>
            <a:off x="777240" y="1872234"/>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Um eixo por vez.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Cada alternativa muda só uma dessas escolhas e é comparada com a referência, nos setores que as duas têm.</a:t>
            </a:r>
            <a:endParaRPr lang="en-US" sz="1350" dirty="0"/>
          </a:p>
        </p:txBody>
      </p:sp>
      <p:sp>
        <p:nvSpPr>
          <p:cNvPr id="7" name="Text 5"/>
          <p:cNvSpPr/>
          <p:nvPr/>
        </p:nvSpPr>
        <p:spPr>
          <a:xfrm>
            <a:off x="777240" y="2204847"/>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Duas medidas.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correlação de Spearman dentro de cada município (a ordem dos setores muda?) e a % de setores que trocam de faixa de vulnerabilidade (o resultado prático muda?).</a:t>
            </a:r>
            <a:endParaRPr lang="en-US" sz="1350" dirty="0"/>
          </a:p>
        </p:txBody>
      </p:sp>
      <p:sp>
        <p:nvSpPr>
          <p:cNvPr id="8" name="Text 6"/>
          <p:cNvSpPr/>
          <p:nvPr/>
        </p:nvSpPr>
        <p:spPr>
          <a:xfrm>
            <a:off x="777240" y="2760345"/>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A regra, fixada antes.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Equivalente = Spearman ≥ 0,95 e menos de 10% de troca. Se todas as alternativas de um eixo forem equivalentes, a escolha "tanto faz"; senão, é decisão da orientadora.</a:t>
            </a:r>
            <a:endParaRPr lang="en-US" sz="1350" dirty="0"/>
          </a:p>
        </p:txBody>
      </p:sp>
      <p:sp>
        <p:nvSpPr>
          <p:cNvPr id="9" name="Text 7"/>
          <p:cNvSpPr/>
          <p:nvPr/>
        </p:nvSpPr>
        <p:spPr>
          <a:xfrm>
            <a:off x="777240" y="3315843"/>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Total.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999 especificações: 13 conjuntos × 9 métodos de rotação e peso × 3 normalizações, mais o eixo do sigilo.</a:t>
            </a:r>
            <a:endParaRPr lang="en-US" sz="1350" dirty="0"/>
          </a:p>
        </p:txBody>
      </p:sp>
      <p:sp>
        <p:nvSpPr>
          <p:cNvPr id="10"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veredito de cada eixo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377440"/>
                <a:gridCol w="914400"/>
                <a:gridCol w="914400"/>
                <a:gridCol w="137160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Eixo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Alternativas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Equivalentes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Veredito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 troca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Conjunto de indicadores (núcleo ± 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decisão necessária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36,1%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Normalização (régua)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decisão necessária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Rotação e método de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decisão necessária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Sigilo do analfabetismo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tanto faz</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eixo de escolha, quantas alternativas dão o mesmo resultado que a referência.</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Separa as escolhas que mudam o IVS das que não mudam — as primeiras vão para a orientadora.</a:t>
            </a:r>
            <a:endParaRPr lang="en-US" sz="1150" dirty="0"/>
          </a:p>
        </p:txBody>
      </p:sp>
      <p:sp>
        <p:nvSpPr>
          <p:cNvPr id="9" name="Text 6"/>
          <p:cNvSpPr/>
          <p:nvPr/>
        </p:nvSpPr>
        <p:spPr>
          <a:xfrm>
            <a:off x="7726680" y="227736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troca": a % de setores que mudam de faixa na alternativa mais distante.</a:t>
            </a:r>
            <a:endParaRPr lang="en-US" sz="1150" dirty="0"/>
          </a:p>
        </p:txBody>
      </p:sp>
      <p:sp>
        <p:nvSpPr>
          <p:cNvPr id="10" name="Text 7"/>
          <p:cNvSpPr/>
          <p:nvPr/>
        </p:nvSpPr>
        <p:spPr>
          <a:xfrm>
            <a:off x="7726680" y="276682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 de 4 eixos dão "tanto faz".</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Eixo: conjunto de indicadores (núcleo ± 1) —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2194560"/>
                <a:gridCol w="1005840"/>
                <a:gridCol w="914400"/>
                <a:gridCol w="1188720"/>
                <a:gridCol w="118872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Alternativa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Spearman</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Troca de faixa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Peso socioec.</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nucleo+MNC</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87.544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nucleo-MOR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87.544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nucleo+BAN</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75.954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nucleo+IDO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87.367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nucleo-LIX</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87.544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nucleo+CAN</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87.511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0,979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14,4%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nucleo-PPI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87.545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104.092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nucleo+CRI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87.386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nucleo-REN</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87.554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nucleo-AGU</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87.544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nucleo-ESG</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87.545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0,794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36,1%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alternativa do eixo "conjunto de indicadores (núcleo ± 1)", comparada com o IVS proposto.</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custo de escolher diferente da referência neste eixo.</a:t>
            </a:r>
            <a:endParaRPr lang="en-US" sz="1150" dirty="0"/>
          </a:p>
        </p:txBody>
      </p:sp>
      <p:sp>
        <p:nvSpPr>
          <p:cNvPr id="9" name="Text 6"/>
          <p:cNvSpPr/>
          <p:nvPr/>
        </p:nvSpPr>
        <p:spPr>
          <a:xfrm>
            <a:off x="7726680" y="227736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"nucleo-X": o núcleo sem o indicador X; "nucleo+X": com X a mais.</a:t>
            </a:r>
            <a:endParaRPr lang="en-US" sz="1150" dirty="0"/>
          </a:p>
        </p:txBody>
      </p:sp>
      <p:sp>
        <p:nvSpPr>
          <p:cNvPr id="10" name="Text 7"/>
          <p:cNvSpPr/>
          <p:nvPr/>
        </p:nvSpPr>
        <p:spPr>
          <a:xfrm>
            <a:off x="7726680" y="276682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Contra o IVS proposto (E0009). 7 de 12 não equivalentes; a mais distante troca a faixa de 36,1% dos setores.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Eixo: conjunto de indicadores (núcleo ± 1) —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eixo_conjunto.png">    </p:cNvPr>
          <p:cNvPicPr>
            <a:picLocks noChangeAspect="1"/>
          </p:cNvPicPr>
          <p:nvPr/>
        </p:nvPicPr>
        <p:blipFill>
          <a:blip r:embed="rId1"/>
          <a:stretch>
            <a:fillRect/>
          </a:stretch>
        </p:blipFill>
        <p:spPr>
          <a:xfrm>
            <a:off x="777240" y="1298448"/>
            <a:ext cx="6675120" cy="3859580"/>
          </a:xfrm>
          <a:prstGeom prst="rect">
            <a:avLst/>
          </a:prstGeom>
        </p:spPr>
      </p:pic>
      <p:sp>
        <p:nvSpPr>
          <p:cNvPr id="6" name="Text 3"/>
          <p:cNvSpPr/>
          <p:nvPr/>
        </p:nvSpPr>
        <p:spPr>
          <a:xfrm>
            <a:off x="777240" y="521289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13 — </a:t>
            </a:r>
            <a:pPr indent="0" marL="0">
              <a:buNone/>
            </a:pPr>
            <a:r>
              <a:rPr lang="en-US" sz="1050" dirty="0">
                <a:solidFill>
                  <a:srgbClr val="56534C"/>
                </a:solidFill>
                <a:latin typeface="Cambria" pitchFamily="34" charset="0"/>
                <a:ea typeface="Cambria" pitchFamily="34" charset="-122"/>
                <a:cs typeface="Cambria" pitchFamily="34" charset="-120"/>
              </a:rPr>
              <a:t>Verde: equivalente à referência; vermelho: não equivalente.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 de setores que trocam de faixa em cada alternativa do eixo.</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Visualiza quais alternativas mudam o resultado prático do índice.</a:t>
            </a:r>
            <a:endParaRPr lang="en-US" sz="1150" dirty="0"/>
          </a:p>
        </p:txBody>
      </p:sp>
      <p:sp>
        <p:nvSpPr>
          <p:cNvPr id="10" name="Text 7"/>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Tracejado: o limite de 10% da regra de equivalência. Barras vermelhas também podem falhar pela correlação, mesmo abaixo do tracejado.</a:t>
            </a:r>
            <a:endParaRPr lang="en-US" sz="1150" dirty="0"/>
          </a:p>
        </p:txBody>
      </p:sp>
      <p:sp>
        <p:nvSpPr>
          <p:cNvPr id="11" name="Text 8"/>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Contra o IVS proposto (E0009). 7 de 12 não equivalentes; a mais distante troca a faixa de 36,1% dos setores.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Eixo: rotação e método de peso —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2194560"/>
                <a:gridCol w="1005840"/>
                <a:gridCol w="914400"/>
                <a:gridCol w="1188720"/>
                <a:gridCol w="11887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Alternativa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Spearman</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Troca de faixa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 socioec.</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 · ss_estrutura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0,999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56,6%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varimax · 60_40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0,998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 · ss_padrao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68,2%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 · 50_50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varimax · 50_50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0,993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 · comunalidades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0,988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varimax · ss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0,986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11,6%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73,7%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sem_rotacao · unico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0,965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alternativa do eixo "rotação e método de peso", comparada com o IVS proposto.</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custo de escolher diferente da referência neste eixo.</a:t>
            </a:r>
            <a:endParaRPr lang="en-US" sz="1150" dirty="0"/>
          </a:p>
        </p:txBody>
      </p:sp>
      <p:sp>
        <p:nvSpPr>
          <p:cNvPr id="9" name="Text 6"/>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"ss": pesos pela soma dos quadrados das cargas (dos dados); "50_50" e "60_40": divisão fixa entre as dimensões; "comunalidades": pela variação explicada de cada indicador.</a:t>
            </a:r>
            <a:endParaRPr lang="en-US" sz="1150" dirty="0"/>
          </a:p>
        </p:txBody>
      </p:sp>
      <p:sp>
        <p:nvSpPr>
          <p:cNvPr id="10" name="Text 7"/>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Contra o IVS proposto (E0009). 3 de 8 não equivalentes; a mais distante troca a faixa de 18,5% dos setores.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Eixo: rotação e método de peso —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eixo_rotacao_peso.png">    </p:cNvPr>
          <p:cNvPicPr>
            <a:picLocks noChangeAspect="1"/>
          </p:cNvPicPr>
          <p:nvPr/>
        </p:nvPicPr>
        <p:blipFill>
          <a:blip r:embed="rId1"/>
          <a:stretch>
            <a:fillRect/>
          </a:stretch>
        </p:blipFill>
        <p:spPr>
          <a:xfrm>
            <a:off x="777240" y="1298448"/>
            <a:ext cx="6675120" cy="3509031"/>
          </a:xfrm>
          <a:prstGeom prst="rect">
            <a:avLst/>
          </a:prstGeom>
        </p:spPr>
      </p:pic>
      <p:sp>
        <p:nvSpPr>
          <p:cNvPr id="6" name="Text 3"/>
          <p:cNvSpPr/>
          <p:nvPr/>
        </p:nvSpPr>
        <p:spPr>
          <a:xfrm>
            <a:off x="777240" y="486234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14 — </a:t>
            </a:r>
            <a:pPr indent="0" marL="0">
              <a:buNone/>
            </a:pPr>
            <a:r>
              <a:rPr lang="en-US" sz="1050" dirty="0">
                <a:solidFill>
                  <a:srgbClr val="56534C"/>
                </a:solidFill>
                <a:latin typeface="Cambria" pitchFamily="34" charset="0"/>
                <a:ea typeface="Cambria" pitchFamily="34" charset="-122"/>
                <a:cs typeface="Cambria" pitchFamily="34" charset="-120"/>
              </a:rPr>
              <a:t>Verde: equivalente à referência; vermelho: não equivalente.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 de setores que trocam de faixa em cada alternativa do eixo.</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Visualiza quais alternativas mudam o resultado prático do índice.</a:t>
            </a:r>
            <a:endParaRPr lang="en-US" sz="1150" dirty="0"/>
          </a:p>
        </p:txBody>
      </p:sp>
      <p:sp>
        <p:nvSpPr>
          <p:cNvPr id="10" name="Text 7"/>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Tracejado: o limite de 10% da regra de equivalência. Barras vermelhas também podem falhar pela correlação, mesmo abaixo do tracejado.</a:t>
            </a:r>
            <a:endParaRPr lang="en-US" sz="1150" dirty="0"/>
          </a:p>
        </p:txBody>
      </p:sp>
      <p:sp>
        <p:nvSpPr>
          <p:cNvPr id="11" name="Text 8"/>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Contra o IVS proposto (E0009). 3 de 8 não equivalentes; a mais distante troca a faixa de 18,5% dos setores.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Eixo: normalização (régua) —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2194560"/>
                <a:gridCol w="1005840"/>
                <a:gridCol w="914400"/>
                <a:gridCol w="1188720"/>
                <a:gridCol w="11887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Alternativa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Spearman</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Troca de faixa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 socioec.</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global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0,969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postos_municipal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0,942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alternativa do eixo "normalização (régua)", comparada com o IVS proposto.</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custo de escolher diferente da referência neste eixo.</a:t>
            </a:r>
            <a:endParaRPr lang="en-US" sz="1150" dirty="0"/>
          </a:p>
        </p:txBody>
      </p:sp>
      <p:sp>
        <p:nvSpPr>
          <p:cNvPr id="9" name="Text 6"/>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"municipal": de 0 a 1 dentro de cada município; "global": de 0 a 1 nos 70 juntos; "postos_municipal": posição do setor no município, o que trata zeros e assimetria.</a:t>
            </a:r>
            <a:endParaRPr lang="en-US" sz="1150" dirty="0"/>
          </a:p>
        </p:txBody>
      </p:sp>
      <p:sp>
        <p:nvSpPr>
          <p:cNvPr id="10" name="Text 7"/>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Contra o IVS proposto (E0009). 1 de 2 não equivalentes; a mais distante troca a faixa de 31,8% dos setores.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Eixo: normalização (régua) —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eixo_normalizacao.png">    </p:cNvPr>
          <p:cNvPicPr>
            <a:picLocks noChangeAspect="1"/>
          </p:cNvPicPr>
          <p:nvPr/>
        </p:nvPicPr>
        <p:blipFill>
          <a:blip r:embed="rId1"/>
          <a:stretch>
            <a:fillRect/>
          </a:stretch>
        </p:blipFill>
        <p:spPr>
          <a:xfrm>
            <a:off x="777240" y="1298448"/>
            <a:ext cx="6675120" cy="3713441"/>
          </a:xfrm>
          <a:prstGeom prst="rect">
            <a:avLst/>
          </a:prstGeom>
        </p:spPr>
      </p:pic>
      <p:sp>
        <p:nvSpPr>
          <p:cNvPr id="6" name="Text 3"/>
          <p:cNvSpPr/>
          <p:nvPr/>
        </p:nvSpPr>
        <p:spPr>
          <a:xfrm>
            <a:off x="777240" y="506675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15 — </a:t>
            </a:r>
            <a:pPr indent="0" marL="0">
              <a:buNone/>
            </a:pPr>
            <a:r>
              <a:rPr lang="en-US" sz="1050" dirty="0">
                <a:solidFill>
                  <a:srgbClr val="56534C"/>
                </a:solidFill>
                <a:latin typeface="Cambria" pitchFamily="34" charset="0"/>
                <a:ea typeface="Cambria" pitchFamily="34" charset="-122"/>
                <a:cs typeface="Cambria" pitchFamily="34" charset="-120"/>
              </a:rPr>
              <a:t>Verde: equivalente à referência; vermelho: não equivalente.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 de setores que trocam de faixa em cada alternativa do eixo.</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Visualiza quais alternativas mudam o resultado prático do índice.</a:t>
            </a:r>
            <a:endParaRPr lang="en-US" sz="1150" dirty="0"/>
          </a:p>
        </p:txBody>
      </p:sp>
      <p:sp>
        <p:nvSpPr>
          <p:cNvPr id="10" name="Text 7"/>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Tracejado: o limite de 10% da regra de equivalência. Barras vermelhas também podem falhar pela correlação, mesmo abaixo do tracejado.</a:t>
            </a:r>
            <a:endParaRPr lang="en-US" sz="1150" dirty="0"/>
          </a:p>
        </p:txBody>
      </p:sp>
      <p:sp>
        <p:nvSpPr>
          <p:cNvPr id="11" name="Text 8"/>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Contra o IVS proposto (E0009). 1 de 2 não equivalentes; a mais distante troca a faixa de 31,8% dos setores.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Eixo: sigilo do analfabetismo —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2194560"/>
                <a:gridCol w="1005840"/>
                <a:gridCol w="914400"/>
                <a:gridCol w="1188720"/>
                <a:gridCol w="11887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Alternativa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Spearman</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Troca de faixa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 socioec.</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piso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104.092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0,999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zero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104.092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0,998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alternativa do eixo "sigilo do analfabetismo", comparada com o IVS proposto.</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custo de escolher diferente da referência neste eixo.</a:t>
            </a:r>
            <a:endParaRPr lang="en-US" sz="1150" dirty="0"/>
          </a:p>
        </p:txBody>
      </p:sp>
      <p:sp>
        <p:nvSpPr>
          <p:cNvPr id="9" name="Text 6"/>
          <p:cNvSpPr/>
          <p:nvPr/>
        </p:nvSpPr>
        <p:spPr>
          <a:xfrm>
            <a:off x="7726680" y="227736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"piso": o setor sigiloso recebe o menor valor possível (um analfabeto); "zero": recebe zero.</a:t>
            </a:r>
            <a:endParaRPr lang="en-US" sz="1150" dirty="0"/>
          </a:p>
        </p:txBody>
      </p:sp>
      <p:sp>
        <p:nvSpPr>
          <p:cNvPr id="10" name="Text 7"/>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Contra o IVS proposto (E0009). Todas equivalentes.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Eixo: sigilo do analfabetismo —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eixo_sigilo.png">    </p:cNvPr>
          <p:cNvPicPr>
            <a:picLocks noChangeAspect="1"/>
          </p:cNvPicPr>
          <p:nvPr/>
        </p:nvPicPr>
        <p:blipFill>
          <a:blip r:embed="rId1"/>
          <a:stretch>
            <a:fillRect/>
          </a:stretch>
        </p:blipFill>
        <p:spPr>
          <a:xfrm>
            <a:off x="777240" y="1298448"/>
            <a:ext cx="6675120" cy="4171040"/>
          </a:xfrm>
          <a:prstGeom prst="rect">
            <a:avLst/>
          </a:prstGeom>
        </p:spPr>
      </p:pic>
      <p:sp>
        <p:nvSpPr>
          <p:cNvPr id="6" name="Text 3"/>
          <p:cNvSpPr/>
          <p:nvPr/>
        </p:nvSpPr>
        <p:spPr>
          <a:xfrm>
            <a:off x="777240" y="552435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16 — </a:t>
            </a:r>
            <a:pPr indent="0" marL="0">
              <a:buNone/>
            </a:pPr>
            <a:r>
              <a:rPr lang="en-US" sz="1050" dirty="0">
                <a:solidFill>
                  <a:srgbClr val="56534C"/>
                </a:solidFill>
                <a:latin typeface="Cambria" pitchFamily="34" charset="0"/>
                <a:ea typeface="Cambria" pitchFamily="34" charset="-122"/>
                <a:cs typeface="Cambria" pitchFamily="34" charset="-120"/>
              </a:rPr>
              <a:t>Verde: equivalente à referência; vermelho: não equivalente.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 de setores que trocam de faixa em cada alternativa do eixo.</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Visualiza quais alternativas mudam o resultado prático do índice.</a:t>
            </a:r>
            <a:endParaRPr lang="en-US" sz="1150" dirty="0"/>
          </a:p>
        </p:txBody>
      </p:sp>
      <p:sp>
        <p:nvSpPr>
          <p:cNvPr id="10" name="Text 7"/>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Tracejado: o limite de 10% da regra de equivalência. Barras vermelhas também podem falhar pela correlação, mesmo abaixo do tracejado.</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Contra o IVS proposto (E0009). Todas equivalentes.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Quantas especificações são elegíveis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5760720" cy="914400"/>
        </p:xfrm>
        <a:graphic>
          <a:graphicData uri="http://schemas.openxmlformats.org/drawingml/2006/table">
            <a:tbl>
              <a:tblPr/>
              <a:tblGrid>
                <a:gridCol w="2194560"/>
                <a:gridCol w="1188720"/>
                <a:gridCol w="1188720"/>
                <a:gridCol w="118872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Municipal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Global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Postos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nucleo+BAN</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nucleo+CAN</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nucleo+CRI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nucleo+IDO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nucleo+MNC</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nucleo-AGU</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nucleo-ESG</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nucleo-LIX</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nucleo-MOR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nucleo-PPI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nucleo-REN</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Quantas das especificações de cada conjunto passam nos critérios pré-registrados, por normalização.</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existe alguma combinação de escolhas que satisfaz os critérios fixados antes de rodar.</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célula conta especificações elegíveis (todas as rotações, pesos e políticas de sigilo daquele conjunto).</a:t>
            </a:r>
            <a:endParaRPr lang="en-US" sz="1150" dirty="0"/>
          </a:p>
        </p:txBody>
      </p:sp>
      <p:sp>
        <p:nvSpPr>
          <p:cNvPr id="10" name="Text 7"/>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6 de 999 especificações são elegíveis.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44</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7</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 solução proposta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As cinco escolhas padrão: híbrido, os 7 do Quadro 1, sigilo ausente, régua municipal, promax 60/40.</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especificação proposta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Indicadores.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Água inadequada, Esgoto inadequado, Lixo inadequado, Razão de moradores, Analfabetismo (15 anos ou mais), Renda média do responsável, Preta, parda ou indígena.</a:t>
            </a:r>
            <a:endParaRPr lang="en-US" sz="1350" dirty="0"/>
          </a:p>
        </p:txBody>
      </p:sp>
      <p:sp>
        <p:nvSpPr>
          <p:cNvPr id="6" name="Text 4"/>
          <p:cNvSpPr/>
          <p:nvPr/>
        </p:nvSpPr>
        <p:spPr>
          <a:xfrm>
            <a:off x="777240" y="1872234"/>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Método.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Eixo principal, 2 fatores, rotação promax, pesos 60/40, normalização municipal, analfabetismo sigiloso ausente.</a:t>
            </a:r>
            <a:endParaRPr lang="en-US" sz="1350" dirty="0"/>
          </a:p>
        </p:txBody>
      </p:sp>
      <p:sp>
        <p:nvSpPr>
          <p:cNvPr id="7" name="Text 5"/>
          <p:cNvSpPr/>
          <p:nvPr/>
        </p:nvSpPr>
        <p:spPr>
          <a:xfrm>
            <a:off x="777240" y="2204847"/>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Base.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87.544 setores (84,1% do recorte).</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Adequação.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KMO 0,783; MSA mínimo 0,700; comunalidade mínima 0,052; não elegível pelos critérios pré-registrados.</a:t>
            </a:r>
            <a:endParaRPr lang="en-US" sz="1350" dirty="0"/>
          </a:p>
        </p:txBody>
      </p:sp>
      <p:sp>
        <p:nvSpPr>
          <p:cNvPr id="9" name="Text 7"/>
          <p:cNvSpPr/>
          <p:nvPr/>
        </p:nvSpPr>
        <p:spPr>
          <a:xfrm>
            <a:off x="777240" y="2870073"/>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é a proposta.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Não é a "melhor": é a combinação das escolhas padrão até a orientadora decidir. As alternativas e o custo de cada uma estão na parte 6.</a:t>
            </a:r>
            <a:endParaRPr lang="en-US" sz="1350" dirty="0"/>
          </a:p>
        </p:txBody>
      </p:sp>
      <p:sp>
        <p:nvSpPr>
          <p:cNvPr id="10"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Matriz de cargas: sem rotação e Varimax</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377440"/>
                <a:gridCol w="1051560"/>
                <a:gridCol w="1051560"/>
                <a:gridCol w="1051560"/>
                <a:gridCol w="10515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Indicador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Sem rot. F1</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Sem rot. F2</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Varimax F1</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Varimax F2</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Água inadequada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0,421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0,445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0,580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Esgoto inadequado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0,378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0,384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0,591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Lixo inadequado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Razão de moradores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0,074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0,270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Analfabetismo (15 anos ou mais)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0,778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-0,151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Renda média do responsável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0,960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Preta, parda ou indígena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-0,076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0,775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0,272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antes da rotação e depois da rotação Varimax, que mantém os fatores independentes.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definem a que dimensão cada indicador pertence e, por isso, como o peso da dimensão se reparte entre os indicadores.</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 indicador pertence ao fator. F1 é a dimensão em que a renda carrega mais (socioeconômica); F2, a outra (saneamento).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Matriz de cargas: promax padrão e estrutura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377440"/>
                <a:gridCol w="1051560"/>
                <a:gridCol w="1051560"/>
                <a:gridCol w="1051560"/>
                <a:gridCol w="10515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Indicador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Padrão F1</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Padrão F2</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Estrutura F1</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Estrutura F2</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Água inadequada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0,598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Esgoto inadequado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Lixo inadequado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Razão de moradores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0,293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0,242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0,461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0,446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Analfabetismo (15 anos ou mais)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0,779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0,793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Renda média do responsável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-0,147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0,960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0,591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Preta, parda ou indígena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0,816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0,637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da rotação promax, que deixa os fatores se correlacionarem. "Padrão": o efeito próprio do fator (coeficiente de regressão); "estrutura": a correlação entre indicador e fator.</a:t>
            </a:r>
            <a:endParaRPr lang="en-US" sz="1150" dirty="0"/>
          </a:p>
        </p:txBody>
      </p:sp>
      <p:sp>
        <p:nvSpPr>
          <p:cNvPr id="8" name="Text 5"/>
          <p:cNvSpPr/>
          <p:nvPr/>
        </p:nvSpPr>
        <p:spPr>
          <a:xfrm>
            <a:off x="7726680" y="216763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definem a que dimensão cada indicador pertence e, por isso, como o peso da dimensão se reparte entre os indicadores.</a:t>
            </a:r>
            <a:endParaRPr lang="en-US" sz="1150" dirty="0"/>
          </a:p>
        </p:txBody>
      </p:sp>
      <p:sp>
        <p:nvSpPr>
          <p:cNvPr id="9" name="Text 6"/>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 indicador pertence ao fator. F1 é a dimensão em que a renda carrega mais (socioeconômica); F2, a outra (saneamento).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cargas em mapa de calor</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cargas_mapa.png">    </p:cNvPr>
          <p:cNvPicPr>
            <a:picLocks noChangeAspect="1"/>
          </p:cNvPicPr>
          <p:nvPr/>
        </p:nvPicPr>
        <p:blipFill>
          <a:blip r:embed="rId1"/>
          <a:stretch>
            <a:fillRect/>
          </a:stretch>
        </p:blipFill>
        <p:spPr>
          <a:xfrm>
            <a:off x="777240" y="1298448"/>
            <a:ext cx="6675120" cy="3851806"/>
          </a:xfrm>
          <a:prstGeom prst="rect">
            <a:avLst/>
          </a:prstGeom>
        </p:spPr>
      </p:pic>
      <p:sp>
        <p:nvSpPr>
          <p:cNvPr id="6" name="Text 3"/>
          <p:cNvSpPr/>
          <p:nvPr/>
        </p:nvSpPr>
        <p:spPr>
          <a:xfrm>
            <a:off x="777240" y="5205118"/>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17 — </a:t>
            </a:r>
            <a:pPr indent="0" marL="0">
              <a:buNone/>
            </a:pPr>
            <a:r>
              <a:rPr lang="en-US" sz="1050" dirty="0">
                <a:solidFill>
                  <a:srgbClr val="56534C"/>
                </a:solidFill>
                <a:latin typeface="Cambria" pitchFamily="34" charset="0"/>
                <a:ea typeface="Cambria" pitchFamily="34" charset="-122"/>
                <a:cs typeface="Cambria" pitchFamily="34" charset="-120"/>
              </a:rPr>
              <a:t>Cargas da matriz padrão da promax no IVS proposto.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matriz padrão da promax em cores.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relance a que fator cada indicador pertence.</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Vermelho forte numa coluna: o indicador pertence àquele fator. Células claras nas duas colunas: o indicador não pertence bem a nenhum.</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Comunalidades, MSA e correlação entre fatores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5303520" cy="914400"/>
        </p:xfrm>
        <a:graphic>
          <a:graphicData uri="http://schemas.openxmlformats.org/drawingml/2006/table">
            <a:tbl>
              <a:tblPr/>
              <a:tblGrid>
                <a:gridCol w="2743200"/>
                <a:gridCol w="1463040"/>
                <a:gridCol w="109728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Indicador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Comunalidade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MSA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Água inadequada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0,376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0,753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Esgoto inadequado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Lixo inadequado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Razão de moradores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0,243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0,857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Analfabetismo (15 anos ou mais)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Renda média do responsável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Preta, parda ou indígena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0,675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0,782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e o MSA de cada indicador na solução proposta.</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baixa: o indicador fica quase fora da estrutura e recebe pouco peso. Φ (fi) é a correlação entre os dois fatores.</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Critérios: comunalidade ≥ 0,30, MSA ≥ 0,50. Φ perto de 1 seria um fator só; perto de 0, dois fatores independentes.</a:t>
            </a:r>
            <a:endParaRPr lang="en-US" sz="1150" dirty="0"/>
          </a:p>
        </p:txBody>
      </p:sp>
      <p:sp>
        <p:nvSpPr>
          <p:cNvPr id="10" name="Text 7"/>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Φ = 0,695. Variância comum explicada pelos 2 fatores: 48,6%. Horn retém 2; Kaiser, 2.</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plano fatorial</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plano_fatorial.png">    </p:cNvPr>
          <p:cNvPicPr>
            <a:picLocks noChangeAspect="1"/>
          </p:cNvPicPr>
          <p:nvPr/>
        </p:nvPicPr>
        <p:blipFill>
          <a:blip r:embed="rId1"/>
          <a:stretch>
            <a:fillRect/>
          </a:stretch>
        </p:blipFill>
        <p:spPr>
          <a:xfrm>
            <a:off x="777240" y="1298448"/>
            <a:ext cx="6675120" cy="3955187"/>
          </a:xfrm>
          <a:prstGeom prst="rect">
            <a:avLst/>
          </a:prstGeom>
        </p:spPr>
      </p:pic>
      <p:sp>
        <p:nvSpPr>
          <p:cNvPr id="6" name="Text 3"/>
          <p:cNvSpPr/>
          <p:nvPr/>
        </p:nvSpPr>
        <p:spPr>
          <a:xfrm>
            <a:off x="777240" y="5308499"/>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18 — </a:t>
            </a:r>
            <a:pPr indent="0" marL="0">
              <a:buNone/>
            </a:pPr>
            <a:r>
              <a:rPr lang="en-US" sz="1050" dirty="0">
                <a:solidFill>
                  <a:srgbClr val="56534C"/>
                </a:solidFill>
                <a:latin typeface="Cambria" pitchFamily="34" charset="0"/>
                <a:ea typeface="Cambria" pitchFamily="34" charset="-122"/>
                <a:cs typeface="Cambria" pitchFamily="34" charset="-120"/>
              </a:rPr>
              <a:t>Cargas da matriz padrão da promax no IVS proposto.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ponto é um indicador, posicionado pelas cargas nos dois fatores.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os grupos que a fatorial encontrou: indicadores próximos medem a mesma coisa.</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Perto do eixo horizontal e à direita: dimensão socioeconômica. Perto do eixo vertical e no alto: saneamento. Perto da origem: o indicador quase não se explica pelos fatores.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51</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8</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Os pesos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Por dimensão e por indicador, a estabilidade por município e a replicação entre metades.</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da dimensão socioeconômica em cada método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1828800"/>
                <a:gridCol w="2194560"/>
                <a:gridCol w="201168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Rotação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Método de 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 socioeconômico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sem_rotacao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unico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varimax</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73,7%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varimax</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50_50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varimax</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60_40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ss_padrao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68,2%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ss_estrutura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56,6%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comunalidades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50_50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60_40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 do índice vem da dimensão socioeconômica em cada forma de calcular os pesos.</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de 2012 usa 60% socioeconômica e 40% saneamento. Aqui se vê quanto os dados dariam.</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Métodos "ss" e "comunalidades" saem dos dados; "50_50" e "60_40" são fixos. Sem rotação há um fator só, que leva tudo.</a:t>
            </a:r>
            <a:endParaRPr lang="en-US" sz="1150" dirty="0"/>
          </a:p>
        </p:txBody>
      </p:sp>
      <p:sp>
        <p:nvSpPr>
          <p:cNvPr id="10" name="Text 7"/>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Pelos dados (promax, soma dos quadrados da padrão): 68,2%; pela estrutura: 56,6%. A divisão entre as dimensões é decisão (P1), não resultado.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de cada indicador: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2560320"/>
                <a:gridCol w="1005840"/>
                <a:gridCol w="146304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Indicador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Menor sem 1 mun.</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Água inadequada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24,2%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Esgoto inadequado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Lixo inadequado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Razão de moradores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Analfabetismo (15 anos ou mais)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17,3%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Renda média do responsável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28,9%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23,0%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Preta, parda ou indígena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17,6%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fração do IVS proposto que vem de cada indicador, e o menor e o maior valor ao tirar um município.</a:t>
            </a:r>
            <a:endParaRPr lang="en-US" sz="1150" dirty="0"/>
          </a:p>
        </p:txBody>
      </p:sp>
      <p:sp>
        <p:nvSpPr>
          <p:cNvPr id="8" name="Text 5"/>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o que define o índice: IVS = soma de cada indicador padronizado vezes o seu peso.</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Dentro de cada dimensão, o peso se reparte pelo quadrado das cargas: quem carrega mais pesa mais.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maior peso é o de Renda média do responsável (28,9%).</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de cada indicador: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pesos.png">    </p:cNvPr>
          <p:cNvPicPr>
            <a:picLocks noChangeAspect="1"/>
          </p:cNvPicPr>
          <p:nvPr/>
        </p:nvPicPr>
        <p:blipFill>
          <a:blip r:embed="rId1"/>
          <a:stretch>
            <a:fillRect/>
          </a:stretch>
        </p:blipFill>
        <p:spPr>
          <a:xfrm>
            <a:off x="777240" y="1298448"/>
            <a:ext cx="6675120" cy="3291683"/>
          </a:xfrm>
          <a:prstGeom prst="rect">
            <a:avLst/>
          </a:prstGeom>
        </p:spPr>
      </p:pic>
      <p:sp>
        <p:nvSpPr>
          <p:cNvPr id="6" name="Text 3"/>
          <p:cNvSpPr/>
          <p:nvPr/>
        </p:nvSpPr>
        <p:spPr>
          <a:xfrm>
            <a:off x="777240" y="464499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19 — </a:t>
            </a:r>
            <a:pPr indent="0" marL="0">
              <a:buNone/>
            </a:pPr>
            <a:r>
              <a:rPr lang="en-US" sz="1050" dirty="0">
                <a:solidFill>
                  <a:srgbClr val="56534C"/>
                </a:solidFill>
                <a:latin typeface="Cambria" pitchFamily="34" charset="0"/>
                <a:ea typeface="Cambria" pitchFamily="34" charset="-122"/>
                <a:cs typeface="Cambria" pitchFamily="34" charset="-120"/>
              </a:rPr>
              <a:t>Pesos no IVS proposto.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mesmos pesos em barras.</a:t>
            </a:r>
            <a:endParaRPr lang="en-US" sz="1150" dirty="0"/>
          </a:p>
        </p:txBody>
      </p:sp>
      <p:sp>
        <p:nvSpPr>
          <p:cNvPr id="9" name="Text 6"/>
          <p:cNvSpPr/>
          <p:nvPr/>
        </p:nvSpPr>
        <p:spPr>
          <a:xfrm>
            <a:off x="7726680" y="1598041"/>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quem domina o índice.</a:t>
            </a:r>
            <a:endParaRPr lang="en-US" sz="1150" dirty="0"/>
          </a:p>
        </p:txBody>
      </p:sp>
      <p:sp>
        <p:nvSpPr>
          <p:cNvPr id="10" name="Text 7"/>
          <p:cNvSpPr/>
          <p:nvPr/>
        </p:nvSpPr>
        <p:spPr>
          <a:xfrm>
            <a:off x="7726680" y="189763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longas: indicadores que mais determinam a posição de um setor no IVS.</a:t>
            </a:r>
            <a:endParaRPr lang="en-US" sz="1150" dirty="0"/>
          </a:p>
        </p:txBody>
      </p:sp>
      <p:sp>
        <p:nvSpPr>
          <p:cNvPr id="11" name="Text 8"/>
          <p:cNvSpPr/>
          <p:nvPr/>
        </p:nvSpPr>
        <p:spPr>
          <a:xfrm>
            <a:off x="7726680" y="238709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maior peso é o de Renda média do responsável (28,9%).</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estabilidade: um município de fora por vez</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estabilidade.png">    </p:cNvPr>
          <p:cNvPicPr>
            <a:picLocks noChangeAspect="1"/>
          </p:cNvPicPr>
          <p:nvPr/>
        </p:nvPicPr>
        <p:blipFill>
          <a:blip r:embed="rId1"/>
          <a:stretch>
            <a:fillRect/>
          </a:stretch>
        </p:blipFill>
        <p:spPr>
          <a:xfrm>
            <a:off x="862323" y="1298448"/>
            <a:ext cx="6504953"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20 — </a:t>
            </a:r>
            <a:pPr indent="0" marL="0">
              <a:buNone/>
            </a:pPr>
            <a:r>
              <a:rPr lang="en-US" sz="1050" dirty="0">
                <a:solidFill>
                  <a:srgbClr val="56534C"/>
                </a:solidFill>
                <a:latin typeface="Cambria" pitchFamily="34" charset="0"/>
                <a:ea typeface="Cambria" pitchFamily="34" charset="-122"/>
                <a:cs typeface="Cambria" pitchFamily="34" charset="-120"/>
              </a:rPr>
              <a:t>Peso de cada indicador nas 70 rodadas, cada uma sem um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pesos recalculados 70 vezes, cada vez sem um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a medida de incerteza adotada: os municípios são a unidade de replicação do ELSI. Reamostrar setores subestimava a incerteza.</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Caixa estreita: peso estável. Pontos isolados: um município que, sozinho, muda o peso.</a:t>
            </a:r>
            <a:endParaRPr lang="en-US" sz="1150" dirty="0"/>
          </a:p>
        </p:txBody>
      </p:sp>
      <p:sp>
        <p:nvSpPr>
          <p:cNvPr id="11" name="Text 8"/>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socioeconômico fica em 60,0% por construção (pesos fixos); dentro das dimensões, o peso que mais varia é o de Água inadequada (3,4% a 24,2%).</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replicação entre metades dos municípios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5943600" cy="914400"/>
        </p:xfrm>
        <a:graphic>
          <a:graphicData uri="http://schemas.openxmlformats.org/drawingml/2006/table">
            <a:tbl>
              <a:tblPr/>
              <a:tblGrid>
                <a:gridCol w="1005840"/>
                <a:gridCol w="2743200"/>
                <a:gridCol w="1097280"/>
                <a:gridCol w="109728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Papel</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Tucker F1</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Tucker F2</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alternativa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0,926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alternativa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0,992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alternativa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municípios foram divididos em duas metades sorteadas dentro de cada região; a fatorial rodou em cada metade e as cargas foram comparadas pelo coeficiente de Tucker.</a:t>
            </a:r>
            <a:endParaRPr lang="en-US" sz="1150" dirty="0"/>
          </a:p>
        </p:txBody>
      </p:sp>
      <p:sp>
        <p:nvSpPr>
          <p:cNvPr id="8" name="Text 5"/>
          <p:cNvSpPr/>
          <p:nvPr/>
        </p:nvSpPr>
        <p:spPr>
          <a:xfrm>
            <a:off x="7726680" y="216763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Testa se a estrutura é dos dados ou de um grupo de municípios: se as duas metades dão as mesmas cargas, o resultado se replica.</a:t>
            </a:r>
            <a:endParaRPr lang="en-US" sz="1150" dirty="0"/>
          </a:p>
        </p:txBody>
      </p:sp>
      <p:sp>
        <p:nvSpPr>
          <p:cNvPr id="9" name="Text 6"/>
          <p:cNvSpPr/>
          <p:nvPr/>
        </p:nvSpPr>
        <p:spPr>
          <a:xfrm>
            <a:off x="7726680" y="284695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Tucker de 0,95 ou mais: fator replicado; de 0,85 a 0,94: parecido; abaixo: diferente.</a:t>
            </a:r>
            <a:endParaRPr lang="en-US" sz="1150" dirty="0"/>
          </a:p>
        </p:txBody>
      </p:sp>
      <p:sp>
        <p:nvSpPr>
          <p:cNvPr id="10" name="Text 7"/>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proposta: 0,967 (F1) e 0,924 (F2).</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9</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O IVS proposto</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Calculado com as escolhas padrão. É proposta: a escolha final é da orientadora.</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FIN-57</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distribuição do IVS proposto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ivs_hist.png">    </p:cNvPr>
          <p:cNvPicPr>
            <a:picLocks noChangeAspect="1"/>
          </p:cNvPicPr>
          <p:nvPr/>
        </p:nvPicPr>
        <p:blipFill>
          <a:blip r:embed="rId1"/>
          <a:stretch>
            <a:fillRect/>
          </a:stretch>
        </p:blipFill>
        <p:spPr>
          <a:xfrm>
            <a:off x="777240" y="1298448"/>
            <a:ext cx="6675120" cy="4013390"/>
          </a:xfrm>
          <a:prstGeom prst="rect">
            <a:avLst/>
          </a:prstGeom>
        </p:spPr>
      </p:pic>
      <p:sp>
        <p:nvSpPr>
          <p:cNvPr id="6" name="Text 3"/>
          <p:cNvSpPr/>
          <p:nvPr/>
        </p:nvSpPr>
        <p:spPr>
          <a:xfrm>
            <a:off x="777240" y="536670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21 — </a:t>
            </a:r>
            <a:pPr indent="0" marL="0">
              <a:buNone/>
            </a:pPr>
            <a:r>
              <a:rPr lang="en-US" sz="1050" dirty="0">
                <a:solidFill>
                  <a:srgbClr val="56534C"/>
                </a:solidFill>
                <a:latin typeface="Cambria" pitchFamily="34" charset="0"/>
                <a:ea typeface="Cambria" pitchFamily="34" charset="-122"/>
                <a:cs typeface="Cambria" pitchFamily="34" charset="-120"/>
              </a:rPr>
              <a:t>IVS proposto por setor.</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histograma do IVS proposto: cada setor recebe um valor de 0 a 1.</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o índice final. 0 = o setor menos vulnerável da sua cidade em todos os indicadores; 1 = o mais.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Como a régua é de cada município, o valor diz onde o setor fica dentro da própria cidade.</a:t>
            </a:r>
            <a:endParaRPr lang="en-US" sz="1150" dirty="0"/>
          </a:p>
        </p:txBody>
      </p:sp>
      <p:sp>
        <p:nvSpPr>
          <p:cNvPr id="11" name="Text 8"/>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87.544 setores com IVS (média 0,405, mediana 0,392); 16.564 ficam sem, por dado ausente num componente.</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FIN-58</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quatro faixas: setores e moradores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1463040"/>
                <a:gridCol w="1097280"/>
                <a:gridCol w="1005840"/>
                <a:gridCol w="1463040"/>
                <a:gridCol w="11887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Faixa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Moradores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moradores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baixo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24.622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11.879.104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médio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43.019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49,1%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23.545.231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51,4%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elevado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14.095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16,1%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7.581.053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16,5%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muito elevado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5.808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2.832.797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Quantos setores e quantos moradores ficam em cada faixa de vulnerabilidade.</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faixas são o produto que vai para os mapas e para a gestão: onde priorizar.</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Regra do IVS-BH 2012, dentro de cada município: médio = média ± 0,5 desvio-padrão; elevado até +1,5; acima, muito elevado; abaixo de −0,5, baixo.</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10.413.850 moradores em setores de faixa elevada ou muito elevada.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FIN-59</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quatro faixas: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faixas.png">    </p:cNvPr>
          <p:cNvPicPr>
            <a:picLocks noChangeAspect="1"/>
          </p:cNvPicPr>
          <p:nvPr/>
        </p:nvPicPr>
        <p:blipFill>
          <a:blip r:embed="rId1"/>
          <a:stretch>
            <a:fillRect/>
          </a:stretch>
        </p:blipFill>
        <p:spPr>
          <a:xfrm>
            <a:off x="777240" y="1298448"/>
            <a:ext cx="6675120" cy="4115488"/>
          </a:xfrm>
          <a:prstGeom prst="rect">
            <a:avLst/>
          </a:prstGeom>
        </p:spPr>
      </p:pic>
      <p:sp>
        <p:nvSpPr>
          <p:cNvPr id="6" name="Text 3"/>
          <p:cNvSpPr/>
          <p:nvPr/>
        </p:nvSpPr>
        <p:spPr>
          <a:xfrm>
            <a:off x="777240" y="5468800"/>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22 — </a:t>
            </a:r>
            <a:pPr indent="0" marL="0">
              <a:buNone/>
            </a:pPr>
            <a:r>
              <a:rPr lang="en-US" sz="1050" dirty="0">
                <a:solidFill>
                  <a:srgbClr val="56534C"/>
                </a:solidFill>
                <a:latin typeface="Cambria" pitchFamily="34" charset="0"/>
                <a:ea typeface="Cambria" pitchFamily="34" charset="-122"/>
                <a:cs typeface="Cambria" pitchFamily="34" charset="-120"/>
              </a:rPr>
              <a:t>Moradores por faixa do IVS proposto.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moradores de cada faixa, em milhões.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Dá a dimensão da população em cada nível.</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Regra do IVS-BH 2012, dentro de cada município: médio = média ± 0,5 desvio-padrão; elevado até +1,5; acima, muito elevado; abaixo de −0,5, baixo.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FIN-60</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Faixas pela regra do IVS-BH e por quartis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1645920"/>
                <a:gridCol w="914400"/>
                <a:gridCol w="914400"/>
                <a:gridCol w="914400"/>
                <a:gridCol w="914400"/>
                <a:gridCol w="914400"/>
              </a:tblGrid>
              <a:tr h="401320">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IVS-BH \ quartis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indef.</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baixo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elevado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muito elevado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baixo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21.140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3.480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médio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18.414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20.895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2.991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elevado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980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13.114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muito elevado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5.808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cruzamento das duas regras de faixa: a do IVS-BH (pelo desvio-padrão) e os quartis (25% dos setores de cada município em cada faixa).</a:t>
            </a:r>
            <a:endParaRPr lang="en-US" sz="1150" dirty="0"/>
          </a:p>
        </p:txBody>
      </p:sp>
      <p:sp>
        <p:nvSpPr>
          <p:cNvPr id="8" name="Text 5"/>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quanto a regra de corte muda a classificação — uma decisão a mais para a orientadora.</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diagonal, as duas regras concordam. "Indef.": municípios com menos de 4 setores, sem quartis.</a:t>
            </a:r>
            <a:endParaRPr lang="en-US" sz="1150" dirty="0"/>
          </a:p>
        </p:txBody>
      </p:sp>
      <p:sp>
        <p:nvSpPr>
          <p:cNvPr id="10" name="Text 7"/>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duas regras concordam em 52,9% dos setores.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FIN-61</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idosos em cada faixa: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5943600" cy="914400"/>
        </p:xfrm>
        <a:graphic>
          <a:graphicData uri="http://schemas.openxmlformats.org/drawingml/2006/table">
            <a:tbl>
              <a:tblPr/>
              <a:tblGrid>
                <a:gridCol w="1463040"/>
                <a:gridCol w="1463040"/>
                <a:gridCol w="1371600"/>
                <a:gridCol w="16459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Faixa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dos idosos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idosos no setor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baixo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2.470.492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33,6%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médio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3.736.916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elevado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868.495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muito elevado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275.398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Quantas pessoas de 60 anos ou mais moram em cada faixa e a proporção média de idosos nos setores.</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a pergunta do ELSI-Brasil: onde moram os idosos em relação à vulnerabilidade do território.</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 dos idosos": distribuição dos idosos entre as faixas. "% idosos no setor": quanto da população dos setores daquela faixa é idosa.</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1.143.893 idosos moram em setores de faixa elevada ou muito elevada (15,6% dos idosos com IVS).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FIN-62</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idosos em cada faixa: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idosos_faixa.png">    </p:cNvPr>
          <p:cNvPicPr>
            <a:picLocks noChangeAspect="1"/>
          </p:cNvPicPr>
          <p:nvPr/>
        </p:nvPicPr>
        <p:blipFill>
          <a:blip r:embed="rId1"/>
          <a:stretch>
            <a:fillRect/>
          </a:stretch>
        </p:blipFill>
        <p:spPr>
          <a:xfrm>
            <a:off x="777240" y="1298448"/>
            <a:ext cx="6675120" cy="4115488"/>
          </a:xfrm>
          <a:prstGeom prst="rect">
            <a:avLst/>
          </a:prstGeom>
        </p:spPr>
      </p:pic>
      <p:sp>
        <p:nvSpPr>
          <p:cNvPr id="6" name="Text 3"/>
          <p:cNvSpPr/>
          <p:nvPr/>
        </p:nvSpPr>
        <p:spPr>
          <a:xfrm>
            <a:off x="777240" y="5468800"/>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23 — </a:t>
            </a:r>
            <a:pPr indent="0" marL="0">
              <a:buNone/>
            </a:pPr>
            <a:r>
              <a:rPr lang="en-US" sz="1050" dirty="0">
                <a:solidFill>
                  <a:srgbClr val="56534C"/>
                </a:solidFill>
                <a:latin typeface="Cambria" pitchFamily="34" charset="0"/>
                <a:ea typeface="Cambria" pitchFamily="34" charset="-122"/>
                <a:cs typeface="Cambria" pitchFamily="34" charset="-120"/>
              </a:rPr>
              <a:t>Proporção média de idosos nos setores de cada faixa.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média de pessoas de 60 anos ou mais nos setores de cada faixa.</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os setores mais vulneráveis são mais jovens ou mais envelhecidos.</a:t>
            </a:r>
            <a:endParaRPr lang="en-US" sz="1150" dirty="0"/>
          </a:p>
        </p:txBody>
      </p:sp>
      <p:sp>
        <p:nvSpPr>
          <p:cNvPr id="10" name="Text 7"/>
          <p:cNvSpPr/>
          <p:nvPr/>
        </p:nvSpPr>
        <p:spPr>
          <a:xfrm>
            <a:off x="7726680" y="227736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caem para a direita: os setores mais vulneráveis têm menos idosos proporcionalmente.</a:t>
            </a:r>
            <a:endParaRPr lang="en-US" sz="1150" dirty="0"/>
          </a:p>
        </p:txBody>
      </p:sp>
      <p:sp>
        <p:nvSpPr>
          <p:cNvPr id="11" name="Text 8"/>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1.143.893 idosos moram em setores de faixa elevada ou muito elevada (15,6% dos idosos com IVS).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FIN-63</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favelas em cada faixa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5303520" cy="914400"/>
        </p:xfrm>
        <a:graphic>
          <a:graphicData uri="http://schemas.openxmlformats.org/drawingml/2006/table">
            <a:tbl>
              <a:tblPr/>
              <a:tblGrid>
                <a:gridCol w="1645920"/>
                <a:gridCol w="1463040"/>
                <a:gridCol w="21945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Faixa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de setores de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baixo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24.622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médio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43.019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17,2%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elevado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14.095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49,2%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muito elevado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5.808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58,0%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setores de favela e comunidade urbana em cada faixa.</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Checagem de bom senso: favela deveria se concentrar nas faixas mais altas.</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Descrição, não validação: o critério de favela do IBGE já incorpora moradia, então a relação é parcialmente circular.</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faixa muito elevada, 58,0% dos setores são de favela; na baixa, 4,9%.</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FIN-64</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a distribuição das faixas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faixas_regiao.png">    </p:cNvPr>
          <p:cNvPicPr>
            <a:picLocks noChangeAspect="1"/>
          </p:cNvPicPr>
          <p:nvPr/>
        </p:nvPicPr>
        <p:blipFill>
          <a:blip r:embed="rId1"/>
          <a:stretch>
            <a:fillRect/>
          </a:stretch>
        </p:blipFill>
        <p:spPr>
          <a:xfrm>
            <a:off x="777240" y="1298448"/>
            <a:ext cx="6675120" cy="3921801"/>
          </a:xfrm>
          <a:prstGeom prst="rect">
            <a:avLst/>
          </a:prstGeom>
        </p:spPr>
      </p:pic>
      <p:sp>
        <p:nvSpPr>
          <p:cNvPr id="6" name="Text 3"/>
          <p:cNvSpPr/>
          <p:nvPr/>
        </p:nvSpPr>
        <p:spPr>
          <a:xfrm>
            <a:off x="777240" y="527511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24 — </a:t>
            </a:r>
            <a:pPr indent="0" marL="0">
              <a:buNone/>
            </a:pPr>
            <a:r>
              <a:rPr lang="en-US" sz="1050" dirty="0">
                <a:solidFill>
                  <a:srgbClr val="56534C"/>
                </a:solidFill>
                <a:latin typeface="Cambria" pitchFamily="34" charset="0"/>
                <a:ea typeface="Cambria" pitchFamily="34" charset="-122"/>
                <a:cs typeface="Cambria" pitchFamily="34" charset="-120"/>
              </a:rPr>
              <a:t>Distribuição das faixas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parte dos setores em cada faixa, para cada grupo.</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algum grupo concentra setores nas faixas altas.</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 a régua do município, a faixa diz onde o setor fica dentro da própria cidade. Comparar grupos descreve a forma das distribuições internas, não o nível de vulnerabilidade de cada região.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 de setores em faixa muito elevada: Norte 8,2%; Nordeste 7,5%; Sudeste 6,1%; Sul 5,5%; Centro-Oeste 7,8%.</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FIN-65</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a distribuição das faixas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faixas_porte.png">    </p:cNvPr>
          <p:cNvPicPr>
            <a:picLocks noChangeAspect="1"/>
          </p:cNvPicPr>
          <p:nvPr/>
        </p:nvPicPr>
        <p:blipFill>
          <a:blip r:embed="rId1"/>
          <a:stretch>
            <a:fillRect/>
          </a:stretch>
        </p:blipFill>
        <p:spPr>
          <a:xfrm>
            <a:off x="777240" y="1298448"/>
            <a:ext cx="6675120" cy="3829342"/>
          </a:xfrm>
          <a:prstGeom prst="rect">
            <a:avLst/>
          </a:prstGeom>
        </p:spPr>
      </p:pic>
      <p:sp>
        <p:nvSpPr>
          <p:cNvPr id="6" name="Text 3"/>
          <p:cNvSpPr/>
          <p:nvPr/>
        </p:nvSpPr>
        <p:spPr>
          <a:xfrm>
            <a:off x="777240" y="518265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25 — </a:t>
            </a:r>
            <a:pPr indent="0" marL="0">
              <a:buNone/>
            </a:pPr>
            <a:r>
              <a:rPr lang="en-US" sz="1050" dirty="0">
                <a:solidFill>
                  <a:srgbClr val="56534C"/>
                </a:solidFill>
                <a:latin typeface="Cambria" pitchFamily="34" charset="0"/>
                <a:ea typeface="Cambria" pitchFamily="34" charset="-122"/>
                <a:cs typeface="Cambria" pitchFamily="34" charset="-120"/>
              </a:rPr>
              <a:t>Distribuição das faixas por porte do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parte dos setores em cada faixa, para cada grupo.</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algum grupo concentra setores nas faixas altas.</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 a régua do município, a faixa diz onde o setor fica dentro da própria cidade. Comparar grupos descreve a forma das distribuições internas, não o nível de vulnerabilidade de cada região.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 de setores em faixa muito elevada: até 100 mil 5,7%; 100 a 500 mil 6,6%; mais de 500 mil 6,7%.</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FIN-66</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municípios com mais moradores em faixa elevada ou muito elevada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2377440"/>
                <a:gridCol w="1097280"/>
                <a:gridCol w="1280160"/>
                <a:gridCol w="1463040"/>
              </a:tblGrid>
              <a:tr h="215392">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Município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 elev.</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Moradores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Paulo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21.299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4.415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2.045.057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Rio de Janeiro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10.691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2.189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1.069.590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Manaus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2.799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838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583.571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Fortaleza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4.028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900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465.909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Belo Horizonte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3.963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943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439.265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Recife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2.505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753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384.839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Curitiba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2.436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647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359.268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Belém</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1.867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517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306.370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Porto Alegre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1.941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486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298.351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Luís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1.509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464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285.009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Salvador</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3.895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503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279.730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Brasília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4.120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482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259.626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Duque de Caxias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1.645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549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258.591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Maceió</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1.440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429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255.872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Goiânia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1.946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375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255.850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15 municípios com mais moradores em setores de faixa elevada ou muito elevada.</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onde está, em números absolutos, a população que o índice aponta como mais vulnerável.</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São contagens, não médias: a média de um índice padronizado por município não se compara entre cidades.</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FIN-67</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finalistas lado a lado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712013"/>
                <a:gridCol w="1424026"/>
                <a:gridCol w="1157021"/>
                <a:gridCol w="1424026"/>
                <a:gridCol w="1246022"/>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Id</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Papel</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Método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Régua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Troca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nucleo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 60_40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municipal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nucleo-ESG</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 60_40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municipal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36,1%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nucleo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 60_40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postos_municipal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nucleo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sem_rotacao unico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municipal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proposta e, para cada eixo que muda o resultado, a alternativa de maior impacto.</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São as especificações que a orientadora precisa ver para decidir.</a:t>
            </a:r>
            <a:endParaRPr lang="en-US" sz="1150" dirty="0"/>
          </a:p>
        </p:txBody>
      </p:sp>
      <p:sp>
        <p:nvSpPr>
          <p:cNvPr id="9" name="Text 6"/>
          <p:cNvSpPr/>
          <p:nvPr/>
        </p:nvSpPr>
        <p:spPr>
          <a:xfrm>
            <a:off x="7726680" y="227736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"Troca": % de setores que mudam de faixa em relação à proposta.</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FIN-68</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69</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10</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Sensibilidade</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Quanto o IVS muda com cada alternativa.</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FIN-69</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Concordância entre os finalistas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FIN_concordancia.png">    </p:cNvPr>
          <p:cNvPicPr>
            <a:picLocks noChangeAspect="1"/>
          </p:cNvPicPr>
          <p:nvPr/>
        </p:nvPicPr>
        <p:blipFill>
          <a:blip r:embed="rId1"/>
          <a:stretch>
            <a:fillRect/>
          </a:stretch>
        </p:blipFill>
        <p:spPr>
          <a:xfrm>
            <a:off x="1855183" y="1298448"/>
            <a:ext cx="4519234"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26 — </a:t>
            </a:r>
            <a:pPr indent="0" marL="0">
              <a:buNone/>
            </a:pPr>
            <a:r>
              <a:rPr lang="en-US" sz="1050" dirty="0">
                <a:solidFill>
                  <a:srgbClr val="56534C"/>
                </a:solidFill>
                <a:latin typeface="Cambria" pitchFamily="34" charset="0"/>
                <a:ea typeface="Cambria" pitchFamily="34" charset="-122"/>
                <a:cs typeface="Cambria" pitchFamily="34" charset="-120"/>
              </a:rPr>
              <a:t>Spearman entre os IVS dos finalistas.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de Spearman entre os IVS de cada par de finalistas.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quanto as alternativas ordenam os setores do mesmo jeito.</a:t>
            </a:r>
            <a:endParaRPr lang="en-US" sz="1150" dirty="0"/>
          </a:p>
        </p:txBody>
      </p:sp>
      <p:sp>
        <p:nvSpPr>
          <p:cNvPr id="10" name="Text 7"/>
          <p:cNvSpPr/>
          <p:nvPr/>
        </p:nvSpPr>
        <p:spPr>
          <a:xfrm>
            <a:off x="7726680" y="227736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 = mesma ordem dos setores; quanto mais claro, mais as duas versões discordam.</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FIN-70</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AUC contra favela, como descrição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1280160"/>
                <a:gridCol w="1463040"/>
                <a:gridCol w="1463040"/>
                <a:gridCol w="18288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AUC índice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AUC renda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AUC no município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0,831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0,882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0,798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0,882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0,851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0,882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0,869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0,858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0,882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AUC mede o quanto o índice separa os setores de favela dos demais: 0,5 = acaso; 1 = separação perfeita.</a:t>
            </a:r>
            <a:endParaRPr lang="en-US" sz="1150" dirty="0"/>
          </a:p>
        </p:txBody>
      </p:sp>
      <p:sp>
        <p:nvSpPr>
          <p:cNvPr id="8" name="Text 5"/>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Era usada como validação nas versões anteriores. Fica aqui como descrição.</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com a renda sozinha: se ela separa tão bem quanto o índice, a AUC mede o conteúdo socioeconômico, não a qualidade dos pesos.</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FIN-71</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Quem são os setores que cada finalista perde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5943600" cy="914400"/>
        </p:xfrm>
        <a:graphic>
          <a:graphicData uri="http://schemas.openxmlformats.org/drawingml/2006/table">
            <a:tbl>
              <a:tblPr/>
              <a:tblGrid>
                <a:gridCol w="1097280"/>
                <a:gridCol w="1188720"/>
                <a:gridCol w="1005840"/>
                <a:gridCol w="164592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Perdidos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recorte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Renda 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16.564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R$ 6.092,84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16.563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R$ 6.092,85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16.564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R$ 6.092,84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16.564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R$ 6.092,84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do recorte que ficam sem IVS em cada finalista, por dado ausente num componente.</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Perder setores é decisão: se os perdidos são diferentes dos mantidos, o índice fica enviesado.</a:t>
            </a:r>
            <a:endParaRPr lang="en-US" sz="1150" dirty="0"/>
          </a:p>
        </p:txBody>
      </p:sp>
      <p:sp>
        <p:nvSpPr>
          <p:cNvPr id="9" name="Text 6"/>
          <p:cNvSpPr/>
          <p:nvPr/>
        </p:nvSpPr>
        <p:spPr>
          <a:xfrm>
            <a:off x="7726680" y="227736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 renda mediana dos perdidos com a dos mantidos.</a:t>
            </a:r>
            <a:endParaRPr lang="en-US" sz="1150" dirty="0"/>
          </a:p>
        </p:txBody>
      </p:sp>
      <p:sp>
        <p:nvSpPr>
          <p:cNvPr id="10" name="Text 7"/>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Nos setores mantidos pela proposta, a renda mediana é R$ 2.313,87.</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FIN-72</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73</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As decisões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As cinco perguntas para a orientadora, com o que os dados mostram.</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FIN-73</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cinco decisões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457200"/>
                <a:gridCol w="1920240"/>
                <a:gridCol w="2743200"/>
                <a:gridCol w="13716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Pergunta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O que os dados mostram</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Padrão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16814">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Reflexivo, formativo ou híbrido?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Φ entre os fatores = 0,70 (1 seria um fator só); Horn retém 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híbrido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Quais indicadores entram?</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muda: até 36,1% de troca de faixa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os 7 do Quadro 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Sigilo do analfabetismo?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tanto faz</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ausente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Que régua?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muda: até 31,8% de troca de faixa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min-max municipal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Rotação e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muda: até 18,5% de troca de faixa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 60/40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cinco escolhas que definem o índice, o que a análise mostrou sobre cada uma e o padrão usado na proposta.</a:t>
            </a:r>
            <a:endParaRPr lang="en-US" sz="1150" dirty="0"/>
          </a:p>
        </p:txBody>
      </p:sp>
      <p:sp>
        <p:nvSpPr>
          <p:cNvPr id="8" name="Text 5"/>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o que a orientadora precisa decidir. Com as escolhas dela, o motor recalcula o IVS.</a:t>
            </a:r>
            <a:endParaRPr lang="en-US" sz="1150" dirty="0"/>
          </a:p>
        </p:txBody>
      </p:sp>
      <p:sp>
        <p:nvSpPr>
          <p:cNvPr id="9" name="Text 6"/>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P1: se o IVS é um construto único (reflexivo), uma soma de facetas (formativo) ou um híbrido (a fatorial pesa dentro de cada dimensão; a divisão entre dimensões é escolha).</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FIN-74</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Limitações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Estudo ecológico.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As relações são entre setores, não entre pessoas.</a:t>
            </a:r>
            <a:endParaRPr lang="en-US" sz="1350" dirty="0"/>
          </a:p>
        </p:txBody>
      </p:sp>
      <p:sp>
        <p:nvSpPr>
          <p:cNvPr id="6" name="Text 4"/>
          <p:cNvSpPr/>
          <p:nvPr/>
        </p:nvSpPr>
        <p:spPr>
          <a:xfrm>
            <a:off x="777240" y="164934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Autocorrelação espacial.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Setores vizinhos não são independentes; o I de Moran fica para o geoprocessamento.</a:t>
            </a:r>
            <a:endParaRPr lang="en-US" sz="1350" dirty="0"/>
          </a:p>
        </p:txBody>
      </p:sp>
      <p:sp>
        <p:nvSpPr>
          <p:cNvPr id="7" name="Text 5"/>
          <p:cNvSpPr/>
          <p:nvPr/>
        </p:nvSpPr>
        <p:spPr>
          <a:xfrm>
            <a:off x="777240" y="1981962"/>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Sigilo.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ausente não é aleatório: cai nos setores de renda mais alta.</a:t>
            </a:r>
            <a:endParaRPr lang="en-US" sz="1350" dirty="0"/>
          </a:p>
        </p:txBody>
      </p:sp>
      <p:sp>
        <p:nvSpPr>
          <p:cNvPr id="8" name="Text 6"/>
          <p:cNvSpPr/>
          <p:nvPr/>
        </p:nvSpPr>
        <p:spPr>
          <a:xfrm>
            <a:off x="777240" y="2314575"/>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Amostras diferentes.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Cada versão roda nos setores com todos os seus indicadores; as comparações usam a amostra comum.</a:t>
            </a:r>
            <a:endParaRPr lang="en-US" sz="1350" dirty="0"/>
          </a:p>
        </p:txBody>
      </p:sp>
      <p:sp>
        <p:nvSpPr>
          <p:cNvPr id="9" name="Text 7"/>
          <p:cNvSpPr/>
          <p:nvPr/>
        </p:nvSpPr>
        <p:spPr>
          <a:xfrm>
            <a:off x="777240" y="2647188"/>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Validação externa.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Desfechos de saúde do ELSI-Brasil não estão no projeto; a AUC contra favela é só descrição.</a:t>
            </a:r>
            <a:endParaRPr lang="en-US" sz="1350" dirty="0"/>
          </a:p>
        </p:txBody>
      </p:sp>
      <p:sp>
        <p:nvSpPr>
          <p:cNvPr id="10"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FIN-75</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Próximos passos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1.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Levar as cinco decisões à orientadora.</a:t>
            </a:r>
            <a:endParaRPr lang="en-US" sz="1350" dirty="0"/>
          </a:p>
        </p:txBody>
      </p:sp>
      <p:sp>
        <p:nvSpPr>
          <p:cNvPr id="6" name="Text 4"/>
          <p:cNvSpPr/>
          <p:nvPr/>
        </p:nvSpPr>
        <p:spPr>
          <a:xfrm>
            <a:off x="777240" y="164934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2.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Recalcular o IVS com as escolhas dela (o motor roda qualquer combinação).</a:t>
            </a:r>
            <a:endParaRPr lang="en-US" sz="1350" dirty="0"/>
          </a:p>
        </p:txBody>
      </p:sp>
      <p:sp>
        <p:nvSpPr>
          <p:cNvPr id="7" name="Text 5"/>
          <p:cNvSpPr/>
          <p:nvPr/>
        </p:nvSpPr>
        <p:spPr>
          <a:xfrm>
            <a:off x="777240" y="1981962"/>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3.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Mapas temáticos no QGIS 3.x e I de Moran.</a:t>
            </a:r>
            <a:endParaRPr lang="en-US" sz="1350" dirty="0"/>
          </a:p>
        </p:txBody>
      </p:sp>
      <p:sp>
        <p:nvSpPr>
          <p:cNvPr id="8" name="Text 6"/>
          <p:cNvSpPr/>
          <p:nvPr/>
        </p:nvSpPr>
        <p:spPr>
          <a:xfrm>
            <a:off x="777240" y="2314575"/>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4.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Redação do artigo e do relatório final.</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FIN-76</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correlação dentro dos municípios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10634472" cy="914400"/>
        </p:xfrm>
        <a:graphic>
          <a:graphicData uri="http://schemas.openxmlformats.org/drawingml/2006/table">
            <a:tbl>
              <a:tblPr/>
              <a:tblGrid>
                <a:gridCol w="2011680"/>
                <a:gridCol w="718566"/>
                <a:gridCol w="718566"/>
                <a:gridCol w="718566"/>
                <a:gridCol w="718566"/>
                <a:gridCol w="718566"/>
                <a:gridCol w="718566"/>
                <a:gridCol w="718566"/>
                <a:gridCol w="718566"/>
                <a:gridCol w="718566"/>
                <a:gridCol w="718566"/>
                <a:gridCol w="718566"/>
                <a:gridCol w="718566"/>
              </a:tblGrid>
              <a:tr h="274320">
                <a:tc>
                  <a:txBody>
                    <a:bodyPr/>
                    <a:lstStyle/>
                    <a:p>
                      <a:pPr indent="0" marL="0">
                        <a:buNone/>
                      </a:pP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AGU</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ESG</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LIX</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MOR</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ANA</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REN</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PPI</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CAN</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BAN</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MNC</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IDO</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CRI</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Água inadequada</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Esgoto inadequado</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Lixo inadequado</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Razão de moradores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Analfabetismo (15 anos ou mais)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Renda média do responsável</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Preta, parda ou indígena</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Sem água canalizada</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Sem banheiro</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Moradia não convencional</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Idosos (60 anos ou mais)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Crianças (0 a 14 anos)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FIN-77</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cargas dos 12, no conjunto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10634472" cy="914400"/>
        </p:xfrm>
        <a:graphic>
          <a:graphicData uri="http://schemas.openxmlformats.org/drawingml/2006/table">
            <a:tbl>
              <a:tblPr/>
              <a:tblGrid>
                <a:gridCol w="2011680"/>
                <a:gridCol w="1077849"/>
                <a:gridCol w="1077849"/>
                <a:gridCol w="1077849"/>
                <a:gridCol w="1077849"/>
                <a:gridCol w="1077849"/>
                <a:gridCol w="1077849"/>
                <a:gridCol w="1077849"/>
                <a:gridCol w="1077849"/>
              </a:tblGrid>
              <a:tr h="274320">
                <a:tc>
                  <a:txBody>
                    <a:bodyPr/>
                    <a:lstStyle/>
                    <a:p>
                      <a:pPr indent="0" marL="0">
                        <a:buNone/>
                      </a:pP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MSA</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h²</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Sem rot. F1</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Sem rot. F2</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Varimax F1</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Varimax F2</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Promax F1</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Promax F2</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Água inadequada</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Esgoto inadequado</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0,92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Lixo inadequado</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Razão de moradores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Analfabetismo (15 anos ou mais)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Renda média do responsável</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Preta, parda ou indígena</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Sem água canalizada</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Sem banheiro</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Moradia não convencional</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Idosos (60 anos ou mais)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Crianças (0 a 14 anos)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1,00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FIN-78</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cargas dos 12, dentro dos municípios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10634472" cy="914400"/>
        </p:xfrm>
        <a:graphic>
          <a:graphicData uri="http://schemas.openxmlformats.org/drawingml/2006/table">
            <a:tbl>
              <a:tblPr/>
              <a:tblGrid>
                <a:gridCol w="2011680"/>
                <a:gridCol w="1077849"/>
                <a:gridCol w="1077849"/>
                <a:gridCol w="1077849"/>
                <a:gridCol w="1077849"/>
                <a:gridCol w="1077849"/>
                <a:gridCol w="1077849"/>
                <a:gridCol w="1077849"/>
                <a:gridCol w="1077849"/>
              </a:tblGrid>
              <a:tr h="274320">
                <a:tc>
                  <a:txBody>
                    <a:bodyPr/>
                    <a:lstStyle/>
                    <a:p>
                      <a:pPr indent="0" marL="0">
                        <a:buNone/>
                      </a:pP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MSA</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h²</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Sem rot. F1</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Sem rot. F2</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Varimax F1</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Varimax F2</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Promax F1</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00" b="1" dirty="0">
                          <a:solidFill>
                            <a:srgbClr val="1A1A18"/>
                          </a:solidFill>
                          <a:latin typeface="Cambria" pitchFamily="34" charset="0"/>
                          <a:ea typeface="Cambria" pitchFamily="34" charset="-122"/>
                          <a:cs typeface="Cambria" pitchFamily="34" charset="-120"/>
                        </a:rPr>
                        <a:t>Promax F2</a:t>
                      </a:r>
                      <a:endParaRPr lang="en-US" sz="7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Água inadequada</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Esgoto inadequado</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0,92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Lixo inadequado</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Razão de moradores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Analfabetismo (15 anos ou mais)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Renda média do responsável</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Preta, parda ou indígena</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0,91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Sem água canalizada</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0,36</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0,58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0,64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Sem banheiro</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0,25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0,39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-0,02</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Moradia não convencional</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0,07</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Idosos (60 anos ou mais)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0,49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-0,09</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Crianças (0 a 14 anos)</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0,80</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0,71</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-0,14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0,84</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0,08</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0,85</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750" dirty="0">
                          <a:solidFill>
                            <a:srgbClr val="1A1A18"/>
                          </a:solidFill>
                          <a:latin typeface="Cambria" pitchFamily="34" charset="0"/>
                          <a:ea typeface="Cambria" pitchFamily="34" charset="-122"/>
                          <a:cs typeface="Cambria" pitchFamily="34" charset="-120"/>
                        </a:rPr>
                        <a:t>-0,03</a:t>
                      </a:r>
                      <a:endParaRPr lang="en-US" sz="7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FIN-79</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 IVS proposto nos 70 municípios (1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260729"/>
                <a:gridCol w="1260729"/>
                <a:gridCol w="1260729"/>
                <a:gridCol w="1260729"/>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IVS médio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 elevado ou muito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Ananindeua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0,559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Anápolis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0,447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Araçatuba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Autazes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Belo Horizonte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3.963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Belém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1.867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Brasília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4.120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Cachoeiro de Itapemirim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Camaragibe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Campo Grande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Canoas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Capelinha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Chapada dos Guimarães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Charqueadas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Coroaci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Curitiba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161"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260729"/>
                <a:gridCol w="1260729"/>
                <a:gridCol w="1260729"/>
                <a:gridCol w="1260729"/>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IVS médio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 elevado ou muito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Divinópolis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0,391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Duque de Caxias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Feira de Santana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Fortaleza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Goianésia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Groaíras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Guapiaçu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Guarujá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581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Guarulhos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2.130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Ibatiba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Igarapava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Itajuípe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Itapetinga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Japoatã</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0,448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Jaqueira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44,4%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Limoeiro do 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FIN-80</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 IVS proposto nos 70 municípios (2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260729"/>
                <a:gridCol w="1260729"/>
                <a:gridCol w="1260729"/>
                <a:gridCol w="1260729"/>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IVS médio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 elevado ou muito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Macaé</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Maceió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Manaus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Marechal Deodoro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Mauá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Natal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Nova Iguaçu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Orizânia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Pato Branco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Placas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Portel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Porto Alegre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1.941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0,338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Recife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Rio de Janeiro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10.691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Rosário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Salto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Salvador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3.895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163"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260729"/>
                <a:gridCol w="1260729"/>
                <a:gridCol w="1260729"/>
                <a:gridCol w="1260729"/>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IVS médio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 elevado ou muito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Santa Maria do 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Bernardo do Campo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Caetano do 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Gonçalo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de Ribamar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dos Pinhais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Luís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21.299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 das Missões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Pedro da Aldeia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Raimundo do Doca Bezerra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Tabatinga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Teresina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Urandi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Vicentinópolis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Água Preta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FIN-81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81</Slides>
  <Notes>81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81</vt:i4>
      </vt:variant>
    </vt:vector>
  </HeadingPairs>
  <TitlesOfParts>
    <vt:vector size="8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Análise fatorial multiversão e o IVS proposto</dc:title>
  <dc:subject>PptxGenJS Presentation</dc:subject>
  <dc:creator>Pedro Dias Soares</dc:creator>
  <cp:lastModifiedBy>Pedro Dias Soares</cp:lastModifiedBy>
  <cp:revision>1</cp:revision>
  <dcterms:created xsi:type="dcterms:W3CDTF">2026-10-22T19:30:47Z</dcterms:created>
  <dcterms:modified xsi:type="dcterms:W3CDTF">2026-10-22T19:30:47Z</dcterms:modified>
</cp:coreProperties>
</file>