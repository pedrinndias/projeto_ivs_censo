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[REN-01] Renda média do responsável
Fontes: relatorio_parcial_raic/Relatorio_Parcial_RAIC_2026_Pedro_corrigido.pdf, Quadro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[REN-02] Análise exploratória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[REN-03] O que o indicador mede e por que importa
Fontes: src/ivs_censo/indicadores.py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[REN-04] Como é calculado
O que é. A receita do indicador: quais variáveis do Censo vão em cima (numerador) e em baixo (denominador) da divisão, e de que arquivo do IBGE cada uma sai.
Para que serve. Permite refazer a conta e conferir qualquer número. As variáveis "V0…" são os códigos do dicionário oficial dos agregados por setor do Censo 2022.
Como ler. Uma soma no numerador junta categorias (por exemplo, todas as formas inadequadas). O cálculo é por setor censitário, a menor área com dado do Censo.
Fontes: src/ivs_censo/indicadores.py; src/ivs_censo/fontes.py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[REN-05] As adequações ao Censo 2022
Fontes: relatorio_parcial_raic/Relatorio_Parcial_RAIC_2026_Pedro_corrigido.pdf, seção IV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[REN-06] 99,99% dos setores têm o dado
O que é. Quantos setores têm o indicador calculado e quantos ficaram sem ele, com o perfil de cada grupo.
Para que serve. O IBGE esconde (sigilo) números muito pequenos para ninguém ser identificado. Se o dado falta mais num tipo de setor, as médias ficam enviesadas — por isso o perfil dos dois grupos.
Como ler. Compare a renda mediana, a % de favela e a % de Sudeste entre "com o dado" e "sem o dado". Se forem parecidas, a falta é próxima do acaso.
O que mostra. 104.095 dos 104.108 setores (99,99%) têm o dado. A ausência é desprezível.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[REN-07] Onde falta o dado
O que é. A proporção de setores sem o indicador em cada região.
Para que serve. Mostra se a falta de dado se concentra numa parte do país, o que pesaria nas comparações regionais.
Como ler. Cada barra é uma região; quanto mais longa, mais setores sem o dado.
O que mostra. A maior proporção sem dado é no Sudeste (0,02%); a menor, no Norte (0,0%).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[REN-08] Estatísticas descritivas
O que é. O resumo numérico do indicador nos setores urbanos dos 70 municípios.
Para que serve. A média é puxada por valores extremos; a mediana é o valor do setor do meio. O percentil 25 (ou 75) é o valor abaixo do qual estão 25% (ou 75%) dos setores. A assimetria mede o quanto a distribuição tem cauda longa para um lado.
Como ler. Assimetria perto de zero: distribuição equilibrada. Acima de 1: cauda longa à direita, poucos setores com valores muito altos. Muitos zeros e assimetria alta pedem cuidado ao padronizar.
O que mostra. A média (R$ 4.185,81) e a mediana (R$ 2.572,39) se afastam: assimetria de 3,20.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[REN-09] O histograma
O que é. Os setores agrupados em faixas de valor do indicador; a altura de cada barra é quantos setores caem naquela faixa.
Para que serve. Mostra a forma da distribuição: onde está a maioria dos setores e se há cauda longa.
Como ler. Barra alta à esquerda e cauda à direita: muitos setores com valor baixo e poucos com valor alto. A linha vermelha é a média; a tracejada, a mediana — quanto mais afastadas, mais assimétrica.
O que mostra. A média (R$ 4.185,81) e a mediana (R$ 2.572,39) se afastam: assimetria de 3,20.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[REN-10] O boxplot
O que é. Um resumo da distribuição numa figura: caixa, mediana, bigodes e pontos extremos.
Para que serve. Mostra de uma vez onde está a metade central dos setores e quantos fogem do padrão.
Como ler. A caixa vai do percentil 25 ao 75; a linha vermelha é a mediana; os bigodes vão até 1,5 vez a altura da caixa; cada ponto além deles é um setor extremo.
O que mostra. 10.468 setores ficam além do bigode direito.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[REN-11] A distribuição acumulada
O que é. Para cada valor no eixo horizontal, a curva dá a proporção de setores com valor igual ou menor.
Para que serve. Lê qualquer percentil direto no gráfico, sem depender das faixas do histograma.
Como ler. Escolha uma altura (as linhas pontilhadas marcam 25%, 50% e 75%) e desça até o eixo: é o valor daquele percentil. Uma subida vertical no começo indica muitos setores com o mesmo valor (por exemplo, zero).
O que mostra. Metade dos setores tem até R$ 2.572,39; três quartos, até R$ 4.835,83.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[REN-12] A régua dos percentis
O que é. O valor do indicador em seis pontos da distribuição: do setor no percentil 10 ao do percentil 99.
Para que serve. Mostra quanto o indicador cresce do setor típico para os mais altos — onde está a desigualdade.
Como ler. Barras que sobem devagar e explodem no fim (p90, p99): o problema se concentra em poucos setores. A linha vermelha é a média.
O que mostra. Do percentil 50 (R$ 2.572,39) ao 99 (R$ 19.771,58).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[REN-13] Por região: a tabela
O que é. As estatísticas do indicador separadas pelas cinco grandes regiões.
Para que serve. Mostra se o indicador tem padrão regional, o que pesa na escolha da régua (dentro de cada município ou no conjunto).
Como ler. Compare média e mediana entre as linhas; "% zeros" é a parte dos setores sem nenhum domicílio ou pessoa na condição.
O que mostra. A maior média é a do Centro-Oeste (R$ 4.944,55); a menor, a do Norte (R$ 2.880,50).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[REN-14] Por região: o boxplot
O que é. Um boxplot por região, lado a lado.
Para que serve. Compara não só a média, mas a dispersão de cada região.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 Centro-Oeste (R$ 4.944,55); a menor, a do Norte (R$ 2.880,50). O Norte tem só 6 municípios: os contrastes descrevem os municípios estudados, não a região inteira.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[REN-15] Por porte do município: a tabela
O que é. As estatísticas do indicador por tamanho do município (moradores somados nos setores da base).
Para que serve. Testa se o indicador acompanha o tamanho da cidade — se sim, parte dele mede porte urbano, não vulnerabilidade.
Como ler. Três grupos: até 100 mil, de 100 a 500 mil e mais de 500 mil moradores.
O que mostra. A maior média é a dos municípios de mais de 500 mil (R$ 4.287,42); a menor, a dos de até 100 mil (R$ 2.467,43).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[REN-16] Por porte do município: o boxplot
O que é. Um boxplot por porte de município.
Para que serve. Mostra se cidades maiores ou menores concentram o problema.
Como ler. A caixa vai do percentil 25 ao 75 (metade central dos setores); a linha vermelha é a mediana; o losango, a média; os bigodes vão até 1,5 vez a altura da caixa. Os extremos além dos bigodes não são desenhados, para a escala não ficar presa a poucos setores.
O que mostra. A maior média é a dos municípios de mais de 500 mil (R$ 4.287,42); a menor, a dos de até 100 mil (R$ 2.467,43).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[REN-17] Os 70 municípios: maiores e menores médias
O que é. Os 10 municípios com a maior média do indicador e os 10 com a menor.
Para que serve. Identifica onde o indicador é mais e menos presente. A tabela completa está no apêndice.
Como ler. Atenção à coluna "Setores": município com poucos setores tem média instável, que muda muito com um setor a mais ou a menos.
O que mostra. Maior média: São Caetano do Sul (R$ 6.549,58, 421 setores); menor: Jaqueira (R$ 1.196,37).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[REN-18] Os 70 municípios, ordenados pela mediana
O que é. Cada coluna é um município: o ponto é a mediana dos setores dele e o traço vai do percentil 25 ao 75.
Para que serve. Mostra ao mesmo tempo o nível de cada cidade (o ponto) e a desigualdade dentro dela (o tamanho do traço).
Como ler. Da esquerda para a direita, das cidades com mediana mais baixa às mais altas. Traço longo: setores muito diferentes entre si na mesma cidade.
O que mostra. A mediana vai de R$ 1.062,36 a R$ 5.291,89.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[REN-19] A desigualdade dentro das cidades: a tabela
O que é. Duas medidas de quanto os setores de uma mesma cidade diferem entre si: o intervalo interquartil (percentil 75 menos 25) e o Gini.
Para que serve. O IVS é intraurbano: quer achar as diferenças dentro da cidade. Indicador que varia pouco dentro das cidades contribui pouco para isso.
Como ler. O Gini vai de 0 (todos os setores iguais) a 1 (tudo concentrado num setor). Mostra os 8 municípios mais desiguais e os 4 menos.
O que mostra. Entre os 56 municípios com pelo menos 30 setores, o Gini vai de 0,130 (Água Preta) a 0,490 (Recife).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[REN-20] A desigualdade dentro das cidades: o gráfico
O que é. Cada ponto é um município: na horizontal, o nível do indicador; na vertical, a desigualdade entre os setores dele.
Para que serve. Separa cidades com o problema espalhado (nível alto, Gini baixo) de cidades com o problema concentrado em poucos setores (Gini alto).
Como ler. Pontos maiores são cidades com mais setores. Os nomes marcados são os extremos de desigualdade.
O que mostra. Entre os 56 municípios com pelo menos 30 setores, o Gini vai de 0,130 (Água Preta) a 0,490 (Recife).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[REN-21] Favela e fora da favela: a tabela
O que é. As estatísticas do indicador nos setores de favela e comunidade urbana (classificação do IBGE) e nos demais.
Para que serve. Favela é um território sabidamente vulnerável: um indicador de vulnerabilidade deveria ser mais alto nela. É uma checagem de bom senso, não uma validação.
Como ler. Compare as médias; a razão diz quantas vezes o valor na favela é o de fora.
O que mostra. Média de R$ 1.600,95 nos setores de favela e de R$ 4.779,66 fora delas (razão de 0,3).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[REN-22] Favela e fora da favela: o boxplot
O que é. Um boxplot para os setores de favela e outro para os demais.
Para que serve. Mostra se a diferença está em todos os setores ou só em alguns.
Como ler. A caixa vai do percentil 25 ao 75 (metade central dos setores); a linha vermelha é a mediana; o losango, a média; os bigodes vão até 1,5 vez a altura da caixa. Os extremos além dos bigodes não são desenhados, para a escala não ficar presa a poucos setores.
O que mostra. Média de R$ 1.600,95 nos setores de favela e de R$ 4.779,66 fora delas (razão de 0,3).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[REN-23] A renda ao longo da cor/raça
O que é. Os setores de cada município ordenados pela proporção de pessoas pretas, pardas e indígenas e divididos em 10 grupos; o gráfico dá a renda média e mediana de cada grupo.
Para que serve. Mostra o gradiente social: se o indicador piora à medida que a renda cai. Como os decis são feitos dentro de cada município, a comparação é sempre entre setores da mesma cidade.
Como ler. Linha descendente da esquerda para a direita: o indicador é maior nos setores mais pobres. Linha plana: não depende da renda.
O que mostra. No decil 1 a média é R$ 11.844,31; no decil 10, R$ 1.604,62.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[REN-24] Os 70 municípios e o Brasil urbano: a tabela
O que é. O indicador nos setores urbanos de todo o Brasil e nos dos 70 municípios do ELSI-Brasil.
Para que serve. Diz se o recorte do estudo é parecido com o país urbano, ou se há viés de seleção dos municípios.
Como ler. Médias próximas: o recorte representa bem o Brasil urbano neste indicador.
O que mostra. No Brasil urbano a média é R$ 3.208,40; nos 70 municípios, R$ 4.185,81.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[REN-25] Os 70 municípios e o Brasil urbano: o gráfico
O que é. As duas distribuições acumuladas sobrepostas.
Para que serve. Compara a distribuição inteira, não só a média.
Como ler. Curva mais à direita: valores mais altos. Curvas coladas: as duas populações de setores são parecidas.
O que mostra. No Brasil urbano a média é R$ 3.208,40; nos 70 municípios, R$ 4.185,81.
Fontes: banco_de_dados/nacional/Base_Brasil_Censo2022.db;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[REN-26] Os valores extremos
O que é. Os 10 setores com o maior valor do indicador.
Para que serve. Ajuda a separar extremo verdadeiro (um setor realmente muito carente, ou muito rico) de erro de dado. A coluna "Moradores" mostra setores pequenos, onde um domicílio muda muito a proporção.
Como ler. Proporção 1 quer dizer todos os domicílios (ou pessoas) do setor na condição.
O que mostra. O percentil 99 é R$ 19.771,58; 1.041 setores ficam acima dele. O setor retirado (item c do relatório) fica fora desta lista: Belo Horizonte, R$ 170.418,06.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[REN-27] Na análise fatorial
Fontes: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[REN-28] Correlação com os outros 11: a tabela
O que é. A correlação do indicador com cada um dos outros 11, nos setores que têm os 12.
Para que serve. A análise fatorial agrupa os indicadores que andam juntos. Correlações altas dizem com quem este indicador vai formar uma dimensão.
Como ler. 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
O que mostra. A correlação mais forte é com Preta, parda ou indígena: 0,79 no conjunto e 0,84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[REN-29] Correlação com os outros 11: o gráfico
O que é. As mesmas correlações em barras: verde, no conjunto; vermelho, dentro dos municípios.
Para que serve. Quando a barra vermelha encolhe, parte da relação vinha de diferenças entre cidades, não de diferenças dentro delas.
Como ler. Barra para a direita: relação positiva; para a esquerda, negativa. Ordenado da mais forte para a mais fraca.
O que mostra. A correlação mais forte é com Preta, parda ou indígena: 0,79 no conjunto e 0,84 dentro dos municípios.
Fontes: banco_de_dados/eda/fatorial_multiversao/camada1_12_global_correlacao.csv; banco_de_dados/eda/fatorial_multiversao/camada1_12_municipal_correlacao.csv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[REN-30] Na análise fatorial das 12: a tabela
O que é. O resultado da análise fatorial dos 12 indicadores juntos (eixo principal, 2 fatores), nas duas réguas.
Para que serve. A carga diz quanto o indicador "pertence" a cada fator (F1, F2). A comunalidade é a parte da variação dele explicada pelos fatores; o MSA, o quanto ele combina com os outros para uma fatorial.
Como ler. Carga perto de 1 (ou −1): pertence ao fator; perto de 0, não. Comunalidade abaixo de 0,30 e MSA abaixo de 0,50 são os limites pré-registrados. Varimax mantém os fatores independentes; promax deixa que se correlacionem.
O que mostra. Comunalidade de 0,683 no conjunto e 0,748 dentro dos municípios (critério: 0,30); MSA de 0,801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[REN-31] Na análise fatorial das 12: as cargas
O que é. As cargas do indicador nos dois fatores, em cada forma de rotação, nas duas réguas.
Para que serve. Mostra se o indicador fica sempre no mesmo fator, seja qual for a rotação — sinal de que a posição dele na estrutura é estável.
Como ler. Barra alta em F1 e baixa em F2: o indicador pertence a F1. Barras parecidas nas quatro rotações: a conclusão não depende do método.
O que mostra. Comunalidade de 0,683 no conjunto e 0,748 dentro dos municípios (critério: 0,30); MSA de 0,801 (critério: 0,50).
Fontes: banco_de_dados/eda/fatorial_multiversao/camada1_12_global_cargas.csv; banco_de_dados/eda/fatorial_multiversao/camada1_12_municipal_cargas.csv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[REN-32] O que acontece quando ele entra ou sai
O que é. Foram rodadas todas as 4.017 combinações de 3 ou mais dos 12 indicadores. Aqui se comparam os pares de combinações que só diferem por este indicador.
Para que serve. Isola o efeito de incluir este indicador: se melhora ou piora a adequação (KMO), quantos setores custa (por sigilo) e se faz a combinação deixar de passar nos critérios.
Como ler. KMO vai de 0 a 1 e mede se os indicadores compartilham variação suficiente para uma fatorial; acima de 0,70 é adequado. "Elegível" = passa nos quatro critérios pré-registrados.
O que mostra. Na régua municipal, em 0,05% dos pares a combinação era elegível sem ele e deixa de ser com ele; ao entrar, custa na mediana 10 setores e muda o KMO em 0,064.
Fontes: banco_de_dados/eda/fatorial_multiversao/camada1_efeito_variavel.csv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[REN-33] A comunalidade dele nas 4.017 combinações
O que é. A comunalidade do indicador em cada uma das combinações em que ele entra, nas duas réguas.
Para que serve. Mostra se o indicador compartilha variação com os outros de forma consistente, ou só em algumas combinações.
Como ler. Histograma à direita da linha tracejada: o indicador costuma passar no critério. À esquerda: costuma ficar de fora da estrutura comum.
O que mostra. Dentro dos municípios, fica abaixo do critério em 1,5% das combinações em que entra.
Fontes: banco_de_dados/eda/fatorial_multiversao/camada1_subconjuntos.csv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[REN-34] O peso no índice
O que é. O peso do indicador no índice em cada especificação finalista (a proposta e as alternativas de maior impacto), e o menor e o maior peso quando se tira um município por vez.
Para que serve. Mostra quanto o indicador conta no IVS e se esse peso depende de uma cidade específica.
Como ler. Peso é a fração do índice que vem deste indicador (os pesos de todos somam 100%). "Fora": não entra naquela especificação.
O que mostra. No IVS proposto o peso é 28,9%; tirando um município por vez, vai de 23,0% a 31,7%.
Fontes: banco_de_dados/eda/fatorial_multiversao/camada3_finalistas.csv;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[REN-35] O peso sem um município por vez
O que é. O peso do indicador recalculado 70 vezes, cada vez sem um dos municípios.
Para que serve. É a medida de incerteza adotada (a reamostragem de setores subestimava). Se um município sozinho muda muito o peso, a fatorial depende dele.
Como ler. Histograma estreito em torno da linha vermelha: peso estável. Barras isoladas longe dela: um município que puxa o peso.
O que mostra. No IVS proposto o peso é 28,9%; tirando um município por vez, vai de 23,0% a 31,7%.
Fontes: banco_de_dados/eda/fatorial_multiversao/camada3_estabilidade.csv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[REN-36] Síntese
Fontes: seções anteriores deste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[REN-37] Apêndice: os 70 municípios (1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[REN-38] Apêndice: os 70 municípios (2 de 2)
Fontes: banco_de_dados/entrega_orientadora/Base_ELSI_70Municipios_Censo2022.db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1234440"/>
            <a:ext cx="10634472" cy="310896"/>
          </a:xfrm>
          <a:prstGeom prst="rect">
            <a:avLst/>
          </a:prstGeom>
          <a:noFill/>
          <a:ln/>
        </p:spPr>
        <p:txBody>
          <a:bodyPr wrap="square" lIns="0" tIns="0" rIns="0" bIns="0" rtlCol="0" anchor="ctr"/>
          <a:lstStyle/>
          <a:p>
            <a:pPr indent="0" marL="0">
              <a:buNone/>
            </a:pPr>
            <a:r>
              <a:rPr lang="en-US" sz="1150" spc="200" kern="0" dirty="0">
                <a:solidFill>
                  <a:srgbClr val="56534C"/>
                </a:solidFill>
                <a:latin typeface="Cambria" pitchFamily="34" charset="0"/>
                <a:ea typeface="Cambria" pitchFamily="34" charset="-122"/>
                <a:cs typeface="Cambria" pitchFamily="34" charset="-120"/>
              </a:rPr>
              <a:t>INDICADOR REN · SOCIOECONÔMICA</a:t>
            </a:r>
            <a:endParaRPr lang="en-US" sz="1150" dirty="0"/>
          </a:p>
        </p:txBody>
      </p:sp>
      <p:sp>
        <p:nvSpPr>
          <p:cNvPr id="3" name="Shape 1"/>
          <p:cNvSpPr/>
          <p:nvPr/>
        </p:nvSpPr>
        <p:spPr>
          <a:xfrm>
            <a:off x="777240" y="1627632"/>
            <a:ext cx="10634472" cy="0"/>
          </a:xfrm>
          <a:prstGeom prst="line">
            <a:avLst/>
          </a:prstGeom>
          <a:noFill/>
          <a:ln w="12700">
            <a:solidFill>
              <a:srgbClr val="1A1A18"/>
            </a:solidFill>
            <a:prstDash val="solid"/>
          </a:ln>
        </p:spPr>
      </p:sp>
      <p:sp>
        <p:nvSpPr>
          <p:cNvPr id="4" name="Text 2"/>
          <p:cNvSpPr/>
          <p:nvPr/>
        </p:nvSpPr>
        <p:spPr>
          <a:xfrm>
            <a:off x="777240" y="1783080"/>
            <a:ext cx="10634472" cy="914400"/>
          </a:xfrm>
          <a:prstGeom prst="rect">
            <a:avLst/>
          </a:prstGeom>
          <a:noFill/>
          <a:ln/>
        </p:spPr>
        <p:txBody>
          <a:bodyPr wrap="square" lIns="0" tIns="0" rIns="0" bIns="0" rtlCol="0" anchor="ctr"/>
          <a:lstStyle/>
          <a:p>
            <a:pPr indent="0" marL="0">
              <a:buNone/>
            </a:pPr>
            <a:r>
              <a:rPr lang="en-US" sz="4000" b="1" dirty="0">
                <a:solidFill>
                  <a:srgbClr val="1A1A18"/>
                </a:solidFill>
                <a:latin typeface="Cambria" pitchFamily="34" charset="0"/>
                <a:ea typeface="Cambria" pitchFamily="34" charset="-122"/>
                <a:cs typeface="Cambria" pitchFamily="34" charset="-120"/>
              </a:rPr>
              <a:t>Renda média do responsável</a:t>
            </a:r>
            <a:endParaRPr lang="en-US" sz="4000" dirty="0"/>
          </a:p>
        </p:txBody>
      </p:sp>
      <p:sp>
        <p:nvSpPr>
          <p:cNvPr id="5" name="Text 3"/>
          <p:cNvSpPr/>
          <p:nvPr/>
        </p:nvSpPr>
        <p:spPr>
          <a:xfrm>
            <a:off x="777240" y="2788920"/>
            <a:ext cx="8595360" cy="1005840"/>
          </a:xfrm>
          <a:prstGeom prst="rect">
            <a:avLst/>
          </a:prstGeom>
          <a:noFill/>
          <a:ln/>
        </p:spPr>
        <p:txBody>
          <a:bodyPr wrap="square" lIns="0" tIns="0" rIns="0" bIns="0" rtlCol="0" anchor="ctr"/>
          <a:lstStyle/>
          <a:p>
            <a:pPr indent="0" marL="0">
              <a:lnSpc>
                <a:spcPts val="2000"/>
              </a:lnSpc>
              <a:buNone/>
            </a:pPr>
            <a:r>
              <a:rPr lang="en-US" sz="1400" dirty="0">
                <a:solidFill>
                  <a:srgbClr val="56534C"/>
                </a:solidFill>
                <a:latin typeface="Cambria" pitchFamily="34" charset="0"/>
                <a:ea typeface="Cambria" pitchFamily="34" charset="-122"/>
                <a:cs typeface="Cambria" pitchFamily="34" charset="-120"/>
              </a:rPr>
              <a:t>Rendimento nominal médio mensal das pessoas responsáveis (R$). Compõe o IVS (Quadro 1 do relatório). Parte A: análise exploratória. Parte B: o indicador na análise fatorial.</a:t>
            </a:r>
            <a:endParaRPr lang="en-US" sz="1400" dirty="0"/>
          </a:p>
        </p:txBody>
      </p:sp>
      <p:sp>
        <p:nvSpPr>
          <p:cNvPr id="6" name="Shape 4"/>
          <p:cNvSpPr/>
          <p:nvPr/>
        </p:nvSpPr>
        <p:spPr>
          <a:xfrm>
            <a:off x="777240" y="5623560"/>
            <a:ext cx="10634472" cy="0"/>
          </a:xfrm>
          <a:prstGeom prst="line">
            <a:avLst/>
          </a:prstGeom>
          <a:noFill/>
          <a:ln w="9525">
            <a:solidFill>
              <a:srgbClr val="C8C6C0"/>
            </a:solidFill>
            <a:prstDash val="solid"/>
          </a:ln>
        </p:spPr>
      </p:sp>
      <p:sp>
        <p:nvSpPr>
          <p:cNvPr id="7" name="Text 5"/>
          <p:cNvSpPr/>
          <p:nvPr/>
        </p:nvSpPr>
        <p:spPr>
          <a:xfrm>
            <a:off x="777240" y="5760720"/>
            <a:ext cx="10634472" cy="457200"/>
          </a:xfrm>
          <a:prstGeom prst="rect">
            <a:avLst/>
          </a:prstGeom>
          <a:noFill/>
          <a:ln/>
        </p:spPr>
        <p:txBody>
          <a:bodyPr wrap="square" lIns="0" tIns="0" rIns="0" bIns="0" rtlCol="0" anchor="ctr"/>
          <a:lstStyle/>
          <a:p>
            <a:pPr indent="0" marL="0">
              <a:buNone/>
            </a:pPr>
            <a:r>
              <a:rPr lang="en-US" sz="1100" dirty="0">
                <a:solidFill>
                  <a:srgbClr val="56534C"/>
                </a:solidFill>
                <a:latin typeface="Cambria" pitchFamily="34" charset="0"/>
                <a:ea typeface="Cambria" pitchFamily="34" charset="-122"/>
                <a:cs typeface="Cambria" pitchFamily="34" charset="-120"/>
              </a:rPr>
              <a:t>Fatorial multiversão e IVS · Censo Demográfico 2022 · 70 municípios do ELSI-Brasil · Pedro Dias Soares · out/2026</a:t>
            </a:r>
            <a:endParaRPr lang="en-US" sz="1100" dirty="0"/>
          </a:p>
        </p:txBody>
      </p:sp>
      <p:sp>
        <p:nvSpPr>
          <p:cNvPr id="8" name="Text 6"/>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1</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Análise exploratória</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O que o indicador mede, como se distribui nos setores, onde é mais alto e como se relaciona com renda, favela e o Brasil — antes de qualquer análise fatorial.</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o indicador mede e por que importa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 que mede.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Rendimento nominal médio mensal das pessoas responsáveis (R$), em reais por mês.</a:t>
            </a:r>
            <a:endParaRPr lang="en-US" sz="1350" dirty="0"/>
          </a:p>
        </p:txBody>
      </p:sp>
      <p:sp>
        <p:nvSpPr>
          <p:cNvPr id="6" name="Text 4"/>
          <p:cNvSpPr/>
          <p:nvPr/>
        </p:nvSpPr>
        <p:spPr>
          <a:xfrm>
            <a:off x="777240" y="1649349"/>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importa para a saúde.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renda define o acesso a alimentação, moradia, transporte e cuidado. No índice ela entra invertida: quanto menor a renda, maior a vulnerabilidade.</a:t>
            </a:r>
            <a:endParaRPr lang="en-US" sz="1350" dirty="0"/>
          </a:p>
        </p:txBody>
      </p:sp>
      <p:sp>
        <p:nvSpPr>
          <p:cNvPr id="7" name="Text 5"/>
          <p:cNvSpPr/>
          <p:nvPr/>
        </p:nvSpPr>
        <p:spPr>
          <a:xfrm>
            <a:off x="777240" y="2204847"/>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Direção.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Quanto maior, mais vulnerável — exceto a renda, que entra invertida no índice.</a:t>
            </a:r>
            <a:endParaRPr lang="en-US" sz="1350" dirty="0"/>
          </a:p>
        </p:txBody>
      </p:sp>
      <p:sp>
        <p:nvSpPr>
          <p:cNvPr id="8" name="Text 6"/>
          <p:cNvSpPr/>
          <p:nvPr/>
        </p:nvSpPr>
        <p:spPr>
          <a:xfrm>
            <a:off x="777240" y="253746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No índice.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Compõe o IVS de 2012 e o núcleo desta análise (padrão P2).</a:t>
            </a:r>
            <a:endParaRPr lang="en-US" sz="1350" dirty="0"/>
          </a:p>
        </p:txBody>
      </p:sp>
      <p:sp>
        <p:nvSpPr>
          <p:cNvPr id="9"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Como é calculado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737360"/>
                <a:gridCol w="48463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Parte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Definição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Numerador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V06004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Denominador</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sem denominador (média publicada pelo IBGE)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Escala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reais por mês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Arquivos do IBGE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Agregados_por_setores_renda_responsavel_BR.csv</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Na análise fatorial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entra invertida (maior = mais vulnerável)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receita do indicador: quais variáveis do Censo vão em cima (numerador) e em baixo (denominador) da divisão, e de que arquivo do IBGE cada uma sai.</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Permite refazer a conta e conferir qualquer número. As variáveis "V0…" são os códigos do dicionário oficial dos agregados por setor do Censo 2022.</a:t>
            </a:r>
            <a:endParaRPr lang="en-US" sz="1150" dirty="0"/>
          </a:p>
        </p:txBody>
      </p:sp>
      <p:sp>
        <p:nvSpPr>
          <p:cNvPr id="9" name="Text 6"/>
          <p:cNvSpPr/>
          <p:nvPr/>
        </p:nvSpPr>
        <p:spPr>
          <a:xfrm>
            <a:off x="7726680" y="284695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Uma soma no numerador junta categorias (por exemplo, todas as formas inadequadas). O cálculo é por setor censitário, a menor área com dado do Censo.</a:t>
            </a:r>
            <a:endParaRPr lang="en-US" sz="1150" dirty="0"/>
          </a:p>
        </p:txBody>
      </p:sp>
      <p:sp>
        <p:nvSpPr>
          <p:cNvPr id="10" name="Text 7"/>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As adequações ao Censo 2022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Universo e extremo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rendimento médio das pessoas responsáveis com rendimento (V06004), calculado pelo IBGE; um setor de favela de Belo Horizonte com valor incoerente foi retirado (item c).</a:t>
            </a:r>
            <a:endParaRPr lang="en-US" sz="1350" dirty="0"/>
          </a:p>
        </p:txBody>
      </p:sp>
      <p:sp>
        <p:nvSpPr>
          <p:cNvPr id="6" name="Text 4"/>
          <p:cNvSpPr/>
          <p:nvPr/>
        </p:nvSpPr>
        <p:spPr>
          <a:xfrm>
            <a:off x="777240" y="1872234"/>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Por que existem.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O IVS de 2012 foi feito com o Censo 2010. Quando o Censo 2022 não traz a mesma variável, a troca é declarada aqui, como o relatório parcial faz na seção IV.</a:t>
            </a:r>
            <a:endParaRPr lang="en-US" sz="135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99,99% dos setores têm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92240" cy="914400"/>
        </p:xfrm>
        <a:graphic>
          <a:graphicData uri="http://schemas.openxmlformats.org/drawingml/2006/table">
            <a:tbl>
              <a:tblPr/>
              <a:tblGrid>
                <a:gridCol w="1188720"/>
                <a:gridCol w="1005840"/>
                <a:gridCol w="1005840"/>
                <a:gridCol w="1371600"/>
                <a:gridCol w="914400"/>
                <a:gridCol w="10058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Quantidade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do recorte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Renda 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favela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Sudeste</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104.095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99,99%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R$ 2.572,39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18,7%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sem o dado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38,5%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Quantos setores têm o indicador calculado e quantos ficaram sem ele, com o perfil de cada grupo.</a:t>
            </a:r>
            <a:endParaRPr lang="en-US" sz="1150" dirty="0"/>
          </a:p>
        </p:txBody>
      </p:sp>
      <p:sp>
        <p:nvSpPr>
          <p:cNvPr id="8" name="Text 5"/>
          <p:cNvSpPr/>
          <p:nvPr/>
        </p:nvSpPr>
        <p:spPr>
          <a:xfrm>
            <a:off x="7726680" y="1787906"/>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IBGE esconde (sigilo) números muito pequenos para ninguém ser identificado. Se o dado falta mais num tipo de setor, as médias ficam enviesadas — por isso o perfil dos dois grupos.</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 renda mediana, a % de favela e a % de Sudeste entre "com o dado" e "sem o dado". Se forem parecidas, a falta é próxima do acaso.</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104.095 dos 104.108 setores (99,99%) têm o dado. A ausência é desprezível.</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Onde falta o dado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REN_ausente_regiao.png">    </p:cNvPr>
          <p:cNvPicPr>
            <a:picLocks noChangeAspect="1"/>
          </p:cNvPicPr>
          <p:nvPr/>
        </p:nvPicPr>
        <p:blipFill>
          <a:blip r:embed="rId1"/>
          <a:stretch>
            <a:fillRect/>
          </a:stretch>
        </p:blipFill>
        <p:spPr>
          <a:xfrm>
            <a:off x="777240" y="1298448"/>
            <a:ext cx="6675120" cy="3786974"/>
          </a:xfrm>
          <a:prstGeom prst="rect">
            <a:avLst/>
          </a:prstGeom>
        </p:spPr>
      </p:pic>
      <p:sp>
        <p:nvSpPr>
          <p:cNvPr id="6" name="Text 3"/>
          <p:cNvSpPr/>
          <p:nvPr/>
        </p:nvSpPr>
        <p:spPr>
          <a:xfrm>
            <a:off x="777240" y="5140286"/>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 — </a:t>
            </a:r>
            <a:pPr indent="0" marL="0">
              <a:buNone/>
            </a:pPr>
            <a:r>
              <a:rPr lang="en-US" sz="1050" dirty="0">
                <a:solidFill>
                  <a:srgbClr val="56534C"/>
                </a:solidFill>
                <a:latin typeface="Cambria" pitchFamily="34" charset="0"/>
                <a:ea typeface="Cambria" pitchFamily="34" charset="-122"/>
                <a:cs typeface="Cambria" pitchFamily="34" charset="-120"/>
              </a:rPr>
              <a:t>Renda média do responsável: proporção de setores sem o dado,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proporção de setores sem o indicador em cada região.</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falta de dado se concentra numa parte do país, o que pesaria nas comparações regionais.</a:t>
            </a:r>
            <a:endParaRPr lang="en-US" sz="1150" dirty="0"/>
          </a:p>
        </p:txBody>
      </p:sp>
      <p:sp>
        <p:nvSpPr>
          <p:cNvPr id="10" name="Text 7"/>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barra é uma região; quanto mais longa, mais setores sem o dado.</a:t>
            </a:r>
            <a:endParaRPr lang="en-US" sz="1150" dirty="0"/>
          </a:p>
        </p:txBody>
      </p:sp>
      <p:sp>
        <p:nvSpPr>
          <p:cNvPr id="11" name="Text 8"/>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proporção sem dado é no Sudeste (0,02%); a menor, no Norte (0,0%).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Estatísticas descritivas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4754880" cy="914400"/>
        </p:xfrm>
        <a:graphic>
          <a:graphicData uri="http://schemas.openxmlformats.org/drawingml/2006/table">
            <a:tbl>
              <a:tblPr/>
              <a:tblGrid>
                <a:gridCol w="274320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Setores com o dado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104.095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Média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R$ 4.185,81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Desvio-padrão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R$ 4.118,57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Mínimo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R$ 318,88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10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R$ 1.387,94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R$ 1.752,47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Mediana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R$ 2.572,39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R$ 4.835,83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Percentil 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R$ 9.490,42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Máximo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R$ 140.172,64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Assimetria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3,20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 de setores com zero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resumo numérico do indicador nos setores urbanos dos 70 municípios.</a:t>
            </a:r>
            <a:endParaRPr lang="en-US" sz="1150" dirty="0"/>
          </a:p>
        </p:txBody>
      </p:sp>
      <p:sp>
        <p:nvSpPr>
          <p:cNvPr id="8" name="Text 5"/>
          <p:cNvSpPr/>
          <p:nvPr/>
        </p:nvSpPr>
        <p:spPr>
          <a:xfrm>
            <a:off x="7726680" y="1787906"/>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é puxada por valores extremos; a mediana é o valor do setor do meio. O percentil 25 (ou 75) é o valor abaixo do qual estão 25% (ou 75%) dos setores. A assimetria mede o quanto a distribuição tem cauda longa para um lado.</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Assimetria perto de zero: distribuição equilibrada. Acima de 1: cauda longa à direita, poucos setores com valores muito altos. Muitos zeros e assimetria alta pedem cuidado ao padronizar.</a:t>
            </a:r>
            <a:endParaRPr lang="en-US" sz="1150" dirty="0"/>
          </a:p>
        </p:txBody>
      </p:sp>
      <p:sp>
        <p:nvSpPr>
          <p:cNvPr id="10" name="Text 7"/>
          <p:cNvSpPr/>
          <p:nvPr/>
        </p:nvSpPr>
        <p:spPr>
          <a:xfrm>
            <a:off x="7726680" y="371614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(R$ 4.185,81) e a mediana (R$ 2.572,39) se afastam: assimetria de 3,20.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histograma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REN_histograma.png">    </p:cNvPr>
          <p:cNvPicPr>
            <a:picLocks noChangeAspect="1"/>
          </p:cNvPicPr>
          <p:nvPr/>
        </p:nvPicPr>
        <p:blipFill>
          <a:blip r:embed="rId1"/>
          <a:stretch>
            <a:fillRect/>
          </a:stretch>
        </p:blipFill>
        <p:spPr>
          <a:xfrm>
            <a:off x="777240" y="1298448"/>
            <a:ext cx="6675120" cy="3974605"/>
          </a:xfrm>
          <a:prstGeom prst="rect">
            <a:avLst/>
          </a:prstGeom>
        </p:spPr>
      </p:pic>
      <p:sp>
        <p:nvSpPr>
          <p:cNvPr id="6" name="Text 3"/>
          <p:cNvSpPr/>
          <p:nvPr/>
        </p:nvSpPr>
        <p:spPr>
          <a:xfrm>
            <a:off x="777240" y="5327917"/>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2 — </a:t>
            </a:r>
            <a:pPr indent="0" marL="0">
              <a:buNone/>
            </a:pPr>
            <a:r>
              <a:rPr lang="en-US" sz="1050" dirty="0">
                <a:solidFill>
                  <a:srgbClr val="56534C"/>
                </a:solidFill>
                <a:latin typeface="Cambria" pitchFamily="34" charset="0"/>
                <a:ea typeface="Cambria" pitchFamily="34" charset="-122"/>
                <a:cs typeface="Cambria" pitchFamily="34" charset="-120"/>
              </a:rPr>
              <a:t>Renda média do responsável: número de setores em cada faixa de valor (104.095 setores). Eixo horizontal cortado no percentil 99.</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agrupados em faixas de valor do indicador; a altura de cada barra é quantos setores caem naquela faixa.</a:t>
            </a:r>
            <a:endParaRPr lang="en-US" sz="1150" dirty="0"/>
          </a:p>
        </p:txBody>
      </p:sp>
      <p:sp>
        <p:nvSpPr>
          <p:cNvPr id="9" name="Text 6"/>
          <p:cNvSpPr/>
          <p:nvPr/>
        </p:nvSpPr>
        <p:spPr>
          <a:xfrm>
            <a:off x="7726680" y="197777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 forma da distribuição: onde está a maioria dos setores e se há cauda longa.</a:t>
            </a:r>
            <a:endParaRPr lang="en-US" sz="1150" dirty="0"/>
          </a:p>
        </p:txBody>
      </p:sp>
      <p:sp>
        <p:nvSpPr>
          <p:cNvPr id="10" name="Text 7"/>
          <p:cNvSpPr/>
          <p:nvPr/>
        </p:nvSpPr>
        <p:spPr>
          <a:xfrm>
            <a:off x="7726680" y="246722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à esquerda e cauda à direita: muitos setores com valor baixo e poucos com valor alto. A linha vermelha é a média; a tracejada, a mediana — quanto mais afastadas, mais assimétrica.</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média (R$ 4.185,81) e a mediana (R$ 2.572,39) se afastam: assimetria de 3,20.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REN_boxplot.png">    </p:cNvPr>
          <p:cNvPicPr>
            <a:picLocks noChangeAspect="1"/>
          </p:cNvPicPr>
          <p:nvPr/>
        </p:nvPicPr>
        <p:blipFill>
          <a:blip r:embed="rId1"/>
          <a:stretch>
            <a:fillRect/>
          </a:stretch>
        </p:blipFill>
        <p:spPr>
          <a:xfrm>
            <a:off x="777240" y="1298448"/>
            <a:ext cx="6675120" cy="3172029"/>
          </a:xfrm>
          <a:prstGeom prst="rect">
            <a:avLst/>
          </a:prstGeom>
        </p:spPr>
      </p:pic>
      <p:sp>
        <p:nvSpPr>
          <p:cNvPr id="6" name="Text 3"/>
          <p:cNvSpPr/>
          <p:nvPr/>
        </p:nvSpPr>
        <p:spPr>
          <a:xfrm>
            <a:off x="777240" y="4525341"/>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3 — </a:t>
            </a:r>
            <a:pPr indent="0" marL="0">
              <a:buNone/>
            </a:pPr>
            <a:r>
              <a:rPr lang="en-US" sz="1050" dirty="0">
                <a:solidFill>
                  <a:srgbClr val="56534C"/>
                </a:solidFill>
                <a:latin typeface="Cambria" pitchFamily="34" charset="0"/>
                <a:ea typeface="Cambria" pitchFamily="34" charset="-122"/>
                <a:cs typeface="Cambria" pitchFamily="34" charset="-120"/>
              </a:rPr>
              <a:t>Renda média do responsável: boxplot de todos os setores, com os valores extremos.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resumo da distribuição numa figura: caixa, mediana, bigodes e pontos extremos.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de uma vez onde está a metade central dos setores e quantos fogem do padrão.</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a linha vermelha é a mediana; os bigodes vão até 1,5 vez a altura da caixa; cada ponto além deles é um setor extremo.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10.468 setores ficam além do bigode direito.</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distribuição acumulada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REN_acumulada.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4 — </a:t>
            </a:r>
            <a:pPr indent="0" marL="0">
              <a:buNone/>
            </a:pPr>
            <a:r>
              <a:rPr lang="en-US" sz="1050" dirty="0">
                <a:solidFill>
                  <a:srgbClr val="56534C"/>
                </a:solidFill>
                <a:latin typeface="Cambria" pitchFamily="34" charset="0"/>
                <a:ea typeface="Cambria" pitchFamily="34" charset="-122"/>
                <a:cs typeface="Cambria" pitchFamily="34" charset="-120"/>
              </a:rPr>
              <a:t>Renda média do responsável: proporção de setores com valor até cada ponto do eixo horizontal. Eixo horizontal cortado no percentil 99.</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Para cada valor no eixo horizontal, a curva dá a proporção de setores com valor igual ou menor.</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Lê qualquer percentil direto no gráfico, sem depender das faixas do histograma.</a:t>
            </a:r>
            <a:endParaRPr lang="en-US" sz="1150" dirty="0"/>
          </a:p>
        </p:txBody>
      </p:sp>
      <p:sp>
        <p:nvSpPr>
          <p:cNvPr id="10" name="Text 7"/>
          <p:cNvSpPr/>
          <p:nvPr/>
        </p:nvSpPr>
        <p:spPr>
          <a:xfrm>
            <a:off x="7726680" y="2277364"/>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Escolha uma altura (as linhas pontilhadas marcam 25%, 50% e 75%) e desça até o eixo: é o valor daquele percentil. Uma subida vertical no começo indica muitos setores com o mesmo valor (por exemplo, zero).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Metade dos setores tem até R$ 2.572,39; três quartos, até R$ 4.835,83.</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régua dos percentis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REN_percentis.png">    </p:cNvPr>
          <p:cNvPicPr>
            <a:picLocks noChangeAspect="1"/>
          </p:cNvPicPr>
          <p:nvPr/>
        </p:nvPicPr>
        <p:blipFill>
          <a:blip r:embed="rId1"/>
          <a:stretch>
            <a:fillRect/>
          </a:stretch>
        </p:blipFill>
        <p:spPr>
          <a:xfrm>
            <a:off x="777240" y="1298448"/>
            <a:ext cx="6675120" cy="3967680"/>
          </a:xfrm>
          <a:prstGeom prst="rect">
            <a:avLst/>
          </a:prstGeom>
        </p:spPr>
      </p:pic>
      <p:sp>
        <p:nvSpPr>
          <p:cNvPr id="6" name="Text 3"/>
          <p:cNvSpPr/>
          <p:nvPr/>
        </p:nvSpPr>
        <p:spPr>
          <a:xfrm>
            <a:off x="777240" y="532099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5 — </a:t>
            </a:r>
            <a:pPr indent="0" marL="0">
              <a:buNone/>
            </a:pPr>
            <a:r>
              <a:rPr lang="en-US" sz="1050" dirty="0">
                <a:solidFill>
                  <a:srgbClr val="56534C"/>
                </a:solidFill>
                <a:latin typeface="Cambria" pitchFamily="34" charset="0"/>
                <a:ea typeface="Cambria" pitchFamily="34" charset="-122"/>
                <a:cs typeface="Cambria" pitchFamily="34" charset="-120"/>
              </a:rPr>
              <a:t>Renda média do responsável: valor nos percentis 10, 25, 50, 75, 90 e 99, e a média.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valor do indicador em seis pontos da distribuição: do setor no percentil 10 ao do percentil 99.</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cresce do setor típico para os mais altos — onde está a desigualdade.</a:t>
            </a:r>
            <a:endParaRPr lang="en-US" sz="1150" dirty="0"/>
          </a:p>
        </p:txBody>
      </p:sp>
      <p:sp>
        <p:nvSpPr>
          <p:cNvPr id="10" name="Text 7"/>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Barras que sobem devagar e explodem no fim (p90, p99): o problema se concentra em poucos setores. A linha vermelha é a média.</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Do percentil 50 (R$ 2.572,39) ao 99 (R$ 19.771,58).</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1371600"/>
                <a:gridCol w="1005840"/>
                <a:gridCol w="1188720"/>
                <a:gridCol w="1188720"/>
                <a:gridCol w="1097280"/>
                <a:gridCol w="82296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5.915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R$ 2.880,50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R$ 1.820,99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R$ 2.814,57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Nordeste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19.496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R$ 3.008,45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R$ 1.719,20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R$ 3.047,93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Sudeste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61.977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R$ 4.488,14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R$ 2.730,59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R$ 5.217,19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Sul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7.217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R$ 4.842,18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R$ 3.722,28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R$ 6.118,80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Centro-Oeste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9.490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R$ 4.944,55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R$ 3.127,12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R$ 5.873,28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separadas pelas cinco grandes regiões.</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tem padrão regional, o que pesa na escolha da régua (dentro de cada município ou no conjunto).</a:t>
            </a:r>
            <a:endParaRPr lang="en-US" sz="1150" dirty="0"/>
          </a:p>
        </p:txBody>
      </p:sp>
      <p:sp>
        <p:nvSpPr>
          <p:cNvPr id="9" name="Text 6"/>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média e mediana entre as linhas; "% zeros" é a parte dos setores sem nenhum domicílio ou pessoa na condição.</a:t>
            </a:r>
            <a:endParaRPr lang="en-US" sz="1150" dirty="0"/>
          </a:p>
        </p:txBody>
      </p:sp>
      <p:sp>
        <p:nvSpPr>
          <p:cNvPr id="10" name="Text 7"/>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Centro-Oeste (R$ 4.944,55); a menor, a do Norte (R$ 2.880,50). O Norte tem só 6 municípios: os contrastes descrevem os municípios estudados, não a região inteira.</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região: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REN_regiao.png">    </p:cNvPr>
          <p:cNvPicPr>
            <a:picLocks noChangeAspect="1"/>
          </p:cNvPicPr>
          <p:nvPr/>
        </p:nvPicPr>
        <p:blipFill>
          <a:blip r:embed="rId1"/>
          <a:stretch>
            <a:fillRect/>
          </a:stretch>
        </p:blipFill>
        <p:spPr>
          <a:xfrm>
            <a:off x="777240" y="1298448"/>
            <a:ext cx="6675120" cy="3780721"/>
          </a:xfrm>
          <a:prstGeom prst="rect">
            <a:avLst/>
          </a:prstGeom>
        </p:spPr>
      </p:pic>
      <p:sp>
        <p:nvSpPr>
          <p:cNvPr id="6" name="Text 3"/>
          <p:cNvSpPr/>
          <p:nvPr/>
        </p:nvSpPr>
        <p:spPr>
          <a:xfrm>
            <a:off x="777240" y="513403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6 — </a:t>
            </a:r>
            <a:pPr indent="0" marL="0">
              <a:buNone/>
            </a:pPr>
            <a:r>
              <a:rPr lang="en-US" sz="1050" dirty="0">
                <a:solidFill>
                  <a:srgbClr val="56534C"/>
                </a:solidFill>
                <a:latin typeface="Cambria" pitchFamily="34" charset="0"/>
                <a:ea typeface="Cambria" pitchFamily="34" charset="-122"/>
                <a:cs typeface="Cambria" pitchFamily="34" charset="-120"/>
              </a:rPr>
              <a:t>Renda média do responsável por região.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região, lado a lado.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não só a média, mas a dispersão de cada região.</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 Centro-Oeste (R$ 4.944,55); a menor, a do Norte (R$ 2.880,50). O Norte tem só 6 municípios: os contrastes descrevem os municípios estudados, não a região inteira.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1463040"/>
                <a:gridCol w="1005840"/>
                <a:gridCol w="1188720"/>
                <a:gridCol w="1188720"/>
                <a:gridCol w="1005840"/>
                <a:gridCol w="73152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até 100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1.223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R$ 2.467,43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R$ 2.077,62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R$ 2.923,61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100 a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7.673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R$ 3.199,07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R$ 2.496,83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R$ 3.624,84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mais de 500 mil</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95.199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R$ 4.287,42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R$ 2.593,05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R$ 5.031,77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por tamanho do município (moradores somados nos setores da base).</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Testa se o indicador acompanha o tamanho da cidade — se sim, parte dele mede porte urbano, não vulnerabilidade.</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Três grupos: até 100 mil, de 100 a 500 mil e mais de 500 mil moradores.</a:t>
            </a:r>
            <a:endParaRPr lang="en-US" sz="1150" dirty="0"/>
          </a:p>
        </p:txBody>
      </p:sp>
      <p:sp>
        <p:nvSpPr>
          <p:cNvPr id="10" name="Text 7"/>
          <p:cNvSpPr/>
          <p:nvPr/>
        </p:nvSpPr>
        <p:spPr>
          <a:xfrm>
            <a:off x="7726680" y="295668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mais de 500 mil (R$ 4.287,42); a menor, a dos de até 100 mil (R$ 2.467,43).</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Por porte do município: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REN_porte.png">    </p:cNvPr>
          <p:cNvPicPr>
            <a:picLocks noChangeAspect="1"/>
          </p:cNvPicPr>
          <p:nvPr/>
        </p:nvPicPr>
        <p:blipFill>
          <a:blip r:embed="rId1"/>
          <a:stretch>
            <a:fillRect/>
          </a:stretch>
        </p:blipFill>
        <p:spPr>
          <a:xfrm>
            <a:off x="777240" y="1298448"/>
            <a:ext cx="6675120" cy="3787646"/>
          </a:xfrm>
          <a:prstGeom prst="rect">
            <a:avLst/>
          </a:prstGeom>
        </p:spPr>
      </p:pic>
      <p:sp>
        <p:nvSpPr>
          <p:cNvPr id="6" name="Text 3"/>
          <p:cNvSpPr/>
          <p:nvPr/>
        </p:nvSpPr>
        <p:spPr>
          <a:xfrm>
            <a:off x="777240" y="5140958"/>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7 — </a:t>
            </a:r>
            <a:pPr indent="0" marL="0">
              <a:buNone/>
            </a:pPr>
            <a:r>
              <a:rPr lang="en-US" sz="1050" dirty="0">
                <a:solidFill>
                  <a:srgbClr val="56534C"/>
                </a:solidFill>
                <a:latin typeface="Cambria" pitchFamily="34" charset="0"/>
                <a:ea typeface="Cambria" pitchFamily="34" charset="-122"/>
                <a:cs typeface="Cambria" pitchFamily="34" charset="-120"/>
              </a:rPr>
              <a:t>Renda média do responsável por porte do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por porte de município.</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cidades maiores ou menores concentram o problema.</a:t>
            </a:r>
            <a:endParaRPr lang="en-US" sz="1150" dirty="0"/>
          </a:p>
        </p:txBody>
      </p:sp>
      <p:sp>
        <p:nvSpPr>
          <p:cNvPr id="10" name="Text 7"/>
          <p:cNvSpPr/>
          <p:nvPr/>
        </p:nvSpPr>
        <p:spPr>
          <a:xfrm>
            <a:off x="7726680" y="208749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maior média é a dos municípios de mais de 500 mil (R$ 4.287,42); a menor, a dos de até 100 mil (R$ 2.467,43).</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maiores e menores médias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583680" cy="914400"/>
        </p:xfrm>
        <a:graphic>
          <a:graphicData uri="http://schemas.openxmlformats.org/drawingml/2006/table">
            <a:tbl>
              <a:tblPr/>
              <a:tblGrid>
                <a:gridCol w="2194560"/>
                <a:gridCol w="1188720"/>
                <a:gridCol w="822960"/>
                <a:gridCol w="1188720"/>
                <a:gridCol w="1188720"/>
              </a:tblGrid>
              <a:tr h="215392">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Município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Região</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Setores</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Média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800" b="1" dirty="0">
                          <a:solidFill>
                            <a:srgbClr val="1A1A18"/>
                          </a:solidFill>
                          <a:latin typeface="Cambria" pitchFamily="34" charset="0"/>
                          <a:ea typeface="Cambria" pitchFamily="34" charset="-122"/>
                          <a:cs typeface="Cambria" pitchFamily="34" charset="-120"/>
                        </a:rPr>
                        <a:t>Mediana</a:t>
                      </a:r>
                      <a:endParaRPr lang="en-US" sz="8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Caetano do 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421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R$ 6.549,58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R$ 5.291,89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Brasília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Centro-Oeste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4.924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R$ 5.718,58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R$ 3.518,49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Paulo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26.508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R$ 5.273,69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R$ 3.108,89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Curitiba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3.168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R$ 5.201,76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R$ 4.115,49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Porto Alegre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2.677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R$ 5.137,62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R$ 3.986,89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Campinas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2.461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R$ 4.706,50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R$ 3.391,86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Belo Horizonte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5.112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R$ 4.649,88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R$ 3.058,23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Goiânia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Centro-Oeste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2.272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R$ 4.593,49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R$ 3.112,75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Rio de Janeiro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13.367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R$ 4.481,73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R$ 2.702,45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Bernardo do Campo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1.685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R$ 4.243,58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R$ 3.371,95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Orizânia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Sudeste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R$ 1.680,87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R$ 1.717,63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Itajuípe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R$ 1.622,28</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R$ 1.339,82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Portel</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26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R$ 1.548,87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R$ 1.390,26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Japoatã</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R$ 1.494,60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R$ 1.659,35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Groaíras</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R$ 1.401,25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R$ 1.414,45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Rosário</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R$ 1.392,53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R$ 1.271,66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São Raimundo do Doca Bezerra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R$ 1.336,90</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R$ 1.386,15</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Arara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19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R$ 1.318,53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R$ 1.334,01</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Água Preta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32</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R$ 1.290,73</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R$ 1.240,34</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23139">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Jaqueira</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Nordeste</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9</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R$ 1.196,37</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50" dirty="0">
                          <a:solidFill>
                            <a:srgbClr val="1A1A18"/>
                          </a:solidFill>
                          <a:latin typeface="Cambria" pitchFamily="34" charset="0"/>
                          <a:ea typeface="Cambria" pitchFamily="34" charset="-122"/>
                          <a:cs typeface="Cambria" pitchFamily="34" charset="-120"/>
                        </a:rPr>
                        <a:t>R$ 1.062,36</a:t>
                      </a:r>
                      <a:endParaRPr lang="en-US" sz="8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municípios com a maior média do indicador e os 10 com a menor.</a:t>
            </a:r>
            <a:endParaRPr lang="en-US" sz="1150" dirty="0"/>
          </a:p>
        </p:txBody>
      </p:sp>
      <p:sp>
        <p:nvSpPr>
          <p:cNvPr id="8" name="Text 5"/>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Identifica onde o indicador é mais e menos presente. A tabela completa está no apêndice.</a:t>
            </a:r>
            <a:endParaRPr lang="en-US" sz="1150" dirty="0"/>
          </a:p>
        </p:txBody>
      </p:sp>
      <p:sp>
        <p:nvSpPr>
          <p:cNvPr id="9" name="Text 6"/>
          <p:cNvSpPr/>
          <p:nvPr/>
        </p:nvSpPr>
        <p:spPr>
          <a:xfrm>
            <a:off x="7726680" y="227736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Atenção à coluna "Setores": município com poucos setores tem média instável, que muda muito com um setor a mais ou a menos.</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Maior média: São Caetano do Sul (R$ 6.549,58, 421 setores); menor: Jaqueira (R$ 1.196,37).</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ordenados pela mediana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REN_municipios.png">    </p:cNvPr>
          <p:cNvPicPr>
            <a:picLocks noChangeAspect="1"/>
          </p:cNvPicPr>
          <p:nvPr/>
        </p:nvPicPr>
        <p:blipFill>
          <a:blip r:embed="rId1"/>
          <a:stretch>
            <a:fillRect/>
          </a:stretch>
        </p:blipFill>
        <p:spPr>
          <a:xfrm>
            <a:off x="1425436" y="1298448"/>
            <a:ext cx="5378729" cy="4507992"/>
          </a:xfrm>
          <a:prstGeom prst="rect">
            <a:avLst/>
          </a:prstGeom>
        </p:spPr>
      </p:pic>
      <p:sp>
        <p:nvSpPr>
          <p:cNvPr id="6" name="Text 3"/>
          <p:cNvSpPr/>
          <p:nvPr/>
        </p:nvSpPr>
        <p:spPr>
          <a:xfrm>
            <a:off x="777240" y="586130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8 — </a:t>
            </a:r>
            <a:pPr indent="0" marL="0">
              <a:buNone/>
            </a:pPr>
            <a:r>
              <a:rPr lang="en-US" sz="1050" dirty="0">
                <a:solidFill>
                  <a:srgbClr val="56534C"/>
                </a:solidFill>
                <a:latin typeface="Cambria" pitchFamily="34" charset="0"/>
                <a:ea typeface="Cambria" pitchFamily="34" charset="-122"/>
                <a:cs typeface="Cambria" pitchFamily="34" charset="-120"/>
              </a:rPr>
              <a:t>Renda média do responsável: mediana (ponto) e intervalo entre os percentis 25 e 75 (traço) de cada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coluna é um município: o ponto é a mediana dos setores dele e o traço vai do percentil 25 ao 75.</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ao mesmo tempo o nível de cada cidade (o ponto) e a desigualdade dentro dela (o tamanho do traço).</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Da esquerda para a direita, das cidades com mediana mais baixa às mais altas. Traço longo: setores muito diferentes entre si na mesma cidade.</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mediana vai de R$ 1.062,36 a R$ 5.291,89.</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19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217920" cy="914400"/>
        </p:xfrm>
        <a:graphic>
          <a:graphicData uri="http://schemas.openxmlformats.org/drawingml/2006/table">
            <a:tbl>
              <a:tblPr/>
              <a:tblGrid>
                <a:gridCol w="2377440"/>
                <a:gridCol w="914400"/>
                <a:gridCol w="1828800"/>
                <a:gridCol w="10972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Setores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Intervalo interquartil</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Gini</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Recife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2.796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R$ 2.949,01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Salvador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4.476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R$ 1.751,79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0,460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Rio de Janeiro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13.367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R$ 3.588,01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0,448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26.508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R$ 4.538,07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0,445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Natal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1.076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R$ 2.538,95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0,444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Belém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2.004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R$ 1.725,21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0,426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Brasília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4.924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R$ 5.154,26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0,426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Maceió</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1.530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R$ 1.700,38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0,421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Charqueadas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R$ 858,42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0,152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Taió</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R$ 985,02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0,151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Tabatinga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R$ 774,23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0,151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Preta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R$ 337,50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0,130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Duas medidas de quanto os setores de uma mesma cidade diferem entre si: o intervalo interquartil (percentil 75 menos 25) e o Gini.</a:t>
            </a:r>
            <a:endParaRPr lang="en-US" sz="1150" dirty="0"/>
          </a:p>
        </p:txBody>
      </p:sp>
      <p:sp>
        <p:nvSpPr>
          <p:cNvPr id="8" name="Text 5"/>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IVS é intraurbano: quer achar as diferenças dentro da cidade. Indicador que varia pouco dentro das cidades contribui pouco para isso.</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Gini vai de 0 (todos os setores iguais) a 1 (tudo concentrado num setor). Mostra os 8 municípios mais desiguais e os 4 menos.</a:t>
            </a:r>
            <a:endParaRPr lang="en-US" sz="1150" dirty="0"/>
          </a:p>
        </p:txBody>
      </p:sp>
      <p:sp>
        <p:nvSpPr>
          <p:cNvPr id="10" name="Text 7"/>
          <p:cNvSpPr/>
          <p:nvPr/>
        </p:nvSpPr>
        <p:spPr>
          <a:xfrm>
            <a:off x="7726680" y="333641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0,130 (Água Preta) a 0,490 (Recife).</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desigualdade dentro das cidades: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REN_desigualdade.png">    </p:cNvPr>
          <p:cNvPicPr>
            <a:picLocks noChangeAspect="1"/>
          </p:cNvPicPr>
          <p:nvPr/>
        </p:nvPicPr>
        <p:blipFill>
          <a:blip r:embed="rId1"/>
          <a:stretch>
            <a:fillRect/>
          </a:stretch>
        </p:blipFill>
        <p:spPr>
          <a:xfrm>
            <a:off x="777240" y="1298448"/>
            <a:ext cx="6675120" cy="4212523"/>
          </a:xfrm>
          <a:prstGeom prst="rect">
            <a:avLst/>
          </a:prstGeom>
        </p:spPr>
      </p:pic>
      <p:sp>
        <p:nvSpPr>
          <p:cNvPr id="6" name="Text 3"/>
          <p:cNvSpPr/>
          <p:nvPr/>
        </p:nvSpPr>
        <p:spPr>
          <a:xfrm>
            <a:off x="777240" y="556583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9 — </a:t>
            </a:r>
            <a:pPr indent="0" marL="0">
              <a:buNone/>
            </a:pPr>
            <a:r>
              <a:rPr lang="en-US" sz="1050" dirty="0">
                <a:solidFill>
                  <a:srgbClr val="56534C"/>
                </a:solidFill>
                <a:latin typeface="Cambria" pitchFamily="34" charset="0"/>
                <a:ea typeface="Cambria" pitchFamily="34" charset="-122"/>
                <a:cs typeface="Cambria" pitchFamily="34" charset="-120"/>
              </a:rPr>
              <a:t>Renda média do responsável: mediana × Gini de cada município (tamanho do ponto = número de setores).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Cada ponto é um município: na horizontal, o nível do indicador; na vertical, a desigualdade entre os setores dele.</a:t>
            </a:r>
            <a:endParaRPr lang="en-US" sz="1150" dirty="0"/>
          </a:p>
        </p:txBody>
      </p:sp>
      <p:sp>
        <p:nvSpPr>
          <p:cNvPr id="9" name="Text 6"/>
          <p:cNvSpPr/>
          <p:nvPr/>
        </p:nvSpPr>
        <p:spPr>
          <a:xfrm>
            <a:off x="7726680" y="1977771"/>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Separa cidades com o problema espalhado (nível alto, Gini baixo) de cidades com o problema concentrado em poucos setores (Gini alto).</a:t>
            </a:r>
            <a:endParaRPr lang="en-US" sz="1150" dirty="0"/>
          </a:p>
        </p:txBody>
      </p:sp>
      <p:sp>
        <p:nvSpPr>
          <p:cNvPr id="10" name="Text 7"/>
          <p:cNvSpPr/>
          <p:nvPr/>
        </p:nvSpPr>
        <p:spPr>
          <a:xfrm>
            <a:off x="7726680" y="2657094"/>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Pontos maiores são cidades com mais setores. Os nomes marcados são os extremos de desigualdade.</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Entre os 56 municípios com pelo menos 30 setores, o Gini vai de 0,130 (Água Preta) a 0,490 (Recife).</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Favela e comunidade urbana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19.447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R$ 1.600,95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R$ 1.515,32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R$ 1.745,89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Fora de favela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84.648</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R$ 4.779,66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R$ 3.067,01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R$ 5.804,29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estatísticas do indicador nos setores de favela e comunidade urbana (classificação do IBGE) e nos demais.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Favela é um território sabidamente vulnerável: um indicador de vulnerabilidade deveria ser mais alto nela. É uma checagem de bom senso, não uma validação.</a:t>
            </a:r>
            <a:endParaRPr lang="en-US" sz="1150" dirty="0"/>
          </a:p>
        </p:txBody>
      </p:sp>
      <p:sp>
        <p:nvSpPr>
          <p:cNvPr id="9" name="Text 6"/>
          <p:cNvSpPr/>
          <p:nvPr/>
        </p:nvSpPr>
        <p:spPr>
          <a:xfrm>
            <a:off x="7726680" y="284695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Compare as médias; a razão diz quantas vezes o valor na favela é o de fora.</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R$ 1.600,95 nos setores de favela e de R$ 4.779,66 fora delas (razão de 0,3).</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Favela e fora da favela: o boxplot</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REN_favela.png">    </p:cNvPr>
          <p:cNvPicPr>
            <a:picLocks noChangeAspect="1"/>
          </p:cNvPicPr>
          <p:nvPr/>
        </p:nvPicPr>
        <p:blipFill>
          <a:blip r:embed="rId1"/>
          <a:stretch>
            <a:fillRect/>
          </a:stretch>
        </p:blipFill>
        <p:spPr>
          <a:xfrm>
            <a:off x="777240" y="1298448"/>
            <a:ext cx="6675120" cy="3780721"/>
          </a:xfrm>
          <a:prstGeom prst="rect">
            <a:avLst/>
          </a:prstGeom>
        </p:spPr>
      </p:pic>
      <p:sp>
        <p:nvSpPr>
          <p:cNvPr id="6" name="Text 3"/>
          <p:cNvSpPr/>
          <p:nvPr/>
        </p:nvSpPr>
        <p:spPr>
          <a:xfrm>
            <a:off x="777240" y="5134033"/>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10 — </a:t>
            </a:r>
            <a:pPr indent="0" marL="0">
              <a:buNone/>
            </a:pPr>
            <a:r>
              <a:rPr lang="en-US" sz="1050" dirty="0">
                <a:solidFill>
                  <a:srgbClr val="56534C"/>
                </a:solidFill>
                <a:latin typeface="Cambria" pitchFamily="34" charset="0"/>
                <a:ea typeface="Cambria" pitchFamily="34" charset="-122"/>
                <a:cs typeface="Cambria" pitchFamily="34" charset="-120"/>
              </a:rPr>
              <a:t>Renda média do responsável: setores de favela e fora de favela.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Um boxplot para os setores de favela e outro para os demais.</a:t>
            </a:r>
            <a:endParaRPr lang="en-US" sz="1150" dirty="0"/>
          </a:p>
        </p:txBody>
      </p:sp>
      <p:sp>
        <p:nvSpPr>
          <p:cNvPr id="9" name="Text 6"/>
          <p:cNvSpPr/>
          <p:nvPr/>
        </p:nvSpPr>
        <p:spPr>
          <a:xfrm>
            <a:off x="7726680" y="178790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a diferença está em todos os setores ou só em alguns.</a:t>
            </a:r>
            <a:endParaRPr lang="en-US" sz="1150" dirty="0"/>
          </a:p>
        </p:txBody>
      </p:sp>
      <p:sp>
        <p:nvSpPr>
          <p:cNvPr id="10" name="Text 7"/>
          <p:cNvSpPr/>
          <p:nvPr/>
        </p:nvSpPr>
        <p:spPr>
          <a:xfrm>
            <a:off x="7726680" y="2277364"/>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caixa vai do percentil 25 ao 75 (metade central dos setores); a linha vermelha é a mediana; o losango, a média; os bigodes vão até 1,5 vez a altura da caixa. Os extremos além dos bigodes não são desenhados, para a escala não ficar presa a poucos setores.</a:t>
            </a:r>
            <a:endParaRPr lang="en-US" sz="1150" dirty="0"/>
          </a:p>
        </p:txBody>
      </p:sp>
      <p:sp>
        <p:nvSpPr>
          <p:cNvPr id="11" name="Text 8"/>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 de R$ 1.600,95 nos setores de favela e de R$ 4.779,66 fora delas (razão de 0,3).</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renda ao longo da cor/raça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REN_gradiente.png">    </p:cNvPr>
          <p:cNvPicPr>
            <a:picLocks noChangeAspect="1"/>
          </p:cNvPicPr>
          <p:nvPr/>
        </p:nvPicPr>
        <p:blipFill>
          <a:blip r:embed="rId1"/>
          <a:stretch>
            <a:fillRect/>
          </a:stretch>
        </p:blipFill>
        <p:spPr>
          <a:xfrm>
            <a:off x="777240" y="1298448"/>
            <a:ext cx="6675120" cy="3974605"/>
          </a:xfrm>
          <a:prstGeom prst="rect">
            <a:avLst/>
          </a:prstGeom>
        </p:spPr>
      </p:pic>
      <p:sp>
        <p:nvSpPr>
          <p:cNvPr id="6" name="Text 3"/>
          <p:cNvSpPr/>
          <p:nvPr/>
        </p:nvSpPr>
        <p:spPr>
          <a:xfrm>
            <a:off x="777240" y="5327917"/>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11 — </a:t>
            </a:r>
            <a:pPr indent="0" marL="0">
              <a:buNone/>
            </a:pPr>
            <a:r>
              <a:rPr lang="en-US" sz="1050" dirty="0">
                <a:solidFill>
                  <a:srgbClr val="56534C"/>
                </a:solidFill>
                <a:latin typeface="Cambria" pitchFamily="34" charset="0"/>
                <a:ea typeface="Cambria" pitchFamily="34" charset="-122"/>
                <a:cs typeface="Cambria" pitchFamily="34" charset="-120"/>
              </a:rPr>
              <a:t>Renda média do responsável por decil de cor/raça (preta, parda ou indígena) no município.</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setores de cada município ordenados pela proporção de pessoas pretas, pardas e indígenas e divididos em 10 grupos; o gráfico dá a renda média e mediana de cada grupo.</a:t>
            </a:r>
            <a:endParaRPr lang="en-US" sz="1150" dirty="0"/>
          </a:p>
        </p:txBody>
      </p:sp>
      <p:sp>
        <p:nvSpPr>
          <p:cNvPr id="9" name="Text 6"/>
          <p:cNvSpPr/>
          <p:nvPr/>
        </p:nvSpPr>
        <p:spPr>
          <a:xfrm>
            <a:off x="7726680" y="2167636"/>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o gradiente social: se o indicador piora à medida que a renda cai. Como os decis são feitos dentro de cada município, a comparação é sempre entre setores da mesma cidade.</a:t>
            </a:r>
            <a:endParaRPr lang="en-US" sz="1150" dirty="0"/>
          </a:p>
        </p:txBody>
      </p:sp>
      <p:sp>
        <p:nvSpPr>
          <p:cNvPr id="10" name="Text 7"/>
          <p:cNvSpPr/>
          <p:nvPr/>
        </p:nvSpPr>
        <p:spPr>
          <a:xfrm>
            <a:off x="7726680" y="303682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Linha descendente da esquerda para a direita: o indicador é maior nos setores mais pobres. Linha plana: não depende da renda.</a:t>
            </a:r>
            <a:endParaRPr lang="en-US" sz="1150" dirty="0"/>
          </a:p>
        </p:txBody>
      </p:sp>
      <p:sp>
        <p:nvSpPr>
          <p:cNvPr id="11" name="Text 8"/>
          <p:cNvSpPr/>
          <p:nvPr/>
        </p:nvSpPr>
        <p:spPr>
          <a:xfrm>
            <a:off x="7726680" y="371614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decil 1 a média é R$ 11.844,31; no decil 10, R$ 1.604,62.</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675120" cy="914400"/>
        </p:xfrm>
        <a:graphic>
          <a:graphicData uri="http://schemas.openxmlformats.org/drawingml/2006/table">
            <a:tbl>
              <a:tblPr/>
              <a:tblGrid>
                <a:gridCol w="2047037"/>
                <a:gridCol w="890016"/>
                <a:gridCol w="1068019"/>
                <a:gridCol w="1068019"/>
                <a:gridCol w="890016"/>
                <a:gridCol w="712013"/>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Grupo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Setores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Média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Mediana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p75</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 zeros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Brasil, setores urbanos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347.363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R$ 3.208,40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R$ 2.312,82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R$ 3.438,03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70 municípios do ELSI</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104.095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R$ 4.185,81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R$ 2.572,39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R$ 4.835,83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indicador nos setores urbanos de todo o Brasil e nos dos 70 municípios do ELSI-Brasil.</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Diz se o recorte do estudo é parecido com o país urbano, ou se há viés de seleção dos municípios.</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Médias próximas: o recorte representa bem o Brasil urbano neste indicador.</a:t>
            </a:r>
            <a:endParaRPr lang="en-US" sz="1150" dirty="0"/>
          </a:p>
        </p:txBody>
      </p:sp>
      <p:sp>
        <p:nvSpPr>
          <p:cNvPr id="10" name="Text 7"/>
          <p:cNvSpPr/>
          <p:nvPr/>
        </p:nvSpPr>
        <p:spPr>
          <a:xfrm>
            <a:off x="7726680" y="295668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R$ 3.208,40; nos 70 municípios, R$ 4.185,81.</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REN-24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70 municípios e o Brasil urbano: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REN_brasil.png">    </p:cNvPr>
          <p:cNvPicPr>
            <a:picLocks noChangeAspect="1"/>
          </p:cNvPicPr>
          <p:nvPr/>
        </p:nvPicPr>
        <p:blipFill>
          <a:blip r:embed="rId1"/>
          <a:stretch>
            <a:fillRect/>
          </a:stretch>
        </p:blipFill>
        <p:spPr>
          <a:xfrm>
            <a:off x="777240" y="1298448"/>
            <a:ext cx="6675120" cy="4093503"/>
          </a:xfrm>
          <a:prstGeom prst="rect">
            <a:avLst/>
          </a:prstGeom>
        </p:spPr>
      </p:pic>
      <p:sp>
        <p:nvSpPr>
          <p:cNvPr id="6" name="Text 3"/>
          <p:cNvSpPr/>
          <p:nvPr/>
        </p:nvSpPr>
        <p:spPr>
          <a:xfrm>
            <a:off x="777240" y="544681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12 — </a:t>
            </a:r>
            <a:pPr indent="0" marL="0">
              <a:buNone/>
            </a:pPr>
            <a:r>
              <a:rPr lang="en-US" sz="1050" dirty="0">
                <a:solidFill>
                  <a:srgbClr val="56534C"/>
                </a:solidFill>
                <a:latin typeface="Cambria" pitchFamily="34" charset="0"/>
                <a:ea typeface="Cambria" pitchFamily="34" charset="-122"/>
                <a:cs typeface="Cambria" pitchFamily="34" charset="-120"/>
              </a:rPr>
              <a:t>Renda média do responsável: distribuição acumulada no Brasil urbano e nos 70 municípios. Eixo horizontal cortado no percentil 99.</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duas distribuições acumuladas sobrepostas.</a:t>
            </a:r>
            <a:endParaRPr lang="en-US" sz="1150" dirty="0"/>
          </a:p>
        </p:txBody>
      </p:sp>
      <p:sp>
        <p:nvSpPr>
          <p:cNvPr id="9" name="Text 6"/>
          <p:cNvSpPr/>
          <p:nvPr/>
        </p:nvSpPr>
        <p:spPr>
          <a:xfrm>
            <a:off x="7726680" y="1598041"/>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Compara a distribuição inteira, não só a média.</a:t>
            </a:r>
            <a:endParaRPr lang="en-US" sz="1150" dirty="0"/>
          </a:p>
        </p:txBody>
      </p:sp>
      <p:sp>
        <p:nvSpPr>
          <p:cNvPr id="10" name="Text 7"/>
          <p:cNvSpPr/>
          <p:nvPr/>
        </p:nvSpPr>
        <p:spPr>
          <a:xfrm>
            <a:off x="7726680" y="208749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Curva mais à direita: valores mais altos. Curvas coladas: as duas populações de setores são parecidas.</a:t>
            </a:r>
            <a:endParaRPr lang="en-US" sz="1150" dirty="0"/>
          </a:p>
        </p:txBody>
      </p:sp>
      <p:sp>
        <p:nvSpPr>
          <p:cNvPr id="11" name="Text 8"/>
          <p:cNvSpPr/>
          <p:nvPr/>
        </p:nvSpPr>
        <p:spPr>
          <a:xfrm>
            <a:off x="7726680" y="276682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Brasil urbano a média é R$ 3.208,40; nos 70 municípios, R$ 4.185,81.</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REN-25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Os valores extremos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560320"/>
                <a:gridCol w="914400"/>
                <a:gridCol w="1188720"/>
                <a:gridCol w="173736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Município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Favela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Moradores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Valor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184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R$ 140.172,64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Belém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sim</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312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R$ 78.444,47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187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R$ 77.468,68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201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R$ 73.198,95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Recife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R$ 67.237,29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Guarulhos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390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R$ 65.031,76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Salvador</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747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R$ 61.671,36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Salto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502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R$ 60.597,49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São Paulo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11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R$ 59.642,86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Rio de Janeiro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não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402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R$ 54.926,08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22644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Os 10 setores com o maior valor do indicador.</a:t>
            </a:r>
            <a:endParaRPr lang="en-US" sz="1150" dirty="0"/>
          </a:p>
        </p:txBody>
      </p:sp>
      <p:sp>
        <p:nvSpPr>
          <p:cNvPr id="8" name="Text 5"/>
          <p:cNvSpPr/>
          <p:nvPr/>
        </p:nvSpPr>
        <p:spPr>
          <a:xfrm>
            <a:off x="7726680" y="159804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Ajuda a separar extremo verdadeiro (um setor realmente muito carente, ou muito rico) de erro de dado. A coluna "Moradores" mostra setores pequenos, onde um domicílio muda muito a proporção.</a:t>
            </a:r>
            <a:endParaRPr lang="en-US" sz="1150" dirty="0"/>
          </a:p>
        </p:txBody>
      </p:sp>
      <p:sp>
        <p:nvSpPr>
          <p:cNvPr id="9" name="Text 6"/>
          <p:cNvSpPr/>
          <p:nvPr/>
        </p:nvSpPr>
        <p:spPr>
          <a:xfrm>
            <a:off x="7726680" y="2467229"/>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Proporção 1 quer dizer todos os domicílios (ou pessoas) do setor na condição.</a:t>
            </a:r>
            <a:endParaRPr lang="en-US" sz="1150" dirty="0"/>
          </a:p>
        </p:txBody>
      </p:sp>
      <p:sp>
        <p:nvSpPr>
          <p:cNvPr id="10" name="Text 7"/>
          <p:cNvSpPr/>
          <p:nvPr/>
        </p:nvSpPr>
        <p:spPr>
          <a:xfrm>
            <a:off x="7726680" y="2956687"/>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percentil 99 é R$ 19.771,58; 1.041 setores ficam acima dele. O setor retirado (item c do relatório) fica fora desta lista: Belo Horizonte, R$ 170.418,06.</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27</a:t>
            </a:r>
            <a:endParaRPr lang="en-US" sz="1000" dirty="0"/>
          </a:p>
        </p:txBody>
      </p:sp>
      <p:sp>
        <p:nvSpPr>
          <p:cNvPr id="3" name="Text 1"/>
          <p:cNvSpPr/>
          <p:nvPr/>
        </p:nvSpPr>
        <p:spPr>
          <a:xfrm>
            <a:off x="777240" y="2331720"/>
            <a:ext cx="1097280" cy="822960"/>
          </a:xfrm>
          <a:prstGeom prst="rect">
            <a:avLst/>
          </a:prstGeom>
          <a:noFill/>
          <a:ln/>
        </p:spPr>
        <p:txBody>
          <a:bodyPr wrap="square" lIns="0" tIns="0" rIns="0" bIns="0" rtlCol="0" anchor="ctr"/>
          <a:lstStyle/>
          <a:p>
            <a:pPr indent="0" marL="0">
              <a:buNone/>
            </a:pPr>
            <a:r>
              <a:rPr lang="en-US" sz="5400" b="1" dirty="0">
                <a:solidFill>
                  <a:srgbClr val="8C2F27"/>
                </a:solidFill>
                <a:latin typeface="Cambria" pitchFamily="34" charset="0"/>
                <a:ea typeface="Cambria" pitchFamily="34" charset="-122"/>
                <a:cs typeface="Cambria" pitchFamily="34" charset="-120"/>
              </a:rPr>
              <a:t>2</a:t>
            </a:r>
            <a:endParaRPr lang="en-US" sz="5400" dirty="0"/>
          </a:p>
        </p:txBody>
      </p:sp>
      <p:sp>
        <p:nvSpPr>
          <p:cNvPr id="4" name="Text 2"/>
          <p:cNvSpPr/>
          <p:nvPr/>
        </p:nvSpPr>
        <p:spPr>
          <a:xfrm>
            <a:off x="1920240" y="2331720"/>
            <a:ext cx="9491472" cy="822960"/>
          </a:xfrm>
          <a:prstGeom prst="rect">
            <a:avLst/>
          </a:prstGeom>
          <a:noFill/>
          <a:ln/>
        </p:spPr>
        <p:txBody>
          <a:bodyPr wrap="square" lIns="0" tIns="0" rIns="0" bIns="0" rtlCol="0" anchor="ctr"/>
          <a:lstStyle/>
          <a:p>
            <a:pPr indent="0" marL="0">
              <a:buNone/>
            </a:pPr>
            <a:r>
              <a:rPr lang="en-US" sz="3200" b="1" dirty="0">
                <a:solidFill>
                  <a:srgbClr val="1A1A18"/>
                </a:solidFill>
                <a:latin typeface="Cambria" pitchFamily="34" charset="0"/>
                <a:ea typeface="Cambria" pitchFamily="34" charset="-122"/>
                <a:cs typeface="Cambria" pitchFamily="34" charset="-120"/>
              </a:rPr>
              <a:t>Na análise fatorial</a:t>
            </a:r>
            <a:endParaRPr lang="en-US" sz="3200" dirty="0"/>
          </a:p>
        </p:txBody>
      </p:sp>
      <p:sp>
        <p:nvSpPr>
          <p:cNvPr id="5" name="Shape 3"/>
          <p:cNvSpPr/>
          <p:nvPr/>
        </p:nvSpPr>
        <p:spPr>
          <a:xfrm>
            <a:off x="777240" y="3273552"/>
            <a:ext cx="10634472" cy="0"/>
          </a:xfrm>
          <a:prstGeom prst="line">
            <a:avLst/>
          </a:prstGeom>
          <a:noFill/>
          <a:ln w="12700">
            <a:solidFill>
              <a:srgbClr val="1A1A18"/>
            </a:solidFill>
            <a:prstDash val="solid"/>
          </a:ln>
        </p:spPr>
      </p:sp>
      <p:sp>
        <p:nvSpPr>
          <p:cNvPr id="6" name="Text 4"/>
          <p:cNvSpPr/>
          <p:nvPr/>
        </p:nvSpPr>
        <p:spPr>
          <a:xfrm>
            <a:off x="1920240" y="3401568"/>
            <a:ext cx="9034272" cy="731520"/>
          </a:xfrm>
          <a:prstGeom prst="rect">
            <a:avLst/>
          </a:prstGeom>
          <a:noFill/>
          <a:ln/>
        </p:spPr>
        <p:txBody>
          <a:bodyPr wrap="square" lIns="0" tIns="0" rIns="0" bIns="0" rtlCol="0" anchor="ctr"/>
          <a:lstStyle/>
          <a:p>
            <a:pPr indent="0" marL="0">
              <a:buNone/>
            </a:pPr>
            <a:r>
              <a:rPr lang="en-US" sz="1400" i="1" dirty="0">
                <a:solidFill>
                  <a:srgbClr val="56534C"/>
                </a:solidFill>
                <a:latin typeface="Cambria" pitchFamily="34" charset="0"/>
                <a:ea typeface="Cambria" pitchFamily="34" charset="-122"/>
                <a:cs typeface="Cambria" pitchFamily="34" charset="-120"/>
              </a:rPr>
              <a:t>Como o indicador se relaciona com os outros 11, quanto compartilha com eles, o que acontece quando entra ou sai e o peso que recebe no índice.</a:t>
            </a:r>
            <a:endParaRPr lang="en-US" sz="1400" dirty="0"/>
          </a:p>
        </p:txBody>
      </p:sp>
      <p:sp>
        <p:nvSpPr>
          <p:cNvPr id="7" name="Text 5"/>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REN-27</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292608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Indicador</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Preta, parda ou indígena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Analfabetismo (15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Crianças (0 a 14 anos)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Idosos (60 anos ou mais)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Esgoto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Razão de moradores</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água canalizada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0,36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Água inadequada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banheiro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Lixo inadequado</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0,19</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Moradia não convencional</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0,06</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do indicador com cada um dos outros 11, nos setores que têm os 12.</a:t>
            </a:r>
            <a:endParaRPr lang="en-US" sz="1150" dirty="0"/>
          </a:p>
        </p:txBody>
      </p:sp>
      <p:sp>
        <p:nvSpPr>
          <p:cNvPr id="8" name="Text 5"/>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análise fatorial agrupa os indicadores que andam juntos. Correlações altas dizem com quem este indicador vai formar uma dimensão.</a:t>
            </a:r>
            <a:endParaRPr lang="en-US" sz="1150" dirty="0"/>
          </a:p>
        </p:txBody>
      </p:sp>
      <p:sp>
        <p:nvSpPr>
          <p:cNvPr id="9" name="Text 6"/>
          <p:cNvSpPr/>
          <p:nvPr/>
        </p:nvSpPr>
        <p:spPr>
          <a:xfrm>
            <a:off x="7726680" y="2467229"/>
            <a:ext cx="3685032" cy="117576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de Spearman vai de −1 a 1: perto de 1, os setores com valor alto num indicador também têm valor alto no outro; perto de 0, não há relação; negativa, um sobe quando o outro desce. "No conjunto" compara todos os setores; "dentro dos municípios", cada setor só com os da própria cidade.</a:t>
            </a:r>
            <a:endParaRPr lang="en-US" sz="1150" dirty="0"/>
          </a:p>
        </p:txBody>
      </p:sp>
      <p:sp>
        <p:nvSpPr>
          <p:cNvPr id="10" name="Text 7"/>
          <p:cNvSpPr/>
          <p:nvPr/>
        </p:nvSpPr>
        <p:spPr>
          <a:xfrm>
            <a:off x="7726680" y="3716147"/>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Preta, parda ou indígena: 0,79 no conjunto e 0,84 dentro dos municípios.</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REN-28</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29</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Correlação com os outros 11: o gráfico</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REN_correlacao.png">    </p:cNvPr>
          <p:cNvPicPr>
            <a:picLocks noChangeAspect="1"/>
          </p:cNvPicPr>
          <p:nvPr/>
        </p:nvPicPr>
        <p:blipFill>
          <a:blip r:embed="rId1"/>
          <a:stretch>
            <a:fillRect/>
          </a:stretch>
        </p:blipFill>
        <p:spPr>
          <a:xfrm>
            <a:off x="777240" y="1298448"/>
            <a:ext cx="6675120" cy="3429472"/>
          </a:xfrm>
          <a:prstGeom prst="rect">
            <a:avLst/>
          </a:prstGeom>
        </p:spPr>
      </p:pic>
      <p:sp>
        <p:nvSpPr>
          <p:cNvPr id="6" name="Text 3"/>
          <p:cNvSpPr/>
          <p:nvPr/>
        </p:nvSpPr>
        <p:spPr>
          <a:xfrm>
            <a:off x="777240" y="4782784"/>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13 — </a:t>
            </a:r>
            <a:pPr indent="0" marL="0">
              <a:buNone/>
            </a:pPr>
            <a:r>
              <a:rPr lang="en-US" sz="1050" dirty="0">
                <a:solidFill>
                  <a:srgbClr val="56534C"/>
                </a:solidFill>
                <a:latin typeface="Cambria" pitchFamily="34" charset="0"/>
                <a:ea typeface="Cambria" pitchFamily="34" charset="-122"/>
                <a:cs typeface="Cambria" pitchFamily="34" charset="-120"/>
              </a:rPr>
              <a:t>Spearman nos setores com os 12 indicadores; renda invertida.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mesmas correlações em barras: verde, no conjunto; vermelho, dentro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Quando a barra vermelha encolhe, parte da relação vinha de diferenças entre cidades, não de diferenças dentro delas.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para a direita: relação positiva; para a esquerda, negativa. Ordenado da mais forte para a mais fraca.</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correlação mais forte é com Preta, parda ou indígena: 0,79 no conjunto e 0,84 dentro dos municípios.</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REN-29</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30</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 tabela</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035040" cy="914400"/>
        </p:xfrm>
        <a:graphic>
          <a:graphicData uri="http://schemas.openxmlformats.org/drawingml/2006/table">
            <a:tbl>
              <a:tblPr/>
              <a:tblGrid>
                <a:gridCol w="2560320"/>
                <a:gridCol w="1463040"/>
                <a:gridCol w="2011680"/>
              </a:tblGrid>
              <a:tr h="246888">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Medida</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No conjunto</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900" b="1" dirty="0">
                          <a:solidFill>
                            <a:srgbClr val="1A1A18"/>
                          </a:solidFill>
                          <a:latin typeface="Cambria" pitchFamily="34" charset="0"/>
                          <a:ea typeface="Cambria" pitchFamily="34" charset="-122"/>
                          <a:cs typeface="Cambria" pitchFamily="34" charset="-120"/>
                        </a:rPr>
                        <a:t>Dentro dos municípios</a:t>
                      </a:r>
                      <a:endParaRPr lang="en-US" sz="9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MSA</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0,801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0,827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Comunalidade</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0,683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0,748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0,823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0,855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Sem rotação,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-0,074</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-0,132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0,772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0,860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Varimax,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0,295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0,097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0,727</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0,872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padrão,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0,150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-0,013</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0,818</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0,865</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46888">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Promax estrutura, F2</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0,590</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950" dirty="0">
                          <a:solidFill>
                            <a:srgbClr val="1A1A18"/>
                          </a:solidFill>
                          <a:latin typeface="Cambria" pitchFamily="34" charset="0"/>
                          <a:ea typeface="Cambria" pitchFamily="34" charset="-122"/>
                          <a:cs typeface="Cambria" pitchFamily="34" charset="-120"/>
                        </a:rPr>
                        <a:t>0,441</a:t>
                      </a:r>
                      <a:endParaRPr lang="en-US" sz="9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resultado da análise fatorial dos 12 indicadores juntos (eixo principal, 2 fatores), nas duas réguas.</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carga diz quanto o indicador "pertence" a cada fator (F1, F2). A comunalidade é a parte da variação dele explicada pelos fatores; o MSA, o quanto ele combina com os outros para uma fatorial.</a:t>
            </a:r>
            <a:endParaRPr lang="en-US" sz="1150" dirty="0"/>
          </a:p>
        </p:txBody>
      </p:sp>
      <p:sp>
        <p:nvSpPr>
          <p:cNvPr id="9" name="Text 6"/>
          <p:cNvSpPr/>
          <p:nvPr/>
        </p:nvSpPr>
        <p:spPr>
          <a:xfrm>
            <a:off x="7726680" y="2846959"/>
            <a:ext cx="3685032" cy="98590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Carga perto de 1 (ou −1): pertence ao fator; perto de 0, não. Comunalidade abaixo de 0,30 e MSA abaixo de 0,50 são os limites pré-registrados. Varimax mantém os fatores independentes; promax deixa que se correlacionem.</a:t>
            </a:r>
            <a:endParaRPr lang="en-US" sz="1150" dirty="0"/>
          </a:p>
        </p:txBody>
      </p:sp>
      <p:sp>
        <p:nvSpPr>
          <p:cNvPr id="10" name="Text 7"/>
          <p:cNvSpPr/>
          <p:nvPr/>
        </p:nvSpPr>
        <p:spPr>
          <a:xfrm>
            <a:off x="7726680" y="390601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0,683 no conjunto e 0,748 dentro dos municípios (critério: 0,30); MSA de 0,801 (critério: 0,50).</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REN-30</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31</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Na análise fatorial das 12: as cargas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REN_cargas.png">    </p:cNvPr>
          <p:cNvPicPr>
            <a:picLocks noChangeAspect="1"/>
          </p:cNvPicPr>
          <p:nvPr/>
        </p:nvPicPr>
        <p:blipFill>
          <a:blip r:embed="rId1"/>
          <a:stretch>
            <a:fillRect/>
          </a:stretch>
        </p:blipFill>
        <p:spPr>
          <a:xfrm>
            <a:off x="777240" y="1298448"/>
            <a:ext cx="6675120" cy="3897985"/>
          </a:xfrm>
          <a:prstGeom prst="rect">
            <a:avLst/>
          </a:prstGeom>
        </p:spPr>
      </p:pic>
      <p:sp>
        <p:nvSpPr>
          <p:cNvPr id="6" name="Text 3"/>
          <p:cNvSpPr/>
          <p:nvPr/>
        </p:nvSpPr>
        <p:spPr>
          <a:xfrm>
            <a:off x="777240" y="5251297"/>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14 — </a:t>
            </a:r>
            <a:pPr indent="0" marL="0">
              <a:buNone/>
            </a:pPr>
            <a:r>
              <a:rPr lang="en-US" sz="1050" dirty="0">
                <a:solidFill>
                  <a:srgbClr val="56534C"/>
                </a:solidFill>
                <a:latin typeface="Cambria" pitchFamily="34" charset="0"/>
                <a:ea typeface="Cambria" pitchFamily="34" charset="-122"/>
                <a:cs typeface="Cambria" pitchFamily="34" charset="-120"/>
              </a:rPr>
              <a:t>Renda média do responsável: carga em F1 (cor cheia) e F2 (cor clara), por rotação e régua.</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As cargas do indicador nos dois fatores, em cada forma de rotação,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fica sempre no mesmo fator, seja qual for a rotação — sinal de que a posição dele na estrutura é estável.</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Barra alta em F1 e baixa em F2: o indicador pertence a F1. Barras parecidas nas quatro rotações: a conclusão não depende do método.</a:t>
            </a:r>
            <a:endParaRPr lang="en-US" sz="1150" dirty="0"/>
          </a:p>
        </p:txBody>
      </p:sp>
      <p:sp>
        <p:nvSpPr>
          <p:cNvPr id="11" name="Text 8"/>
          <p:cNvSpPr/>
          <p:nvPr/>
        </p:nvSpPr>
        <p:spPr>
          <a:xfrm>
            <a:off x="7726680" y="3146552"/>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Comunalidade de 0,683 no conjunto e 0,748 dentro dos municípios (critério: 0,30); MSA de 0,801 (critério: 0,50).</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REN-31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32</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que acontece quando ele entra ou sai</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3108960"/>
                <a:gridCol w="1371600"/>
                <a:gridCol w="192024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Nas 4.017 combinações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No conjunto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Dentro dos municípios</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Pares comparados</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1.981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Variação mediana do KMO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0,044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0,064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Setores perdidos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sem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0,4%</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elegível com ele</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 dos pares em que derruba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0,05%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Comunalidade mediana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0,762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0,806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Foram rodadas todas as 4.017 combinações de 3 ou mais dos 12 indicadores. Aqui se comparam os pares de combinações que só diferem por este indicador.</a:t>
            </a:r>
            <a:endParaRPr lang="en-US" sz="1150" dirty="0"/>
          </a:p>
        </p:txBody>
      </p:sp>
      <p:sp>
        <p:nvSpPr>
          <p:cNvPr id="8" name="Text 5"/>
          <p:cNvSpPr/>
          <p:nvPr/>
        </p:nvSpPr>
        <p:spPr>
          <a:xfrm>
            <a:off x="7726680" y="1977771"/>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Isola o efeito de incluir este indicador: se melhora ou piora a adequação (KMO), quantos setores custa (por sigilo) e se faz a combinação deixar de passar nos critérios.</a:t>
            </a:r>
            <a:endParaRPr lang="en-US" sz="1150" dirty="0"/>
          </a:p>
        </p:txBody>
      </p:sp>
      <p:sp>
        <p:nvSpPr>
          <p:cNvPr id="9" name="Text 6"/>
          <p:cNvSpPr/>
          <p:nvPr/>
        </p:nvSpPr>
        <p:spPr>
          <a:xfrm>
            <a:off x="7726680" y="2846959"/>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KMO vai de 0 a 1 e mede se os indicadores compartilham variação suficiente para uma fatorial; acima de 0,70 é adequado. "Elegível" = passa nos quatro critérios pré-registrados.</a:t>
            </a:r>
            <a:endParaRPr lang="en-US" sz="1150" dirty="0"/>
          </a:p>
        </p:txBody>
      </p:sp>
      <p:sp>
        <p:nvSpPr>
          <p:cNvPr id="10" name="Text 7"/>
          <p:cNvSpPr/>
          <p:nvPr/>
        </p:nvSpPr>
        <p:spPr>
          <a:xfrm>
            <a:off x="7726680" y="3716147"/>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Na régua municipal, em 0,05% dos pares a combinação era elegível sem ele e deixa de ser com ele; ao entrar, custa na mediana 10 setores e muda o KMO em 0,064.</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REN-32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33</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 comunalidade dele nas 4.017 combinações</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REN_comunalidade.png">    </p:cNvPr>
          <p:cNvPicPr>
            <a:picLocks noChangeAspect="1"/>
          </p:cNvPicPr>
          <p:nvPr/>
        </p:nvPicPr>
        <p:blipFill>
          <a:blip r:embed="rId1"/>
          <a:stretch>
            <a:fillRect/>
          </a:stretch>
        </p:blipFill>
        <p:spPr>
          <a:xfrm>
            <a:off x="777240" y="1298448"/>
            <a:ext cx="6675120" cy="4067430"/>
          </a:xfrm>
          <a:prstGeom prst="rect">
            <a:avLst/>
          </a:prstGeom>
        </p:spPr>
      </p:pic>
      <p:sp>
        <p:nvSpPr>
          <p:cNvPr id="6" name="Text 3"/>
          <p:cNvSpPr/>
          <p:nvPr/>
        </p:nvSpPr>
        <p:spPr>
          <a:xfrm>
            <a:off x="777240" y="5420742"/>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15 — </a:t>
            </a:r>
            <a:pPr indent="0" marL="0">
              <a:buNone/>
            </a:pPr>
            <a:r>
              <a:rPr lang="en-US" sz="1050" dirty="0">
                <a:solidFill>
                  <a:srgbClr val="56534C"/>
                </a:solidFill>
                <a:latin typeface="Cambria" pitchFamily="34" charset="0"/>
                <a:ea typeface="Cambria" pitchFamily="34" charset="-122"/>
                <a:cs typeface="Cambria" pitchFamily="34" charset="-120"/>
              </a:rPr>
              <a:t>Renda média do responsável: comunalidade em cada combinação em que entra; tracejado: critério 0,30.</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A comunalidade do indicador em cada uma das combinações em que ele entra, nas duas réguas.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se o indicador compartilha variação com os outros de forma consistente, ou só em algumas combinações.</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Histograma à direita da linha tracejada: o indicador costuma passar no critério. À esquerda: costuma ficar de fora da estrutura comum.</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Dentro dos municípios, fica abaixo do critério em 1,5% das combinações em que entra.</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REN-33</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34</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no índice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777240" y="1298448"/>
          <a:ext cx="6400800" cy="914400"/>
        </p:xfrm>
        <a:graphic>
          <a:graphicData uri="http://schemas.openxmlformats.org/drawingml/2006/table">
            <a:tbl>
              <a:tblPr/>
              <a:tblGrid>
                <a:gridCol w="1828800"/>
                <a:gridCol w="1005840"/>
                <a:gridCol w="914400"/>
                <a:gridCol w="1737360"/>
                <a:gridCol w="914400"/>
              </a:tblGrid>
              <a:tr h="246888">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Finalista</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Especificação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Peso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Menor sem 1 município</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1000" b="1" dirty="0">
                          <a:solidFill>
                            <a:srgbClr val="1A1A18"/>
                          </a:solidFill>
                          <a:latin typeface="Cambria" pitchFamily="34" charset="0"/>
                          <a:ea typeface="Cambria" pitchFamily="34" charset="-122"/>
                          <a:cs typeface="Cambria" pitchFamily="34" charset="-120"/>
                        </a:rPr>
                        <a:t>Maior</a:t>
                      </a:r>
                      <a:endParaRPr lang="en-US" sz="100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proposta</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28,9%</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23,0%</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31,7%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conjunto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E0171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23,6%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19,5%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25,6%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normalizacao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E0027</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21,6%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21,2%</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22,6%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54127">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alt. rotacao peso</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E0001</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28,6%</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26,3%</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1050" dirty="0">
                          <a:solidFill>
                            <a:srgbClr val="1A1A18"/>
                          </a:solidFill>
                          <a:latin typeface="Cambria" pitchFamily="34" charset="0"/>
                          <a:ea typeface="Cambria" pitchFamily="34" charset="-122"/>
                          <a:cs typeface="Cambria" pitchFamily="34" charset="-120"/>
                        </a:rPr>
                        <a:t>30,5%</a:t>
                      </a:r>
                      <a:endParaRPr lang="en-US" sz="105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6" name="Shape 3"/>
          <p:cNvSpPr/>
          <p:nvPr/>
        </p:nvSpPr>
        <p:spPr>
          <a:xfrm>
            <a:off x="7589520" y="1298448"/>
            <a:ext cx="0" cy="4828032"/>
          </a:xfrm>
          <a:prstGeom prst="line">
            <a:avLst/>
          </a:prstGeom>
          <a:noFill/>
          <a:ln w="9525">
            <a:solidFill>
              <a:srgbClr val="C8C6C0"/>
            </a:solidFill>
            <a:prstDash val="solid"/>
          </a:ln>
        </p:spPr>
      </p:sp>
      <p:sp>
        <p:nvSpPr>
          <p:cNvPr id="7" name="Text 4"/>
          <p:cNvSpPr/>
          <p:nvPr/>
        </p:nvSpPr>
        <p:spPr>
          <a:xfrm>
            <a:off x="7726680" y="1298448"/>
            <a:ext cx="3685032" cy="79603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do indicador no índice em cada especificação finalista (a proposta e as alternativas de maior impacto), e o menor e o maior peso quando se tira um município por vez.</a:t>
            </a:r>
            <a:endParaRPr lang="en-US" sz="1150" dirty="0"/>
          </a:p>
        </p:txBody>
      </p:sp>
      <p:sp>
        <p:nvSpPr>
          <p:cNvPr id="8" name="Text 5"/>
          <p:cNvSpPr/>
          <p:nvPr/>
        </p:nvSpPr>
        <p:spPr>
          <a:xfrm>
            <a:off x="7726680" y="2167636"/>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Mostra quanto o indicador conta no IVS e se esse peso depende de uma cidade específica.</a:t>
            </a:r>
            <a:endParaRPr lang="en-US" sz="1150" dirty="0"/>
          </a:p>
        </p:txBody>
      </p:sp>
      <p:sp>
        <p:nvSpPr>
          <p:cNvPr id="9" name="Text 6"/>
          <p:cNvSpPr/>
          <p:nvPr/>
        </p:nvSpPr>
        <p:spPr>
          <a:xfrm>
            <a:off x="7726680" y="2657094"/>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Peso é a fração do índice que vem deste indicador (os pesos de todos somam 100%). "Fora": não entra naquela especificação.</a:t>
            </a:r>
            <a:endParaRPr lang="en-US" sz="1150" dirty="0"/>
          </a:p>
        </p:txBody>
      </p:sp>
      <p:sp>
        <p:nvSpPr>
          <p:cNvPr id="10" name="Text 7"/>
          <p:cNvSpPr/>
          <p:nvPr/>
        </p:nvSpPr>
        <p:spPr>
          <a:xfrm>
            <a:off x="7726680" y="3336417"/>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IVS proposto o peso é 28,9%; tirando um município por vez, vai de 23,0% a 31,7%.</a:t>
            </a:r>
            <a:endParaRPr lang="en-US" sz="1150" dirty="0"/>
          </a:p>
        </p:txBody>
      </p:sp>
      <p:sp>
        <p:nvSpPr>
          <p:cNvPr id="11" name="Text 8"/>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REN-34</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35</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O peso sem um município por vez</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pic>
        <p:nvPicPr>
          <p:cNvPr id="5" name="Image 0" descr="/Users/pedro/Documents/Iniciacao Cientifica/Projeto_IVS_Censo22/apresentacoes_multiversao/figuras/REN_peso_estabilidade.png">    </p:cNvPr>
          <p:cNvPicPr>
            <a:picLocks noChangeAspect="1"/>
          </p:cNvPicPr>
          <p:nvPr/>
        </p:nvPicPr>
        <p:blipFill>
          <a:blip r:embed="rId1"/>
          <a:stretch>
            <a:fillRect/>
          </a:stretch>
        </p:blipFill>
        <p:spPr>
          <a:xfrm>
            <a:off x="777240" y="1298448"/>
            <a:ext cx="6675120" cy="4119913"/>
          </a:xfrm>
          <a:prstGeom prst="rect">
            <a:avLst/>
          </a:prstGeom>
        </p:spPr>
      </p:pic>
      <p:sp>
        <p:nvSpPr>
          <p:cNvPr id="6" name="Text 3"/>
          <p:cNvSpPr/>
          <p:nvPr/>
        </p:nvSpPr>
        <p:spPr>
          <a:xfrm>
            <a:off x="777240" y="5473225"/>
            <a:ext cx="6675120" cy="310896"/>
          </a:xfrm>
          <a:prstGeom prst="rect">
            <a:avLst/>
          </a:prstGeom>
          <a:noFill/>
          <a:ln/>
        </p:spPr>
        <p:txBody>
          <a:bodyPr wrap="square" lIns="0" tIns="0" rIns="0" bIns="0" rtlCol="0" anchor="t"/>
          <a:lstStyle/>
          <a:p>
            <a:pPr indent="0" marL="0">
              <a:buNone/>
            </a:pPr>
            <a:r>
              <a:rPr lang="en-US" sz="1050" b="1" dirty="0">
                <a:solidFill>
                  <a:srgbClr val="56534C"/>
                </a:solidFill>
                <a:latin typeface="Cambria" pitchFamily="34" charset="0"/>
                <a:ea typeface="Cambria" pitchFamily="34" charset="-122"/>
                <a:cs typeface="Cambria" pitchFamily="34" charset="-120"/>
              </a:rPr>
              <a:t>Figura 16 — </a:t>
            </a:r>
            <a:pPr indent="0" marL="0">
              <a:buNone/>
            </a:pPr>
            <a:r>
              <a:rPr lang="en-US" sz="1050" dirty="0">
                <a:solidFill>
                  <a:srgbClr val="56534C"/>
                </a:solidFill>
                <a:latin typeface="Cambria" pitchFamily="34" charset="0"/>
                <a:ea typeface="Cambria" pitchFamily="34" charset="-122"/>
                <a:cs typeface="Cambria" pitchFamily="34" charset="-120"/>
              </a:rPr>
              <a:t>Renda média do responsável: peso no IVS proposto em cada uma das 70 rodadas; linha vermelha: peso com todos.</a:t>
            </a:r>
            <a:endParaRPr lang="en-US" sz="1050" dirty="0"/>
          </a:p>
        </p:txBody>
      </p:sp>
      <p:sp>
        <p:nvSpPr>
          <p:cNvPr id="7" name="Shape 4"/>
          <p:cNvSpPr/>
          <p:nvPr/>
        </p:nvSpPr>
        <p:spPr>
          <a:xfrm>
            <a:off x="7589520" y="1298448"/>
            <a:ext cx="0" cy="4828032"/>
          </a:xfrm>
          <a:prstGeom prst="line">
            <a:avLst/>
          </a:prstGeom>
          <a:noFill/>
          <a:ln w="9525">
            <a:solidFill>
              <a:srgbClr val="C8C6C0"/>
            </a:solidFill>
            <a:prstDash val="solid"/>
          </a:ln>
        </p:spPr>
      </p:sp>
      <p:sp>
        <p:nvSpPr>
          <p:cNvPr id="8" name="Text 5"/>
          <p:cNvSpPr/>
          <p:nvPr/>
        </p:nvSpPr>
        <p:spPr>
          <a:xfrm>
            <a:off x="7726680" y="1298448"/>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O que é.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O peso do indicador recalculado 70 vezes, cada vez sem um dos municípios.</a:t>
            </a:r>
            <a:endParaRPr lang="en-US" sz="1150" dirty="0"/>
          </a:p>
        </p:txBody>
      </p:sp>
      <p:sp>
        <p:nvSpPr>
          <p:cNvPr id="9" name="Text 6"/>
          <p:cNvSpPr/>
          <p:nvPr/>
        </p:nvSpPr>
        <p:spPr>
          <a:xfrm>
            <a:off x="7726680" y="1787906"/>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Para que serve.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É a medida de incerteza adotada (a reamostragem de setores subestimava). Se um município sozinho muda muito o peso, a fatorial depende dele.</a:t>
            </a:r>
            <a:endParaRPr lang="en-US" sz="1150" dirty="0"/>
          </a:p>
        </p:txBody>
      </p:sp>
      <p:sp>
        <p:nvSpPr>
          <p:cNvPr id="10" name="Text 7"/>
          <p:cNvSpPr/>
          <p:nvPr/>
        </p:nvSpPr>
        <p:spPr>
          <a:xfrm>
            <a:off x="7726680" y="2467229"/>
            <a:ext cx="3685032" cy="606171"/>
          </a:xfrm>
          <a:prstGeom prst="rect">
            <a:avLst/>
          </a:prstGeom>
          <a:noFill/>
          <a:ln/>
        </p:spPr>
        <p:txBody>
          <a:bodyPr wrap="square" lIns="0" tIns="0" rIns="0" bIns="0" rtlCol="0" anchor="t"/>
          <a:lstStyle/>
          <a:p>
            <a:pPr indent="0" marL="0">
              <a:lnSpc>
                <a:spcPts val="1495"/>
              </a:lnSpc>
              <a:buNone/>
            </a:pPr>
            <a:r>
              <a:rPr lang="en-US" sz="1150" b="1" dirty="0">
                <a:solidFill>
                  <a:srgbClr val="1A1A18"/>
                </a:solidFill>
                <a:latin typeface="Cambria" pitchFamily="34" charset="0"/>
                <a:ea typeface="Cambria" pitchFamily="34" charset="-122"/>
                <a:cs typeface="Cambria" pitchFamily="34" charset="-120"/>
              </a:rPr>
              <a:t>Como ler.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Histograma estreito em torno da linha vermelha: peso estável. Barras isoladas longe dela: um município que puxa o peso.</a:t>
            </a:r>
            <a:endParaRPr lang="en-US" sz="1150" dirty="0"/>
          </a:p>
        </p:txBody>
      </p:sp>
      <p:sp>
        <p:nvSpPr>
          <p:cNvPr id="11" name="Text 8"/>
          <p:cNvSpPr/>
          <p:nvPr/>
        </p:nvSpPr>
        <p:spPr>
          <a:xfrm>
            <a:off x="7726680" y="3146552"/>
            <a:ext cx="3685032" cy="416306"/>
          </a:xfrm>
          <a:prstGeom prst="rect">
            <a:avLst/>
          </a:prstGeom>
          <a:noFill/>
          <a:ln/>
        </p:spPr>
        <p:txBody>
          <a:bodyPr wrap="square" lIns="0" tIns="0" rIns="0" bIns="0" rtlCol="0" anchor="t"/>
          <a:lstStyle/>
          <a:p>
            <a:pPr indent="0" marL="0">
              <a:lnSpc>
                <a:spcPts val="1495"/>
              </a:lnSpc>
              <a:buNone/>
            </a:pPr>
            <a:r>
              <a:rPr lang="en-US" sz="1150" b="1" dirty="0">
                <a:solidFill>
                  <a:srgbClr val="8C2F27"/>
                </a:solidFill>
                <a:latin typeface="Cambria" pitchFamily="34" charset="0"/>
                <a:ea typeface="Cambria" pitchFamily="34" charset="-122"/>
                <a:cs typeface="Cambria" pitchFamily="34" charset="-120"/>
              </a:rPr>
              <a:t>O que mostra. </a:t>
            </a:r>
            <a:pPr indent="0" marL="0">
              <a:lnSpc>
                <a:spcPts val="1495"/>
              </a:lnSpc>
              <a:buNone/>
            </a:pPr>
            <a:r>
              <a:rPr lang="en-US" sz="1150" dirty="0">
                <a:solidFill>
                  <a:srgbClr val="1A1A18"/>
                </a:solidFill>
                <a:latin typeface="Cambria" pitchFamily="34" charset="0"/>
                <a:ea typeface="Cambria" pitchFamily="34" charset="-122"/>
                <a:cs typeface="Cambria" pitchFamily="34" charset="-120"/>
              </a:rPr>
              <a:t>No IVS proposto o peso é 28,9%; tirando um município por vez, vai de 23,0% a 31,7%.</a:t>
            </a:r>
            <a:endParaRPr lang="en-US" sz="1150" dirty="0"/>
          </a:p>
        </p:txBody>
      </p:sp>
      <p:sp>
        <p:nvSpPr>
          <p:cNvPr id="12" name="Text 9"/>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REN-35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36</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Síntese</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sp>
        <p:nvSpPr>
          <p:cNvPr id="5" name="Text 3"/>
          <p:cNvSpPr/>
          <p:nvPr/>
        </p:nvSpPr>
        <p:spPr>
          <a:xfrm>
            <a:off x="777240" y="1316736"/>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Distribuição.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média (R$ 4.185,81) e a mediana (R$ 2.572,39) se afastam: assimetria de 3,20.</a:t>
            </a:r>
            <a:endParaRPr lang="en-US" sz="1350" dirty="0"/>
          </a:p>
        </p:txBody>
      </p:sp>
      <p:sp>
        <p:nvSpPr>
          <p:cNvPr id="6" name="Text 4"/>
          <p:cNvSpPr/>
          <p:nvPr/>
        </p:nvSpPr>
        <p:spPr>
          <a:xfrm>
            <a:off x="777240" y="1649349"/>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Cobertura.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104.095 dos 104.108 setores (99,99%) têm o dado. A ausência é desprezível.</a:t>
            </a:r>
            <a:endParaRPr lang="en-US" sz="1350" dirty="0"/>
          </a:p>
        </p:txBody>
      </p:sp>
      <p:sp>
        <p:nvSpPr>
          <p:cNvPr id="7" name="Text 5"/>
          <p:cNvSpPr/>
          <p:nvPr/>
        </p:nvSpPr>
        <p:spPr>
          <a:xfrm>
            <a:off x="777240" y="1981962"/>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Onde é mais alto.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maior média é a do Centro-Oeste (R$ 4.944,55); a menor, a do Norte (R$ 2.880,50). O Norte tem só 6 municípios: os contrastes descrevem os municípios estudados, não a região inteira.</a:t>
            </a:r>
            <a:endParaRPr lang="en-US" sz="1350" dirty="0"/>
          </a:p>
        </p:txBody>
      </p:sp>
      <p:sp>
        <p:nvSpPr>
          <p:cNvPr id="8" name="Text 6"/>
          <p:cNvSpPr/>
          <p:nvPr/>
        </p:nvSpPr>
        <p:spPr>
          <a:xfrm>
            <a:off x="777240" y="2537460"/>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Gradiente social.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No decil 1 a média é R$ 11.844,31; no decil 10, R$ 1.604,62.</a:t>
            </a:r>
            <a:endParaRPr lang="en-US" sz="1350" dirty="0"/>
          </a:p>
        </p:txBody>
      </p:sp>
      <p:sp>
        <p:nvSpPr>
          <p:cNvPr id="9" name="Text 7"/>
          <p:cNvSpPr/>
          <p:nvPr/>
        </p:nvSpPr>
        <p:spPr>
          <a:xfrm>
            <a:off x="777240" y="2870073"/>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Relações.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A correlação mais forte é com Preta, parda ou indígena: 0,79 no conjunto e 0,84 dentro dos municípios.</a:t>
            </a:r>
            <a:endParaRPr lang="en-US" sz="1350" dirty="0"/>
          </a:p>
        </p:txBody>
      </p:sp>
      <p:sp>
        <p:nvSpPr>
          <p:cNvPr id="10" name="Text 8"/>
          <p:cNvSpPr/>
          <p:nvPr/>
        </p:nvSpPr>
        <p:spPr>
          <a:xfrm>
            <a:off x="777240" y="3202686"/>
            <a:ext cx="9720072" cy="482346"/>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Na fatorial.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Comunalidade mediana de 0,806 dentro dos municípios; atende a 3 dos 3 critérios da Fase 1 (comunalidade, perda de base, elegibilidade).</a:t>
            </a:r>
            <a:endParaRPr lang="en-US" sz="1350" dirty="0"/>
          </a:p>
        </p:txBody>
      </p:sp>
      <p:sp>
        <p:nvSpPr>
          <p:cNvPr id="11" name="Text 9"/>
          <p:cNvSpPr/>
          <p:nvPr/>
        </p:nvSpPr>
        <p:spPr>
          <a:xfrm>
            <a:off x="777240" y="3758184"/>
            <a:ext cx="9720072" cy="259461"/>
          </a:xfrm>
          <a:prstGeom prst="rect">
            <a:avLst/>
          </a:prstGeom>
          <a:noFill/>
          <a:ln/>
        </p:spPr>
        <p:txBody>
          <a:bodyPr wrap="square" lIns="0" tIns="0" rIns="0" bIns="0" rtlCol="0" anchor="t"/>
          <a:lstStyle/>
          <a:p>
            <a:pPr indent="0" marL="0">
              <a:lnSpc>
                <a:spcPts val="1755"/>
              </a:lnSpc>
              <a:buNone/>
            </a:pPr>
            <a:r>
              <a:rPr lang="en-US" sz="1350" b="1" dirty="0">
                <a:solidFill>
                  <a:srgbClr val="1A1A18"/>
                </a:solidFill>
                <a:latin typeface="Cambria" pitchFamily="34" charset="0"/>
                <a:ea typeface="Cambria" pitchFamily="34" charset="-122"/>
                <a:cs typeface="Cambria" pitchFamily="34" charset="-120"/>
              </a:rPr>
              <a:t>Proposta. </a:t>
            </a:r>
            <a:pPr indent="0" marL="0">
              <a:lnSpc>
                <a:spcPts val="1755"/>
              </a:lnSpc>
              <a:buNone/>
            </a:pPr>
            <a:r>
              <a:rPr lang="en-US" sz="1350" dirty="0">
                <a:solidFill>
                  <a:srgbClr val="1A1A18"/>
                </a:solidFill>
                <a:latin typeface="Cambria" pitchFamily="34" charset="0"/>
                <a:ea typeface="Cambria" pitchFamily="34" charset="-122"/>
                <a:cs typeface="Cambria" pitchFamily="34" charset="-120"/>
              </a:rPr>
              <a:t>Entra no IVS proposto (padrão P2: os 7 do Quadro 1).</a:t>
            </a:r>
            <a:endParaRPr lang="en-US" sz="1350" dirty="0"/>
          </a:p>
        </p:txBody>
      </p:sp>
      <p:sp>
        <p:nvSpPr>
          <p:cNvPr id="12" name="Text 10"/>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REN-36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37</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(1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Caetano do 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R$ 6.549,58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R$ 5.291,89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Brasília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R$ 5.718,58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R$ 3.518,49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26.508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R$ 5.273,69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R$ 3.108,89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Curitiba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R$ 5.201,76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R$ 4.115,49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Porto Alegre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R$ 5.137,62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R$ 3.986,89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2.461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R$ 4.706,50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R$ 3.391,86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Belo Horizonte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5.112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R$ 4.649,88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R$ 3.058,23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R$ 4.593,49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R$ 3.112,75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Rio de Janeiro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13.367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R$ 4.481,73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R$ 2.702,45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Bernardo do Campo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R$ 4.243,58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R$ 3.371,95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Pato Branco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R$ 4.032,23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R$ 3.466,51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Salto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R$ 3.918,68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R$ 3.039,59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Campo Grande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1.603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R$ 3.836,42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R$ 2.744,05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Chapada dos Guimarães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R$ 3.786,37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R$ 3.219,85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Recife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R$ 3.751,83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R$ 1.778,67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Araçatuba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R$ 3.614,64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R$ 2.795,87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Guarujá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R$ 3.539,88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R$ 2.593,08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Natal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R$ 3.524,53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R$ 2.035,34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Canoas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R$ 3.464,06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R$ 2.840,43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Macaé</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R$ 3.418,81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R$ 2.538,99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dos Pinhais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R$ 3.313,32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R$ 2.945,26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Guarulhos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2.414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R$ 3.277,86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R$ 2.361,56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Anápolis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R$ 3.160,14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R$ 2.545,98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R$ 3.141,57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R$ 3.058,07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Salvador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4.476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R$ 3.126,59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R$ 1.637,87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Belém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2.004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R$ 3.088,10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R$ 1.802,79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Charqueadas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R$ 3.036,58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R$ 2.839,32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Divinópolis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R$ 2.979,57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R$ 2.407,86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Goianésia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R$ 2.952,84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R$ 2.323,24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Luís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1.674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R$ 2.942,77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R$ 1.745,24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Teresina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1.368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R$ 2.934,63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R$ 1.913,01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Pedro da Aldeia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R$ 2.913,16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R$ 2.285,26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Manaus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3.094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R$ 2.890,21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R$ 1.852,55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Maceió</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R$ 2.852,11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R$ 1.721,69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Fortaleza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4.280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R$ 2.822,62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R$ 1.708,86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REN-37</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863072" y="6355080"/>
            <a:ext cx="548640" cy="274320"/>
          </a:xfrm>
          <a:prstGeom prst="rect">
            <a:avLst/>
          </a:prstGeom>
          <a:noFill/>
          <a:ln/>
        </p:spPr>
        <p:txBody>
          <a:bodyPr wrap="square" lIns="0" tIns="0" rIns="0" bIns="0" rtlCol="0" anchor="ctr"/>
          <a:lstStyle/>
          <a:p>
            <a:pPr algn="r" indent="0" marL="0">
              <a:buNone/>
            </a:pPr>
            <a:r>
              <a:rPr lang="en-US" sz="1000" dirty="0">
                <a:solidFill>
                  <a:srgbClr val="8B877E"/>
                </a:solidFill>
                <a:latin typeface="Cambria" pitchFamily="34" charset="0"/>
                <a:ea typeface="Cambria" pitchFamily="34" charset="-122"/>
                <a:cs typeface="Cambria" pitchFamily="34" charset="-120"/>
              </a:rPr>
              <a:t>38</a:t>
            </a:r>
            <a:endParaRPr lang="en-US" sz="1000" dirty="0"/>
          </a:p>
        </p:txBody>
      </p:sp>
      <p:sp>
        <p:nvSpPr>
          <p:cNvPr id="3" name="Text 1"/>
          <p:cNvSpPr/>
          <p:nvPr/>
        </p:nvSpPr>
        <p:spPr>
          <a:xfrm>
            <a:off x="777240" y="384048"/>
            <a:ext cx="10634472" cy="566928"/>
          </a:xfrm>
          <a:prstGeom prst="rect">
            <a:avLst/>
          </a:prstGeom>
          <a:noFill/>
          <a:ln/>
        </p:spPr>
        <p:txBody>
          <a:bodyPr wrap="square" lIns="0" tIns="0" rIns="0" bIns="0" rtlCol="0" anchor="b"/>
          <a:lstStyle/>
          <a:p>
            <a:pPr indent="0" marL="0">
              <a:buNone/>
            </a:pPr>
            <a:r>
              <a:rPr lang="en-US" sz="2600" b="1" dirty="0">
                <a:solidFill>
                  <a:srgbClr val="1A1A18"/>
                </a:solidFill>
                <a:latin typeface="Cambria" pitchFamily="34" charset="0"/>
                <a:ea typeface="Cambria" pitchFamily="34" charset="-122"/>
                <a:cs typeface="Cambria" pitchFamily="34" charset="-120"/>
              </a:rPr>
              <a:t>Apêndice: os 70 municípios (2 de 2)</a:t>
            </a:r>
            <a:endParaRPr lang="en-US" sz="2600" dirty="0"/>
          </a:p>
        </p:txBody>
      </p:sp>
      <p:sp>
        <p:nvSpPr>
          <p:cNvPr id="4" name="Shape 2"/>
          <p:cNvSpPr/>
          <p:nvPr/>
        </p:nvSpPr>
        <p:spPr>
          <a:xfrm>
            <a:off x="777240" y="1024128"/>
            <a:ext cx="10634472" cy="0"/>
          </a:xfrm>
          <a:prstGeom prst="line">
            <a:avLst/>
          </a:prstGeom>
          <a:noFill/>
          <a:ln w="12700">
            <a:solidFill>
              <a:srgbClr val="1A1A18"/>
            </a:solidFill>
            <a:prstDash val="solid"/>
          </a:ln>
        </p:spPr>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77240"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Guapiaçu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R$ 2.783,58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R$ 2.589,16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Mauá</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824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R$ 2.676,65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R$ 2.372,53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Paulo das Missões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R$ 2.661,91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R$ 2.637,82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Cachoeiro de Itapemirim</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R$ 2.657,88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R$ 2.288,77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Igarapava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R$ 2.615,25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R$ 2.408,86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Vicentinópolis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Centro-Oeste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R$ 2.488,97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R$ 2.403,02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Marechal Deodoro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R$ 2.412,96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R$ 1.963,78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Ananindeua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R$ 2.385,86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R$ 1.772,53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Feira de Santana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R$ 2.346,89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R$ 1.753,99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Tabatinga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R$ 2.216,94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R$ 2.228,86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Capelinha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R$ 2.196,23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R$ 1.838,62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José de Ribamar</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580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R$ 2.159,48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R$ 1.633,45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Nova Iguaçu</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1.568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R$ 2.125,64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R$ 1.773,89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Autazes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43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R$ 2.119,66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R$ 1.694,50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Camaragibe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R$ 2.108,30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R$ 1.595,08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Gonçalo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2.357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R$ 2.106,18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R$ 1.853,30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Duque de Caxias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1.788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R$ 2.031,41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R$ 1.832,16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Santa Maria do Oeste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R$ 2.029,65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R$ 1.957,28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6368796" y="1271016"/>
          <a:ext cx="5042916" cy="914400"/>
        </p:xfrm>
        <a:graphic>
          <a:graphicData uri="http://schemas.openxmlformats.org/drawingml/2006/table">
            <a:tbl>
              <a:tblPr/>
              <a:tblGrid>
                <a:gridCol w="1008583"/>
                <a:gridCol w="1008583"/>
                <a:gridCol w="1008583"/>
                <a:gridCol w="1008583"/>
                <a:gridCol w="1008583"/>
              </a:tblGrid>
              <a:tr h="207645">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Município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Região</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Setores</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Média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c>
                  <a:txBody>
                    <a:bodyPr/>
                    <a:lstStyle/>
                    <a:p>
                      <a:pPr indent="0" marL="0">
                        <a:buNone/>
                      </a:pPr>
                      <a:r>
                        <a:rPr lang="en-US" sz="750" b="1" dirty="0">
                          <a:solidFill>
                            <a:srgbClr val="1A1A18"/>
                          </a:solidFill>
                          <a:latin typeface="Cambria" pitchFamily="34" charset="0"/>
                          <a:ea typeface="Cambria" pitchFamily="34" charset="-122"/>
                          <a:cs typeface="Cambria" pitchFamily="34" charset="-120"/>
                        </a:rPr>
                        <a:t>Mediana</a:t>
                      </a:r>
                      <a:endParaRPr lang="en-US" sz="750" dirty="0">
                        <a:latin typeface="Cambria" charset="0"/>
                        <a:ea typeface="Cambria" charset="0"/>
                        <a:cs typeface="Cambria" charset="0"/>
                      </a:endParaRPr>
                    </a:p>
                  </a:txBody>
                  <a:tcPr marL="91440" marR="91440" marT="45720" marB="45720" anchor="b">
                    <a:lnL w="0" cap="flat" cmpd="sng" algn="ctr">
                      <a:noFill/>
                    </a:lnL>
                    <a:lnR w="0" cap="flat" cmpd="sng" algn="ctr">
                      <a:noFill/>
                    </a:lnR>
                    <a:lnT w="15875" cap="flat" cmpd="sng" algn="ctr">
                      <a:solidFill>
                        <a:srgbClr val="1A1A18"/>
                      </a:solidFill>
                      <a:prstDash val="solid"/>
                      <a:round/>
                      <a:headEnd type="none" w="med" len="med"/>
                      <a:tailEnd type="none" w="med" len="med"/>
                    </a:lnT>
                    <a:lnB w="9525" cap="flat" cmpd="sng" algn="ctr">
                      <a:solidFill>
                        <a:srgbClr val="1A1A18"/>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Limoeiro do 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R$ 2.020,18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R$ 1.760,22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Coroaci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R$ 1.949,99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R$ 1.878,01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Salinas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R$ 1.936,16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R$ 1.571,92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Urandi</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R$ 1.897,28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R$ 1.870,56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Ibatiba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R$ 1.890,58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R$ 1.812,05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Placas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R$ 1.841,32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R$ 1.494,02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Itapetinga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104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R$ 1.833,68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R$ 1.445,72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Orizânia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Sudeste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R$ 1.680,87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R$ 1.717,63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Itajuípe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R$ 1.622,28</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R$ 1.339,82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Portel</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R$ 1.548,87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R$ 1.390,26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Japoatã</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R$ 1.494,60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R$ 1.659,35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Groaíras</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R$ 1.401,25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R$ 1.414,45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Rosário</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R$ 1.392,53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R$ 1.271,66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339344">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São Raimundo do Doca Bezerra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R$ 1.336,90</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R$ 1.386,15</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Arara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19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R$ 1.318,53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R$ 1.334,01</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Água Preta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32</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R$ 1.290,73</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R$ 1.240,34</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6350" cap="flat" cmpd="sng" algn="ctr">
                      <a:solidFill>
                        <a:srgbClr val="E6E4DE"/>
                      </a:solidFill>
                      <a:prstDash val="solid"/>
                      <a:round/>
                      <a:headEnd type="none" w="med" len="med"/>
                      <a:tailEnd type="none" w="med" len="med"/>
                    </a:lnB>
                  </a:tcPr>
                </a:tc>
              </a:tr>
              <a:tr h="215392">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Jaqueira</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Nordeste</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9</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R$ 1.196,37</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c>
                  <a:txBody>
                    <a:bodyPr/>
                    <a:lstStyle/>
                    <a:p>
                      <a:pPr indent="0" marL="0">
                        <a:buNone/>
                      </a:pPr>
                      <a:r>
                        <a:rPr lang="en-US" sz="800" dirty="0">
                          <a:solidFill>
                            <a:srgbClr val="1A1A18"/>
                          </a:solidFill>
                          <a:latin typeface="Cambria" pitchFamily="34" charset="0"/>
                          <a:ea typeface="Cambria" pitchFamily="34" charset="-122"/>
                          <a:cs typeface="Cambria" pitchFamily="34" charset="-120"/>
                        </a:rPr>
                        <a:t>R$ 1.062,36</a:t>
                      </a:r>
                      <a:endParaRPr lang="en-US" sz="800" dirty="0">
                        <a:latin typeface="Cambria" charset="0"/>
                        <a:ea typeface="Cambria" charset="0"/>
                        <a:cs typeface="Cambria" charset="0"/>
                      </a:endParaRPr>
                    </a:p>
                  </a:txBody>
                  <a:tcPr marL="91440" marR="91440" marT="45720" marB="45720" anchor="ctr">
                    <a:lnL w="0" cap="flat" cmpd="sng" algn="ctr">
                      <a:noFill/>
                    </a:lnL>
                    <a:lnR w="0" cap="flat" cmpd="sng" algn="ctr">
                      <a:noFill/>
                    </a:lnR>
                    <a:lnT w="0" cap="flat" cmpd="sng" algn="ctr">
                      <a:noFill/>
                    </a:lnT>
                    <a:lnB w="15875" cap="flat" cmpd="sng" algn="ctr">
                      <a:solidFill>
                        <a:srgbClr val="1A1A18"/>
                      </a:solidFill>
                      <a:prstDash val="solid"/>
                      <a:round/>
                      <a:headEnd type="none" w="med" len="med"/>
                      <a:tailEnd type="none" w="med" len="med"/>
                    </a:lnB>
                  </a:tcPr>
                </a:tc>
              </a:tr>
            </a:tbl>
          </a:graphicData>
        </a:graphic>
      </p:graphicFrame>
      <p:sp>
        <p:nvSpPr>
          <p:cNvPr id="7" name="Text 3"/>
          <p:cNvSpPr/>
          <p:nvPr/>
        </p:nvSpPr>
        <p:spPr>
          <a:xfrm>
            <a:off x="9948672" y="146304"/>
            <a:ext cx="1463040" cy="274320"/>
          </a:xfrm>
          <a:prstGeom prst="rect">
            <a:avLst/>
          </a:prstGeom>
          <a:noFill/>
          <a:ln/>
        </p:spPr>
        <p:txBody>
          <a:bodyPr wrap="square" lIns="0" tIns="0" rIns="0" bIns="0" rtlCol="0" anchor="ctr"/>
          <a:lstStyle/>
          <a:p>
            <a:pPr algn="r" indent="0" marL="0">
              <a:buNone/>
            </a:pPr>
            <a:r>
              <a:rPr lang="en-US" sz="1100" b="1" dirty="0">
                <a:solidFill>
                  <a:srgbClr val="8C2F27"/>
                </a:solidFill>
                <a:latin typeface="Cambria" pitchFamily="34" charset="0"/>
                <a:ea typeface="Cambria" pitchFamily="34" charset="-122"/>
                <a:cs typeface="Cambria" pitchFamily="34" charset="-120"/>
              </a:rPr>
              <a:t>REN-38</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Renda média do responsável</dc:title>
  <dc:subject>PptxGenJS Presentation</dc:subject>
  <dc:creator>Pedro Dias Soares</dc:creator>
  <cp:lastModifiedBy>Pedro Dias Soares</cp:lastModifiedBy>
  <cp:revision>1</cp:revision>
  <dcterms:created xsi:type="dcterms:W3CDTF">2026-10-22T23:26:08Z</dcterms:created>
  <dcterms:modified xsi:type="dcterms:W3CDTF">2026-10-22T23:26:08Z</dcterms:modified>
</cp:coreProperties>
</file>