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[ANA-01] Analfabetismo (15 anos ou mais)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[ANA-06] 84,1%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87.556 dos 104.108 setores (84,1%) têm o dado. Nos 16.552 sem o dado, a renda mediana do responsável é R$ 6.092,84, contra R$ 2.313,87 nos que têm: o ausente não é aleatório.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Sul (23,5%); a menor, no Nordeste (8,4%).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(0,036) e a mediana (0,027) se afastam: assimetria de 2,34.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(0,036) e a mediana (0,027) se afastam: assimetria de 2,34.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4.114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0,027; três quartos, até 0,050.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(0,027) ao 99 (0,164).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Nordeste (0,062); a menor, a do Sul (0,021).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Nordeste (0,062); a menor, a do Sul (0,021).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(0,093); a menor, a dos de 100 a 500 mil (0,035).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(0,093); a menor, a dos de 100 a 500 mil (0,035).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Arara (0,250, 19 setores); menor: São Caetano do Sul (0,013).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0,011 a 0,231.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0,138 (Água Preta) a 0,584 (Taió).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0,138 (Água Preta) a 0,584 (Taió).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0,062 nos setores de favela e de 0,029 fora delas (razão de 2,1).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0,062 nos setores de favela e de 0,029 fora delas (razão de 2,1).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0,069; no decil 10, 0,007.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0,059; nos 70 municípios, 0,036.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0,059; nos 70 municípios, 0,036.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0,164; 876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Renda média do responsável: 0,76 no conjunto e 0,75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Renda média do responsável: 0,76 no conjunto e 0,75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0,536 no conjunto e 0,553 dentro dos municípios (critério: 0,30); MSA de 0,877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0,536 no conjunto e 0,553 dentro dos municípios (critério: 0,30); MSA de 0,877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0,0% dos pares a combinação era elegível sem ele e deixa de ser com ele; ao entrar, custa na mediana 15.947 setores e muda o KMO em 0,073.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2,2%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15,5%; tirando um município por vez, vai de 13,2% a 17,3%.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15,5%; tirando um município por vez, vai de 13,2% a 17,3%.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ANA · SOCIOECONÔMICA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Analfabetismo (15 anos ou mais)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Taxa de analfabetismo entre pessoas de 15 anos ou mais.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Taxa de analfabetismo entre pessoas de 15 anos ou mais,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Não saber ler limita o acesso a informação de saúde, a receitas, a orientações e a serviços. É o substituto, no Censo 2022, da escolaridade do chefe usada em 2012.</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V00901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V00900 + V00901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Agregados_por_setores_alfabetizacao_BR.csv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Faixa etária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pessoas de 15 anos ou mais, porque os agregados de 2022 não têm alfabetização abaixo dessa idade; no IVS de 2012 eram 5 anos ou mais (item b).</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84,1%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R$ 2.313,87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R$ 6.092,84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87.556 dos 104.108 setores (84,1%) têm o dado. Nos 16.552 sem o dado, a renda mediana do responsável é R$ 6.092,84, contra R$ 2.313,87 nos que têm: o ausente não é aleatório.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Sul (23,5%); a menor, no Nordeste (8,4%).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87.556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(0,036) e a mediana (0,027) se afastam: assimetria de 2,34.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número de setores em cada faixa de valor (87.556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(0,036) e a mediana (0,027) se afastam: assimetria de 2,34.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4.114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0,027; três quartos, até 0,050.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percentis.png">    </p:cNvPr>
          <p:cNvPicPr>
            <a:picLocks noChangeAspect="1"/>
          </p:cNvPicPr>
          <p:nvPr/>
        </p:nvPicPr>
        <p:blipFill>
          <a:blip r:embed="rId1"/>
          <a:stretch>
            <a:fillRect/>
          </a:stretch>
        </p:blipFill>
        <p:spPr>
          <a:xfrm>
            <a:off x="777240" y="1298448"/>
            <a:ext cx="6675120" cy="4151685"/>
          </a:xfrm>
          <a:prstGeom prst="rect">
            <a:avLst/>
          </a:prstGeom>
        </p:spPr>
      </p:pic>
      <p:sp>
        <p:nvSpPr>
          <p:cNvPr id="6" name="Text 3"/>
          <p:cNvSpPr/>
          <p:nvPr/>
        </p:nvSpPr>
        <p:spPr>
          <a:xfrm>
            <a:off x="777240" y="55049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(0,027) ao 99 (0,164).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5.411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17.867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0,088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50.608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5.523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8.147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Nordeste (0,062); a menor, a do Sul (0,021).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regiao.png">    </p:cNvPr>
          <p:cNvPicPr>
            <a:picLocks noChangeAspect="1"/>
          </p:cNvPicPr>
          <p:nvPr/>
        </p:nvPicPr>
        <p:blipFill>
          <a:blip r:embed="rId1"/>
          <a:stretch>
            <a:fillRect/>
          </a:stretch>
        </p:blipFill>
        <p:spPr>
          <a:xfrm>
            <a:off x="777240" y="1298448"/>
            <a:ext cx="6675120" cy="3915885"/>
          </a:xfrm>
          <a:prstGeom prst="rect">
            <a:avLst/>
          </a:prstGeom>
        </p:spPr>
      </p:pic>
      <p:sp>
        <p:nvSpPr>
          <p:cNvPr id="6" name="Text 3"/>
          <p:cNvSpPr/>
          <p:nvPr/>
        </p:nvSpPr>
        <p:spPr>
          <a:xfrm>
            <a:off x="777240" y="52691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Nordeste (0,062); a menor, a do Sul (0,021).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6.639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79.751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(0,093); a menor, a dos de 100 a 500 mil (0,035).</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porte.png">    </p:cNvPr>
          <p:cNvPicPr>
            <a:picLocks noChangeAspect="1"/>
          </p:cNvPicPr>
          <p:nvPr/>
        </p:nvPicPr>
        <p:blipFill>
          <a:blip r:embed="rId1"/>
          <a:stretch>
            <a:fillRect/>
          </a:stretch>
        </p:blipFill>
        <p:spPr>
          <a:xfrm>
            <a:off x="777240" y="1298448"/>
            <a:ext cx="6675120" cy="3968419"/>
          </a:xfrm>
          <a:prstGeom prst="rect">
            <a:avLst/>
          </a:prstGeom>
        </p:spPr>
      </p:pic>
      <p:sp>
        <p:nvSpPr>
          <p:cNvPr id="6" name="Text 3"/>
          <p:cNvSpPr/>
          <p:nvPr/>
        </p:nvSpPr>
        <p:spPr>
          <a:xfrm>
            <a:off x="777240" y="532173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(0,093); a menor, a dos de 100 a 500 mil (0,035).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0,191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Água Preta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0,203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0,186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0,181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0,184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Groaíras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Itajuípe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Ibatiba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Marechal Deodoro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Campinas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10.694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3.964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Bernardo do Campo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dos Pinhais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Canoas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1.941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Arara (0,250, 19 setores); menor: São Caetano do Sul (0,013).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municipios.png">    </p:cNvPr>
          <p:cNvPicPr>
            <a:picLocks noChangeAspect="1"/>
          </p:cNvPicPr>
          <p:nvPr/>
        </p:nvPicPr>
        <p:blipFill>
          <a:blip r:embed="rId1"/>
          <a:stretch>
            <a:fillRect/>
          </a:stretch>
        </p:blipFill>
        <p:spPr>
          <a:xfrm>
            <a:off x="1454975" y="1298448"/>
            <a:ext cx="5319650"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0,011 a 0,231.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Caetano do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3.964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10.694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21.303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0,138 (Água Preta) a 0,584 (Taió).</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desigualdade.png">    </p:cNvPr>
          <p:cNvPicPr>
            <a:picLocks noChangeAspect="1"/>
          </p:cNvPicPr>
          <p:nvPr/>
        </p:nvPicPr>
        <p:blipFill>
          <a:blip r:embed="rId1"/>
          <a:stretch>
            <a:fillRect/>
          </a:stretch>
        </p:blipFill>
        <p:spPr>
          <a:xfrm>
            <a:off x="777240" y="1298448"/>
            <a:ext cx="6675120" cy="4062229"/>
          </a:xfrm>
          <a:prstGeom prst="rect">
            <a:avLst/>
          </a:prstGeom>
        </p:spPr>
      </p:pic>
      <p:sp>
        <p:nvSpPr>
          <p:cNvPr id="6" name="Text 3"/>
          <p:cNvSpPr/>
          <p:nvPr/>
        </p:nvSpPr>
        <p:spPr>
          <a:xfrm>
            <a:off x="777240" y="54155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0,138 (Água Preta) a 0,584 (Taió).</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18.904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68.652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0,062 nos setores de favela e de 0,029 fora delas (razão de 2,1).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favela.png">    </p:cNvPr>
          <p:cNvPicPr>
            <a:picLocks noChangeAspect="1"/>
          </p:cNvPicPr>
          <p:nvPr/>
        </p:nvPicPr>
        <p:blipFill>
          <a:blip r:embed="rId1"/>
          <a:stretch>
            <a:fillRect/>
          </a:stretch>
        </p:blipFill>
        <p:spPr>
          <a:xfrm>
            <a:off x="777240" y="1298448"/>
            <a:ext cx="6675120" cy="3961370"/>
          </a:xfrm>
          <a:prstGeom prst="rect">
            <a:avLst/>
          </a:prstGeom>
        </p:spPr>
      </p:pic>
      <p:sp>
        <p:nvSpPr>
          <p:cNvPr id="6" name="Text 3"/>
          <p:cNvSpPr/>
          <p:nvPr/>
        </p:nvSpPr>
        <p:spPr>
          <a:xfrm>
            <a:off x="777240" y="531468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0,062 nos setores de favela e de 0,029 fora delas (razão de 2,1).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gradiente.png">    </p:cNvPr>
          <p:cNvPicPr>
            <a:picLocks noChangeAspect="1"/>
          </p:cNvPicPr>
          <p:nvPr/>
        </p:nvPicPr>
        <p:blipFill>
          <a:blip r:embed="rId1"/>
          <a:stretch>
            <a:fillRect/>
          </a:stretch>
        </p:blipFill>
        <p:spPr>
          <a:xfrm>
            <a:off x="777240" y="1298448"/>
            <a:ext cx="6675120" cy="4158734"/>
          </a:xfrm>
          <a:prstGeom prst="rect">
            <a:avLst/>
          </a:prstGeom>
        </p:spPr>
      </p:pic>
      <p:sp>
        <p:nvSpPr>
          <p:cNvPr id="6" name="Text 3"/>
          <p:cNvSpPr/>
          <p:nvPr/>
        </p:nvSpPr>
        <p:spPr>
          <a:xfrm>
            <a:off x="777240" y="551204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0,069; no decil 10, 0,007.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309.256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0,059; nos 70 municípios, 0,036.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0,059; nos 70 municípios, 0,036.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Natal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Maceió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Maceió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Recife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Fortaleza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0,164; 876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0,76 no conjunto e 0,75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correlacao.png">    </p:cNvPr>
          <p:cNvPicPr>
            <a:picLocks noChangeAspect="1"/>
          </p:cNvPicPr>
          <p:nvPr/>
        </p:nvPicPr>
        <p:blipFill>
          <a:blip r:embed="rId1"/>
          <a:stretch>
            <a:fillRect/>
          </a:stretch>
        </p:blipFill>
        <p:spPr>
          <a:xfrm>
            <a:off x="777240" y="1298448"/>
            <a:ext cx="6675120" cy="3539118"/>
          </a:xfrm>
          <a:prstGeom prst="rect">
            <a:avLst/>
          </a:prstGeom>
        </p:spPr>
      </p:pic>
      <p:sp>
        <p:nvSpPr>
          <p:cNvPr id="6" name="Text 3"/>
          <p:cNvSpPr/>
          <p:nvPr/>
        </p:nvSpPr>
        <p:spPr>
          <a:xfrm>
            <a:off x="777240" y="489243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0,76 no conjunto e 0,75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0,536 no conjunto e 0,553 dentro dos municípios (critério: 0,30); MSA de 0,877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cargas.png">    </p:cNvPr>
          <p:cNvPicPr>
            <a:picLocks noChangeAspect="1"/>
          </p:cNvPicPr>
          <p:nvPr/>
        </p:nvPicPr>
        <p:blipFill>
          <a:blip r:embed="rId1"/>
          <a:stretch>
            <a:fillRect/>
          </a:stretch>
        </p:blipFill>
        <p:spPr>
          <a:xfrm>
            <a:off x="777240" y="1298448"/>
            <a:ext cx="6675120" cy="3897985"/>
          </a:xfrm>
          <a:prstGeom prst="rect">
            <a:avLst/>
          </a:prstGeom>
        </p:spPr>
      </p:pic>
      <p:sp>
        <p:nvSpPr>
          <p:cNvPr id="6" name="Text 3"/>
          <p:cNvSpPr/>
          <p:nvPr/>
        </p:nvSpPr>
        <p:spPr>
          <a:xfrm>
            <a:off x="777240" y="52512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0,536 no conjunto e 0,553 dentro dos municípios (critério: 0,30); MSA de 0,877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15.947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0,0% dos pares a combinação era elegível sem ele e deixa de ser com ele; ao entrar, custa na mediana 15.947 setores e muda o KMO em 0,073.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2,2%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17,3%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15,5%; tirando um município por vez, vai de 13,2% a 17,3%.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NA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Analfabetismo (15 anos ou mais):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15,5%; tirando um município por vez, vai de 13,2% a 17,3%.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(0,036) e a mediana (0,027) se afastam: assimetria de 2,34.</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87.556 dos 104.108 setores (84,1%) têm o dado. Nos 16.552 sem o dado, a renda mediana do responsável é R$ 6.092,84, contra R$ 2.313,87 nos que têm: o ausente não é aleatório.</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Nordeste (0,062); a menor, a do Sul (0,021). O Norte tem só 6 municípios: os contrastes descrevem os municípios estudados, não a região inteira.</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0,069; no decil 10, 0,007.</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Renda média do responsável: 0,76 no conjunto e 0,75 dentro dos municípios.</a:t>
            </a:r>
            <a:endParaRPr lang="en-US" sz="1350" dirty="0"/>
          </a:p>
        </p:txBody>
      </p:sp>
      <p:sp>
        <p:nvSpPr>
          <p:cNvPr id="10" name="Text 8"/>
          <p:cNvSpPr/>
          <p:nvPr/>
        </p:nvSpPr>
        <p:spPr>
          <a:xfrm>
            <a:off x="777240" y="342557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0,613 dentro dos municípios; atende a 2 dos 3 critérios da Fase 1 (comunalidade, perda de base, elegibilidade).</a:t>
            </a:r>
            <a:endParaRPr lang="en-US" sz="1350" dirty="0"/>
          </a:p>
        </p:txBody>
      </p:sp>
      <p:sp>
        <p:nvSpPr>
          <p:cNvPr id="11" name="Text 9"/>
          <p:cNvSpPr/>
          <p:nvPr/>
        </p:nvSpPr>
        <p:spPr>
          <a:xfrm>
            <a:off x="777240" y="398106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3.896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1.867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4.120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21.303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10.694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ANA-38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Analfabetismo (15 anos ou mais)</dc:title>
  <dc:subject>PptxGenJS Presentation</dc:subject>
  <dc:creator>Pedro Dias Soares</dc:creator>
  <cp:lastModifiedBy>Pedro Dias Soares</cp:lastModifiedBy>
  <cp:revision>1</cp:revision>
  <dcterms:created xsi:type="dcterms:W3CDTF">2026-10-22T23:26:07Z</dcterms:created>
  <dcterms:modified xsi:type="dcterms:W3CDTF">2026-10-22T23:26:07Z</dcterms:modified>
</cp:coreProperties>
</file>