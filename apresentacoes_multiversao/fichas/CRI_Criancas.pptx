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Lst>
  <p:notesMasterIdLst>
    <p:notesMasterId r:id="rId4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notesMaster" Target="notesMasters/notesMaster1.xml"/><Relationship Id="rId41" Type="http://schemas.openxmlformats.org/officeDocument/2006/relationships/presProps" Target="presProps.xml"/><Relationship Id="rId42" Type="http://schemas.openxmlformats.org/officeDocument/2006/relationships/viewProps" Target="viewProps.xml"/><Relationship Id="rId43" Type="http://schemas.openxmlformats.org/officeDocument/2006/relationships/theme" Target="theme/theme1.xml"/><Relationship Id="rId4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[CRI-01] Crianças (0 a 14 anos)
Fontes: relatorio_parcial_raic/Relatorio_Parcial_RAIC_2026_Pedro_corrigido.pdf, Quadro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[CRI-02] Análise exploratória
Fontes: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[CRI-03] O que o indicador mede e por que importa
Fontes: src/ivs_censo/indicadores.py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[CRI-04] Como é calculado
O que é. A receita do indicador: quais variáveis do Censo vão em cima (numerador) e em baixo (denominador) da divisão, e de que arquivo do IBGE cada uma sai.
Para que serve. Permite refazer a conta e conferir qualquer número. As variáveis "V0…" são os códigos do dicionário oficial dos agregados por setor do Censo 2022.
Como ler. Uma soma no numerador junta categorias (por exemplo, todas as formas inadequadas). O cálculo é por setor censitário, a menor área com dado do Censo.
Fontes: src/ivs_censo/indicadores.py; src/ivs_censo/fontes.py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[CRI-05] As adequações ao Censo 2022
Fontes: relatorio_parcial_raic/Relatorio_Parcial_RAIC_2026_Pedro_corrigido.pdf, seção IV</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[CRI-06] 99,8% dos setores têm o dado
O que é. Quantos setores têm o indicador calculado e quantos ficaram sem ele, com o perfil de cada grupo.
Para que serve. O IBGE esconde (sigilo) números muito pequenos para ninguém ser identificado. Se o dado falta mais num tipo de setor, as médias ficam enviesadas — por isso o perfil dos dois grupos.
Como ler. Compare a renda mediana, a % de favela e a % de Sudeste entre "com o dado" e "sem o dado". Se forem parecidas, a falta é próxima do acaso.
O que mostra. 103.850 dos 104.108 setores (99,8%) têm o dado. Nos 258 sem o dado, a renda mediana do responsável é R$ 4.757,22, contra R$ 2.570,48 nos que têm: o ausente não é aleatório.
Fontes: banco_de_dados/entrega_orientadora/Base_ELSI_70Municipios_Censo2022.db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[CRI-07] Onde falta o dado
O que é. A proporção de setores sem o indicador em cada região.
Para que serve. Mostra se a falta de dado se concentra numa parte do país, o que pesaria nas comparações regionais.
Como ler. Cada barra é uma região; quanto mais longa, mais setores sem o dado.
O que mostra. A maior proporção sem dado é no Sul (0,3%); a menor, no Norte (0,03%).
Fontes: banco_de_dados/entrega_orientadora/Base_ELSI_70Municipios_Censo2022.db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[CRI-08] Estatísticas descritivas
O que é. O resumo numérico do indicador nos setores urbanos dos 70 municípios.
Para que serve. A média é puxada por valores extremos; a mediana é o valor do setor do meio. O percentil 25 (ou 75) é o valor abaixo do qual estão 25% (ou 75%) dos setores. A assimetria mede o quanto a distribuição tem cauda longa para um lado.
Como ler. Assimetria perto de zero: distribuição equilibrada. Acima de 1: cauda longa à direita, poucos setores com valores muito altos. Muitos zeros e assimetria alta pedem cuidado ao padronizar.
O que mostra. A média (0,173) e a mediana (0,172) estão próximas: assimetria de 0,11.
Fontes: banco_de_dados/entrega_orientadora/Base_ELSI_70Municipios_Censo2022.db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[CRI-09] O histograma
O que é. Os setores agrupados em faixas de valor do indicador; a altura de cada barra é quantos setores caem naquela faixa.
Para que serve. Mostra a forma da distribuição: onde está a maioria dos setores e se há cauda longa.
Como ler. Barra alta à esquerda e cauda à direita: muitos setores com valor baixo e poucos com valor alto. A linha vermelha é a média; a tracejada, a mediana — quanto mais afastadas, mais assimétrica.
O que mostra. A média (0,173) e a mediana (0,172) estão próximas: assimetria de 0,11.
Fontes: banco_de_dados/entrega_orientadora/Base_ELSI_70Municipios_Censo2022.db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[CRI-10] O boxplot
O que é. Um resumo da distribuição numa figura: caixa, mediana, bigodes e pontos extremos.
Para que serve. Mostra de uma vez onde está a metade central dos setores e quantos fogem do padrão.
Como ler. A caixa vai do percentil 25 ao 75; a linha vermelha é a mediana; os bigodes vão até 1,5 vez a altura da caixa; cada ponto além deles é um setor extremo.
O que mostra. 817 setores ficam além do bigode direito.
Fontes: banco_de_dados/entrega_orientadora/Base_ELSI_70Municipios_Censo2022.db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[CRI-11] A distribuição acumulada
O que é. Para cada valor no eixo horizontal, a curva dá a proporção de setores com valor igual ou menor.
Para que serve. Lê qualquer percentil direto no gráfico, sem depender das faixas do histograma.
Como ler. Escolha uma altura (as linhas pontilhadas marcam 25%, 50% e 75%) e desça até o eixo: é o valor daquele percentil. Uma subida vertical no começo indica muitos setores com o mesmo valor (por exemplo, zero).
O que mostra. Metade dos setores tem até 0,172; três quartos, até 0,210.
Fontes: banco_de_dados/entrega_orientadora/Base_ELSI_70Municipios_Censo2022.db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[CRI-12] A régua dos percentis
O que é. O valor do indicador em seis pontos da distribuição: do setor no percentil 10 ao do percentil 99.
Para que serve. Mostra quanto o indicador cresce do setor típico para os mais altos — onde está a desigualdade.
Como ler. Barras que sobem devagar e explodem no fim (p90, p99): o problema se concentra em poucos setores. A linha vermelha é a média.
O que mostra. Do percentil 50 (0,172) ao 99 (0,316).
Fontes: banco_de_dados/entrega_orientadora/Base_ELSI_70Municipios_Censo2022.db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[CRI-13] Por região: a tabela
O que é. As estatísticas do indicador separadas pelas cinco grandes regiões.
Para que serve. Mostra se o indicador tem padrão regional, o que pesa na escolha da régua (dentro de cada município ou no conjunto).
Como ler. Compare média e mediana entre as linhas; "% zeros" é a parte dos setores sem nenhum domicílio ou pessoa na condição.
O que mostra. A maior média é a do Norte (0,210); a menor, a do Sul (0,159). O Norte tem só 6 municípios: os contrastes descrevem os municípios estudados, não a região inteira.
Fontes: banco_de_dados/entrega_orientadora/Base_ELSI_70Municipios_Censo2022.db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[CRI-14] Por região: o boxplot
O que é. Um boxplot por região, lado a lado.
Para que serve. Compara não só a média, mas a dispersão de cada região.
Como ler. A caixa vai do percentil 25 ao 75 (metade central dos setores); a linha vermelha é a mediana; o losango, a média; os bigodes vão até 1,5 vez a altura da caixa. Os extremos além dos bigodes não são desenhados, para a escala não ficar presa a poucos setores.
O que mostra. A maior média é a do Norte (0,210); a menor, a do Sul (0,159). O Norte tem só 6 municípios: os contrastes descrevem os municípios estudados, não a região inteira.
Fontes: banco_de_dados/entrega_orientadora/Base_ELSI_70Municipios_Censo2022.db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[CRI-15] Por porte do município: a tabela
O que é. As estatísticas do indicador por tamanho do município (moradores somados nos setores da base).
Para que serve. Testa se o indicador acompanha o tamanho da cidade — se sim, parte dele mede porte urbano, não vulnerabilidade.
Como ler. Três grupos: até 100 mil, de 100 a 500 mil e mais de 500 mil moradores.
O que mostra. A maior média é a dos municípios de até 100 mil (0,199); a menor, a dos de mais de 500 mil (0,171).
Fontes: banco_de_dados/entrega_orientadora/Base_ELSI_70Municipios_Censo2022.db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[CRI-16] Por porte do município: o boxplot
O que é. Um boxplot por porte de município.
Para que serve. Mostra se cidades maiores ou menores concentram o problema.
Como ler. A caixa vai do percentil 25 ao 75 (metade central dos setores); a linha vermelha é a mediana; o losango, a média; os bigodes vão até 1,5 vez a altura da caixa. Os extremos além dos bigodes não são desenhados, para a escala não ficar presa a poucos setores.
O que mostra. A maior média é a dos municípios de até 100 mil (0,199); a menor, a dos de mais de 500 mil (0,171).
Fontes: banco_de_dados/entrega_orientadora/Base_ELSI_70Municipios_Censo2022.db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[CRI-17] Os 70 municípios: maiores e menores médias
O que é. Os 10 municípios com a maior média do indicador e os 10 com a menor.
Para que serve. Identifica onde o indicador é mais e menos presente. A tabela completa está no apêndice.
Como ler. Atenção à coluna "Setores": município com poucos setores tem média instável, que muda muito com um setor a mais ou a menos.
O que mostra. Maior média: Portel (0,307, 26 setores); menor: São Paulo das Missões (0,121).
Fontes: banco_de_dados/entrega_orientadora/Base_ELSI_70Municipios_Censo2022.db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[CRI-18] Os 70 municípios, ordenados pela mediana
O que é. Cada coluna é um município: o ponto é a mediana dos setores dele e o traço vai do percentil 25 ao 75.
Para que serve. Mostra ao mesmo tempo o nível de cada cidade (o ponto) e a desigualdade dentro dela (o tamanho do traço).
Como ler. Da esquerda para a direita, das cidades com mediana mais baixa às mais altas. Traço longo: setores muito diferentes entre si na mesma cidade.
O que mostra. A mediana vai de 0,133 a 0,286.
Fontes: banco_de_dados/entrega_orientadora/Base_ELSI_70Municipios_Censo2022.db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[CRI-19] A desigualdade dentro das cidades: a tabela
O que é. Duas medidas de quanto os setores de uma mesma cidade diferem entre si: o intervalo interquartil (percentil 75 menos 25) e o Gini.
Para que serve. O IVS é intraurbano: quer achar as diferenças dentro da cidade. Indicador que varia pouco dentro das cidades contribui pouco para isso.
Como ler. O Gini vai de 0 (todos os setores iguais) a 1 (tudo concentrado num setor). Mostra os 8 municípios mais desiguais e os 4 menos.
O que mostra. Entre os 56 municípios com pelo menos 30 setores, o Gini vai de 0,077 (Ibatiba) a 0,253 (Porto Alegre).
Fontes: banco_de_dados/entrega_orientadora/Base_ELSI_70Municipios_Censo2022.db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[CRI-20] A desigualdade dentro das cidades: o gráfico
O que é. Cada ponto é um município: na horizontal, o nível do indicador; na vertical, a desigualdade entre os setores dele.
Para que serve. Separa cidades com o problema espalhado (nível alto, Gini baixo) de cidades com o problema concentrado em poucos setores (Gini alto).
Como ler. Pontos maiores são cidades com mais setores. Os nomes marcados são os extremos de desigualdade.
O que mostra. Entre os 56 municípios com pelo menos 30 setores, o Gini vai de 0,077 (Ibatiba) a 0,253 (Porto Alegre).
Fontes: banco_de_dados/entrega_orientadora/Base_ELSI_70Municipios_Censo2022.db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[CRI-21] Favela e fora da favela: a tabela
O que é. As estatísticas do indicador nos setores de favela e comunidade urbana (classificação do IBGE) e nos demais.
Para que serve. Favela é um território sabidamente vulnerável: um indicador de vulnerabilidade deveria ser mais alto nela. É uma checagem de bom senso, não uma validação.
Como ler. Compare as médias; a razão diz quantas vezes o valor na favela é o de fora.
O que mostra. Média de 0,222 nos setores de favela e de 0,161 fora delas (razão de 1,4).
Fontes: banco_de_dados/entrega_orientadora/Base_ELSI_70Municipios_Censo2022.db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[CRI-22] Favela e fora da favela: o boxplot
O que é. Um boxplot para os setores de favela e outro para os demais.
Para que serve. Mostra se a diferença está em todos os setores ou só em alguns.
Como ler. A caixa vai do percentil 25 ao 75 (metade central dos setores); a linha vermelha é a mediana; o losango, a média; os bigodes vão até 1,5 vez a altura da caixa. Os extremos além dos bigodes não são desenhados, para a escala não ficar presa a poucos setores.
O que mostra. Média de 0,222 nos setores de favela e de 0,161 fora delas (razão de 1,4).
Fontes: banco_de_dados/entrega_orientadora/Base_ELSI_70Municipios_Censo2022.db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[CRI-23] O indicador ao longo da renda
O que é. Os setores de cada município ordenados pela renda e divididos em 10 grupos iguais (decis); o gráfico dá a média e a mediana do indicador em cada grupo.
Para que serve. Mostra o gradiente social: se o indicador piora à medida que a renda cai. Como os decis são feitos dentro de cada município, a comparação é sempre entre setores da mesma cidade.
Como ler. Linha descendente da esquerda para a direita: o indicador é maior nos setores mais pobres. Linha plana: não depende da renda.
O que mostra. No decil 1 a média é 0,239; no decil 10, 0,143.
Fontes: banco_de_dados/entrega_orientadora/Base_ELSI_70Municipios_Censo2022.db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[CRI-24] Os 70 municípios e o Brasil urbano: a tabela
O que é. O indicador nos setores urbanos de todo o Brasil e nos dos 70 municípios do ELSI-Brasil.
Para que serve. Diz se o recorte do estudo é parecido com o país urbano, ou se há viés de seleção dos municípios.
Como ler. Médias próximas: o recorte representa bem o Brasil urbano neste indicador.
O que mostra. No Brasil urbano a média é 0,187; nos 70 municípios, 0,173.
Fontes: banco_de_dados/nacional/Base_Brasil_Censo2022.db; banco_de_dados/entrega_orientadora/Base_ELSI_70Municipios_Censo2022.db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[CRI-25] Os 70 municípios e o Brasil urbano: o gráfico
O que é. As duas distribuições acumuladas sobrepostas.
Para que serve. Compara a distribuição inteira, não só a média.
Como ler. Curva mais à direita: valores mais altos. Curvas coladas: as duas populações de setores são parecidas.
O que mostra. No Brasil urbano a média é 0,187; nos 70 municípios, 0,173.
Fontes: banco_de_dados/nacional/Base_Brasil_Censo2022.db; banco_de_dados/entrega_orientadora/Base_ELSI_70Municipios_Censo2022.db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[CRI-26] Os valores extremos
O que é. Os 10 setores com o maior valor do indicador.
Para que serve. Ajuda a separar extremo verdadeiro (um setor realmente muito carente, ou muito rico) de erro de dado. A coluna "Moradores" mostra setores pequenos, onde um domicílio muda muito a proporção.
Como ler. Proporção 1 quer dizer todos os domicílios (ou pessoas) do setor na condição.
O que mostra. O percentil 99 é 0,316; 1.039 setores ficam acima dele.
Fontes: banco_de_dados/entrega_orientadora/Base_ELSI_70Municipios_Censo2022.db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[CRI-27] Na análise fatorial
Fontes: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[CRI-28] Correlação com os outros 11: a tabela
O que é. A correlação do indicador com cada um dos outros 11, nos setores que têm os 12.
Para que serve. A análise fatorial agrupa os indicadores que andam juntos. Correlações altas dizem com quem este indicador vai formar uma dimensão.
Como ler. A correlação de Spearman vai de −1 a 1: perto de 1, os setores com valor alto num indicador também têm valor alto no outro; perto de 0, não há relação; negativa, um sobe quando o outro desce. "No conjunto" compara todos os setores; "dentro dos municípios", cada setor só com os da própria cidade.
O que mostra. A correlação mais forte é com Idosos (60 anos ou mais): -0,79 no conjunto e -0,77 dentro dos municípios.
Fontes: banco_de_dados/eda/fatorial_multiversao/camada1_12_global_correlacao.csv; banco_de_dados/eda/fatorial_multiversao/camada1_12_municipal_correlacao.csv</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[CRI-29] Correlação com os outros 11: o gráfico
O que é. As mesmas correlações em barras: verde, no conjunto; vermelho, dentro dos municípios.
Para que serve. Quando a barra vermelha encolhe, parte da relação vinha de diferenças entre cidades, não de diferenças dentro delas.
Como ler. Barra para a direita: relação positiva; para a esquerda, negativa. Ordenado da mais forte para a mais fraca.
O que mostra. A correlação mais forte é com Idosos (60 anos ou mais): -0,79 no conjunto e -0,77 dentro dos municípios.
Fontes: banco_de_dados/eda/fatorial_multiversao/camada1_12_global_correlacao.csv; banco_de_dados/eda/fatorial_multiversao/camada1_12_municipal_correlacao.csv</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[CRI-30] Na análise fatorial das 12: a tabela
O que é. O resultado da análise fatorial dos 12 indicadores juntos (eixo principal, 2 fatores), nas duas réguas.
Para que serve. A carga diz quanto o indicador "pertence" a cada fator (F1, F2). A comunalidade é a parte da variação dele explicada pelos fatores; o MSA, o quanto ele combina com os outros para uma fatorial.
Como ler. Carga perto de 1 (ou −1): pertence ao fator; perto de 0, não. Comunalidade abaixo de 0,30 e MSA abaixo de 0,50 são os limites pré-registrados. Varimax mantém os fatores independentes; promax deixa que se correlacionem.
O que mostra. Comunalidade de 0,791 no conjunto e 0,705 dentro dos municípios (critério: 0,30); MSA de 0,783 (critério: 0,50).
Fontes: banco_de_dados/eda/fatorial_multiversao/camada1_12_global_cargas.csv; banco_de_dados/eda/fatorial_multiversao/camada1_12_municipal_cargas.csv</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[CRI-31] Na análise fatorial das 12: as cargas
O que é. As cargas do indicador nos dois fatores, em cada forma de rotação, nas duas réguas.
Para que serve. Mostra se o indicador fica sempre no mesmo fator, seja qual for a rotação — sinal de que a posição dele na estrutura é estável.
Como ler. Barra alta em F1 e baixa em F2: o indicador pertence a F1. Barras parecidas nas quatro rotações: a conclusão não depende do método.
O que mostra. Comunalidade de 0,791 no conjunto e 0,705 dentro dos municípios (critério: 0,30); MSA de 0,783 (critério: 0,50).
Fontes: banco_de_dados/eda/fatorial_multiversao/camada1_12_global_cargas.csv; banco_de_dados/eda/fatorial_multiversao/camada1_12_municipal_cargas.csv</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[CRI-32] O que acontece quando ele entra ou sai
O que é. Foram rodadas todas as 4.017 combinações de 3 ou mais dos 12 indicadores. Aqui se comparam os pares de combinações que só diferem por este indicador.
Para que serve. Isola o efeito de incluir este indicador: se melhora ou piora a adequação (KMO), quantos setores custa (por sigilo) e se faz a combinação deixar de passar nos critérios.
Como ler. KMO vai de 0 a 1 e mede se os indicadores compartilham variação suficiente para uma fatorial; acima de 0,70 é adequado. "Elegível" = passa nos quatro critérios pré-registrados.
O que mostra. Na régua municipal, em 0,05% dos pares a combinação era elegível sem ele e deixa de ser com ele; ao entrar, custa na mediana 158 setores e muda o KMO em 0,056.
Fontes: banco_de_dados/eda/fatorial_multiversao/camada1_efeito_variavel.csv</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[CRI-33] A comunalidade dele nas 4.017 combinações
O que é. A comunalidade do indicador em cada uma das combinações em que ele entra, nas duas réguas.
Para que serve. Mostra se o indicador compartilha variação com os outros de forma consistente, ou só em algumas combinações.
Como ler. Histograma à direita da linha tracejada: o indicador costuma passar no critério. À esquerda: costuma ficar de fora da estrutura comum.
O que mostra. Dentro dos municípios, fica abaixo do critério em 1,7% das combinações em que entra.
Fontes: banco_de_dados/eda/fatorial_multiversao/camada1_subconjuntos.csv</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[CRI-34] O peso no índice
O que é. O peso do indicador no índice em cada especificação finalista (a proposta e as alternativas de maior impacto), e o menor e o maior peso quando se tira um município por vez.
Para que serve. Mostra quanto o indicador conta no IVS e se esse peso depende de uma cidade específica.
Como ler. Peso é a fração do índice que vem deste indicador (os pesos de todos somam 100%). "Fora": não entra naquela especificação.
O que mostra. Fora do índice. Correlação de Spearman com o IVS proposto: 0,62. Média por faixa, de baixo a muito elevado: 0,140 · 0,180 · 0,219 · 0,238.
Fontes: banco_de_dados/eda/fatorial_multiversao/camada3_finalistas.csv; banco_de_dados/eda/fatorial_multiversao/camada3_estabilidade.csv</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[CRI-35] Ao longo das faixas do IVS proposto
O que é. A média do indicador nos setores de cada faixa de vulnerabilidade do IVS proposto.
Para que serve. Responde à pergunta do ELSI: os idosos (ou as crianças) moram mais nos setores mais ou menos vulneráveis?
Como ler. Barras que sobem para a direita: mais presentes nos setores mais vulneráveis.
O que mostra. Fora do índice. Correlação de Spearman com o IVS proposto: 0,62. Média por faixa, de baixo a muito elevado: 0,140 · 0,180 · 0,219 · 0,238.
Fontes: banco_de_dados/eda/fatorial_multiversao/ivs_proposto_por_setor.csv</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[CRI-36] Síntese
Fontes: seções anteriores deste deck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[CRI-37] Apêndice: os 70 municípios (1 de 2)
Fontes: banco_de_dados/entrega_orientadora/Base_ELSI_70Municipios_Censo2022.db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[CRI-38] Apêndice: os 70 municípios (2 de 2)
Fontes: banco_de_dados/entrega_orientadora/Base_ELSI_70Municipios_Censo2022.db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1234440"/>
            <a:ext cx="10634472" cy="310896"/>
          </a:xfrm>
          <a:prstGeom prst="rect">
            <a:avLst/>
          </a:prstGeom>
          <a:noFill/>
          <a:ln/>
        </p:spPr>
        <p:txBody>
          <a:bodyPr wrap="square" lIns="0" tIns="0" rIns="0" bIns="0" rtlCol="0" anchor="ctr"/>
          <a:lstStyle/>
          <a:p>
            <a:pPr indent="0" marL="0">
              <a:buNone/>
            </a:pPr>
            <a:r>
              <a:rPr lang="en-US" sz="1150" spc="200" kern="0" dirty="0">
                <a:solidFill>
                  <a:srgbClr val="56534C"/>
                </a:solidFill>
                <a:latin typeface="Cambria" pitchFamily="34" charset="0"/>
                <a:ea typeface="Cambria" pitchFamily="34" charset="-122"/>
                <a:cs typeface="Cambria" pitchFamily="34" charset="-120"/>
              </a:rPr>
              <a:t>INDICADOR CRI · DEMOGRAFIA</a:t>
            </a:r>
            <a:endParaRPr lang="en-US" sz="1150" dirty="0"/>
          </a:p>
        </p:txBody>
      </p:sp>
      <p:sp>
        <p:nvSpPr>
          <p:cNvPr id="3" name="Shape 1"/>
          <p:cNvSpPr/>
          <p:nvPr/>
        </p:nvSpPr>
        <p:spPr>
          <a:xfrm>
            <a:off x="777240" y="1627632"/>
            <a:ext cx="10634472" cy="0"/>
          </a:xfrm>
          <a:prstGeom prst="line">
            <a:avLst/>
          </a:prstGeom>
          <a:noFill/>
          <a:ln w="12700">
            <a:solidFill>
              <a:srgbClr val="1A1A18"/>
            </a:solidFill>
            <a:prstDash val="solid"/>
          </a:ln>
        </p:spPr>
      </p:sp>
      <p:sp>
        <p:nvSpPr>
          <p:cNvPr id="4" name="Text 2"/>
          <p:cNvSpPr/>
          <p:nvPr/>
        </p:nvSpPr>
        <p:spPr>
          <a:xfrm>
            <a:off x="777240" y="1783080"/>
            <a:ext cx="10634472" cy="914400"/>
          </a:xfrm>
          <a:prstGeom prst="rect">
            <a:avLst/>
          </a:prstGeom>
          <a:noFill/>
          <a:ln/>
        </p:spPr>
        <p:txBody>
          <a:bodyPr wrap="square" lIns="0" tIns="0" rIns="0" bIns="0" rtlCol="0" anchor="ctr"/>
          <a:lstStyle/>
          <a:p>
            <a:pPr indent="0" marL="0">
              <a:buNone/>
            </a:pPr>
            <a:r>
              <a:rPr lang="en-US" sz="4000" b="1" dirty="0">
                <a:solidFill>
                  <a:srgbClr val="1A1A18"/>
                </a:solidFill>
                <a:latin typeface="Cambria" pitchFamily="34" charset="0"/>
                <a:ea typeface="Cambria" pitchFamily="34" charset="-122"/>
                <a:cs typeface="Cambria" pitchFamily="34" charset="-120"/>
              </a:rPr>
              <a:t>Crianças (0 a 14 anos)</a:t>
            </a:r>
            <a:endParaRPr lang="en-US" sz="4000" dirty="0"/>
          </a:p>
        </p:txBody>
      </p:sp>
      <p:sp>
        <p:nvSpPr>
          <p:cNvPr id="5" name="Text 3"/>
          <p:cNvSpPr/>
          <p:nvPr/>
        </p:nvSpPr>
        <p:spPr>
          <a:xfrm>
            <a:off x="777240" y="2788920"/>
            <a:ext cx="8595360" cy="1005840"/>
          </a:xfrm>
          <a:prstGeom prst="rect">
            <a:avLst/>
          </a:prstGeom>
          <a:noFill/>
          <a:ln/>
        </p:spPr>
        <p:txBody>
          <a:bodyPr wrap="square" lIns="0" tIns="0" rIns="0" bIns="0" rtlCol="0" anchor="ctr"/>
          <a:lstStyle/>
          <a:p>
            <a:pPr indent="0" marL="0">
              <a:lnSpc>
                <a:spcPts val="2000"/>
              </a:lnSpc>
              <a:buNone/>
            </a:pPr>
            <a:r>
              <a:rPr lang="en-US" sz="1400" dirty="0">
                <a:solidFill>
                  <a:srgbClr val="56534C"/>
                </a:solidFill>
                <a:latin typeface="Cambria" pitchFamily="34" charset="0"/>
                <a:ea typeface="Cambria" pitchFamily="34" charset="-122"/>
                <a:cs typeface="Cambria" pitchFamily="34" charset="-120"/>
              </a:rPr>
              <a:t>Proporção de pessoas com menos de 15 anos na população residente. Indicador complementar (Quadro 2), fora do IVS de 2012. Parte A: análise exploratória. Parte B: o indicador na análise fatorial.</a:t>
            </a:r>
            <a:endParaRPr lang="en-US" sz="1400" dirty="0"/>
          </a:p>
        </p:txBody>
      </p:sp>
      <p:sp>
        <p:nvSpPr>
          <p:cNvPr id="6" name="Shape 4"/>
          <p:cNvSpPr/>
          <p:nvPr/>
        </p:nvSpPr>
        <p:spPr>
          <a:xfrm>
            <a:off x="777240" y="5623560"/>
            <a:ext cx="10634472" cy="0"/>
          </a:xfrm>
          <a:prstGeom prst="line">
            <a:avLst/>
          </a:prstGeom>
          <a:noFill/>
          <a:ln w="9525">
            <a:solidFill>
              <a:srgbClr val="C8C6C0"/>
            </a:solidFill>
            <a:prstDash val="solid"/>
          </a:ln>
        </p:spPr>
      </p:sp>
      <p:sp>
        <p:nvSpPr>
          <p:cNvPr id="7" name="Text 5"/>
          <p:cNvSpPr/>
          <p:nvPr/>
        </p:nvSpPr>
        <p:spPr>
          <a:xfrm>
            <a:off x="777240" y="5760720"/>
            <a:ext cx="10634472" cy="457200"/>
          </a:xfrm>
          <a:prstGeom prst="rect">
            <a:avLst/>
          </a:prstGeom>
          <a:noFill/>
          <a:ln/>
        </p:spPr>
        <p:txBody>
          <a:bodyPr wrap="square" lIns="0" tIns="0" rIns="0" bIns="0" rtlCol="0" anchor="ctr"/>
          <a:lstStyle/>
          <a:p>
            <a:pPr indent="0" marL="0">
              <a:buNone/>
            </a:pPr>
            <a:r>
              <a:rPr lang="en-US" sz="1100" dirty="0">
                <a:solidFill>
                  <a:srgbClr val="56534C"/>
                </a:solidFill>
                <a:latin typeface="Cambria" pitchFamily="34" charset="0"/>
                <a:ea typeface="Cambria" pitchFamily="34" charset="-122"/>
                <a:cs typeface="Cambria" pitchFamily="34" charset="-120"/>
              </a:rPr>
              <a:t>Fatorial multiversão e IVS · Censo Demográfico 2022 · 70 municípios do ELSI-Brasil · Pedro Dias Soares · out/2026</a:t>
            </a:r>
            <a:endParaRPr lang="en-US" sz="1100" dirty="0"/>
          </a:p>
        </p:txBody>
      </p:sp>
      <p:sp>
        <p:nvSpPr>
          <p:cNvPr id="8" name="Text 6"/>
          <p:cNvSpPr/>
          <p:nvPr/>
        </p:nvSpPr>
        <p:spPr>
          <a:xfrm>
            <a:off x="9948672" y="146304"/>
            <a:ext cx="1463040" cy="274320"/>
          </a:xfrm>
          <a:prstGeom prst="rect">
            <a:avLst/>
          </a:prstGeom>
          <a:noFill/>
          <a:ln/>
        </p:spPr>
        <p:txBody>
          <a:bodyPr wrap="square" lIns="0" tIns="0" rIns="0" bIns="0" rtlCol="0" anchor="ctr"/>
          <a:lstStyle/>
          <a:p>
            <a:pPr algn="r" indent="0" marL="0">
              <a:buNone/>
            </a:pPr>
            <a:r>
              <a:rPr lang="en-US" sz="1100" b="1" dirty="0">
                <a:solidFill>
                  <a:srgbClr val="8C2F27"/>
                </a:solidFill>
                <a:latin typeface="Cambria" pitchFamily="34" charset="0"/>
                <a:ea typeface="Cambria" pitchFamily="34" charset="-122"/>
                <a:cs typeface="Cambria" pitchFamily="34" charset="-120"/>
              </a:rPr>
              <a:t>CRI-01</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2</a:t>
            </a:r>
            <a:endParaRPr lang="en-US" sz="1000" dirty="0"/>
          </a:p>
        </p:txBody>
      </p:sp>
      <p:sp>
        <p:nvSpPr>
          <p:cNvPr id="3" name="Text 1"/>
          <p:cNvSpPr/>
          <p:nvPr/>
        </p:nvSpPr>
        <p:spPr>
          <a:xfrm>
            <a:off x="777240" y="2331720"/>
            <a:ext cx="1097280" cy="822960"/>
          </a:xfrm>
          <a:prstGeom prst="rect">
            <a:avLst/>
          </a:prstGeom>
          <a:noFill/>
          <a:ln/>
        </p:spPr>
        <p:txBody>
          <a:bodyPr wrap="square" lIns="0" tIns="0" rIns="0" bIns="0" rtlCol="0" anchor="ctr"/>
          <a:lstStyle/>
          <a:p>
            <a:pPr indent="0" marL="0">
              <a:buNone/>
            </a:pPr>
            <a:r>
              <a:rPr lang="en-US" sz="5400" b="1" dirty="0">
                <a:solidFill>
                  <a:srgbClr val="8C2F27"/>
                </a:solidFill>
                <a:latin typeface="Cambria" pitchFamily="34" charset="0"/>
                <a:ea typeface="Cambria" pitchFamily="34" charset="-122"/>
                <a:cs typeface="Cambria" pitchFamily="34" charset="-120"/>
              </a:rPr>
              <a:t>1</a:t>
            </a:r>
            <a:endParaRPr lang="en-US" sz="5400" dirty="0"/>
          </a:p>
        </p:txBody>
      </p:sp>
      <p:sp>
        <p:nvSpPr>
          <p:cNvPr id="4" name="Text 2"/>
          <p:cNvSpPr/>
          <p:nvPr/>
        </p:nvSpPr>
        <p:spPr>
          <a:xfrm>
            <a:off x="1920240" y="2331720"/>
            <a:ext cx="9491472" cy="822960"/>
          </a:xfrm>
          <a:prstGeom prst="rect">
            <a:avLst/>
          </a:prstGeom>
          <a:noFill/>
          <a:ln/>
        </p:spPr>
        <p:txBody>
          <a:bodyPr wrap="square" lIns="0" tIns="0" rIns="0" bIns="0" rtlCol="0" anchor="ctr"/>
          <a:lstStyle/>
          <a:p>
            <a:pPr indent="0" marL="0">
              <a:buNone/>
            </a:pPr>
            <a:r>
              <a:rPr lang="en-US" sz="3200" b="1" dirty="0">
                <a:solidFill>
                  <a:srgbClr val="1A1A18"/>
                </a:solidFill>
                <a:latin typeface="Cambria" pitchFamily="34" charset="0"/>
                <a:ea typeface="Cambria" pitchFamily="34" charset="-122"/>
                <a:cs typeface="Cambria" pitchFamily="34" charset="-120"/>
              </a:rPr>
              <a:t>Análise exploratória</a:t>
            </a:r>
            <a:endParaRPr lang="en-US" sz="3200" dirty="0"/>
          </a:p>
        </p:txBody>
      </p:sp>
      <p:sp>
        <p:nvSpPr>
          <p:cNvPr id="5" name="Shape 3"/>
          <p:cNvSpPr/>
          <p:nvPr/>
        </p:nvSpPr>
        <p:spPr>
          <a:xfrm>
            <a:off x="777240" y="3273552"/>
            <a:ext cx="10634472" cy="0"/>
          </a:xfrm>
          <a:prstGeom prst="line">
            <a:avLst/>
          </a:prstGeom>
          <a:noFill/>
          <a:ln w="12700">
            <a:solidFill>
              <a:srgbClr val="1A1A18"/>
            </a:solidFill>
            <a:prstDash val="solid"/>
          </a:ln>
        </p:spPr>
      </p:sp>
      <p:sp>
        <p:nvSpPr>
          <p:cNvPr id="6" name="Text 4"/>
          <p:cNvSpPr/>
          <p:nvPr/>
        </p:nvSpPr>
        <p:spPr>
          <a:xfrm>
            <a:off x="1920240" y="3401568"/>
            <a:ext cx="9034272" cy="731520"/>
          </a:xfrm>
          <a:prstGeom prst="rect">
            <a:avLst/>
          </a:prstGeom>
          <a:noFill/>
          <a:ln/>
        </p:spPr>
        <p:txBody>
          <a:bodyPr wrap="square" lIns="0" tIns="0" rIns="0" bIns="0" rtlCol="0" anchor="ctr"/>
          <a:lstStyle/>
          <a:p>
            <a:pPr indent="0" marL="0">
              <a:buNone/>
            </a:pPr>
            <a:r>
              <a:rPr lang="en-US" sz="1400" i="1" dirty="0">
                <a:solidFill>
                  <a:srgbClr val="56534C"/>
                </a:solidFill>
                <a:latin typeface="Cambria" pitchFamily="34" charset="0"/>
                <a:ea typeface="Cambria" pitchFamily="34" charset="-122"/>
                <a:cs typeface="Cambria" pitchFamily="34" charset="-120"/>
              </a:rPr>
              <a:t>O que o indicador mede, como se distribui nos setores, onde é mais alto e como se relaciona com renda, favela e o Brasil — antes de qualquer análise fatorial.</a:t>
            </a:r>
            <a:endParaRPr lang="en-US" sz="1400" dirty="0"/>
          </a:p>
        </p:txBody>
      </p:sp>
      <p:sp>
        <p:nvSpPr>
          <p:cNvPr id="7" name="Text 5"/>
          <p:cNvSpPr/>
          <p:nvPr/>
        </p:nvSpPr>
        <p:spPr>
          <a:xfrm>
            <a:off x="9948672" y="146304"/>
            <a:ext cx="1463040" cy="274320"/>
          </a:xfrm>
          <a:prstGeom prst="rect">
            <a:avLst/>
          </a:prstGeom>
          <a:noFill/>
          <a:ln/>
        </p:spPr>
        <p:txBody>
          <a:bodyPr wrap="square" lIns="0" tIns="0" rIns="0" bIns="0" rtlCol="0" anchor="ctr"/>
          <a:lstStyle/>
          <a:p>
            <a:pPr algn="r" indent="0" marL="0">
              <a:buNone/>
            </a:pPr>
            <a:r>
              <a:rPr lang="en-US" sz="1100" b="1" dirty="0">
                <a:solidFill>
                  <a:srgbClr val="8C2F27"/>
                </a:solidFill>
                <a:latin typeface="Cambria" pitchFamily="34" charset="0"/>
                <a:ea typeface="Cambria" pitchFamily="34" charset="-122"/>
                <a:cs typeface="Cambria" pitchFamily="34" charset="-120"/>
              </a:rPr>
              <a:t>CRI-02</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3</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600" b="1" dirty="0">
                <a:solidFill>
                  <a:srgbClr val="1A1A18"/>
                </a:solidFill>
                <a:latin typeface="Cambria" pitchFamily="34" charset="0"/>
                <a:ea typeface="Cambria" pitchFamily="34" charset="-122"/>
                <a:cs typeface="Cambria" pitchFamily="34" charset="-120"/>
              </a:rPr>
              <a:t>O que o indicador mede e por que importa</a:t>
            </a:r>
            <a:endParaRPr lang="en-US" sz="2600" dirty="0"/>
          </a:p>
        </p:txBody>
      </p:sp>
      <p:sp>
        <p:nvSpPr>
          <p:cNvPr id="4" name="Shape 2"/>
          <p:cNvSpPr/>
          <p:nvPr/>
        </p:nvSpPr>
        <p:spPr>
          <a:xfrm>
            <a:off x="777240" y="1024128"/>
            <a:ext cx="10634472" cy="0"/>
          </a:xfrm>
          <a:prstGeom prst="line">
            <a:avLst/>
          </a:prstGeom>
          <a:noFill/>
          <a:ln w="12700">
            <a:solidFill>
              <a:srgbClr val="1A1A18"/>
            </a:solidFill>
            <a:prstDash val="solid"/>
          </a:ln>
        </p:spPr>
      </p:sp>
      <p:sp>
        <p:nvSpPr>
          <p:cNvPr id="5" name="Text 3"/>
          <p:cNvSpPr/>
          <p:nvPr/>
        </p:nvSpPr>
        <p:spPr>
          <a:xfrm>
            <a:off x="777240" y="1316736"/>
            <a:ext cx="9720072" cy="259461"/>
          </a:xfrm>
          <a:prstGeom prst="rect">
            <a:avLst/>
          </a:prstGeom>
          <a:noFill/>
          <a:ln/>
        </p:spPr>
        <p:txBody>
          <a:bodyPr wrap="square" lIns="0" tIns="0" rIns="0" bIns="0" rtlCol="0" anchor="t"/>
          <a:lstStyle/>
          <a:p>
            <a:pPr indent="0" marL="0">
              <a:lnSpc>
                <a:spcPts val="1755"/>
              </a:lnSpc>
              <a:buNone/>
            </a:pPr>
            <a:r>
              <a:rPr lang="en-US" sz="1350" b="1" dirty="0">
                <a:solidFill>
                  <a:srgbClr val="1A1A18"/>
                </a:solidFill>
                <a:latin typeface="Cambria" pitchFamily="34" charset="0"/>
                <a:ea typeface="Cambria" pitchFamily="34" charset="-122"/>
                <a:cs typeface="Cambria" pitchFamily="34" charset="-120"/>
              </a:rPr>
              <a:t>O que mede. </a:t>
            </a:r>
            <a:pPr indent="0" marL="0">
              <a:lnSpc>
                <a:spcPts val="1755"/>
              </a:lnSpc>
              <a:buNone/>
            </a:pPr>
            <a:r>
              <a:rPr lang="en-US" sz="1350" dirty="0">
                <a:solidFill>
                  <a:srgbClr val="1A1A18"/>
                </a:solidFill>
                <a:latin typeface="Cambria" pitchFamily="34" charset="0"/>
                <a:ea typeface="Cambria" pitchFamily="34" charset="-122"/>
                <a:cs typeface="Cambria" pitchFamily="34" charset="-120"/>
              </a:rPr>
              <a:t>Proporção de pessoas com menos de 15 anos na população residente, em proporção de 0 a 1.</a:t>
            </a:r>
            <a:endParaRPr lang="en-US" sz="1350" dirty="0"/>
          </a:p>
        </p:txBody>
      </p:sp>
      <p:sp>
        <p:nvSpPr>
          <p:cNvPr id="6" name="Text 4"/>
          <p:cNvSpPr/>
          <p:nvPr/>
        </p:nvSpPr>
        <p:spPr>
          <a:xfrm>
            <a:off x="777240" y="1649349"/>
            <a:ext cx="9720072" cy="482346"/>
          </a:xfrm>
          <a:prstGeom prst="rect">
            <a:avLst/>
          </a:prstGeom>
          <a:noFill/>
          <a:ln/>
        </p:spPr>
        <p:txBody>
          <a:bodyPr wrap="square" lIns="0" tIns="0" rIns="0" bIns="0" rtlCol="0" anchor="t"/>
          <a:lstStyle/>
          <a:p>
            <a:pPr indent="0" marL="0">
              <a:lnSpc>
                <a:spcPts val="1755"/>
              </a:lnSpc>
              <a:buNone/>
            </a:pPr>
            <a:r>
              <a:rPr lang="en-US" sz="1350" b="1" dirty="0">
                <a:solidFill>
                  <a:srgbClr val="1A1A18"/>
                </a:solidFill>
                <a:latin typeface="Cambria" pitchFamily="34" charset="0"/>
                <a:ea typeface="Cambria" pitchFamily="34" charset="-122"/>
                <a:cs typeface="Cambria" pitchFamily="34" charset="-120"/>
              </a:rPr>
              <a:t>Por que importa para a saúde. </a:t>
            </a:r>
            <a:pPr indent="0" marL="0">
              <a:lnSpc>
                <a:spcPts val="1755"/>
              </a:lnSpc>
              <a:buNone/>
            </a:pPr>
            <a:r>
              <a:rPr lang="en-US" sz="1350" dirty="0">
                <a:solidFill>
                  <a:srgbClr val="1A1A18"/>
                </a:solidFill>
                <a:latin typeface="Cambria" pitchFamily="34" charset="0"/>
                <a:ea typeface="Cambria" pitchFamily="34" charset="-122"/>
                <a:cs typeface="Cambria" pitchFamily="34" charset="-120"/>
              </a:rPr>
              <a:t>Crianças de 0 a 14 anos: com os idosos, descrevem a estrutura etária do setor. Não é vulnerabilidade em si; ajuda a ler o IVS pela composição etária.</a:t>
            </a:r>
            <a:endParaRPr lang="en-US" sz="1350" dirty="0"/>
          </a:p>
        </p:txBody>
      </p:sp>
      <p:sp>
        <p:nvSpPr>
          <p:cNvPr id="7" name="Text 5"/>
          <p:cNvSpPr/>
          <p:nvPr/>
        </p:nvSpPr>
        <p:spPr>
          <a:xfrm>
            <a:off x="777240" y="2204847"/>
            <a:ext cx="9720072" cy="259461"/>
          </a:xfrm>
          <a:prstGeom prst="rect">
            <a:avLst/>
          </a:prstGeom>
          <a:noFill/>
          <a:ln/>
        </p:spPr>
        <p:txBody>
          <a:bodyPr wrap="square" lIns="0" tIns="0" rIns="0" bIns="0" rtlCol="0" anchor="t"/>
          <a:lstStyle/>
          <a:p>
            <a:pPr indent="0" marL="0">
              <a:lnSpc>
                <a:spcPts val="1755"/>
              </a:lnSpc>
              <a:buNone/>
            </a:pPr>
            <a:r>
              <a:rPr lang="en-US" sz="1350" b="1" dirty="0">
                <a:solidFill>
                  <a:srgbClr val="1A1A18"/>
                </a:solidFill>
                <a:latin typeface="Cambria" pitchFamily="34" charset="0"/>
                <a:ea typeface="Cambria" pitchFamily="34" charset="-122"/>
                <a:cs typeface="Cambria" pitchFamily="34" charset="-120"/>
              </a:rPr>
              <a:t>Direção. </a:t>
            </a:r>
            <a:pPr indent="0" marL="0">
              <a:lnSpc>
                <a:spcPts val="1755"/>
              </a:lnSpc>
              <a:buNone/>
            </a:pPr>
            <a:r>
              <a:rPr lang="en-US" sz="1350" dirty="0">
                <a:solidFill>
                  <a:srgbClr val="1A1A18"/>
                </a:solidFill>
                <a:latin typeface="Cambria" pitchFamily="34" charset="0"/>
                <a:ea typeface="Cambria" pitchFamily="34" charset="-122"/>
                <a:cs typeface="Cambria" pitchFamily="34" charset="-120"/>
              </a:rPr>
              <a:t>Quanto maior, mais vulnerável — no sentido de mais crianças, que não é vulnerabilidade em si.</a:t>
            </a:r>
            <a:endParaRPr lang="en-US" sz="1350" dirty="0"/>
          </a:p>
        </p:txBody>
      </p:sp>
      <p:sp>
        <p:nvSpPr>
          <p:cNvPr id="8" name="Text 6"/>
          <p:cNvSpPr/>
          <p:nvPr/>
        </p:nvSpPr>
        <p:spPr>
          <a:xfrm>
            <a:off x="777240" y="2537460"/>
            <a:ext cx="9720072" cy="259461"/>
          </a:xfrm>
          <a:prstGeom prst="rect">
            <a:avLst/>
          </a:prstGeom>
          <a:noFill/>
          <a:ln/>
        </p:spPr>
        <p:txBody>
          <a:bodyPr wrap="square" lIns="0" tIns="0" rIns="0" bIns="0" rtlCol="0" anchor="t"/>
          <a:lstStyle/>
          <a:p>
            <a:pPr indent="0" marL="0">
              <a:lnSpc>
                <a:spcPts val="1755"/>
              </a:lnSpc>
              <a:buNone/>
            </a:pPr>
            <a:r>
              <a:rPr lang="en-US" sz="1350" b="1" dirty="0">
                <a:solidFill>
                  <a:srgbClr val="1A1A18"/>
                </a:solidFill>
                <a:latin typeface="Cambria" pitchFamily="34" charset="0"/>
                <a:ea typeface="Cambria" pitchFamily="34" charset="-122"/>
                <a:cs typeface="Cambria" pitchFamily="34" charset="-120"/>
              </a:rPr>
              <a:t>No índice. </a:t>
            </a:r>
            <a:pPr indent="0" marL="0">
              <a:lnSpc>
                <a:spcPts val="1755"/>
              </a:lnSpc>
              <a:buNone/>
            </a:pPr>
            <a:r>
              <a:rPr lang="en-US" sz="1350" dirty="0">
                <a:solidFill>
                  <a:srgbClr val="1A1A18"/>
                </a:solidFill>
                <a:latin typeface="Cambria" pitchFamily="34" charset="0"/>
                <a:ea typeface="Cambria" pitchFamily="34" charset="-122"/>
                <a:cs typeface="Cambria" pitchFamily="34" charset="-120"/>
              </a:rPr>
              <a:t>Fora do IVS de 2012; entra na análise fatorial como indicador que pode ou não acrescentar.</a:t>
            </a:r>
            <a:endParaRPr lang="en-US" sz="1350" dirty="0"/>
          </a:p>
        </p:txBody>
      </p:sp>
      <p:sp>
        <p:nvSpPr>
          <p:cNvPr id="9" name="Text 7"/>
          <p:cNvSpPr/>
          <p:nvPr/>
        </p:nvSpPr>
        <p:spPr>
          <a:xfrm>
            <a:off x="9948672" y="146304"/>
            <a:ext cx="1463040" cy="274320"/>
          </a:xfrm>
          <a:prstGeom prst="rect">
            <a:avLst/>
          </a:prstGeom>
          <a:noFill/>
          <a:ln/>
        </p:spPr>
        <p:txBody>
          <a:bodyPr wrap="square" lIns="0" tIns="0" rIns="0" bIns="0" rtlCol="0" anchor="ctr"/>
          <a:lstStyle/>
          <a:p>
            <a:pPr algn="r" indent="0" marL="0">
              <a:buNone/>
            </a:pPr>
            <a:r>
              <a:rPr lang="en-US" sz="1100" b="1" dirty="0">
                <a:solidFill>
                  <a:srgbClr val="8C2F27"/>
                </a:solidFill>
                <a:latin typeface="Cambria" pitchFamily="34" charset="0"/>
                <a:ea typeface="Cambria" pitchFamily="34" charset="-122"/>
                <a:cs typeface="Cambria" pitchFamily="34" charset="-120"/>
              </a:rPr>
              <a:t>CRI-03</a:t>
            </a:r>
            <a:endParaRPr lang="en-US" sz="11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4</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600" b="1" dirty="0">
                <a:solidFill>
                  <a:srgbClr val="1A1A18"/>
                </a:solidFill>
                <a:latin typeface="Cambria" pitchFamily="34" charset="0"/>
                <a:ea typeface="Cambria" pitchFamily="34" charset="-122"/>
                <a:cs typeface="Cambria" pitchFamily="34" charset="-120"/>
              </a:rPr>
              <a:t>Como é calculado</a:t>
            </a:r>
            <a:endParaRPr lang="en-US" sz="2600" dirty="0"/>
          </a:p>
        </p:txBody>
      </p:sp>
      <p:sp>
        <p:nvSpPr>
          <p:cNvPr id="4" name="Shape 2"/>
          <p:cNvSpPr/>
          <p:nvPr/>
        </p:nvSpPr>
        <p:spPr>
          <a:xfrm>
            <a:off x="777240" y="1024128"/>
            <a:ext cx="10634472" cy="0"/>
          </a:xfrm>
          <a:prstGeom prst="line">
            <a:avLst/>
          </a:prstGeom>
          <a:noFill/>
          <a:ln w="12700">
            <a:solidFill>
              <a:srgbClr val="1A1A18"/>
            </a:solidFill>
            <a:prstDash val="solid"/>
          </a:ln>
        </p:spPr>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777240" y="1298448"/>
          <a:ext cx="6583680" cy="914400"/>
        </p:xfrm>
        <a:graphic>
          <a:graphicData uri="http://schemas.openxmlformats.org/drawingml/2006/table">
            <a:tbl>
              <a:tblPr/>
              <a:tblGrid>
                <a:gridCol w="1737360"/>
                <a:gridCol w="4846320"/>
              </a:tblGrid>
              <a:tr h="246888">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Parte</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Definição</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r>
              <a:tr h="254127">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Numerador</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V01031 + V01032 + V01033</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54127">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Denominador</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v0001</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54127">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Escala</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proporção de 0 a 1</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416814">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Arquivos do IBGE</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Agregados_por_setores_basico_BR_20250417.csv; Agregados_por_setores_demografia_BR.csv</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54127">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Na análise fatorial</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entra como está</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r>
            </a:tbl>
          </a:graphicData>
        </a:graphic>
      </p:graphicFrame>
      <p:sp>
        <p:nvSpPr>
          <p:cNvPr id="6" name="Shape 3"/>
          <p:cNvSpPr/>
          <p:nvPr/>
        </p:nvSpPr>
        <p:spPr>
          <a:xfrm>
            <a:off x="7589520" y="1298448"/>
            <a:ext cx="0" cy="4828032"/>
          </a:xfrm>
          <a:prstGeom prst="line">
            <a:avLst/>
          </a:prstGeom>
          <a:noFill/>
          <a:ln w="9525">
            <a:solidFill>
              <a:srgbClr val="C8C6C0"/>
            </a:solidFill>
            <a:prstDash val="solid"/>
          </a:ln>
        </p:spPr>
      </p:sp>
      <p:sp>
        <p:nvSpPr>
          <p:cNvPr id="7" name="Text 4"/>
          <p:cNvSpPr/>
          <p:nvPr/>
        </p:nvSpPr>
        <p:spPr>
          <a:xfrm>
            <a:off x="7726680" y="1298448"/>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O que é.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A receita do indicador: quais variáveis do Censo vão em cima (numerador) e em baixo (denominador) da divisão, e de que arquivo do IBGE cada uma sai.</a:t>
            </a:r>
            <a:endParaRPr lang="en-US" sz="1150" dirty="0"/>
          </a:p>
        </p:txBody>
      </p:sp>
      <p:sp>
        <p:nvSpPr>
          <p:cNvPr id="8" name="Text 5"/>
          <p:cNvSpPr/>
          <p:nvPr/>
        </p:nvSpPr>
        <p:spPr>
          <a:xfrm>
            <a:off x="7726680" y="1977771"/>
            <a:ext cx="3685032" cy="79603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Para que serve.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Permite refazer a conta e conferir qualquer número. As variáveis "V0…" são os códigos do dicionário oficial dos agregados por setor do Censo 2022.</a:t>
            </a:r>
            <a:endParaRPr lang="en-US" sz="1150" dirty="0"/>
          </a:p>
        </p:txBody>
      </p:sp>
      <p:sp>
        <p:nvSpPr>
          <p:cNvPr id="9" name="Text 6"/>
          <p:cNvSpPr/>
          <p:nvPr/>
        </p:nvSpPr>
        <p:spPr>
          <a:xfrm>
            <a:off x="7726680" y="2846959"/>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Como ler.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Uma soma no numerador junta categorias (por exemplo, todas as formas inadequadas). O cálculo é por setor censitário, a menor área com dado do Censo.</a:t>
            </a:r>
            <a:endParaRPr lang="en-US" sz="1150" dirty="0"/>
          </a:p>
        </p:txBody>
      </p:sp>
      <p:sp>
        <p:nvSpPr>
          <p:cNvPr id="10" name="Text 7"/>
          <p:cNvSpPr/>
          <p:nvPr/>
        </p:nvSpPr>
        <p:spPr>
          <a:xfrm>
            <a:off x="9948672" y="146304"/>
            <a:ext cx="1463040" cy="274320"/>
          </a:xfrm>
          <a:prstGeom prst="rect">
            <a:avLst/>
          </a:prstGeom>
          <a:noFill/>
          <a:ln/>
        </p:spPr>
        <p:txBody>
          <a:bodyPr wrap="square" lIns="0" tIns="0" rIns="0" bIns="0" rtlCol="0" anchor="ctr"/>
          <a:lstStyle/>
          <a:p>
            <a:pPr algn="r" indent="0" marL="0">
              <a:buNone/>
            </a:pPr>
            <a:r>
              <a:rPr lang="en-US" sz="1100" b="1" dirty="0">
                <a:solidFill>
                  <a:srgbClr val="8C2F27"/>
                </a:solidFill>
                <a:latin typeface="Cambria" pitchFamily="34" charset="0"/>
                <a:ea typeface="Cambria" pitchFamily="34" charset="-122"/>
                <a:cs typeface="Cambria" pitchFamily="34" charset="-120"/>
              </a:rPr>
              <a:t>CRI-04</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5</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600" b="1" dirty="0">
                <a:solidFill>
                  <a:srgbClr val="1A1A18"/>
                </a:solidFill>
                <a:latin typeface="Cambria" pitchFamily="34" charset="0"/>
                <a:ea typeface="Cambria" pitchFamily="34" charset="-122"/>
                <a:cs typeface="Cambria" pitchFamily="34" charset="-120"/>
              </a:rPr>
              <a:t>As adequações ao Censo 2022</a:t>
            </a:r>
            <a:endParaRPr lang="en-US" sz="2600" dirty="0"/>
          </a:p>
        </p:txBody>
      </p:sp>
      <p:sp>
        <p:nvSpPr>
          <p:cNvPr id="4" name="Shape 2"/>
          <p:cNvSpPr/>
          <p:nvPr/>
        </p:nvSpPr>
        <p:spPr>
          <a:xfrm>
            <a:off x="777240" y="1024128"/>
            <a:ext cx="10634472" cy="0"/>
          </a:xfrm>
          <a:prstGeom prst="line">
            <a:avLst/>
          </a:prstGeom>
          <a:noFill/>
          <a:ln w="12700">
            <a:solidFill>
              <a:srgbClr val="1A1A18"/>
            </a:solidFill>
            <a:prstDash val="solid"/>
          </a:ln>
        </p:spPr>
      </p:sp>
      <p:sp>
        <p:nvSpPr>
          <p:cNvPr id="5" name="Text 3"/>
          <p:cNvSpPr/>
          <p:nvPr/>
        </p:nvSpPr>
        <p:spPr>
          <a:xfrm>
            <a:off x="777240" y="1316736"/>
            <a:ext cx="9720072" cy="259461"/>
          </a:xfrm>
          <a:prstGeom prst="rect">
            <a:avLst/>
          </a:prstGeom>
          <a:noFill/>
          <a:ln/>
        </p:spPr>
        <p:txBody>
          <a:bodyPr wrap="square" lIns="0" tIns="0" rIns="0" bIns="0" rtlCol="0" anchor="t"/>
          <a:lstStyle/>
          <a:p>
            <a:pPr indent="0" marL="0">
              <a:lnSpc>
                <a:spcPts val="1755"/>
              </a:lnSpc>
              <a:buNone/>
            </a:pPr>
            <a:r>
              <a:rPr lang="en-US" sz="1350" b="1" dirty="0">
                <a:solidFill>
                  <a:srgbClr val="1A1A18"/>
                </a:solidFill>
                <a:latin typeface="Cambria" pitchFamily="34" charset="0"/>
                <a:ea typeface="Cambria" pitchFamily="34" charset="-122"/>
                <a:cs typeface="Cambria" pitchFamily="34" charset="-120"/>
              </a:rPr>
              <a:t>Denominador </a:t>
            </a:r>
            <a:pPr indent="0" marL="0">
              <a:lnSpc>
                <a:spcPts val="1755"/>
              </a:lnSpc>
              <a:buNone/>
            </a:pPr>
            <a:r>
              <a:rPr lang="en-US" sz="1350" dirty="0">
                <a:solidFill>
                  <a:srgbClr val="1A1A18"/>
                </a:solidFill>
                <a:latin typeface="Cambria" pitchFamily="34" charset="0"/>
                <a:ea typeface="Cambria" pitchFamily="34" charset="-122"/>
                <a:cs typeface="Cambria" pitchFamily="34" charset="-120"/>
              </a:rPr>
              <a:t>população residente total; moradores de domicílios coletivos entram (item a).</a:t>
            </a:r>
            <a:endParaRPr lang="en-US" sz="1350" dirty="0"/>
          </a:p>
        </p:txBody>
      </p:sp>
      <p:sp>
        <p:nvSpPr>
          <p:cNvPr id="6" name="Text 4"/>
          <p:cNvSpPr/>
          <p:nvPr/>
        </p:nvSpPr>
        <p:spPr>
          <a:xfrm>
            <a:off x="777240" y="1649349"/>
            <a:ext cx="9720072" cy="482346"/>
          </a:xfrm>
          <a:prstGeom prst="rect">
            <a:avLst/>
          </a:prstGeom>
          <a:noFill/>
          <a:ln/>
        </p:spPr>
        <p:txBody>
          <a:bodyPr wrap="square" lIns="0" tIns="0" rIns="0" bIns="0" rtlCol="0" anchor="t"/>
          <a:lstStyle/>
          <a:p>
            <a:pPr indent="0" marL="0">
              <a:lnSpc>
                <a:spcPts val="1755"/>
              </a:lnSpc>
              <a:buNone/>
            </a:pPr>
            <a:r>
              <a:rPr lang="en-US" sz="1350" b="1" dirty="0">
                <a:solidFill>
                  <a:srgbClr val="1A1A18"/>
                </a:solidFill>
                <a:latin typeface="Cambria" pitchFamily="34" charset="0"/>
                <a:ea typeface="Cambria" pitchFamily="34" charset="-122"/>
                <a:cs typeface="Cambria" pitchFamily="34" charset="-120"/>
              </a:rPr>
              <a:t>Faixas de idade </a:t>
            </a:r>
            <a:pPr indent="0" marL="0">
              <a:lnSpc>
                <a:spcPts val="1755"/>
              </a:lnSpc>
              <a:buNone/>
            </a:pPr>
            <a:r>
              <a:rPr lang="en-US" sz="1350" dirty="0">
                <a:solidFill>
                  <a:srgbClr val="1A1A18"/>
                </a:solidFill>
                <a:latin typeface="Cambria" pitchFamily="34" charset="0"/>
                <a:ea typeface="Cambria" pitchFamily="34" charset="-122"/>
                <a:cs typeface="Cambria" pitchFamily="34" charset="-120"/>
              </a:rPr>
              <a:t>grupos etários dos agregados por setor; idosos e crianças dividem o mesmo denominador e são o numerador e o denominador do índice de envelhecimento (Galvão et al., 2025).</a:t>
            </a:r>
            <a:endParaRPr lang="en-US" sz="1350" dirty="0"/>
          </a:p>
        </p:txBody>
      </p:sp>
      <p:sp>
        <p:nvSpPr>
          <p:cNvPr id="7" name="Text 5"/>
          <p:cNvSpPr/>
          <p:nvPr/>
        </p:nvSpPr>
        <p:spPr>
          <a:xfrm>
            <a:off x="777240" y="2204847"/>
            <a:ext cx="9720072" cy="482346"/>
          </a:xfrm>
          <a:prstGeom prst="rect">
            <a:avLst/>
          </a:prstGeom>
          <a:noFill/>
          <a:ln/>
        </p:spPr>
        <p:txBody>
          <a:bodyPr wrap="square" lIns="0" tIns="0" rIns="0" bIns="0" rtlCol="0" anchor="t"/>
          <a:lstStyle/>
          <a:p>
            <a:pPr indent="0" marL="0">
              <a:lnSpc>
                <a:spcPts val="1755"/>
              </a:lnSpc>
              <a:buNone/>
            </a:pPr>
            <a:r>
              <a:rPr lang="en-US" sz="1350" b="1" dirty="0">
                <a:solidFill>
                  <a:srgbClr val="1A1A18"/>
                </a:solidFill>
                <a:latin typeface="Cambria" pitchFamily="34" charset="0"/>
                <a:ea typeface="Cambria" pitchFamily="34" charset="-122"/>
                <a:cs typeface="Cambria" pitchFamily="34" charset="-120"/>
              </a:rPr>
              <a:t>Fora do índice </a:t>
            </a:r>
            <a:pPr indent="0" marL="0">
              <a:lnSpc>
                <a:spcPts val="1755"/>
              </a:lnSpc>
              <a:buNone/>
            </a:pPr>
            <a:r>
              <a:rPr lang="en-US" sz="1350" dirty="0">
                <a:solidFill>
                  <a:srgbClr val="1A1A18"/>
                </a:solidFill>
                <a:latin typeface="Cambria" pitchFamily="34" charset="0"/>
                <a:ea typeface="Cambria" pitchFamily="34" charset="-122"/>
                <a:cs typeface="Cambria" pitchFamily="34" charset="-120"/>
              </a:rPr>
              <a:t>demografia, não vulnerabilidade: descreve a estrutura etária e serve para ler o IVS proposto pelo tema do ELSI-Brasil.</a:t>
            </a:r>
            <a:endParaRPr lang="en-US" sz="1350" dirty="0"/>
          </a:p>
        </p:txBody>
      </p:sp>
      <p:sp>
        <p:nvSpPr>
          <p:cNvPr id="8" name="Text 6"/>
          <p:cNvSpPr/>
          <p:nvPr/>
        </p:nvSpPr>
        <p:spPr>
          <a:xfrm>
            <a:off x="777240" y="2760345"/>
            <a:ext cx="9720072" cy="482346"/>
          </a:xfrm>
          <a:prstGeom prst="rect">
            <a:avLst/>
          </a:prstGeom>
          <a:noFill/>
          <a:ln/>
        </p:spPr>
        <p:txBody>
          <a:bodyPr wrap="square" lIns="0" tIns="0" rIns="0" bIns="0" rtlCol="0" anchor="t"/>
          <a:lstStyle/>
          <a:p>
            <a:pPr indent="0" marL="0">
              <a:lnSpc>
                <a:spcPts val="1755"/>
              </a:lnSpc>
              <a:buNone/>
            </a:pPr>
            <a:r>
              <a:rPr lang="en-US" sz="1350" b="1" dirty="0">
                <a:solidFill>
                  <a:srgbClr val="1A1A18"/>
                </a:solidFill>
                <a:latin typeface="Cambria" pitchFamily="34" charset="0"/>
                <a:ea typeface="Cambria" pitchFamily="34" charset="-122"/>
                <a:cs typeface="Cambria" pitchFamily="34" charset="-120"/>
              </a:rPr>
              <a:t>Por que existem. </a:t>
            </a:r>
            <a:pPr indent="0" marL="0">
              <a:lnSpc>
                <a:spcPts val="1755"/>
              </a:lnSpc>
              <a:buNone/>
            </a:pPr>
            <a:r>
              <a:rPr lang="en-US" sz="1350" dirty="0">
                <a:solidFill>
                  <a:srgbClr val="1A1A18"/>
                </a:solidFill>
                <a:latin typeface="Cambria" pitchFamily="34" charset="0"/>
                <a:ea typeface="Cambria" pitchFamily="34" charset="-122"/>
                <a:cs typeface="Cambria" pitchFamily="34" charset="-120"/>
              </a:rPr>
              <a:t>O IVS de 2012 foi feito com o Censo 2010. Quando o Censo 2022 não traz a mesma variável, a troca é declarada aqui, como o relatório parcial faz na seção IV.</a:t>
            </a:r>
            <a:endParaRPr lang="en-US" sz="1350" dirty="0"/>
          </a:p>
        </p:txBody>
      </p:sp>
      <p:sp>
        <p:nvSpPr>
          <p:cNvPr id="9" name="Text 7"/>
          <p:cNvSpPr/>
          <p:nvPr/>
        </p:nvSpPr>
        <p:spPr>
          <a:xfrm>
            <a:off x="9948672" y="146304"/>
            <a:ext cx="1463040" cy="274320"/>
          </a:xfrm>
          <a:prstGeom prst="rect">
            <a:avLst/>
          </a:prstGeom>
          <a:noFill/>
          <a:ln/>
        </p:spPr>
        <p:txBody>
          <a:bodyPr wrap="square" lIns="0" tIns="0" rIns="0" bIns="0" rtlCol="0" anchor="ctr"/>
          <a:lstStyle/>
          <a:p>
            <a:pPr algn="r" indent="0" marL="0">
              <a:buNone/>
            </a:pPr>
            <a:r>
              <a:rPr lang="en-US" sz="1100" b="1" dirty="0">
                <a:solidFill>
                  <a:srgbClr val="8C2F27"/>
                </a:solidFill>
                <a:latin typeface="Cambria" pitchFamily="34" charset="0"/>
                <a:ea typeface="Cambria" pitchFamily="34" charset="-122"/>
                <a:cs typeface="Cambria" pitchFamily="34" charset="-120"/>
              </a:rPr>
              <a:t>CRI-05</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6</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600" b="1" dirty="0">
                <a:solidFill>
                  <a:srgbClr val="1A1A18"/>
                </a:solidFill>
                <a:latin typeface="Cambria" pitchFamily="34" charset="0"/>
                <a:ea typeface="Cambria" pitchFamily="34" charset="-122"/>
                <a:cs typeface="Cambria" pitchFamily="34" charset="-120"/>
              </a:rPr>
              <a:t>99,8% dos setores têm o dado</a:t>
            </a:r>
            <a:endParaRPr lang="en-US" sz="2600" dirty="0"/>
          </a:p>
        </p:txBody>
      </p:sp>
      <p:sp>
        <p:nvSpPr>
          <p:cNvPr id="4" name="Shape 2"/>
          <p:cNvSpPr/>
          <p:nvPr/>
        </p:nvSpPr>
        <p:spPr>
          <a:xfrm>
            <a:off x="777240" y="1024128"/>
            <a:ext cx="10634472" cy="0"/>
          </a:xfrm>
          <a:prstGeom prst="line">
            <a:avLst/>
          </a:prstGeom>
          <a:noFill/>
          <a:ln w="12700">
            <a:solidFill>
              <a:srgbClr val="1A1A18"/>
            </a:solidFill>
            <a:prstDash val="solid"/>
          </a:ln>
        </p:spPr>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777240" y="1298448"/>
          <a:ext cx="6492240" cy="914400"/>
        </p:xfrm>
        <a:graphic>
          <a:graphicData uri="http://schemas.openxmlformats.org/drawingml/2006/table">
            <a:tbl>
              <a:tblPr/>
              <a:tblGrid>
                <a:gridCol w="1188720"/>
                <a:gridCol w="1005840"/>
                <a:gridCol w="1005840"/>
                <a:gridCol w="1371600"/>
                <a:gridCol w="914400"/>
                <a:gridCol w="1005840"/>
              </a:tblGrid>
              <a:tr h="246888">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Setores</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Quantidade</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 do recorte</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Renda mediana</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 favela</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 Sudeste</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r>
              <a:tr h="254127">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com o dado</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103.850</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99,8%</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R$ 2.570,48</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18,7%</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59,5%</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54127">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sem o dado</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258</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0,2%</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R$ 4.757,22</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4,7%</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70,9%</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r>
            </a:tbl>
          </a:graphicData>
        </a:graphic>
      </p:graphicFrame>
      <p:sp>
        <p:nvSpPr>
          <p:cNvPr id="6" name="Shape 3"/>
          <p:cNvSpPr/>
          <p:nvPr/>
        </p:nvSpPr>
        <p:spPr>
          <a:xfrm>
            <a:off x="7589520" y="1298448"/>
            <a:ext cx="0" cy="4828032"/>
          </a:xfrm>
          <a:prstGeom prst="line">
            <a:avLst/>
          </a:prstGeom>
          <a:noFill/>
          <a:ln w="9525">
            <a:solidFill>
              <a:srgbClr val="C8C6C0"/>
            </a:solidFill>
            <a:prstDash val="solid"/>
          </a:ln>
        </p:spPr>
      </p:sp>
      <p:sp>
        <p:nvSpPr>
          <p:cNvPr id="7" name="Text 4"/>
          <p:cNvSpPr/>
          <p:nvPr/>
        </p:nvSpPr>
        <p:spPr>
          <a:xfrm>
            <a:off x="7726680" y="1298448"/>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O que é.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Quantos setores têm o indicador calculado e quantos ficaram sem ele, com o perfil de cada grupo.</a:t>
            </a:r>
            <a:endParaRPr lang="en-US" sz="1150" dirty="0"/>
          </a:p>
        </p:txBody>
      </p:sp>
      <p:sp>
        <p:nvSpPr>
          <p:cNvPr id="8" name="Text 5"/>
          <p:cNvSpPr/>
          <p:nvPr/>
        </p:nvSpPr>
        <p:spPr>
          <a:xfrm>
            <a:off x="7726680" y="1787906"/>
            <a:ext cx="3685032" cy="79603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Para que serve.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O IBGE esconde (sigilo) números muito pequenos para ninguém ser identificado. Se o dado falta mais num tipo de setor, as médias ficam enviesadas — por isso o perfil dos dois grupos.</a:t>
            </a:r>
            <a:endParaRPr lang="en-US" sz="1150" dirty="0"/>
          </a:p>
        </p:txBody>
      </p:sp>
      <p:sp>
        <p:nvSpPr>
          <p:cNvPr id="9" name="Text 6"/>
          <p:cNvSpPr/>
          <p:nvPr/>
        </p:nvSpPr>
        <p:spPr>
          <a:xfrm>
            <a:off x="7726680" y="2657094"/>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Como ler.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Compare a renda mediana, a % de favela e a % de Sudeste entre "com o dado" e "sem o dado". Se forem parecidas, a falta é próxima do acaso.</a:t>
            </a:r>
            <a:endParaRPr lang="en-US" sz="1150" dirty="0"/>
          </a:p>
        </p:txBody>
      </p:sp>
      <p:sp>
        <p:nvSpPr>
          <p:cNvPr id="10" name="Text 7"/>
          <p:cNvSpPr/>
          <p:nvPr/>
        </p:nvSpPr>
        <p:spPr>
          <a:xfrm>
            <a:off x="7726680" y="3336417"/>
            <a:ext cx="3685032" cy="796036"/>
          </a:xfrm>
          <a:prstGeom prst="rect">
            <a:avLst/>
          </a:prstGeom>
          <a:noFill/>
          <a:ln/>
        </p:spPr>
        <p:txBody>
          <a:bodyPr wrap="square" lIns="0" tIns="0" rIns="0" bIns="0" rtlCol="0" anchor="t"/>
          <a:lstStyle/>
          <a:p>
            <a:pPr indent="0" marL="0">
              <a:lnSpc>
                <a:spcPts val="1495"/>
              </a:lnSpc>
              <a:buNone/>
            </a:pPr>
            <a:r>
              <a:rPr lang="en-US" sz="1150" b="1" dirty="0">
                <a:solidFill>
                  <a:srgbClr val="8C2F27"/>
                </a:solidFill>
                <a:latin typeface="Cambria" pitchFamily="34" charset="0"/>
                <a:ea typeface="Cambria" pitchFamily="34" charset="-122"/>
                <a:cs typeface="Cambria" pitchFamily="34" charset="-120"/>
              </a:rPr>
              <a:t>O que mostra.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103.850 dos 104.108 setores (99,8%) têm o dado. Nos 258 sem o dado, a renda mediana do responsável é R$ 4.757,22, contra R$ 2.570,48 nos que têm: o ausente não é aleatório.</a:t>
            </a:r>
            <a:endParaRPr lang="en-US" sz="1150" dirty="0"/>
          </a:p>
        </p:txBody>
      </p:sp>
      <p:sp>
        <p:nvSpPr>
          <p:cNvPr id="11" name="Text 8"/>
          <p:cNvSpPr/>
          <p:nvPr/>
        </p:nvSpPr>
        <p:spPr>
          <a:xfrm>
            <a:off x="9948672" y="146304"/>
            <a:ext cx="1463040" cy="274320"/>
          </a:xfrm>
          <a:prstGeom prst="rect">
            <a:avLst/>
          </a:prstGeom>
          <a:noFill/>
          <a:ln/>
        </p:spPr>
        <p:txBody>
          <a:bodyPr wrap="square" lIns="0" tIns="0" rIns="0" bIns="0" rtlCol="0" anchor="ctr"/>
          <a:lstStyle/>
          <a:p>
            <a:pPr algn="r" indent="0" marL="0">
              <a:buNone/>
            </a:pPr>
            <a:r>
              <a:rPr lang="en-US" sz="1100" b="1" dirty="0">
                <a:solidFill>
                  <a:srgbClr val="8C2F27"/>
                </a:solidFill>
                <a:latin typeface="Cambria" pitchFamily="34" charset="0"/>
                <a:ea typeface="Cambria" pitchFamily="34" charset="-122"/>
                <a:cs typeface="Cambria" pitchFamily="34" charset="-120"/>
              </a:rPr>
              <a:t>CRI-06</a:t>
            </a:r>
            <a:endParaRPr lang="en-US" sz="1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7</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600" b="1" dirty="0">
                <a:solidFill>
                  <a:srgbClr val="1A1A18"/>
                </a:solidFill>
                <a:latin typeface="Cambria" pitchFamily="34" charset="0"/>
                <a:ea typeface="Cambria" pitchFamily="34" charset="-122"/>
                <a:cs typeface="Cambria" pitchFamily="34" charset="-120"/>
              </a:rPr>
              <a:t>Onde falta o dado</a:t>
            </a:r>
            <a:endParaRPr lang="en-US" sz="2600" dirty="0"/>
          </a:p>
        </p:txBody>
      </p:sp>
      <p:sp>
        <p:nvSpPr>
          <p:cNvPr id="4" name="Shape 2"/>
          <p:cNvSpPr/>
          <p:nvPr/>
        </p:nvSpPr>
        <p:spPr>
          <a:xfrm>
            <a:off x="777240" y="1024128"/>
            <a:ext cx="10634472" cy="0"/>
          </a:xfrm>
          <a:prstGeom prst="line">
            <a:avLst/>
          </a:prstGeom>
          <a:noFill/>
          <a:ln w="12700">
            <a:solidFill>
              <a:srgbClr val="1A1A18"/>
            </a:solidFill>
            <a:prstDash val="solid"/>
          </a:ln>
        </p:spPr>
      </p:sp>
      <p:pic>
        <p:nvPicPr>
          <p:cNvPr id="5" name="Image 0" descr="/Users/pedro/Documents/Iniciacao Cientifica/Projeto_IVS_Censo22/apresentacoes_multiversao/figuras/CRI_ausente_regiao.png">    </p:cNvPr>
          <p:cNvPicPr>
            <a:picLocks noChangeAspect="1"/>
          </p:cNvPicPr>
          <p:nvPr/>
        </p:nvPicPr>
        <p:blipFill>
          <a:blip r:embed="rId1"/>
          <a:stretch>
            <a:fillRect/>
          </a:stretch>
        </p:blipFill>
        <p:spPr>
          <a:xfrm>
            <a:off x="777240" y="1298448"/>
            <a:ext cx="6675120" cy="3847931"/>
          </a:xfrm>
          <a:prstGeom prst="rect">
            <a:avLst/>
          </a:prstGeom>
        </p:spPr>
      </p:pic>
      <p:sp>
        <p:nvSpPr>
          <p:cNvPr id="6" name="Text 3"/>
          <p:cNvSpPr/>
          <p:nvPr/>
        </p:nvSpPr>
        <p:spPr>
          <a:xfrm>
            <a:off x="777240" y="5201243"/>
            <a:ext cx="6675120" cy="310896"/>
          </a:xfrm>
          <a:prstGeom prst="rect">
            <a:avLst/>
          </a:prstGeom>
          <a:noFill/>
          <a:ln/>
        </p:spPr>
        <p:txBody>
          <a:bodyPr wrap="square" lIns="0" tIns="0" rIns="0" bIns="0" rtlCol="0" anchor="t"/>
          <a:lstStyle/>
          <a:p>
            <a:pPr indent="0" marL="0">
              <a:buNone/>
            </a:pPr>
            <a:r>
              <a:rPr lang="en-US" sz="1050" b="1" dirty="0">
                <a:solidFill>
                  <a:srgbClr val="56534C"/>
                </a:solidFill>
                <a:latin typeface="Cambria" pitchFamily="34" charset="0"/>
                <a:ea typeface="Cambria" pitchFamily="34" charset="-122"/>
                <a:cs typeface="Cambria" pitchFamily="34" charset="-120"/>
              </a:rPr>
              <a:t>Figura 1 — </a:t>
            </a:r>
            <a:pPr indent="0" marL="0">
              <a:buNone/>
            </a:pPr>
            <a:r>
              <a:rPr lang="en-US" sz="1050" dirty="0">
                <a:solidFill>
                  <a:srgbClr val="56534C"/>
                </a:solidFill>
                <a:latin typeface="Cambria" pitchFamily="34" charset="0"/>
                <a:ea typeface="Cambria" pitchFamily="34" charset="-122"/>
                <a:cs typeface="Cambria" pitchFamily="34" charset="-120"/>
              </a:rPr>
              <a:t>Crianças (0 a 14 anos): proporção de setores sem o dado, por região.</a:t>
            </a:r>
            <a:endParaRPr lang="en-US" sz="1050" dirty="0"/>
          </a:p>
        </p:txBody>
      </p:sp>
      <p:sp>
        <p:nvSpPr>
          <p:cNvPr id="7" name="Shape 4"/>
          <p:cNvSpPr/>
          <p:nvPr/>
        </p:nvSpPr>
        <p:spPr>
          <a:xfrm>
            <a:off x="7589520" y="1298448"/>
            <a:ext cx="0" cy="4828032"/>
          </a:xfrm>
          <a:prstGeom prst="line">
            <a:avLst/>
          </a:prstGeom>
          <a:noFill/>
          <a:ln w="9525">
            <a:solidFill>
              <a:srgbClr val="C8C6C0"/>
            </a:solidFill>
            <a:prstDash val="solid"/>
          </a:ln>
        </p:spPr>
      </p:sp>
      <p:sp>
        <p:nvSpPr>
          <p:cNvPr id="8" name="Text 5"/>
          <p:cNvSpPr/>
          <p:nvPr/>
        </p:nvSpPr>
        <p:spPr>
          <a:xfrm>
            <a:off x="7726680" y="1298448"/>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O que é.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A proporção de setores sem o indicador em cada região.</a:t>
            </a:r>
            <a:endParaRPr lang="en-US" sz="1150" dirty="0"/>
          </a:p>
        </p:txBody>
      </p:sp>
      <p:sp>
        <p:nvSpPr>
          <p:cNvPr id="9" name="Text 6"/>
          <p:cNvSpPr/>
          <p:nvPr/>
        </p:nvSpPr>
        <p:spPr>
          <a:xfrm>
            <a:off x="7726680" y="1787906"/>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Para que serve.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Mostra se a falta de dado se concentra numa parte do país, o que pesaria nas comparações regionais.</a:t>
            </a:r>
            <a:endParaRPr lang="en-US" sz="1150" dirty="0"/>
          </a:p>
        </p:txBody>
      </p:sp>
      <p:sp>
        <p:nvSpPr>
          <p:cNvPr id="10" name="Text 7"/>
          <p:cNvSpPr/>
          <p:nvPr/>
        </p:nvSpPr>
        <p:spPr>
          <a:xfrm>
            <a:off x="7726680" y="2467229"/>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Como ler.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Cada barra é uma região; quanto mais longa, mais setores sem o dado.</a:t>
            </a:r>
            <a:endParaRPr lang="en-US" sz="1150" dirty="0"/>
          </a:p>
        </p:txBody>
      </p:sp>
      <p:sp>
        <p:nvSpPr>
          <p:cNvPr id="11" name="Text 8"/>
          <p:cNvSpPr/>
          <p:nvPr/>
        </p:nvSpPr>
        <p:spPr>
          <a:xfrm>
            <a:off x="7726680" y="2956687"/>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8C2F27"/>
                </a:solidFill>
                <a:latin typeface="Cambria" pitchFamily="34" charset="0"/>
                <a:ea typeface="Cambria" pitchFamily="34" charset="-122"/>
                <a:cs typeface="Cambria" pitchFamily="34" charset="-120"/>
              </a:rPr>
              <a:t>O que mostra.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A maior proporção sem dado é no Sul (0,3%); a menor, no Norte (0,03%).</a:t>
            </a:r>
            <a:endParaRPr lang="en-US" sz="1150" dirty="0"/>
          </a:p>
        </p:txBody>
      </p:sp>
      <p:sp>
        <p:nvSpPr>
          <p:cNvPr id="12" name="Text 9"/>
          <p:cNvSpPr/>
          <p:nvPr/>
        </p:nvSpPr>
        <p:spPr>
          <a:xfrm>
            <a:off x="9948672" y="146304"/>
            <a:ext cx="1463040" cy="274320"/>
          </a:xfrm>
          <a:prstGeom prst="rect">
            <a:avLst/>
          </a:prstGeom>
          <a:noFill/>
          <a:ln/>
        </p:spPr>
        <p:txBody>
          <a:bodyPr wrap="square" lIns="0" tIns="0" rIns="0" bIns="0" rtlCol="0" anchor="ctr"/>
          <a:lstStyle/>
          <a:p>
            <a:pPr algn="r" indent="0" marL="0">
              <a:buNone/>
            </a:pPr>
            <a:r>
              <a:rPr lang="en-US" sz="1100" b="1" dirty="0">
                <a:solidFill>
                  <a:srgbClr val="8C2F27"/>
                </a:solidFill>
                <a:latin typeface="Cambria" pitchFamily="34" charset="0"/>
                <a:ea typeface="Cambria" pitchFamily="34" charset="-122"/>
                <a:cs typeface="Cambria" pitchFamily="34" charset="-120"/>
              </a:rPr>
              <a:t>CRI-07</a:t>
            </a:r>
            <a:endParaRPr lang="en-US"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8</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600" b="1" dirty="0">
                <a:solidFill>
                  <a:srgbClr val="1A1A18"/>
                </a:solidFill>
                <a:latin typeface="Cambria" pitchFamily="34" charset="0"/>
                <a:ea typeface="Cambria" pitchFamily="34" charset="-122"/>
                <a:cs typeface="Cambria" pitchFamily="34" charset="-120"/>
              </a:rPr>
              <a:t>Estatísticas descritivas</a:t>
            </a:r>
            <a:endParaRPr lang="en-US" sz="2600" dirty="0"/>
          </a:p>
        </p:txBody>
      </p:sp>
      <p:sp>
        <p:nvSpPr>
          <p:cNvPr id="4" name="Shape 2"/>
          <p:cNvSpPr/>
          <p:nvPr/>
        </p:nvSpPr>
        <p:spPr>
          <a:xfrm>
            <a:off x="777240" y="1024128"/>
            <a:ext cx="10634472" cy="0"/>
          </a:xfrm>
          <a:prstGeom prst="line">
            <a:avLst/>
          </a:prstGeom>
          <a:noFill/>
          <a:ln w="12700">
            <a:solidFill>
              <a:srgbClr val="1A1A18"/>
            </a:solidFill>
            <a:prstDash val="solid"/>
          </a:ln>
        </p:spPr>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777240" y="1298448"/>
          <a:ext cx="4754880" cy="914400"/>
        </p:xfrm>
        <a:graphic>
          <a:graphicData uri="http://schemas.openxmlformats.org/drawingml/2006/table">
            <a:tbl>
              <a:tblPr/>
              <a:tblGrid>
                <a:gridCol w="2743200"/>
                <a:gridCol w="2011680"/>
              </a:tblGrid>
              <a:tr h="246888">
                <a:tc>
                  <a:txBody>
                    <a:bodyPr/>
                    <a:lstStyle/>
                    <a:p>
                      <a:pPr indent="0" marL="0">
                        <a:buNone/>
                      </a:pPr>
                      <a:r>
                        <a:rPr lang="en-US" sz="900" b="1" dirty="0">
                          <a:solidFill>
                            <a:srgbClr val="1A1A18"/>
                          </a:solidFill>
                          <a:latin typeface="Cambria" pitchFamily="34" charset="0"/>
                          <a:ea typeface="Cambria" pitchFamily="34" charset="-122"/>
                          <a:cs typeface="Cambria" pitchFamily="34" charset="-120"/>
                        </a:rPr>
                        <a:t>Medida</a:t>
                      </a:r>
                      <a:endParaRPr lang="en-US" sz="9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00" b="1" dirty="0">
                          <a:solidFill>
                            <a:srgbClr val="1A1A18"/>
                          </a:solidFill>
                          <a:latin typeface="Cambria" pitchFamily="34" charset="0"/>
                          <a:ea typeface="Cambria" pitchFamily="34" charset="-122"/>
                          <a:cs typeface="Cambria" pitchFamily="34" charset="-120"/>
                        </a:rPr>
                        <a:t>Valor</a:t>
                      </a:r>
                      <a:endParaRPr lang="en-US" sz="9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Setores com o dado</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103.850</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Média</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0,173</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Desvio-padrão</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0,058</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Mínimo</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0,000</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Percentil 10</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0,101</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Percentil 25</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0,134</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Mediana</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0,172</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Percentil 75</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0,210</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Percentil 90</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0,245</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Máximo</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0,488</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Assimetria</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0,11</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 de setores com zero</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0,5%</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r>
            </a:tbl>
          </a:graphicData>
        </a:graphic>
      </p:graphicFrame>
      <p:sp>
        <p:nvSpPr>
          <p:cNvPr id="6" name="Shape 3"/>
          <p:cNvSpPr/>
          <p:nvPr/>
        </p:nvSpPr>
        <p:spPr>
          <a:xfrm>
            <a:off x="7589520" y="1298448"/>
            <a:ext cx="0" cy="4828032"/>
          </a:xfrm>
          <a:prstGeom prst="line">
            <a:avLst/>
          </a:prstGeom>
          <a:noFill/>
          <a:ln w="9525">
            <a:solidFill>
              <a:srgbClr val="C8C6C0"/>
            </a:solidFill>
            <a:prstDash val="solid"/>
          </a:ln>
        </p:spPr>
      </p:sp>
      <p:sp>
        <p:nvSpPr>
          <p:cNvPr id="7" name="Text 4"/>
          <p:cNvSpPr/>
          <p:nvPr/>
        </p:nvSpPr>
        <p:spPr>
          <a:xfrm>
            <a:off x="7726680" y="1298448"/>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O que é.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O resumo numérico do indicador nos setores urbanos dos 70 municípios.</a:t>
            </a:r>
            <a:endParaRPr lang="en-US" sz="1150" dirty="0"/>
          </a:p>
        </p:txBody>
      </p:sp>
      <p:sp>
        <p:nvSpPr>
          <p:cNvPr id="8" name="Text 5"/>
          <p:cNvSpPr/>
          <p:nvPr/>
        </p:nvSpPr>
        <p:spPr>
          <a:xfrm>
            <a:off x="7726680" y="1787906"/>
            <a:ext cx="3685032" cy="98590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Para que serve.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A média é puxada por valores extremos; a mediana é o valor do setor do meio. O percentil 25 (ou 75) é o valor abaixo do qual estão 25% (ou 75%) dos setores. A assimetria mede o quanto a distribuição tem cauda longa para um lado.</a:t>
            </a:r>
            <a:endParaRPr lang="en-US" sz="1150" dirty="0"/>
          </a:p>
        </p:txBody>
      </p:sp>
      <p:sp>
        <p:nvSpPr>
          <p:cNvPr id="9" name="Text 6"/>
          <p:cNvSpPr/>
          <p:nvPr/>
        </p:nvSpPr>
        <p:spPr>
          <a:xfrm>
            <a:off x="7726680" y="2846959"/>
            <a:ext cx="3685032" cy="79603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Como ler.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Assimetria perto de zero: distribuição equilibrada. Acima de 1: cauda longa à direita, poucos setores com valores muito altos. Muitos zeros e assimetria alta pedem cuidado ao padronizar.</a:t>
            </a:r>
            <a:endParaRPr lang="en-US" sz="1150" dirty="0"/>
          </a:p>
        </p:txBody>
      </p:sp>
      <p:sp>
        <p:nvSpPr>
          <p:cNvPr id="10" name="Text 7"/>
          <p:cNvSpPr/>
          <p:nvPr/>
        </p:nvSpPr>
        <p:spPr>
          <a:xfrm>
            <a:off x="7726680" y="3716147"/>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8C2F27"/>
                </a:solidFill>
                <a:latin typeface="Cambria" pitchFamily="34" charset="0"/>
                <a:ea typeface="Cambria" pitchFamily="34" charset="-122"/>
                <a:cs typeface="Cambria" pitchFamily="34" charset="-120"/>
              </a:rPr>
              <a:t>O que mostra.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A média (0,173) e a mediana (0,172) estão próximas: assimetria de 0,11.</a:t>
            </a:r>
            <a:endParaRPr lang="en-US" sz="1150" dirty="0"/>
          </a:p>
        </p:txBody>
      </p:sp>
      <p:sp>
        <p:nvSpPr>
          <p:cNvPr id="11" name="Text 8"/>
          <p:cNvSpPr/>
          <p:nvPr/>
        </p:nvSpPr>
        <p:spPr>
          <a:xfrm>
            <a:off x="9948672" y="146304"/>
            <a:ext cx="1463040" cy="274320"/>
          </a:xfrm>
          <a:prstGeom prst="rect">
            <a:avLst/>
          </a:prstGeom>
          <a:noFill/>
          <a:ln/>
        </p:spPr>
        <p:txBody>
          <a:bodyPr wrap="square" lIns="0" tIns="0" rIns="0" bIns="0" rtlCol="0" anchor="ctr"/>
          <a:lstStyle/>
          <a:p>
            <a:pPr algn="r" indent="0" marL="0">
              <a:buNone/>
            </a:pPr>
            <a:r>
              <a:rPr lang="en-US" sz="1100" b="1" dirty="0">
                <a:solidFill>
                  <a:srgbClr val="8C2F27"/>
                </a:solidFill>
                <a:latin typeface="Cambria" pitchFamily="34" charset="0"/>
                <a:ea typeface="Cambria" pitchFamily="34" charset="-122"/>
                <a:cs typeface="Cambria" pitchFamily="34" charset="-120"/>
              </a:rPr>
              <a:t>CRI-08</a:t>
            </a:r>
            <a:endParaRPr lang="en-US" sz="11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9</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600" b="1" dirty="0">
                <a:solidFill>
                  <a:srgbClr val="1A1A18"/>
                </a:solidFill>
                <a:latin typeface="Cambria" pitchFamily="34" charset="0"/>
                <a:ea typeface="Cambria" pitchFamily="34" charset="-122"/>
                <a:cs typeface="Cambria" pitchFamily="34" charset="-120"/>
              </a:rPr>
              <a:t>O histograma</a:t>
            </a:r>
            <a:endParaRPr lang="en-US" sz="2600" dirty="0"/>
          </a:p>
        </p:txBody>
      </p:sp>
      <p:sp>
        <p:nvSpPr>
          <p:cNvPr id="4" name="Shape 2"/>
          <p:cNvSpPr/>
          <p:nvPr/>
        </p:nvSpPr>
        <p:spPr>
          <a:xfrm>
            <a:off x="777240" y="1024128"/>
            <a:ext cx="10634472" cy="0"/>
          </a:xfrm>
          <a:prstGeom prst="line">
            <a:avLst/>
          </a:prstGeom>
          <a:noFill/>
          <a:ln w="12700">
            <a:solidFill>
              <a:srgbClr val="1A1A18"/>
            </a:solidFill>
            <a:prstDash val="solid"/>
          </a:ln>
        </p:spPr>
      </p:sp>
      <p:pic>
        <p:nvPicPr>
          <p:cNvPr id="5" name="Image 0" descr="/Users/pedro/Documents/Iniciacao Cientifica/Projeto_IVS_Censo22/apresentacoes_multiversao/figuras/CRI_histograma.png">    </p:cNvPr>
          <p:cNvPicPr>
            <a:picLocks noChangeAspect="1"/>
          </p:cNvPicPr>
          <p:nvPr/>
        </p:nvPicPr>
        <p:blipFill>
          <a:blip r:embed="rId1"/>
          <a:stretch>
            <a:fillRect/>
          </a:stretch>
        </p:blipFill>
        <p:spPr>
          <a:xfrm>
            <a:off x="777240" y="1298448"/>
            <a:ext cx="6675120" cy="4020482"/>
          </a:xfrm>
          <a:prstGeom prst="rect">
            <a:avLst/>
          </a:prstGeom>
        </p:spPr>
      </p:pic>
      <p:sp>
        <p:nvSpPr>
          <p:cNvPr id="6" name="Text 3"/>
          <p:cNvSpPr/>
          <p:nvPr/>
        </p:nvSpPr>
        <p:spPr>
          <a:xfrm>
            <a:off x="777240" y="5373794"/>
            <a:ext cx="6675120" cy="310896"/>
          </a:xfrm>
          <a:prstGeom prst="rect">
            <a:avLst/>
          </a:prstGeom>
          <a:noFill/>
          <a:ln/>
        </p:spPr>
        <p:txBody>
          <a:bodyPr wrap="square" lIns="0" tIns="0" rIns="0" bIns="0" rtlCol="0" anchor="t"/>
          <a:lstStyle/>
          <a:p>
            <a:pPr indent="0" marL="0">
              <a:buNone/>
            </a:pPr>
            <a:r>
              <a:rPr lang="en-US" sz="1050" b="1" dirty="0">
                <a:solidFill>
                  <a:srgbClr val="56534C"/>
                </a:solidFill>
                <a:latin typeface="Cambria" pitchFamily="34" charset="0"/>
                <a:ea typeface="Cambria" pitchFamily="34" charset="-122"/>
                <a:cs typeface="Cambria" pitchFamily="34" charset="-120"/>
              </a:rPr>
              <a:t>Figura 2 — </a:t>
            </a:r>
            <a:pPr indent="0" marL="0">
              <a:buNone/>
            </a:pPr>
            <a:r>
              <a:rPr lang="en-US" sz="1050" dirty="0">
                <a:solidFill>
                  <a:srgbClr val="56534C"/>
                </a:solidFill>
                <a:latin typeface="Cambria" pitchFamily="34" charset="0"/>
                <a:ea typeface="Cambria" pitchFamily="34" charset="-122"/>
                <a:cs typeface="Cambria" pitchFamily="34" charset="-120"/>
              </a:rPr>
              <a:t>Crianças (0 a 14 anos): número de setores em cada faixa de valor (103.850 setores).</a:t>
            </a:r>
            <a:endParaRPr lang="en-US" sz="1050" dirty="0"/>
          </a:p>
        </p:txBody>
      </p:sp>
      <p:sp>
        <p:nvSpPr>
          <p:cNvPr id="7" name="Shape 4"/>
          <p:cNvSpPr/>
          <p:nvPr/>
        </p:nvSpPr>
        <p:spPr>
          <a:xfrm>
            <a:off x="7589520" y="1298448"/>
            <a:ext cx="0" cy="4828032"/>
          </a:xfrm>
          <a:prstGeom prst="line">
            <a:avLst/>
          </a:prstGeom>
          <a:noFill/>
          <a:ln w="9525">
            <a:solidFill>
              <a:srgbClr val="C8C6C0"/>
            </a:solidFill>
            <a:prstDash val="solid"/>
          </a:ln>
        </p:spPr>
      </p:sp>
      <p:sp>
        <p:nvSpPr>
          <p:cNvPr id="8" name="Text 5"/>
          <p:cNvSpPr/>
          <p:nvPr/>
        </p:nvSpPr>
        <p:spPr>
          <a:xfrm>
            <a:off x="7726680" y="1298448"/>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O que é.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Os setores agrupados em faixas de valor do indicador; a altura de cada barra é quantos setores caem naquela faixa.</a:t>
            </a:r>
            <a:endParaRPr lang="en-US" sz="1150" dirty="0"/>
          </a:p>
        </p:txBody>
      </p:sp>
      <p:sp>
        <p:nvSpPr>
          <p:cNvPr id="9" name="Text 6"/>
          <p:cNvSpPr/>
          <p:nvPr/>
        </p:nvSpPr>
        <p:spPr>
          <a:xfrm>
            <a:off x="7726680" y="1977771"/>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Para que serve.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Mostra a forma da distribuição: onde está a maioria dos setores e se há cauda longa.</a:t>
            </a:r>
            <a:endParaRPr lang="en-US" sz="1150" dirty="0"/>
          </a:p>
        </p:txBody>
      </p:sp>
      <p:sp>
        <p:nvSpPr>
          <p:cNvPr id="10" name="Text 7"/>
          <p:cNvSpPr/>
          <p:nvPr/>
        </p:nvSpPr>
        <p:spPr>
          <a:xfrm>
            <a:off x="7726680" y="2467229"/>
            <a:ext cx="3685032" cy="79603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Como ler.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Barra alta à esquerda e cauda à direita: muitos setores com valor baixo e poucos com valor alto. A linha vermelha é a média; a tracejada, a mediana — quanto mais afastadas, mais assimétrica.</a:t>
            </a:r>
            <a:endParaRPr lang="en-US" sz="1150" dirty="0"/>
          </a:p>
        </p:txBody>
      </p:sp>
      <p:sp>
        <p:nvSpPr>
          <p:cNvPr id="11" name="Text 8"/>
          <p:cNvSpPr/>
          <p:nvPr/>
        </p:nvSpPr>
        <p:spPr>
          <a:xfrm>
            <a:off x="7726680" y="3336417"/>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8C2F27"/>
                </a:solidFill>
                <a:latin typeface="Cambria" pitchFamily="34" charset="0"/>
                <a:ea typeface="Cambria" pitchFamily="34" charset="-122"/>
                <a:cs typeface="Cambria" pitchFamily="34" charset="-120"/>
              </a:rPr>
              <a:t>O que mostra.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A média (0,173) e a mediana (0,172) estão próximas: assimetria de 0,11.</a:t>
            </a:r>
            <a:endParaRPr lang="en-US" sz="1150" dirty="0"/>
          </a:p>
        </p:txBody>
      </p:sp>
      <p:sp>
        <p:nvSpPr>
          <p:cNvPr id="12" name="Text 9"/>
          <p:cNvSpPr/>
          <p:nvPr/>
        </p:nvSpPr>
        <p:spPr>
          <a:xfrm>
            <a:off x="9948672" y="146304"/>
            <a:ext cx="1463040" cy="274320"/>
          </a:xfrm>
          <a:prstGeom prst="rect">
            <a:avLst/>
          </a:prstGeom>
          <a:noFill/>
          <a:ln/>
        </p:spPr>
        <p:txBody>
          <a:bodyPr wrap="square" lIns="0" tIns="0" rIns="0" bIns="0" rtlCol="0" anchor="ctr"/>
          <a:lstStyle/>
          <a:p>
            <a:pPr algn="r" indent="0" marL="0">
              <a:buNone/>
            </a:pPr>
            <a:r>
              <a:rPr lang="en-US" sz="1100" b="1" dirty="0">
                <a:solidFill>
                  <a:srgbClr val="8C2F27"/>
                </a:solidFill>
                <a:latin typeface="Cambria" pitchFamily="34" charset="0"/>
                <a:ea typeface="Cambria" pitchFamily="34" charset="-122"/>
                <a:cs typeface="Cambria" pitchFamily="34" charset="-120"/>
              </a:rPr>
              <a:t>CRI-09</a:t>
            </a:r>
            <a:endParaRPr lang="en-US" sz="1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10</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600" b="1" dirty="0">
                <a:solidFill>
                  <a:srgbClr val="1A1A18"/>
                </a:solidFill>
                <a:latin typeface="Cambria" pitchFamily="34" charset="0"/>
                <a:ea typeface="Cambria" pitchFamily="34" charset="-122"/>
                <a:cs typeface="Cambria" pitchFamily="34" charset="-120"/>
              </a:rPr>
              <a:t>O boxplot</a:t>
            </a:r>
            <a:endParaRPr lang="en-US" sz="2600" dirty="0"/>
          </a:p>
        </p:txBody>
      </p:sp>
      <p:sp>
        <p:nvSpPr>
          <p:cNvPr id="4" name="Shape 2"/>
          <p:cNvSpPr/>
          <p:nvPr/>
        </p:nvSpPr>
        <p:spPr>
          <a:xfrm>
            <a:off x="777240" y="1024128"/>
            <a:ext cx="10634472" cy="0"/>
          </a:xfrm>
          <a:prstGeom prst="line">
            <a:avLst/>
          </a:prstGeom>
          <a:noFill/>
          <a:ln w="12700">
            <a:solidFill>
              <a:srgbClr val="1A1A18"/>
            </a:solidFill>
            <a:prstDash val="solid"/>
          </a:ln>
        </p:spPr>
      </p:sp>
      <p:pic>
        <p:nvPicPr>
          <p:cNvPr id="5" name="Image 0" descr="/Users/pedro/Documents/Iniciacao Cientifica/Projeto_IVS_Censo22/apresentacoes_multiversao/figuras/CRI_boxplot.png">    </p:cNvPr>
          <p:cNvPicPr>
            <a:picLocks noChangeAspect="1"/>
          </p:cNvPicPr>
          <p:nvPr/>
        </p:nvPicPr>
        <p:blipFill>
          <a:blip r:embed="rId1"/>
          <a:stretch>
            <a:fillRect/>
          </a:stretch>
        </p:blipFill>
        <p:spPr>
          <a:xfrm>
            <a:off x="777240" y="1298448"/>
            <a:ext cx="6675120" cy="3172029"/>
          </a:xfrm>
          <a:prstGeom prst="rect">
            <a:avLst/>
          </a:prstGeom>
        </p:spPr>
      </p:pic>
      <p:sp>
        <p:nvSpPr>
          <p:cNvPr id="6" name="Text 3"/>
          <p:cNvSpPr/>
          <p:nvPr/>
        </p:nvSpPr>
        <p:spPr>
          <a:xfrm>
            <a:off x="777240" y="4525341"/>
            <a:ext cx="6675120" cy="310896"/>
          </a:xfrm>
          <a:prstGeom prst="rect">
            <a:avLst/>
          </a:prstGeom>
          <a:noFill/>
          <a:ln/>
        </p:spPr>
        <p:txBody>
          <a:bodyPr wrap="square" lIns="0" tIns="0" rIns="0" bIns="0" rtlCol="0" anchor="t"/>
          <a:lstStyle/>
          <a:p>
            <a:pPr indent="0" marL="0">
              <a:buNone/>
            </a:pPr>
            <a:r>
              <a:rPr lang="en-US" sz="1050" b="1" dirty="0">
                <a:solidFill>
                  <a:srgbClr val="56534C"/>
                </a:solidFill>
                <a:latin typeface="Cambria" pitchFamily="34" charset="0"/>
                <a:ea typeface="Cambria" pitchFamily="34" charset="-122"/>
                <a:cs typeface="Cambria" pitchFamily="34" charset="-120"/>
              </a:rPr>
              <a:t>Figura 3 — </a:t>
            </a:r>
            <a:pPr indent="0" marL="0">
              <a:buNone/>
            </a:pPr>
            <a:r>
              <a:rPr lang="en-US" sz="1050" dirty="0">
                <a:solidFill>
                  <a:srgbClr val="56534C"/>
                </a:solidFill>
                <a:latin typeface="Cambria" pitchFamily="34" charset="0"/>
                <a:ea typeface="Cambria" pitchFamily="34" charset="-122"/>
                <a:cs typeface="Cambria" pitchFamily="34" charset="-120"/>
              </a:rPr>
              <a:t>Crianças (0 a 14 anos): boxplot de todos os setores, com os valores extremos.</a:t>
            </a:r>
            <a:endParaRPr lang="en-US" sz="1050" dirty="0"/>
          </a:p>
        </p:txBody>
      </p:sp>
      <p:sp>
        <p:nvSpPr>
          <p:cNvPr id="7" name="Shape 4"/>
          <p:cNvSpPr/>
          <p:nvPr/>
        </p:nvSpPr>
        <p:spPr>
          <a:xfrm>
            <a:off x="7589520" y="1298448"/>
            <a:ext cx="0" cy="4828032"/>
          </a:xfrm>
          <a:prstGeom prst="line">
            <a:avLst/>
          </a:prstGeom>
          <a:noFill/>
          <a:ln w="9525">
            <a:solidFill>
              <a:srgbClr val="C8C6C0"/>
            </a:solidFill>
            <a:prstDash val="solid"/>
          </a:ln>
        </p:spPr>
      </p:sp>
      <p:sp>
        <p:nvSpPr>
          <p:cNvPr id="8" name="Text 5"/>
          <p:cNvSpPr/>
          <p:nvPr/>
        </p:nvSpPr>
        <p:spPr>
          <a:xfrm>
            <a:off x="7726680" y="1298448"/>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O que é.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Um resumo da distribuição numa figura: caixa, mediana, bigodes e pontos extremos.</a:t>
            </a:r>
            <a:endParaRPr lang="en-US" sz="1150" dirty="0"/>
          </a:p>
        </p:txBody>
      </p:sp>
      <p:sp>
        <p:nvSpPr>
          <p:cNvPr id="9" name="Text 6"/>
          <p:cNvSpPr/>
          <p:nvPr/>
        </p:nvSpPr>
        <p:spPr>
          <a:xfrm>
            <a:off x="7726680" y="1787906"/>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Para que serve.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Mostra de uma vez onde está a metade central dos setores e quantos fogem do padrão.</a:t>
            </a:r>
            <a:endParaRPr lang="en-US" sz="1150" dirty="0"/>
          </a:p>
        </p:txBody>
      </p:sp>
      <p:sp>
        <p:nvSpPr>
          <p:cNvPr id="10" name="Text 7"/>
          <p:cNvSpPr/>
          <p:nvPr/>
        </p:nvSpPr>
        <p:spPr>
          <a:xfrm>
            <a:off x="7726680" y="2277364"/>
            <a:ext cx="3685032" cy="79603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Como ler.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A caixa vai do percentil 25 ao 75; a linha vermelha é a mediana; os bigodes vão até 1,5 vez a altura da caixa; cada ponto além deles é um setor extremo.</a:t>
            </a:r>
            <a:endParaRPr lang="en-US" sz="1150" dirty="0"/>
          </a:p>
        </p:txBody>
      </p:sp>
      <p:sp>
        <p:nvSpPr>
          <p:cNvPr id="11" name="Text 8"/>
          <p:cNvSpPr/>
          <p:nvPr/>
        </p:nvSpPr>
        <p:spPr>
          <a:xfrm>
            <a:off x="7726680" y="3146552"/>
            <a:ext cx="3685032" cy="226441"/>
          </a:xfrm>
          <a:prstGeom prst="rect">
            <a:avLst/>
          </a:prstGeom>
          <a:noFill/>
          <a:ln/>
        </p:spPr>
        <p:txBody>
          <a:bodyPr wrap="square" lIns="0" tIns="0" rIns="0" bIns="0" rtlCol="0" anchor="t"/>
          <a:lstStyle/>
          <a:p>
            <a:pPr indent="0" marL="0">
              <a:lnSpc>
                <a:spcPts val="1495"/>
              </a:lnSpc>
              <a:buNone/>
            </a:pPr>
            <a:r>
              <a:rPr lang="en-US" sz="1150" b="1" dirty="0">
                <a:solidFill>
                  <a:srgbClr val="8C2F27"/>
                </a:solidFill>
                <a:latin typeface="Cambria" pitchFamily="34" charset="0"/>
                <a:ea typeface="Cambria" pitchFamily="34" charset="-122"/>
                <a:cs typeface="Cambria" pitchFamily="34" charset="-120"/>
              </a:rPr>
              <a:t>O que mostra.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817 setores ficam além do bigode direito.</a:t>
            </a:r>
            <a:endParaRPr lang="en-US" sz="1150" dirty="0"/>
          </a:p>
        </p:txBody>
      </p:sp>
      <p:sp>
        <p:nvSpPr>
          <p:cNvPr id="12" name="Text 9"/>
          <p:cNvSpPr/>
          <p:nvPr/>
        </p:nvSpPr>
        <p:spPr>
          <a:xfrm>
            <a:off x="9948672" y="146304"/>
            <a:ext cx="1463040" cy="274320"/>
          </a:xfrm>
          <a:prstGeom prst="rect">
            <a:avLst/>
          </a:prstGeom>
          <a:noFill/>
          <a:ln/>
        </p:spPr>
        <p:txBody>
          <a:bodyPr wrap="square" lIns="0" tIns="0" rIns="0" bIns="0" rtlCol="0" anchor="ctr"/>
          <a:lstStyle/>
          <a:p>
            <a:pPr algn="r" indent="0" marL="0">
              <a:buNone/>
            </a:pPr>
            <a:r>
              <a:rPr lang="en-US" sz="1100" b="1" dirty="0">
                <a:solidFill>
                  <a:srgbClr val="8C2F27"/>
                </a:solidFill>
                <a:latin typeface="Cambria" pitchFamily="34" charset="0"/>
                <a:ea typeface="Cambria" pitchFamily="34" charset="-122"/>
                <a:cs typeface="Cambria" pitchFamily="34" charset="-120"/>
              </a:rPr>
              <a:t>CRI-10</a:t>
            </a:r>
            <a:endParaRPr lang="en-US" sz="11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11</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600" b="1" dirty="0">
                <a:solidFill>
                  <a:srgbClr val="1A1A18"/>
                </a:solidFill>
                <a:latin typeface="Cambria" pitchFamily="34" charset="0"/>
                <a:ea typeface="Cambria" pitchFamily="34" charset="-122"/>
                <a:cs typeface="Cambria" pitchFamily="34" charset="-120"/>
              </a:rPr>
              <a:t>A distribuição acumulada</a:t>
            </a:r>
            <a:endParaRPr lang="en-US" sz="2600" dirty="0"/>
          </a:p>
        </p:txBody>
      </p:sp>
      <p:sp>
        <p:nvSpPr>
          <p:cNvPr id="4" name="Shape 2"/>
          <p:cNvSpPr/>
          <p:nvPr/>
        </p:nvSpPr>
        <p:spPr>
          <a:xfrm>
            <a:off x="777240" y="1024128"/>
            <a:ext cx="10634472" cy="0"/>
          </a:xfrm>
          <a:prstGeom prst="line">
            <a:avLst/>
          </a:prstGeom>
          <a:noFill/>
          <a:ln w="12700">
            <a:solidFill>
              <a:srgbClr val="1A1A18"/>
            </a:solidFill>
            <a:prstDash val="solid"/>
          </a:ln>
        </p:spPr>
      </p:sp>
      <p:pic>
        <p:nvPicPr>
          <p:cNvPr id="5" name="Image 0" descr="/Users/pedro/Documents/Iniciacao Cientifica/Projeto_IVS_Censo22/apresentacoes_multiversao/figuras/CRI_acumulada.png">    </p:cNvPr>
          <p:cNvPicPr>
            <a:picLocks noChangeAspect="1"/>
          </p:cNvPicPr>
          <p:nvPr/>
        </p:nvPicPr>
        <p:blipFill>
          <a:blip r:embed="rId1"/>
          <a:stretch>
            <a:fillRect/>
          </a:stretch>
        </p:blipFill>
        <p:spPr>
          <a:xfrm>
            <a:off x="777240" y="1298448"/>
            <a:ext cx="6675120" cy="4093503"/>
          </a:xfrm>
          <a:prstGeom prst="rect">
            <a:avLst/>
          </a:prstGeom>
        </p:spPr>
      </p:pic>
      <p:sp>
        <p:nvSpPr>
          <p:cNvPr id="6" name="Text 3"/>
          <p:cNvSpPr/>
          <p:nvPr/>
        </p:nvSpPr>
        <p:spPr>
          <a:xfrm>
            <a:off x="777240" y="5446815"/>
            <a:ext cx="6675120" cy="310896"/>
          </a:xfrm>
          <a:prstGeom prst="rect">
            <a:avLst/>
          </a:prstGeom>
          <a:noFill/>
          <a:ln/>
        </p:spPr>
        <p:txBody>
          <a:bodyPr wrap="square" lIns="0" tIns="0" rIns="0" bIns="0" rtlCol="0" anchor="t"/>
          <a:lstStyle/>
          <a:p>
            <a:pPr indent="0" marL="0">
              <a:buNone/>
            </a:pPr>
            <a:r>
              <a:rPr lang="en-US" sz="1050" b="1" dirty="0">
                <a:solidFill>
                  <a:srgbClr val="56534C"/>
                </a:solidFill>
                <a:latin typeface="Cambria" pitchFamily="34" charset="0"/>
                <a:ea typeface="Cambria" pitchFamily="34" charset="-122"/>
                <a:cs typeface="Cambria" pitchFamily="34" charset="-120"/>
              </a:rPr>
              <a:t>Figura 4 — </a:t>
            </a:r>
            <a:pPr indent="0" marL="0">
              <a:buNone/>
            </a:pPr>
            <a:r>
              <a:rPr lang="en-US" sz="1050" dirty="0">
                <a:solidFill>
                  <a:srgbClr val="56534C"/>
                </a:solidFill>
                <a:latin typeface="Cambria" pitchFamily="34" charset="0"/>
                <a:ea typeface="Cambria" pitchFamily="34" charset="-122"/>
                <a:cs typeface="Cambria" pitchFamily="34" charset="-120"/>
              </a:rPr>
              <a:t>Crianças (0 a 14 anos): proporção de setores com valor até cada ponto do eixo horizontal.</a:t>
            </a:r>
            <a:endParaRPr lang="en-US" sz="1050" dirty="0"/>
          </a:p>
        </p:txBody>
      </p:sp>
      <p:sp>
        <p:nvSpPr>
          <p:cNvPr id="7" name="Shape 4"/>
          <p:cNvSpPr/>
          <p:nvPr/>
        </p:nvSpPr>
        <p:spPr>
          <a:xfrm>
            <a:off x="7589520" y="1298448"/>
            <a:ext cx="0" cy="4828032"/>
          </a:xfrm>
          <a:prstGeom prst="line">
            <a:avLst/>
          </a:prstGeom>
          <a:noFill/>
          <a:ln w="9525">
            <a:solidFill>
              <a:srgbClr val="C8C6C0"/>
            </a:solidFill>
            <a:prstDash val="solid"/>
          </a:ln>
        </p:spPr>
      </p:sp>
      <p:sp>
        <p:nvSpPr>
          <p:cNvPr id="8" name="Text 5"/>
          <p:cNvSpPr/>
          <p:nvPr/>
        </p:nvSpPr>
        <p:spPr>
          <a:xfrm>
            <a:off x="7726680" y="1298448"/>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O que é.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Para cada valor no eixo horizontal, a curva dá a proporção de setores com valor igual ou menor.</a:t>
            </a:r>
            <a:endParaRPr lang="en-US" sz="1150" dirty="0"/>
          </a:p>
        </p:txBody>
      </p:sp>
      <p:sp>
        <p:nvSpPr>
          <p:cNvPr id="9" name="Text 6"/>
          <p:cNvSpPr/>
          <p:nvPr/>
        </p:nvSpPr>
        <p:spPr>
          <a:xfrm>
            <a:off x="7726680" y="1787906"/>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Para que serve.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Lê qualquer percentil direto no gráfico, sem depender das faixas do histograma.</a:t>
            </a:r>
            <a:endParaRPr lang="en-US" sz="1150" dirty="0"/>
          </a:p>
        </p:txBody>
      </p:sp>
      <p:sp>
        <p:nvSpPr>
          <p:cNvPr id="10" name="Text 7"/>
          <p:cNvSpPr/>
          <p:nvPr/>
        </p:nvSpPr>
        <p:spPr>
          <a:xfrm>
            <a:off x="7726680" y="2277364"/>
            <a:ext cx="3685032" cy="79603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Como ler.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Escolha uma altura (as linhas pontilhadas marcam 25%, 50% e 75%) e desça até o eixo: é o valor daquele percentil. Uma subida vertical no começo indica muitos setores com o mesmo valor (por exemplo, zero).</a:t>
            </a:r>
            <a:endParaRPr lang="en-US" sz="1150" dirty="0"/>
          </a:p>
        </p:txBody>
      </p:sp>
      <p:sp>
        <p:nvSpPr>
          <p:cNvPr id="11" name="Text 8"/>
          <p:cNvSpPr/>
          <p:nvPr/>
        </p:nvSpPr>
        <p:spPr>
          <a:xfrm>
            <a:off x="7726680" y="3146552"/>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8C2F27"/>
                </a:solidFill>
                <a:latin typeface="Cambria" pitchFamily="34" charset="0"/>
                <a:ea typeface="Cambria" pitchFamily="34" charset="-122"/>
                <a:cs typeface="Cambria" pitchFamily="34" charset="-120"/>
              </a:rPr>
              <a:t>O que mostra.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Metade dos setores tem até 0,172; três quartos, até 0,210.</a:t>
            </a:r>
            <a:endParaRPr lang="en-US" sz="1150" dirty="0"/>
          </a:p>
        </p:txBody>
      </p:sp>
      <p:sp>
        <p:nvSpPr>
          <p:cNvPr id="12" name="Text 9"/>
          <p:cNvSpPr/>
          <p:nvPr/>
        </p:nvSpPr>
        <p:spPr>
          <a:xfrm>
            <a:off x="9948672" y="146304"/>
            <a:ext cx="1463040" cy="274320"/>
          </a:xfrm>
          <a:prstGeom prst="rect">
            <a:avLst/>
          </a:prstGeom>
          <a:noFill/>
          <a:ln/>
        </p:spPr>
        <p:txBody>
          <a:bodyPr wrap="square" lIns="0" tIns="0" rIns="0" bIns="0" rtlCol="0" anchor="ctr"/>
          <a:lstStyle/>
          <a:p>
            <a:pPr algn="r" indent="0" marL="0">
              <a:buNone/>
            </a:pPr>
            <a:r>
              <a:rPr lang="en-US" sz="1100" b="1" dirty="0">
                <a:solidFill>
                  <a:srgbClr val="8C2F27"/>
                </a:solidFill>
                <a:latin typeface="Cambria" pitchFamily="34" charset="0"/>
                <a:ea typeface="Cambria" pitchFamily="34" charset="-122"/>
                <a:cs typeface="Cambria" pitchFamily="34" charset="-120"/>
              </a:rPr>
              <a:t>CRI-11</a:t>
            </a:r>
            <a:endParaRPr lang="en-US" sz="11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12</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600" b="1" dirty="0">
                <a:solidFill>
                  <a:srgbClr val="1A1A18"/>
                </a:solidFill>
                <a:latin typeface="Cambria" pitchFamily="34" charset="0"/>
                <a:ea typeface="Cambria" pitchFamily="34" charset="-122"/>
                <a:cs typeface="Cambria" pitchFamily="34" charset="-120"/>
              </a:rPr>
              <a:t>A régua dos percentis</a:t>
            </a:r>
            <a:endParaRPr lang="en-US" sz="2600" dirty="0"/>
          </a:p>
        </p:txBody>
      </p:sp>
      <p:sp>
        <p:nvSpPr>
          <p:cNvPr id="4" name="Shape 2"/>
          <p:cNvSpPr/>
          <p:nvPr/>
        </p:nvSpPr>
        <p:spPr>
          <a:xfrm>
            <a:off x="777240" y="1024128"/>
            <a:ext cx="10634472" cy="0"/>
          </a:xfrm>
          <a:prstGeom prst="line">
            <a:avLst/>
          </a:prstGeom>
          <a:noFill/>
          <a:ln w="12700">
            <a:solidFill>
              <a:srgbClr val="1A1A18"/>
            </a:solidFill>
            <a:prstDash val="solid"/>
          </a:ln>
        </p:spPr>
      </p:sp>
      <p:pic>
        <p:nvPicPr>
          <p:cNvPr id="5" name="Image 0" descr="/Users/pedro/Documents/Iniciacao Cientifica/Projeto_IVS_Censo22/apresentacoes_multiversao/figuras/CRI_percentis.png">    </p:cNvPr>
          <p:cNvPicPr>
            <a:picLocks noChangeAspect="1"/>
          </p:cNvPicPr>
          <p:nvPr/>
        </p:nvPicPr>
        <p:blipFill>
          <a:blip r:embed="rId1"/>
          <a:stretch>
            <a:fillRect/>
          </a:stretch>
        </p:blipFill>
        <p:spPr>
          <a:xfrm>
            <a:off x="777240" y="1298448"/>
            <a:ext cx="6675120" cy="4038906"/>
          </a:xfrm>
          <a:prstGeom prst="rect">
            <a:avLst/>
          </a:prstGeom>
        </p:spPr>
      </p:pic>
      <p:sp>
        <p:nvSpPr>
          <p:cNvPr id="6" name="Text 3"/>
          <p:cNvSpPr/>
          <p:nvPr/>
        </p:nvSpPr>
        <p:spPr>
          <a:xfrm>
            <a:off x="777240" y="5392218"/>
            <a:ext cx="6675120" cy="310896"/>
          </a:xfrm>
          <a:prstGeom prst="rect">
            <a:avLst/>
          </a:prstGeom>
          <a:noFill/>
          <a:ln/>
        </p:spPr>
        <p:txBody>
          <a:bodyPr wrap="square" lIns="0" tIns="0" rIns="0" bIns="0" rtlCol="0" anchor="t"/>
          <a:lstStyle/>
          <a:p>
            <a:pPr indent="0" marL="0">
              <a:buNone/>
            </a:pPr>
            <a:r>
              <a:rPr lang="en-US" sz="1050" b="1" dirty="0">
                <a:solidFill>
                  <a:srgbClr val="56534C"/>
                </a:solidFill>
                <a:latin typeface="Cambria" pitchFamily="34" charset="0"/>
                <a:ea typeface="Cambria" pitchFamily="34" charset="-122"/>
                <a:cs typeface="Cambria" pitchFamily="34" charset="-120"/>
              </a:rPr>
              <a:t>Figura 5 — </a:t>
            </a:r>
            <a:pPr indent="0" marL="0">
              <a:buNone/>
            </a:pPr>
            <a:r>
              <a:rPr lang="en-US" sz="1050" dirty="0">
                <a:solidFill>
                  <a:srgbClr val="56534C"/>
                </a:solidFill>
                <a:latin typeface="Cambria" pitchFamily="34" charset="0"/>
                <a:ea typeface="Cambria" pitchFamily="34" charset="-122"/>
                <a:cs typeface="Cambria" pitchFamily="34" charset="-120"/>
              </a:rPr>
              <a:t>Crianças (0 a 14 anos): valor nos percentis 10, 25, 50, 75, 90 e 99, e a média.</a:t>
            </a:r>
            <a:endParaRPr lang="en-US" sz="1050" dirty="0"/>
          </a:p>
        </p:txBody>
      </p:sp>
      <p:sp>
        <p:nvSpPr>
          <p:cNvPr id="7" name="Shape 4"/>
          <p:cNvSpPr/>
          <p:nvPr/>
        </p:nvSpPr>
        <p:spPr>
          <a:xfrm>
            <a:off x="7589520" y="1298448"/>
            <a:ext cx="0" cy="4828032"/>
          </a:xfrm>
          <a:prstGeom prst="line">
            <a:avLst/>
          </a:prstGeom>
          <a:noFill/>
          <a:ln w="9525">
            <a:solidFill>
              <a:srgbClr val="C8C6C0"/>
            </a:solidFill>
            <a:prstDash val="solid"/>
          </a:ln>
        </p:spPr>
      </p:sp>
      <p:sp>
        <p:nvSpPr>
          <p:cNvPr id="8" name="Text 5"/>
          <p:cNvSpPr/>
          <p:nvPr/>
        </p:nvSpPr>
        <p:spPr>
          <a:xfrm>
            <a:off x="7726680" y="1298448"/>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O que é.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O valor do indicador em seis pontos da distribuição: do setor no percentil 10 ao do percentil 99.</a:t>
            </a:r>
            <a:endParaRPr lang="en-US" sz="1150" dirty="0"/>
          </a:p>
        </p:txBody>
      </p:sp>
      <p:sp>
        <p:nvSpPr>
          <p:cNvPr id="9" name="Text 6"/>
          <p:cNvSpPr/>
          <p:nvPr/>
        </p:nvSpPr>
        <p:spPr>
          <a:xfrm>
            <a:off x="7726680" y="1977771"/>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Para que serve.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Mostra quanto o indicador cresce do setor típico para os mais altos — onde está a desigualdade.</a:t>
            </a:r>
            <a:endParaRPr lang="en-US" sz="1150" dirty="0"/>
          </a:p>
        </p:txBody>
      </p:sp>
      <p:sp>
        <p:nvSpPr>
          <p:cNvPr id="10" name="Text 7"/>
          <p:cNvSpPr/>
          <p:nvPr/>
        </p:nvSpPr>
        <p:spPr>
          <a:xfrm>
            <a:off x="7726680" y="2657094"/>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Como ler.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Barras que sobem devagar e explodem no fim (p90, p99): o problema se concentra em poucos setores. A linha vermelha é a média.</a:t>
            </a:r>
            <a:endParaRPr lang="en-US" sz="1150" dirty="0"/>
          </a:p>
        </p:txBody>
      </p:sp>
      <p:sp>
        <p:nvSpPr>
          <p:cNvPr id="11" name="Text 8"/>
          <p:cNvSpPr/>
          <p:nvPr/>
        </p:nvSpPr>
        <p:spPr>
          <a:xfrm>
            <a:off x="7726680" y="3336417"/>
            <a:ext cx="3685032" cy="226441"/>
          </a:xfrm>
          <a:prstGeom prst="rect">
            <a:avLst/>
          </a:prstGeom>
          <a:noFill/>
          <a:ln/>
        </p:spPr>
        <p:txBody>
          <a:bodyPr wrap="square" lIns="0" tIns="0" rIns="0" bIns="0" rtlCol="0" anchor="t"/>
          <a:lstStyle/>
          <a:p>
            <a:pPr indent="0" marL="0">
              <a:lnSpc>
                <a:spcPts val="1495"/>
              </a:lnSpc>
              <a:buNone/>
            </a:pPr>
            <a:r>
              <a:rPr lang="en-US" sz="1150" b="1" dirty="0">
                <a:solidFill>
                  <a:srgbClr val="8C2F27"/>
                </a:solidFill>
                <a:latin typeface="Cambria" pitchFamily="34" charset="0"/>
                <a:ea typeface="Cambria" pitchFamily="34" charset="-122"/>
                <a:cs typeface="Cambria" pitchFamily="34" charset="-120"/>
              </a:rPr>
              <a:t>O que mostra.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Do percentil 50 (0,172) ao 99 (0,316).</a:t>
            </a:r>
            <a:endParaRPr lang="en-US" sz="1150" dirty="0"/>
          </a:p>
        </p:txBody>
      </p:sp>
      <p:sp>
        <p:nvSpPr>
          <p:cNvPr id="12" name="Text 9"/>
          <p:cNvSpPr/>
          <p:nvPr/>
        </p:nvSpPr>
        <p:spPr>
          <a:xfrm>
            <a:off x="9948672" y="146304"/>
            <a:ext cx="1463040" cy="274320"/>
          </a:xfrm>
          <a:prstGeom prst="rect">
            <a:avLst/>
          </a:prstGeom>
          <a:noFill/>
          <a:ln/>
        </p:spPr>
        <p:txBody>
          <a:bodyPr wrap="square" lIns="0" tIns="0" rIns="0" bIns="0" rtlCol="0" anchor="ctr"/>
          <a:lstStyle/>
          <a:p>
            <a:pPr algn="r" indent="0" marL="0">
              <a:buNone/>
            </a:pPr>
            <a:r>
              <a:rPr lang="en-US" sz="1100" b="1" dirty="0">
                <a:solidFill>
                  <a:srgbClr val="8C2F27"/>
                </a:solidFill>
                <a:latin typeface="Cambria" pitchFamily="34" charset="0"/>
                <a:ea typeface="Cambria" pitchFamily="34" charset="-122"/>
                <a:cs typeface="Cambria" pitchFamily="34" charset="-120"/>
              </a:rPr>
              <a:t>CRI-12</a:t>
            </a:r>
            <a:endParaRPr lang="en-US" sz="11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13</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600" b="1" dirty="0">
                <a:solidFill>
                  <a:srgbClr val="1A1A18"/>
                </a:solidFill>
                <a:latin typeface="Cambria" pitchFamily="34" charset="0"/>
                <a:ea typeface="Cambria" pitchFamily="34" charset="-122"/>
                <a:cs typeface="Cambria" pitchFamily="34" charset="-120"/>
              </a:rPr>
              <a:t>Por região: a tabela</a:t>
            </a:r>
            <a:endParaRPr lang="en-US" sz="2600" dirty="0"/>
          </a:p>
        </p:txBody>
      </p:sp>
      <p:sp>
        <p:nvSpPr>
          <p:cNvPr id="4" name="Shape 2"/>
          <p:cNvSpPr/>
          <p:nvPr/>
        </p:nvSpPr>
        <p:spPr>
          <a:xfrm>
            <a:off x="777240" y="1024128"/>
            <a:ext cx="10634472" cy="0"/>
          </a:xfrm>
          <a:prstGeom prst="line">
            <a:avLst/>
          </a:prstGeom>
          <a:noFill/>
          <a:ln w="12700">
            <a:solidFill>
              <a:srgbClr val="1A1A18"/>
            </a:solidFill>
            <a:prstDash val="solid"/>
          </a:ln>
        </p:spPr>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777240" y="1298448"/>
          <a:ext cx="6675120" cy="914400"/>
        </p:xfrm>
        <a:graphic>
          <a:graphicData uri="http://schemas.openxmlformats.org/drawingml/2006/table">
            <a:tbl>
              <a:tblPr/>
              <a:tblGrid>
                <a:gridCol w="1371600"/>
                <a:gridCol w="1005840"/>
                <a:gridCol w="1188720"/>
                <a:gridCol w="1188720"/>
                <a:gridCol w="1097280"/>
                <a:gridCol w="822960"/>
              </a:tblGrid>
              <a:tr h="246888">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Grupo</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Setores</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Média</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Mediana</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p75</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 zeros</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r>
              <a:tr h="254127">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Norte</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5.913</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0,210</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0,206</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0,248</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0,08%</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54127">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Nordeste</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19.467</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0,183</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0,183</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0,218</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0,3%</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54127">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Sudeste</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61.806</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0,165</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0,164</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0,203</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0,6%</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54127">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Sul</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7.194</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0,159</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0,158</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0,197</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0,5%</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54127">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Centro-Oeste</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9.470</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0,186</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0,185</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0,219</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0,3%</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r>
            </a:tbl>
          </a:graphicData>
        </a:graphic>
      </p:graphicFrame>
      <p:sp>
        <p:nvSpPr>
          <p:cNvPr id="6" name="Shape 3"/>
          <p:cNvSpPr/>
          <p:nvPr/>
        </p:nvSpPr>
        <p:spPr>
          <a:xfrm>
            <a:off x="7589520" y="1298448"/>
            <a:ext cx="0" cy="4828032"/>
          </a:xfrm>
          <a:prstGeom prst="line">
            <a:avLst/>
          </a:prstGeom>
          <a:noFill/>
          <a:ln w="9525">
            <a:solidFill>
              <a:srgbClr val="C8C6C0"/>
            </a:solidFill>
            <a:prstDash val="solid"/>
          </a:ln>
        </p:spPr>
      </p:sp>
      <p:sp>
        <p:nvSpPr>
          <p:cNvPr id="7" name="Text 4"/>
          <p:cNvSpPr/>
          <p:nvPr/>
        </p:nvSpPr>
        <p:spPr>
          <a:xfrm>
            <a:off x="7726680" y="1298448"/>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O que é.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As estatísticas do indicador separadas pelas cinco grandes regiões.</a:t>
            </a:r>
            <a:endParaRPr lang="en-US" sz="1150" dirty="0"/>
          </a:p>
        </p:txBody>
      </p:sp>
      <p:sp>
        <p:nvSpPr>
          <p:cNvPr id="8" name="Text 5"/>
          <p:cNvSpPr/>
          <p:nvPr/>
        </p:nvSpPr>
        <p:spPr>
          <a:xfrm>
            <a:off x="7726680" y="1787906"/>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Para que serve.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Mostra se o indicador tem padrão regional, o que pesa na escolha da régua (dentro de cada município ou no conjunto).</a:t>
            </a:r>
            <a:endParaRPr lang="en-US" sz="1150" dirty="0"/>
          </a:p>
        </p:txBody>
      </p:sp>
      <p:sp>
        <p:nvSpPr>
          <p:cNvPr id="9" name="Text 6"/>
          <p:cNvSpPr/>
          <p:nvPr/>
        </p:nvSpPr>
        <p:spPr>
          <a:xfrm>
            <a:off x="7726680" y="2467229"/>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Como ler.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Compare média e mediana entre as linhas; "% zeros" é a parte dos setores sem nenhum domicílio ou pessoa na condição.</a:t>
            </a:r>
            <a:endParaRPr lang="en-US" sz="1150" dirty="0"/>
          </a:p>
        </p:txBody>
      </p:sp>
      <p:sp>
        <p:nvSpPr>
          <p:cNvPr id="10" name="Text 7"/>
          <p:cNvSpPr/>
          <p:nvPr/>
        </p:nvSpPr>
        <p:spPr>
          <a:xfrm>
            <a:off x="7726680" y="3146552"/>
            <a:ext cx="3685032" cy="796036"/>
          </a:xfrm>
          <a:prstGeom prst="rect">
            <a:avLst/>
          </a:prstGeom>
          <a:noFill/>
          <a:ln/>
        </p:spPr>
        <p:txBody>
          <a:bodyPr wrap="square" lIns="0" tIns="0" rIns="0" bIns="0" rtlCol="0" anchor="t"/>
          <a:lstStyle/>
          <a:p>
            <a:pPr indent="0" marL="0">
              <a:lnSpc>
                <a:spcPts val="1495"/>
              </a:lnSpc>
              <a:buNone/>
            </a:pPr>
            <a:r>
              <a:rPr lang="en-US" sz="1150" b="1" dirty="0">
                <a:solidFill>
                  <a:srgbClr val="8C2F27"/>
                </a:solidFill>
                <a:latin typeface="Cambria" pitchFamily="34" charset="0"/>
                <a:ea typeface="Cambria" pitchFamily="34" charset="-122"/>
                <a:cs typeface="Cambria" pitchFamily="34" charset="-120"/>
              </a:rPr>
              <a:t>O que mostra.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A maior média é a do Norte (0,210); a menor, a do Sul (0,159). O Norte tem só 6 municípios: os contrastes descrevem os municípios estudados, não a região inteira.</a:t>
            </a:r>
            <a:endParaRPr lang="en-US" sz="1150" dirty="0"/>
          </a:p>
        </p:txBody>
      </p:sp>
      <p:sp>
        <p:nvSpPr>
          <p:cNvPr id="11" name="Text 8"/>
          <p:cNvSpPr/>
          <p:nvPr/>
        </p:nvSpPr>
        <p:spPr>
          <a:xfrm>
            <a:off x="9948672" y="146304"/>
            <a:ext cx="1463040" cy="274320"/>
          </a:xfrm>
          <a:prstGeom prst="rect">
            <a:avLst/>
          </a:prstGeom>
          <a:noFill/>
          <a:ln/>
        </p:spPr>
        <p:txBody>
          <a:bodyPr wrap="square" lIns="0" tIns="0" rIns="0" bIns="0" rtlCol="0" anchor="ctr"/>
          <a:lstStyle/>
          <a:p>
            <a:pPr algn="r" indent="0" marL="0">
              <a:buNone/>
            </a:pPr>
            <a:r>
              <a:rPr lang="en-US" sz="1100" b="1" dirty="0">
                <a:solidFill>
                  <a:srgbClr val="8C2F27"/>
                </a:solidFill>
                <a:latin typeface="Cambria" pitchFamily="34" charset="0"/>
                <a:ea typeface="Cambria" pitchFamily="34" charset="-122"/>
                <a:cs typeface="Cambria" pitchFamily="34" charset="-120"/>
              </a:rPr>
              <a:t>CRI-13</a:t>
            </a:r>
            <a:endParaRPr lang="en-US" sz="11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14</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600" b="1" dirty="0">
                <a:solidFill>
                  <a:srgbClr val="1A1A18"/>
                </a:solidFill>
                <a:latin typeface="Cambria" pitchFamily="34" charset="0"/>
                <a:ea typeface="Cambria" pitchFamily="34" charset="-122"/>
                <a:cs typeface="Cambria" pitchFamily="34" charset="-120"/>
              </a:rPr>
              <a:t>Por região: o boxplot</a:t>
            </a:r>
            <a:endParaRPr lang="en-US" sz="2600" dirty="0"/>
          </a:p>
        </p:txBody>
      </p:sp>
      <p:sp>
        <p:nvSpPr>
          <p:cNvPr id="4" name="Shape 2"/>
          <p:cNvSpPr/>
          <p:nvPr/>
        </p:nvSpPr>
        <p:spPr>
          <a:xfrm>
            <a:off x="777240" y="1024128"/>
            <a:ext cx="10634472" cy="0"/>
          </a:xfrm>
          <a:prstGeom prst="line">
            <a:avLst/>
          </a:prstGeom>
          <a:noFill/>
          <a:ln w="12700">
            <a:solidFill>
              <a:srgbClr val="1A1A18"/>
            </a:solidFill>
            <a:prstDash val="solid"/>
          </a:ln>
        </p:spPr>
      </p:sp>
      <p:pic>
        <p:nvPicPr>
          <p:cNvPr id="5" name="Image 0" descr="/Users/pedro/Documents/Iniciacao Cientifica/Projeto_IVS_Censo22/apresentacoes_multiversao/figuras/CRI_regiao.png">    </p:cNvPr>
          <p:cNvPicPr>
            <a:picLocks noChangeAspect="1"/>
          </p:cNvPicPr>
          <p:nvPr/>
        </p:nvPicPr>
        <p:blipFill>
          <a:blip r:embed="rId1"/>
          <a:stretch>
            <a:fillRect/>
          </a:stretch>
        </p:blipFill>
        <p:spPr>
          <a:xfrm>
            <a:off x="777240" y="1298448"/>
            <a:ext cx="6675120" cy="3848591"/>
          </a:xfrm>
          <a:prstGeom prst="rect">
            <a:avLst/>
          </a:prstGeom>
        </p:spPr>
      </p:pic>
      <p:sp>
        <p:nvSpPr>
          <p:cNvPr id="6" name="Text 3"/>
          <p:cNvSpPr/>
          <p:nvPr/>
        </p:nvSpPr>
        <p:spPr>
          <a:xfrm>
            <a:off x="777240" y="5201903"/>
            <a:ext cx="6675120" cy="310896"/>
          </a:xfrm>
          <a:prstGeom prst="rect">
            <a:avLst/>
          </a:prstGeom>
          <a:noFill/>
          <a:ln/>
        </p:spPr>
        <p:txBody>
          <a:bodyPr wrap="square" lIns="0" tIns="0" rIns="0" bIns="0" rtlCol="0" anchor="t"/>
          <a:lstStyle/>
          <a:p>
            <a:pPr indent="0" marL="0">
              <a:buNone/>
            </a:pPr>
            <a:r>
              <a:rPr lang="en-US" sz="1050" b="1" dirty="0">
                <a:solidFill>
                  <a:srgbClr val="56534C"/>
                </a:solidFill>
                <a:latin typeface="Cambria" pitchFamily="34" charset="0"/>
                <a:ea typeface="Cambria" pitchFamily="34" charset="-122"/>
                <a:cs typeface="Cambria" pitchFamily="34" charset="-120"/>
              </a:rPr>
              <a:t>Figura 6 — </a:t>
            </a:r>
            <a:pPr indent="0" marL="0">
              <a:buNone/>
            </a:pPr>
            <a:r>
              <a:rPr lang="en-US" sz="1050" dirty="0">
                <a:solidFill>
                  <a:srgbClr val="56534C"/>
                </a:solidFill>
                <a:latin typeface="Cambria" pitchFamily="34" charset="0"/>
                <a:ea typeface="Cambria" pitchFamily="34" charset="-122"/>
                <a:cs typeface="Cambria" pitchFamily="34" charset="-120"/>
              </a:rPr>
              <a:t>Crianças (0 a 14 anos) por região.</a:t>
            </a:r>
            <a:endParaRPr lang="en-US" sz="1050" dirty="0"/>
          </a:p>
        </p:txBody>
      </p:sp>
      <p:sp>
        <p:nvSpPr>
          <p:cNvPr id="7" name="Shape 4"/>
          <p:cNvSpPr/>
          <p:nvPr/>
        </p:nvSpPr>
        <p:spPr>
          <a:xfrm>
            <a:off x="7589520" y="1298448"/>
            <a:ext cx="0" cy="4828032"/>
          </a:xfrm>
          <a:prstGeom prst="line">
            <a:avLst/>
          </a:prstGeom>
          <a:noFill/>
          <a:ln w="9525">
            <a:solidFill>
              <a:srgbClr val="C8C6C0"/>
            </a:solidFill>
            <a:prstDash val="solid"/>
          </a:ln>
        </p:spPr>
      </p:sp>
      <p:sp>
        <p:nvSpPr>
          <p:cNvPr id="8" name="Text 5"/>
          <p:cNvSpPr/>
          <p:nvPr/>
        </p:nvSpPr>
        <p:spPr>
          <a:xfrm>
            <a:off x="7726680" y="1298448"/>
            <a:ext cx="3685032" cy="22644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O que é.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Um boxplot por região, lado a lado.</a:t>
            </a:r>
            <a:endParaRPr lang="en-US" sz="1150" dirty="0"/>
          </a:p>
        </p:txBody>
      </p:sp>
      <p:sp>
        <p:nvSpPr>
          <p:cNvPr id="9" name="Text 6"/>
          <p:cNvSpPr/>
          <p:nvPr/>
        </p:nvSpPr>
        <p:spPr>
          <a:xfrm>
            <a:off x="7726680" y="1598041"/>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Para que serve.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Compara não só a média, mas a dispersão de cada região.</a:t>
            </a:r>
            <a:endParaRPr lang="en-US" sz="1150" dirty="0"/>
          </a:p>
        </p:txBody>
      </p:sp>
      <p:sp>
        <p:nvSpPr>
          <p:cNvPr id="10" name="Text 7"/>
          <p:cNvSpPr/>
          <p:nvPr/>
        </p:nvSpPr>
        <p:spPr>
          <a:xfrm>
            <a:off x="7726680" y="2087499"/>
            <a:ext cx="3685032" cy="98590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Como ler.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A caixa vai do percentil 25 ao 75 (metade central dos setores); a linha vermelha é a mediana; o losango, a média; os bigodes vão até 1,5 vez a altura da caixa. Os extremos além dos bigodes não são desenhados, para a escala não ficar presa a poucos setores.</a:t>
            </a:r>
            <a:endParaRPr lang="en-US" sz="1150" dirty="0"/>
          </a:p>
        </p:txBody>
      </p:sp>
      <p:sp>
        <p:nvSpPr>
          <p:cNvPr id="11" name="Text 8"/>
          <p:cNvSpPr/>
          <p:nvPr/>
        </p:nvSpPr>
        <p:spPr>
          <a:xfrm>
            <a:off x="7726680" y="3146552"/>
            <a:ext cx="3685032" cy="796036"/>
          </a:xfrm>
          <a:prstGeom prst="rect">
            <a:avLst/>
          </a:prstGeom>
          <a:noFill/>
          <a:ln/>
        </p:spPr>
        <p:txBody>
          <a:bodyPr wrap="square" lIns="0" tIns="0" rIns="0" bIns="0" rtlCol="0" anchor="t"/>
          <a:lstStyle/>
          <a:p>
            <a:pPr indent="0" marL="0">
              <a:lnSpc>
                <a:spcPts val="1495"/>
              </a:lnSpc>
              <a:buNone/>
            </a:pPr>
            <a:r>
              <a:rPr lang="en-US" sz="1150" b="1" dirty="0">
                <a:solidFill>
                  <a:srgbClr val="8C2F27"/>
                </a:solidFill>
                <a:latin typeface="Cambria" pitchFamily="34" charset="0"/>
                <a:ea typeface="Cambria" pitchFamily="34" charset="-122"/>
                <a:cs typeface="Cambria" pitchFamily="34" charset="-120"/>
              </a:rPr>
              <a:t>O que mostra.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A maior média é a do Norte (0,210); a menor, a do Sul (0,159). O Norte tem só 6 municípios: os contrastes descrevem os municípios estudados, não a região inteira.</a:t>
            </a:r>
            <a:endParaRPr lang="en-US" sz="1150" dirty="0"/>
          </a:p>
        </p:txBody>
      </p:sp>
      <p:sp>
        <p:nvSpPr>
          <p:cNvPr id="12" name="Text 9"/>
          <p:cNvSpPr/>
          <p:nvPr/>
        </p:nvSpPr>
        <p:spPr>
          <a:xfrm>
            <a:off x="9948672" y="146304"/>
            <a:ext cx="1463040" cy="274320"/>
          </a:xfrm>
          <a:prstGeom prst="rect">
            <a:avLst/>
          </a:prstGeom>
          <a:noFill/>
          <a:ln/>
        </p:spPr>
        <p:txBody>
          <a:bodyPr wrap="square" lIns="0" tIns="0" rIns="0" bIns="0" rtlCol="0" anchor="ctr"/>
          <a:lstStyle/>
          <a:p>
            <a:pPr algn="r" indent="0" marL="0">
              <a:buNone/>
            </a:pPr>
            <a:r>
              <a:rPr lang="en-US" sz="1100" b="1" dirty="0">
                <a:solidFill>
                  <a:srgbClr val="8C2F27"/>
                </a:solidFill>
                <a:latin typeface="Cambria" pitchFamily="34" charset="0"/>
                <a:ea typeface="Cambria" pitchFamily="34" charset="-122"/>
                <a:cs typeface="Cambria" pitchFamily="34" charset="-120"/>
              </a:rPr>
              <a:t>CRI-14</a:t>
            </a:r>
            <a:endParaRPr lang="en-US" sz="11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15</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600" b="1" dirty="0">
                <a:solidFill>
                  <a:srgbClr val="1A1A18"/>
                </a:solidFill>
                <a:latin typeface="Cambria" pitchFamily="34" charset="0"/>
                <a:ea typeface="Cambria" pitchFamily="34" charset="-122"/>
                <a:cs typeface="Cambria" pitchFamily="34" charset="-120"/>
              </a:rPr>
              <a:t>Por porte do município: a tabela</a:t>
            </a:r>
            <a:endParaRPr lang="en-US" sz="2600" dirty="0"/>
          </a:p>
        </p:txBody>
      </p:sp>
      <p:sp>
        <p:nvSpPr>
          <p:cNvPr id="4" name="Shape 2"/>
          <p:cNvSpPr/>
          <p:nvPr/>
        </p:nvSpPr>
        <p:spPr>
          <a:xfrm>
            <a:off x="777240" y="1024128"/>
            <a:ext cx="10634472" cy="0"/>
          </a:xfrm>
          <a:prstGeom prst="line">
            <a:avLst/>
          </a:prstGeom>
          <a:noFill/>
          <a:ln w="12700">
            <a:solidFill>
              <a:srgbClr val="1A1A18"/>
            </a:solidFill>
            <a:prstDash val="solid"/>
          </a:ln>
        </p:spPr>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777240" y="1298448"/>
          <a:ext cx="6583680" cy="914400"/>
        </p:xfrm>
        <a:graphic>
          <a:graphicData uri="http://schemas.openxmlformats.org/drawingml/2006/table">
            <a:tbl>
              <a:tblPr/>
              <a:tblGrid>
                <a:gridCol w="1463040"/>
                <a:gridCol w="1005840"/>
                <a:gridCol w="1188720"/>
                <a:gridCol w="1188720"/>
                <a:gridCol w="1005840"/>
                <a:gridCol w="731520"/>
              </a:tblGrid>
              <a:tr h="246888">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Grupo</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Setores</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Média</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Mediana</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p75</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 zeros</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r>
              <a:tr h="254127">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até 100 mil</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1.219</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0,199</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0,196</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0,236</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1,4%</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54127">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100 a 500 mil</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7.652</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0,185</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0,184</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0,218</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0,6%</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54127">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mais de 500 mil</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94.979</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0,171</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0,170</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0,209</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0,5%</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r>
            </a:tbl>
          </a:graphicData>
        </a:graphic>
      </p:graphicFrame>
      <p:sp>
        <p:nvSpPr>
          <p:cNvPr id="6" name="Shape 3"/>
          <p:cNvSpPr/>
          <p:nvPr/>
        </p:nvSpPr>
        <p:spPr>
          <a:xfrm>
            <a:off x="7589520" y="1298448"/>
            <a:ext cx="0" cy="4828032"/>
          </a:xfrm>
          <a:prstGeom prst="line">
            <a:avLst/>
          </a:prstGeom>
          <a:noFill/>
          <a:ln w="9525">
            <a:solidFill>
              <a:srgbClr val="C8C6C0"/>
            </a:solidFill>
            <a:prstDash val="solid"/>
          </a:ln>
        </p:spPr>
      </p:sp>
      <p:sp>
        <p:nvSpPr>
          <p:cNvPr id="7" name="Text 4"/>
          <p:cNvSpPr/>
          <p:nvPr/>
        </p:nvSpPr>
        <p:spPr>
          <a:xfrm>
            <a:off x="7726680" y="1298448"/>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O que é.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As estatísticas do indicador por tamanho do município (moradores somados nos setores da base).</a:t>
            </a:r>
            <a:endParaRPr lang="en-US" sz="1150" dirty="0"/>
          </a:p>
        </p:txBody>
      </p:sp>
      <p:sp>
        <p:nvSpPr>
          <p:cNvPr id="8" name="Text 5"/>
          <p:cNvSpPr/>
          <p:nvPr/>
        </p:nvSpPr>
        <p:spPr>
          <a:xfrm>
            <a:off x="7726680" y="1787906"/>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Para que serve.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Testa se o indicador acompanha o tamanho da cidade — se sim, parte dele mede porte urbano, não vulnerabilidade.</a:t>
            </a:r>
            <a:endParaRPr lang="en-US" sz="1150" dirty="0"/>
          </a:p>
        </p:txBody>
      </p:sp>
      <p:sp>
        <p:nvSpPr>
          <p:cNvPr id="9" name="Text 6"/>
          <p:cNvSpPr/>
          <p:nvPr/>
        </p:nvSpPr>
        <p:spPr>
          <a:xfrm>
            <a:off x="7726680" y="2467229"/>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Como ler.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Três grupos: até 100 mil, de 100 a 500 mil e mais de 500 mil moradores.</a:t>
            </a:r>
            <a:endParaRPr lang="en-US" sz="1150" dirty="0"/>
          </a:p>
        </p:txBody>
      </p:sp>
      <p:sp>
        <p:nvSpPr>
          <p:cNvPr id="10" name="Text 7"/>
          <p:cNvSpPr/>
          <p:nvPr/>
        </p:nvSpPr>
        <p:spPr>
          <a:xfrm>
            <a:off x="7726680" y="2956687"/>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8C2F27"/>
                </a:solidFill>
                <a:latin typeface="Cambria" pitchFamily="34" charset="0"/>
                <a:ea typeface="Cambria" pitchFamily="34" charset="-122"/>
                <a:cs typeface="Cambria" pitchFamily="34" charset="-120"/>
              </a:rPr>
              <a:t>O que mostra.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A maior média é a dos municípios de até 100 mil (0,199); a menor, a dos de mais de 500 mil (0,171).</a:t>
            </a:r>
            <a:endParaRPr lang="en-US" sz="1150" dirty="0"/>
          </a:p>
        </p:txBody>
      </p:sp>
      <p:sp>
        <p:nvSpPr>
          <p:cNvPr id="11" name="Text 8"/>
          <p:cNvSpPr/>
          <p:nvPr/>
        </p:nvSpPr>
        <p:spPr>
          <a:xfrm>
            <a:off x="9948672" y="146304"/>
            <a:ext cx="1463040" cy="274320"/>
          </a:xfrm>
          <a:prstGeom prst="rect">
            <a:avLst/>
          </a:prstGeom>
          <a:noFill/>
          <a:ln/>
        </p:spPr>
        <p:txBody>
          <a:bodyPr wrap="square" lIns="0" tIns="0" rIns="0" bIns="0" rtlCol="0" anchor="ctr"/>
          <a:lstStyle/>
          <a:p>
            <a:pPr algn="r" indent="0" marL="0">
              <a:buNone/>
            </a:pPr>
            <a:r>
              <a:rPr lang="en-US" sz="1100" b="1" dirty="0">
                <a:solidFill>
                  <a:srgbClr val="8C2F27"/>
                </a:solidFill>
                <a:latin typeface="Cambria" pitchFamily="34" charset="0"/>
                <a:ea typeface="Cambria" pitchFamily="34" charset="-122"/>
                <a:cs typeface="Cambria" pitchFamily="34" charset="-120"/>
              </a:rPr>
              <a:t>CRI-15</a:t>
            </a:r>
            <a:endParaRPr lang="en-US" sz="11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16</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600" b="1" dirty="0">
                <a:solidFill>
                  <a:srgbClr val="1A1A18"/>
                </a:solidFill>
                <a:latin typeface="Cambria" pitchFamily="34" charset="0"/>
                <a:ea typeface="Cambria" pitchFamily="34" charset="-122"/>
                <a:cs typeface="Cambria" pitchFamily="34" charset="-120"/>
              </a:rPr>
              <a:t>Por porte do município: o boxplot</a:t>
            </a:r>
            <a:endParaRPr lang="en-US" sz="2600" dirty="0"/>
          </a:p>
        </p:txBody>
      </p:sp>
      <p:sp>
        <p:nvSpPr>
          <p:cNvPr id="4" name="Shape 2"/>
          <p:cNvSpPr/>
          <p:nvPr/>
        </p:nvSpPr>
        <p:spPr>
          <a:xfrm>
            <a:off x="777240" y="1024128"/>
            <a:ext cx="10634472" cy="0"/>
          </a:xfrm>
          <a:prstGeom prst="line">
            <a:avLst/>
          </a:prstGeom>
          <a:noFill/>
          <a:ln w="12700">
            <a:solidFill>
              <a:srgbClr val="1A1A18"/>
            </a:solidFill>
            <a:prstDash val="solid"/>
          </a:ln>
        </p:spPr>
      </p:sp>
      <p:pic>
        <p:nvPicPr>
          <p:cNvPr id="5" name="Image 0" descr="/Users/pedro/Documents/Iniciacao Cientifica/Projeto_IVS_Censo22/apresentacoes_multiversao/figuras/CRI_porte.png">    </p:cNvPr>
          <p:cNvPicPr>
            <a:picLocks noChangeAspect="1"/>
          </p:cNvPicPr>
          <p:nvPr/>
        </p:nvPicPr>
        <p:blipFill>
          <a:blip r:embed="rId1"/>
          <a:stretch>
            <a:fillRect/>
          </a:stretch>
        </p:blipFill>
        <p:spPr>
          <a:xfrm>
            <a:off x="777240" y="1298448"/>
            <a:ext cx="6675120" cy="3855640"/>
          </a:xfrm>
          <a:prstGeom prst="rect">
            <a:avLst/>
          </a:prstGeom>
        </p:spPr>
      </p:pic>
      <p:sp>
        <p:nvSpPr>
          <p:cNvPr id="6" name="Text 3"/>
          <p:cNvSpPr/>
          <p:nvPr/>
        </p:nvSpPr>
        <p:spPr>
          <a:xfrm>
            <a:off x="777240" y="5208952"/>
            <a:ext cx="6675120" cy="310896"/>
          </a:xfrm>
          <a:prstGeom prst="rect">
            <a:avLst/>
          </a:prstGeom>
          <a:noFill/>
          <a:ln/>
        </p:spPr>
        <p:txBody>
          <a:bodyPr wrap="square" lIns="0" tIns="0" rIns="0" bIns="0" rtlCol="0" anchor="t"/>
          <a:lstStyle/>
          <a:p>
            <a:pPr indent="0" marL="0">
              <a:buNone/>
            </a:pPr>
            <a:r>
              <a:rPr lang="en-US" sz="1050" b="1" dirty="0">
                <a:solidFill>
                  <a:srgbClr val="56534C"/>
                </a:solidFill>
                <a:latin typeface="Cambria" pitchFamily="34" charset="0"/>
                <a:ea typeface="Cambria" pitchFamily="34" charset="-122"/>
                <a:cs typeface="Cambria" pitchFamily="34" charset="-120"/>
              </a:rPr>
              <a:t>Figura 7 — </a:t>
            </a:r>
            <a:pPr indent="0" marL="0">
              <a:buNone/>
            </a:pPr>
            <a:r>
              <a:rPr lang="en-US" sz="1050" dirty="0">
                <a:solidFill>
                  <a:srgbClr val="56534C"/>
                </a:solidFill>
                <a:latin typeface="Cambria" pitchFamily="34" charset="0"/>
                <a:ea typeface="Cambria" pitchFamily="34" charset="-122"/>
                <a:cs typeface="Cambria" pitchFamily="34" charset="-120"/>
              </a:rPr>
              <a:t>Crianças (0 a 14 anos) por porte do município.</a:t>
            </a:r>
            <a:endParaRPr lang="en-US" sz="1050" dirty="0"/>
          </a:p>
        </p:txBody>
      </p:sp>
      <p:sp>
        <p:nvSpPr>
          <p:cNvPr id="7" name="Shape 4"/>
          <p:cNvSpPr/>
          <p:nvPr/>
        </p:nvSpPr>
        <p:spPr>
          <a:xfrm>
            <a:off x="7589520" y="1298448"/>
            <a:ext cx="0" cy="4828032"/>
          </a:xfrm>
          <a:prstGeom prst="line">
            <a:avLst/>
          </a:prstGeom>
          <a:noFill/>
          <a:ln w="9525">
            <a:solidFill>
              <a:srgbClr val="C8C6C0"/>
            </a:solidFill>
            <a:prstDash val="solid"/>
          </a:ln>
        </p:spPr>
      </p:sp>
      <p:sp>
        <p:nvSpPr>
          <p:cNvPr id="8" name="Text 5"/>
          <p:cNvSpPr/>
          <p:nvPr/>
        </p:nvSpPr>
        <p:spPr>
          <a:xfrm>
            <a:off x="7726680" y="1298448"/>
            <a:ext cx="3685032" cy="22644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O que é.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Um boxplot por porte de município.</a:t>
            </a:r>
            <a:endParaRPr lang="en-US" sz="1150" dirty="0"/>
          </a:p>
        </p:txBody>
      </p:sp>
      <p:sp>
        <p:nvSpPr>
          <p:cNvPr id="9" name="Text 6"/>
          <p:cNvSpPr/>
          <p:nvPr/>
        </p:nvSpPr>
        <p:spPr>
          <a:xfrm>
            <a:off x="7726680" y="1598041"/>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Para que serve.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Mostra se cidades maiores ou menores concentram o problema.</a:t>
            </a:r>
            <a:endParaRPr lang="en-US" sz="1150" dirty="0"/>
          </a:p>
        </p:txBody>
      </p:sp>
      <p:sp>
        <p:nvSpPr>
          <p:cNvPr id="10" name="Text 7"/>
          <p:cNvSpPr/>
          <p:nvPr/>
        </p:nvSpPr>
        <p:spPr>
          <a:xfrm>
            <a:off x="7726680" y="2087499"/>
            <a:ext cx="3685032" cy="98590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Como ler.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A caixa vai do percentil 25 ao 75 (metade central dos setores); a linha vermelha é a mediana; o losango, a média; os bigodes vão até 1,5 vez a altura da caixa. Os extremos além dos bigodes não são desenhados, para a escala não ficar presa a poucos setores.</a:t>
            </a:r>
            <a:endParaRPr lang="en-US" sz="1150" dirty="0"/>
          </a:p>
        </p:txBody>
      </p:sp>
      <p:sp>
        <p:nvSpPr>
          <p:cNvPr id="11" name="Text 8"/>
          <p:cNvSpPr/>
          <p:nvPr/>
        </p:nvSpPr>
        <p:spPr>
          <a:xfrm>
            <a:off x="7726680" y="3146552"/>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8C2F27"/>
                </a:solidFill>
                <a:latin typeface="Cambria" pitchFamily="34" charset="0"/>
                <a:ea typeface="Cambria" pitchFamily="34" charset="-122"/>
                <a:cs typeface="Cambria" pitchFamily="34" charset="-120"/>
              </a:rPr>
              <a:t>O que mostra.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A maior média é a dos municípios de até 100 mil (0,199); a menor, a dos de mais de 500 mil (0,171).</a:t>
            </a:r>
            <a:endParaRPr lang="en-US" sz="1150" dirty="0"/>
          </a:p>
        </p:txBody>
      </p:sp>
      <p:sp>
        <p:nvSpPr>
          <p:cNvPr id="12" name="Text 9"/>
          <p:cNvSpPr/>
          <p:nvPr/>
        </p:nvSpPr>
        <p:spPr>
          <a:xfrm>
            <a:off x="9948672" y="146304"/>
            <a:ext cx="1463040" cy="274320"/>
          </a:xfrm>
          <a:prstGeom prst="rect">
            <a:avLst/>
          </a:prstGeom>
          <a:noFill/>
          <a:ln/>
        </p:spPr>
        <p:txBody>
          <a:bodyPr wrap="square" lIns="0" tIns="0" rIns="0" bIns="0" rtlCol="0" anchor="ctr"/>
          <a:lstStyle/>
          <a:p>
            <a:pPr algn="r" indent="0" marL="0">
              <a:buNone/>
            </a:pPr>
            <a:r>
              <a:rPr lang="en-US" sz="1100" b="1" dirty="0">
                <a:solidFill>
                  <a:srgbClr val="8C2F27"/>
                </a:solidFill>
                <a:latin typeface="Cambria" pitchFamily="34" charset="0"/>
                <a:ea typeface="Cambria" pitchFamily="34" charset="-122"/>
                <a:cs typeface="Cambria" pitchFamily="34" charset="-120"/>
              </a:rPr>
              <a:t>CRI-16</a:t>
            </a:r>
            <a:endParaRPr lang="en-US" sz="11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17</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600" b="1" dirty="0">
                <a:solidFill>
                  <a:srgbClr val="1A1A18"/>
                </a:solidFill>
                <a:latin typeface="Cambria" pitchFamily="34" charset="0"/>
                <a:ea typeface="Cambria" pitchFamily="34" charset="-122"/>
                <a:cs typeface="Cambria" pitchFamily="34" charset="-120"/>
              </a:rPr>
              <a:t>Os 70 municípios: maiores e menores médias</a:t>
            </a:r>
            <a:endParaRPr lang="en-US" sz="2600" dirty="0"/>
          </a:p>
        </p:txBody>
      </p:sp>
      <p:sp>
        <p:nvSpPr>
          <p:cNvPr id="4" name="Shape 2"/>
          <p:cNvSpPr/>
          <p:nvPr/>
        </p:nvSpPr>
        <p:spPr>
          <a:xfrm>
            <a:off x="777240" y="1024128"/>
            <a:ext cx="10634472" cy="0"/>
          </a:xfrm>
          <a:prstGeom prst="line">
            <a:avLst/>
          </a:prstGeom>
          <a:noFill/>
          <a:ln w="12700">
            <a:solidFill>
              <a:srgbClr val="1A1A18"/>
            </a:solidFill>
            <a:prstDash val="solid"/>
          </a:ln>
        </p:spPr>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777240" y="1298448"/>
          <a:ext cx="6583680" cy="914400"/>
        </p:xfrm>
        <a:graphic>
          <a:graphicData uri="http://schemas.openxmlformats.org/drawingml/2006/table">
            <a:tbl>
              <a:tblPr/>
              <a:tblGrid>
                <a:gridCol w="2194560"/>
                <a:gridCol w="1188720"/>
                <a:gridCol w="822960"/>
                <a:gridCol w="1188720"/>
                <a:gridCol w="1188720"/>
              </a:tblGrid>
              <a:tr h="215392">
                <a:tc>
                  <a:txBody>
                    <a:bodyPr/>
                    <a:lstStyle/>
                    <a:p>
                      <a:pPr indent="0" marL="0">
                        <a:buNone/>
                      </a:pPr>
                      <a:r>
                        <a:rPr lang="en-US" sz="800" b="1" dirty="0">
                          <a:solidFill>
                            <a:srgbClr val="1A1A18"/>
                          </a:solidFill>
                          <a:latin typeface="Cambria" pitchFamily="34" charset="0"/>
                          <a:ea typeface="Cambria" pitchFamily="34" charset="-122"/>
                          <a:cs typeface="Cambria" pitchFamily="34" charset="-120"/>
                        </a:rPr>
                        <a:t>Município</a:t>
                      </a:r>
                      <a:endParaRPr lang="en-US" sz="8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800" b="1" dirty="0">
                          <a:solidFill>
                            <a:srgbClr val="1A1A18"/>
                          </a:solidFill>
                          <a:latin typeface="Cambria" pitchFamily="34" charset="0"/>
                          <a:ea typeface="Cambria" pitchFamily="34" charset="-122"/>
                          <a:cs typeface="Cambria" pitchFamily="34" charset="-120"/>
                        </a:rPr>
                        <a:t>Região</a:t>
                      </a:r>
                      <a:endParaRPr lang="en-US" sz="8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800" b="1" dirty="0">
                          <a:solidFill>
                            <a:srgbClr val="1A1A18"/>
                          </a:solidFill>
                          <a:latin typeface="Cambria" pitchFamily="34" charset="0"/>
                          <a:ea typeface="Cambria" pitchFamily="34" charset="-122"/>
                          <a:cs typeface="Cambria" pitchFamily="34" charset="-120"/>
                        </a:rPr>
                        <a:t>Setores</a:t>
                      </a:r>
                      <a:endParaRPr lang="en-US" sz="8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800" b="1" dirty="0">
                          <a:solidFill>
                            <a:srgbClr val="1A1A18"/>
                          </a:solidFill>
                          <a:latin typeface="Cambria" pitchFamily="34" charset="0"/>
                          <a:ea typeface="Cambria" pitchFamily="34" charset="-122"/>
                          <a:cs typeface="Cambria" pitchFamily="34" charset="-120"/>
                        </a:rPr>
                        <a:t>Média</a:t>
                      </a:r>
                      <a:endParaRPr lang="en-US" sz="8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800" b="1" dirty="0">
                          <a:solidFill>
                            <a:srgbClr val="1A1A18"/>
                          </a:solidFill>
                          <a:latin typeface="Cambria" pitchFamily="34" charset="0"/>
                          <a:ea typeface="Cambria" pitchFamily="34" charset="-122"/>
                          <a:cs typeface="Cambria" pitchFamily="34" charset="-120"/>
                        </a:rPr>
                        <a:t>Mediana</a:t>
                      </a:r>
                      <a:endParaRPr lang="en-US" sz="8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r>
              <a:tr h="223139">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Portel</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Norte</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26</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0,307</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0,283</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23139">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Autazes</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Norte</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43</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0,285</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0,286</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23139">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Placas</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Norte</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16</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0,260</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0,268</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23139">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Água Preta</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Nordeste</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32</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0,231</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0,234</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23139">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São Raimundo do Doca Bezerra</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Nordeste</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3</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0,231</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0,232</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23139">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Rosário</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Nordeste</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36</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0,231</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0,231</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23139">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Manaus</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Norte</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3.093</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0,230</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0,230</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23139">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Jaqueira</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Nordeste</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9</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0,224</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0,235</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23139">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São José de Ribamar</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Nordeste</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580</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0,223</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0,221</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23139">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Japoatã</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Nordeste</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7</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0,222</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0,234</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23139">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Campinas</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Sudeste</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2.455</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0,161</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0,156</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23139">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Rio de Janeiro</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Sudeste</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13.331</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0,161</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0,157</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23139">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Araçatuba</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Sudeste</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487</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0,160</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0,154</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23139">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Taió</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Sul</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49</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0,158</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0,174</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23139">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Curitiba</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Sul</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3.163</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0,157</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0,158</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23139">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Belo Horizonte</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Sudeste</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5.097</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0,152</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0,148</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23139">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São Caetano do Sul</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Sudeste</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421</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0,151</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0,146</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23139">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Porto Alegre</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Sul</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2.663</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0,147</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0,136</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23139">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Coroaci</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Sudeste</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11</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0,147</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0,144</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23139">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São Paulo das Missões</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Sul</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6</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0,121</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0,133</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r>
            </a:tbl>
          </a:graphicData>
        </a:graphic>
      </p:graphicFrame>
      <p:sp>
        <p:nvSpPr>
          <p:cNvPr id="6" name="Shape 3"/>
          <p:cNvSpPr/>
          <p:nvPr/>
        </p:nvSpPr>
        <p:spPr>
          <a:xfrm>
            <a:off x="7589520" y="1298448"/>
            <a:ext cx="0" cy="4828032"/>
          </a:xfrm>
          <a:prstGeom prst="line">
            <a:avLst/>
          </a:prstGeom>
          <a:noFill/>
          <a:ln w="9525">
            <a:solidFill>
              <a:srgbClr val="C8C6C0"/>
            </a:solidFill>
            <a:prstDash val="solid"/>
          </a:ln>
        </p:spPr>
      </p:sp>
      <p:sp>
        <p:nvSpPr>
          <p:cNvPr id="7" name="Text 4"/>
          <p:cNvSpPr/>
          <p:nvPr/>
        </p:nvSpPr>
        <p:spPr>
          <a:xfrm>
            <a:off x="7726680" y="1298448"/>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O que é.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Os 10 municípios com a maior média do indicador e os 10 com a menor.</a:t>
            </a:r>
            <a:endParaRPr lang="en-US" sz="1150" dirty="0"/>
          </a:p>
        </p:txBody>
      </p:sp>
      <p:sp>
        <p:nvSpPr>
          <p:cNvPr id="8" name="Text 5"/>
          <p:cNvSpPr/>
          <p:nvPr/>
        </p:nvSpPr>
        <p:spPr>
          <a:xfrm>
            <a:off x="7726680" y="1787906"/>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Para que serve.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Identifica onde o indicador é mais e menos presente. A tabela completa está no apêndice.</a:t>
            </a:r>
            <a:endParaRPr lang="en-US" sz="1150" dirty="0"/>
          </a:p>
        </p:txBody>
      </p:sp>
      <p:sp>
        <p:nvSpPr>
          <p:cNvPr id="9" name="Text 6"/>
          <p:cNvSpPr/>
          <p:nvPr/>
        </p:nvSpPr>
        <p:spPr>
          <a:xfrm>
            <a:off x="7726680" y="2277364"/>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Como ler.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Atenção à coluna "Setores": município com poucos setores tem média instável, que muda muito com um setor a mais ou a menos.</a:t>
            </a:r>
            <a:endParaRPr lang="en-US" sz="1150" dirty="0"/>
          </a:p>
        </p:txBody>
      </p:sp>
      <p:sp>
        <p:nvSpPr>
          <p:cNvPr id="10" name="Text 7"/>
          <p:cNvSpPr/>
          <p:nvPr/>
        </p:nvSpPr>
        <p:spPr>
          <a:xfrm>
            <a:off x="7726680" y="2956687"/>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8C2F27"/>
                </a:solidFill>
                <a:latin typeface="Cambria" pitchFamily="34" charset="0"/>
                <a:ea typeface="Cambria" pitchFamily="34" charset="-122"/>
                <a:cs typeface="Cambria" pitchFamily="34" charset="-120"/>
              </a:rPr>
              <a:t>O que mostra.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Maior média: Portel (0,307, 26 setores); menor: São Paulo das Missões (0,121).</a:t>
            </a:r>
            <a:endParaRPr lang="en-US" sz="1150" dirty="0"/>
          </a:p>
        </p:txBody>
      </p:sp>
      <p:sp>
        <p:nvSpPr>
          <p:cNvPr id="11" name="Text 8"/>
          <p:cNvSpPr/>
          <p:nvPr/>
        </p:nvSpPr>
        <p:spPr>
          <a:xfrm>
            <a:off x="9948672" y="146304"/>
            <a:ext cx="1463040" cy="274320"/>
          </a:xfrm>
          <a:prstGeom prst="rect">
            <a:avLst/>
          </a:prstGeom>
          <a:noFill/>
          <a:ln/>
        </p:spPr>
        <p:txBody>
          <a:bodyPr wrap="square" lIns="0" tIns="0" rIns="0" bIns="0" rtlCol="0" anchor="ctr"/>
          <a:lstStyle/>
          <a:p>
            <a:pPr algn="r" indent="0" marL="0">
              <a:buNone/>
            </a:pPr>
            <a:r>
              <a:rPr lang="en-US" sz="1100" b="1" dirty="0">
                <a:solidFill>
                  <a:srgbClr val="8C2F27"/>
                </a:solidFill>
                <a:latin typeface="Cambria" pitchFamily="34" charset="0"/>
                <a:ea typeface="Cambria" pitchFamily="34" charset="-122"/>
                <a:cs typeface="Cambria" pitchFamily="34" charset="-120"/>
              </a:rPr>
              <a:t>CRI-17</a:t>
            </a:r>
            <a:endParaRPr lang="en-US" sz="11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18</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600" b="1" dirty="0">
                <a:solidFill>
                  <a:srgbClr val="1A1A18"/>
                </a:solidFill>
                <a:latin typeface="Cambria" pitchFamily="34" charset="0"/>
                <a:ea typeface="Cambria" pitchFamily="34" charset="-122"/>
                <a:cs typeface="Cambria" pitchFamily="34" charset="-120"/>
              </a:rPr>
              <a:t>Os 70 municípios, ordenados pela mediana</a:t>
            </a:r>
            <a:endParaRPr lang="en-US" sz="2600" dirty="0"/>
          </a:p>
        </p:txBody>
      </p:sp>
      <p:sp>
        <p:nvSpPr>
          <p:cNvPr id="4" name="Shape 2"/>
          <p:cNvSpPr/>
          <p:nvPr/>
        </p:nvSpPr>
        <p:spPr>
          <a:xfrm>
            <a:off x="777240" y="1024128"/>
            <a:ext cx="10634472" cy="0"/>
          </a:xfrm>
          <a:prstGeom prst="line">
            <a:avLst/>
          </a:prstGeom>
          <a:noFill/>
          <a:ln w="12700">
            <a:solidFill>
              <a:srgbClr val="1A1A18"/>
            </a:solidFill>
            <a:prstDash val="solid"/>
          </a:ln>
        </p:spPr>
      </p:sp>
      <p:pic>
        <p:nvPicPr>
          <p:cNvPr id="5" name="Image 0" descr="/Users/pedro/Documents/Iniciacao Cientifica/Projeto_IVS_Censo22/apresentacoes_multiversao/figuras/CRI_municipios.png">    </p:cNvPr>
          <p:cNvPicPr>
            <a:picLocks noChangeAspect="1"/>
          </p:cNvPicPr>
          <p:nvPr/>
        </p:nvPicPr>
        <p:blipFill>
          <a:blip r:embed="rId1"/>
          <a:stretch>
            <a:fillRect/>
          </a:stretch>
        </p:blipFill>
        <p:spPr>
          <a:xfrm>
            <a:off x="1441969" y="1298448"/>
            <a:ext cx="5345663" cy="4507992"/>
          </a:xfrm>
          <a:prstGeom prst="rect">
            <a:avLst/>
          </a:prstGeom>
        </p:spPr>
      </p:pic>
      <p:sp>
        <p:nvSpPr>
          <p:cNvPr id="6" name="Text 3"/>
          <p:cNvSpPr/>
          <p:nvPr/>
        </p:nvSpPr>
        <p:spPr>
          <a:xfrm>
            <a:off x="777240" y="5861304"/>
            <a:ext cx="6675120" cy="310896"/>
          </a:xfrm>
          <a:prstGeom prst="rect">
            <a:avLst/>
          </a:prstGeom>
          <a:noFill/>
          <a:ln/>
        </p:spPr>
        <p:txBody>
          <a:bodyPr wrap="square" lIns="0" tIns="0" rIns="0" bIns="0" rtlCol="0" anchor="t"/>
          <a:lstStyle/>
          <a:p>
            <a:pPr indent="0" marL="0">
              <a:buNone/>
            </a:pPr>
            <a:r>
              <a:rPr lang="en-US" sz="1050" b="1" dirty="0">
                <a:solidFill>
                  <a:srgbClr val="56534C"/>
                </a:solidFill>
                <a:latin typeface="Cambria" pitchFamily="34" charset="0"/>
                <a:ea typeface="Cambria" pitchFamily="34" charset="-122"/>
                <a:cs typeface="Cambria" pitchFamily="34" charset="-120"/>
              </a:rPr>
              <a:t>Figura 8 — </a:t>
            </a:r>
            <a:pPr indent="0" marL="0">
              <a:buNone/>
            </a:pPr>
            <a:r>
              <a:rPr lang="en-US" sz="1050" dirty="0">
                <a:solidFill>
                  <a:srgbClr val="56534C"/>
                </a:solidFill>
                <a:latin typeface="Cambria" pitchFamily="34" charset="0"/>
                <a:ea typeface="Cambria" pitchFamily="34" charset="-122"/>
                <a:cs typeface="Cambria" pitchFamily="34" charset="-120"/>
              </a:rPr>
              <a:t>Crianças (0 a 14 anos): mediana (ponto) e intervalo entre os percentis 25 e 75 (traço) de cada município.</a:t>
            </a:r>
            <a:endParaRPr lang="en-US" sz="1050" dirty="0"/>
          </a:p>
        </p:txBody>
      </p:sp>
      <p:sp>
        <p:nvSpPr>
          <p:cNvPr id="7" name="Shape 4"/>
          <p:cNvSpPr/>
          <p:nvPr/>
        </p:nvSpPr>
        <p:spPr>
          <a:xfrm>
            <a:off x="7589520" y="1298448"/>
            <a:ext cx="0" cy="4828032"/>
          </a:xfrm>
          <a:prstGeom prst="line">
            <a:avLst/>
          </a:prstGeom>
          <a:noFill/>
          <a:ln w="9525">
            <a:solidFill>
              <a:srgbClr val="C8C6C0"/>
            </a:solidFill>
            <a:prstDash val="solid"/>
          </a:ln>
        </p:spPr>
      </p:sp>
      <p:sp>
        <p:nvSpPr>
          <p:cNvPr id="8" name="Text 5"/>
          <p:cNvSpPr/>
          <p:nvPr/>
        </p:nvSpPr>
        <p:spPr>
          <a:xfrm>
            <a:off x="7726680" y="1298448"/>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O que é.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Cada coluna é um município: o ponto é a mediana dos setores dele e o traço vai do percentil 25 ao 75.</a:t>
            </a:r>
            <a:endParaRPr lang="en-US" sz="1150" dirty="0"/>
          </a:p>
        </p:txBody>
      </p:sp>
      <p:sp>
        <p:nvSpPr>
          <p:cNvPr id="9" name="Text 6"/>
          <p:cNvSpPr/>
          <p:nvPr/>
        </p:nvSpPr>
        <p:spPr>
          <a:xfrm>
            <a:off x="7726680" y="1787906"/>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Para que serve.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Mostra ao mesmo tempo o nível de cada cidade (o ponto) e a desigualdade dentro dela (o tamanho do traço).</a:t>
            </a:r>
            <a:endParaRPr lang="en-US" sz="1150" dirty="0"/>
          </a:p>
        </p:txBody>
      </p:sp>
      <p:sp>
        <p:nvSpPr>
          <p:cNvPr id="10" name="Text 7"/>
          <p:cNvSpPr/>
          <p:nvPr/>
        </p:nvSpPr>
        <p:spPr>
          <a:xfrm>
            <a:off x="7726680" y="2467229"/>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Como ler.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Da esquerda para a direita, das cidades com mediana mais baixa às mais altas. Traço longo: setores muito diferentes entre si na mesma cidade.</a:t>
            </a:r>
            <a:endParaRPr lang="en-US" sz="1150" dirty="0"/>
          </a:p>
        </p:txBody>
      </p:sp>
      <p:sp>
        <p:nvSpPr>
          <p:cNvPr id="11" name="Text 8"/>
          <p:cNvSpPr/>
          <p:nvPr/>
        </p:nvSpPr>
        <p:spPr>
          <a:xfrm>
            <a:off x="7726680" y="3146552"/>
            <a:ext cx="3685032" cy="226441"/>
          </a:xfrm>
          <a:prstGeom prst="rect">
            <a:avLst/>
          </a:prstGeom>
          <a:noFill/>
          <a:ln/>
        </p:spPr>
        <p:txBody>
          <a:bodyPr wrap="square" lIns="0" tIns="0" rIns="0" bIns="0" rtlCol="0" anchor="t"/>
          <a:lstStyle/>
          <a:p>
            <a:pPr indent="0" marL="0">
              <a:lnSpc>
                <a:spcPts val="1495"/>
              </a:lnSpc>
              <a:buNone/>
            </a:pPr>
            <a:r>
              <a:rPr lang="en-US" sz="1150" b="1" dirty="0">
                <a:solidFill>
                  <a:srgbClr val="8C2F27"/>
                </a:solidFill>
                <a:latin typeface="Cambria" pitchFamily="34" charset="0"/>
                <a:ea typeface="Cambria" pitchFamily="34" charset="-122"/>
                <a:cs typeface="Cambria" pitchFamily="34" charset="-120"/>
              </a:rPr>
              <a:t>O que mostra.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A mediana vai de 0,133 a 0,286.</a:t>
            </a:r>
            <a:endParaRPr lang="en-US" sz="1150" dirty="0"/>
          </a:p>
        </p:txBody>
      </p:sp>
      <p:sp>
        <p:nvSpPr>
          <p:cNvPr id="12" name="Text 9"/>
          <p:cNvSpPr/>
          <p:nvPr/>
        </p:nvSpPr>
        <p:spPr>
          <a:xfrm>
            <a:off x="9948672" y="146304"/>
            <a:ext cx="1463040" cy="274320"/>
          </a:xfrm>
          <a:prstGeom prst="rect">
            <a:avLst/>
          </a:prstGeom>
          <a:noFill/>
          <a:ln/>
        </p:spPr>
        <p:txBody>
          <a:bodyPr wrap="square" lIns="0" tIns="0" rIns="0" bIns="0" rtlCol="0" anchor="ctr"/>
          <a:lstStyle/>
          <a:p>
            <a:pPr algn="r" indent="0" marL="0">
              <a:buNone/>
            </a:pPr>
            <a:r>
              <a:rPr lang="en-US" sz="1100" b="1" dirty="0">
                <a:solidFill>
                  <a:srgbClr val="8C2F27"/>
                </a:solidFill>
                <a:latin typeface="Cambria" pitchFamily="34" charset="0"/>
                <a:ea typeface="Cambria" pitchFamily="34" charset="-122"/>
                <a:cs typeface="Cambria" pitchFamily="34" charset="-120"/>
              </a:rPr>
              <a:t>CRI-18</a:t>
            </a:r>
            <a:endParaRPr lang="en-US" sz="11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19</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600" b="1" dirty="0">
                <a:solidFill>
                  <a:srgbClr val="1A1A18"/>
                </a:solidFill>
                <a:latin typeface="Cambria" pitchFamily="34" charset="0"/>
                <a:ea typeface="Cambria" pitchFamily="34" charset="-122"/>
                <a:cs typeface="Cambria" pitchFamily="34" charset="-120"/>
              </a:rPr>
              <a:t>A desigualdade dentro das cidades: a tabela</a:t>
            </a:r>
            <a:endParaRPr lang="en-US" sz="2600" dirty="0"/>
          </a:p>
        </p:txBody>
      </p:sp>
      <p:sp>
        <p:nvSpPr>
          <p:cNvPr id="4" name="Shape 2"/>
          <p:cNvSpPr/>
          <p:nvPr/>
        </p:nvSpPr>
        <p:spPr>
          <a:xfrm>
            <a:off x="777240" y="1024128"/>
            <a:ext cx="10634472" cy="0"/>
          </a:xfrm>
          <a:prstGeom prst="line">
            <a:avLst/>
          </a:prstGeom>
          <a:noFill/>
          <a:ln w="12700">
            <a:solidFill>
              <a:srgbClr val="1A1A18"/>
            </a:solidFill>
            <a:prstDash val="solid"/>
          </a:ln>
        </p:spPr>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777240" y="1298448"/>
          <a:ext cx="6217920" cy="914400"/>
        </p:xfrm>
        <a:graphic>
          <a:graphicData uri="http://schemas.openxmlformats.org/drawingml/2006/table">
            <a:tbl>
              <a:tblPr/>
              <a:tblGrid>
                <a:gridCol w="2377440"/>
                <a:gridCol w="914400"/>
                <a:gridCol w="1828800"/>
                <a:gridCol w="1097280"/>
              </a:tblGrid>
              <a:tr h="246888">
                <a:tc>
                  <a:txBody>
                    <a:bodyPr/>
                    <a:lstStyle/>
                    <a:p>
                      <a:pPr indent="0" marL="0">
                        <a:buNone/>
                      </a:pPr>
                      <a:r>
                        <a:rPr lang="en-US" sz="900" b="1" dirty="0">
                          <a:solidFill>
                            <a:srgbClr val="1A1A18"/>
                          </a:solidFill>
                          <a:latin typeface="Cambria" pitchFamily="34" charset="0"/>
                          <a:ea typeface="Cambria" pitchFamily="34" charset="-122"/>
                          <a:cs typeface="Cambria" pitchFamily="34" charset="-120"/>
                        </a:rPr>
                        <a:t>Município</a:t>
                      </a:r>
                      <a:endParaRPr lang="en-US" sz="9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00" b="1" dirty="0">
                          <a:solidFill>
                            <a:srgbClr val="1A1A18"/>
                          </a:solidFill>
                          <a:latin typeface="Cambria" pitchFamily="34" charset="0"/>
                          <a:ea typeface="Cambria" pitchFamily="34" charset="-122"/>
                          <a:cs typeface="Cambria" pitchFamily="34" charset="-120"/>
                        </a:rPr>
                        <a:t>Setores</a:t>
                      </a:r>
                      <a:endParaRPr lang="en-US" sz="9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00" b="1" dirty="0">
                          <a:solidFill>
                            <a:srgbClr val="1A1A18"/>
                          </a:solidFill>
                          <a:latin typeface="Cambria" pitchFamily="34" charset="0"/>
                          <a:ea typeface="Cambria" pitchFamily="34" charset="-122"/>
                          <a:cs typeface="Cambria" pitchFamily="34" charset="-120"/>
                        </a:rPr>
                        <a:t>Intervalo interquartil</a:t>
                      </a:r>
                      <a:endParaRPr lang="en-US" sz="9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00" b="1" dirty="0">
                          <a:solidFill>
                            <a:srgbClr val="1A1A18"/>
                          </a:solidFill>
                          <a:latin typeface="Cambria" pitchFamily="34" charset="0"/>
                          <a:ea typeface="Cambria" pitchFamily="34" charset="-122"/>
                          <a:cs typeface="Cambria" pitchFamily="34" charset="-120"/>
                        </a:rPr>
                        <a:t>Gini</a:t>
                      </a:r>
                      <a:endParaRPr lang="en-US" sz="9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Porto Alegre</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2.663</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0,097</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0,253</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Taió</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49</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0,057</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0,250</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Campinas</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2.455</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0,085</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0,217</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Araçatuba</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487</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0,074</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0,208</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Rio de Janeiro</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13.331</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0,082</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0,205</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São Paulo</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26.423</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0,076</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0,201</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Belo Horizonte</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5.097</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0,065</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0,188</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Guarujá</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684</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0,062</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0,183</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Água Preta</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32</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0,052</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0,110</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Salinas</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53</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0,045</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0,107</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Autazes</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43</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0,055</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0,099</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Ibatiba</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35</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0,040</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0,077</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r>
            </a:tbl>
          </a:graphicData>
        </a:graphic>
      </p:graphicFrame>
      <p:sp>
        <p:nvSpPr>
          <p:cNvPr id="6" name="Shape 3"/>
          <p:cNvSpPr/>
          <p:nvPr/>
        </p:nvSpPr>
        <p:spPr>
          <a:xfrm>
            <a:off x="7589520" y="1298448"/>
            <a:ext cx="0" cy="4828032"/>
          </a:xfrm>
          <a:prstGeom prst="line">
            <a:avLst/>
          </a:prstGeom>
          <a:noFill/>
          <a:ln w="9525">
            <a:solidFill>
              <a:srgbClr val="C8C6C0"/>
            </a:solidFill>
            <a:prstDash val="solid"/>
          </a:ln>
        </p:spPr>
      </p:sp>
      <p:sp>
        <p:nvSpPr>
          <p:cNvPr id="7" name="Text 4"/>
          <p:cNvSpPr/>
          <p:nvPr/>
        </p:nvSpPr>
        <p:spPr>
          <a:xfrm>
            <a:off x="7726680" y="1298448"/>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O que é.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Duas medidas de quanto os setores de uma mesma cidade diferem entre si: o intervalo interquartil (percentil 75 menos 25) e o Gini.</a:t>
            </a:r>
            <a:endParaRPr lang="en-US" sz="1150" dirty="0"/>
          </a:p>
        </p:txBody>
      </p:sp>
      <p:sp>
        <p:nvSpPr>
          <p:cNvPr id="8" name="Text 5"/>
          <p:cNvSpPr/>
          <p:nvPr/>
        </p:nvSpPr>
        <p:spPr>
          <a:xfrm>
            <a:off x="7726680" y="1977771"/>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Para que serve.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O IVS é intraurbano: quer achar as diferenças dentro da cidade. Indicador que varia pouco dentro das cidades contribui pouco para isso.</a:t>
            </a:r>
            <a:endParaRPr lang="en-US" sz="1150" dirty="0"/>
          </a:p>
        </p:txBody>
      </p:sp>
      <p:sp>
        <p:nvSpPr>
          <p:cNvPr id="9" name="Text 6"/>
          <p:cNvSpPr/>
          <p:nvPr/>
        </p:nvSpPr>
        <p:spPr>
          <a:xfrm>
            <a:off x="7726680" y="2657094"/>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Como ler.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O Gini vai de 0 (todos os setores iguais) a 1 (tudo concentrado num setor). Mostra os 8 municípios mais desiguais e os 4 menos.</a:t>
            </a:r>
            <a:endParaRPr lang="en-US" sz="1150" dirty="0"/>
          </a:p>
        </p:txBody>
      </p:sp>
      <p:sp>
        <p:nvSpPr>
          <p:cNvPr id="10" name="Text 7"/>
          <p:cNvSpPr/>
          <p:nvPr/>
        </p:nvSpPr>
        <p:spPr>
          <a:xfrm>
            <a:off x="7726680" y="3336417"/>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8C2F27"/>
                </a:solidFill>
                <a:latin typeface="Cambria" pitchFamily="34" charset="0"/>
                <a:ea typeface="Cambria" pitchFamily="34" charset="-122"/>
                <a:cs typeface="Cambria" pitchFamily="34" charset="-120"/>
              </a:rPr>
              <a:t>O que mostra.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Entre os 56 municípios com pelo menos 30 setores, o Gini vai de 0,077 (Ibatiba) a 0,253 (Porto Alegre).</a:t>
            </a:r>
            <a:endParaRPr lang="en-US" sz="1150" dirty="0"/>
          </a:p>
        </p:txBody>
      </p:sp>
      <p:sp>
        <p:nvSpPr>
          <p:cNvPr id="11" name="Text 8"/>
          <p:cNvSpPr/>
          <p:nvPr/>
        </p:nvSpPr>
        <p:spPr>
          <a:xfrm>
            <a:off x="9948672" y="146304"/>
            <a:ext cx="1463040" cy="274320"/>
          </a:xfrm>
          <a:prstGeom prst="rect">
            <a:avLst/>
          </a:prstGeom>
          <a:noFill/>
          <a:ln/>
        </p:spPr>
        <p:txBody>
          <a:bodyPr wrap="square" lIns="0" tIns="0" rIns="0" bIns="0" rtlCol="0" anchor="ctr"/>
          <a:lstStyle/>
          <a:p>
            <a:pPr algn="r" indent="0" marL="0">
              <a:buNone/>
            </a:pPr>
            <a:r>
              <a:rPr lang="en-US" sz="1100" b="1" dirty="0">
                <a:solidFill>
                  <a:srgbClr val="8C2F27"/>
                </a:solidFill>
                <a:latin typeface="Cambria" pitchFamily="34" charset="0"/>
                <a:ea typeface="Cambria" pitchFamily="34" charset="-122"/>
                <a:cs typeface="Cambria" pitchFamily="34" charset="-120"/>
              </a:rPr>
              <a:t>CRI-19</a:t>
            </a:r>
            <a:endParaRPr lang="en-US" sz="11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20</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600" b="1" dirty="0">
                <a:solidFill>
                  <a:srgbClr val="1A1A18"/>
                </a:solidFill>
                <a:latin typeface="Cambria" pitchFamily="34" charset="0"/>
                <a:ea typeface="Cambria" pitchFamily="34" charset="-122"/>
                <a:cs typeface="Cambria" pitchFamily="34" charset="-120"/>
              </a:rPr>
              <a:t>A desigualdade dentro das cidades: o gráfico</a:t>
            </a:r>
            <a:endParaRPr lang="en-US" sz="2600" dirty="0"/>
          </a:p>
        </p:txBody>
      </p:sp>
      <p:sp>
        <p:nvSpPr>
          <p:cNvPr id="4" name="Shape 2"/>
          <p:cNvSpPr/>
          <p:nvPr/>
        </p:nvSpPr>
        <p:spPr>
          <a:xfrm>
            <a:off x="777240" y="1024128"/>
            <a:ext cx="10634472" cy="0"/>
          </a:xfrm>
          <a:prstGeom prst="line">
            <a:avLst/>
          </a:prstGeom>
          <a:noFill/>
          <a:ln w="12700">
            <a:solidFill>
              <a:srgbClr val="1A1A18"/>
            </a:solidFill>
            <a:prstDash val="solid"/>
          </a:ln>
        </p:spPr>
      </p:sp>
      <p:pic>
        <p:nvPicPr>
          <p:cNvPr id="5" name="Image 0" descr="/Users/pedro/Documents/Iniciacao Cientifica/Projeto_IVS_Censo22/apresentacoes_multiversao/figuras/CRI_desigualdade.png">    </p:cNvPr>
          <p:cNvPicPr>
            <a:picLocks noChangeAspect="1"/>
          </p:cNvPicPr>
          <p:nvPr/>
        </p:nvPicPr>
        <p:blipFill>
          <a:blip r:embed="rId1"/>
          <a:stretch>
            <a:fillRect/>
          </a:stretch>
        </p:blipFill>
        <p:spPr>
          <a:xfrm>
            <a:off x="777240" y="1298448"/>
            <a:ext cx="6675120" cy="4062229"/>
          </a:xfrm>
          <a:prstGeom prst="rect">
            <a:avLst/>
          </a:prstGeom>
        </p:spPr>
      </p:pic>
      <p:sp>
        <p:nvSpPr>
          <p:cNvPr id="6" name="Text 3"/>
          <p:cNvSpPr/>
          <p:nvPr/>
        </p:nvSpPr>
        <p:spPr>
          <a:xfrm>
            <a:off x="777240" y="5415541"/>
            <a:ext cx="6675120" cy="310896"/>
          </a:xfrm>
          <a:prstGeom prst="rect">
            <a:avLst/>
          </a:prstGeom>
          <a:noFill/>
          <a:ln/>
        </p:spPr>
        <p:txBody>
          <a:bodyPr wrap="square" lIns="0" tIns="0" rIns="0" bIns="0" rtlCol="0" anchor="t"/>
          <a:lstStyle/>
          <a:p>
            <a:pPr indent="0" marL="0">
              <a:buNone/>
            </a:pPr>
            <a:r>
              <a:rPr lang="en-US" sz="1050" b="1" dirty="0">
                <a:solidFill>
                  <a:srgbClr val="56534C"/>
                </a:solidFill>
                <a:latin typeface="Cambria" pitchFamily="34" charset="0"/>
                <a:ea typeface="Cambria" pitchFamily="34" charset="-122"/>
                <a:cs typeface="Cambria" pitchFamily="34" charset="-120"/>
              </a:rPr>
              <a:t>Figura 9 — </a:t>
            </a:r>
            <a:pPr indent="0" marL="0">
              <a:buNone/>
            </a:pPr>
            <a:r>
              <a:rPr lang="en-US" sz="1050" dirty="0">
                <a:solidFill>
                  <a:srgbClr val="56534C"/>
                </a:solidFill>
                <a:latin typeface="Cambria" pitchFamily="34" charset="0"/>
                <a:ea typeface="Cambria" pitchFamily="34" charset="-122"/>
                <a:cs typeface="Cambria" pitchFamily="34" charset="-120"/>
              </a:rPr>
              <a:t>Crianças (0 a 14 anos): mediana × Gini de cada município (tamanho do ponto = número de setores).</a:t>
            </a:r>
            <a:endParaRPr lang="en-US" sz="1050" dirty="0"/>
          </a:p>
        </p:txBody>
      </p:sp>
      <p:sp>
        <p:nvSpPr>
          <p:cNvPr id="7" name="Shape 4"/>
          <p:cNvSpPr/>
          <p:nvPr/>
        </p:nvSpPr>
        <p:spPr>
          <a:xfrm>
            <a:off x="7589520" y="1298448"/>
            <a:ext cx="0" cy="4828032"/>
          </a:xfrm>
          <a:prstGeom prst="line">
            <a:avLst/>
          </a:prstGeom>
          <a:noFill/>
          <a:ln w="9525">
            <a:solidFill>
              <a:srgbClr val="C8C6C0"/>
            </a:solidFill>
            <a:prstDash val="solid"/>
          </a:ln>
        </p:spPr>
      </p:sp>
      <p:sp>
        <p:nvSpPr>
          <p:cNvPr id="8" name="Text 5"/>
          <p:cNvSpPr/>
          <p:nvPr/>
        </p:nvSpPr>
        <p:spPr>
          <a:xfrm>
            <a:off x="7726680" y="1298448"/>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O que é.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Cada ponto é um município: na horizontal, o nível do indicador; na vertical, a desigualdade entre os setores dele.</a:t>
            </a:r>
            <a:endParaRPr lang="en-US" sz="1150" dirty="0"/>
          </a:p>
        </p:txBody>
      </p:sp>
      <p:sp>
        <p:nvSpPr>
          <p:cNvPr id="9" name="Text 6"/>
          <p:cNvSpPr/>
          <p:nvPr/>
        </p:nvSpPr>
        <p:spPr>
          <a:xfrm>
            <a:off x="7726680" y="1977771"/>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Para que serve.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Separa cidades com o problema espalhado (nível alto, Gini baixo) de cidades com o problema concentrado em poucos setores (Gini alto).</a:t>
            </a:r>
            <a:endParaRPr lang="en-US" sz="1150" dirty="0"/>
          </a:p>
        </p:txBody>
      </p:sp>
      <p:sp>
        <p:nvSpPr>
          <p:cNvPr id="10" name="Text 7"/>
          <p:cNvSpPr/>
          <p:nvPr/>
        </p:nvSpPr>
        <p:spPr>
          <a:xfrm>
            <a:off x="7726680" y="2657094"/>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Como ler.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Pontos maiores são cidades com mais setores. Os nomes marcados são os extremos de desigualdade.</a:t>
            </a:r>
            <a:endParaRPr lang="en-US" sz="1150" dirty="0"/>
          </a:p>
        </p:txBody>
      </p:sp>
      <p:sp>
        <p:nvSpPr>
          <p:cNvPr id="11" name="Text 8"/>
          <p:cNvSpPr/>
          <p:nvPr/>
        </p:nvSpPr>
        <p:spPr>
          <a:xfrm>
            <a:off x="7726680" y="3146552"/>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8C2F27"/>
                </a:solidFill>
                <a:latin typeface="Cambria" pitchFamily="34" charset="0"/>
                <a:ea typeface="Cambria" pitchFamily="34" charset="-122"/>
                <a:cs typeface="Cambria" pitchFamily="34" charset="-120"/>
              </a:rPr>
              <a:t>O que mostra.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Entre os 56 municípios com pelo menos 30 setores, o Gini vai de 0,077 (Ibatiba) a 0,253 (Porto Alegre).</a:t>
            </a:r>
            <a:endParaRPr lang="en-US" sz="1150" dirty="0"/>
          </a:p>
        </p:txBody>
      </p:sp>
      <p:sp>
        <p:nvSpPr>
          <p:cNvPr id="12" name="Text 9"/>
          <p:cNvSpPr/>
          <p:nvPr/>
        </p:nvSpPr>
        <p:spPr>
          <a:xfrm>
            <a:off x="9948672" y="146304"/>
            <a:ext cx="1463040" cy="274320"/>
          </a:xfrm>
          <a:prstGeom prst="rect">
            <a:avLst/>
          </a:prstGeom>
          <a:noFill/>
          <a:ln/>
        </p:spPr>
        <p:txBody>
          <a:bodyPr wrap="square" lIns="0" tIns="0" rIns="0" bIns="0" rtlCol="0" anchor="ctr"/>
          <a:lstStyle/>
          <a:p>
            <a:pPr algn="r" indent="0" marL="0">
              <a:buNone/>
            </a:pPr>
            <a:r>
              <a:rPr lang="en-US" sz="1100" b="1" dirty="0">
                <a:solidFill>
                  <a:srgbClr val="8C2F27"/>
                </a:solidFill>
                <a:latin typeface="Cambria" pitchFamily="34" charset="0"/>
                <a:ea typeface="Cambria" pitchFamily="34" charset="-122"/>
                <a:cs typeface="Cambria" pitchFamily="34" charset="-120"/>
              </a:rPr>
              <a:t>CRI-20</a:t>
            </a:r>
            <a:endParaRPr lang="en-US" sz="11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21</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600" b="1" dirty="0">
                <a:solidFill>
                  <a:srgbClr val="1A1A18"/>
                </a:solidFill>
                <a:latin typeface="Cambria" pitchFamily="34" charset="0"/>
                <a:ea typeface="Cambria" pitchFamily="34" charset="-122"/>
                <a:cs typeface="Cambria" pitchFamily="34" charset="-120"/>
              </a:rPr>
              <a:t>Favela e fora da favela: a tabela</a:t>
            </a:r>
            <a:endParaRPr lang="en-US" sz="2600" dirty="0"/>
          </a:p>
        </p:txBody>
      </p:sp>
      <p:sp>
        <p:nvSpPr>
          <p:cNvPr id="4" name="Shape 2"/>
          <p:cNvSpPr/>
          <p:nvPr/>
        </p:nvSpPr>
        <p:spPr>
          <a:xfrm>
            <a:off x="777240" y="1024128"/>
            <a:ext cx="10634472" cy="0"/>
          </a:xfrm>
          <a:prstGeom prst="line">
            <a:avLst/>
          </a:prstGeom>
          <a:noFill/>
          <a:ln w="12700">
            <a:solidFill>
              <a:srgbClr val="1A1A18"/>
            </a:solidFill>
            <a:prstDash val="solid"/>
          </a:ln>
        </p:spPr>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777240" y="1298448"/>
          <a:ext cx="6675120" cy="914400"/>
        </p:xfrm>
        <a:graphic>
          <a:graphicData uri="http://schemas.openxmlformats.org/drawingml/2006/table">
            <a:tbl>
              <a:tblPr/>
              <a:tblGrid>
                <a:gridCol w="2047037"/>
                <a:gridCol w="890016"/>
                <a:gridCol w="1068019"/>
                <a:gridCol w="1068019"/>
                <a:gridCol w="890016"/>
                <a:gridCol w="712013"/>
              </a:tblGrid>
              <a:tr h="246888">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Grupo</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Setores</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Média</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Mediana</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p75</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 zeros</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r>
              <a:tr h="254127">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Favela e comunidade urbana</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19.440</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0,222</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0,219</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0,251</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0,1%</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54127">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Fora de favela</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84.410</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0,161</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0,161</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0,196</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0,6%</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r>
            </a:tbl>
          </a:graphicData>
        </a:graphic>
      </p:graphicFrame>
      <p:sp>
        <p:nvSpPr>
          <p:cNvPr id="6" name="Shape 3"/>
          <p:cNvSpPr/>
          <p:nvPr/>
        </p:nvSpPr>
        <p:spPr>
          <a:xfrm>
            <a:off x="7589520" y="1298448"/>
            <a:ext cx="0" cy="4828032"/>
          </a:xfrm>
          <a:prstGeom prst="line">
            <a:avLst/>
          </a:prstGeom>
          <a:noFill/>
          <a:ln w="9525">
            <a:solidFill>
              <a:srgbClr val="C8C6C0"/>
            </a:solidFill>
            <a:prstDash val="solid"/>
          </a:ln>
        </p:spPr>
      </p:sp>
      <p:sp>
        <p:nvSpPr>
          <p:cNvPr id="7" name="Text 4"/>
          <p:cNvSpPr/>
          <p:nvPr/>
        </p:nvSpPr>
        <p:spPr>
          <a:xfrm>
            <a:off x="7726680" y="1298448"/>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O que é.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As estatísticas do indicador nos setores de favela e comunidade urbana (classificação do IBGE) e nos demais.</a:t>
            </a:r>
            <a:endParaRPr lang="en-US" sz="1150" dirty="0"/>
          </a:p>
        </p:txBody>
      </p:sp>
      <p:sp>
        <p:nvSpPr>
          <p:cNvPr id="8" name="Text 5"/>
          <p:cNvSpPr/>
          <p:nvPr/>
        </p:nvSpPr>
        <p:spPr>
          <a:xfrm>
            <a:off x="7726680" y="1977771"/>
            <a:ext cx="3685032" cy="79603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Para que serve.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Favela é um território sabidamente vulnerável: um indicador de vulnerabilidade deveria ser mais alto nela. É uma checagem de bom senso, não uma validação.</a:t>
            </a:r>
            <a:endParaRPr lang="en-US" sz="1150" dirty="0"/>
          </a:p>
        </p:txBody>
      </p:sp>
      <p:sp>
        <p:nvSpPr>
          <p:cNvPr id="9" name="Text 6"/>
          <p:cNvSpPr/>
          <p:nvPr/>
        </p:nvSpPr>
        <p:spPr>
          <a:xfrm>
            <a:off x="7726680" y="2846959"/>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Como ler.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Compare as médias; a razão diz quantas vezes o valor na favela é o de fora.</a:t>
            </a:r>
            <a:endParaRPr lang="en-US" sz="1150" dirty="0"/>
          </a:p>
        </p:txBody>
      </p:sp>
      <p:sp>
        <p:nvSpPr>
          <p:cNvPr id="10" name="Text 7"/>
          <p:cNvSpPr/>
          <p:nvPr/>
        </p:nvSpPr>
        <p:spPr>
          <a:xfrm>
            <a:off x="7726680" y="3336417"/>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8C2F27"/>
                </a:solidFill>
                <a:latin typeface="Cambria" pitchFamily="34" charset="0"/>
                <a:ea typeface="Cambria" pitchFamily="34" charset="-122"/>
                <a:cs typeface="Cambria" pitchFamily="34" charset="-120"/>
              </a:rPr>
              <a:t>O que mostra.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Média de 0,222 nos setores de favela e de 0,161 fora delas (razão de 1,4).</a:t>
            </a:r>
            <a:endParaRPr lang="en-US" sz="1150" dirty="0"/>
          </a:p>
        </p:txBody>
      </p:sp>
      <p:sp>
        <p:nvSpPr>
          <p:cNvPr id="11" name="Text 8"/>
          <p:cNvSpPr/>
          <p:nvPr/>
        </p:nvSpPr>
        <p:spPr>
          <a:xfrm>
            <a:off x="9948672" y="146304"/>
            <a:ext cx="1463040" cy="274320"/>
          </a:xfrm>
          <a:prstGeom prst="rect">
            <a:avLst/>
          </a:prstGeom>
          <a:noFill/>
          <a:ln/>
        </p:spPr>
        <p:txBody>
          <a:bodyPr wrap="square" lIns="0" tIns="0" rIns="0" bIns="0" rtlCol="0" anchor="ctr"/>
          <a:lstStyle/>
          <a:p>
            <a:pPr algn="r" indent="0" marL="0">
              <a:buNone/>
            </a:pPr>
            <a:r>
              <a:rPr lang="en-US" sz="1100" b="1" dirty="0">
                <a:solidFill>
                  <a:srgbClr val="8C2F27"/>
                </a:solidFill>
                <a:latin typeface="Cambria" pitchFamily="34" charset="0"/>
                <a:ea typeface="Cambria" pitchFamily="34" charset="-122"/>
                <a:cs typeface="Cambria" pitchFamily="34" charset="-120"/>
              </a:rPr>
              <a:t>CRI-21</a:t>
            </a:r>
            <a:endParaRPr lang="en-US" sz="11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22</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600" b="1" dirty="0">
                <a:solidFill>
                  <a:srgbClr val="1A1A18"/>
                </a:solidFill>
                <a:latin typeface="Cambria" pitchFamily="34" charset="0"/>
                <a:ea typeface="Cambria" pitchFamily="34" charset="-122"/>
                <a:cs typeface="Cambria" pitchFamily="34" charset="-120"/>
              </a:rPr>
              <a:t>Favela e fora da favela: o boxplot</a:t>
            </a:r>
            <a:endParaRPr lang="en-US" sz="2600" dirty="0"/>
          </a:p>
        </p:txBody>
      </p:sp>
      <p:sp>
        <p:nvSpPr>
          <p:cNvPr id="4" name="Shape 2"/>
          <p:cNvSpPr/>
          <p:nvPr/>
        </p:nvSpPr>
        <p:spPr>
          <a:xfrm>
            <a:off x="777240" y="1024128"/>
            <a:ext cx="10634472" cy="0"/>
          </a:xfrm>
          <a:prstGeom prst="line">
            <a:avLst/>
          </a:prstGeom>
          <a:noFill/>
          <a:ln w="12700">
            <a:solidFill>
              <a:srgbClr val="1A1A18"/>
            </a:solidFill>
            <a:prstDash val="solid"/>
          </a:ln>
        </p:spPr>
      </p:sp>
      <p:pic>
        <p:nvPicPr>
          <p:cNvPr id="5" name="Image 0" descr="/Users/pedro/Documents/Iniciacao Cientifica/Projeto_IVS_Censo22/apresentacoes_multiversao/figuras/CRI_favela.png">    </p:cNvPr>
          <p:cNvPicPr>
            <a:picLocks noChangeAspect="1"/>
          </p:cNvPicPr>
          <p:nvPr/>
        </p:nvPicPr>
        <p:blipFill>
          <a:blip r:embed="rId1"/>
          <a:stretch>
            <a:fillRect/>
          </a:stretch>
        </p:blipFill>
        <p:spPr>
          <a:xfrm>
            <a:off x="777240" y="1298448"/>
            <a:ext cx="6675120" cy="3848591"/>
          </a:xfrm>
          <a:prstGeom prst="rect">
            <a:avLst/>
          </a:prstGeom>
        </p:spPr>
      </p:pic>
      <p:sp>
        <p:nvSpPr>
          <p:cNvPr id="6" name="Text 3"/>
          <p:cNvSpPr/>
          <p:nvPr/>
        </p:nvSpPr>
        <p:spPr>
          <a:xfrm>
            <a:off x="777240" y="5201903"/>
            <a:ext cx="6675120" cy="310896"/>
          </a:xfrm>
          <a:prstGeom prst="rect">
            <a:avLst/>
          </a:prstGeom>
          <a:noFill/>
          <a:ln/>
        </p:spPr>
        <p:txBody>
          <a:bodyPr wrap="square" lIns="0" tIns="0" rIns="0" bIns="0" rtlCol="0" anchor="t"/>
          <a:lstStyle/>
          <a:p>
            <a:pPr indent="0" marL="0">
              <a:buNone/>
            </a:pPr>
            <a:r>
              <a:rPr lang="en-US" sz="1050" b="1" dirty="0">
                <a:solidFill>
                  <a:srgbClr val="56534C"/>
                </a:solidFill>
                <a:latin typeface="Cambria" pitchFamily="34" charset="0"/>
                <a:ea typeface="Cambria" pitchFamily="34" charset="-122"/>
                <a:cs typeface="Cambria" pitchFamily="34" charset="-120"/>
              </a:rPr>
              <a:t>Figura 10 — </a:t>
            </a:r>
            <a:pPr indent="0" marL="0">
              <a:buNone/>
            </a:pPr>
            <a:r>
              <a:rPr lang="en-US" sz="1050" dirty="0">
                <a:solidFill>
                  <a:srgbClr val="56534C"/>
                </a:solidFill>
                <a:latin typeface="Cambria" pitchFamily="34" charset="0"/>
                <a:ea typeface="Cambria" pitchFamily="34" charset="-122"/>
                <a:cs typeface="Cambria" pitchFamily="34" charset="-120"/>
              </a:rPr>
              <a:t>Crianças (0 a 14 anos): setores de favela e fora de favela.</a:t>
            </a:r>
            <a:endParaRPr lang="en-US" sz="1050" dirty="0"/>
          </a:p>
        </p:txBody>
      </p:sp>
      <p:sp>
        <p:nvSpPr>
          <p:cNvPr id="7" name="Shape 4"/>
          <p:cNvSpPr/>
          <p:nvPr/>
        </p:nvSpPr>
        <p:spPr>
          <a:xfrm>
            <a:off x="7589520" y="1298448"/>
            <a:ext cx="0" cy="4828032"/>
          </a:xfrm>
          <a:prstGeom prst="line">
            <a:avLst/>
          </a:prstGeom>
          <a:noFill/>
          <a:ln w="9525">
            <a:solidFill>
              <a:srgbClr val="C8C6C0"/>
            </a:solidFill>
            <a:prstDash val="solid"/>
          </a:ln>
        </p:spPr>
      </p:sp>
      <p:sp>
        <p:nvSpPr>
          <p:cNvPr id="8" name="Text 5"/>
          <p:cNvSpPr/>
          <p:nvPr/>
        </p:nvSpPr>
        <p:spPr>
          <a:xfrm>
            <a:off x="7726680" y="1298448"/>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O que é.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Um boxplot para os setores de favela e outro para os demais.</a:t>
            </a:r>
            <a:endParaRPr lang="en-US" sz="1150" dirty="0"/>
          </a:p>
        </p:txBody>
      </p:sp>
      <p:sp>
        <p:nvSpPr>
          <p:cNvPr id="9" name="Text 6"/>
          <p:cNvSpPr/>
          <p:nvPr/>
        </p:nvSpPr>
        <p:spPr>
          <a:xfrm>
            <a:off x="7726680" y="1787906"/>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Para que serve.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Mostra se a diferença está em todos os setores ou só em alguns.</a:t>
            </a:r>
            <a:endParaRPr lang="en-US" sz="1150" dirty="0"/>
          </a:p>
        </p:txBody>
      </p:sp>
      <p:sp>
        <p:nvSpPr>
          <p:cNvPr id="10" name="Text 7"/>
          <p:cNvSpPr/>
          <p:nvPr/>
        </p:nvSpPr>
        <p:spPr>
          <a:xfrm>
            <a:off x="7726680" y="2277364"/>
            <a:ext cx="3685032" cy="98590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Como ler.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A caixa vai do percentil 25 ao 75 (metade central dos setores); a linha vermelha é a mediana; o losango, a média; os bigodes vão até 1,5 vez a altura da caixa. Os extremos além dos bigodes não são desenhados, para a escala não ficar presa a poucos setores.</a:t>
            </a:r>
            <a:endParaRPr lang="en-US" sz="1150" dirty="0"/>
          </a:p>
        </p:txBody>
      </p:sp>
      <p:sp>
        <p:nvSpPr>
          <p:cNvPr id="11" name="Text 8"/>
          <p:cNvSpPr/>
          <p:nvPr/>
        </p:nvSpPr>
        <p:spPr>
          <a:xfrm>
            <a:off x="7726680" y="3336417"/>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8C2F27"/>
                </a:solidFill>
                <a:latin typeface="Cambria" pitchFamily="34" charset="0"/>
                <a:ea typeface="Cambria" pitchFamily="34" charset="-122"/>
                <a:cs typeface="Cambria" pitchFamily="34" charset="-120"/>
              </a:rPr>
              <a:t>O que mostra.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Média de 0,222 nos setores de favela e de 0,161 fora delas (razão de 1,4).</a:t>
            </a:r>
            <a:endParaRPr lang="en-US" sz="1150" dirty="0"/>
          </a:p>
        </p:txBody>
      </p:sp>
      <p:sp>
        <p:nvSpPr>
          <p:cNvPr id="12" name="Text 9"/>
          <p:cNvSpPr/>
          <p:nvPr/>
        </p:nvSpPr>
        <p:spPr>
          <a:xfrm>
            <a:off x="9948672" y="146304"/>
            <a:ext cx="1463040" cy="274320"/>
          </a:xfrm>
          <a:prstGeom prst="rect">
            <a:avLst/>
          </a:prstGeom>
          <a:noFill/>
          <a:ln/>
        </p:spPr>
        <p:txBody>
          <a:bodyPr wrap="square" lIns="0" tIns="0" rIns="0" bIns="0" rtlCol="0" anchor="ctr"/>
          <a:lstStyle/>
          <a:p>
            <a:pPr algn="r" indent="0" marL="0">
              <a:buNone/>
            </a:pPr>
            <a:r>
              <a:rPr lang="en-US" sz="1100" b="1" dirty="0">
                <a:solidFill>
                  <a:srgbClr val="8C2F27"/>
                </a:solidFill>
                <a:latin typeface="Cambria" pitchFamily="34" charset="0"/>
                <a:ea typeface="Cambria" pitchFamily="34" charset="-122"/>
                <a:cs typeface="Cambria" pitchFamily="34" charset="-120"/>
              </a:rPr>
              <a:t>CRI-22</a:t>
            </a:r>
            <a:endParaRPr lang="en-US" sz="11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23</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600" b="1" dirty="0">
                <a:solidFill>
                  <a:srgbClr val="1A1A18"/>
                </a:solidFill>
                <a:latin typeface="Cambria" pitchFamily="34" charset="0"/>
                <a:ea typeface="Cambria" pitchFamily="34" charset="-122"/>
                <a:cs typeface="Cambria" pitchFamily="34" charset="-120"/>
              </a:rPr>
              <a:t>O indicador ao longo da renda</a:t>
            </a:r>
            <a:endParaRPr lang="en-US" sz="2600" dirty="0"/>
          </a:p>
        </p:txBody>
      </p:sp>
      <p:sp>
        <p:nvSpPr>
          <p:cNvPr id="4" name="Shape 2"/>
          <p:cNvSpPr/>
          <p:nvPr/>
        </p:nvSpPr>
        <p:spPr>
          <a:xfrm>
            <a:off x="777240" y="1024128"/>
            <a:ext cx="10634472" cy="0"/>
          </a:xfrm>
          <a:prstGeom prst="line">
            <a:avLst/>
          </a:prstGeom>
          <a:noFill/>
          <a:ln w="12700">
            <a:solidFill>
              <a:srgbClr val="1A1A18"/>
            </a:solidFill>
            <a:prstDash val="solid"/>
          </a:ln>
        </p:spPr>
      </p:sp>
      <p:pic>
        <p:nvPicPr>
          <p:cNvPr id="5" name="Image 0" descr="/Users/pedro/Documents/Iniciacao Cientifica/Projeto_IVS_Censo22/apresentacoes_multiversao/figuras/CRI_gradiente.png">    </p:cNvPr>
          <p:cNvPicPr>
            <a:picLocks noChangeAspect="1"/>
          </p:cNvPicPr>
          <p:nvPr/>
        </p:nvPicPr>
        <p:blipFill>
          <a:blip r:embed="rId1"/>
          <a:stretch>
            <a:fillRect/>
          </a:stretch>
        </p:blipFill>
        <p:spPr>
          <a:xfrm>
            <a:off x="777240" y="1298448"/>
            <a:ext cx="6675120" cy="4045954"/>
          </a:xfrm>
          <a:prstGeom prst="rect">
            <a:avLst/>
          </a:prstGeom>
        </p:spPr>
      </p:pic>
      <p:sp>
        <p:nvSpPr>
          <p:cNvPr id="6" name="Text 3"/>
          <p:cNvSpPr/>
          <p:nvPr/>
        </p:nvSpPr>
        <p:spPr>
          <a:xfrm>
            <a:off x="777240" y="5399266"/>
            <a:ext cx="6675120" cy="310896"/>
          </a:xfrm>
          <a:prstGeom prst="rect">
            <a:avLst/>
          </a:prstGeom>
          <a:noFill/>
          <a:ln/>
        </p:spPr>
        <p:txBody>
          <a:bodyPr wrap="square" lIns="0" tIns="0" rIns="0" bIns="0" rtlCol="0" anchor="t"/>
          <a:lstStyle/>
          <a:p>
            <a:pPr indent="0" marL="0">
              <a:buNone/>
            </a:pPr>
            <a:r>
              <a:rPr lang="en-US" sz="1050" b="1" dirty="0">
                <a:solidFill>
                  <a:srgbClr val="56534C"/>
                </a:solidFill>
                <a:latin typeface="Cambria" pitchFamily="34" charset="0"/>
                <a:ea typeface="Cambria" pitchFamily="34" charset="-122"/>
                <a:cs typeface="Cambria" pitchFamily="34" charset="-120"/>
              </a:rPr>
              <a:t>Figura 11 — </a:t>
            </a:r>
            <a:pPr indent="0" marL="0">
              <a:buNone/>
            </a:pPr>
            <a:r>
              <a:rPr lang="en-US" sz="1050" dirty="0">
                <a:solidFill>
                  <a:srgbClr val="56534C"/>
                </a:solidFill>
                <a:latin typeface="Cambria" pitchFamily="34" charset="0"/>
                <a:ea typeface="Cambria" pitchFamily="34" charset="-122"/>
                <a:cs typeface="Cambria" pitchFamily="34" charset="-120"/>
              </a:rPr>
              <a:t>Crianças (0 a 14 anos) por decil de renda do setor no município (1 = mais pobre).</a:t>
            </a:r>
            <a:endParaRPr lang="en-US" sz="1050" dirty="0"/>
          </a:p>
        </p:txBody>
      </p:sp>
      <p:sp>
        <p:nvSpPr>
          <p:cNvPr id="7" name="Shape 4"/>
          <p:cNvSpPr/>
          <p:nvPr/>
        </p:nvSpPr>
        <p:spPr>
          <a:xfrm>
            <a:off x="7589520" y="1298448"/>
            <a:ext cx="0" cy="4828032"/>
          </a:xfrm>
          <a:prstGeom prst="line">
            <a:avLst/>
          </a:prstGeom>
          <a:noFill/>
          <a:ln w="9525">
            <a:solidFill>
              <a:srgbClr val="C8C6C0"/>
            </a:solidFill>
            <a:prstDash val="solid"/>
          </a:ln>
        </p:spPr>
      </p:sp>
      <p:sp>
        <p:nvSpPr>
          <p:cNvPr id="8" name="Text 5"/>
          <p:cNvSpPr/>
          <p:nvPr/>
        </p:nvSpPr>
        <p:spPr>
          <a:xfrm>
            <a:off x="7726680" y="1298448"/>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O que é.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Os setores de cada município ordenados pela renda e divididos em 10 grupos iguais (decis); o gráfico dá a média e a mediana do indicador em cada grupo.</a:t>
            </a:r>
            <a:endParaRPr lang="en-US" sz="1150" dirty="0"/>
          </a:p>
        </p:txBody>
      </p:sp>
      <p:sp>
        <p:nvSpPr>
          <p:cNvPr id="9" name="Text 6"/>
          <p:cNvSpPr/>
          <p:nvPr/>
        </p:nvSpPr>
        <p:spPr>
          <a:xfrm>
            <a:off x="7726680" y="1977771"/>
            <a:ext cx="3685032" cy="79603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Para que serve.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Mostra o gradiente social: se o indicador piora à medida que a renda cai. Como os decis são feitos dentro de cada município, a comparação é sempre entre setores da mesma cidade.</a:t>
            </a:r>
            <a:endParaRPr lang="en-US" sz="1150" dirty="0"/>
          </a:p>
        </p:txBody>
      </p:sp>
      <p:sp>
        <p:nvSpPr>
          <p:cNvPr id="10" name="Text 7"/>
          <p:cNvSpPr/>
          <p:nvPr/>
        </p:nvSpPr>
        <p:spPr>
          <a:xfrm>
            <a:off x="7726680" y="2846959"/>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Como ler.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Linha descendente da esquerda para a direita: o indicador é maior nos setores mais pobres. Linha plana: não depende da renda.</a:t>
            </a:r>
            <a:endParaRPr lang="en-US" sz="1150" dirty="0"/>
          </a:p>
        </p:txBody>
      </p:sp>
      <p:sp>
        <p:nvSpPr>
          <p:cNvPr id="11" name="Text 8"/>
          <p:cNvSpPr/>
          <p:nvPr/>
        </p:nvSpPr>
        <p:spPr>
          <a:xfrm>
            <a:off x="7726680" y="3526282"/>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8C2F27"/>
                </a:solidFill>
                <a:latin typeface="Cambria" pitchFamily="34" charset="0"/>
                <a:ea typeface="Cambria" pitchFamily="34" charset="-122"/>
                <a:cs typeface="Cambria" pitchFamily="34" charset="-120"/>
              </a:rPr>
              <a:t>O que mostra.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No decil 1 a média é 0,239; no decil 10, 0,143.</a:t>
            </a:r>
            <a:endParaRPr lang="en-US" sz="1150" dirty="0"/>
          </a:p>
        </p:txBody>
      </p:sp>
      <p:sp>
        <p:nvSpPr>
          <p:cNvPr id="12" name="Text 9"/>
          <p:cNvSpPr/>
          <p:nvPr/>
        </p:nvSpPr>
        <p:spPr>
          <a:xfrm>
            <a:off x="9948672" y="146304"/>
            <a:ext cx="1463040" cy="274320"/>
          </a:xfrm>
          <a:prstGeom prst="rect">
            <a:avLst/>
          </a:prstGeom>
          <a:noFill/>
          <a:ln/>
        </p:spPr>
        <p:txBody>
          <a:bodyPr wrap="square" lIns="0" tIns="0" rIns="0" bIns="0" rtlCol="0" anchor="ctr"/>
          <a:lstStyle/>
          <a:p>
            <a:pPr algn="r" indent="0" marL="0">
              <a:buNone/>
            </a:pPr>
            <a:r>
              <a:rPr lang="en-US" sz="1100" b="1" dirty="0">
                <a:solidFill>
                  <a:srgbClr val="8C2F27"/>
                </a:solidFill>
                <a:latin typeface="Cambria" pitchFamily="34" charset="0"/>
                <a:ea typeface="Cambria" pitchFamily="34" charset="-122"/>
                <a:cs typeface="Cambria" pitchFamily="34" charset="-120"/>
              </a:rPr>
              <a:t>CRI-23</a:t>
            </a:r>
            <a:endParaRPr lang="en-US" sz="11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24</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600" b="1" dirty="0">
                <a:solidFill>
                  <a:srgbClr val="1A1A18"/>
                </a:solidFill>
                <a:latin typeface="Cambria" pitchFamily="34" charset="0"/>
                <a:ea typeface="Cambria" pitchFamily="34" charset="-122"/>
                <a:cs typeface="Cambria" pitchFamily="34" charset="-120"/>
              </a:rPr>
              <a:t>Os 70 municípios e o Brasil urbano: a tabela</a:t>
            </a:r>
            <a:endParaRPr lang="en-US" sz="2600" dirty="0"/>
          </a:p>
        </p:txBody>
      </p:sp>
      <p:sp>
        <p:nvSpPr>
          <p:cNvPr id="4" name="Shape 2"/>
          <p:cNvSpPr/>
          <p:nvPr/>
        </p:nvSpPr>
        <p:spPr>
          <a:xfrm>
            <a:off x="777240" y="1024128"/>
            <a:ext cx="10634472" cy="0"/>
          </a:xfrm>
          <a:prstGeom prst="line">
            <a:avLst/>
          </a:prstGeom>
          <a:noFill/>
          <a:ln w="12700">
            <a:solidFill>
              <a:srgbClr val="1A1A18"/>
            </a:solidFill>
            <a:prstDash val="solid"/>
          </a:ln>
        </p:spPr>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777240" y="1298448"/>
          <a:ext cx="6675120" cy="914400"/>
        </p:xfrm>
        <a:graphic>
          <a:graphicData uri="http://schemas.openxmlformats.org/drawingml/2006/table">
            <a:tbl>
              <a:tblPr/>
              <a:tblGrid>
                <a:gridCol w="2047037"/>
                <a:gridCol w="890016"/>
                <a:gridCol w="1068019"/>
                <a:gridCol w="1068019"/>
                <a:gridCol w="890016"/>
                <a:gridCol w="712013"/>
              </a:tblGrid>
              <a:tr h="246888">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Grupo</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Setores</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Média</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Mediana</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p75</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 zeros</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r>
              <a:tr h="254127">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Brasil, setores urbanos</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346.371</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0,187</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0,186</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0,224</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0,7%</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54127">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70 municípios do ELSI</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103.850</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0,173</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0,172</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0,210</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0,5%</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r>
            </a:tbl>
          </a:graphicData>
        </a:graphic>
      </p:graphicFrame>
      <p:sp>
        <p:nvSpPr>
          <p:cNvPr id="6" name="Shape 3"/>
          <p:cNvSpPr/>
          <p:nvPr/>
        </p:nvSpPr>
        <p:spPr>
          <a:xfrm>
            <a:off x="7589520" y="1298448"/>
            <a:ext cx="0" cy="4828032"/>
          </a:xfrm>
          <a:prstGeom prst="line">
            <a:avLst/>
          </a:prstGeom>
          <a:noFill/>
          <a:ln w="9525">
            <a:solidFill>
              <a:srgbClr val="C8C6C0"/>
            </a:solidFill>
            <a:prstDash val="solid"/>
          </a:ln>
        </p:spPr>
      </p:sp>
      <p:sp>
        <p:nvSpPr>
          <p:cNvPr id="7" name="Text 4"/>
          <p:cNvSpPr/>
          <p:nvPr/>
        </p:nvSpPr>
        <p:spPr>
          <a:xfrm>
            <a:off x="7726680" y="1298448"/>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O que é.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O indicador nos setores urbanos de todo o Brasil e nos dos 70 municípios do ELSI-Brasil.</a:t>
            </a:r>
            <a:endParaRPr lang="en-US" sz="1150" dirty="0"/>
          </a:p>
        </p:txBody>
      </p:sp>
      <p:sp>
        <p:nvSpPr>
          <p:cNvPr id="8" name="Text 5"/>
          <p:cNvSpPr/>
          <p:nvPr/>
        </p:nvSpPr>
        <p:spPr>
          <a:xfrm>
            <a:off x="7726680" y="1787906"/>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Para que serve.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Diz se o recorte do estudo é parecido com o país urbano, ou se há viés de seleção dos municípios.</a:t>
            </a:r>
            <a:endParaRPr lang="en-US" sz="1150" dirty="0"/>
          </a:p>
        </p:txBody>
      </p:sp>
      <p:sp>
        <p:nvSpPr>
          <p:cNvPr id="9" name="Text 6"/>
          <p:cNvSpPr/>
          <p:nvPr/>
        </p:nvSpPr>
        <p:spPr>
          <a:xfrm>
            <a:off x="7726680" y="2467229"/>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Como ler.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Médias próximas: o recorte representa bem o Brasil urbano neste indicador.</a:t>
            </a:r>
            <a:endParaRPr lang="en-US" sz="1150" dirty="0"/>
          </a:p>
        </p:txBody>
      </p:sp>
      <p:sp>
        <p:nvSpPr>
          <p:cNvPr id="10" name="Text 7"/>
          <p:cNvSpPr/>
          <p:nvPr/>
        </p:nvSpPr>
        <p:spPr>
          <a:xfrm>
            <a:off x="7726680" y="2956687"/>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8C2F27"/>
                </a:solidFill>
                <a:latin typeface="Cambria" pitchFamily="34" charset="0"/>
                <a:ea typeface="Cambria" pitchFamily="34" charset="-122"/>
                <a:cs typeface="Cambria" pitchFamily="34" charset="-120"/>
              </a:rPr>
              <a:t>O que mostra.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No Brasil urbano a média é 0,187; nos 70 municípios, 0,173.</a:t>
            </a:r>
            <a:endParaRPr lang="en-US" sz="1150" dirty="0"/>
          </a:p>
        </p:txBody>
      </p:sp>
      <p:sp>
        <p:nvSpPr>
          <p:cNvPr id="11" name="Text 8"/>
          <p:cNvSpPr/>
          <p:nvPr/>
        </p:nvSpPr>
        <p:spPr>
          <a:xfrm>
            <a:off x="9948672" y="146304"/>
            <a:ext cx="1463040" cy="274320"/>
          </a:xfrm>
          <a:prstGeom prst="rect">
            <a:avLst/>
          </a:prstGeom>
          <a:noFill/>
          <a:ln/>
        </p:spPr>
        <p:txBody>
          <a:bodyPr wrap="square" lIns="0" tIns="0" rIns="0" bIns="0" rtlCol="0" anchor="ctr"/>
          <a:lstStyle/>
          <a:p>
            <a:pPr algn="r" indent="0" marL="0">
              <a:buNone/>
            </a:pPr>
            <a:r>
              <a:rPr lang="en-US" sz="1100" b="1" dirty="0">
                <a:solidFill>
                  <a:srgbClr val="8C2F27"/>
                </a:solidFill>
                <a:latin typeface="Cambria" pitchFamily="34" charset="0"/>
                <a:ea typeface="Cambria" pitchFamily="34" charset="-122"/>
                <a:cs typeface="Cambria" pitchFamily="34" charset="-120"/>
              </a:rPr>
              <a:t>CRI-24</a:t>
            </a:r>
            <a:endParaRPr lang="en-US" sz="11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25</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600" b="1" dirty="0">
                <a:solidFill>
                  <a:srgbClr val="1A1A18"/>
                </a:solidFill>
                <a:latin typeface="Cambria" pitchFamily="34" charset="0"/>
                <a:ea typeface="Cambria" pitchFamily="34" charset="-122"/>
                <a:cs typeface="Cambria" pitchFamily="34" charset="-120"/>
              </a:rPr>
              <a:t>Os 70 municípios e o Brasil urbano: o gráfico</a:t>
            </a:r>
            <a:endParaRPr lang="en-US" sz="2600" dirty="0"/>
          </a:p>
        </p:txBody>
      </p:sp>
      <p:sp>
        <p:nvSpPr>
          <p:cNvPr id="4" name="Shape 2"/>
          <p:cNvSpPr/>
          <p:nvPr/>
        </p:nvSpPr>
        <p:spPr>
          <a:xfrm>
            <a:off x="777240" y="1024128"/>
            <a:ext cx="10634472" cy="0"/>
          </a:xfrm>
          <a:prstGeom prst="line">
            <a:avLst/>
          </a:prstGeom>
          <a:noFill/>
          <a:ln w="12700">
            <a:solidFill>
              <a:srgbClr val="1A1A18"/>
            </a:solidFill>
            <a:prstDash val="solid"/>
          </a:ln>
        </p:spPr>
      </p:sp>
      <p:pic>
        <p:nvPicPr>
          <p:cNvPr id="5" name="Image 0" descr="/Users/pedro/Documents/Iniciacao Cientifica/Projeto_IVS_Censo22/apresentacoes_multiversao/figuras/CRI_brasil.png">    </p:cNvPr>
          <p:cNvPicPr>
            <a:picLocks noChangeAspect="1"/>
          </p:cNvPicPr>
          <p:nvPr/>
        </p:nvPicPr>
        <p:blipFill>
          <a:blip r:embed="rId1"/>
          <a:stretch>
            <a:fillRect/>
          </a:stretch>
        </p:blipFill>
        <p:spPr>
          <a:xfrm>
            <a:off x="777240" y="1298448"/>
            <a:ext cx="6675120" cy="4093503"/>
          </a:xfrm>
          <a:prstGeom prst="rect">
            <a:avLst/>
          </a:prstGeom>
        </p:spPr>
      </p:pic>
      <p:sp>
        <p:nvSpPr>
          <p:cNvPr id="6" name="Text 3"/>
          <p:cNvSpPr/>
          <p:nvPr/>
        </p:nvSpPr>
        <p:spPr>
          <a:xfrm>
            <a:off x="777240" y="5446815"/>
            <a:ext cx="6675120" cy="310896"/>
          </a:xfrm>
          <a:prstGeom prst="rect">
            <a:avLst/>
          </a:prstGeom>
          <a:noFill/>
          <a:ln/>
        </p:spPr>
        <p:txBody>
          <a:bodyPr wrap="square" lIns="0" tIns="0" rIns="0" bIns="0" rtlCol="0" anchor="t"/>
          <a:lstStyle/>
          <a:p>
            <a:pPr indent="0" marL="0">
              <a:buNone/>
            </a:pPr>
            <a:r>
              <a:rPr lang="en-US" sz="1050" b="1" dirty="0">
                <a:solidFill>
                  <a:srgbClr val="56534C"/>
                </a:solidFill>
                <a:latin typeface="Cambria" pitchFamily="34" charset="0"/>
                <a:ea typeface="Cambria" pitchFamily="34" charset="-122"/>
                <a:cs typeface="Cambria" pitchFamily="34" charset="-120"/>
              </a:rPr>
              <a:t>Figura 12 — </a:t>
            </a:r>
            <a:pPr indent="0" marL="0">
              <a:buNone/>
            </a:pPr>
            <a:r>
              <a:rPr lang="en-US" sz="1050" dirty="0">
                <a:solidFill>
                  <a:srgbClr val="56534C"/>
                </a:solidFill>
                <a:latin typeface="Cambria" pitchFamily="34" charset="0"/>
                <a:ea typeface="Cambria" pitchFamily="34" charset="-122"/>
                <a:cs typeface="Cambria" pitchFamily="34" charset="-120"/>
              </a:rPr>
              <a:t>Crianças (0 a 14 anos): distribuição acumulada no Brasil urbano e nos 70 municípios.</a:t>
            </a:r>
            <a:endParaRPr lang="en-US" sz="1050" dirty="0"/>
          </a:p>
        </p:txBody>
      </p:sp>
      <p:sp>
        <p:nvSpPr>
          <p:cNvPr id="7" name="Shape 4"/>
          <p:cNvSpPr/>
          <p:nvPr/>
        </p:nvSpPr>
        <p:spPr>
          <a:xfrm>
            <a:off x="7589520" y="1298448"/>
            <a:ext cx="0" cy="4828032"/>
          </a:xfrm>
          <a:prstGeom prst="line">
            <a:avLst/>
          </a:prstGeom>
          <a:noFill/>
          <a:ln w="9525">
            <a:solidFill>
              <a:srgbClr val="C8C6C0"/>
            </a:solidFill>
            <a:prstDash val="solid"/>
          </a:ln>
        </p:spPr>
      </p:sp>
      <p:sp>
        <p:nvSpPr>
          <p:cNvPr id="8" name="Text 5"/>
          <p:cNvSpPr/>
          <p:nvPr/>
        </p:nvSpPr>
        <p:spPr>
          <a:xfrm>
            <a:off x="7726680" y="1298448"/>
            <a:ext cx="3685032" cy="22644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O que é.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As duas distribuições acumuladas sobrepostas.</a:t>
            </a:r>
            <a:endParaRPr lang="en-US" sz="1150" dirty="0"/>
          </a:p>
        </p:txBody>
      </p:sp>
      <p:sp>
        <p:nvSpPr>
          <p:cNvPr id="9" name="Text 6"/>
          <p:cNvSpPr/>
          <p:nvPr/>
        </p:nvSpPr>
        <p:spPr>
          <a:xfrm>
            <a:off x="7726680" y="1598041"/>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Para que serve.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Compara a distribuição inteira, não só a média.</a:t>
            </a:r>
            <a:endParaRPr lang="en-US" sz="1150" dirty="0"/>
          </a:p>
        </p:txBody>
      </p:sp>
      <p:sp>
        <p:nvSpPr>
          <p:cNvPr id="10" name="Text 7"/>
          <p:cNvSpPr/>
          <p:nvPr/>
        </p:nvSpPr>
        <p:spPr>
          <a:xfrm>
            <a:off x="7726680" y="2087499"/>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Como ler.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Curva mais à direita: valores mais altos. Curvas coladas: as duas populações de setores são parecidas.</a:t>
            </a:r>
            <a:endParaRPr lang="en-US" sz="1150" dirty="0"/>
          </a:p>
        </p:txBody>
      </p:sp>
      <p:sp>
        <p:nvSpPr>
          <p:cNvPr id="11" name="Text 8"/>
          <p:cNvSpPr/>
          <p:nvPr/>
        </p:nvSpPr>
        <p:spPr>
          <a:xfrm>
            <a:off x="7726680" y="2766822"/>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8C2F27"/>
                </a:solidFill>
                <a:latin typeface="Cambria" pitchFamily="34" charset="0"/>
                <a:ea typeface="Cambria" pitchFamily="34" charset="-122"/>
                <a:cs typeface="Cambria" pitchFamily="34" charset="-120"/>
              </a:rPr>
              <a:t>O que mostra.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No Brasil urbano a média é 0,187; nos 70 municípios, 0,173.</a:t>
            </a:r>
            <a:endParaRPr lang="en-US" sz="1150" dirty="0"/>
          </a:p>
        </p:txBody>
      </p:sp>
      <p:sp>
        <p:nvSpPr>
          <p:cNvPr id="12" name="Text 9"/>
          <p:cNvSpPr/>
          <p:nvPr/>
        </p:nvSpPr>
        <p:spPr>
          <a:xfrm>
            <a:off x="9948672" y="146304"/>
            <a:ext cx="1463040" cy="274320"/>
          </a:xfrm>
          <a:prstGeom prst="rect">
            <a:avLst/>
          </a:prstGeom>
          <a:noFill/>
          <a:ln/>
        </p:spPr>
        <p:txBody>
          <a:bodyPr wrap="square" lIns="0" tIns="0" rIns="0" bIns="0" rtlCol="0" anchor="ctr"/>
          <a:lstStyle/>
          <a:p>
            <a:pPr algn="r" indent="0" marL="0">
              <a:buNone/>
            </a:pPr>
            <a:r>
              <a:rPr lang="en-US" sz="1100" b="1" dirty="0">
                <a:solidFill>
                  <a:srgbClr val="8C2F27"/>
                </a:solidFill>
                <a:latin typeface="Cambria" pitchFamily="34" charset="0"/>
                <a:ea typeface="Cambria" pitchFamily="34" charset="-122"/>
                <a:cs typeface="Cambria" pitchFamily="34" charset="-120"/>
              </a:rPr>
              <a:t>CRI-25</a:t>
            </a:r>
            <a:endParaRPr lang="en-US" sz="11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26</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600" b="1" dirty="0">
                <a:solidFill>
                  <a:srgbClr val="1A1A18"/>
                </a:solidFill>
                <a:latin typeface="Cambria" pitchFamily="34" charset="0"/>
                <a:ea typeface="Cambria" pitchFamily="34" charset="-122"/>
                <a:cs typeface="Cambria" pitchFamily="34" charset="-120"/>
              </a:rPr>
              <a:t>Os valores extremos</a:t>
            </a:r>
            <a:endParaRPr lang="en-US" sz="2600" dirty="0"/>
          </a:p>
        </p:txBody>
      </p:sp>
      <p:sp>
        <p:nvSpPr>
          <p:cNvPr id="4" name="Shape 2"/>
          <p:cNvSpPr/>
          <p:nvPr/>
        </p:nvSpPr>
        <p:spPr>
          <a:xfrm>
            <a:off x="777240" y="1024128"/>
            <a:ext cx="10634472" cy="0"/>
          </a:xfrm>
          <a:prstGeom prst="line">
            <a:avLst/>
          </a:prstGeom>
          <a:noFill/>
          <a:ln w="12700">
            <a:solidFill>
              <a:srgbClr val="1A1A18"/>
            </a:solidFill>
            <a:prstDash val="solid"/>
          </a:ln>
        </p:spPr>
      </p:sp>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777240" y="1298448"/>
          <a:ext cx="6400800" cy="914400"/>
        </p:xfrm>
        <a:graphic>
          <a:graphicData uri="http://schemas.openxmlformats.org/drawingml/2006/table">
            <a:tbl>
              <a:tblPr/>
              <a:tblGrid>
                <a:gridCol w="2560320"/>
                <a:gridCol w="914400"/>
                <a:gridCol w="1188720"/>
                <a:gridCol w="1737360"/>
              </a:tblGrid>
              <a:tr h="246888">
                <a:tc>
                  <a:txBody>
                    <a:bodyPr/>
                    <a:lstStyle/>
                    <a:p>
                      <a:pPr indent="0" marL="0">
                        <a:buNone/>
                      </a:pPr>
                      <a:r>
                        <a:rPr lang="en-US" sz="900" b="1" dirty="0">
                          <a:solidFill>
                            <a:srgbClr val="1A1A18"/>
                          </a:solidFill>
                          <a:latin typeface="Cambria" pitchFamily="34" charset="0"/>
                          <a:ea typeface="Cambria" pitchFamily="34" charset="-122"/>
                          <a:cs typeface="Cambria" pitchFamily="34" charset="-120"/>
                        </a:rPr>
                        <a:t>Município</a:t>
                      </a:r>
                      <a:endParaRPr lang="en-US" sz="9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00" b="1" dirty="0">
                          <a:solidFill>
                            <a:srgbClr val="1A1A18"/>
                          </a:solidFill>
                          <a:latin typeface="Cambria" pitchFamily="34" charset="0"/>
                          <a:ea typeface="Cambria" pitchFamily="34" charset="-122"/>
                          <a:cs typeface="Cambria" pitchFamily="34" charset="-120"/>
                        </a:rPr>
                        <a:t>Favela</a:t>
                      </a:r>
                      <a:endParaRPr lang="en-US" sz="9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00" b="1" dirty="0">
                          <a:solidFill>
                            <a:srgbClr val="1A1A18"/>
                          </a:solidFill>
                          <a:latin typeface="Cambria" pitchFamily="34" charset="0"/>
                          <a:ea typeface="Cambria" pitchFamily="34" charset="-122"/>
                          <a:cs typeface="Cambria" pitchFamily="34" charset="-120"/>
                        </a:rPr>
                        <a:t>Moradores</a:t>
                      </a:r>
                      <a:endParaRPr lang="en-US" sz="9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00" b="1" dirty="0">
                          <a:solidFill>
                            <a:srgbClr val="1A1A18"/>
                          </a:solidFill>
                          <a:latin typeface="Cambria" pitchFamily="34" charset="0"/>
                          <a:ea typeface="Cambria" pitchFamily="34" charset="-122"/>
                          <a:cs typeface="Cambria" pitchFamily="34" charset="-120"/>
                        </a:rPr>
                        <a:t>Valor</a:t>
                      </a:r>
                      <a:endParaRPr lang="en-US" sz="9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Portel</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não</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41</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0,488</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Brasília</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não</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64</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0,484</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Teresina</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não</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21</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0,476</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São José dos Pinhais</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não</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100</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0,470</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Nova Iguaçu</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sim</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105</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0,467</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Campo Grande</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sim</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235</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0,464</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São Paulo</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não</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52</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0,462</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Portel</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não</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910</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0,451</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Guarulhos</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não</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20</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0,450</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Salvador</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não</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29</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0,448</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r>
            </a:tbl>
          </a:graphicData>
        </a:graphic>
      </p:graphicFrame>
      <p:sp>
        <p:nvSpPr>
          <p:cNvPr id="6" name="Shape 3"/>
          <p:cNvSpPr/>
          <p:nvPr/>
        </p:nvSpPr>
        <p:spPr>
          <a:xfrm>
            <a:off x="7589520" y="1298448"/>
            <a:ext cx="0" cy="4828032"/>
          </a:xfrm>
          <a:prstGeom prst="line">
            <a:avLst/>
          </a:prstGeom>
          <a:noFill/>
          <a:ln w="9525">
            <a:solidFill>
              <a:srgbClr val="C8C6C0"/>
            </a:solidFill>
            <a:prstDash val="solid"/>
          </a:ln>
        </p:spPr>
      </p:sp>
      <p:sp>
        <p:nvSpPr>
          <p:cNvPr id="7" name="Text 4"/>
          <p:cNvSpPr/>
          <p:nvPr/>
        </p:nvSpPr>
        <p:spPr>
          <a:xfrm>
            <a:off x="7726680" y="1298448"/>
            <a:ext cx="3685032" cy="22644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O que é.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Os 10 setores com o maior valor do indicador.</a:t>
            </a:r>
            <a:endParaRPr lang="en-US" sz="1150" dirty="0"/>
          </a:p>
        </p:txBody>
      </p:sp>
      <p:sp>
        <p:nvSpPr>
          <p:cNvPr id="8" name="Text 5"/>
          <p:cNvSpPr/>
          <p:nvPr/>
        </p:nvSpPr>
        <p:spPr>
          <a:xfrm>
            <a:off x="7726680" y="1598041"/>
            <a:ext cx="3685032" cy="79603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Para que serve.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Ajuda a separar extremo verdadeiro (um setor realmente muito carente, ou muito rico) de erro de dado. A coluna "Moradores" mostra setores pequenos, onde um domicílio muda muito a proporção.</a:t>
            </a:r>
            <a:endParaRPr lang="en-US" sz="1150" dirty="0"/>
          </a:p>
        </p:txBody>
      </p:sp>
      <p:sp>
        <p:nvSpPr>
          <p:cNvPr id="9" name="Text 6"/>
          <p:cNvSpPr/>
          <p:nvPr/>
        </p:nvSpPr>
        <p:spPr>
          <a:xfrm>
            <a:off x="7726680" y="2467229"/>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Como ler.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Proporção 1 quer dizer todos os domicílios (ou pessoas) do setor na condição.</a:t>
            </a:r>
            <a:endParaRPr lang="en-US" sz="1150" dirty="0"/>
          </a:p>
        </p:txBody>
      </p:sp>
      <p:sp>
        <p:nvSpPr>
          <p:cNvPr id="10" name="Text 7"/>
          <p:cNvSpPr/>
          <p:nvPr/>
        </p:nvSpPr>
        <p:spPr>
          <a:xfrm>
            <a:off x="7726680" y="2956687"/>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8C2F27"/>
                </a:solidFill>
                <a:latin typeface="Cambria" pitchFamily="34" charset="0"/>
                <a:ea typeface="Cambria" pitchFamily="34" charset="-122"/>
                <a:cs typeface="Cambria" pitchFamily="34" charset="-120"/>
              </a:rPr>
              <a:t>O que mostra.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O percentil 99 é 0,316; 1.039 setores ficam acima dele.</a:t>
            </a:r>
            <a:endParaRPr lang="en-US" sz="1150" dirty="0"/>
          </a:p>
        </p:txBody>
      </p:sp>
      <p:sp>
        <p:nvSpPr>
          <p:cNvPr id="11" name="Text 8"/>
          <p:cNvSpPr/>
          <p:nvPr/>
        </p:nvSpPr>
        <p:spPr>
          <a:xfrm>
            <a:off x="9948672" y="146304"/>
            <a:ext cx="1463040" cy="274320"/>
          </a:xfrm>
          <a:prstGeom prst="rect">
            <a:avLst/>
          </a:prstGeom>
          <a:noFill/>
          <a:ln/>
        </p:spPr>
        <p:txBody>
          <a:bodyPr wrap="square" lIns="0" tIns="0" rIns="0" bIns="0" rtlCol="0" anchor="ctr"/>
          <a:lstStyle/>
          <a:p>
            <a:pPr algn="r" indent="0" marL="0">
              <a:buNone/>
            </a:pPr>
            <a:r>
              <a:rPr lang="en-US" sz="1100" b="1" dirty="0">
                <a:solidFill>
                  <a:srgbClr val="8C2F27"/>
                </a:solidFill>
                <a:latin typeface="Cambria" pitchFamily="34" charset="0"/>
                <a:ea typeface="Cambria" pitchFamily="34" charset="-122"/>
                <a:cs typeface="Cambria" pitchFamily="34" charset="-120"/>
              </a:rPr>
              <a:t>CRI-26</a:t>
            </a:r>
            <a:endParaRPr lang="en-US" sz="11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27</a:t>
            </a:r>
            <a:endParaRPr lang="en-US" sz="1000" dirty="0"/>
          </a:p>
        </p:txBody>
      </p:sp>
      <p:sp>
        <p:nvSpPr>
          <p:cNvPr id="3" name="Text 1"/>
          <p:cNvSpPr/>
          <p:nvPr/>
        </p:nvSpPr>
        <p:spPr>
          <a:xfrm>
            <a:off x="777240" y="2331720"/>
            <a:ext cx="1097280" cy="822960"/>
          </a:xfrm>
          <a:prstGeom prst="rect">
            <a:avLst/>
          </a:prstGeom>
          <a:noFill/>
          <a:ln/>
        </p:spPr>
        <p:txBody>
          <a:bodyPr wrap="square" lIns="0" tIns="0" rIns="0" bIns="0" rtlCol="0" anchor="ctr"/>
          <a:lstStyle/>
          <a:p>
            <a:pPr indent="0" marL="0">
              <a:buNone/>
            </a:pPr>
            <a:r>
              <a:rPr lang="en-US" sz="5400" b="1" dirty="0">
                <a:solidFill>
                  <a:srgbClr val="8C2F27"/>
                </a:solidFill>
                <a:latin typeface="Cambria" pitchFamily="34" charset="0"/>
                <a:ea typeface="Cambria" pitchFamily="34" charset="-122"/>
                <a:cs typeface="Cambria" pitchFamily="34" charset="-120"/>
              </a:rPr>
              <a:t>2</a:t>
            </a:r>
            <a:endParaRPr lang="en-US" sz="5400" dirty="0"/>
          </a:p>
        </p:txBody>
      </p:sp>
      <p:sp>
        <p:nvSpPr>
          <p:cNvPr id="4" name="Text 2"/>
          <p:cNvSpPr/>
          <p:nvPr/>
        </p:nvSpPr>
        <p:spPr>
          <a:xfrm>
            <a:off x="1920240" y="2331720"/>
            <a:ext cx="9491472" cy="822960"/>
          </a:xfrm>
          <a:prstGeom prst="rect">
            <a:avLst/>
          </a:prstGeom>
          <a:noFill/>
          <a:ln/>
        </p:spPr>
        <p:txBody>
          <a:bodyPr wrap="square" lIns="0" tIns="0" rIns="0" bIns="0" rtlCol="0" anchor="ctr"/>
          <a:lstStyle/>
          <a:p>
            <a:pPr indent="0" marL="0">
              <a:buNone/>
            </a:pPr>
            <a:r>
              <a:rPr lang="en-US" sz="3200" b="1" dirty="0">
                <a:solidFill>
                  <a:srgbClr val="1A1A18"/>
                </a:solidFill>
                <a:latin typeface="Cambria" pitchFamily="34" charset="0"/>
                <a:ea typeface="Cambria" pitchFamily="34" charset="-122"/>
                <a:cs typeface="Cambria" pitchFamily="34" charset="-120"/>
              </a:rPr>
              <a:t>Na análise fatorial</a:t>
            </a:r>
            <a:endParaRPr lang="en-US" sz="3200" dirty="0"/>
          </a:p>
        </p:txBody>
      </p:sp>
      <p:sp>
        <p:nvSpPr>
          <p:cNvPr id="5" name="Shape 3"/>
          <p:cNvSpPr/>
          <p:nvPr/>
        </p:nvSpPr>
        <p:spPr>
          <a:xfrm>
            <a:off x="777240" y="3273552"/>
            <a:ext cx="10634472" cy="0"/>
          </a:xfrm>
          <a:prstGeom prst="line">
            <a:avLst/>
          </a:prstGeom>
          <a:noFill/>
          <a:ln w="12700">
            <a:solidFill>
              <a:srgbClr val="1A1A18"/>
            </a:solidFill>
            <a:prstDash val="solid"/>
          </a:ln>
        </p:spPr>
      </p:sp>
      <p:sp>
        <p:nvSpPr>
          <p:cNvPr id="6" name="Text 4"/>
          <p:cNvSpPr/>
          <p:nvPr/>
        </p:nvSpPr>
        <p:spPr>
          <a:xfrm>
            <a:off x="1920240" y="3401568"/>
            <a:ext cx="9034272" cy="731520"/>
          </a:xfrm>
          <a:prstGeom prst="rect">
            <a:avLst/>
          </a:prstGeom>
          <a:noFill/>
          <a:ln/>
        </p:spPr>
        <p:txBody>
          <a:bodyPr wrap="square" lIns="0" tIns="0" rIns="0" bIns="0" rtlCol="0" anchor="ctr"/>
          <a:lstStyle/>
          <a:p>
            <a:pPr indent="0" marL="0">
              <a:buNone/>
            </a:pPr>
            <a:r>
              <a:rPr lang="en-US" sz="1400" i="1" dirty="0">
                <a:solidFill>
                  <a:srgbClr val="56534C"/>
                </a:solidFill>
                <a:latin typeface="Cambria" pitchFamily="34" charset="0"/>
                <a:ea typeface="Cambria" pitchFamily="34" charset="-122"/>
                <a:cs typeface="Cambria" pitchFamily="34" charset="-120"/>
              </a:rPr>
              <a:t>Como o indicador se relaciona com os outros 11, quanto compartilha com eles, o que acontece quando entra ou sai e o peso que recebe no índice.</a:t>
            </a:r>
            <a:endParaRPr lang="en-US" sz="1400" dirty="0"/>
          </a:p>
        </p:txBody>
      </p:sp>
      <p:sp>
        <p:nvSpPr>
          <p:cNvPr id="7" name="Text 5"/>
          <p:cNvSpPr/>
          <p:nvPr/>
        </p:nvSpPr>
        <p:spPr>
          <a:xfrm>
            <a:off x="9948672" y="146304"/>
            <a:ext cx="1463040" cy="274320"/>
          </a:xfrm>
          <a:prstGeom prst="rect">
            <a:avLst/>
          </a:prstGeom>
          <a:noFill/>
          <a:ln/>
        </p:spPr>
        <p:txBody>
          <a:bodyPr wrap="square" lIns="0" tIns="0" rIns="0" bIns="0" rtlCol="0" anchor="ctr"/>
          <a:lstStyle/>
          <a:p>
            <a:pPr algn="r" indent="0" marL="0">
              <a:buNone/>
            </a:pPr>
            <a:r>
              <a:rPr lang="en-US" sz="1100" b="1" dirty="0">
                <a:solidFill>
                  <a:srgbClr val="8C2F27"/>
                </a:solidFill>
                <a:latin typeface="Cambria" pitchFamily="34" charset="0"/>
                <a:ea typeface="Cambria" pitchFamily="34" charset="-122"/>
                <a:cs typeface="Cambria" pitchFamily="34" charset="-120"/>
              </a:rPr>
              <a:t>CRI-27</a:t>
            </a:r>
            <a:endParaRPr lang="en-US" sz="11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28</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600" b="1" dirty="0">
                <a:solidFill>
                  <a:srgbClr val="1A1A18"/>
                </a:solidFill>
                <a:latin typeface="Cambria" pitchFamily="34" charset="0"/>
                <a:ea typeface="Cambria" pitchFamily="34" charset="-122"/>
                <a:cs typeface="Cambria" pitchFamily="34" charset="-120"/>
              </a:rPr>
              <a:t>Correlação com os outros 11: a tabela</a:t>
            </a:r>
            <a:endParaRPr lang="en-US" sz="2600" dirty="0"/>
          </a:p>
        </p:txBody>
      </p:sp>
      <p:sp>
        <p:nvSpPr>
          <p:cNvPr id="4" name="Shape 2"/>
          <p:cNvSpPr/>
          <p:nvPr/>
        </p:nvSpPr>
        <p:spPr>
          <a:xfrm>
            <a:off x="777240" y="1024128"/>
            <a:ext cx="10634472" cy="0"/>
          </a:xfrm>
          <a:prstGeom prst="line">
            <a:avLst/>
          </a:prstGeom>
          <a:noFill/>
          <a:ln w="12700">
            <a:solidFill>
              <a:srgbClr val="1A1A18"/>
            </a:solidFill>
            <a:prstDash val="solid"/>
          </a:ln>
        </p:spPr>
      </p:sp>
      <p:graphicFrame>
        <p:nvGraphicFramePr>
          <p:cNvPr id="29" name="Table 0"/>
          <p:cNvGraphicFramePr>
            <a:graphicFrameLocks noGrp="1"/>
          </p:cNvGraphicFramePr>
          <p:nvPr>
            <p:extLst>
              <p:ext uri="{D42A27DB-BD31-4B8C-83A1-F6EECF244321}">
                <p14:modId xmlns:p14="http://schemas.microsoft.com/office/powerpoint/2010/main" val="1579011935"/>
              </p:ext>
            </p:extLst>
          </p:nvPr>
        </p:nvGraphicFramePr>
        <p:xfrm>
          <a:off x="777240" y="1298448"/>
          <a:ext cx="6400800" cy="914400"/>
        </p:xfrm>
        <a:graphic>
          <a:graphicData uri="http://schemas.openxmlformats.org/drawingml/2006/table">
            <a:tbl>
              <a:tblPr/>
              <a:tblGrid>
                <a:gridCol w="2926080"/>
                <a:gridCol w="1463040"/>
                <a:gridCol w="2011680"/>
              </a:tblGrid>
              <a:tr h="246888">
                <a:tc>
                  <a:txBody>
                    <a:bodyPr/>
                    <a:lstStyle/>
                    <a:p>
                      <a:pPr indent="0" marL="0">
                        <a:buNone/>
                      </a:pPr>
                      <a:r>
                        <a:rPr lang="en-US" sz="900" b="1" dirty="0">
                          <a:solidFill>
                            <a:srgbClr val="1A1A18"/>
                          </a:solidFill>
                          <a:latin typeface="Cambria" pitchFamily="34" charset="0"/>
                          <a:ea typeface="Cambria" pitchFamily="34" charset="-122"/>
                          <a:cs typeface="Cambria" pitchFamily="34" charset="-120"/>
                        </a:rPr>
                        <a:t>Indicador</a:t>
                      </a:r>
                      <a:endParaRPr lang="en-US" sz="9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00" b="1" dirty="0">
                          <a:solidFill>
                            <a:srgbClr val="1A1A18"/>
                          </a:solidFill>
                          <a:latin typeface="Cambria" pitchFamily="34" charset="0"/>
                          <a:ea typeface="Cambria" pitchFamily="34" charset="-122"/>
                          <a:cs typeface="Cambria" pitchFamily="34" charset="-120"/>
                        </a:rPr>
                        <a:t>No conjunto</a:t>
                      </a:r>
                      <a:endParaRPr lang="en-US" sz="9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00" b="1" dirty="0">
                          <a:solidFill>
                            <a:srgbClr val="1A1A18"/>
                          </a:solidFill>
                          <a:latin typeface="Cambria" pitchFamily="34" charset="0"/>
                          <a:ea typeface="Cambria" pitchFamily="34" charset="-122"/>
                          <a:cs typeface="Cambria" pitchFamily="34" charset="-120"/>
                        </a:rPr>
                        <a:t>Dentro dos municípios</a:t>
                      </a:r>
                      <a:endParaRPr lang="en-US" sz="9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Idosos (60 anos ou mais)</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-0,79</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-0,77</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Renda média do responsável</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0,62</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0,64</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Razão de moradores</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0,61</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0,59</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Preta, parda ou indígena</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0,56</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0,66</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Analfabetismo (15 anos ou mais)</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0,54</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0,54</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Esgoto inadequado</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0,39</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0,34</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Sem água canalizada</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0,24</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0,21</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Água inadequada</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0,22</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0,12</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Sem banheiro</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0,19</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0,16</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Lixo inadequado</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0,19</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0,22</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Moradia não convencional</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0,04</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0,03</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r>
            </a:tbl>
          </a:graphicData>
        </a:graphic>
      </p:graphicFrame>
      <p:sp>
        <p:nvSpPr>
          <p:cNvPr id="6" name="Shape 3"/>
          <p:cNvSpPr/>
          <p:nvPr/>
        </p:nvSpPr>
        <p:spPr>
          <a:xfrm>
            <a:off x="7589520" y="1298448"/>
            <a:ext cx="0" cy="4828032"/>
          </a:xfrm>
          <a:prstGeom prst="line">
            <a:avLst/>
          </a:prstGeom>
          <a:noFill/>
          <a:ln w="9525">
            <a:solidFill>
              <a:srgbClr val="C8C6C0"/>
            </a:solidFill>
            <a:prstDash val="solid"/>
          </a:ln>
        </p:spPr>
      </p:sp>
      <p:sp>
        <p:nvSpPr>
          <p:cNvPr id="7" name="Text 4"/>
          <p:cNvSpPr/>
          <p:nvPr/>
        </p:nvSpPr>
        <p:spPr>
          <a:xfrm>
            <a:off x="7726680" y="1298448"/>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O que é.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A correlação do indicador com cada um dos outros 11, nos setores que têm os 12.</a:t>
            </a:r>
            <a:endParaRPr lang="en-US" sz="1150" dirty="0"/>
          </a:p>
        </p:txBody>
      </p:sp>
      <p:sp>
        <p:nvSpPr>
          <p:cNvPr id="8" name="Text 5"/>
          <p:cNvSpPr/>
          <p:nvPr/>
        </p:nvSpPr>
        <p:spPr>
          <a:xfrm>
            <a:off x="7726680" y="1787906"/>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Para que serve.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A análise fatorial agrupa os indicadores que andam juntos. Correlações altas dizem com quem este indicador vai formar uma dimensão.</a:t>
            </a:r>
            <a:endParaRPr lang="en-US" sz="1150" dirty="0"/>
          </a:p>
        </p:txBody>
      </p:sp>
      <p:sp>
        <p:nvSpPr>
          <p:cNvPr id="9" name="Text 6"/>
          <p:cNvSpPr/>
          <p:nvPr/>
        </p:nvSpPr>
        <p:spPr>
          <a:xfrm>
            <a:off x="7726680" y="2467229"/>
            <a:ext cx="3685032" cy="117576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Como ler.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A correlação de Spearman vai de −1 a 1: perto de 1, os setores com valor alto num indicador também têm valor alto no outro; perto de 0, não há relação; negativa, um sobe quando o outro desce. "No conjunto" compara todos os setores; "dentro dos municípios", cada setor só com os da própria cidade.</a:t>
            </a:r>
            <a:endParaRPr lang="en-US" sz="1150" dirty="0"/>
          </a:p>
        </p:txBody>
      </p:sp>
      <p:sp>
        <p:nvSpPr>
          <p:cNvPr id="10" name="Text 7"/>
          <p:cNvSpPr/>
          <p:nvPr/>
        </p:nvSpPr>
        <p:spPr>
          <a:xfrm>
            <a:off x="7726680" y="3716147"/>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8C2F27"/>
                </a:solidFill>
                <a:latin typeface="Cambria" pitchFamily="34" charset="0"/>
                <a:ea typeface="Cambria" pitchFamily="34" charset="-122"/>
                <a:cs typeface="Cambria" pitchFamily="34" charset="-120"/>
              </a:rPr>
              <a:t>O que mostra.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A correlação mais forte é com Idosos (60 anos ou mais): -0,79 no conjunto e -0,77 dentro dos municípios.</a:t>
            </a:r>
            <a:endParaRPr lang="en-US" sz="1150" dirty="0"/>
          </a:p>
        </p:txBody>
      </p:sp>
      <p:sp>
        <p:nvSpPr>
          <p:cNvPr id="11" name="Text 8"/>
          <p:cNvSpPr/>
          <p:nvPr/>
        </p:nvSpPr>
        <p:spPr>
          <a:xfrm>
            <a:off x="9948672" y="146304"/>
            <a:ext cx="1463040" cy="274320"/>
          </a:xfrm>
          <a:prstGeom prst="rect">
            <a:avLst/>
          </a:prstGeom>
          <a:noFill/>
          <a:ln/>
        </p:spPr>
        <p:txBody>
          <a:bodyPr wrap="square" lIns="0" tIns="0" rIns="0" bIns="0" rtlCol="0" anchor="ctr"/>
          <a:lstStyle/>
          <a:p>
            <a:pPr algn="r" indent="0" marL="0">
              <a:buNone/>
            </a:pPr>
            <a:r>
              <a:rPr lang="en-US" sz="1100" b="1" dirty="0">
                <a:solidFill>
                  <a:srgbClr val="8C2F27"/>
                </a:solidFill>
                <a:latin typeface="Cambria" pitchFamily="34" charset="0"/>
                <a:ea typeface="Cambria" pitchFamily="34" charset="-122"/>
                <a:cs typeface="Cambria" pitchFamily="34" charset="-120"/>
              </a:rPr>
              <a:t>CRI-28</a:t>
            </a:r>
            <a:endParaRPr lang="en-US" sz="11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29</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600" b="1" dirty="0">
                <a:solidFill>
                  <a:srgbClr val="1A1A18"/>
                </a:solidFill>
                <a:latin typeface="Cambria" pitchFamily="34" charset="0"/>
                <a:ea typeface="Cambria" pitchFamily="34" charset="-122"/>
                <a:cs typeface="Cambria" pitchFamily="34" charset="-120"/>
              </a:rPr>
              <a:t>Correlação com os outros 11: o gráfico</a:t>
            </a:r>
            <a:endParaRPr lang="en-US" sz="2600" dirty="0"/>
          </a:p>
        </p:txBody>
      </p:sp>
      <p:sp>
        <p:nvSpPr>
          <p:cNvPr id="4" name="Shape 2"/>
          <p:cNvSpPr/>
          <p:nvPr/>
        </p:nvSpPr>
        <p:spPr>
          <a:xfrm>
            <a:off x="777240" y="1024128"/>
            <a:ext cx="10634472" cy="0"/>
          </a:xfrm>
          <a:prstGeom prst="line">
            <a:avLst/>
          </a:prstGeom>
          <a:noFill/>
          <a:ln w="12700">
            <a:solidFill>
              <a:srgbClr val="1A1A18"/>
            </a:solidFill>
            <a:prstDash val="solid"/>
          </a:ln>
        </p:spPr>
      </p:sp>
      <p:pic>
        <p:nvPicPr>
          <p:cNvPr id="5" name="Image 0" descr="/Users/pedro/Documents/Iniciacao Cientifica/Projeto_IVS_Censo22/apresentacoes_multiversao/figuras/CRI_correlacao.png">    </p:cNvPr>
          <p:cNvPicPr>
            <a:picLocks noChangeAspect="1"/>
          </p:cNvPicPr>
          <p:nvPr/>
        </p:nvPicPr>
        <p:blipFill>
          <a:blip r:embed="rId1"/>
          <a:stretch>
            <a:fillRect/>
          </a:stretch>
        </p:blipFill>
        <p:spPr>
          <a:xfrm>
            <a:off x="777240" y="1298448"/>
            <a:ext cx="6675120" cy="3429472"/>
          </a:xfrm>
          <a:prstGeom prst="rect">
            <a:avLst/>
          </a:prstGeom>
        </p:spPr>
      </p:pic>
      <p:sp>
        <p:nvSpPr>
          <p:cNvPr id="6" name="Text 3"/>
          <p:cNvSpPr/>
          <p:nvPr/>
        </p:nvSpPr>
        <p:spPr>
          <a:xfrm>
            <a:off x="777240" y="4782784"/>
            <a:ext cx="6675120" cy="310896"/>
          </a:xfrm>
          <a:prstGeom prst="rect">
            <a:avLst/>
          </a:prstGeom>
          <a:noFill/>
          <a:ln/>
        </p:spPr>
        <p:txBody>
          <a:bodyPr wrap="square" lIns="0" tIns="0" rIns="0" bIns="0" rtlCol="0" anchor="t"/>
          <a:lstStyle/>
          <a:p>
            <a:pPr indent="0" marL="0">
              <a:buNone/>
            </a:pPr>
            <a:r>
              <a:rPr lang="en-US" sz="1050" b="1" dirty="0">
                <a:solidFill>
                  <a:srgbClr val="56534C"/>
                </a:solidFill>
                <a:latin typeface="Cambria" pitchFamily="34" charset="0"/>
                <a:ea typeface="Cambria" pitchFamily="34" charset="-122"/>
                <a:cs typeface="Cambria" pitchFamily="34" charset="-120"/>
              </a:rPr>
              <a:t>Figura 13 — </a:t>
            </a:r>
            <a:pPr indent="0" marL="0">
              <a:buNone/>
            </a:pPr>
            <a:r>
              <a:rPr lang="en-US" sz="1050" dirty="0">
                <a:solidFill>
                  <a:srgbClr val="56534C"/>
                </a:solidFill>
                <a:latin typeface="Cambria" pitchFamily="34" charset="0"/>
                <a:ea typeface="Cambria" pitchFamily="34" charset="-122"/>
                <a:cs typeface="Cambria" pitchFamily="34" charset="-120"/>
              </a:rPr>
              <a:t>Spearman nos setores com os 12 indicadores; renda invertida.</a:t>
            </a:r>
            <a:endParaRPr lang="en-US" sz="1050" dirty="0"/>
          </a:p>
        </p:txBody>
      </p:sp>
      <p:sp>
        <p:nvSpPr>
          <p:cNvPr id="7" name="Shape 4"/>
          <p:cNvSpPr/>
          <p:nvPr/>
        </p:nvSpPr>
        <p:spPr>
          <a:xfrm>
            <a:off x="7589520" y="1298448"/>
            <a:ext cx="0" cy="4828032"/>
          </a:xfrm>
          <a:prstGeom prst="line">
            <a:avLst/>
          </a:prstGeom>
          <a:noFill/>
          <a:ln w="9525">
            <a:solidFill>
              <a:srgbClr val="C8C6C0"/>
            </a:solidFill>
            <a:prstDash val="solid"/>
          </a:ln>
        </p:spPr>
      </p:sp>
      <p:sp>
        <p:nvSpPr>
          <p:cNvPr id="8" name="Text 5"/>
          <p:cNvSpPr/>
          <p:nvPr/>
        </p:nvSpPr>
        <p:spPr>
          <a:xfrm>
            <a:off x="7726680" y="1298448"/>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O que é.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As mesmas correlações em barras: verde, no conjunto; vermelho, dentro dos municípios.</a:t>
            </a:r>
            <a:endParaRPr lang="en-US" sz="1150" dirty="0"/>
          </a:p>
        </p:txBody>
      </p:sp>
      <p:sp>
        <p:nvSpPr>
          <p:cNvPr id="9" name="Text 6"/>
          <p:cNvSpPr/>
          <p:nvPr/>
        </p:nvSpPr>
        <p:spPr>
          <a:xfrm>
            <a:off x="7726680" y="1787906"/>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Para que serve.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Quando a barra vermelha encolhe, parte da relação vinha de diferenças entre cidades, não de diferenças dentro delas.</a:t>
            </a:r>
            <a:endParaRPr lang="en-US" sz="1150" dirty="0"/>
          </a:p>
        </p:txBody>
      </p:sp>
      <p:sp>
        <p:nvSpPr>
          <p:cNvPr id="10" name="Text 7"/>
          <p:cNvSpPr/>
          <p:nvPr/>
        </p:nvSpPr>
        <p:spPr>
          <a:xfrm>
            <a:off x="7726680" y="2467229"/>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Como ler.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Barra para a direita: relação positiva; para a esquerda, negativa. Ordenado da mais forte para a mais fraca.</a:t>
            </a:r>
            <a:endParaRPr lang="en-US" sz="1150" dirty="0"/>
          </a:p>
        </p:txBody>
      </p:sp>
      <p:sp>
        <p:nvSpPr>
          <p:cNvPr id="11" name="Text 8"/>
          <p:cNvSpPr/>
          <p:nvPr/>
        </p:nvSpPr>
        <p:spPr>
          <a:xfrm>
            <a:off x="7726680" y="3146552"/>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8C2F27"/>
                </a:solidFill>
                <a:latin typeface="Cambria" pitchFamily="34" charset="0"/>
                <a:ea typeface="Cambria" pitchFamily="34" charset="-122"/>
                <a:cs typeface="Cambria" pitchFamily="34" charset="-120"/>
              </a:rPr>
              <a:t>O que mostra.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A correlação mais forte é com Idosos (60 anos ou mais): -0,79 no conjunto e -0,77 dentro dos municípios.</a:t>
            </a:r>
            <a:endParaRPr lang="en-US" sz="1150" dirty="0"/>
          </a:p>
        </p:txBody>
      </p:sp>
      <p:sp>
        <p:nvSpPr>
          <p:cNvPr id="12" name="Text 9"/>
          <p:cNvSpPr/>
          <p:nvPr/>
        </p:nvSpPr>
        <p:spPr>
          <a:xfrm>
            <a:off x="9948672" y="146304"/>
            <a:ext cx="1463040" cy="274320"/>
          </a:xfrm>
          <a:prstGeom prst="rect">
            <a:avLst/>
          </a:prstGeom>
          <a:noFill/>
          <a:ln/>
        </p:spPr>
        <p:txBody>
          <a:bodyPr wrap="square" lIns="0" tIns="0" rIns="0" bIns="0" rtlCol="0" anchor="ctr"/>
          <a:lstStyle/>
          <a:p>
            <a:pPr algn="r" indent="0" marL="0">
              <a:buNone/>
            </a:pPr>
            <a:r>
              <a:rPr lang="en-US" sz="1100" b="1" dirty="0">
                <a:solidFill>
                  <a:srgbClr val="8C2F27"/>
                </a:solidFill>
                <a:latin typeface="Cambria" pitchFamily="34" charset="0"/>
                <a:ea typeface="Cambria" pitchFamily="34" charset="-122"/>
                <a:cs typeface="Cambria" pitchFamily="34" charset="-120"/>
              </a:rPr>
              <a:t>CRI-29</a:t>
            </a:r>
            <a:endParaRPr lang="en-US" sz="11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30</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600" b="1" dirty="0">
                <a:solidFill>
                  <a:srgbClr val="1A1A18"/>
                </a:solidFill>
                <a:latin typeface="Cambria" pitchFamily="34" charset="0"/>
                <a:ea typeface="Cambria" pitchFamily="34" charset="-122"/>
                <a:cs typeface="Cambria" pitchFamily="34" charset="-120"/>
              </a:rPr>
              <a:t>Na análise fatorial das 12: a tabela</a:t>
            </a:r>
            <a:endParaRPr lang="en-US" sz="2600" dirty="0"/>
          </a:p>
        </p:txBody>
      </p:sp>
      <p:sp>
        <p:nvSpPr>
          <p:cNvPr id="4" name="Shape 2"/>
          <p:cNvSpPr/>
          <p:nvPr/>
        </p:nvSpPr>
        <p:spPr>
          <a:xfrm>
            <a:off x="777240" y="1024128"/>
            <a:ext cx="10634472" cy="0"/>
          </a:xfrm>
          <a:prstGeom prst="line">
            <a:avLst/>
          </a:prstGeom>
          <a:noFill/>
          <a:ln w="12700">
            <a:solidFill>
              <a:srgbClr val="1A1A18"/>
            </a:solidFill>
            <a:prstDash val="solid"/>
          </a:ln>
        </p:spPr>
      </p:sp>
      <p:graphicFrame>
        <p:nvGraphicFramePr>
          <p:cNvPr id="31" name="Table 0"/>
          <p:cNvGraphicFramePr>
            <a:graphicFrameLocks noGrp="1"/>
          </p:cNvGraphicFramePr>
          <p:nvPr>
            <p:extLst>
              <p:ext uri="{D42A27DB-BD31-4B8C-83A1-F6EECF244321}">
                <p14:modId xmlns:p14="http://schemas.microsoft.com/office/powerpoint/2010/main" val="1579011935"/>
              </p:ext>
            </p:extLst>
          </p:nvPr>
        </p:nvGraphicFramePr>
        <p:xfrm>
          <a:off x="777240" y="1298448"/>
          <a:ext cx="6035040" cy="914400"/>
        </p:xfrm>
        <a:graphic>
          <a:graphicData uri="http://schemas.openxmlformats.org/drawingml/2006/table">
            <a:tbl>
              <a:tblPr/>
              <a:tblGrid>
                <a:gridCol w="2560320"/>
                <a:gridCol w="1463040"/>
                <a:gridCol w="2011680"/>
              </a:tblGrid>
              <a:tr h="246888">
                <a:tc>
                  <a:txBody>
                    <a:bodyPr/>
                    <a:lstStyle/>
                    <a:p>
                      <a:pPr indent="0" marL="0">
                        <a:buNone/>
                      </a:pPr>
                      <a:r>
                        <a:rPr lang="en-US" sz="900" b="1" dirty="0">
                          <a:solidFill>
                            <a:srgbClr val="1A1A18"/>
                          </a:solidFill>
                          <a:latin typeface="Cambria" pitchFamily="34" charset="0"/>
                          <a:ea typeface="Cambria" pitchFamily="34" charset="-122"/>
                          <a:cs typeface="Cambria" pitchFamily="34" charset="-120"/>
                        </a:rPr>
                        <a:t>Medida</a:t>
                      </a:r>
                      <a:endParaRPr lang="en-US" sz="9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00" b="1" dirty="0">
                          <a:solidFill>
                            <a:srgbClr val="1A1A18"/>
                          </a:solidFill>
                          <a:latin typeface="Cambria" pitchFamily="34" charset="0"/>
                          <a:ea typeface="Cambria" pitchFamily="34" charset="-122"/>
                          <a:cs typeface="Cambria" pitchFamily="34" charset="-120"/>
                        </a:rPr>
                        <a:t>No conjunto</a:t>
                      </a:r>
                      <a:endParaRPr lang="en-US" sz="9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00" b="1" dirty="0">
                          <a:solidFill>
                            <a:srgbClr val="1A1A18"/>
                          </a:solidFill>
                          <a:latin typeface="Cambria" pitchFamily="34" charset="0"/>
                          <a:ea typeface="Cambria" pitchFamily="34" charset="-122"/>
                          <a:cs typeface="Cambria" pitchFamily="34" charset="-120"/>
                        </a:rPr>
                        <a:t>Dentro dos municípios</a:t>
                      </a:r>
                      <a:endParaRPr lang="en-US" sz="9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MSA</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0,783</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0,803</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Comunalidade</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0,791</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0,705</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Sem rotação, F1</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0,813</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0,828</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Sem rotação, F2</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-0,360</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-0,141</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Varimax, F1</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0,889</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0,836</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Varimax, F2</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0,033</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0,081</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Promax padrão, F1</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0,998</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0,854</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Promax padrão, F2</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-0,204</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-0,028</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Promax estrutura, F1</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0,875</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0,840</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Promax estrutura, F2</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0,400</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0,417</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r>
            </a:tbl>
          </a:graphicData>
        </a:graphic>
      </p:graphicFrame>
      <p:sp>
        <p:nvSpPr>
          <p:cNvPr id="6" name="Shape 3"/>
          <p:cNvSpPr/>
          <p:nvPr/>
        </p:nvSpPr>
        <p:spPr>
          <a:xfrm>
            <a:off x="7589520" y="1298448"/>
            <a:ext cx="0" cy="4828032"/>
          </a:xfrm>
          <a:prstGeom prst="line">
            <a:avLst/>
          </a:prstGeom>
          <a:noFill/>
          <a:ln w="9525">
            <a:solidFill>
              <a:srgbClr val="C8C6C0"/>
            </a:solidFill>
            <a:prstDash val="solid"/>
          </a:ln>
        </p:spPr>
      </p:sp>
      <p:sp>
        <p:nvSpPr>
          <p:cNvPr id="7" name="Text 4"/>
          <p:cNvSpPr/>
          <p:nvPr/>
        </p:nvSpPr>
        <p:spPr>
          <a:xfrm>
            <a:off x="7726680" y="1298448"/>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O que é.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O resultado da análise fatorial dos 12 indicadores juntos (eixo principal, 2 fatores), nas duas réguas.</a:t>
            </a:r>
            <a:endParaRPr lang="en-US" sz="1150" dirty="0"/>
          </a:p>
        </p:txBody>
      </p:sp>
      <p:sp>
        <p:nvSpPr>
          <p:cNvPr id="8" name="Text 5"/>
          <p:cNvSpPr/>
          <p:nvPr/>
        </p:nvSpPr>
        <p:spPr>
          <a:xfrm>
            <a:off x="7726680" y="1977771"/>
            <a:ext cx="3685032" cy="79603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Para que serve.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A carga diz quanto o indicador "pertence" a cada fator (F1, F2). A comunalidade é a parte da variação dele explicada pelos fatores; o MSA, o quanto ele combina com os outros para uma fatorial.</a:t>
            </a:r>
            <a:endParaRPr lang="en-US" sz="1150" dirty="0"/>
          </a:p>
        </p:txBody>
      </p:sp>
      <p:sp>
        <p:nvSpPr>
          <p:cNvPr id="9" name="Text 6"/>
          <p:cNvSpPr/>
          <p:nvPr/>
        </p:nvSpPr>
        <p:spPr>
          <a:xfrm>
            <a:off x="7726680" y="2846959"/>
            <a:ext cx="3685032" cy="98590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Como ler.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Carga perto de 1 (ou −1): pertence ao fator; perto de 0, não. Comunalidade abaixo de 0,30 e MSA abaixo de 0,50 são os limites pré-registrados. Varimax mantém os fatores independentes; promax deixa que se correlacionem.</a:t>
            </a:r>
            <a:endParaRPr lang="en-US" sz="1150" dirty="0"/>
          </a:p>
        </p:txBody>
      </p:sp>
      <p:sp>
        <p:nvSpPr>
          <p:cNvPr id="10" name="Text 7"/>
          <p:cNvSpPr/>
          <p:nvPr/>
        </p:nvSpPr>
        <p:spPr>
          <a:xfrm>
            <a:off x="7726680" y="3906012"/>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8C2F27"/>
                </a:solidFill>
                <a:latin typeface="Cambria" pitchFamily="34" charset="0"/>
                <a:ea typeface="Cambria" pitchFamily="34" charset="-122"/>
                <a:cs typeface="Cambria" pitchFamily="34" charset="-120"/>
              </a:rPr>
              <a:t>O que mostra.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Comunalidade de 0,791 no conjunto e 0,705 dentro dos municípios (critério: 0,30); MSA de 0,783 (critério: 0,50).</a:t>
            </a:r>
            <a:endParaRPr lang="en-US" sz="1150" dirty="0"/>
          </a:p>
        </p:txBody>
      </p:sp>
      <p:sp>
        <p:nvSpPr>
          <p:cNvPr id="11" name="Text 8"/>
          <p:cNvSpPr/>
          <p:nvPr/>
        </p:nvSpPr>
        <p:spPr>
          <a:xfrm>
            <a:off x="9948672" y="146304"/>
            <a:ext cx="1463040" cy="274320"/>
          </a:xfrm>
          <a:prstGeom prst="rect">
            <a:avLst/>
          </a:prstGeom>
          <a:noFill/>
          <a:ln/>
        </p:spPr>
        <p:txBody>
          <a:bodyPr wrap="square" lIns="0" tIns="0" rIns="0" bIns="0" rtlCol="0" anchor="ctr"/>
          <a:lstStyle/>
          <a:p>
            <a:pPr algn="r" indent="0" marL="0">
              <a:buNone/>
            </a:pPr>
            <a:r>
              <a:rPr lang="en-US" sz="1100" b="1" dirty="0">
                <a:solidFill>
                  <a:srgbClr val="8C2F27"/>
                </a:solidFill>
                <a:latin typeface="Cambria" pitchFamily="34" charset="0"/>
                <a:ea typeface="Cambria" pitchFamily="34" charset="-122"/>
                <a:cs typeface="Cambria" pitchFamily="34" charset="-120"/>
              </a:rPr>
              <a:t>CRI-30</a:t>
            </a:r>
            <a:endParaRPr lang="en-US" sz="11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31</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600" b="1" dirty="0">
                <a:solidFill>
                  <a:srgbClr val="1A1A18"/>
                </a:solidFill>
                <a:latin typeface="Cambria" pitchFamily="34" charset="0"/>
                <a:ea typeface="Cambria" pitchFamily="34" charset="-122"/>
                <a:cs typeface="Cambria" pitchFamily="34" charset="-120"/>
              </a:rPr>
              <a:t>Na análise fatorial das 12: as cargas</a:t>
            </a:r>
            <a:endParaRPr lang="en-US" sz="2600" dirty="0"/>
          </a:p>
        </p:txBody>
      </p:sp>
      <p:sp>
        <p:nvSpPr>
          <p:cNvPr id="4" name="Shape 2"/>
          <p:cNvSpPr/>
          <p:nvPr/>
        </p:nvSpPr>
        <p:spPr>
          <a:xfrm>
            <a:off x="777240" y="1024128"/>
            <a:ext cx="10634472" cy="0"/>
          </a:xfrm>
          <a:prstGeom prst="line">
            <a:avLst/>
          </a:prstGeom>
          <a:noFill/>
          <a:ln w="12700">
            <a:solidFill>
              <a:srgbClr val="1A1A18"/>
            </a:solidFill>
            <a:prstDash val="solid"/>
          </a:ln>
        </p:spPr>
      </p:sp>
      <p:pic>
        <p:nvPicPr>
          <p:cNvPr id="5" name="Image 0" descr="/Users/pedro/Documents/Iniciacao Cientifica/Projeto_IVS_Censo22/apresentacoes_multiversao/figuras/CRI_cargas.png">    </p:cNvPr>
          <p:cNvPicPr>
            <a:picLocks noChangeAspect="1"/>
          </p:cNvPicPr>
          <p:nvPr/>
        </p:nvPicPr>
        <p:blipFill>
          <a:blip r:embed="rId1"/>
          <a:stretch>
            <a:fillRect/>
          </a:stretch>
        </p:blipFill>
        <p:spPr>
          <a:xfrm>
            <a:off x="777240" y="1298448"/>
            <a:ext cx="6675120" cy="3840480"/>
          </a:xfrm>
          <a:prstGeom prst="rect">
            <a:avLst/>
          </a:prstGeom>
        </p:spPr>
      </p:pic>
      <p:sp>
        <p:nvSpPr>
          <p:cNvPr id="6" name="Text 3"/>
          <p:cNvSpPr/>
          <p:nvPr/>
        </p:nvSpPr>
        <p:spPr>
          <a:xfrm>
            <a:off x="777240" y="5193792"/>
            <a:ext cx="6675120" cy="310896"/>
          </a:xfrm>
          <a:prstGeom prst="rect">
            <a:avLst/>
          </a:prstGeom>
          <a:noFill/>
          <a:ln/>
        </p:spPr>
        <p:txBody>
          <a:bodyPr wrap="square" lIns="0" tIns="0" rIns="0" bIns="0" rtlCol="0" anchor="t"/>
          <a:lstStyle/>
          <a:p>
            <a:pPr indent="0" marL="0">
              <a:buNone/>
            </a:pPr>
            <a:r>
              <a:rPr lang="en-US" sz="1050" b="1" dirty="0">
                <a:solidFill>
                  <a:srgbClr val="56534C"/>
                </a:solidFill>
                <a:latin typeface="Cambria" pitchFamily="34" charset="0"/>
                <a:ea typeface="Cambria" pitchFamily="34" charset="-122"/>
                <a:cs typeface="Cambria" pitchFamily="34" charset="-120"/>
              </a:rPr>
              <a:t>Figura 14 — </a:t>
            </a:r>
            <a:pPr indent="0" marL="0">
              <a:buNone/>
            </a:pPr>
            <a:r>
              <a:rPr lang="en-US" sz="1050" dirty="0">
                <a:solidFill>
                  <a:srgbClr val="56534C"/>
                </a:solidFill>
                <a:latin typeface="Cambria" pitchFamily="34" charset="0"/>
                <a:ea typeface="Cambria" pitchFamily="34" charset="-122"/>
                <a:cs typeface="Cambria" pitchFamily="34" charset="-120"/>
              </a:rPr>
              <a:t>Crianças (0 a 14 anos): carga em F1 (cor cheia) e F2 (cor clara), por rotação e régua.</a:t>
            </a:r>
            <a:endParaRPr lang="en-US" sz="1050" dirty="0"/>
          </a:p>
        </p:txBody>
      </p:sp>
      <p:sp>
        <p:nvSpPr>
          <p:cNvPr id="7" name="Shape 4"/>
          <p:cNvSpPr/>
          <p:nvPr/>
        </p:nvSpPr>
        <p:spPr>
          <a:xfrm>
            <a:off x="7589520" y="1298448"/>
            <a:ext cx="0" cy="4828032"/>
          </a:xfrm>
          <a:prstGeom prst="line">
            <a:avLst/>
          </a:prstGeom>
          <a:noFill/>
          <a:ln w="9525">
            <a:solidFill>
              <a:srgbClr val="C8C6C0"/>
            </a:solidFill>
            <a:prstDash val="solid"/>
          </a:ln>
        </p:spPr>
      </p:sp>
      <p:sp>
        <p:nvSpPr>
          <p:cNvPr id="8" name="Text 5"/>
          <p:cNvSpPr/>
          <p:nvPr/>
        </p:nvSpPr>
        <p:spPr>
          <a:xfrm>
            <a:off x="7726680" y="1298448"/>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O que é.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As cargas do indicador nos dois fatores, em cada forma de rotação, nas duas réguas.</a:t>
            </a:r>
            <a:endParaRPr lang="en-US" sz="1150" dirty="0"/>
          </a:p>
        </p:txBody>
      </p:sp>
      <p:sp>
        <p:nvSpPr>
          <p:cNvPr id="9" name="Text 6"/>
          <p:cNvSpPr/>
          <p:nvPr/>
        </p:nvSpPr>
        <p:spPr>
          <a:xfrm>
            <a:off x="7726680" y="1787906"/>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Para que serve.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Mostra se o indicador fica sempre no mesmo fator, seja qual for a rotação — sinal de que a posição dele na estrutura é estável.</a:t>
            </a:r>
            <a:endParaRPr lang="en-US" sz="1150" dirty="0"/>
          </a:p>
        </p:txBody>
      </p:sp>
      <p:sp>
        <p:nvSpPr>
          <p:cNvPr id="10" name="Text 7"/>
          <p:cNvSpPr/>
          <p:nvPr/>
        </p:nvSpPr>
        <p:spPr>
          <a:xfrm>
            <a:off x="7726680" y="2467229"/>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Como ler.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Barra alta em F1 e baixa em F2: o indicador pertence a F1. Barras parecidas nas quatro rotações: a conclusão não depende do método.</a:t>
            </a:r>
            <a:endParaRPr lang="en-US" sz="1150" dirty="0"/>
          </a:p>
        </p:txBody>
      </p:sp>
      <p:sp>
        <p:nvSpPr>
          <p:cNvPr id="11" name="Text 8"/>
          <p:cNvSpPr/>
          <p:nvPr/>
        </p:nvSpPr>
        <p:spPr>
          <a:xfrm>
            <a:off x="7726680" y="3146552"/>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8C2F27"/>
                </a:solidFill>
                <a:latin typeface="Cambria" pitchFamily="34" charset="0"/>
                <a:ea typeface="Cambria" pitchFamily="34" charset="-122"/>
                <a:cs typeface="Cambria" pitchFamily="34" charset="-120"/>
              </a:rPr>
              <a:t>O que mostra.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Comunalidade de 0,791 no conjunto e 0,705 dentro dos municípios (critério: 0,30); MSA de 0,783 (critério: 0,50).</a:t>
            </a:r>
            <a:endParaRPr lang="en-US" sz="1150" dirty="0"/>
          </a:p>
        </p:txBody>
      </p:sp>
      <p:sp>
        <p:nvSpPr>
          <p:cNvPr id="12" name="Text 9"/>
          <p:cNvSpPr/>
          <p:nvPr/>
        </p:nvSpPr>
        <p:spPr>
          <a:xfrm>
            <a:off x="9948672" y="146304"/>
            <a:ext cx="1463040" cy="274320"/>
          </a:xfrm>
          <a:prstGeom prst="rect">
            <a:avLst/>
          </a:prstGeom>
          <a:noFill/>
          <a:ln/>
        </p:spPr>
        <p:txBody>
          <a:bodyPr wrap="square" lIns="0" tIns="0" rIns="0" bIns="0" rtlCol="0" anchor="ctr"/>
          <a:lstStyle/>
          <a:p>
            <a:pPr algn="r" indent="0" marL="0">
              <a:buNone/>
            </a:pPr>
            <a:r>
              <a:rPr lang="en-US" sz="1100" b="1" dirty="0">
                <a:solidFill>
                  <a:srgbClr val="8C2F27"/>
                </a:solidFill>
                <a:latin typeface="Cambria" pitchFamily="34" charset="0"/>
                <a:ea typeface="Cambria" pitchFamily="34" charset="-122"/>
                <a:cs typeface="Cambria" pitchFamily="34" charset="-120"/>
              </a:rPr>
              <a:t>CRI-31</a:t>
            </a:r>
            <a:endParaRPr lang="en-US" sz="11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32</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600" b="1" dirty="0">
                <a:solidFill>
                  <a:srgbClr val="1A1A18"/>
                </a:solidFill>
                <a:latin typeface="Cambria" pitchFamily="34" charset="0"/>
                <a:ea typeface="Cambria" pitchFamily="34" charset="-122"/>
                <a:cs typeface="Cambria" pitchFamily="34" charset="-120"/>
              </a:rPr>
              <a:t>O que acontece quando ele entra ou sai</a:t>
            </a:r>
            <a:endParaRPr lang="en-US" sz="2600" dirty="0"/>
          </a:p>
        </p:txBody>
      </p:sp>
      <p:sp>
        <p:nvSpPr>
          <p:cNvPr id="4" name="Shape 2"/>
          <p:cNvSpPr/>
          <p:nvPr/>
        </p:nvSpPr>
        <p:spPr>
          <a:xfrm>
            <a:off x="777240" y="1024128"/>
            <a:ext cx="10634472" cy="0"/>
          </a:xfrm>
          <a:prstGeom prst="line">
            <a:avLst/>
          </a:prstGeom>
          <a:noFill/>
          <a:ln w="12700">
            <a:solidFill>
              <a:srgbClr val="1A1A18"/>
            </a:solidFill>
            <a:prstDash val="solid"/>
          </a:ln>
        </p:spPr>
      </p:sp>
      <p:graphicFrame>
        <p:nvGraphicFramePr>
          <p:cNvPr id="33" name="Table 0"/>
          <p:cNvGraphicFramePr>
            <a:graphicFrameLocks noGrp="1"/>
          </p:cNvGraphicFramePr>
          <p:nvPr>
            <p:extLst>
              <p:ext uri="{D42A27DB-BD31-4B8C-83A1-F6EECF244321}">
                <p14:modId xmlns:p14="http://schemas.microsoft.com/office/powerpoint/2010/main" val="1579011935"/>
              </p:ext>
            </p:extLst>
          </p:nvPr>
        </p:nvGraphicFramePr>
        <p:xfrm>
          <a:off x="777240" y="1298448"/>
          <a:ext cx="6400800" cy="914400"/>
        </p:xfrm>
        <a:graphic>
          <a:graphicData uri="http://schemas.openxmlformats.org/drawingml/2006/table">
            <a:tbl>
              <a:tblPr/>
              <a:tblGrid>
                <a:gridCol w="3108960"/>
                <a:gridCol w="1371600"/>
                <a:gridCol w="1920240"/>
              </a:tblGrid>
              <a:tr h="246888">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Nas 4.017 combinações</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No conjunto</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Dentro dos municípios</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r>
              <a:tr h="254127">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Pares comparados</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1.981</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1.981</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54127">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Variação mediana do KMO</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0,033</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0,056</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54127">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Setores perdidos (mediana)</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158</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158</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54127">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 elegível sem ele</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2,5%</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0,2%</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54127">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 elegível com ele</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4,2%</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0,9%</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54127">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 dos pares em que derruba</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1,1%</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0,05%</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54127">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Comunalidade mediana</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0,757</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0,764</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r>
            </a:tbl>
          </a:graphicData>
        </a:graphic>
      </p:graphicFrame>
      <p:sp>
        <p:nvSpPr>
          <p:cNvPr id="6" name="Shape 3"/>
          <p:cNvSpPr/>
          <p:nvPr/>
        </p:nvSpPr>
        <p:spPr>
          <a:xfrm>
            <a:off x="7589520" y="1298448"/>
            <a:ext cx="0" cy="4828032"/>
          </a:xfrm>
          <a:prstGeom prst="line">
            <a:avLst/>
          </a:prstGeom>
          <a:noFill/>
          <a:ln w="9525">
            <a:solidFill>
              <a:srgbClr val="C8C6C0"/>
            </a:solidFill>
            <a:prstDash val="solid"/>
          </a:ln>
        </p:spPr>
      </p:sp>
      <p:sp>
        <p:nvSpPr>
          <p:cNvPr id="7" name="Text 4"/>
          <p:cNvSpPr/>
          <p:nvPr/>
        </p:nvSpPr>
        <p:spPr>
          <a:xfrm>
            <a:off x="7726680" y="1298448"/>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O que é.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Foram rodadas todas as 4.017 combinações de 3 ou mais dos 12 indicadores. Aqui se comparam os pares de combinações que só diferem por este indicador.</a:t>
            </a:r>
            <a:endParaRPr lang="en-US" sz="1150" dirty="0"/>
          </a:p>
        </p:txBody>
      </p:sp>
      <p:sp>
        <p:nvSpPr>
          <p:cNvPr id="8" name="Text 5"/>
          <p:cNvSpPr/>
          <p:nvPr/>
        </p:nvSpPr>
        <p:spPr>
          <a:xfrm>
            <a:off x="7726680" y="1977771"/>
            <a:ext cx="3685032" cy="79603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Para que serve.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Isola o efeito de incluir este indicador: se melhora ou piora a adequação (KMO), quantos setores custa (por sigilo) e se faz a combinação deixar de passar nos critérios.</a:t>
            </a:r>
            <a:endParaRPr lang="en-US" sz="1150" dirty="0"/>
          </a:p>
        </p:txBody>
      </p:sp>
      <p:sp>
        <p:nvSpPr>
          <p:cNvPr id="9" name="Text 6"/>
          <p:cNvSpPr/>
          <p:nvPr/>
        </p:nvSpPr>
        <p:spPr>
          <a:xfrm>
            <a:off x="7726680" y="2846959"/>
            <a:ext cx="3685032" cy="79603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Como ler.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KMO vai de 0 a 1 e mede se os indicadores compartilham variação suficiente para uma fatorial; acima de 0,70 é adequado. "Elegível" = passa nos quatro critérios pré-registrados.</a:t>
            </a:r>
            <a:endParaRPr lang="en-US" sz="1150" dirty="0"/>
          </a:p>
        </p:txBody>
      </p:sp>
      <p:sp>
        <p:nvSpPr>
          <p:cNvPr id="10" name="Text 7"/>
          <p:cNvSpPr/>
          <p:nvPr/>
        </p:nvSpPr>
        <p:spPr>
          <a:xfrm>
            <a:off x="7726680" y="3716147"/>
            <a:ext cx="3685032" cy="796036"/>
          </a:xfrm>
          <a:prstGeom prst="rect">
            <a:avLst/>
          </a:prstGeom>
          <a:noFill/>
          <a:ln/>
        </p:spPr>
        <p:txBody>
          <a:bodyPr wrap="square" lIns="0" tIns="0" rIns="0" bIns="0" rtlCol="0" anchor="t"/>
          <a:lstStyle/>
          <a:p>
            <a:pPr indent="0" marL="0">
              <a:lnSpc>
                <a:spcPts val="1495"/>
              </a:lnSpc>
              <a:buNone/>
            </a:pPr>
            <a:r>
              <a:rPr lang="en-US" sz="1150" b="1" dirty="0">
                <a:solidFill>
                  <a:srgbClr val="8C2F27"/>
                </a:solidFill>
                <a:latin typeface="Cambria" pitchFamily="34" charset="0"/>
                <a:ea typeface="Cambria" pitchFamily="34" charset="-122"/>
                <a:cs typeface="Cambria" pitchFamily="34" charset="-120"/>
              </a:rPr>
              <a:t>O que mostra.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Na régua municipal, em 0,05% dos pares a combinação era elegível sem ele e deixa de ser com ele; ao entrar, custa na mediana 158 setores e muda o KMO em 0,056.</a:t>
            </a:r>
            <a:endParaRPr lang="en-US" sz="1150" dirty="0"/>
          </a:p>
        </p:txBody>
      </p:sp>
      <p:sp>
        <p:nvSpPr>
          <p:cNvPr id="11" name="Text 8"/>
          <p:cNvSpPr/>
          <p:nvPr/>
        </p:nvSpPr>
        <p:spPr>
          <a:xfrm>
            <a:off x="9948672" y="146304"/>
            <a:ext cx="1463040" cy="274320"/>
          </a:xfrm>
          <a:prstGeom prst="rect">
            <a:avLst/>
          </a:prstGeom>
          <a:noFill/>
          <a:ln/>
        </p:spPr>
        <p:txBody>
          <a:bodyPr wrap="square" lIns="0" tIns="0" rIns="0" bIns="0" rtlCol="0" anchor="ctr"/>
          <a:lstStyle/>
          <a:p>
            <a:pPr algn="r" indent="0" marL="0">
              <a:buNone/>
            </a:pPr>
            <a:r>
              <a:rPr lang="en-US" sz="1100" b="1" dirty="0">
                <a:solidFill>
                  <a:srgbClr val="8C2F27"/>
                </a:solidFill>
                <a:latin typeface="Cambria" pitchFamily="34" charset="0"/>
                <a:ea typeface="Cambria" pitchFamily="34" charset="-122"/>
                <a:cs typeface="Cambria" pitchFamily="34" charset="-120"/>
              </a:rPr>
              <a:t>CRI-32</a:t>
            </a:r>
            <a:endParaRPr lang="en-US" sz="11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33</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600" b="1" dirty="0">
                <a:solidFill>
                  <a:srgbClr val="1A1A18"/>
                </a:solidFill>
                <a:latin typeface="Cambria" pitchFamily="34" charset="0"/>
                <a:ea typeface="Cambria" pitchFamily="34" charset="-122"/>
                <a:cs typeface="Cambria" pitchFamily="34" charset="-120"/>
              </a:rPr>
              <a:t>A comunalidade dele nas 4.017 combinações</a:t>
            </a:r>
            <a:endParaRPr lang="en-US" sz="2600" dirty="0"/>
          </a:p>
        </p:txBody>
      </p:sp>
      <p:sp>
        <p:nvSpPr>
          <p:cNvPr id="4" name="Shape 2"/>
          <p:cNvSpPr/>
          <p:nvPr/>
        </p:nvSpPr>
        <p:spPr>
          <a:xfrm>
            <a:off x="777240" y="1024128"/>
            <a:ext cx="10634472" cy="0"/>
          </a:xfrm>
          <a:prstGeom prst="line">
            <a:avLst/>
          </a:prstGeom>
          <a:noFill/>
          <a:ln w="12700">
            <a:solidFill>
              <a:srgbClr val="1A1A18"/>
            </a:solidFill>
            <a:prstDash val="solid"/>
          </a:ln>
        </p:spPr>
      </p:sp>
      <p:pic>
        <p:nvPicPr>
          <p:cNvPr id="5" name="Image 0" descr="/Users/pedro/Documents/Iniciacao Cientifica/Projeto_IVS_Censo22/apresentacoes_multiversao/figuras/CRI_comunalidade.png">    </p:cNvPr>
          <p:cNvPicPr>
            <a:picLocks noChangeAspect="1"/>
          </p:cNvPicPr>
          <p:nvPr/>
        </p:nvPicPr>
        <p:blipFill>
          <a:blip r:embed="rId1"/>
          <a:stretch>
            <a:fillRect/>
          </a:stretch>
        </p:blipFill>
        <p:spPr>
          <a:xfrm>
            <a:off x="777240" y="1298448"/>
            <a:ext cx="6675120" cy="4067430"/>
          </a:xfrm>
          <a:prstGeom prst="rect">
            <a:avLst/>
          </a:prstGeom>
        </p:spPr>
      </p:pic>
      <p:sp>
        <p:nvSpPr>
          <p:cNvPr id="6" name="Text 3"/>
          <p:cNvSpPr/>
          <p:nvPr/>
        </p:nvSpPr>
        <p:spPr>
          <a:xfrm>
            <a:off x="777240" y="5420742"/>
            <a:ext cx="6675120" cy="310896"/>
          </a:xfrm>
          <a:prstGeom prst="rect">
            <a:avLst/>
          </a:prstGeom>
          <a:noFill/>
          <a:ln/>
        </p:spPr>
        <p:txBody>
          <a:bodyPr wrap="square" lIns="0" tIns="0" rIns="0" bIns="0" rtlCol="0" anchor="t"/>
          <a:lstStyle/>
          <a:p>
            <a:pPr indent="0" marL="0">
              <a:buNone/>
            </a:pPr>
            <a:r>
              <a:rPr lang="en-US" sz="1050" b="1" dirty="0">
                <a:solidFill>
                  <a:srgbClr val="56534C"/>
                </a:solidFill>
                <a:latin typeface="Cambria" pitchFamily="34" charset="0"/>
                <a:ea typeface="Cambria" pitchFamily="34" charset="-122"/>
                <a:cs typeface="Cambria" pitchFamily="34" charset="-120"/>
              </a:rPr>
              <a:t>Figura 15 — </a:t>
            </a:r>
            <a:pPr indent="0" marL="0">
              <a:buNone/>
            </a:pPr>
            <a:r>
              <a:rPr lang="en-US" sz="1050" dirty="0">
                <a:solidFill>
                  <a:srgbClr val="56534C"/>
                </a:solidFill>
                <a:latin typeface="Cambria" pitchFamily="34" charset="0"/>
                <a:ea typeface="Cambria" pitchFamily="34" charset="-122"/>
                <a:cs typeface="Cambria" pitchFamily="34" charset="-120"/>
              </a:rPr>
              <a:t>Crianças (0 a 14 anos): comunalidade em cada combinação em que entra; tracejado: critério 0,30.</a:t>
            </a:r>
            <a:endParaRPr lang="en-US" sz="1050" dirty="0"/>
          </a:p>
        </p:txBody>
      </p:sp>
      <p:sp>
        <p:nvSpPr>
          <p:cNvPr id="7" name="Shape 4"/>
          <p:cNvSpPr/>
          <p:nvPr/>
        </p:nvSpPr>
        <p:spPr>
          <a:xfrm>
            <a:off x="7589520" y="1298448"/>
            <a:ext cx="0" cy="4828032"/>
          </a:xfrm>
          <a:prstGeom prst="line">
            <a:avLst/>
          </a:prstGeom>
          <a:noFill/>
          <a:ln w="9525">
            <a:solidFill>
              <a:srgbClr val="C8C6C0"/>
            </a:solidFill>
            <a:prstDash val="solid"/>
          </a:ln>
        </p:spPr>
      </p:sp>
      <p:sp>
        <p:nvSpPr>
          <p:cNvPr id="8" name="Text 5"/>
          <p:cNvSpPr/>
          <p:nvPr/>
        </p:nvSpPr>
        <p:spPr>
          <a:xfrm>
            <a:off x="7726680" y="1298448"/>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O que é.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A comunalidade do indicador em cada uma das combinações em que ele entra, nas duas réguas.</a:t>
            </a:r>
            <a:endParaRPr lang="en-US" sz="1150" dirty="0"/>
          </a:p>
        </p:txBody>
      </p:sp>
      <p:sp>
        <p:nvSpPr>
          <p:cNvPr id="9" name="Text 6"/>
          <p:cNvSpPr/>
          <p:nvPr/>
        </p:nvSpPr>
        <p:spPr>
          <a:xfrm>
            <a:off x="7726680" y="1787906"/>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Para que serve.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Mostra se o indicador compartilha variação com os outros de forma consistente, ou só em algumas combinações.</a:t>
            </a:r>
            <a:endParaRPr lang="en-US" sz="1150" dirty="0"/>
          </a:p>
        </p:txBody>
      </p:sp>
      <p:sp>
        <p:nvSpPr>
          <p:cNvPr id="10" name="Text 7"/>
          <p:cNvSpPr/>
          <p:nvPr/>
        </p:nvSpPr>
        <p:spPr>
          <a:xfrm>
            <a:off x="7726680" y="2467229"/>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Como ler.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Histograma à direita da linha tracejada: o indicador costuma passar no critério. À esquerda: costuma ficar de fora da estrutura comum.</a:t>
            </a:r>
            <a:endParaRPr lang="en-US" sz="1150" dirty="0"/>
          </a:p>
        </p:txBody>
      </p:sp>
      <p:sp>
        <p:nvSpPr>
          <p:cNvPr id="11" name="Text 8"/>
          <p:cNvSpPr/>
          <p:nvPr/>
        </p:nvSpPr>
        <p:spPr>
          <a:xfrm>
            <a:off x="7726680" y="3146552"/>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8C2F27"/>
                </a:solidFill>
                <a:latin typeface="Cambria" pitchFamily="34" charset="0"/>
                <a:ea typeface="Cambria" pitchFamily="34" charset="-122"/>
                <a:cs typeface="Cambria" pitchFamily="34" charset="-120"/>
              </a:rPr>
              <a:t>O que mostra.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Dentro dos municípios, fica abaixo do critério em 1,7% das combinações em que entra.</a:t>
            </a:r>
            <a:endParaRPr lang="en-US" sz="1150" dirty="0"/>
          </a:p>
        </p:txBody>
      </p:sp>
      <p:sp>
        <p:nvSpPr>
          <p:cNvPr id="12" name="Text 9"/>
          <p:cNvSpPr/>
          <p:nvPr/>
        </p:nvSpPr>
        <p:spPr>
          <a:xfrm>
            <a:off x="9948672" y="146304"/>
            <a:ext cx="1463040" cy="274320"/>
          </a:xfrm>
          <a:prstGeom prst="rect">
            <a:avLst/>
          </a:prstGeom>
          <a:noFill/>
          <a:ln/>
        </p:spPr>
        <p:txBody>
          <a:bodyPr wrap="square" lIns="0" tIns="0" rIns="0" bIns="0" rtlCol="0" anchor="ctr"/>
          <a:lstStyle/>
          <a:p>
            <a:pPr algn="r" indent="0" marL="0">
              <a:buNone/>
            </a:pPr>
            <a:r>
              <a:rPr lang="en-US" sz="1100" b="1" dirty="0">
                <a:solidFill>
                  <a:srgbClr val="8C2F27"/>
                </a:solidFill>
                <a:latin typeface="Cambria" pitchFamily="34" charset="0"/>
                <a:ea typeface="Cambria" pitchFamily="34" charset="-122"/>
                <a:cs typeface="Cambria" pitchFamily="34" charset="-120"/>
              </a:rPr>
              <a:t>CRI-33</a:t>
            </a:r>
            <a:endParaRPr lang="en-US" sz="11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34</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600" b="1" dirty="0">
                <a:solidFill>
                  <a:srgbClr val="1A1A18"/>
                </a:solidFill>
                <a:latin typeface="Cambria" pitchFamily="34" charset="0"/>
                <a:ea typeface="Cambria" pitchFamily="34" charset="-122"/>
                <a:cs typeface="Cambria" pitchFamily="34" charset="-120"/>
              </a:rPr>
              <a:t>O peso no índice</a:t>
            </a:r>
            <a:endParaRPr lang="en-US" sz="2600" dirty="0"/>
          </a:p>
        </p:txBody>
      </p:sp>
      <p:sp>
        <p:nvSpPr>
          <p:cNvPr id="4" name="Shape 2"/>
          <p:cNvSpPr/>
          <p:nvPr/>
        </p:nvSpPr>
        <p:spPr>
          <a:xfrm>
            <a:off x="777240" y="1024128"/>
            <a:ext cx="10634472" cy="0"/>
          </a:xfrm>
          <a:prstGeom prst="line">
            <a:avLst/>
          </a:prstGeom>
          <a:noFill/>
          <a:ln w="12700">
            <a:solidFill>
              <a:srgbClr val="1A1A18"/>
            </a:solidFill>
            <a:prstDash val="solid"/>
          </a:ln>
        </p:spPr>
      </p:sp>
      <p:graphicFrame>
        <p:nvGraphicFramePr>
          <p:cNvPr id="35" name="Table 0"/>
          <p:cNvGraphicFramePr>
            <a:graphicFrameLocks noGrp="1"/>
          </p:cNvGraphicFramePr>
          <p:nvPr>
            <p:extLst>
              <p:ext uri="{D42A27DB-BD31-4B8C-83A1-F6EECF244321}">
                <p14:modId xmlns:p14="http://schemas.microsoft.com/office/powerpoint/2010/main" val="1579011935"/>
              </p:ext>
            </p:extLst>
          </p:nvPr>
        </p:nvGraphicFramePr>
        <p:xfrm>
          <a:off x="777240" y="1298448"/>
          <a:ext cx="6400800" cy="914400"/>
        </p:xfrm>
        <a:graphic>
          <a:graphicData uri="http://schemas.openxmlformats.org/drawingml/2006/table">
            <a:tbl>
              <a:tblPr/>
              <a:tblGrid>
                <a:gridCol w="1828800"/>
                <a:gridCol w="1005840"/>
                <a:gridCol w="914400"/>
                <a:gridCol w="1737360"/>
                <a:gridCol w="914400"/>
              </a:tblGrid>
              <a:tr h="246888">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Finalista</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Especificação</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Peso</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Menor sem 1 município</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Maior</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r>
              <a:tr h="254127">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proposta</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E0009</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fora</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54127">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alt. conjunto</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E0171</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fora</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54127">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alt. normalizacao</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E0027</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fora</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54127">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alt. rotacao peso</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E0001</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fora</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r>
            </a:tbl>
          </a:graphicData>
        </a:graphic>
      </p:graphicFrame>
      <p:sp>
        <p:nvSpPr>
          <p:cNvPr id="6" name="Shape 3"/>
          <p:cNvSpPr/>
          <p:nvPr/>
        </p:nvSpPr>
        <p:spPr>
          <a:xfrm>
            <a:off x="7589520" y="1298448"/>
            <a:ext cx="0" cy="4828032"/>
          </a:xfrm>
          <a:prstGeom prst="line">
            <a:avLst/>
          </a:prstGeom>
          <a:noFill/>
          <a:ln w="9525">
            <a:solidFill>
              <a:srgbClr val="C8C6C0"/>
            </a:solidFill>
            <a:prstDash val="solid"/>
          </a:ln>
        </p:spPr>
      </p:sp>
      <p:sp>
        <p:nvSpPr>
          <p:cNvPr id="7" name="Text 4"/>
          <p:cNvSpPr/>
          <p:nvPr/>
        </p:nvSpPr>
        <p:spPr>
          <a:xfrm>
            <a:off x="7726680" y="1298448"/>
            <a:ext cx="3685032" cy="79603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O que é.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O peso do indicador no índice em cada especificação finalista (a proposta e as alternativas de maior impacto), e o menor e o maior peso quando se tira um município por vez.</a:t>
            </a:r>
            <a:endParaRPr lang="en-US" sz="1150" dirty="0"/>
          </a:p>
        </p:txBody>
      </p:sp>
      <p:sp>
        <p:nvSpPr>
          <p:cNvPr id="8" name="Text 5"/>
          <p:cNvSpPr/>
          <p:nvPr/>
        </p:nvSpPr>
        <p:spPr>
          <a:xfrm>
            <a:off x="7726680" y="2167636"/>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Para que serve.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Mostra quanto o indicador conta no IVS e se esse peso depende de uma cidade específica.</a:t>
            </a:r>
            <a:endParaRPr lang="en-US" sz="1150" dirty="0"/>
          </a:p>
        </p:txBody>
      </p:sp>
      <p:sp>
        <p:nvSpPr>
          <p:cNvPr id="9" name="Text 6"/>
          <p:cNvSpPr/>
          <p:nvPr/>
        </p:nvSpPr>
        <p:spPr>
          <a:xfrm>
            <a:off x="7726680" y="2657094"/>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Como ler.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Peso é a fração do índice que vem deste indicador (os pesos de todos somam 100%). "Fora": não entra naquela especificação.</a:t>
            </a:r>
            <a:endParaRPr lang="en-US" sz="1150" dirty="0"/>
          </a:p>
        </p:txBody>
      </p:sp>
      <p:sp>
        <p:nvSpPr>
          <p:cNvPr id="10" name="Text 7"/>
          <p:cNvSpPr/>
          <p:nvPr/>
        </p:nvSpPr>
        <p:spPr>
          <a:xfrm>
            <a:off x="7726680" y="3336417"/>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8C2F27"/>
                </a:solidFill>
                <a:latin typeface="Cambria" pitchFamily="34" charset="0"/>
                <a:ea typeface="Cambria" pitchFamily="34" charset="-122"/>
                <a:cs typeface="Cambria" pitchFamily="34" charset="-120"/>
              </a:rPr>
              <a:t>O que mostra.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Fora do índice. Correlação de Spearman com o IVS proposto: 0,62. Média por faixa, de baixo a muito elevado: 0,140 · 0,180 · 0,219 · 0,238.</a:t>
            </a:r>
            <a:endParaRPr lang="en-US" sz="1150" dirty="0"/>
          </a:p>
        </p:txBody>
      </p:sp>
      <p:sp>
        <p:nvSpPr>
          <p:cNvPr id="11" name="Text 8"/>
          <p:cNvSpPr/>
          <p:nvPr/>
        </p:nvSpPr>
        <p:spPr>
          <a:xfrm>
            <a:off x="9948672" y="146304"/>
            <a:ext cx="1463040" cy="274320"/>
          </a:xfrm>
          <a:prstGeom prst="rect">
            <a:avLst/>
          </a:prstGeom>
          <a:noFill/>
          <a:ln/>
        </p:spPr>
        <p:txBody>
          <a:bodyPr wrap="square" lIns="0" tIns="0" rIns="0" bIns="0" rtlCol="0" anchor="ctr"/>
          <a:lstStyle/>
          <a:p>
            <a:pPr algn="r" indent="0" marL="0">
              <a:buNone/>
            </a:pPr>
            <a:r>
              <a:rPr lang="en-US" sz="1100" b="1" dirty="0">
                <a:solidFill>
                  <a:srgbClr val="8C2F27"/>
                </a:solidFill>
                <a:latin typeface="Cambria" pitchFamily="34" charset="0"/>
                <a:ea typeface="Cambria" pitchFamily="34" charset="-122"/>
                <a:cs typeface="Cambria" pitchFamily="34" charset="-120"/>
              </a:rPr>
              <a:t>CRI-34</a:t>
            </a:r>
            <a:endParaRPr lang="en-US" sz="11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35</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600" b="1" dirty="0">
                <a:solidFill>
                  <a:srgbClr val="1A1A18"/>
                </a:solidFill>
                <a:latin typeface="Cambria" pitchFamily="34" charset="0"/>
                <a:ea typeface="Cambria" pitchFamily="34" charset="-122"/>
                <a:cs typeface="Cambria" pitchFamily="34" charset="-120"/>
              </a:rPr>
              <a:t>Ao longo das faixas do IVS proposto</a:t>
            </a:r>
            <a:endParaRPr lang="en-US" sz="2600" dirty="0"/>
          </a:p>
        </p:txBody>
      </p:sp>
      <p:sp>
        <p:nvSpPr>
          <p:cNvPr id="4" name="Shape 2"/>
          <p:cNvSpPr/>
          <p:nvPr/>
        </p:nvSpPr>
        <p:spPr>
          <a:xfrm>
            <a:off x="777240" y="1024128"/>
            <a:ext cx="10634472" cy="0"/>
          </a:xfrm>
          <a:prstGeom prst="line">
            <a:avLst/>
          </a:prstGeom>
          <a:noFill/>
          <a:ln w="12700">
            <a:solidFill>
              <a:srgbClr val="1A1A18"/>
            </a:solidFill>
            <a:prstDash val="solid"/>
          </a:ln>
        </p:spPr>
      </p:sp>
      <p:pic>
        <p:nvPicPr>
          <p:cNvPr id="5" name="Image 0" descr="/Users/pedro/Documents/Iniciacao Cientifica/Projeto_IVS_Censo22/apresentacoes_multiversao/figuras/CRI_por_faixa.png">    </p:cNvPr>
          <p:cNvPicPr>
            <a:picLocks noChangeAspect="1"/>
          </p:cNvPicPr>
          <p:nvPr/>
        </p:nvPicPr>
        <p:blipFill>
          <a:blip r:embed="rId1"/>
          <a:stretch>
            <a:fillRect/>
          </a:stretch>
        </p:blipFill>
        <p:spPr>
          <a:xfrm>
            <a:off x="777240" y="1298448"/>
            <a:ext cx="6675120" cy="4088247"/>
          </a:xfrm>
          <a:prstGeom prst="rect">
            <a:avLst/>
          </a:prstGeom>
        </p:spPr>
      </p:pic>
      <p:sp>
        <p:nvSpPr>
          <p:cNvPr id="6" name="Text 3"/>
          <p:cNvSpPr/>
          <p:nvPr/>
        </p:nvSpPr>
        <p:spPr>
          <a:xfrm>
            <a:off x="777240" y="5441559"/>
            <a:ext cx="6675120" cy="310896"/>
          </a:xfrm>
          <a:prstGeom prst="rect">
            <a:avLst/>
          </a:prstGeom>
          <a:noFill/>
          <a:ln/>
        </p:spPr>
        <p:txBody>
          <a:bodyPr wrap="square" lIns="0" tIns="0" rIns="0" bIns="0" rtlCol="0" anchor="t"/>
          <a:lstStyle/>
          <a:p>
            <a:pPr indent="0" marL="0">
              <a:buNone/>
            </a:pPr>
            <a:r>
              <a:rPr lang="en-US" sz="1050" b="1" dirty="0">
                <a:solidFill>
                  <a:srgbClr val="56534C"/>
                </a:solidFill>
                <a:latin typeface="Cambria" pitchFamily="34" charset="0"/>
                <a:ea typeface="Cambria" pitchFamily="34" charset="-122"/>
                <a:cs typeface="Cambria" pitchFamily="34" charset="-120"/>
              </a:rPr>
              <a:t>Figura 16 — </a:t>
            </a:r>
            <a:pPr indent="0" marL="0">
              <a:buNone/>
            </a:pPr>
            <a:r>
              <a:rPr lang="en-US" sz="1050" dirty="0">
                <a:solidFill>
                  <a:srgbClr val="56534C"/>
                </a:solidFill>
                <a:latin typeface="Cambria" pitchFamily="34" charset="0"/>
                <a:ea typeface="Cambria" pitchFamily="34" charset="-122"/>
                <a:cs typeface="Cambria" pitchFamily="34" charset="-120"/>
              </a:rPr>
              <a:t>Crianças (0 a 14 anos): média por faixa do IVS proposto.</a:t>
            </a:r>
            <a:endParaRPr lang="en-US" sz="1050" dirty="0"/>
          </a:p>
        </p:txBody>
      </p:sp>
      <p:sp>
        <p:nvSpPr>
          <p:cNvPr id="7" name="Shape 4"/>
          <p:cNvSpPr/>
          <p:nvPr/>
        </p:nvSpPr>
        <p:spPr>
          <a:xfrm>
            <a:off x="7589520" y="1298448"/>
            <a:ext cx="0" cy="4828032"/>
          </a:xfrm>
          <a:prstGeom prst="line">
            <a:avLst/>
          </a:prstGeom>
          <a:noFill/>
          <a:ln w="9525">
            <a:solidFill>
              <a:srgbClr val="C8C6C0"/>
            </a:solidFill>
            <a:prstDash val="solid"/>
          </a:ln>
        </p:spPr>
      </p:sp>
      <p:sp>
        <p:nvSpPr>
          <p:cNvPr id="8" name="Text 5"/>
          <p:cNvSpPr/>
          <p:nvPr/>
        </p:nvSpPr>
        <p:spPr>
          <a:xfrm>
            <a:off x="7726680" y="1298448"/>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O que é.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A média do indicador nos setores de cada faixa de vulnerabilidade do IVS proposto.</a:t>
            </a:r>
            <a:endParaRPr lang="en-US" sz="1150" dirty="0"/>
          </a:p>
        </p:txBody>
      </p:sp>
      <p:sp>
        <p:nvSpPr>
          <p:cNvPr id="9" name="Text 6"/>
          <p:cNvSpPr/>
          <p:nvPr/>
        </p:nvSpPr>
        <p:spPr>
          <a:xfrm>
            <a:off x="7726680" y="1787906"/>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Para que serve.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Responde à pergunta do ELSI: os idosos (ou as crianças) moram mais nos setores mais ou menos vulneráveis?</a:t>
            </a:r>
            <a:endParaRPr lang="en-US" sz="1150" dirty="0"/>
          </a:p>
        </p:txBody>
      </p:sp>
      <p:sp>
        <p:nvSpPr>
          <p:cNvPr id="10" name="Text 7"/>
          <p:cNvSpPr/>
          <p:nvPr/>
        </p:nvSpPr>
        <p:spPr>
          <a:xfrm>
            <a:off x="7726680" y="2467229"/>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Como ler.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Barras que sobem para a direita: mais presentes nos setores mais vulneráveis.</a:t>
            </a:r>
            <a:endParaRPr lang="en-US" sz="1150" dirty="0"/>
          </a:p>
        </p:txBody>
      </p:sp>
      <p:sp>
        <p:nvSpPr>
          <p:cNvPr id="11" name="Text 8"/>
          <p:cNvSpPr/>
          <p:nvPr/>
        </p:nvSpPr>
        <p:spPr>
          <a:xfrm>
            <a:off x="7726680" y="2956687"/>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8C2F27"/>
                </a:solidFill>
                <a:latin typeface="Cambria" pitchFamily="34" charset="0"/>
                <a:ea typeface="Cambria" pitchFamily="34" charset="-122"/>
                <a:cs typeface="Cambria" pitchFamily="34" charset="-120"/>
              </a:rPr>
              <a:t>O que mostra.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Fora do índice. Correlação de Spearman com o IVS proposto: 0,62. Média por faixa, de baixo a muito elevado: 0,140 · 0,180 · 0,219 · 0,238.</a:t>
            </a:r>
            <a:endParaRPr lang="en-US" sz="1150" dirty="0"/>
          </a:p>
        </p:txBody>
      </p:sp>
      <p:sp>
        <p:nvSpPr>
          <p:cNvPr id="12" name="Text 9"/>
          <p:cNvSpPr/>
          <p:nvPr/>
        </p:nvSpPr>
        <p:spPr>
          <a:xfrm>
            <a:off x="9948672" y="146304"/>
            <a:ext cx="1463040" cy="274320"/>
          </a:xfrm>
          <a:prstGeom prst="rect">
            <a:avLst/>
          </a:prstGeom>
          <a:noFill/>
          <a:ln/>
        </p:spPr>
        <p:txBody>
          <a:bodyPr wrap="square" lIns="0" tIns="0" rIns="0" bIns="0" rtlCol="0" anchor="ctr"/>
          <a:lstStyle/>
          <a:p>
            <a:pPr algn="r" indent="0" marL="0">
              <a:buNone/>
            </a:pPr>
            <a:r>
              <a:rPr lang="en-US" sz="1100" b="1" dirty="0">
                <a:solidFill>
                  <a:srgbClr val="8C2F27"/>
                </a:solidFill>
                <a:latin typeface="Cambria" pitchFamily="34" charset="0"/>
                <a:ea typeface="Cambria" pitchFamily="34" charset="-122"/>
                <a:cs typeface="Cambria" pitchFamily="34" charset="-120"/>
              </a:rPr>
              <a:t>CRI-35</a:t>
            </a:r>
            <a:endParaRPr lang="en-US" sz="11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36</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600" b="1" dirty="0">
                <a:solidFill>
                  <a:srgbClr val="1A1A18"/>
                </a:solidFill>
                <a:latin typeface="Cambria" pitchFamily="34" charset="0"/>
                <a:ea typeface="Cambria" pitchFamily="34" charset="-122"/>
                <a:cs typeface="Cambria" pitchFamily="34" charset="-120"/>
              </a:rPr>
              <a:t>Síntese</a:t>
            </a:r>
            <a:endParaRPr lang="en-US" sz="2600" dirty="0"/>
          </a:p>
        </p:txBody>
      </p:sp>
      <p:sp>
        <p:nvSpPr>
          <p:cNvPr id="4" name="Shape 2"/>
          <p:cNvSpPr/>
          <p:nvPr/>
        </p:nvSpPr>
        <p:spPr>
          <a:xfrm>
            <a:off x="777240" y="1024128"/>
            <a:ext cx="10634472" cy="0"/>
          </a:xfrm>
          <a:prstGeom prst="line">
            <a:avLst/>
          </a:prstGeom>
          <a:noFill/>
          <a:ln w="12700">
            <a:solidFill>
              <a:srgbClr val="1A1A18"/>
            </a:solidFill>
            <a:prstDash val="solid"/>
          </a:ln>
        </p:spPr>
      </p:sp>
      <p:sp>
        <p:nvSpPr>
          <p:cNvPr id="5" name="Text 3"/>
          <p:cNvSpPr/>
          <p:nvPr/>
        </p:nvSpPr>
        <p:spPr>
          <a:xfrm>
            <a:off x="777240" y="1316736"/>
            <a:ext cx="9720072" cy="259461"/>
          </a:xfrm>
          <a:prstGeom prst="rect">
            <a:avLst/>
          </a:prstGeom>
          <a:noFill/>
          <a:ln/>
        </p:spPr>
        <p:txBody>
          <a:bodyPr wrap="square" lIns="0" tIns="0" rIns="0" bIns="0" rtlCol="0" anchor="t"/>
          <a:lstStyle/>
          <a:p>
            <a:pPr indent="0" marL="0">
              <a:lnSpc>
                <a:spcPts val="1755"/>
              </a:lnSpc>
              <a:buNone/>
            </a:pPr>
            <a:r>
              <a:rPr lang="en-US" sz="1350" b="1" dirty="0">
                <a:solidFill>
                  <a:srgbClr val="1A1A18"/>
                </a:solidFill>
                <a:latin typeface="Cambria" pitchFamily="34" charset="0"/>
                <a:ea typeface="Cambria" pitchFamily="34" charset="-122"/>
                <a:cs typeface="Cambria" pitchFamily="34" charset="-120"/>
              </a:rPr>
              <a:t>Distribuição. </a:t>
            </a:r>
            <a:pPr indent="0" marL="0">
              <a:lnSpc>
                <a:spcPts val="1755"/>
              </a:lnSpc>
              <a:buNone/>
            </a:pPr>
            <a:r>
              <a:rPr lang="en-US" sz="1350" dirty="0">
                <a:solidFill>
                  <a:srgbClr val="1A1A18"/>
                </a:solidFill>
                <a:latin typeface="Cambria" pitchFamily="34" charset="0"/>
                <a:ea typeface="Cambria" pitchFamily="34" charset="-122"/>
                <a:cs typeface="Cambria" pitchFamily="34" charset="-120"/>
              </a:rPr>
              <a:t>A média (0,173) e a mediana (0,172) estão próximas: assimetria de 0,11.</a:t>
            </a:r>
            <a:endParaRPr lang="en-US" sz="1350" dirty="0"/>
          </a:p>
        </p:txBody>
      </p:sp>
      <p:sp>
        <p:nvSpPr>
          <p:cNvPr id="6" name="Text 4"/>
          <p:cNvSpPr/>
          <p:nvPr/>
        </p:nvSpPr>
        <p:spPr>
          <a:xfrm>
            <a:off x="777240" y="1649349"/>
            <a:ext cx="9720072" cy="482346"/>
          </a:xfrm>
          <a:prstGeom prst="rect">
            <a:avLst/>
          </a:prstGeom>
          <a:noFill/>
          <a:ln/>
        </p:spPr>
        <p:txBody>
          <a:bodyPr wrap="square" lIns="0" tIns="0" rIns="0" bIns="0" rtlCol="0" anchor="t"/>
          <a:lstStyle/>
          <a:p>
            <a:pPr indent="0" marL="0">
              <a:lnSpc>
                <a:spcPts val="1755"/>
              </a:lnSpc>
              <a:buNone/>
            </a:pPr>
            <a:r>
              <a:rPr lang="en-US" sz="1350" b="1" dirty="0">
                <a:solidFill>
                  <a:srgbClr val="1A1A18"/>
                </a:solidFill>
                <a:latin typeface="Cambria" pitchFamily="34" charset="0"/>
                <a:ea typeface="Cambria" pitchFamily="34" charset="-122"/>
                <a:cs typeface="Cambria" pitchFamily="34" charset="-120"/>
              </a:rPr>
              <a:t>Cobertura. </a:t>
            </a:r>
            <a:pPr indent="0" marL="0">
              <a:lnSpc>
                <a:spcPts val="1755"/>
              </a:lnSpc>
              <a:buNone/>
            </a:pPr>
            <a:r>
              <a:rPr lang="en-US" sz="1350" dirty="0">
                <a:solidFill>
                  <a:srgbClr val="1A1A18"/>
                </a:solidFill>
                <a:latin typeface="Cambria" pitchFamily="34" charset="0"/>
                <a:ea typeface="Cambria" pitchFamily="34" charset="-122"/>
                <a:cs typeface="Cambria" pitchFamily="34" charset="-120"/>
              </a:rPr>
              <a:t>103.850 dos 104.108 setores (99,8%) têm o dado. Nos 258 sem o dado, a renda mediana do responsável é R$ 4.757,22, contra R$ 2.570,48 nos que têm: o ausente não é aleatório.</a:t>
            </a:r>
            <a:endParaRPr lang="en-US" sz="1350" dirty="0"/>
          </a:p>
        </p:txBody>
      </p:sp>
      <p:sp>
        <p:nvSpPr>
          <p:cNvPr id="7" name="Text 5"/>
          <p:cNvSpPr/>
          <p:nvPr/>
        </p:nvSpPr>
        <p:spPr>
          <a:xfrm>
            <a:off x="777240" y="2204847"/>
            <a:ext cx="9720072" cy="482346"/>
          </a:xfrm>
          <a:prstGeom prst="rect">
            <a:avLst/>
          </a:prstGeom>
          <a:noFill/>
          <a:ln/>
        </p:spPr>
        <p:txBody>
          <a:bodyPr wrap="square" lIns="0" tIns="0" rIns="0" bIns="0" rtlCol="0" anchor="t"/>
          <a:lstStyle/>
          <a:p>
            <a:pPr indent="0" marL="0">
              <a:lnSpc>
                <a:spcPts val="1755"/>
              </a:lnSpc>
              <a:buNone/>
            </a:pPr>
            <a:r>
              <a:rPr lang="en-US" sz="1350" b="1" dirty="0">
                <a:solidFill>
                  <a:srgbClr val="1A1A18"/>
                </a:solidFill>
                <a:latin typeface="Cambria" pitchFamily="34" charset="0"/>
                <a:ea typeface="Cambria" pitchFamily="34" charset="-122"/>
                <a:cs typeface="Cambria" pitchFamily="34" charset="-120"/>
              </a:rPr>
              <a:t>Onde é mais alto. </a:t>
            </a:r>
            <a:pPr indent="0" marL="0">
              <a:lnSpc>
                <a:spcPts val="1755"/>
              </a:lnSpc>
              <a:buNone/>
            </a:pPr>
            <a:r>
              <a:rPr lang="en-US" sz="1350" dirty="0">
                <a:solidFill>
                  <a:srgbClr val="1A1A18"/>
                </a:solidFill>
                <a:latin typeface="Cambria" pitchFamily="34" charset="0"/>
                <a:ea typeface="Cambria" pitchFamily="34" charset="-122"/>
                <a:cs typeface="Cambria" pitchFamily="34" charset="-120"/>
              </a:rPr>
              <a:t>A maior média é a do Norte (0,210); a menor, a do Sul (0,159). O Norte tem só 6 municípios: os contrastes descrevem os municípios estudados, não a região inteira.</a:t>
            </a:r>
            <a:endParaRPr lang="en-US" sz="1350" dirty="0"/>
          </a:p>
        </p:txBody>
      </p:sp>
      <p:sp>
        <p:nvSpPr>
          <p:cNvPr id="8" name="Text 6"/>
          <p:cNvSpPr/>
          <p:nvPr/>
        </p:nvSpPr>
        <p:spPr>
          <a:xfrm>
            <a:off x="777240" y="2760345"/>
            <a:ext cx="9720072" cy="259461"/>
          </a:xfrm>
          <a:prstGeom prst="rect">
            <a:avLst/>
          </a:prstGeom>
          <a:noFill/>
          <a:ln/>
        </p:spPr>
        <p:txBody>
          <a:bodyPr wrap="square" lIns="0" tIns="0" rIns="0" bIns="0" rtlCol="0" anchor="t"/>
          <a:lstStyle/>
          <a:p>
            <a:pPr indent="0" marL="0">
              <a:lnSpc>
                <a:spcPts val="1755"/>
              </a:lnSpc>
              <a:buNone/>
            </a:pPr>
            <a:r>
              <a:rPr lang="en-US" sz="1350" b="1" dirty="0">
                <a:solidFill>
                  <a:srgbClr val="1A1A18"/>
                </a:solidFill>
                <a:latin typeface="Cambria" pitchFamily="34" charset="0"/>
                <a:ea typeface="Cambria" pitchFamily="34" charset="-122"/>
                <a:cs typeface="Cambria" pitchFamily="34" charset="-120"/>
              </a:rPr>
              <a:t>Gradiente social. </a:t>
            </a:r>
            <a:pPr indent="0" marL="0">
              <a:lnSpc>
                <a:spcPts val="1755"/>
              </a:lnSpc>
              <a:buNone/>
            </a:pPr>
            <a:r>
              <a:rPr lang="en-US" sz="1350" dirty="0">
                <a:solidFill>
                  <a:srgbClr val="1A1A18"/>
                </a:solidFill>
                <a:latin typeface="Cambria" pitchFamily="34" charset="0"/>
                <a:ea typeface="Cambria" pitchFamily="34" charset="-122"/>
                <a:cs typeface="Cambria" pitchFamily="34" charset="-120"/>
              </a:rPr>
              <a:t>No decil 1 a média é 0,239; no decil 10, 0,143.</a:t>
            </a:r>
            <a:endParaRPr lang="en-US" sz="1350" dirty="0"/>
          </a:p>
        </p:txBody>
      </p:sp>
      <p:sp>
        <p:nvSpPr>
          <p:cNvPr id="9" name="Text 7"/>
          <p:cNvSpPr/>
          <p:nvPr/>
        </p:nvSpPr>
        <p:spPr>
          <a:xfrm>
            <a:off x="777240" y="3092958"/>
            <a:ext cx="9720072" cy="259461"/>
          </a:xfrm>
          <a:prstGeom prst="rect">
            <a:avLst/>
          </a:prstGeom>
          <a:noFill/>
          <a:ln/>
        </p:spPr>
        <p:txBody>
          <a:bodyPr wrap="square" lIns="0" tIns="0" rIns="0" bIns="0" rtlCol="0" anchor="t"/>
          <a:lstStyle/>
          <a:p>
            <a:pPr indent="0" marL="0">
              <a:lnSpc>
                <a:spcPts val="1755"/>
              </a:lnSpc>
              <a:buNone/>
            </a:pPr>
            <a:r>
              <a:rPr lang="en-US" sz="1350" b="1" dirty="0">
                <a:solidFill>
                  <a:srgbClr val="1A1A18"/>
                </a:solidFill>
                <a:latin typeface="Cambria" pitchFamily="34" charset="0"/>
                <a:ea typeface="Cambria" pitchFamily="34" charset="-122"/>
                <a:cs typeface="Cambria" pitchFamily="34" charset="-120"/>
              </a:rPr>
              <a:t>Relações. </a:t>
            </a:r>
            <a:pPr indent="0" marL="0">
              <a:lnSpc>
                <a:spcPts val="1755"/>
              </a:lnSpc>
              <a:buNone/>
            </a:pPr>
            <a:r>
              <a:rPr lang="en-US" sz="1350" dirty="0">
                <a:solidFill>
                  <a:srgbClr val="1A1A18"/>
                </a:solidFill>
                <a:latin typeface="Cambria" pitchFamily="34" charset="0"/>
                <a:ea typeface="Cambria" pitchFamily="34" charset="-122"/>
                <a:cs typeface="Cambria" pitchFamily="34" charset="-120"/>
              </a:rPr>
              <a:t>A correlação mais forte é com Idosos (60 anos ou mais): -0,79 no conjunto e -0,77 dentro dos municípios.</a:t>
            </a:r>
            <a:endParaRPr lang="en-US" sz="1350" dirty="0"/>
          </a:p>
        </p:txBody>
      </p:sp>
      <p:sp>
        <p:nvSpPr>
          <p:cNvPr id="10" name="Text 8"/>
          <p:cNvSpPr/>
          <p:nvPr/>
        </p:nvSpPr>
        <p:spPr>
          <a:xfrm>
            <a:off x="777240" y="3425571"/>
            <a:ext cx="9720072" cy="482346"/>
          </a:xfrm>
          <a:prstGeom prst="rect">
            <a:avLst/>
          </a:prstGeom>
          <a:noFill/>
          <a:ln/>
        </p:spPr>
        <p:txBody>
          <a:bodyPr wrap="square" lIns="0" tIns="0" rIns="0" bIns="0" rtlCol="0" anchor="t"/>
          <a:lstStyle/>
          <a:p>
            <a:pPr indent="0" marL="0">
              <a:lnSpc>
                <a:spcPts val="1755"/>
              </a:lnSpc>
              <a:buNone/>
            </a:pPr>
            <a:r>
              <a:rPr lang="en-US" sz="1350" b="1" dirty="0">
                <a:solidFill>
                  <a:srgbClr val="1A1A18"/>
                </a:solidFill>
                <a:latin typeface="Cambria" pitchFamily="34" charset="0"/>
                <a:ea typeface="Cambria" pitchFamily="34" charset="-122"/>
                <a:cs typeface="Cambria" pitchFamily="34" charset="-120"/>
              </a:rPr>
              <a:t>Na fatorial. </a:t>
            </a:r>
            <a:pPr indent="0" marL="0">
              <a:lnSpc>
                <a:spcPts val="1755"/>
              </a:lnSpc>
              <a:buNone/>
            </a:pPr>
            <a:r>
              <a:rPr lang="en-US" sz="1350" dirty="0">
                <a:solidFill>
                  <a:srgbClr val="1A1A18"/>
                </a:solidFill>
                <a:latin typeface="Cambria" pitchFamily="34" charset="0"/>
                <a:ea typeface="Cambria" pitchFamily="34" charset="-122"/>
                <a:cs typeface="Cambria" pitchFamily="34" charset="-120"/>
              </a:rPr>
              <a:t>Comunalidade mediana de 0,764 dentro dos municípios; atende a 3 dos 3 critérios da Fase 1 (comunalidade, perda de base, elegibilidade).</a:t>
            </a:r>
            <a:endParaRPr lang="en-US" sz="1350" dirty="0"/>
          </a:p>
        </p:txBody>
      </p:sp>
      <p:sp>
        <p:nvSpPr>
          <p:cNvPr id="11" name="Text 9"/>
          <p:cNvSpPr/>
          <p:nvPr/>
        </p:nvSpPr>
        <p:spPr>
          <a:xfrm>
            <a:off x="777240" y="3981069"/>
            <a:ext cx="9720072" cy="259461"/>
          </a:xfrm>
          <a:prstGeom prst="rect">
            <a:avLst/>
          </a:prstGeom>
          <a:noFill/>
          <a:ln/>
        </p:spPr>
        <p:txBody>
          <a:bodyPr wrap="square" lIns="0" tIns="0" rIns="0" bIns="0" rtlCol="0" anchor="t"/>
          <a:lstStyle/>
          <a:p>
            <a:pPr indent="0" marL="0">
              <a:lnSpc>
                <a:spcPts val="1755"/>
              </a:lnSpc>
              <a:buNone/>
            </a:pPr>
            <a:r>
              <a:rPr lang="en-US" sz="1350" b="1" dirty="0">
                <a:solidFill>
                  <a:srgbClr val="1A1A18"/>
                </a:solidFill>
                <a:latin typeface="Cambria" pitchFamily="34" charset="0"/>
                <a:ea typeface="Cambria" pitchFamily="34" charset="-122"/>
                <a:cs typeface="Cambria" pitchFamily="34" charset="-120"/>
              </a:rPr>
              <a:t>Proposta. </a:t>
            </a:r>
            <a:pPr indent="0" marL="0">
              <a:lnSpc>
                <a:spcPts val="1755"/>
              </a:lnSpc>
              <a:buNone/>
            </a:pPr>
            <a:r>
              <a:rPr lang="en-US" sz="1350" dirty="0">
                <a:solidFill>
                  <a:srgbClr val="1A1A18"/>
                </a:solidFill>
                <a:latin typeface="Cambria" pitchFamily="34" charset="0"/>
                <a:ea typeface="Cambria" pitchFamily="34" charset="-122"/>
                <a:cs typeface="Cambria" pitchFamily="34" charset="-120"/>
              </a:rPr>
              <a:t>Fica fora do IVS proposto (padrão P2); a decisão é da orientadora.</a:t>
            </a:r>
            <a:endParaRPr lang="en-US" sz="1350" dirty="0"/>
          </a:p>
        </p:txBody>
      </p:sp>
      <p:sp>
        <p:nvSpPr>
          <p:cNvPr id="12" name="Text 10"/>
          <p:cNvSpPr/>
          <p:nvPr/>
        </p:nvSpPr>
        <p:spPr>
          <a:xfrm>
            <a:off x="9948672" y="146304"/>
            <a:ext cx="1463040" cy="274320"/>
          </a:xfrm>
          <a:prstGeom prst="rect">
            <a:avLst/>
          </a:prstGeom>
          <a:noFill/>
          <a:ln/>
        </p:spPr>
        <p:txBody>
          <a:bodyPr wrap="square" lIns="0" tIns="0" rIns="0" bIns="0" rtlCol="0" anchor="ctr"/>
          <a:lstStyle/>
          <a:p>
            <a:pPr algn="r" indent="0" marL="0">
              <a:buNone/>
            </a:pPr>
            <a:r>
              <a:rPr lang="en-US" sz="1100" b="1" dirty="0">
                <a:solidFill>
                  <a:srgbClr val="8C2F27"/>
                </a:solidFill>
                <a:latin typeface="Cambria" pitchFamily="34" charset="0"/>
                <a:ea typeface="Cambria" pitchFamily="34" charset="-122"/>
                <a:cs typeface="Cambria" pitchFamily="34" charset="-120"/>
              </a:rPr>
              <a:t>CRI-36</a:t>
            </a:r>
            <a:endParaRPr lang="en-US" sz="11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37</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600" b="1" dirty="0">
                <a:solidFill>
                  <a:srgbClr val="1A1A18"/>
                </a:solidFill>
                <a:latin typeface="Cambria" pitchFamily="34" charset="0"/>
                <a:ea typeface="Cambria" pitchFamily="34" charset="-122"/>
                <a:cs typeface="Cambria" pitchFamily="34" charset="-120"/>
              </a:rPr>
              <a:t>Apêndice: os 70 municípios (1 de 2)</a:t>
            </a:r>
            <a:endParaRPr lang="en-US" sz="2600" dirty="0"/>
          </a:p>
        </p:txBody>
      </p:sp>
      <p:sp>
        <p:nvSpPr>
          <p:cNvPr id="4" name="Shape 2"/>
          <p:cNvSpPr/>
          <p:nvPr/>
        </p:nvSpPr>
        <p:spPr>
          <a:xfrm>
            <a:off x="777240" y="1024128"/>
            <a:ext cx="10634472" cy="0"/>
          </a:xfrm>
          <a:prstGeom prst="line">
            <a:avLst/>
          </a:prstGeom>
          <a:noFill/>
          <a:ln w="12700">
            <a:solidFill>
              <a:srgbClr val="1A1A18"/>
            </a:solidFill>
            <a:prstDash val="solid"/>
          </a:ln>
        </p:spPr>
      </p:sp>
      <p:graphicFrame>
        <p:nvGraphicFramePr>
          <p:cNvPr id="38" name="Table 0"/>
          <p:cNvGraphicFramePr>
            <a:graphicFrameLocks noGrp="1"/>
          </p:cNvGraphicFramePr>
          <p:nvPr>
            <p:extLst>
              <p:ext uri="{D42A27DB-BD31-4B8C-83A1-F6EECF244321}">
                <p14:modId xmlns:p14="http://schemas.microsoft.com/office/powerpoint/2010/main" val="1579011935"/>
              </p:ext>
            </p:extLst>
          </p:nvPr>
        </p:nvGraphicFramePr>
        <p:xfrm>
          <a:off x="777240" y="1271016"/>
          <a:ext cx="5042916" cy="914400"/>
        </p:xfrm>
        <a:graphic>
          <a:graphicData uri="http://schemas.openxmlformats.org/drawingml/2006/table">
            <a:tbl>
              <a:tblPr/>
              <a:tblGrid>
                <a:gridCol w="1008583"/>
                <a:gridCol w="1008583"/>
                <a:gridCol w="1008583"/>
                <a:gridCol w="1008583"/>
                <a:gridCol w="1008583"/>
              </a:tblGrid>
              <a:tr h="207645">
                <a:tc>
                  <a:txBody>
                    <a:bodyPr/>
                    <a:lstStyle/>
                    <a:p>
                      <a:pPr indent="0" marL="0">
                        <a:buNone/>
                      </a:pPr>
                      <a:r>
                        <a:rPr lang="en-US" sz="750" b="1" dirty="0">
                          <a:solidFill>
                            <a:srgbClr val="1A1A18"/>
                          </a:solidFill>
                          <a:latin typeface="Cambria" pitchFamily="34" charset="0"/>
                          <a:ea typeface="Cambria" pitchFamily="34" charset="-122"/>
                          <a:cs typeface="Cambria" pitchFamily="34" charset="-120"/>
                        </a:rPr>
                        <a:t>Município</a:t>
                      </a:r>
                      <a:endParaRPr lang="en-US" sz="7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750" b="1" dirty="0">
                          <a:solidFill>
                            <a:srgbClr val="1A1A18"/>
                          </a:solidFill>
                          <a:latin typeface="Cambria" pitchFamily="34" charset="0"/>
                          <a:ea typeface="Cambria" pitchFamily="34" charset="-122"/>
                          <a:cs typeface="Cambria" pitchFamily="34" charset="-120"/>
                        </a:rPr>
                        <a:t>Região</a:t>
                      </a:r>
                      <a:endParaRPr lang="en-US" sz="7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750" b="1" dirty="0">
                          <a:solidFill>
                            <a:srgbClr val="1A1A18"/>
                          </a:solidFill>
                          <a:latin typeface="Cambria" pitchFamily="34" charset="0"/>
                          <a:ea typeface="Cambria" pitchFamily="34" charset="-122"/>
                          <a:cs typeface="Cambria" pitchFamily="34" charset="-120"/>
                        </a:rPr>
                        <a:t>Setores</a:t>
                      </a:r>
                      <a:endParaRPr lang="en-US" sz="7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750" b="1" dirty="0">
                          <a:solidFill>
                            <a:srgbClr val="1A1A18"/>
                          </a:solidFill>
                          <a:latin typeface="Cambria" pitchFamily="34" charset="0"/>
                          <a:ea typeface="Cambria" pitchFamily="34" charset="-122"/>
                          <a:cs typeface="Cambria" pitchFamily="34" charset="-120"/>
                        </a:rPr>
                        <a:t>Média</a:t>
                      </a:r>
                      <a:endParaRPr lang="en-US" sz="7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750" b="1" dirty="0">
                          <a:solidFill>
                            <a:srgbClr val="1A1A18"/>
                          </a:solidFill>
                          <a:latin typeface="Cambria" pitchFamily="34" charset="0"/>
                          <a:ea typeface="Cambria" pitchFamily="34" charset="-122"/>
                          <a:cs typeface="Cambria" pitchFamily="34" charset="-120"/>
                        </a:rPr>
                        <a:t>Mediana</a:t>
                      </a:r>
                      <a:endParaRPr lang="en-US" sz="7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Portel</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Norte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26</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0,307</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0,283</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Autazes</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Norte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43</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0,285</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0,286</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Placas</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Norte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16</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0,260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0,268</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Água Preta</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Nordeste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32</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0,231</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0,234</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339344">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São Raimundo do Doca Bezerra</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Nordeste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3</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0,231</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0,232</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Rosário</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Nordeste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36</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0,231</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0,231</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Manaus</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Norte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3.093</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0,230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0,230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Jaqueira</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Nordeste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9</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0,224</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0,235</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339344">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São José de Ribamar</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Nordeste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580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0,223</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0,221</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Japoatã</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Nordeste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7</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0,222</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0,234</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Marechal Deodoro</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Nordeste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88</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0,217</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0,219</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339344">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Santa Maria do Oeste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Sul</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8</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0,210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0,213</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Vicentinópolis</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Centro-Oeste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11</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0,210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0,198</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339344">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São José dos Pinhais</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Sul</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456</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0,206</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0,208</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Ibatiba</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Sudeste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35</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0,204</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0,203</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Campo Grande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Centro-Oeste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1.602</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0,204</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0,203</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Orizânia</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Sudeste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5</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0,203</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0,213</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Capelinha</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Sudeste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56</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0,202</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0,201</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r>
            </a:tbl>
          </a:graphicData>
        </a:graphic>
      </p:graphicFrame>
      <p:graphicFrame>
        <p:nvGraphicFramePr>
          <p:cNvPr id="75" name="Table 1"/>
          <p:cNvGraphicFramePr>
            <a:graphicFrameLocks noGrp="1"/>
          </p:cNvGraphicFramePr>
          <p:nvPr>
            <p:extLst>
              <p:ext uri="{D42A27DB-BD31-4B8C-83A1-F6EECF244321}">
                <p14:modId xmlns:p14="http://schemas.microsoft.com/office/powerpoint/2010/main" val="1579011935"/>
              </p:ext>
            </p:extLst>
          </p:nvPr>
        </p:nvGraphicFramePr>
        <p:xfrm>
          <a:off x="6368796" y="1271016"/>
          <a:ext cx="5042916" cy="914400"/>
        </p:xfrm>
        <a:graphic>
          <a:graphicData uri="http://schemas.openxmlformats.org/drawingml/2006/table">
            <a:tbl>
              <a:tblPr/>
              <a:tblGrid>
                <a:gridCol w="1008583"/>
                <a:gridCol w="1008583"/>
                <a:gridCol w="1008583"/>
                <a:gridCol w="1008583"/>
                <a:gridCol w="1008583"/>
              </a:tblGrid>
              <a:tr h="207645">
                <a:tc>
                  <a:txBody>
                    <a:bodyPr/>
                    <a:lstStyle/>
                    <a:p>
                      <a:pPr indent="0" marL="0">
                        <a:buNone/>
                      </a:pPr>
                      <a:r>
                        <a:rPr lang="en-US" sz="750" b="1" dirty="0">
                          <a:solidFill>
                            <a:srgbClr val="1A1A18"/>
                          </a:solidFill>
                          <a:latin typeface="Cambria" pitchFamily="34" charset="0"/>
                          <a:ea typeface="Cambria" pitchFamily="34" charset="-122"/>
                          <a:cs typeface="Cambria" pitchFamily="34" charset="-120"/>
                        </a:rPr>
                        <a:t>Município</a:t>
                      </a:r>
                      <a:endParaRPr lang="en-US" sz="7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750" b="1" dirty="0">
                          <a:solidFill>
                            <a:srgbClr val="1A1A18"/>
                          </a:solidFill>
                          <a:latin typeface="Cambria" pitchFamily="34" charset="0"/>
                          <a:ea typeface="Cambria" pitchFamily="34" charset="-122"/>
                          <a:cs typeface="Cambria" pitchFamily="34" charset="-120"/>
                        </a:rPr>
                        <a:t>Região</a:t>
                      </a:r>
                      <a:endParaRPr lang="en-US" sz="7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750" b="1" dirty="0">
                          <a:solidFill>
                            <a:srgbClr val="1A1A18"/>
                          </a:solidFill>
                          <a:latin typeface="Cambria" pitchFamily="34" charset="0"/>
                          <a:ea typeface="Cambria" pitchFamily="34" charset="-122"/>
                          <a:cs typeface="Cambria" pitchFamily="34" charset="-120"/>
                        </a:rPr>
                        <a:t>Setores</a:t>
                      </a:r>
                      <a:endParaRPr lang="en-US" sz="7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750" b="1" dirty="0">
                          <a:solidFill>
                            <a:srgbClr val="1A1A18"/>
                          </a:solidFill>
                          <a:latin typeface="Cambria" pitchFamily="34" charset="0"/>
                          <a:ea typeface="Cambria" pitchFamily="34" charset="-122"/>
                          <a:cs typeface="Cambria" pitchFamily="34" charset="-120"/>
                        </a:rPr>
                        <a:t>Média</a:t>
                      </a:r>
                      <a:endParaRPr lang="en-US" sz="7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750" b="1" dirty="0">
                          <a:solidFill>
                            <a:srgbClr val="1A1A18"/>
                          </a:solidFill>
                          <a:latin typeface="Cambria" pitchFamily="34" charset="0"/>
                          <a:ea typeface="Cambria" pitchFamily="34" charset="-122"/>
                          <a:cs typeface="Cambria" pitchFamily="34" charset="-120"/>
                        </a:rPr>
                        <a:t>Mediana</a:t>
                      </a:r>
                      <a:endParaRPr lang="en-US" sz="7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Maceió</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Nordeste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1.531</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0,202</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0,202</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Itapetinga</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Nordeste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104</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0,202</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0,201</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Urandi</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Nordeste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9</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0,201</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0,214</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Macaé</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Sudeste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616</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0,199</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0,200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Ananindeua</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Norte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732</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0,198</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0,199</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Teresina</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Nordeste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1.365</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0,196</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0,190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Guarulhos</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Sudeste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2.410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0,196</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0,195</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Groaíras</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Nordeste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14</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0,196</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0,194</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Feira de Santana</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Nordeste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997</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0,196</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0,197</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339344">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Chapada dos Guimarães</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Centro-Oeste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34</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0,195</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0,192</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São Luís</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Nordeste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1.673</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0,194</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0,190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Goianésia</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Centro-Oeste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88</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0,194</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0,195</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Duque de Caxias</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Sudeste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1.788</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0,194</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0,192</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Tabatinga</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Sudeste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31</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0,193</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0,193</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Anápolis</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Centro-Oeste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556</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0,193</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0,193</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Camaragibe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Nordeste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272</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0,192</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0,188</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Nova Iguaçu</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Sudeste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1.569</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0,192</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0,191</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r>
            </a:tbl>
          </a:graphicData>
        </a:graphic>
      </p:graphicFrame>
      <p:sp>
        <p:nvSpPr>
          <p:cNvPr id="7" name="Text 3"/>
          <p:cNvSpPr/>
          <p:nvPr/>
        </p:nvSpPr>
        <p:spPr>
          <a:xfrm>
            <a:off x="9948672" y="146304"/>
            <a:ext cx="1463040" cy="274320"/>
          </a:xfrm>
          <a:prstGeom prst="rect">
            <a:avLst/>
          </a:prstGeom>
          <a:noFill/>
          <a:ln/>
        </p:spPr>
        <p:txBody>
          <a:bodyPr wrap="square" lIns="0" tIns="0" rIns="0" bIns="0" rtlCol="0" anchor="ctr"/>
          <a:lstStyle/>
          <a:p>
            <a:pPr algn="r" indent="0" marL="0">
              <a:buNone/>
            </a:pPr>
            <a:r>
              <a:rPr lang="en-US" sz="1100" b="1" dirty="0">
                <a:solidFill>
                  <a:srgbClr val="8C2F27"/>
                </a:solidFill>
                <a:latin typeface="Cambria" pitchFamily="34" charset="0"/>
                <a:ea typeface="Cambria" pitchFamily="34" charset="-122"/>
                <a:cs typeface="Cambria" pitchFamily="34" charset="-120"/>
              </a:rPr>
              <a:t>CRI-37</a:t>
            </a:r>
            <a:endParaRPr lang="en-US" sz="11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38</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600" b="1" dirty="0">
                <a:solidFill>
                  <a:srgbClr val="1A1A18"/>
                </a:solidFill>
                <a:latin typeface="Cambria" pitchFamily="34" charset="0"/>
                <a:ea typeface="Cambria" pitchFamily="34" charset="-122"/>
                <a:cs typeface="Cambria" pitchFamily="34" charset="-120"/>
              </a:rPr>
              <a:t>Apêndice: os 70 municípios (2 de 2)</a:t>
            </a:r>
            <a:endParaRPr lang="en-US" sz="2600" dirty="0"/>
          </a:p>
        </p:txBody>
      </p:sp>
      <p:sp>
        <p:nvSpPr>
          <p:cNvPr id="4" name="Shape 2"/>
          <p:cNvSpPr/>
          <p:nvPr/>
        </p:nvSpPr>
        <p:spPr>
          <a:xfrm>
            <a:off x="777240" y="1024128"/>
            <a:ext cx="10634472" cy="0"/>
          </a:xfrm>
          <a:prstGeom prst="line">
            <a:avLst/>
          </a:prstGeom>
          <a:noFill/>
          <a:ln w="12700">
            <a:solidFill>
              <a:srgbClr val="1A1A18"/>
            </a:solidFill>
            <a:prstDash val="solid"/>
          </a:ln>
        </p:spPr>
      </p:sp>
      <p:graphicFrame>
        <p:nvGraphicFramePr>
          <p:cNvPr id="39" name="Table 0"/>
          <p:cNvGraphicFramePr>
            <a:graphicFrameLocks noGrp="1"/>
          </p:cNvGraphicFramePr>
          <p:nvPr>
            <p:extLst>
              <p:ext uri="{D42A27DB-BD31-4B8C-83A1-F6EECF244321}">
                <p14:modId xmlns:p14="http://schemas.microsoft.com/office/powerpoint/2010/main" val="1579011935"/>
              </p:ext>
            </p:extLst>
          </p:nvPr>
        </p:nvGraphicFramePr>
        <p:xfrm>
          <a:off x="777240" y="1271016"/>
          <a:ext cx="5042916" cy="914400"/>
        </p:xfrm>
        <a:graphic>
          <a:graphicData uri="http://schemas.openxmlformats.org/drawingml/2006/table">
            <a:tbl>
              <a:tblPr/>
              <a:tblGrid>
                <a:gridCol w="1008583"/>
                <a:gridCol w="1008583"/>
                <a:gridCol w="1008583"/>
                <a:gridCol w="1008583"/>
                <a:gridCol w="1008583"/>
              </a:tblGrid>
              <a:tr h="207645">
                <a:tc>
                  <a:txBody>
                    <a:bodyPr/>
                    <a:lstStyle/>
                    <a:p>
                      <a:pPr indent="0" marL="0">
                        <a:buNone/>
                      </a:pPr>
                      <a:r>
                        <a:rPr lang="en-US" sz="750" b="1" dirty="0">
                          <a:solidFill>
                            <a:srgbClr val="1A1A18"/>
                          </a:solidFill>
                          <a:latin typeface="Cambria" pitchFamily="34" charset="0"/>
                          <a:ea typeface="Cambria" pitchFamily="34" charset="-122"/>
                          <a:cs typeface="Cambria" pitchFamily="34" charset="-120"/>
                        </a:rPr>
                        <a:t>Município</a:t>
                      </a:r>
                      <a:endParaRPr lang="en-US" sz="7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750" b="1" dirty="0">
                          <a:solidFill>
                            <a:srgbClr val="1A1A18"/>
                          </a:solidFill>
                          <a:latin typeface="Cambria" pitchFamily="34" charset="0"/>
                          <a:ea typeface="Cambria" pitchFamily="34" charset="-122"/>
                          <a:cs typeface="Cambria" pitchFamily="34" charset="-120"/>
                        </a:rPr>
                        <a:t>Região</a:t>
                      </a:r>
                      <a:endParaRPr lang="en-US" sz="7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750" b="1" dirty="0">
                          <a:solidFill>
                            <a:srgbClr val="1A1A18"/>
                          </a:solidFill>
                          <a:latin typeface="Cambria" pitchFamily="34" charset="0"/>
                          <a:ea typeface="Cambria" pitchFamily="34" charset="-122"/>
                          <a:cs typeface="Cambria" pitchFamily="34" charset="-120"/>
                        </a:rPr>
                        <a:t>Setores</a:t>
                      </a:r>
                      <a:endParaRPr lang="en-US" sz="7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750" b="1" dirty="0">
                          <a:solidFill>
                            <a:srgbClr val="1A1A18"/>
                          </a:solidFill>
                          <a:latin typeface="Cambria" pitchFamily="34" charset="0"/>
                          <a:ea typeface="Cambria" pitchFamily="34" charset="-122"/>
                          <a:cs typeface="Cambria" pitchFamily="34" charset="-120"/>
                        </a:rPr>
                        <a:t>Média</a:t>
                      </a:r>
                      <a:endParaRPr lang="en-US" sz="7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750" b="1" dirty="0">
                          <a:solidFill>
                            <a:srgbClr val="1A1A18"/>
                          </a:solidFill>
                          <a:latin typeface="Cambria" pitchFamily="34" charset="0"/>
                          <a:ea typeface="Cambria" pitchFamily="34" charset="-122"/>
                          <a:cs typeface="Cambria" pitchFamily="34" charset="-120"/>
                        </a:rPr>
                        <a:t>Mediana</a:t>
                      </a:r>
                      <a:endParaRPr lang="en-US" sz="7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Pato Branco</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Sul</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151</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0,190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0,189</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Arara</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Nordeste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19</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0,189</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0,187</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Salinas</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Sudeste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53</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0,187</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0,183</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339344">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São Pedro da Aldeia</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Sudeste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332</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0,186</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0,190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Fortaleza</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Nordeste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4.268</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0,185</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0,184</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Brasília</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Centro-Oeste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4.909</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0,184</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0,185</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Mauá</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Sudeste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822</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0,182</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0,180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Itajuípe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Nordeste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29</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0,182</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0,177</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Salto</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Sudeste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196</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0,181</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0,183</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Belém</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Norte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2.003</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0,181</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0,179</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339344">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Cachoeiro de Itapemirim</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Sudeste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363</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0,180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0,181</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Guapiaçu</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Sudeste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39</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0,179</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0,184</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Guarujá</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Sudeste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684</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0,178</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0,179</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Natal</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Nordeste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1.076</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0,178</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0,177</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Recife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Nordeste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2.795</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0,177</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0,176</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Limoeiro do Norte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Nordeste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95</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0,176</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0,180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Igarapava</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Sudeste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56</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0,175</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0,181</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Goiânia</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Centro-Oeste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2.270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0,173</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0,174</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r>
            </a:tbl>
          </a:graphicData>
        </a:graphic>
      </p:graphicFrame>
      <p:graphicFrame>
        <p:nvGraphicFramePr>
          <p:cNvPr id="77" name="Table 1"/>
          <p:cNvGraphicFramePr>
            <a:graphicFrameLocks noGrp="1"/>
          </p:cNvGraphicFramePr>
          <p:nvPr>
            <p:extLst>
              <p:ext uri="{D42A27DB-BD31-4B8C-83A1-F6EECF244321}">
                <p14:modId xmlns:p14="http://schemas.microsoft.com/office/powerpoint/2010/main" val="1579011935"/>
              </p:ext>
            </p:extLst>
          </p:nvPr>
        </p:nvGraphicFramePr>
        <p:xfrm>
          <a:off x="6368796" y="1271016"/>
          <a:ext cx="5042916" cy="914400"/>
        </p:xfrm>
        <a:graphic>
          <a:graphicData uri="http://schemas.openxmlformats.org/drawingml/2006/table">
            <a:tbl>
              <a:tblPr/>
              <a:tblGrid>
                <a:gridCol w="1008583"/>
                <a:gridCol w="1008583"/>
                <a:gridCol w="1008583"/>
                <a:gridCol w="1008583"/>
                <a:gridCol w="1008583"/>
              </a:tblGrid>
              <a:tr h="207645">
                <a:tc>
                  <a:txBody>
                    <a:bodyPr/>
                    <a:lstStyle/>
                    <a:p>
                      <a:pPr indent="0" marL="0">
                        <a:buNone/>
                      </a:pPr>
                      <a:r>
                        <a:rPr lang="en-US" sz="750" b="1" dirty="0">
                          <a:solidFill>
                            <a:srgbClr val="1A1A18"/>
                          </a:solidFill>
                          <a:latin typeface="Cambria" pitchFamily="34" charset="0"/>
                          <a:ea typeface="Cambria" pitchFamily="34" charset="-122"/>
                          <a:cs typeface="Cambria" pitchFamily="34" charset="-120"/>
                        </a:rPr>
                        <a:t>Município</a:t>
                      </a:r>
                      <a:endParaRPr lang="en-US" sz="7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750" b="1" dirty="0">
                          <a:solidFill>
                            <a:srgbClr val="1A1A18"/>
                          </a:solidFill>
                          <a:latin typeface="Cambria" pitchFamily="34" charset="0"/>
                          <a:ea typeface="Cambria" pitchFamily="34" charset="-122"/>
                          <a:cs typeface="Cambria" pitchFamily="34" charset="-120"/>
                        </a:rPr>
                        <a:t>Região</a:t>
                      </a:r>
                      <a:endParaRPr lang="en-US" sz="7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750" b="1" dirty="0">
                          <a:solidFill>
                            <a:srgbClr val="1A1A18"/>
                          </a:solidFill>
                          <a:latin typeface="Cambria" pitchFamily="34" charset="0"/>
                          <a:ea typeface="Cambria" pitchFamily="34" charset="-122"/>
                          <a:cs typeface="Cambria" pitchFamily="34" charset="-120"/>
                        </a:rPr>
                        <a:t>Setores</a:t>
                      </a:r>
                      <a:endParaRPr lang="en-US" sz="7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750" b="1" dirty="0">
                          <a:solidFill>
                            <a:srgbClr val="1A1A18"/>
                          </a:solidFill>
                          <a:latin typeface="Cambria" pitchFamily="34" charset="0"/>
                          <a:ea typeface="Cambria" pitchFamily="34" charset="-122"/>
                          <a:cs typeface="Cambria" pitchFamily="34" charset="-120"/>
                        </a:rPr>
                        <a:t>Média</a:t>
                      </a:r>
                      <a:endParaRPr lang="en-US" sz="7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750" b="1" dirty="0">
                          <a:solidFill>
                            <a:srgbClr val="1A1A18"/>
                          </a:solidFill>
                          <a:latin typeface="Cambria" pitchFamily="34" charset="0"/>
                          <a:ea typeface="Cambria" pitchFamily="34" charset="-122"/>
                          <a:cs typeface="Cambria" pitchFamily="34" charset="-120"/>
                        </a:rPr>
                        <a:t>Mediana</a:t>
                      </a:r>
                      <a:endParaRPr lang="en-US" sz="7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Canoas</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Sul</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642</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0,172</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0,173</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Charqueadas</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Sul</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56</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0,172</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0,171</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339344">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São Bernardo do Campo</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Sudeste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1.684</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0,168</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0,165</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Divinópolis</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Sudeste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493</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0,163</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0,158</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São Gonçalo</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Sudeste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2.349</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0,162</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0,161</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São Paulo</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Sudeste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26.423</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0,162</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0,162</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Salvador</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Nordeste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4.465</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0,162</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0,166</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Campinas</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Sudeste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2.455</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0,161</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0,156</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Rio de Janeiro</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Sudeste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13.331</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0,161</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0,157</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Araçatuba</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Sudeste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487</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0,160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0,154</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Taió</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Sul</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49</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0,158</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0,174</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Curitiba</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Sul</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3.163</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0,157</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0,158</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Belo Horizonte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Sudeste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5.097</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0,152</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0,148</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339344">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São Caetano do Sul</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Sudeste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421</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0,151</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0,146</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Porto Alegre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Sul</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2.663</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0,147</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0,136</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Coroaci</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Sudeste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11</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0,147</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0,144</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339344">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São Paulo das Missões</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Sul</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6</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0,121</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0,133</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r>
            </a:tbl>
          </a:graphicData>
        </a:graphic>
      </p:graphicFrame>
      <p:sp>
        <p:nvSpPr>
          <p:cNvPr id="7" name="Text 3"/>
          <p:cNvSpPr/>
          <p:nvPr/>
        </p:nvSpPr>
        <p:spPr>
          <a:xfrm>
            <a:off x="9948672" y="146304"/>
            <a:ext cx="1463040" cy="274320"/>
          </a:xfrm>
          <a:prstGeom prst="rect">
            <a:avLst/>
          </a:prstGeom>
          <a:noFill/>
          <a:ln/>
        </p:spPr>
        <p:txBody>
          <a:bodyPr wrap="square" lIns="0" tIns="0" rIns="0" bIns="0" rtlCol="0" anchor="ctr"/>
          <a:lstStyle/>
          <a:p>
            <a:pPr algn="r" indent="0" marL="0">
              <a:buNone/>
            </a:pPr>
            <a:r>
              <a:rPr lang="en-US" sz="1100" b="1" dirty="0">
                <a:solidFill>
                  <a:srgbClr val="8C2F27"/>
                </a:solidFill>
                <a:latin typeface="Cambria" pitchFamily="34" charset="0"/>
                <a:ea typeface="Cambria" pitchFamily="34" charset="-122"/>
                <a:cs typeface="Cambria" pitchFamily="34" charset="-120"/>
              </a:rPr>
              <a:t>CRI-38</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38</Slides>
  <Notes>38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38</vt:i4>
      </vt:variant>
    </vt:vector>
  </HeadingPairs>
  <TitlesOfParts>
    <vt:vector size="4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Crianças (0 a 14 anos)</dc:title>
  <dc:subject>PptxGenJS Presentation</dc:subject>
  <dc:creator>Pedro Dias Soares</dc:creator>
  <cp:lastModifiedBy>Pedro Dias Soares</cp:lastModifiedBy>
  <cp:revision>1</cp:revision>
  <dcterms:created xsi:type="dcterms:W3CDTF">2026-10-22T19:30:47Z</dcterms:created>
  <dcterms:modified xsi:type="dcterms:W3CDTF">2026-10-22T19:30:47Z</dcterms:modified>
</cp:coreProperties>
</file>