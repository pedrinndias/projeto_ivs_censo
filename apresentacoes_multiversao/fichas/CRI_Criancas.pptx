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[CRI-01] Crianças (0 a 14 anos)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[CRI-06] 99,8%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103.850 dos 104.108 setores (99,8%) têm o dado. Nos 258 sem o dado, a renda mediana do responsável é R$ 4.757,22, contra R$ 2.570,48 nos que têm: o ausente não é aleatório.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Sul (0,3%); a menor, no Norte (0,03%).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(0,173) e a mediana (0,172) estão próximas: assimetria de 0,11.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(0,173) e a mediana (0,172) estão próximas: assimetria de 0,11.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817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0,172; três quartos, até 0,210.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(0,172) ao 99 (0,316).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(0,210); a menor, a do Sul (0,159).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(0,210); a menor, a do Sul (0,159).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até 100 mil (0,199); a menor, a dos de mais de 500 mil (0,171).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até 100 mil (0,199); a menor, a dos de mais de 500 mil (0,171).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Portel (0,307, 26 setores); menor: São Paulo das Missões (0,121).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A mediana vai de 0,133 a 0,286.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0,077 (Ibatiba) a 0,253 (Porto Alegre).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0,077 (Ibatiba) a 0,253 (Porto Alegre).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0,222 nos setores de favela e de 0,161 fora delas (razão de 1,4).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0,222 nos setores de favela e de 0,161 fora delas (razão de 1,4).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0,239; no decil 10, 0,143.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0,187; nos 70 municípios, 0,173.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0,187; nos 70 municípios, 0,173.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0,316; 1.039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Idosos (60 anos ou mais): -0,79 no conjunto e -0,77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Idosos (60 anos ou mais): -0,79 no conjunto e -0,77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0,791 no conjunto e 0,705 dentro dos municípios (critério: 0,30); MSA de 0,783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0,791 no conjunto e 0,705 dentro dos municípios (critério: 0,30); MSA de 0,783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0,05% dos pares a combinação era elegível sem ele e deixa de ser com ele; ao entrar, custa na mediana 158 setores e muda o KMO em 0,056.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1,7%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Fora do índice. Correlação de Spearman com o IVS proposto: 0,62. Média por faixa, de baixo a muito elevado: 0,140 · 0,180 · 0,219 · 0,238.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[CRI-35] Ao longo das faixas do IVS proposto
O que é. A média do indicador nos setores de cada faixa de vulnerabilidade do IVS proposto.
Para que serve. Responde à pergunta do ELSI: os idosos (ou as crianças) moram mais nos setores mais ou menos vulneráveis?
Como ler. Barras que sobem para a direita: mais presentes nos setores mais vulneráveis.
O que mostra. Fora do índice. Correlação de Spearman com o IVS proposto: 0,62. Média por faixa, de baixo a muito elevado: 0,140 · 0,180 · 0,219 · 0,238.
Fontes: banco_de_dados/eda/fatorial_multiversao/ivs_proposto_por_setor.csv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CRI · DEMOGRAFIA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Crianças (0 a 14 anos)</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pessoas com menos de 15 anos na população residente. Indicador complementar (Quadro 2), fora do IVS de 2012.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pessoas com menos de 15 anos na população residente, em proporção de 0 a 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Crianças de 0 a 14 anos: com os idosos, descrevem a estrutura etária do setor. Não é vulnerabilidade em si; ajuda a ler o IVS pela composição etária.</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no sentido de mais crianças, que não é vulnerabilidade em si.</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Fora do IVS de 2012; entra na análise fatorial como indicador que pode ou não acrescentar.</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V01031 + V01032 + V01033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Agregados_por_setores_basico_BR_20250417.csv; Agregados_por_setores_demografia_BR.csv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população residente total; moradores de domicílios coletivos entram (item a).</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Faixas de idade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grupos etários dos agregados por setor; idosos e crianças dividem o mesmo denominador e são o numerador e o denominador do índice de envelhecimento (Galvão et al., 2025).</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Fora do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demografia, não vulnerabilidade: descreve a estrutura etária e serve para ler o IVS proposto pelo tema do ELSI-Brasil.</a:t>
            </a:r>
            <a:endParaRPr lang="en-US" sz="1350" dirty="0"/>
          </a:p>
        </p:txBody>
      </p:sp>
      <p:sp>
        <p:nvSpPr>
          <p:cNvPr id="8" name="Text 6"/>
          <p:cNvSpPr/>
          <p:nvPr/>
        </p:nvSpPr>
        <p:spPr>
          <a:xfrm>
            <a:off x="777240" y="2760345"/>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99,8%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103.850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99,8%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R$ 2.570,48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R$ 4.757,22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103.850 dos 104.108 setores (99,8%) têm o dado. Nos 258 sem o dado, a renda mediana do responsável é R$ 4.757,22, contra R$ 2.570,48 nos que têm: o ausente não é aleatório.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Crianças (0 a 14 anos):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Sul (0,3%); a menor, no Norte (0,03%).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103.850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(0,173) e a mediana (0,172) estão próximas: assimetria de 0,11.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histograma.png">    </p:cNvPr>
          <p:cNvPicPr>
            <a:picLocks noChangeAspect="1"/>
          </p:cNvPicPr>
          <p:nvPr/>
        </p:nvPicPr>
        <p:blipFill>
          <a:blip r:embed="rId1"/>
          <a:stretch>
            <a:fillRect/>
          </a:stretch>
        </p:blipFill>
        <p:spPr>
          <a:xfrm>
            <a:off x="777240" y="1298448"/>
            <a:ext cx="6675120" cy="4020482"/>
          </a:xfrm>
          <a:prstGeom prst="rect">
            <a:avLst/>
          </a:prstGeom>
        </p:spPr>
      </p:pic>
      <p:sp>
        <p:nvSpPr>
          <p:cNvPr id="6" name="Text 3"/>
          <p:cNvSpPr/>
          <p:nvPr/>
        </p:nvSpPr>
        <p:spPr>
          <a:xfrm>
            <a:off x="777240" y="537379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Crianças (0 a 14 anos): número de setores em cada faixa de valor (103.850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(0,173) e a mediana (0,172) estão próximas: assimetria de 0,11.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Crianças (0 a 14 anos):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817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Crianças (0 a 14 anos):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0,172; três quartos, até 0,210.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percentis.png">    </p:cNvPr>
          <p:cNvPicPr>
            <a:picLocks noChangeAspect="1"/>
          </p:cNvPicPr>
          <p:nvPr/>
        </p:nvPicPr>
        <p:blipFill>
          <a:blip r:embed="rId1"/>
          <a:stretch>
            <a:fillRect/>
          </a:stretch>
        </p:blipFill>
        <p:spPr>
          <a:xfrm>
            <a:off x="777240" y="1298448"/>
            <a:ext cx="6675120" cy="4038906"/>
          </a:xfrm>
          <a:prstGeom prst="rect">
            <a:avLst/>
          </a:prstGeom>
        </p:spPr>
      </p:pic>
      <p:sp>
        <p:nvSpPr>
          <p:cNvPr id="6" name="Text 3"/>
          <p:cNvSpPr/>
          <p:nvPr/>
        </p:nvSpPr>
        <p:spPr>
          <a:xfrm>
            <a:off x="777240" y="53922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Crianças (0 a 14 anos):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(0,172) ao 99 (0,316).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61.806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7.194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(0,210); a menor, a do Sul (0,159).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regiao.png">    </p:cNvPr>
          <p:cNvPicPr>
            <a:picLocks noChangeAspect="1"/>
          </p:cNvPicPr>
          <p:nvPr/>
        </p:nvPicPr>
        <p:blipFill>
          <a:blip r:embed="rId1"/>
          <a:stretch>
            <a:fillRect/>
          </a:stretch>
        </p:blipFill>
        <p:spPr>
          <a:xfrm>
            <a:off x="777240" y="1298448"/>
            <a:ext cx="6675120" cy="3848591"/>
          </a:xfrm>
          <a:prstGeom prst="rect">
            <a:avLst/>
          </a:prstGeom>
        </p:spPr>
      </p:pic>
      <p:sp>
        <p:nvSpPr>
          <p:cNvPr id="6" name="Text 3"/>
          <p:cNvSpPr/>
          <p:nvPr/>
        </p:nvSpPr>
        <p:spPr>
          <a:xfrm>
            <a:off x="777240" y="520190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Crianças (0 a 14 anos)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(0,210); a menor, a do Sul (0,159).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7.652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(0,199); a menor, a dos de mais de 500 mil (0,171).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porte.png">    </p:cNvPr>
          <p:cNvPicPr>
            <a:picLocks noChangeAspect="1"/>
          </p:cNvPicPr>
          <p:nvPr/>
        </p:nvPicPr>
        <p:blipFill>
          <a:blip r:embed="rId1"/>
          <a:stretch>
            <a:fillRect/>
          </a:stretch>
        </p:blipFill>
        <p:spPr>
          <a:xfrm>
            <a:off x="777240" y="1298448"/>
            <a:ext cx="6675120" cy="3855640"/>
          </a:xfrm>
          <a:prstGeom prst="rect">
            <a:avLst/>
          </a:prstGeom>
        </p:spPr>
      </p:pic>
      <p:sp>
        <p:nvSpPr>
          <p:cNvPr id="6" name="Text 3"/>
          <p:cNvSpPr/>
          <p:nvPr/>
        </p:nvSpPr>
        <p:spPr>
          <a:xfrm>
            <a:off x="777240" y="520895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Crianças (0 a 14 anos)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até 100 mil (0,199); a menor, a dos de mais de 500 mil (0,171).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0,307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0,283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0,285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0,286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Água Preta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Manaus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3.093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Jaqueira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José de Ribamar</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580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Japoatã</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0,222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0,234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Campinas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2.455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13.331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Araçatuba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Taió</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0,174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5.097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0,148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0,146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0,147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Coroaci</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0,147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0,144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0,133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Portel (0,307, 26 setores); menor: São Paulo das Missões (0,121).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municipios.png">    </p:cNvPr>
          <p:cNvPicPr>
            <a:picLocks noChangeAspect="1"/>
          </p:cNvPicPr>
          <p:nvPr/>
        </p:nvPicPr>
        <p:blipFill>
          <a:blip r:embed="rId1"/>
          <a:stretch>
            <a:fillRect/>
          </a:stretch>
        </p:blipFill>
        <p:spPr>
          <a:xfrm>
            <a:off x="1441969" y="1298448"/>
            <a:ext cx="5345663"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Crianças (0 a 14 anos):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mediana vai de 0,133 a 0,286.</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Porto Alegre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2.663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Araçatuba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13.331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26.423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Belo Horizonte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Guarujá</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Preta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Ibatiba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0,077 (Ibatiba) a 0,253 (Porto Alegre).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desigualdade.png">    </p:cNvPr>
          <p:cNvPicPr>
            <a:picLocks noChangeAspect="1"/>
          </p:cNvPicPr>
          <p:nvPr/>
        </p:nvPicPr>
        <p:blipFill>
          <a:blip r:embed="rId1"/>
          <a:stretch>
            <a:fillRect/>
          </a:stretch>
        </p:blipFill>
        <p:spPr>
          <a:xfrm>
            <a:off x="777240" y="1298448"/>
            <a:ext cx="6675120" cy="4062229"/>
          </a:xfrm>
          <a:prstGeom prst="rect">
            <a:avLst/>
          </a:prstGeom>
        </p:spPr>
      </p:pic>
      <p:sp>
        <p:nvSpPr>
          <p:cNvPr id="6" name="Text 3"/>
          <p:cNvSpPr/>
          <p:nvPr/>
        </p:nvSpPr>
        <p:spPr>
          <a:xfrm>
            <a:off x="777240" y="54155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Crianças (0 a 14 anos):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0,077 (Ibatiba) a 0,253 (Porto Alegre).</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0,251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84.410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0,222 nos setores de favela e de 0,161 fora delas (razão de 1,4).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favela.png">    </p:cNvPr>
          <p:cNvPicPr>
            <a:picLocks noChangeAspect="1"/>
          </p:cNvPicPr>
          <p:nvPr/>
        </p:nvPicPr>
        <p:blipFill>
          <a:blip r:embed="rId1"/>
          <a:stretch>
            <a:fillRect/>
          </a:stretch>
        </p:blipFill>
        <p:spPr>
          <a:xfrm>
            <a:off x="777240" y="1298448"/>
            <a:ext cx="6675120" cy="3848591"/>
          </a:xfrm>
          <a:prstGeom prst="rect">
            <a:avLst/>
          </a:prstGeom>
        </p:spPr>
      </p:pic>
      <p:sp>
        <p:nvSpPr>
          <p:cNvPr id="6" name="Text 3"/>
          <p:cNvSpPr/>
          <p:nvPr/>
        </p:nvSpPr>
        <p:spPr>
          <a:xfrm>
            <a:off x="777240" y="520190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Crianças (0 a 14 anos):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0,222 nos setores de favela e de 0,161 fora delas (razão de 1,4).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gradiente.png">    </p:cNvPr>
          <p:cNvPicPr>
            <a:picLocks noChangeAspect="1"/>
          </p:cNvPicPr>
          <p:nvPr/>
        </p:nvPicPr>
        <p:blipFill>
          <a:blip r:embed="rId1"/>
          <a:stretch>
            <a:fillRect/>
          </a:stretch>
        </p:blipFill>
        <p:spPr>
          <a:xfrm>
            <a:off x="777240" y="1298448"/>
            <a:ext cx="6675120" cy="4045954"/>
          </a:xfrm>
          <a:prstGeom prst="rect">
            <a:avLst/>
          </a:prstGeom>
        </p:spPr>
      </p:pic>
      <p:sp>
        <p:nvSpPr>
          <p:cNvPr id="6" name="Text 3"/>
          <p:cNvSpPr/>
          <p:nvPr/>
        </p:nvSpPr>
        <p:spPr>
          <a:xfrm>
            <a:off x="777240" y="539926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Crianças (0 a 14 anos)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0,239; no decil 10, 0,143.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346.371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103.850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0,172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0,187; nos 70 municípios, 0,173.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Crianças (0 a 14 anos):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0,187; nos 70 municípios, 0,173.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Brasília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Teresina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José dos Pinhais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Nova Iguaçu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Campo Grande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235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910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Guarulhos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0,316; 1.039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Idosos (60 anos ou mais): -0,79 no conjunto e -0,77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Idosos (60 anos ou mais): -0,79 no conjunto e -0,77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0,803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0,791 no conjunto e 0,705 dentro dos municípios (critério: 0,30); MSA de 0,783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cargas.png">    </p:cNvPr>
          <p:cNvPicPr>
            <a:picLocks noChangeAspect="1"/>
          </p:cNvPicPr>
          <p:nvPr/>
        </p:nvPicPr>
        <p:blipFill>
          <a:blip r:embed="rId1"/>
          <a:stretch>
            <a:fillRect/>
          </a:stretch>
        </p:blipFill>
        <p:spPr>
          <a:xfrm>
            <a:off x="777240" y="1298448"/>
            <a:ext cx="6675120" cy="3840480"/>
          </a:xfrm>
          <a:prstGeom prst="rect">
            <a:avLst/>
          </a:prstGeom>
        </p:spPr>
      </p:pic>
      <p:sp>
        <p:nvSpPr>
          <p:cNvPr id="6" name="Text 3"/>
          <p:cNvSpPr/>
          <p:nvPr/>
        </p:nvSpPr>
        <p:spPr>
          <a:xfrm>
            <a:off x="777240" y="51937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Crianças (0 a 14 anos):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0,791 no conjunto e 0,705 dentro dos municípios (critério: 0,30); MSA de 0,783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158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0,05% dos pares a combinação era elegível sem ele e deixa de ser com ele; ao entrar, custa na mediana 158 setores e muda o KMO em 0,056.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Crianças (0 a 14 anos):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1,7%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 do índice. Correlação de Spearman com o IVS proposto: 0,62. Média por faixa, de baixo a muito elevado: 0,140 · 0,180 · 0,219 · 0,238.</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Ao longo das faixas do IVS proposto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RI_por_faixa.png">    </p:cNvPr>
          <p:cNvPicPr>
            <a:picLocks noChangeAspect="1"/>
          </p:cNvPicPr>
          <p:nvPr/>
        </p:nvPicPr>
        <p:blipFill>
          <a:blip r:embed="rId1"/>
          <a:stretch>
            <a:fillRect/>
          </a:stretch>
        </p:blipFill>
        <p:spPr>
          <a:xfrm>
            <a:off x="777240" y="1298448"/>
            <a:ext cx="6675120" cy="4088247"/>
          </a:xfrm>
          <a:prstGeom prst="rect">
            <a:avLst/>
          </a:prstGeom>
        </p:spPr>
      </p:pic>
      <p:sp>
        <p:nvSpPr>
          <p:cNvPr id="6" name="Text 3"/>
          <p:cNvSpPr/>
          <p:nvPr/>
        </p:nvSpPr>
        <p:spPr>
          <a:xfrm>
            <a:off x="777240" y="5441559"/>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Crianças (0 a 14 anos): média por faixa do IVS proposto.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do indicador nos setores de cada faixa de vulnerabilidade do IVS proposto.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Responde à pergunta do ELSI: os idosos (ou as crianças) moram mais nos setores mais ou menos vulneráveis?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para a direita: mais presentes nos setores mais vulneráveis.</a:t>
            </a:r>
            <a:endParaRPr lang="en-US" sz="1150" dirty="0"/>
          </a:p>
        </p:txBody>
      </p:sp>
      <p:sp>
        <p:nvSpPr>
          <p:cNvPr id="11" name="Text 8"/>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 do índice. Correlação de Spearman com o IVS proposto: 0,62. Média por faixa, de baixo a muito elevado: 0,140 · 0,180 · 0,219 · 0,238.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(0,173) e a mediana (0,172) estão próximas: assimetria de 0,11.</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103.850 dos 104.108 setores (99,8%) têm o dado. Nos 258 sem o dado, a renda mediana do responsável é R$ 4.757,22, contra R$ 2.570,48 nos que têm: o ausente não é aleatório.</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(0,210); a menor, a do Sul (0,159). O Norte tem só 6 municípios: os contrastes descrevem os municípios estudados, não a região inteira.</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0,239; no decil 10, 0,143.</a:t>
            </a:r>
            <a:endParaRPr lang="en-US" sz="1350" dirty="0"/>
          </a:p>
        </p:txBody>
      </p:sp>
      <p:sp>
        <p:nvSpPr>
          <p:cNvPr id="9" name="Text 7"/>
          <p:cNvSpPr/>
          <p:nvPr/>
        </p:nvSpPr>
        <p:spPr>
          <a:xfrm>
            <a:off x="777240" y="309295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Idosos (60 anos ou mais): -0,79 no conjunto e -0,77 dentro dos municípios.</a:t>
            </a:r>
            <a:endParaRPr lang="en-US" sz="1350" dirty="0"/>
          </a:p>
        </p:txBody>
      </p:sp>
      <p:sp>
        <p:nvSpPr>
          <p:cNvPr id="10" name="Text 8"/>
          <p:cNvSpPr/>
          <p:nvPr/>
        </p:nvSpPr>
        <p:spPr>
          <a:xfrm>
            <a:off x="777240" y="3425571"/>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0,764 dentro dos municípios; atende a 3 dos 3 critérios da Fase 1 (comunalidade, perda de base, elegibilidade).</a:t>
            </a:r>
            <a:endParaRPr lang="en-US" sz="1350" dirty="0"/>
          </a:p>
        </p:txBody>
      </p:sp>
      <p:sp>
        <p:nvSpPr>
          <p:cNvPr id="11" name="Text 9"/>
          <p:cNvSpPr/>
          <p:nvPr/>
        </p:nvSpPr>
        <p:spPr>
          <a:xfrm>
            <a:off x="777240" y="398106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Fica fora do IVS proposto (padrão P2); a decisão é da orientadora.</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0,307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0,200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26.423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0,144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CRI-38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Crianças (0 a 14 anos)</dc:title>
  <dc:subject>PptxGenJS Presentation</dc:subject>
  <dc:creator>Pedro Dias Soares</dc:creator>
  <cp:lastModifiedBy>Pedro Dias Soares</cp:lastModifiedBy>
  <cp:revision>1</cp:revision>
  <dcterms:created xsi:type="dcterms:W3CDTF">2026-10-22T23:26:08Z</dcterms:created>
  <dcterms:modified xsi:type="dcterms:W3CDTF">2026-10-22T23:26:08Z</dcterms:modified>
</cp:coreProperties>
</file>