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[BAN-01] Sem banheiro
Fontes: relatorio_parcial_raic/Relatorio_Parcial_RAIC_2026_Pedro_corrigido.pdf, Quadro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[BAN-02] Análise exploratória
Fontes: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[BAN-03] O que o indicador mede e por que importa
Fontes: src/ivs_censo/indicadores.py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[BAN-04] Como é calculado
O que é. A receita do indicador: quais variáveis do Censo vão em cima (numerador) e em baixo (denominador) da divisão, e de que arquivo do IBGE cada uma sai.
Para que serve. Permite refazer a conta e conferir qualquer número. As variáveis "V0…" são os códigos do dicionário oficial dos agregados por setor do Censo 2022.
Como ler. Uma soma no numerador junta categorias (por exemplo, todas as formas inadequadas). O cálculo é por setor censitário, a menor área com dado do Censo.
Fontes: src/ivs_censo/indicadores.py; src/ivs_censo/fontes.py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[BAN-05] As adequações ao Censo 2022
Fontes: relatorio_parcial_raic/Relatorio_Parcial_RAIC_2026_Pedro_corrigido.pdf, seção 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[BAN-06] 88,3% dos setores têm o dado
O que é. Quantos setores têm o indicador calculado e quantos ficaram sem ele, com o perfil de cada grupo.
Para que serve. O IBGE esconde (sigilo) números muito pequenos para ninguém ser identificado. Se o dado falta mais num tipo de setor, as médias ficam enviesadas — por isso o perfil dos dois grupos.
Como ler. Compare a renda mediana, a % de favela e a % de Sudeste entre "com o dado" e "sem o dado". Se forem parecidas, a falta é próxima do acaso.
O que mostra. 91.912 dos 104.108 setores (88,3%) têm o dado. Nos 12.196 sem o dado, a renda mediana do responsável é R$ 1.809,52, contra R$ 2.735,43 nos que têm: o ausente não é aleatório.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[BAN-07] Onde falta o dado
O que é. A proporção de setores sem o indicador em cada região.
Para que serve. Mostra se a falta de dado se concentra numa parte do país, o que pesaria nas comparações regionais.
Como ler. Cada barra é uma região; quanto mais longa, mais setores sem o dado.
O que mostra. A maior proporção sem dado é no Norte (25,1%); a menor, no Centro-Oeste (8,5%).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[BAN-08] Estatísticas descritivas
O que é. O resumo numérico do indicador nos setores urbanos dos 70 municípios.
Para que serve. A média é puxada por valores extremos; a mediana é o valor do setor do meio. O percentil 25 (ou 75) é o valor abaixo do qual estão 25% (ou 75%) dos setores. A assimetria mede o quanto a distribuição tem cauda longa para um lado.
Como ler. Assimetria perto de zero: distribuição equilibrada. Acima de 1: cauda longa à direita, poucos setores com valores muito altos. Muitos zeros e assimetria alta pedem cuidado ao padronizar.
O que mostra. A média (0,002) e a mediana (0,000) se afastam: assimetria de 21,31. Em 95,6% dos setores o valor é zero.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[BAN-09] O histograma
O que é. Os setores agrupados em faixas de valor do indicador; a altura de cada barra é quantos setores caem naquela faixa.
Para que serve. Mostra a forma da distribuição: onde está a maioria dos setores e se há cauda longa.
Como ler. Barra alta à esquerda e cauda à direita: muitos setores com valor baixo e poucos com valor alto. A linha vermelha é a média; a tracejada, a mediana — quanto mais afastadas, mais assimétrica.
O que mostra. A média (0,002) e a mediana (0,000) se afastam: assimetria de 21,31. Em 95,6% dos setores o valor é zero.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[BAN-10] O boxplot
O que é. Um resumo da distribuição numa figura: caixa, mediana, bigodes e pontos extremos.
Para que serve. Mostra de uma vez onde está a metade central dos setores e quantos fogem do padrão.
Como ler. A caixa vai do percentil 25 ao 75; a linha vermelha é a mediana; os bigodes vão até 1,5 vez a altura da caixa; cada ponto além deles é um setor extremo.
O que mostra. O percentil 25 e o 75 são iguais (caixa sem altura): todo valor diferente deles aparece como extremo.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[BAN-11] A distribuição acumulada
O que é. Para cada valor no eixo horizontal, a curva dá a proporção de setores com valor igual ou menor.
Para que serve. Lê qualquer percentil direto no gráfico, sem depender das faixas do histograma.
Como ler. Escolha uma altura (as linhas pontilhadas marcam 25%, 50% e 75%) e desça até o eixo: é o valor daquele percentil. Uma subida vertical no começo indica muitos setores com o mesmo valor (por exemplo, zero).
O que mostra. Metade dos setores tem até 0,000; três quartos, até 0,000.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[BAN-12] A régua dos percentis
O que é. O valor do indicador em seis pontos da distribuição: do setor no percentil 10 ao do percentil 99.
Para que serve. Mostra quanto o indicador cresce do setor típico para os mais altos — onde está a desigualdade.
Como ler. Barras que sobem devagar e explodem no fim (p90, p99): o problema se concentra em poucos setores. A linha vermelha é a média.
O que mostra. Do percentil 50 (0,000) ao 99 (0,055).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[BAN-13] Por região: a tabela
O que é. As estatísticas do indicador separadas pelas cinco grandes regiões.
Para que serve. Mostra se o indicador tem padrão regional, o que pesa na escolha da régua (dentro de cada município ou no conjunto).
Como ler. Compare média e mediana entre as linhas; "% zeros" é a parte dos setores sem nenhum domicílio ou pessoa na condição.
O que mostra. A maior média é a do Norte (0,011); a menor, a do Centro-Oeste (0,001). O Norte tem só 6 municípios: os contrastes descrevem os municípios estudados, não a região inteira.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[BAN-14] Por região: o boxplot
O que é. Um boxplot por região, lado a lado.
Para que serve. Compara não só a média, mas a dispersão de cada região.
Como ler. A caixa vai do percentil 25 ao 75 (metade central dos setores); a linha vermelha é a mediana; o losango, a média; os bigodes vão até 1,5 vez a altura da caixa. Os extremos além dos bigodes não são desenhados, para a escala não ficar presa a poucos setores.
O que mostra. A maior média é a do Norte (0,011); a menor, a do Centro-Oeste (0,001). O Norte tem só 6 municípios: os contrastes descrevem os municípios estudados, não a região inteira.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[BAN-15] Por porte do município: a tabela
O que é. As estatísticas do indicador por tamanho do município (moradores somados nos setores da base).
Para que serve. Testa se o indicador acompanha o tamanho da cidade — se sim, parte dele mede porte urbano, não vulnerabilidade.
Como ler. Três grupos: até 100 mil, de 100 a 500 mil e mais de 500 mil moradores.
O que mostra. A maior média é a dos municípios de até 100 mil (0,012); a menor, a dos de mais de 500 mil (0,002).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[BAN-16] Por porte do município: o boxplot
O que é. Um boxplot por porte de município.
Para que serve. Mostra se cidades maiores ou menores concentram o problema.
Como ler. A caixa vai do percentil 25 ao 75 (metade central dos setores); a linha vermelha é a mediana; o losango, a média; os bigodes vão até 1,5 vez a altura da caixa. Os extremos além dos bigodes não são desenhados, para a escala não ficar presa a poucos setores.
O que mostra. A maior média é a dos municípios de até 100 mil (0,012); a menor, a dos de mais de 500 mil (0,002).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[BAN-17] Os 70 municípios: maiores e menores médias
O que é. Os 10 municípios com a maior média do indicador e os 10 com a menor.
Para que serve. Identifica onde o indicador é mais e menos presente. A tabela completa está no apêndice.
Como ler. Atenção à coluna "Setores": município com poucos setores tem média instável, que muda muito com um setor a mais ou a menos.
O que mostra. Maior média: Portel (0,162, 24 setores); menor: Vicentinópolis (0,000).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[BAN-18] Os 70 municípios, ordenados pela mediana
O que é. Cada coluna é um município: o ponto é a mediana dos setores dele e o traço vai do percentil 25 ao 75.
Para que serve. Mostra ao mesmo tempo o nível de cada cidade (o ponto) e a desigualdade dentro dela (o tamanho do traço).
Como ler. Da esquerda para a direita, das cidades com mediana mais baixa às mais altas. Traço longo: setores muito diferentes entre si na mesma cidade.
O que mostra. 64 dos 70 municípios têm mediana zero.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[BAN-19] A desigualdade dentro das cidades: a tabela
O que é. Duas medidas de quanto os setores de uma mesma cidade diferem entre si: o intervalo interquartil (percentil 75 menos 25) e o Gini.
Para que serve. O IVS é intraurbano: quer achar as diferenças dentro da cidade. Indicador que varia pouco dentro das cidades contribui pouco para isso.
Como ler. O Gini vai de 0 (todos os setores iguais) a 1 (tudo concentrado num setor). Mostra os 8 municípios mais desiguais e os 4 menos.
O que mostra. Entre os 53 municípios com pelo menos 30 setores, o Gini vai de 0,610 (Rosário) a 0,998 (Araçatuba).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[BAN-20] A desigualdade dentro das cidades: o gráfico
O que é. Cada ponto é um município: na horizontal, o nível do indicador; na vertical, a desigualdade entre os setores dele.
Para que serve. Separa cidades com o problema espalhado (nível alto, Gini baixo) de cidades com o problema concentrado em poucos setores (Gini alto).
Como ler. Pontos maiores são cidades com mais setores. Os nomes marcados são os extremos de desigualdade.
O que mostra. Entre os 53 municípios com pelo menos 30 setores, o Gini vai de 0,610 (Rosário) a 0,998 (Araçatuba).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[BAN-21] Favela e fora da favela: a tabela
O que é. As estatísticas do indicador nos setores de favela e comunidade urbana (classificação do IBGE) e nos demais.
Para que serve. Favela é um território sabidamente vulnerável: um indicador de vulnerabilidade deveria ser mais alto nela. É uma checagem de bom senso, não uma validação.
Como ler. Compare as médias; a razão diz quantas vezes o valor na favela é o de fora.
O que mostra. Média de 0,007 nos setores de favela e de 0,001 fora delas (razão de 4,7).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[BAN-22] Favela e fora da favela: o boxplot
O que é. Um boxplot para os setores de favela e outro para os demais.
Para que serve. Mostra se a diferença está em todos os setores ou só em alguns.
Como ler. A caixa vai do percentil 25 ao 75 (metade central dos setores); a linha vermelha é a mediana; o losango, a média; os bigodes vão até 1,5 vez a altura da caixa. Os extremos além dos bigodes não são desenhados, para a escala não ficar presa a poucos setores.
O que mostra. Média de 0,007 nos setores de favela e de 0,001 fora delas (razão de 4,7).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[BAN-23] O indicador ao longo da renda
O que é. Os setores de cada município ordenados pela renda e divididos em 10 grupos iguais (decis); o gráfico dá a média e a mediana do indicador em cada grupo.
Para que serve. Mostra o gradiente social: se o indicador piora à medida que a renda cai. Como os decis são feitos dentro de cada município, a comparação é sempre entre setores da mesma cidade.
Como ler. Linha descendente da esquerda para a direita: o indicador é maior nos setores mais pobres. Linha plana: não depende da renda.
O que mostra. No decil 1 a média é 0,011; no decil 10, 0,000.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[BAN-24] Os 70 municípios e o Brasil urbano: a tabela
O que é. O indicador nos setores urbanos de todo o Brasil e nos dos 70 municípios do ELSI-Brasil.
Para que serve. Diz se o recorte do estudo é parecido com o país urbano, ou se há viés de seleção dos municípios.
Como ler. Médias próximas: o recorte representa bem o Brasil urbano neste indicador.
O que mostra. No Brasil urbano a média é 0,006; nos 70 municípios, 0,002.
Fontes: banco_de_dados/nacional/Base_Brasil_Censo2022.db;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[BAN-25] Os 70 municípios e o Brasil urbano: o gráfico
O que é. As duas distribuições acumuladas sobrepostas.
Para que serve. Compara a distribuição inteira, não só a média.
Como ler. Curva mais à direita: valores mais altos. Curvas coladas: as duas populações de setores são parecidas.
O que mostra. No Brasil urbano a média é 0,006; nos 70 municípios, 0,002.
Fontes: banco_de_dados/nacional/Base_Brasil_Censo2022.db;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[BAN-26] Os valores extremos
O que é. Os 10 setores com o maior valor do indicador.
Para que serve. Ajuda a separar extremo verdadeiro (um setor realmente muito carente, ou muito rico) de erro de dado. A coluna "Moradores" mostra setores pequenos, onde um domicílio muda muito a proporção.
Como ler. Proporção 1 quer dizer todos os domicílios (ou pessoas) do setor na condição.
O que mostra. O percentil 99 é 0,055; 919 setores ficam acima dele.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[BAN-27] Na análise fatorial
Fontes: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[BAN-28] Correlação com os outros 11: a tabela
O que é. A correlação do indicador com cada um dos outros 11, nos setores que têm os 12.
Para que serve. A análise fatorial agrupa os indicadores que andam juntos. Correlações altas dizem com quem este indicador vai formar uma dimensão.
Como ler. A correlação de Spearman vai de −1 a 1: perto de 1, os setores com valor alto num indicador também têm valor alto no outro; perto de 0, não há relação; negativa, um sobe quando o outro desce. "No conjunto" compara todos os setores; "dentro dos municípios", cada setor só com os da própria cidade.
O que mostra. A correlação mais forte é com Sem água canalizada: 0,34 no conjunto e 0,30 dentro dos municípios.
Fontes: banco_de_dados/eda/fatorial_multiversao/camada1_12_global_correlacao.csv; banco_de_dados/eda/fatorial_multiversao/camada1_12_municipal_correlacao.csv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[BAN-29] Correlação com os outros 11: o gráfico
O que é. As mesmas correlações em barras: verde, no conjunto; vermelho, dentro dos municípios.
Para que serve. Quando a barra vermelha encolhe, parte da relação vinha de diferenças entre cidades, não de diferenças dentro delas.
Como ler. Barra para a direita: relação positiva; para a esquerda, negativa. Ordenado da mais forte para a mais fraca.
O que mostra. A correlação mais forte é com Sem água canalizada: 0,34 no conjunto e 0,30 dentro dos municípios.
Fontes: banco_de_dados/eda/fatorial_multiversao/camada1_12_global_correlacao.csv; banco_de_dados/eda/fatorial_multiversao/camada1_12_municipal_correlacao.csv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[BAN-30] Na análise fatorial das 12: a tabela
O que é. O resultado da análise fatorial dos 12 indicadores juntos (eixo principal, 2 fatores), nas duas réguas.
Para que serve. A carga diz quanto o indicador "pertence" a cada fator (F1, F2). A comunalidade é a parte da variação dele explicada pelos fatores; o MSA, o quanto ele combina com os outros para uma fatorial.
Como ler. Carga perto de 1 (ou −1): pertence ao fator; perto de 0, não. Comunalidade abaixo de 0,30 e MSA abaixo de 0,50 são os limites pré-registrados. Varimax mantém os fatores independentes; promax deixa que se correlacionem.
O que mostra. Comunalidade de 0,190 no conjunto e 0,172 dentro dos municípios (critério: 0,30); MSA de 0,881 (critério: 0,50).
Fontes: banco_de_dados/eda/fatorial_multiversao/camada1_12_global_cargas.csv; banco_de_dados/eda/fatorial_multiversao/camada1_12_municipal_cargas.csv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[BAN-31] Na análise fatorial das 12: as cargas
O que é. As cargas do indicador nos dois fatores, em cada forma de rotação, nas duas réguas.
Para que serve. Mostra se o indicador fica sempre no mesmo fator, seja qual for a rotação — sinal de que a posição dele na estrutura é estável.
Como ler. Barra alta em F1 e baixa em F2: o indicador pertence a F1. Barras parecidas nas quatro rotações: a conclusão não depende do método.
O que mostra. Comunalidade de 0,190 no conjunto e 0,172 dentro dos municípios (critério: 0,30); MSA de 0,881 (critério: 0,50).
Fontes: banco_de_dados/eda/fatorial_multiversao/camada1_12_global_cargas.csv; banco_de_dados/eda/fatorial_multiversao/camada1_12_municipal_cargas.csv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[BAN-32] O que acontece quando ele entra ou sai
O que é. Foram rodadas todas as 4.017 combinações de 3 ou mais dos 12 indicadores. Aqui se comparam os pares de combinações que só diferem por este indicador.
Para que serve. Isola o efeito de incluir este indicador: se melhora ou piora a adequação (KMO), quantos setores custa (por sigilo) e se faz a combinação deixar de passar nos critérios.
Como ler. KMO vai de 0 a 1 e mede se os indicadores compartilham variação suficiente para uma fatorial; acima de 0,70 é adequado. "Elegível" = passa nos quatro critérios pré-registrados.
O que mostra. Na régua municipal, em 1,2% dos pares a combinação era elegível sem ele e deixa de ser com ele; ao entrar, custa na mediana 11.591 setores e muda o KMO em 0,000.
Fontes: banco_de_dados/eda/fatorial_multiversao/camada1_efeito_variavel.csv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[BAN-33] A comunalidade dele nas 4.017 combinações
O que é. A comunalidade do indicador em cada uma das combinações em que ele entra, nas duas réguas.
Para que serve. Mostra se o indicador compartilha variação com os outros de forma consistente, ou só em algumas combinações.
Como ler. Histograma à direita da linha tracejada: o indicador costuma passar no critério. À esquerda: costuma ficar de fora da estrutura comum.
O que mostra. Dentro dos municípios, fica abaixo do critério em 88,6% das combinações em que entra.
Fontes: banco_de_dados/eda/fatorial_multiversao/camada1_subconjuntos.csv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[BAN-34] O peso no índice
O que é. O peso do indicador no índice em cada especificação finalista (a proposta e as alternativas de maior impacto), e o menor e o maior peso quando se tira um município por vez.
Para que serve. Mostra quanto o indicador conta no IVS e se esse peso depende de uma cidade específica.
Como ler. Peso é a fração do índice que vem deste indicador (os pesos de todos somam 100%). "Fora": não entra naquela especificação.
O que mostra. No IVS proposto o peso é fora.
Fontes: banco_de_dados/eda/fatorial_multiversao/camada3_finalistas.csv; banco_de_dados/eda/fatorial_multiversao/camada3_estabilidade.csv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[BAN-35] Síntese
Fontes: seções anteriores deste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[BAN-36] Apêndice: os 70 municípios (1 de 2)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[BAN-37] Apêndice: os 70 municípios (2 de 2)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1234440"/>
            <a:ext cx="10634472" cy="310896"/>
          </a:xfrm>
          <a:prstGeom prst="rect">
            <a:avLst/>
          </a:prstGeom>
          <a:noFill/>
          <a:ln/>
        </p:spPr>
        <p:txBody>
          <a:bodyPr wrap="square" lIns="0" tIns="0" rIns="0" bIns="0" rtlCol="0" anchor="ctr"/>
          <a:lstStyle/>
          <a:p>
            <a:pPr indent="0" marL="0">
              <a:buNone/>
            </a:pPr>
            <a:r>
              <a:rPr lang="en-US" sz="1150" spc="200" kern="0" dirty="0">
                <a:solidFill>
                  <a:srgbClr val="56534C"/>
                </a:solidFill>
                <a:latin typeface="Cambria" pitchFamily="34" charset="0"/>
                <a:ea typeface="Cambria" pitchFamily="34" charset="-122"/>
                <a:cs typeface="Cambria" pitchFamily="34" charset="-120"/>
              </a:rPr>
              <a:t>INDICADOR BAN · SANEAMENTO</a:t>
            </a:r>
            <a:endParaRPr lang="en-US" sz="1150" dirty="0"/>
          </a:p>
        </p:txBody>
      </p:sp>
      <p:sp>
        <p:nvSpPr>
          <p:cNvPr id="3" name="Shape 1"/>
          <p:cNvSpPr/>
          <p:nvPr/>
        </p:nvSpPr>
        <p:spPr>
          <a:xfrm>
            <a:off x="777240" y="1627632"/>
            <a:ext cx="10634472" cy="0"/>
          </a:xfrm>
          <a:prstGeom prst="line">
            <a:avLst/>
          </a:prstGeom>
          <a:noFill/>
          <a:ln w="12700">
            <a:solidFill>
              <a:srgbClr val="1A1A18"/>
            </a:solidFill>
            <a:prstDash val="solid"/>
          </a:ln>
        </p:spPr>
      </p:sp>
      <p:sp>
        <p:nvSpPr>
          <p:cNvPr id="4" name="Text 2"/>
          <p:cNvSpPr/>
          <p:nvPr/>
        </p:nvSpPr>
        <p:spPr>
          <a:xfrm>
            <a:off x="777240" y="1783080"/>
            <a:ext cx="10634472" cy="914400"/>
          </a:xfrm>
          <a:prstGeom prst="rect">
            <a:avLst/>
          </a:prstGeom>
          <a:noFill/>
          <a:ln/>
        </p:spPr>
        <p:txBody>
          <a:bodyPr wrap="square" lIns="0" tIns="0" rIns="0" bIns="0" rtlCol="0" anchor="ctr"/>
          <a:lstStyle/>
          <a:p>
            <a:pPr indent="0" marL="0">
              <a:buNone/>
            </a:pPr>
            <a:r>
              <a:rPr lang="en-US" sz="4000" b="1" dirty="0">
                <a:solidFill>
                  <a:srgbClr val="1A1A18"/>
                </a:solidFill>
                <a:latin typeface="Cambria" pitchFamily="34" charset="0"/>
                <a:ea typeface="Cambria" pitchFamily="34" charset="-122"/>
                <a:cs typeface="Cambria" pitchFamily="34" charset="-120"/>
              </a:rPr>
              <a:t>Sem banheiro</a:t>
            </a:r>
            <a:endParaRPr lang="en-US" sz="4000" dirty="0"/>
          </a:p>
        </p:txBody>
      </p:sp>
      <p:sp>
        <p:nvSpPr>
          <p:cNvPr id="5" name="Text 3"/>
          <p:cNvSpPr/>
          <p:nvPr/>
        </p:nvSpPr>
        <p:spPr>
          <a:xfrm>
            <a:off x="777240" y="2788920"/>
            <a:ext cx="8595360" cy="1005840"/>
          </a:xfrm>
          <a:prstGeom prst="rect">
            <a:avLst/>
          </a:prstGeom>
          <a:noFill/>
          <a:ln/>
        </p:spPr>
        <p:txBody>
          <a:bodyPr wrap="square" lIns="0" tIns="0" rIns="0" bIns="0" rtlCol="0" anchor="ctr"/>
          <a:lstStyle/>
          <a:p>
            <a:pPr indent="0" marL="0">
              <a:lnSpc>
                <a:spcPts val="2000"/>
              </a:lnSpc>
              <a:buNone/>
            </a:pPr>
            <a:r>
              <a:rPr lang="en-US" sz="1400" dirty="0">
                <a:solidFill>
                  <a:srgbClr val="56534C"/>
                </a:solidFill>
                <a:latin typeface="Cambria" pitchFamily="34" charset="0"/>
                <a:ea typeface="Cambria" pitchFamily="34" charset="-122"/>
                <a:cs typeface="Cambria" pitchFamily="34" charset="-120"/>
              </a:rPr>
              <a:t>Proporção de domicílios sem banheiro de uso exclusivo com chuveiro e vaso sanitário. Indicador complementar (Quadro 2), fora do IVS de 2012. Parte A: análise exploratória. Parte B: o indicador na análise fatorial.</a:t>
            </a:r>
            <a:endParaRPr lang="en-US" sz="1400" dirty="0"/>
          </a:p>
        </p:txBody>
      </p:sp>
      <p:sp>
        <p:nvSpPr>
          <p:cNvPr id="6" name="Shape 4"/>
          <p:cNvSpPr/>
          <p:nvPr/>
        </p:nvSpPr>
        <p:spPr>
          <a:xfrm>
            <a:off x="777240" y="5623560"/>
            <a:ext cx="10634472" cy="0"/>
          </a:xfrm>
          <a:prstGeom prst="line">
            <a:avLst/>
          </a:prstGeom>
          <a:noFill/>
          <a:ln w="9525">
            <a:solidFill>
              <a:srgbClr val="C8C6C0"/>
            </a:solidFill>
            <a:prstDash val="solid"/>
          </a:ln>
        </p:spPr>
      </p:sp>
      <p:sp>
        <p:nvSpPr>
          <p:cNvPr id="7" name="Text 5"/>
          <p:cNvSpPr/>
          <p:nvPr/>
        </p:nvSpPr>
        <p:spPr>
          <a:xfrm>
            <a:off x="777240" y="5760720"/>
            <a:ext cx="10634472" cy="457200"/>
          </a:xfrm>
          <a:prstGeom prst="rect">
            <a:avLst/>
          </a:prstGeom>
          <a:noFill/>
          <a:ln/>
        </p:spPr>
        <p:txBody>
          <a:bodyPr wrap="square" lIns="0" tIns="0" rIns="0" bIns="0" rtlCol="0" anchor="ctr"/>
          <a:lstStyle/>
          <a:p>
            <a:pPr indent="0" marL="0">
              <a:buNone/>
            </a:pPr>
            <a:r>
              <a:rPr lang="en-US" sz="1100" dirty="0">
                <a:solidFill>
                  <a:srgbClr val="56534C"/>
                </a:solidFill>
                <a:latin typeface="Cambria" pitchFamily="34" charset="0"/>
                <a:ea typeface="Cambria" pitchFamily="34" charset="-122"/>
                <a:cs typeface="Cambria" pitchFamily="34" charset="-120"/>
              </a:rPr>
              <a:t>Fatorial multiversão e IVS · Censo Demográfico 2022 · 70 municípios do ELSI-Brasil · Pedro Dias Soares · out/2026</a:t>
            </a:r>
            <a:endParaRPr lang="en-US" sz="1100" dirty="0"/>
          </a:p>
        </p:txBody>
      </p:sp>
      <p:sp>
        <p:nvSpPr>
          <p:cNvPr id="8" name="Text 6"/>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BAN-01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1</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Análise exploratória</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O que o indicador mede, como se distribui nos setores, onde é mais alto e como se relaciona com renda, favela e o Brasil — antes de qualquer análise fatorial.</a:t>
            </a:r>
            <a:endParaRPr lang="en-US" sz="1400" dirty="0"/>
          </a:p>
        </p:txBody>
      </p:sp>
      <p:sp>
        <p:nvSpPr>
          <p:cNvPr id="7" name="Text 5"/>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BAN-02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que o indicador mede e por que importa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O que mede.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Proporção de domicílios sem banheiro de uso exclusivo com chuveiro e vaso sanitário, em proporção de 0 a 1.</a:t>
            </a:r>
            <a:endParaRPr lang="en-US" sz="1350" dirty="0"/>
          </a:p>
        </p:txBody>
      </p:sp>
      <p:sp>
        <p:nvSpPr>
          <p:cNvPr id="6" name="Text 4"/>
          <p:cNvSpPr/>
          <p:nvPr/>
        </p:nvSpPr>
        <p:spPr>
          <a:xfrm>
            <a:off x="777240" y="1649349"/>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Por que importa para a saúde.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Sem banheiro de uso exclusivo com chuveiro e vaso, a higiene pessoal e o destino dos dejetos ficam precários: é uma privação sanitária dentro do domicílio.</a:t>
            </a:r>
            <a:endParaRPr lang="en-US" sz="1350" dirty="0"/>
          </a:p>
        </p:txBody>
      </p:sp>
      <p:sp>
        <p:nvSpPr>
          <p:cNvPr id="7" name="Text 5"/>
          <p:cNvSpPr/>
          <p:nvPr/>
        </p:nvSpPr>
        <p:spPr>
          <a:xfrm>
            <a:off x="777240" y="2204847"/>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Direção.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Quanto maior, mais vulnerável — como no IVS de 2012.</a:t>
            </a:r>
            <a:endParaRPr lang="en-US" sz="1350" dirty="0"/>
          </a:p>
        </p:txBody>
      </p:sp>
      <p:sp>
        <p:nvSpPr>
          <p:cNvPr id="8" name="Text 6"/>
          <p:cNvSpPr/>
          <p:nvPr/>
        </p:nvSpPr>
        <p:spPr>
          <a:xfrm>
            <a:off x="777240" y="2537460"/>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No índice.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Fora do IVS de 2012; entra na análise fatorial como indicador que pode ou não acrescentar.</a:t>
            </a:r>
            <a:endParaRPr lang="en-US" sz="1350" dirty="0"/>
          </a:p>
        </p:txBody>
      </p:sp>
      <p:sp>
        <p:nvSpPr>
          <p:cNvPr id="9" name="Text 7"/>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BAN-03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Como é calculado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1737360"/>
                <a:gridCol w="484632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Parte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Definição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Numerador</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V00495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Denominador</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V00001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Escala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proporção de 0 a 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16814">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Arquivos do IBGE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Agregados_por_setores_caracteristicas_domicilio1_BR.csv; Agregados_por_setores_caracteristicas_domicilio2_BR_20250417.csv</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Na análise fatorial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entra como está</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receita do indicador: quais variáveis do Censo vão em cima (numerador) e em baixo (denominador) da divisão, e de que arquivo do IBGE cada uma sai.</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Permite refazer a conta e conferir qualquer número. As variáveis "V0…" são os códigos do dicionário oficial dos agregados por setor do Censo 2022.</a:t>
            </a:r>
            <a:endParaRPr lang="en-US" sz="1150" dirty="0"/>
          </a:p>
        </p:txBody>
      </p:sp>
      <p:sp>
        <p:nvSpPr>
          <p:cNvPr id="9" name="Text 6"/>
          <p:cNvSpPr/>
          <p:nvPr/>
        </p:nvSpPr>
        <p:spPr>
          <a:xfrm>
            <a:off x="7726680" y="284695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Uma soma no numerador junta categorias (por exemplo, todas as formas inadequadas). O cálculo é por setor censitário, a menor área com dado do Censo.</a:t>
            </a:r>
            <a:endParaRPr lang="en-US" sz="1150" dirty="0"/>
          </a:p>
        </p:txBody>
      </p:sp>
      <p:sp>
        <p:nvSpPr>
          <p:cNvPr id="10" name="Text 7"/>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BAN-04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As adequações ao Censo 2022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Denominador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domicílios particulares permanentes ocupados (V00001), equivalente ao de 2012; moradores de domicílios coletivos não entram (relatório, item a).</a:t>
            </a:r>
            <a:endParaRPr lang="en-US" sz="1350" dirty="0"/>
          </a:p>
        </p:txBody>
      </p:sp>
      <p:sp>
        <p:nvSpPr>
          <p:cNvPr id="6" name="Text 4"/>
          <p:cNvSpPr/>
          <p:nvPr/>
        </p:nvSpPr>
        <p:spPr>
          <a:xfrm>
            <a:off x="777240" y="1872234"/>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Fora do índice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indicador complementar do Quadro 2: descreve o setor, não compõe o IVS de 2012.</a:t>
            </a:r>
            <a:endParaRPr lang="en-US" sz="1350" dirty="0"/>
          </a:p>
        </p:txBody>
      </p:sp>
      <p:sp>
        <p:nvSpPr>
          <p:cNvPr id="7" name="Text 5"/>
          <p:cNvSpPr/>
          <p:nvPr/>
        </p:nvSpPr>
        <p:spPr>
          <a:xfrm>
            <a:off x="777240" y="2204847"/>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Por que existem.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O IVS de 2012 foi feito com o Censo 2010. Quando o Censo 2022 não traz a mesma variável, a troca é declarada aqui, como o relatório parcial faz na seção IV.</a:t>
            </a:r>
            <a:endParaRPr lang="en-US" sz="1350" dirty="0"/>
          </a:p>
        </p:txBody>
      </p:sp>
      <p:sp>
        <p:nvSpPr>
          <p:cNvPr id="8" name="Text 6"/>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BAN-05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88,3% dos setores têm o dado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92240" cy="914400"/>
        </p:xfrm>
        <a:graphic>
          <a:graphicData uri="http://schemas.openxmlformats.org/drawingml/2006/table">
            <a:tbl>
              <a:tblPr/>
              <a:tblGrid>
                <a:gridCol w="1188720"/>
                <a:gridCol w="1005840"/>
                <a:gridCol w="1005840"/>
                <a:gridCol w="1371600"/>
                <a:gridCol w="914400"/>
                <a:gridCol w="100584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Quantidade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do recorte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Renda 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favela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Sudeste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com o dado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91.912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88,3%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R$ 2.735,43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16,5%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61,7%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sem o dado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12.196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11,7%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R$ 1.809,52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34,9%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43,6%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Quantos setores têm o indicador calculado e quantos ficaram sem ele, com o perfil de cada grupo.</a:t>
            </a:r>
            <a:endParaRPr lang="en-US" sz="1150" dirty="0"/>
          </a:p>
        </p:txBody>
      </p:sp>
      <p:sp>
        <p:nvSpPr>
          <p:cNvPr id="8" name="Text 5"/>
          <p:cNvSpPr/>
          <p:nvPr/>
        </p:nvSpPr>
        <p:spPr>
          <a:xfrm>
            <a:off x="7726680" y="1787906"/>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IBGE esconde (sigilo) números muito pequenos para ninguém ser identificado. Se o dado falta mais num tipo de setor, as médias ficam enviesadas — por isso o perfil dos dois grupos.</a:t>
            </a:r>
            <a:endParaRPr lang="en-US" sz="1150" dirty="0"/>
          </a:p>
        </p:txBody>
      </p:sp>
      <p:sp>
        <p:nvSpPr>
          <p:cNvPr id="9" name="Text 6"/>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Compare a renda mediana, a % de favela e a % de Sudeste entre "com o dado" e "sem o dado". Se forem parecidas, a falta é próxima do acaso.</a:t>
            </a:r>
            <a:endParaRPr lang="en-US" sz="1150" dirty="0"/>
          </a:p>
        </p:txBody>
      </p:sp>
      <p:sp>
        <p:nvSpPr>
          <p:cNvPr id="10" name="Text 7"/>
          <p:cNvSpPr/>
          <p:nvPr/>
        </p:nvSpPr>
        <p:spPr>
          <a:xfrm>
            <a:off x="7726680" y="3336417"/>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91.912 dos 104.108 setores (88,3%) têm o dado. Nos 12.196 sem o dado, a renda mediana do responsável é R$ 1.809,52, contra R$ 2.735,43 nos que têm: o ausente não é aleatório.</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BAN-06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Onde falta o dado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BAN_ausente_regiao.png">    </p:cNvPr>
          <p:cNvPicPr>
            <a:picLocks noChangeAspect="1"/>
          </p:cNvPicPr>
          <p:nvPr/>
        </p:nvPicPr>
        <p:blipFill>
          <a:blip r:embed="rId1"/>
          <a:stretch>
            <a:fillRect/>
          </a:stretch>
        </p:blipFill>
        <p:spPr>
          <a:xfrm>
            <a:off x="777240" y="1298448"/>
            <a:ext cx="6675120" cy="3847931"/>
          </a:xfrm>
          <a:prstGeom prst="rect">
            <a:avLst/>
          </a:prstGeom>
        </p:spPr>
      </p:pic>
      <p:sp>
        <p:nvSpPr>
          <p:cNvPr id="6" name="Text 3"/>
          <p:cNvSpPr/>
          <p:nvPr/>
        </p:nvSpPr>
        <p:spPr>
          <a:xfrm>
            <a:off x="777240" y="5201243"/>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 — </a:t>
            </a:r>
            <a:pPr indent="0" marL="0">
              <a:buNone/>
            </a:pPr>
            <a:r>
              <a:rPr lang="en-US" sz="1050" dirty="0">
                <a:solidFill>
                  <a:srgbClr val="56534C"/>
                </a:solidFill>
                <a:latin typeface="Cambria" pitchFamily="34" charset="0"/>
                <a:ea typeface="Cambria" pitchFamily="34" charset="-122"/>
                <a:cs typeface="Cambria" pitchFamily="34" charset="-120"/>
              </a:rPr>
              <a:t>Sem banheiro: proporção de setores sem o dado, por região.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proporção de setores sem o indicador em cada região.</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a falta de dado se concentra numa parte do país, o que pesaria nas comparações regionais.</a:t>
            </a:r>
            <a:endParaRPr lang="en-US" sz="1150" dirty="0"/>
          </a:p>
        </p:txBody>
      </p:sp>
      <p:sp>
        <p:nvSpPr>
          <p:cNvPr id="10" name="Text 7"/>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barra é uma região; quanto mais longa, mais setores sem o dado.</a:t>
            </a:r>
            <a:endParaRPr lang="en-US" sz="1150" dirty="0"/>
          </a:p>
        </p:txBody>
      </p:sp>
      <p:sp>
        <p:nvSpPr>
          <p:cNvPr id="11" name="Text 8"/>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proporção sem dado é no Norte (25,1%); a menor, no Centro-Oeste (8,5%).</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BAN-07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Estatísticas descritivas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4754880" cy="914400"/>
        </p:xfrm>
        <a:graphic>
          <a:graphicData uri="http://schemas.openxmlformats.org/drawingml/2006/table">
            <a:tbl>
              <a:tblPr/>
              <a:tblGrid>
                <a:gridCol w="2743200"/>
                <a:gridCol w="20116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Medida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Valor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Setores com o dado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91.912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Média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Desvio-padrão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0,021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Mínimo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Mediana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75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90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Máximo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Assimetria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21,31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 de setores com zero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95,6%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resumo numérico do indicador nos setores urbanos dos 70 municípios.</a:t>
            </a:r>
            <a:endParaRPr lang="en-US" sz="1150" dirty="0"/>
          </a:p>
        </p:txBody>
      </p:sp>
      <p:sp>
        <p:nvSpPr>
          <p:cNvPr id="8" name="Text 5"/>
          <p:cNvSpPr/>
          <p:nvPr/>
        </p:nvSpPr>
        <p:spPr>
          <a:xfrm>
            <a:off x="7726680" y="1787906"/>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média é puxada por valores extremos; a mediana é o valor do setor do meio. O percentil 25 (ou 75) é o valor abaixo do qual estão 25% (ou 75%) dos setores. A assimetria mede o quanto a distribuição tem cauda longa para um lado.</a:t>
            </a:r>
            <a:endParaRPr lang="en-US" sz="1150" dirty="0"/>
          </a:p>
        </p:txBody>
      </p:sp>
      <p:sp>
        <p:nvSpPr>
          <p:cNvPr id="9" name="Text 6"/>
          <p:cNvSpPr/>
          <p:nvPr/>
        </p:nvSpPr>
        <p:spPr>
          <a:xfrm>
            <a:off x="7726680" y="284695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Assimetria perto de zero: distribuição equilibrada. Acima de 1: cauda longa à direita, poucos setores com valores muito altos. Muitos zeros e assimetria alta pedem cuidado ao padronizar.</a:t>
            </a:r>
            <a:endParaRPr lang="en-US" sz="1150" dirty="0"/>
          </a:p>
        </p:txBody>
      </p:sp>
      <p:sp>
        <p:nvSpPr>
          <p:cNvPr id="10" name="Text 7"/>
          <p:cNvSpPr/>
          <p:nvPr/>
        </p:nvSpPr>
        <p:spPr>
          <a:xfrm>
            <a:off x="7726680" y="371614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média (0,002) e a mediana (0,000) se afastam: assimetria de 21,31. Em 95,6% dos setores o valor é zero.</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BAN-08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histograma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BAN_histograma.png">    </p:cNvPr>
          <p:cNvPicPr>
            <a:picLocks noChangeAspect="1"/>
          </p:cNvPicPr>
          <p:nvPr/>
        </p:nvPicPr>
        <p:blipFill>
          <a:blip r:embed="rId1"/>
          <a:stretch>
            <a:fillRect/>
          </a:stretch>
        </p:blipFill>
        <p:spPr>
          <a:xfrm>
            <a:off x="777240" y="1298448"/>
            <a:ext cx="6675120" cy="3974605"/>
          </a:xfrm>
          <a:prstGeom prst="rect">
            <a:avLst/>
          </a:prstGeom>
        </p:spPr>
      </p:pic>
      <p:sp>
        <p:nvSpPr>
          <p:cNvPr id="6" name="Text 3"/>
          <p:cNvSpPr/>
          <p:nvPr/>
        </p:nvSpPr>
        <p:spPr>
          <a:xfrm>
            <a:off x="777240" y="5327917"/>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2 — </a:t>
            </a:r>
            <a:pPr indent="0" marL="0">
              <a:buNone/>
            </a:pPr>
            <a:r>
              <a:rPr lang="en-US" sz="1050" dirty="0">
                <a:solidFill>
                  <a:srgbClr val="56534C"/>
                </a:solidFill>
                <a:latin typeface="Cambria" pitchFamily="34" charset="0"/>
                <a:ea typeface="Cambria" pitchFamily="34" charset="-122"/>
                <a:cs typeface="Cambria" pitchFamily="34" charset="-120"/>
              </a:rPr>
              <a:t>Sem banheiro: número de setores em cada faixa de valor (91.912 setores).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setores agrupados em faixas de valor do indicador; a altura de cada barra é quantos setores caem naquela faixa.</a:t>
            </a:r>
            <a:endParaRPr lang="en-US" sz="1150" dirty="0"/>
          </a:p>
        </p:txBody>
      </p:sp>
      <p:sp>
        <p:nvSpPr>
          <p:cNvPr id="9" name="Text 6"/>
          <p:cNvSpPr/>
          <p:nvPr/>
        </p:nvSpPr>
        <p:spPr>
          <a:xfrm>
            <a:off x="7726680" y="197777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a forma da distribuição: onde está a maioria dos setores e se há cauda longa.</a:t>
            </a:r>
            <a:endParaRPr lang="en-US" sz="1150" dirty="0"/>
          </a:p>
        </p:txBody>
      </p:sp>
      <p:sp>
        <p:nvSpPr>
          <p:cNvPr id="10" name="Text 7"/>
          <p:cNvSpPr/>
          <p:nvPr/>
        </p:nvSpPr>
        <p:spPr>
          <a:xfrm>
            <a:off x="7726680" y="246722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 alta à esquerda e cauda à direita: muitos setores com valor baixo e poucos com valor alto. A linha vermelha é a média; a tracejada, a mediana — quanto mais afastadas, mais assimétrica.</a:t>
            </a:r>
            <a:endParaRPr lang="en-US" sz="1150" dirty="0"/>
          </a:p>
        </p:txBody>
      </p:sp>
      <p:sp>
        <p:nvSpPr>
          <p:cNvPr id="11" name="Text 8"/>
          <p:cNvSpPr/>
          <p:nvPr/>
        </p:nvSpPr>
        <p:spPr>
          <a:xfrm>
            <a:off x="7726680" y="333641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média (0,002) e a mediana (0,000) se afastam: assimetria de 21,31. Em 95,6% dos setores o valor é zero.</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BAN-09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BAN_boxplot.png">    </p:cNvPr>
          <p:cNvPicPr>
            <a:picLocks noChangeAspect="1"/>
          </p:cNvPicPr>
          <p:nvPr/>
        </p:nvPicPr>
        <p:blipFill>
          <a:blip r:embed="rId1"/>
          <a:stretch>
            <a:fillRect/>
          </a:stretch>
        </p:blipFill>
        <p:spPr>
          <a:xfrm>
            <a:off x="777240" y="1298448"/>
            <a:ext cx="6675120" cy="3172029"/>
          </a:xfrm>
          <a:prstGeom prst="rect">
            <a:avLst/>
          </a:prstGeom>
        </p:spPr>
      </p:pic>
      <p:sp>
        <p:nvSpPr>
          <p:cNvPr id="6" name="Text 3"/>
          <p:cNvSpPr/>
          <p:nvPr/>
        </p:nvSpPr>
        <p:spPr>
          <a:xfrm>
            <a:off x="777240" y="4525341"/>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3 — </a:t>
            </a:r>
            <a:pPr indent="0" marL="0">
              <a:buNone/>
            </a:pPr>
            <a:r>
              <a:rPr lang="en-US" sz="1050" dirty="0">
                <a:solidFill>
                  <a:srgbClr val="56534C"/>
                </a:solidFill>
                <a:latin typeface="Cambria" pitchFamily="34" charset="0"/>
                <a:ea typeface="Cambria" pitchFamily="34" charset="-122"/>
                <a:cs typeface="Cambria" pitchFamily="34" charset="-120"/>
              </a:rPr>
              <a:t>Sem banheiro: boxplot de todos os setores, com os valores extremos.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resumo da distribuição numa figura: caixa, mediana, bigodes e pontos extremos.</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de uma vez onde está a metade central dos setores e quantos fogem do padrão.</a:t>
            </a:r>
            <a:endParaRPr lang="en-US" sz="1150" dirty="0"/>
          </a:p>
        </p:txBody>
      </p:sp>
      <p:sp>
        <p:nvSpPr>
          <p:cNvPr id="10" name="Text 7"/>
          <p:cNvSpPr/>
          <p:nvPr/>
        </p:nvSpPr>
        <p:spPr>
          <a:xfrm>
            <a:off x="7726680" y="2277364"/>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a linha vermelha é a mediana; os bigodes vão até 1,5 vez a altura da caixa; cada ponto além deles é um setor extremo.</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percentil 25 e o 75 são iguais (caixa sem altura): todo valor diferente deles aparece como extremo.</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BAN-10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distribuição acumulada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BAN_acumulada.png">    </p:cNvPr>
          <p:cNvPicPr>
            <a:picLocks noChangeAspect="1"/>
          </p:cNvPicPr>
          <p:nvPr/>
        </p:nvPicPr>
        <p:blipFill>
          <a:blip r:embed="rId1"/>
          <a:stretch>
            <a:fillRect/>
          </a:stretch>
        </p:blipFill>
        <p:spPr>
          <a:xfrm>
            <a:off x="777240" y="1298448"/>
            <a:ext cx="6675120" cy="4093503"/>
          </a:xfrm>
          <a:prstGeom prst="rect">
            <a:avLst/>
          </a:prstGeom>
        </p:spPr>
      </p:pic>
      <p:sp>
        <p:nvSpPr>
          <p:cNvPr id="6" name="Text 3"/>
          <p:cNvSpPr/>
          <p:nvPr/>
        </p:nvSpPr>
        <p:spPr>
          <a:xfrm>
            <a:off x="777240" y="5446815"/>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4 — </a:t>
            </a:r>
            <a:pPr indent="0" marL="0">
              <a:buNone/>
            </a:pPr>
            <a:r>
              <a:rPr lang="en-US" sz="1050" dirty="0">
                <a:solidFill>
                  <a:srgbClr val="56534C"/>
                </a:solidFill>
                <a:latin typeface="Cambria" pitchFamily="34" charset="0"/>
                <a:ea typeface="Cambria" pitchFamily="34" charset="-122"/>
                <a:cs typeface="Cambria" pitchFamily="34" charset="-120"/>
              </a:rPr>
              <a:t>Sem banheiro: proporção de setores com valor até cada ponto do eixo horizontal.</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Para cada valor no eixo horizontal, a curva dá a proporção de setores com valor igual ou menor.</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Lê qualquer percentil direto no gráfico, sem depender das faixas do histograma.</a:t>
            </a:r>
            <a:endParaRPr lang="en-US" sz="1150" dirty="0"/>
          </a:p>
        </p:txBody>
      </p:sp>
      <p:sp>
        <p:nvSpPr>
          <p:cNvPr id="10" name="Text 7"/>
          <p:cNvSpPr/>
          <p:nvPr/>
        </p:nvSpPr>
        <p:spPr>
          <a:xfrm>
            <a:off x="7726680" y="2277364"/>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Escolha uma altura (as linhas pontilhadas marcam 25%, 50% e 75%) e desça até o eixo: é o valor daquele percentil. Uma subida vertical no começo indica muitos setores com o mesmo valor (por exemplo, zero).</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Metade dos setores tem até 0,000; três quartos, até 0,000.</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BAN-11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régua dos percentis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BAN_percentis.png">    </p:cNvPr>
          <p:cNvPicPr>
            <a:picLocks noChangeAspect="1"/>
          </p:cNvPicPr>
          <p:nvPr/>
        </p:nvPicPr>
        <p:blipFill>
          <a:blip r:embed="rId1"/>
          <a:stretch>
            <a:fillRect/>
          </a:stretch>
        </p:blipFill>
        <p:spPr>
          <a:xfrm>
            <a:off x="777240" y="1298448"/>
            <a:ext cx="6675120" cy="4038906"/>
          </a:xfrm>
          <a:prstGeom prst="rect">
            <a:avLst/>
          </a:prstGeom>
        </p:spPr>
      </p:pic>
      <p:sp>
        <p:nvSpPr>
          <p:cNvPr id="6" name="Text 3"/>
          <p:cNvSpPr/>
          <p:nvPr/>
        </p:nvSpPr>
        <p:spPr>
          <a:xfrm>
            <a:off x="777240" y="5392218"/>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5 — </a:t>
            </a:r>
            <a:pPr indent="0" marL="0">
              <a:buNone/>
            </a:pPr>
            <a:r>
              <a:rPr lang="en-US" sz="1050" dirty="0">
                <a:solidFill>
                  <a:srgbClr val="56534C"/>
                </a:solidFill>
                <a:latin typeface="Cambria" pitchFamily="34" charset="0"/>
                <a:ea typeface="Cambria" pitchFamily="34" charset="-122"/>
                <a:cs typeface="Cambria" pitchFamily="34" charset="-120"/>
              </a:rPr>
              <a:t>Sem banheiro: valor nos percentis 10, 25, 50, 75, 90 e 99, e a média.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valor do indicador em seis pontos da distribuição: do setor no percentil 10 ao do percentil 99.</a:t>
            </a:r>
            <a:endParaRPr lang="en-US" sz="1150" dirty="0"/>
          </a:p>
        </p:txBody>
      </p:sp>
      <p:sp>
        <p:nvSpPr>
          <p:cNvPr id="9" name="Text 6"/>
          <p:cNvSpPr/>
          <p:nvPr/>
        </p:nvSpPr>
        <p:spPr>
          <a:xfrm>
            <a:off x="7726680" y="1977771"/>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quanto o indicador cresce do setor típico para os mais altos — onde está a desigualdade.</a:t>
            </a:r>
            <a:endParaRPr lang="en-US" sz="1150" dirty="0"/>
          </a:p>
        </p:txBody>
      </p:sp>
      <p:sp>
        <p:nvSpPr>
          <p:cNvPr id="10" name="Text 7"/>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Barras que sobem devagar e explodem no fim (p90, p99): o problema se concentra em poucos setores. A linha vermelha é a média.</a:t>
            </a:r>
            <a:endParaRPr lang="en-US" sz="1150" dirty="0"/>
          </a:p>
        </p:txBody>
      </p:sp>
      <p:sp>
        <p:nvSpPr>
          <p:cNvPr id="11" name="Text 8"/>
          <p:cNvSpPr/>
          <p:nvPr/>
        </p:nvSpPr>
        <p:spPr>
          <a:xfrm>
            <a:off x="7726680" y="3336417"/>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Do percentil 50 (0,000) ao 99 (0,055).</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BAN-12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região: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675120" cy="914400"/>
        </p:xfrm>
        <a:graphic>
          <a:graphicData uri="http://schemas.openxmlformats.org/drawingml/2006/table">
            <a:tbl>
              <a:tblPr/>
              <a:tblGrid>
                <a:gridCol w="1371600"/>
                <a:gridCol w="1005840"/>
                <a:gridCol w="1188720"/>
                <a:gridCol w="1188720"/>
                <a:gridCol w="1097280"/>
                <a:gridCol w="82296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Norte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4.430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0,011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76,0%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Nordeste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15.747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89,2%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Sudeste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56.669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98,4%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Sul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6.381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96,1%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Centro-Oeste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8.685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98,7%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estatísticas do indicador separadas pelas cinco grandes regiões.</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o indicador tem padrão regional, o que pesa na escolha da régua (dentro de cada município ou no conjunto).</a:t>
            </a:r>
            <a:endParaRPr lang="en-US" sz="1150" dirty="0"/>
          </a:p>
        </p:txBody>
      </p:sp>
      <p:sp>
        <p:nvSpPr>
          <p:cNvPr id="9" name="Text 6"/>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Compare média e mediana entre as linhas; "% zeros" é a parte dos setores sem nenhum domicílio ou pessoa na condição.</a:t>
            </a:r>
            <a:endParaRPr lang="en-US" sz="1150" dirty="0"/>
          </a:p>
        </p:txBody>
      </p:sp>
      <p:sp>
        <p:nvSpPr>
          <p:cNvPr id="10" name="Text 7"/>
          <p:cNvSpPr/>
          <p:nvPr/>
        </p:nvSpPr>
        <p:spPr>
          <a:xfrm>
            <a:off x="7726680" y="3146552"/>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 Norte (0,011); a menor, a do Centro-Oeste (0,001). O Norte tem só 6 municípios: os contrastes descrevem os municípios estudados, não a região inteira.</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BAN-13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região: 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BAN_regiao.png">    </p:cNvPr>
          <p:cNvPicPr>
            <a:picLocks noChangeAspect="1"/>
          </p:cNvPicPr>
          <p:nvPr/>
        </p:nvPicPr>
        <p:blipFill>
          <a:blip r:embed="rId1"/>
          <a:stretch>
            <a:fillRect/>
          </a:stretch>
        </p:blipFill>
        <p:spPr>
          <a:xfrm>
            <a:off x="777240" y="1298448"/>
            <a:ext cx="6675120" cy="3804400"/>
          </a:xfrm>
          <a:prstGeom prst="rect">
            <a:avLst/>
          </a:prstGeom>
        </p:spPr>
      </p:pic>
      <p:sp>
        <p:nvSpPr>
          <p:cNvPr id="6" name="Text 3"/>
          <p:cNvSpPr/>
          <p:nvPr/>
        </p:nvSpPr>
        <p:spPr>
          <a:xfrm>
            <a:off x="777240" y="5157712"/>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6 — </a:t>
            </a:r>
            <a:pPr indent="0" marL="0">
              <a:buNone/>
            </a:pPr>
            <a:r>
              <a:rPr lang="en-US" sz="1050" dirty="0">
                <a:solidFill>
                  <a:srgbClr val="56534C"/>
                </a:solidFill>
                <a:latin typeface="Cambria" pitchFamily="34" charset="0"/>
                <a:ea typeface="Cambria" pitchFamily="34" charset="-122"/>
                <a:cs typeface="Cambria" pitchFamily="34" charset="-120"/>
              </a:rPr>
              <a:t>Sem banheiro por região.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boxplot por região, lado a lado.</a:t>
            </a:r>
            <a:endParaRPr lang="en-US" sz="1150" dirty="0"/>
          </a:p>
        </p:txBody>
      </p:sp>
      <p:sp>
        <p:nvSpPr>
          <p:cNvPr id="9" name="Text 6"/>
          <p:cNvSpPr/>
          <p:nvPr/>
        </p:nvSpPr>
        <p:spPr>
          <a:xfrm>
            <a:off x="7726680" y="159804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Compara não só a média, mas a dispersão de cada região.</a:t>
            </a:r>
            <a:endParaRPr lang="en-US" sz="1150" dirty="0"/>
          </a:p>
        </p:txBody>
      </p:sp>
      <p:sp>
        <p:nvSpPr>
          <p:cNvPr id="10" name="Text 7"/>
          <p:cNvSpPr/>
          <p:nvPr/>
        </p:nvSpPr>
        <p:spPr>
          <a:xfrm>
            <a:off x="7726680" y="2087499"/>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(metade central dos setores); a linha vermelha é a mediana; o losango, a média; os bigodes vão até 1,5 vez a altura da caixa. Os extremos além dos bigodes não são desenhados, para a escala não ficar presa a poucos setores.</a:t>
            </a:r>
            <a:endParaRPr lang="en-US" sz="1150" dirty="0"/>
          </a:p>
        </p:txBody>
      </p:sp>
      <p:sp>
        <p:nvSpPr>
          <p:cNvPr id="11" name="Text 8"/>
          <p:cNvSpPr/>
          <p:nvPr/>
        </p:nvSpPr>
        <p:spPr>
          <a:xfrm>
            <a:off x="7726680" y="3146552"/>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 Norte (0,011); a menor, a do Centro-Oeste (0,001). O Norte tem só 6 municípios: os contrastes descrevem os municípios estudados, não a região inteira.</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BAN-14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porte do município: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1463040"/>
                <a:gridCol w="1005840"/>
                <a:gridCol w="1188720"/>
                <a:gridCol w="1188720"/>
                <a:gridCol w="1005840"/>
                <a:gridCol w="73152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até 100 mil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1.015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0,012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85,5%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100 a 500 mil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6.781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94,6%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mais de 500 mil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84.116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95,8%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estatísticas do indicador por tamanho do município (moradores somados nos setores da base).</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Testa se o indicador acompanha o tamanho da cidade — se sim, parte dele mede porte urbano, não vulnerabilidade.</a:t>
            </a:r>
            <a:endParaRPr lang="en-US" sz="1150" dirty="0"/>
          </a:p>
        </p:txBody>
      </p:sp>
      <p:sp>
        <p:nvSpPr>
          <p:cNvPr id="9" name="Text 6"/>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Três grupos: até 100 mil, de 100 a 500 mil e mais de 500 mil moradores.</a:t>
            </a:r>
            <a:endParaRPr lang="en-US" sz="1150" dirty="0"/>
          </a:p>
        </p:txBody>
      </p:sp>
      <p:sp>
        <p:nvSpPr>
          <p:cNvPr id="10" name="Text 7"/>
          <p:cNvSpPr/>
          <p:nvPr/>
        </p:nvSpPr>
        <p:spPr>
          <a:xfrm>
            <a:off x="7726680" y="295668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dos municípios de até 100 mil (0,012); a menor, a dos de mais de 500 mil (0,002).</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BAN-15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porte do município: 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BAN_porte.png">    </p:cNvPr>
          <p:cNvPicPr>
            <a:picLocks noChangeAspect="1"/>
          </p:cNvPicPr>
          <p:nvPr/>
        </p:nvPicPr>
        <p:blipFill>
          <a:blip r:embed="rId1"/>
          <a:stretch>
            <a:fillRect/>
          </a:stretch>
        </p:blipFill>
        <p:spPr>
          <a:xfrm>
            <a:off x="777240" y="1298448"/>
            <a:ext cx="6675120" cy="3811368"/>
          </a:xfrm>
          <a:prstGeom prst="rect">
            <a:avLst/>
          </a:prstGeom>
        </p:spPr>
      </p:pic>
      <p:sp>
        <p:nvSpPr>
          <p:cNvPr id="6" name="Text 3"/>
          <p:cNvSpPr/>
          <p:nvPr/>
        </p:nvSpPr>
        <p:spPr>
          <a:xfrm>
            <a:off x="777240" y="5164680"/>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7 — </a:t>
            </a:r>
            <a:pPr indent="0" marL="0">
              <a:buNone/>
            </a:pPr>
            <a:r>
              <a:rPr lang="en-US" sz="1050" dirty="0">
                <a:solidFill>
                  <a:srgbClr val="56534C"/>
                </a:solidFill>
                <a:latin typeface="Cambria" pitchFamily="34" charset="0"/>
                <a:ea typeface="Cambria" pitchFamily="34" charset="-122"/>
                <a:cs typeface="Cambria" pitchFamily="34" charset="-120"/>
              </a:rPr>
              <a:t>Sem banheiro por porte do município.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boxplot por porte de município.</a:t>
            </a:r>
            <a:endParaRPr lang="en-US" sz="1150" dirty="0"/>
          </a:p>
        </p:txBody>
      </p:sp>
      <p:sp>
        <p:nvSpPr>
          <p:cNvPr id="9" name="Text 6"/>
          <p:cNvSpPr/>
          <p:nvPr/>
        </p:nvSpPr>
        <p:spPr>
          <a:xfrm>
            <a:off x="7726680" y="159804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cidades maiores ou menores concentram o problema.</a:t>
            </a:r>
            <a:endParaRPr lang="en-US" sz="1150" dirty="0"/>
          </a:p>
        </p:txBody>
      </p:sp>
      <p:sp>
        <p:nvSpPr>
          <p:cNvPr id="10" name="Text 7"/>
          <p:cNvSpPr/>
          <p:nvPr/>
        </p:nvSpPr>
        <p:spPr>
          <a:xfrm>
            <a:off x="7726680" y="2087499"/>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(metade central dos setores); a linha vermelha é a mediana; o losango, a média; os bigodes vão até 1,5 vez a altura da caixa. Os extremos além dos bigodes não são desenhados, para a escala não ficar presa a poucos setores.</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dos municípios de até 100 mil (0,012); a menor, a dos de mais de 500 mil (0,002).</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BAN-16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maiores e menores médias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2194560"/>
                <a:gridCol w="1188720"/>
                <a:gridCol w="822960"/>
                <a:gridCol w="1188720"/>
                <a:gridCol w="1188720"/>
              </a:tblGrid>
              <a:tr h="215392">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Município</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Região</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Setores</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Média</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Mediana</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Portel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0,162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0,085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Placas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0,132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0,069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Rosário</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0,115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0,039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Autazes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0,054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0,023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José de Ribamar</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462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0,033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Luís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1.307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0,029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Raimundo do Doca Bezerra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0,029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0,034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Jaqueira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0,017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Arara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0,014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Belém</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1.455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0,012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Coroaci</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Divinópolis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478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Guapiaçu</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Orizânia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Santa Maria do Oeste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Paulo das Missões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Taió</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Tabatinga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Urandi</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Vicentinópolis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Centro-Oeste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10 municípios com a maior média do indicador e os 10 com a menor.</a:t>
            </a:r>
            <a:endParaRPr lang="en-US" sz="1150" dirty="0"/>
          </a:p>
        </p:txBody>
      </p:sp>
      <p:sp>
        <p:nvSpPr>
          <p:cNvPr id="8" name="Text 5"/>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Identifica onde o indicador é mais e menos presente. A tabela completa está no apêndice.</a:t>
            </a:r>
            <a:endParaRPr lang="en-US" sz="1150" dirty="0"/>
          </a:p>
        </p:txBody>
      </p:sp>
      <p:sp>
        <p:nvSpPr>
          <p:cNvPr id="9" name="Text 6"/>
          <p:cNvSpPr/>
          <p:nvPr/>
        </p:nvSpPr>
        <p:spPr>
          <a:xfrm>
            <a:off x="7726680" y="227736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Atenção à coluna "Setores": município com poucos setores tem média instável, que muda muito com um setor a mais ou a menos.</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Maior média: Portel (0,162, 24 setores); menor: Vicentinópolis (0,000).</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BAN-17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ordenados pela mediana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BAN_municipios.png">    </p:cNvPr>
          <p:cNvPicPr>
            <a:picLocks noChangeAspect="1"/>
          </p:cNvPicPr>
          <p:nvPr/>
        </p:nvPicPr>
        <p:blipFill>
          <a:blip r:embed="rId1"/>
          <a:stretch>
            <a:fillRect/>
          </a:stretch>
        </p:blipFill>
        <p:spPr>
          <a:xfrm>
            <a:off x="1414959" y="1298448"/>
            <a:ext cx="5399683" cy="4507992"/>
          </a:xfrm>
          <a:prstGeom prst="rect">
            <a:avLst/>
          </a:prstGeom>
        </p:spPr>
      </p:pic>
      <p:sp>
        <p:nvSpPr>
          <p:cNvPr id="6" name="Text 3"/>
          <p:cNvSpPr/>
          <p:nvPr/>
        </p:nvSpPr>
        <p:spPr>
          <a:xfrm>
            <a:off x="777240" y="586130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8 — </a:t>
            </a:r>
            <a:pPr indent="0" marL="0">
              <a:buNone/>
            </a:pPr>
            <a:r>
              <a:rPr lang="en-US" sz="1050" dirty="0">
                <a:solidFill>
                  <a:srgbClr val="56534C"/>
                </a:solidFill>
                <a:latin typeface="Cambria" pitchFamily="34" charset="0"/>
                <a:ea typeface="Cambria" pitchFamily="34" charset="-122"/>
                <a:cs typeface="Cambria" pitchFamily="34" charset="-120"/>
              </a:rPr>
              <a:t>Sem banheiro: mediana (ponto) e intervalo entre os percentis 25 e 75 (traço) de cada município.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coluna é um município: o ponto é a mediana dos setores dele e o traço vai do percentil 25 ao 75.</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ao mesmo tempo o nível de cada cidade (o ponto) e a desigualdade dentro dela (o tamanho do traço).</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Da esquerda para a direita, das cidades com mediana mais baixa às mais altas. Traço longo: setores muito diferentes entre si na mesma cidade.</a:t>
            </a:r>
            <a:endParaRPr lang="en-US" sz="1150" dirty="0"/>
          </a:p>
        </p:txBody>
      </p:sp>
      <p:sp>
        <p:nvSpPr>
          <p:cNvPr id="11" name="Text 8"/>
          <p:cNvSpPr/>
          <p:nvPr/>
        </p:nvSpPr>
        <p:spPr>
          <a:xfrm>
            <a:off x="7726680" y="3146552"/>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64 dos 70 municípios têm mediana zero.</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BAN-18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desigualdade dentro das cidades: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217920" cy="914400"/>
        </p:xfrm>
        <a:graphic>
          <a:graphicData uri="http://schemas.openxmlformats.org/drawingml/2006/table">
            <a:tbl>
              <a:tblPr/>
              <a:tblGrid>
                <a:gridCol w="2377440"/>
                <a:gridCol w="914400"/>
                <a:gridCol w="1828800"/>
                <a:gridCol w="10972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Município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Setores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Intervalo interquartil</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Gini</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Araçatuba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473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0,998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Guarulhos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2.236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0,997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Campinas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2.350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0,997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Curitiba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2.926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0,996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Cachoeiro de Itapemirim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331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0,996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Campo Grande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1.440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0,995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Macaé</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568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0,995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Mauá</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757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0,995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Divinópolis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478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Guapiaçu</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Ibatiba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Taió</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Duas medidas de quanto os setores de uma mesma cidade diferem entre si: o intervalo interquartil (percentil 75 menos 25) e o Gini.</a:t>
            </a:r>
            <a:endParaRPr lang="en-US" sz="1150" dirty="0"/>
          </a:p>
        </p:txBody>
      </p:sp>
      <p:sp>
        <p:nvSpPr>
          <p:cNvPr id="8" name="Text 5"/>
          <p:cNvSpPr/>
          <p:nvPr/>
        </p:nvSpPr>
        <p:spPr>
          <a:xfrm>
            <a:off x="7726680" y="1977771"/>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IVS é intraurbano: quer achar as diferenças dentro da cidade. Indicador que varia pouco dentro das cidades contribui pouco para isso.</a:t>
            </a:r>
            <a:endParaRPr lang="en-US" sz="1150" dirty="0"/>
          </a:p>
        </p:txBody>
      </p:sp>
      <p:sp>
        <p:nvSpPr>
          <p:cNvPr id="9" name="Text 6"/>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Gini vai de 0 (todos os setores iguais) a 1 (tudo concentrado num setor). Mostra os 8 municípios mais desiguais e os 4 menos.</a:t>
            </a:r>
            <a:endParaRPr lang="en-US" sz="1150" dirty="0"/>
          </a:p>
        </p:txBody>
      </p:sp>
      <p:sp>
        <p:nvSpPr>
          <p:cNvPr id="10" name="Text 7"/>
          <p:cNvSpPr/>
          <p:nvPr/>
        </p:nvSpPr>
        <p:spPr>
          <a:xfrm>
            <a:off x="7726680" y="333641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Entre os 53 municípios com pelo menos 30 setores, o Gini vai de 0,610 (Rosário) a 0,998 (Araçatuba).</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BAN-19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desigualdade dentro das cidades: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BAN_desigualdade.png">    </p:cNvPr>
          <p:cNvPicPr>
            <a:picLocks noChangeAspect="1"/>
          </p:cNvPicPr>
          <p:nvPr/>
        </p:nvPicPr>
        <p:blipFill>
          <a:blip r:embed="rId1"/>
          <a:stretch>
            <a:fillRect/>
          </a:stretch>
        </p:blipFill>
        <p:spPr>
          <a:xfrm>
            <a:off x="777240" y="1298448"/>
            <a:ext cx="6675120" cy="4199206"/>
          </a:xfrm>
          <a:prstGeom prst="rect">
            <a:avLst/>
          </a:prstGeom>
        </p:spPr>
      </p:pic>
      <p:sp>
        <p:nvSpPr>
          <p:cNvPr id="6" name="Text 3"/>
          <p:cNvSpPr/>
          <p:nvPr/>
        </p:nvSpPr>
        <p:spPr>
          <a:xfrm>
            <a:off x="777240" y="5552518"/>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9 — </a:t>
            </a:r>
            <a:pPr indent="0" marL="0">
              <a:buNone/>
            </a:pPr>
            <a:r>
              <a:rPr lang="en-US" sz="1050" dirty="0">
                <a:solidFill>
                  <a:srgbClr val="56534C"/>
                </a:solidFill>
                <a:latin typeface="Cambria" pitchFamily="34" charset="0"/>
                <a:ea typeface="Cambria" pitchFamily="34" charset="-122"/>
                <a:cs typeface="Cambria" pitchFamily="34" charset="-120"/>
              </a:rPr>
              <a:t>Sem banheiro: mediana × Gini de cada município (tamanho do ponto = número de setores).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ponto é um município: na horizontal, o nível do indicador; na vertical, a desigualdade entre os setores dele.</a:t>
            </a:r>
            <a:endParaRPr lang="en-US" sz="1150" dirty="0"/>
          </a:p>
        </p:txBody>
      </p:sp>
      <p:sp>
        <p:nvSpPr>
          <p:cNvPr id="9" name="Text 6"/>
          <p:cNvSpPr/>
          <p:nvPr/>
        </p:nvSpPr>
        <p:spPr>
          <a:xfrm>
            <a:off x="7726680" y="1977771"/>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Separa cidades com o problema espalhado (nível alto, Gini baixo) de cidades com o problema concentrado em poucos setores (Gini alto).</a:t>
            </a:r>
            <a:endParaRPr lang="en-US" sz="1150" dirty="0"/>
          </a:p>
        </p:txBody>
      </p:sp>
      <p:sp>
        <p:nvSpPr>
          <p:cNvPr id="10" name="Text 7"/>
          <p:cNvSpPr/>
          <p:nvPr/>
        </p:nvSpPr>
        <p:spPr>
          <a:xfrm>
            <a:off x="7726680" y="2657094"/>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Pontos maiores são cidades com mais setores. Os nomes marcados são os extremos de desigualdade.</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Entre os 53 municípios com pelo menos 30 setores, o Gini vai de 0,610 (Rosário) a 0,998 (Araçatuba).</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BAN-20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Favela e fora da favela: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675120" cy="914400"/>
        </p:xfrm>
        <a:graphic>
          <a:graphicData uri="http://schemas.openxmlformats.org/drawingml/2006/table">
            <a:tbl>
              <a:tblPr/>
              <a:tblGrid>
                <a:gridCol w="2047037"/>
                <a:gridCol w="890016"/>
                <a:gridCol w="1068019"/>
                <a:gridCol w="1068019"/>
                <a:gridCol w="890016"/>
                <a:gridCol w="712013"/>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Favela e comunidade urbana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15.197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85,9%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Fora de favela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76.715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97,5%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estatísticas do indicador nos setores de favela e comunidade urbana (classificação do IBGE) e nos demais.</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Favela é um território sabidamente vulnerável: um indicador de vulnerabilidade deveria ser mais alto nela. É uma checagem de bom senso, não uma validação.</a:t>
            </a:r>
            <a:endParaRPr lang="en-US" sz="1150" dirty="0"/>
          </a:p>
        </p:txBody>
      </p:sp>
      <p:sp>
        <p:nvSpPr>
          <p:cNvPr id="9" name="Text 6"/>
          <p:cNvSpPr/>
          <p:nvPr/>
        </p:nvSpPr>
        <p:spPr>
          <a:xfrm>
            <a:off x="7726680" y="284695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Compare as médias; a razão diz quantas vezes o valor na favela é o de fora.</a:t>
            </a:r>
            <a:endParaRPr lang="en-US" sz="1150" dirty="0"/>
          </a:p>
        </p:txBody>
      </p:sp>
      <p:sp>
        <p:nvSpPr>
          <p:cNvPr id="10" name="Text 7"/>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Média de 0,007 nos setores de favela e de 0,001 fora delas (razão de 4,7).</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BAN-21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Favela e fora da favela: 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BAN_favela.png">    </p:cNvPr>
          <p:cNvPicPr>
            <a:picLocks noChangeAspect="1"/>
          </p:cNvPicPr>
          <p:nvPr/>
        </p:nvPicPr>
        <p:blipFill>
          <a:blip r:embed="rId1"/>
          <a:stretch>
            <a:fillRect/>
          </a:stretch>
        </p:blipFill>
        <p:spPr>
          <a:xfrm>
            <a:off x="777240" y="1298448"/>
            <a:ext cx="6675120" cy="3804400"/>
          </a:xfrm>
          <a:prstGeom prst="rect">
            <a:avLst/>
          </a:prstGeom>
        </p:spPr>
      </p:pic>
      <p:sp>
        <p:nvSpPr>
          <p:cNvPr id="6" name="Text 3"/>
          <p:cNvSpPr/>
          <p:nvPr/>
        </p:nvSpPr>
        <p:spPr>
          <a:xfrm>
            <a:off x="777240" y="5157712"/>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10 — </a:t>
            </a:r>
            <a:pPr indent="0" marL="0">
              <a:buNone/>
            </a:pPr>
            <a:r>
              <a:rPr lang="en-US" sz="1050" dirty="0">
                <a:solidFill>
                  <a:srgbClr val="56534C"/>
                </a:solidFill>
                <a:latin typeface="Cambria" pitchFamily="34" charset="0"/>
                <a:ea typeface="Cambria" pitchFamily="34" charset="-122"/>
                <a:cs typeface="Cambria" pitchFamily="34" charset="-120"/>
              </a:rPr>
              <a:t>Sem banheiro: setores de favela e fora de favela.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boxplot para os setores de favela e outro para os demais.</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a diferença está em todos os setores ou só em alguns.</a:t>
            </a:r>
            <a:endParaRPr lang="en-US" sz="1150" dirty="0"/>
          </a:p>
        </p:txBody>
      </p:sp>
      <p:sp>
        <p:nvSpPr>
          <p:cNvPr id="10" name="Text 7"/>
          <p:cNvSpPr/>
          <p:nvPr/>
        </p:nvSpPr>
        <p:spPr>
          <a:xfrm>
            <a:off x="7726680" y="2277364"/>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(metade central dos setores); a linha vermelha é a mediana; o losango, a média; os bigodes vão até 1,5 vez a altura da caixa. Os extremos além dos bigodes não são desenhados, para a escala não ficar presa a poucos setores.</a:t>
            </a:r>
            <a:endParaRPr lang="en-US" sz="1150" dirty="0"/>
          </a:p>
        </p:txBody>
      </p:sp>
      <p:sp>
        <p:nvSpPr>
          <p:cNvPr id="11" name="Text 8"/>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Média de 0,007 nos setores de favela e de 0,001 fora delas (razão de 4,7).</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BAN-22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indicador ao longo da renda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BAN_gradiente.png">    </p:cNvPr>
          <p:cNvPicPr>
            <a:picLocks noChangeAspect="1"/>
          </p:cNvPicPr>
          <p:nvPr/>
        </p:nvPicPr>
        <p:blipFill>
          <a:blip r:embed="rId1"/>
          <a:stretch>
            <a:fillRect/>
          </a:stretch>
        </p:blipFill>
        <p:spPr>
          <a:xfrm>
            <a:off x="777240" y="1298448"/>
            <a:ext cx="6675120" cy="3999498"/>
          </a:xfrm>
          <a:prstGeom prst="rect">
            <a:avLst/>
          </a:prstGeom>
        </p:spPr>
      </p:pic>
      <p:sp>
        <p:nvSpPr>
          <p:cNvPr id="6" name="Text 3"/>
          <p:cNvSpPr/>
          <p:nvPr/>
        </p:nvSpPr>
        <p:spPr>
          <a:xfrm>
            <a:off x="777240" y="5352810"/>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11 — </a:t>
            </a:r>
            <a:pPr indent="0" marL="0">
              <a:buNone/>
            </a:pPr>
            <a:r>
              <a:rPr lang="en-US" sz="1050" dirty="0">
                <a:solidFill>
                  <a:srgbClr val="56534C"/>
                </a:solidFill>
                <a:latin typeface="Cambria" pitchFamily="34" charset="0"/>
                <a:ea typeface="Cambria" pitchFamily="34" charset="-122"/>
                <a:cs typeface="Cambria" pitchFamily="34" charset="-120"/>
              </a:rPr>
              <a:t>Sem banheiro por decil de renda do setor no município (1 = mais pobre).</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setores de cada município ordenados pela renda e divididos em 10 grupos iguais (decis); o gráfico dá a média e a mediana do indicador em cada grupo.</a:t>
            </a:r>
            <a:endParaRPr lang="en-US" sz="1150" dirty="0"/>
          </a:p>
        </p:txBody>
      </p:sp>
      <p:sp>
        <p:nvSpPr>
          <p:cNvPr id="9" name="Text 6"/>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o gradiente social: se o indicador piora à medida que a renda cai. Como os decis são feitos dentro de cada município, a comparação é sempre entre setores da mesma cidade.</a:t>
            </a:r>
            <a:endParaRPr lang="en-US" sz="1150" dirty="0"/>
          </a:p>
        </p:txBody>
      </p:sp>
      <p:sp>
        <p:nvSpPr>
          <p:cNvPr id="10" name="Text 7"/>
          <p:cNvSpPr/>
          <p:nvPr/>
        </p:nvSpPr>
        <p:spPr>
          <a:xfrm>
            <a:off x="7726680" y="284695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Linha descendente da esquerda para a direita: o indicador é maior nos setores mais pobres. Linha plana: não depende da renda.</a:t>
            </a:r>
            <a:endParaRPr lang="en-US" sz="1150" dirty="0"/>
          </a:p>
        </p:txBody>
      </p:sp>
      <p:sp>
        <p:nvSpPr>
          <p:cNvPr id="11" name="Text 8"/>
          <p:cNvSpPr/>
          <p:nvPr/>
        </p:nvSpPr>
        <p:spPr>
          <a:xfrm>
            <a:off x="7726680" y="352628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decil 1 a média é 0,011; no decil 10, 0,000.</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BAN-23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e o Brasil urbano: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675120" cy="914400"/>
        </p:xfrm>
        <a:graphic>
          <a:graphicData uri="http://schemas.openxmlformats.org/drawingml/2006/table">
            <a:tbl>
              <a:tblPr/>
              <a:tblGrid>
                <a:gridCol w="2047037"/>
                <a:gridCol w="890016"/>
                <a:gridCol w="1068019"/>
                <a:gridCol w="1068019"/>
                <a:gridCol w="890016"/>
                <a:gridCol w="712013"/>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Brasil, setores urbanos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300.578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92,0%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70 municípios do ELSI</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91.912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95,6%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indicador nos setores urbanos de todo o Brasil e nos dos 70 municípios do ELSI-Brasil.</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Diz se o recorte do estudo é parecido com o país urbano, ou se há viés de seleção dos municípios.</a:t>
            </a:r>
            <a:endParaRPr lang="en-US" sz="1150" dirty="0"/>
          </a:p>
        </p:txBody>
      </p:sp>
      <p:sp>
        <p:nvSpPr>
          <p:cNvPr id="9" name="Text 6"/>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Médias próximas: o recorte representa bem o Brasil urbano neste indicador.</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Brasil urbano a média é 0,006; nos 70 municípios, 0,002.</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BAN-24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e o Brasil urbano: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BAN_brasil.png">    </p:cNvPr>
          <p:cNvPicPr>
            <a:picLocks noChangeAspect="1"/>
          </p:cNvPicPr>
          <p:nvPr/>
        </p:nvPicPr>
        <p:blipFill>
          <a:blip r:embed="rId1"/>
          <a:stretch>
            <a:fillRect/>
          </a:stretch>
        </p:blipFill>
        <p:spPr>
          <a:xfrm>
            <a:off x="777240" y="1298448"/>
            <a:ext cx="6675120" cy="4093503"/>
          </a:xfrm>
          <a:prstGeom prst="rect">
            <a:avLst/>
          </a:prstGeom>
        </p:spPr>
      </p:pic>
      <p:sp>
        <p:nvSpPr>
          <p:cNvPr id="6" name="Text 3"/>
          <p:cNvSpPr/>
          <p:nvPr/>
        </p:nvSpPr>
        <p:spPr>
          <a:xfrm>
            <a:off x="777240" y="5446815"/>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12 — </a:t>
            </a:r>
            <a:pPr indent="0" marL="0">
              <a:buNone/>
            </a:pPr>
            <a:r>
              <a:rPr lang="en-US" sz="1050" dirty="0">
                <a:solidFill>
                  <a:srgbClr val="56534C"/>
                </a:solidFill>
                <a:latin typeface="Cambria" pitchFamily="34" charset="0"/>
                <a:ea typeface="Cambria" pitchFamily="34" charset="-122"/>
                <a:cs typeface="Cambria" pitchFamily="34" charset="-120"/>
              </a:rPr>
              <a:t>Sem banheiro: distribuição acumulada no Brasil urbano e nos 70 municípios.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duas distribuições acumuladas sobrepostas.</a:t>
            </a:r>
            <a:endParaRPr lang="en-US" sz="1150" dirty="0"/>
          </a:p>
        </p:txBody>
      </p:sp>
      <p:sp>
        <p:nvSpPr>
          <p:cNvPr id="9" name="Text 6"/>
          <p:cNvSpPr/>
          <p:nvPr/>
        </p:nvSpPr>
        <p:spPr>
          <a:xfrm>
            <a:off x="7726680" y="159804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Compara a distribuição inteira, não só a média.</a:t>
            </a:r>
            <a:endParaRPr lang="en-US" sz="1150" dirty="0"/>
          </a:p>
        </p:txBody>
      </p:sp>
      <p:sp>
        <p:nvSpPr>
          <p:cNvPr id="10" name="Text 7"/>
          <p:cNvSpPr/>
          <p:nvPr/>
        </p:nvSpPr>
        <p:spPr>
          <a:xfrm>
            <a:off x="7726680" y="208749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Curva mais à direita: valores mais altos. Curvas coladas: as duas populações de setores são parecidas.</a:t>
            </a:r>
            <a:endParaRPr lang="en-US" sz="1150" dirty="0"/>
          </a:p>
        </p:txBody>
      </p:sp>
      <p:sp>
        <p:nvSpPr>
          <p:cNvPr id="11" name="Text 8"/>
          <p:cNvSpPr/>
          <p:nvPr/>
        </p:nvSpPr>
        <p:spPr>
          <a:xfrm>
            <a:off x="7726680" y="276682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Brasil urbano a média é 0,006; nos 70 municípios, 0,002.</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BAN-25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valores extremos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2560320"/>
                <a:gridCol w="914400"/>
                <a:gridCol w="1188720"/>
                <a:gridCol w="173736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Município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Favela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Moradores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Valor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Rio de Janeiro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Recife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356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0,963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Curitiba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843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0,933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Campo Grande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0,911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Rio de Janeiro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0,889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Portel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0,875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Manaus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381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0,865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Goiânia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0,864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Maceió</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697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0,851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São Paulo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198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0,833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10 setores com o maior valor do indicador.</a:t>
            </a:r>
            <a:endParaRPr lang="en-US" sz="1150" dirty="0"/>
          </a:p>
        </p:txBody>
      </p:sp>
      <p:sp>
        <p:nvSpPr>
          <p:cNvPr id="8" name="Text 5"/>
          <p:cNvSpPr/>
          <p:nvPr/>
        </p:nvSpPr>
        <p:spPr>
          <a:xfrm>
            <a:off x="7726680" y="159804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Ajuda a separar extremo verdadeiro (um setor realmente muito carente, ou muito rico) de erro de dado. A coluna "Moradores" mostra setores pequenos, onde um domicílio muda muito a proporção.</a:t>
            </a:r>
            <a:endParaRPr lang="en-US" sz="1150" dirty="0"/>
          </a:p>
        </p:txBody>
      </p:sp>
      <p:sp>
        <p:nvSpPr>
          <p:cNvPr id="9" name="Text 6"/>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Proporção 1 quer dizer todos os domicílios (ou pessoas) do setor na condição.</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percentil 99 é 0,055; 919 setores ficam acima dele.</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BAN-26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27</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2</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Na análise fatorial</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Como o indicador se relaciona com os outros 11, quanto compartilha com eles, o que acontece quando entra ou sai e o peso que recebe no índice.</a:t>
            </a:r>
            <a:endParaRPr lang="en-US" sz="1400" dirty="0"/>
          </a:p>
        </p:txBody>
      </p:sp>
      <p:sp>
        <p:nvSpPr>
          <p:cNvPr id="7" name="Text 5"/>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BAN-27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Correlação com os outros 11: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2926080"/>
                <a:gridCol w="1463040"/>
                <a:gridCol w="20116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Indicador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No conjunto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Dentro dos municípios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água canalizada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Esgoto inadequado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inadequada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média do responsável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Preta, parda ou indígena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Analfabetismo (15 anos ou mais)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Crianças (0 a 14 anos)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Idosos (60 anos ou mais)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Razão de moradores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Lixo inadequado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Moradia não convencional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do indicador com cada um dos outros 11, nos setores que têm os 12.</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análise fatorial agrupa os indicadores que andam juntos. Correlações altas dizem com quem este indicador vai formar uma dimensão.</a:t>
            </a:r>
            <a:endParaRPr lang="en-US" sz="1150" dirty="0"/>
          </a:p>
        </p:txBody>
      </p:sp>
      <p:sp>
        <p:nvSpPr>
          <p:cNvPr id="9" name="Text 6"/>
          <p:cNvSpPr/>
          <p:nvPr/>
        </p:nvSpPr>
        <p:spPr>
          <a:xfrm>
            <a:off x="7726680" y="2467229"/>
            <a:ext cx="3685032" cy="117576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de Spearman vai de −1 a 1: perto de 1, os setores com valor alto num indicador também têm valor alto no outro; perto de 0, não há relação; negativa, um sobe quando o outro desce. "No conjunto" compara todos os setores; "dentro dos municípios", cada setor só com os da própria cidade.</a:t>
            </a:r>
            <a:endParaRPr lang="en-US" sz="1150" dirty="0"/>
          </a:p>
        </p:txBody>
      </p:sp>
      <p:sp>
        <p:nvSpPr>
          <p:cNvPr id="10" name="Text 7"/>
          <p:cNvSpPr/>
          <p:nvPr/>
        </p:nvSpPr>
        <p:spPr>
          <a:xfrm>
            <a:off x="7726680" y="371614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mais forte é com Sem água canalizada: 0,34 no conjunto e 0,30 dentro dos municípios.</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BAN-28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Correlação com os outros 11: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BAN_correlacao.png">    </p:cNvPr>
          <p:cNvPicPr>
            <a:picLocks noChangeAspect="1"/>
          </p:cNvPicPr>
          <p:nvPr/>
        </p:nvPicPr>
        <p:blipFill>
          <a:blip r:embed="rId1"/>
          <a:stretch>
            <a:fillRect/>
          </a:stretch>
        </p:blipFill>
        <p:spPr>
          <a:xfrm>
            <a:off x="777240" y="1298448"/>
            <a:ext cx="6675120" cy="3429472"/>
          </a:xfrm>
          <a:prstGeom prst="rect">
            <a:avLst/>
          </a:prstGeom>
        </p:spPr>
      </p:pic>
      <p:sp>
        <p:nvSpPr>
          <p:cNvPr id="6" name="Text 3"/>
          <p:cNvSpPr/>
          <p:nvPr/>
        </p:nvSpPr>
        <p:spPr>
          <a:xfrm>
            <a:off x="777240" y="478278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13 — </a:t>
            </a:r>
            <a:pPr indent="0" marL="0">
              <a:buNone/>
            </a:pPr>
            <a:r>
              <a:rPr lang="en-US" sz="1050" dirty="0">
                <a:solidFill>
                  <a:srgbClr val="56534C"/>
                </a:solidFill>
                <a:latin typeface="Cambria" pitchFamily="34" charset="0"/>
                <a:ea typeface="Cambria" pitchFamily="34" charset="-122"/>
                <a:cs typeface="Cambria" pitchFamily="34" charset="-120"/>
              </a:rPr>
              <a:t>Spearman nos setores com os 12 indicadores; renda invertida.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mesmas correlações em barras: verde, no conjunto; vermelho, dentro dos municípios.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Quando a barra vermelha encolhe, parte da relação vinha de diferenças entre cidades, não de diferenças dentro delas.</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 para a direita: relação positiva; para a esquerda, negativa. Ordenado da mais forte para a mais fraca.</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mais forte é com Sem água canalizada: 0,34 no conjunto e 0,30 dentro dos municípios.</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BAN-29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Na análise fatorial das 12: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035040" cy="914400"/>
        </p:xfrm>
        <a:graphic>
          <a:graphicData uri="http://schemas.openxmlformats.org/drawingml/2006/table">
            <a:tbl>
              <a:tblPr/>
              <a:tblGrid>
                <a:gridCol w="2560320"/>
                <a:gridCol w="1463040"/>
                <a:gridCol w="20116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Medida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No conjunto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Dentro dos municípios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MSA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0,881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Comunalidade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0,190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0,172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rotação,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0,332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0,249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rotação,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0,283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0,332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Varimax,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0,174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0,153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Varimax,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0,386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padrão,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-0,022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padrão,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0,442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0,426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estrutura,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0,258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estrutura,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0,436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0,415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resultado da análise fatorial dos 12 indicadores juntos (eixo principal, 2 fatores), nas duas réguas.</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carga diz quanto o indicador "pertence" a cada fator (F1, F2). A comunalidade é a parte da variação dele explicada pelos fatores; o MSA, o quanto ele combina com os outros para uma fatorial.</a:t>
            </a:r>
            <a:endParaRPr lang="en-US" sz="1150" dirty="0"/>
          </a:p>
        </p:txBody>
      </p:sp>
      <p:sp>
        <p:nvSpPr>
          <p:cNvPr id="9" name="Text 6"/>
          <p:cNvSpPr/>
          <p:nvPr/>
        </p:nvSpPr>
        <p:spPr>
          <a:xfrm>
            <a:off x="7726680" y="2846959"/>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Carga perto de 1 (ou −1): pertence ao fator; perto de 0, não. Comunalidade abaixo de 0,30 e MSA abaixo de 0,50 são os limites pré-registrados. Varimax mantém os fatores independentes; promax deixa que se correlacionem.</a:t>
            </a:r>
            <a:endParaRPr lang="en-US" sz="1150" dirty="0"/>
          </a:p>
        </p:txBody>
      </p:sp>
      <p:sp>
        <p:nvSpPr>
          <p:cNvPr id="10" name="Text 7"/>
          <p:cNvSpPr/>
          <p:nvPr/>
        </p:nvSpPr>
        <p:spPr>
          <a:xfrm>
            <a:off x="7726680" y="390601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Comunalidade de 0,190 no conjunto e 0,172 dentro dos municípios (critério: 0,30); MSA de 0,881 (critério: 0,50).</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BAN-30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Na análise fatorial das 12: as cargas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BAN_cargas.png">    </p:cNvPr>
          <p:cNvPicPr>
            <a:picLocks noChangeAspect="1"/>
          </p:cNvPicPr>
          <p:nvPr/>
        </p:nvPicPr>
        <p:blipFill>
          <a:blip r:embed="rId1"/>
          <a:stretch>
            <a:fillRect/>
          </a:stretch>
        </p:blipFill>
        <p:spPr>
          <a:xfrm>
            <a:off x="777240" y="1298448"/>
            <a:ext cx="6675120" cy="3897985"/>
          </a:xfrm>
          <a:prstGeom prst="rect">
            <a:avLst/>
          </a:prstGeom>
        </p:spPr>
      </p:pic>
      <p:sp>
        <p:nvSpPr>
          <p:cNvPr id="6" name="Text 3"/>
          <p:cNvSpPr/>
          <p:nvPr/>
        </p:nvSpPr>
        <p:spPr>
          <a:xfrm>
            <a:off x="777240" y="5251297"/>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14 — </a:t>
            </a:r>
            <a:pPr indent="0" marL="0">
              <a:buNone/>
            </a:pPr>
            <a:r>
              <a:rPr lang="en-US" sz="1050" dirty="0">
                <a:solidFill>
                  <a:srgbClr val="56534C"/>
                </a:solidFill>
                <a:latin typeface="Cambria" pitchFamily="34" charset="0"/>
                <a:ea typeface="Cambria" pitchFamily="34" charset="-122"/>
                <a:cs typeface="Cambria" pitchFamily="34" charset="-120"/>
              </a:rPr>
              <a:t>Sem banheiro: carga em F1 (cor cheia) e F2 (cor clara), por rotação e régua.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cargas do indicador nos dois fatores, em cada forma de rotação, nas duas réguas.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o indicador fica sempre no mesmo fator, seja qual for a rotação — sinal de que a posição dele na estrutura é estável.</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 alta em F1 e baixa em F2: o indicador pertence a F1. Barras parecidas nas quatro rotações: a conclusão não depende do método.</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Comunalidade de 0,190 no conjunto e 0,172 dentro dos municípios (critério: 0,30); MSA de 0,881 (critério: 0,50).</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BAN-31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que acontece quando ele entra ou sai</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3108960"/>
                <a:gridCol w="1371600"/>
                <a:gridCol w="192024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Nas 4.017 combinações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No conjunto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Dentro dos municípios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Pares comparados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1.981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1.981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Variação mediana do KMO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Setores perdidos (mediana)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11.591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11.591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 elegível sem ele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 elegível com ele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 dos pares em que derruba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Comunalidade mediana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0,186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0,158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Foram rodadas todas as 4.017 combinações de 3 ou mais dos 12 indicadores. Aqui se comparam os pares de combinações que só diferem por este indicador.</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Isola o efeito de incluir este indicador: se melhora ou piora a adequação (KMO), quantos setores custa (por sigilo) e se faz a combinação deixar de passar nos critérios.</a:t>
            </a:r>
            <a:endParaRPr lang="en-US" sz="1150" dirty="0"/>
          </a:p>
        </p:txBody>
      </p:sp>
      <p:sp>
        <p:nvSpPr>
          <p:cNvPr id="9" name="Text 6"/>
          <p:cNvSpPr/>
          <p:nvPr/>
        </p:nvSpPr>
        <p:spPr>
          <a:xfrm>
            <a:off x="7726680" y="284695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KMO vai de 0 a 1 e mede se os indicadores compartilham variação suficiente para uma fatorial; acima de 0,70 é adequado. "Elegível" = passa nos quatro critérios pré-registrados.</a:t>
            </a:r>
            <a:endParaRPr lang="en-US" sz="1150" dirty="0"/>
          </a:p>
        </p:txBody>
      </p:sp>
      <p:sp>
        <p:nvSpPr>
          <p:cNvPr id="10" name="Text 7"/>
          <p:cNvSpPr/>
          <p:nvPr/>
        </p:nvSpPr>
        <p:spPr>
          <a:xfrm>
            <a:off x="7726680" y="3716147"/>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Na régua municipal, em 1,2% dos pares a combinação era elegível sem ele e deixa de ser com ele; ao entrar, custa na mediana 11.591 setores e muda o KMO em 0,000.</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BAN-32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comunalidade dele nas 4.017 combinações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BAN_comunalidade.png">    </p:cNvPr>
          <p:cNvPicPr>
            <a:picLocks noChangeAspect="1"/>
          </p:cNvPicPr>
          <p:nvPr/>
        </p:nvPicPr>
        <p:blipFill>
          <a:blip r:embed="rId1"/>
          <a:stretch>
            <a:fillRect/>
          </a:stretch>
        </p:blipFill>
        <p:spPr>
          <a:xfrm>
            <a:off x="777240" y="1298448"/>
            <a:ext cx="6675120" cy="4067430"/>
          </a:xfrm>
          <a:prstGeom prst="rect">
            <a:avLst/>
          </a:prstGeom>
        </p:spPr>
      </p:pic>
      <p:sp>
        <p:nvSpPr>
          <p:cNvPr id="6" name="Text 3"/>
          <p:cNvSpPr/>
          <p:nvPr/>
        </p:nvSpPr>
        <p:spPr>
          <a:xfrm>
            <a:off x="777240" y="5420742"/>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15 — </a:t>
            </a:r>
            <a:pPr indent="0" marL="0">
              <a:buNone/>
            </a:pPr>
            <a:r>
              <a:rPr lang="en-US" sz="1050" dirty="0">
                <a:solidFill>
                  <a:srgbClr val="56534C"/>
                </a:solidFill>
                <a:latin typeface="Cambria" pitchFamily="34" charset="0"/>
                <a:ea typeface="Cambria" pitchFamily="34" charset="-122"/>
                <a:cs typeface="Cambria" pitchFamily="34" charset="-120"/>
              </a:rPr>
              <a:t>Sem banheiro: comunalidade em cada combinação em que entra; tracejado: critério 0,30.</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comunalidade do indicador em cada uma das combinações em que ele entra, nas duas réguas.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o indicador compartilha variação com os outros de forma consistente, ou só em algumas combinações.</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Histograma à direita da linha tracejada: o indicador costuma passar no critério. À esquerda: costuma ficar de fora da estrutura comum.</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Dentro dos municípios, fica abaixo do critério em 88,6% das combinações em que entra.</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BAN-33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peso no índice</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1828800"/>
                <a:gridCol w="1005840"/>
                <a:gridCol w="914400"/>
                <a:gridCol w="1737360"/>
                <a:gridCol w="91440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Finalista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Especificação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Peso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Menor sem 1 município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Maior</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proposta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E0009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fora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 conjunto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E0171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fora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 normalizacao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E0027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fora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 rotacao peso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fora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peso do indicador no índice em cada especificação finalista (a proposta e as alternativas de maior impacto), e o menor e o maior peso quando se tira um município por vez.</a:t>
            </a:r>
            <a:endParaRPr lang="en-US" sz="1150" dirty="0"/>
          </a:p>
        </p:txBody>
      </p:sp>
      <p:sp>
        <p:nvSpPr>
          <p:cNvPr id="8" name="Text 5"/>
          <p:cNvSpPr/>
          <p:nvPr/>
        </p:nvSpPr>
        <p:spPr>
          <a:xfrm>
            <a:off x="7726680" y="216763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quanto o indicador conta no IVS e se esse peso depende de uma cidade específica.</a:t>
            </a:r>
            <a:endParaRPr lang="en-US" sz="1150" dirty="0"/>
          </a:p>
        </p:txBody>
      </p:sp>
      <p:sp>
        <p:nvSpPr>
          <p:cNvPr id="9" name="Text 6"/>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Peso é a fração do índice que vem deste indicador (os pesos de todos somam 100%). "Fora": não entra naquela especificação.</a:t>
            </a:r>
            <a:endParaRPr lang="en-US" sz="1150" dirty="0"/>
          </a:p>
        </p:txBody>
      </p:sp>
      <p:sp>
        <p:nvSpPr>
          <p:cNvPr id="10" name="Text 7"/>
          <p:cNvSpPr/>
          <p:nvPr/>
        </p:nvSpPr>
        <p:spPr>
          <a:xfrm>
            <a:off x="7726680" y="3336417"/>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IVS proposto o peso é fora.</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BAN-34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Síntese</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Distribuição.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média (0,002) e a mediana (0,000) se afastam: assimetria de 21,31. Em 95,6% dos setores o valor é zero.</a:t>
            </a:r>
            <a:endParaRPr lang="en-US" sz="1350" dirty="0"/>
          </a:p>
        </p:txBody>
      </p:sp>
      <p:sp>
        <p:nvSpPr>
          <p:cNvPr id="6" name="Text 4"/>
          <p:cNvSpPr/>
          <p:nvPr/>
        </p:nvSpPr>
        <p:spPr>
          <a:xfrm>
            <a:off x="777240" y="1649349"/>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Cobertura.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91.912 dos 104.108 setores (88,3%) têm o dado. Nos 12.196 sem o dado, a renda mediana do responsável é R$ 1.809,52, contra R$ 2.735,43 nos que têm: o ausente não é aleatório.</a:t>
            </a:r>
            <a:endParaRPr lang="en-US" sz="1350" dirty="0"/>
          </a:p>
        </p:txBody>
      </p:sp>
      <p:sp>
        <p:nvSpPr>
          <p:cNvPr id="7" name="Text 5"/>
          <p:cNvSpPr/>
          <p:nvPr/>
        </p:nvSpPr>
        <p:spPr>
          <a:xfrm>
            <a:off x="777240" y="2204847"/>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Onde é mais alto.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maior média é a do Norte (0,011); a menor, a do Centro-Oeste (0,001). O Norte tem só 6 municípios: os contrastes descrevem os municípios estudados, não a região inteira.</a:t>
            </a:r>
            <a:endParaRPr lang="en-US" sz="1350" dirty="0"/>
          </a:p>
        </p:txBody>
      </p:sp>
      <p:sp>
        <p:nvSpPr>
          <p:cNvPr id="8" name="Text 6"/>
          <p:cNvSpPr/>
          <p:nvPr/>
        </p:nvSpPr>
        <p:spPr>
          <a:xfrm>
            <a:off x="777240" y="2760345"/>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Gradiente social.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No decil 1 a média é 0,011; no decil 10, 0,000.</a:t>
            </a:r>
            <a:endParaRPr lang="en-US" sz="1350" dirty="0"/>
          </a:p>
        </p:txBody>
      </p:sp>
      <p:sp>
        <p:nvSpPr>
          <p:cNvPr id="9" name="Text 7"/>
          <p:cNvSpPr/>
          <p:nvPr/>
        </p:nvSpPr>
        <p:spPr>
          <a:xfrm>
            <a:off x="777240" y="3092958"/>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Relações.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correlação mais forte é com Sem água canalizada: 0,34 no conjunto e 0,30 dentro dos municípios.</a:t>
            </a:r>
            <a:endParaRPr lang="en-US" sz="1350" dirty="0"/>
          </a:p>
        </p:txBody>
      </p:sp>
      <p:sp>
        <p:nvSpPr>
          <p:cNvPr id="10" name="Text 8"/>
          <p:cNvSpPr/>
          <p:nvPr/>
        </p:nvSpPr>
        <p:spPr>
          <a:xfrm>
            <a:off x="777240" y="3425571"/>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Na fatorial.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Comunalidade mediana de 0,158 dentro dos municípios; atende a 1 dos 3 critérios da Fase 1 (comunalidade, perda de base, elegibilidade).</a:t>
            </a:r>
            <a:endParaRPr lang="en-US" sz="1350" dirty="0"/>
          </a:p>
        </p:txBody>
      </p:sp>
      <p:sp>
        <p:nvSpPr>
          <p:cNvPr id="11" name="Text 9"/>
          <p:cNvSpPr/>
          <p:nvPr/>
        </p:nvSpPr>
        <p:spPr>
          <a:xfrm>
            <a:off x="777240" y="3981069"/>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Proposta.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Fica fora do IVS proposto (padrão P2); a decisão é da orientadora.</a:t>
            </a:r>
            <a:endParaRPr lang="en-US" sz="1350" dirty="0"/>
          </a:p>
        </p:txBody>
      </p:sp>
      <p:sp>
        <p:nvSpPr>
          <p:cNvPr id="12" name="Text 10"/>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BAN-35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Apêndice: os 70 municípios (1 de 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777240"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Portel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0,162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0,085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Placas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0,069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Rosário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0,115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Autazes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0,054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José de Ribamar</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462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Luís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1.307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Raimundo do Doca Bezerra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Jaqueira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Arara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Belém</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1.455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Manaus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2.343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Camaragibe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212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Itajuípe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Teresina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1.044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Ananindeua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560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Recife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2.209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Japoatã</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Feira de Santana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796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graphicFrame>
        <p:nvGraphicFramePr>
          <p:cNvPr id="73" name="Table 1"/>
          <p:cNvGraphicFramePr>
            <a:graphicFrameLocks noGrp="1"/>
          </p:cNvGraphicFramePr>
          <p:nvPr>
            <p:extLst>
              <p:ext uri="{D42A27DB-BD31-4B8C-83A1-F6EECF244321}">
                <p14:modId xmlns:p14="http://schemas.microsoft.com/office/powerpoint/2010/main" val="1579011935"/>
              </p:ext>
            </p:extLst>
          </p:nvPr>
        </p:nvGraphicFramePr>
        <p:xfrm>
          <a:off x="6368796"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Água Preta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Groaíras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Marechal Deodoro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Duque de Caxias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1.466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Porto Alegre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2.293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Maceió</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1.297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Canoas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513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Fortaleza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3.486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Campo Grande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1.440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Guarujá</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635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Charqueadas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Natal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893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Rio de Janeiro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12.132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Itapetinga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Paulo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24.554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Salinas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Limoeiro do 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3"/>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BAN-36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Apêndice: os 70 municípios (2 de 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777240"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Curitiba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2.926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Goiânia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2.082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Capelinha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Goianésia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72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Gonçalo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2.038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Macaé</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Salvador</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3.704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Nova Iguaçu</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1.294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Guarulhos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2.236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Belo Horizonte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4.636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Brasília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4.551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Mauá</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757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Cachoeiro de Itapemirim</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331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José dos Pinhais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404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Igarapava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Pedro da Aldeia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Pato Branco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141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Campinas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2.350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graphicFrame>
        <p:nvGraphicFramePr>
          <p:cNvPr id="75" name="Table 1"/>
          <p:cNvGraphicFramePr>
            <a:graphicFrameLocks noGrp="1"/>
          </p:cNvGraphicFramePr>
          <p:nvPr>
            <p:extLst>
              <p:ext uri="{D42A27DB-BD31-4B8C-83A1-F6EECF244321}">
                <p14:modId xmlns:p14="http://schemas.microsoft.com/office/powerpoint/2010/main" val="1579011935"/>
              </p:ext>
            </p:extLst>
          </p:nvPr>
        </p:nvGraphicFramePr>
        <p:xfrm>
          <a:off x="6368796"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Caetano do 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Bernardo do Campo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1.584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Araçatuba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473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Salto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185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Anápolis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Chapada dos Guimarães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Ibatiba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Coroaci</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Divinópolis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478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Guapiaçu</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Orizânia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Santa Maria do 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Paulo das Missões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Taió</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Tabatinga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Urandi</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Vicentinópolis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3"/>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BAN-37</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 banheiro</dc:title>
  <dc:subject>PptxGenJS Presentation</dc:subject>
  <dc:creator>Pedro Dias Soares</dc:creator>
  <cp:lastModifiedBy>Pedro Dias Soares</cp:lastModifiedBy>
  <cp:revision>1</cp:revision>
  <dcterms:created xsi:type="dcterms:W3CDTF">2026-10-22T23:26:08Z</dcterms:created>
  <dcterms:modified xsi:type="dcterms:W3CDTF">2026-10-22T23:26:08Z</dcterms:modified>
</cp:coreProperties>
</file>