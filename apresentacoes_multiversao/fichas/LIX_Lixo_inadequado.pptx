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[LIX-01] Lixo inadequado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[LIX-06] 100,0%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104.108 dos 104.108 setores (100,0%)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Nenhum setor está sem o dado, em nenhuma região.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(0,116) e a mediana (0,000) se afastam: assimetria de 2,38. Em 62,8%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(0,116) e a mediana (0,000) se afastam: assimetria de 2,38. Em 62,8%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19.124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0,059.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(0,986).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Nordeste (0,154); a menor, a do Centro-Oeste (0,091).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Nordeste (0,154); a menor, a do Centro-Oeste (0,091).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mais de 500 mil (0,117); a menor, a dos de até 100 mil (0,067).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mais de 500 mil (0,117); a menor, a dos de até 100 mil (0,067).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Salto (0,849, 196 setores); menor: São Paulo das Missões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55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0,132 (Salto) a 0,982 (Charqueadas).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0,132 (Salto) a 0,982 (Charqueadas).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0,248 nos setores de favela e de 0,085 fora delas (razão de 2,9).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0,248 nos setores de favela e de 0,085 fora delas (razão de 2,9).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0,257; no decil 10, 0,074.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0,102; nos 70 municípios, 0,116.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0,102; nos 70 municípios, 0,116.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0,986; 1.039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Idosos (60 anos ou mais): -0,25 no conjunto e -0,29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Idosos (60 anos ou mais): -0,25 no conjunto e -0,29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0,064 no conjunto e 0,114 dentro dos municípios (critério: 0,30); MSA de 0,738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0,064 no conjunto e 0,114 dentro dos municípios (critério: 0,30); MSA de 0,738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1,1% dos pares a combinação era elegível sem ele e deixa de ser com ele; ao entrar, custa na mediana 0 setores e muda o KMO em 0,004.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83,5%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0,6%; tirando um município por vez, vai de 0,4% a 3,2%.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0,6%; tirando um município por vez, vai de 0,4% a 3,2%.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[LIX-38]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LIX · SANEAMENTO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Lixo inadequado</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domicílios com destino do lixo inadequado ou ausente.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domicílios com destino do lixo inadequado ou ausente,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Lixo não coletado porta a porta (queimado, enterrado, jogado em terreno ou em caçamba) atrai vetores como ratos e mosquitos. No IVS de 2012 a caçamba conta como inadequada.</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V00398 + V00399 + V00400 + V00401 + V00402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 Agregados_por_setores_caracteristicas_domicilio2_BR_20250417.csv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Sigilo parcial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quando o IBGE suprimiu só parte das parcelas do numerador, elas entram como zero, o que subestima o indicador; só fica ausente quando todas foram suprimidas (item d).</a:t>
            </a:r>
            <a:endParaRPr lang="en-US" sz="1350" dirty="0"/>
          </a:p>
        </p:txBody>
      </p:sp>
      <p:sp>
        <p:nvSpPr>
          <p:cNvPr id="7" name="Text 5"/>
          <p:cNvSpPr/>
          <p:nvPr/>
        </p:nvSpPr>
        <p:spPr>
          <a:xfrm>
            <a:off x="777240" y="242773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Caçamba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depósito em caçamba continua classificado como destino inadequado, como no IVS de 2012 (item e). É a hipótese a testar: pode refletir a forma de coleta da cidade.</a:t>
            </a:r>
            <a:endParaRPr lang="en-US" sz="1350" dirty="0"/>
          </a:p>
        </p:txBody>
      </p:sp>
      <p:sp>
        <p:nvSpPr>
          <p:cNvPr id="8" name="Text 6"/>
          <p:cNvSpPr/>
          <p:nvPr/>
        </p:nvSpPr>
        <p:spPr>
          <a:xfrm>
            <a:off x="777240" y="2983230"/>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Lixo inadequado: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Nenhum setor está sem o dado, em nenhuma região.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(0,116) e a mediana (0,000) se afastam: assimetria de 2,38. Em 62,8%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Lixo inadequado: número de setores em cada faixa de valor (104.108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(0,116) e a mediana (0,000) se afastam: assimetria de 2,38. Em 62,8%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Lixo inadequado: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19.124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Lixo inadequado: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0,059.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percentis.png">    </p:cNvPr>
          <p:cNvPicPr>
            <a:picLocks noChangeAspect="1"/>
          </p:cNvPicPr>
          <p:nvPr/>
        </p:nvPicPr>
        <p:blipFill>
          <a:blip r:embed="rId1"/>
          <a:stretch>
            <a:fillRect/>
          </a:stretch>
        </p:blipFill>
        <p:spPr>
          <a:xfrm>
            <a:off x="777240" y="1298448"/>
            <a:ext cx="6675120" cy="4086372"/>
          </a:xfrm>
          <a:prstGeom prst="rect">
            <a:avLst/>
          </a:prstGeom>
        </p:spPr>
      </p:pic>
      <p:sp>
        <p:nvSpPr>
          <p:cNvPr id="6" name="Text 3"/>
          <p:cNvSpPr/>
          <p:nvPr/>
        </p:nvSpPr>
        <p:spPr>
          <a:xfrm>
            <a:off x="777240" y="54396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Lixo inadequado: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(0,986).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Nordeste (0,154); a menor, a do Centro-Oeste (0,091).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regiao.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Lixo inadequado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Nordeste (0,154); a menor, a do Centro-Oeste (0,091).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62,5%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(0,117); a menor, a dos de até 100 mil (0,067).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porte.png">    </p:cNvPr>
          <p:cNvPicPr>
            <a:picLocks noChangeAspect="1"/>
          </p:cNvPicPr>
          <p:nvPr/>
        </p:nvPicPr>
        <p:blipFill>
          <a:blip r:embed="rId1"/>
          <a:stretch>
            <a:fillRect/>
          </a:stretch>
        </p:blipFill>
        <p:spPr>
          <a:xfrm>
            <a:off x="777240" y="1298448"/>
            <a:ext cx="6675120" cy="3869737"/>
          </a:xfrm>
          <a:prstGeom prst="rect">
            <a:avLst/>
          </a:prstGeom>
        </p:spPr>
      </p:pic>
      <p:sp>
        <p:nvSpPr>
          <p:cNvPr id="6" name="Text 3"/>
          <p:cNvSpPr/>
          <p:nvPr/>
        </p:nvSpPr>
        <p:spPr>
          <a:xfrm>
            <a:off x="777240" y="5223049"/>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Lixo inadequado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(0,117); a menor, a dos de até 100 mil (0,067).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Salto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0,964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Groaíras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0,655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Salvador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4.476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0,426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0,340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Orizânia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0,366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0,178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0,279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0,118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0,265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Coroaci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Camaragibe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13.370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0,193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Santa Maria do 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Igarapava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Pato Branco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Itajuípe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Guapiaçu</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Vicentinópolis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Salto (0,849, 196 setores); menor: São Paulo das Missões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municipios.png">    </p:cNvPr>
          <p:cNvPicPr>
            <a:picLocks noChangeAspect="1"/>
          </p:cNvPicPr>
          <p:nvPr/>
        </p:nvPicPr>
        <p:blipFill>
          <a:blip r:embed="rId1"/>
          <a:stretch>
            <a:fillRect/>
          </a:stretch>
        </p:blipFill>
        <p:spPr>
          <a:xfrm>
            <a:off x="1472279" y="1298448"/>
            <a:ext cx="5285042"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Lixo inadequado: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55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Charqueadas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Tabatinga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Campo Grande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Pato Branco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Anápolis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Goianésia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Camaragibe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4.476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0,132 (Salto) a 0,982 (Charqueadas).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desigualdade.png">    </p:cNvPr>
          <p:cNvPicPr>
            <a:picLocks noChangeAspect="1"/>
          </p:cNvPicPr>
          <p:nvPr/>
        </p:nvPicPr>
        <p:blipFill>
          <a:blip r:embed="rId1"/>
          <a:stretch>
            <a:fillRect/>
          </a:stretch>
        </p:blipFill>
        <p:spPr>
          <a:xfrm>
            <a:off x="777240" y="1298448"/>
            <a:ext cx="6675120" cy="4243926"/>
          </a:xfrm>
          <a:prstGeom prst="rect">
            <a:avLst/>
          </a:prstGeom>
        </p:spPr>
      </p:pic>
      <p:sp>
        <p:nvSpPr>
          <p:cNvPr id="6" name="Text 3"/>
          <p:cNvSpPr/>
          <p:nvPr/>
        </p:nvSpPr>
        <p:spPr>
          <a:xfrm>
            <a:off x="777240" y="559723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Lixo inadequado: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0,132 (Salto) a 0,982 (Charqueadas).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0,248 nos setores de favela e de 0,085 fora delas (razão de 2,9).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favela.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Lixo inadequado: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0,248 nos setores de favela e de 0,085 fora delas (razão de 2,9).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gradiente.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Lixo inadequado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0,257; no decil 10, 0,074.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347.391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0,102; nos 70 municípios, 0,116.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Lixo inadequado: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0,102; nos 70 municípios, 0,116.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0,986; 1.039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Idosos (60 anos ou mais): -0,25 no conjunto e -0,29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Idosos (60 anos ou mais): -0,25 no conjunto e -0,29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0,064 no conjunto e 0,114 dentro dos municípios (critério: 0,30); MSA de 0,738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cargas.png">    </p:cNvPr>
          <p:cNvPicPr>
            <a:picLocks noChangeAspect="1"/>
          </p:cNvPicPr>
          <p:nvPr/>
        </p:nvPicPr>
        <p:blipFill>
          <a:blip r:embed="rId1"/>
          <a:stretch>
            <a:fillRect/>
          </a:stretch>
        </p:blipFill>
        <p:spPr>
          <a:xfrm>
            <a:off x="777240" y="1298448"/>
            <a:ext cx="6675120" cy="3852659"/>
          </a:xfrm>
          <a:prstGeom prst="rect">
            <a:avLst/>
          </a:prstGeom>
        </p:spPr>
      </p:pic>
      <p:sp>
        <p:nvSpPr>
          <p:cNvPr id="6" name="Text 3"/>
          <p:cNvSpPr/>
          <p:nvPr/>
        </p:nvSpPr>
        <p:spPr>
          <a:xfrm>
            <a:off x="777240" y="520597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Lixo inadequado: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0,064 no conjunto e 0,114 dentro dos municípios (critério: 0,30); MSA de 0,738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1,1% dos pares a combinação era elegível sem ele e deixa de ser com ele; ao entrar, custa na mediana 0 setores e muda o KMO em 0,004.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Lixo inadequado: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83,5%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0,6%; tirando um município por vez, vai de 0,4% a 3,2%.</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LIX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Lixo inadequado: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0,6%; tirando um município por vez, vai de 0,4% a 3,2%.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(0,116) e a mediana (0,000) se afastam: assimetria de 2,38. Em 62,8% dos setores o valor é zero.</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104.108 dos 104.108 setores (100,0%)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Nordeste (0,154); a menor, a do Centro-Oeste (0,091).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0,257; no decil 10, 0,074.</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Idosos (60 anos ou mais): -0,25 no conjunto e -0,29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0,124 dentro dos municípios; atende a 2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0,964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LIX-38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Lixo inadequado</dc:title>
  <dc:subject>PptxGenJS Presentation</dc:subject>
  <dc:creator>Pedro Dias Soares</dc:creator>
  <cp:lastModifiedBy>Pedro Dias Soares</cp:lastModifiedBy>
  <cp:revision>1</cp:revision>
  <dcterms:created xsi:type="dcterms:W3CDTF">2026-10-22T23:26:07Z</dcterms:created>
  <dcterms:modified xsi:type="dcterms:W3CDTF">2026-10-22T23:26:07Z</dcterms:modified>
</cp:coreProperties>
</file>