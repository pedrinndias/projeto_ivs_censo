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[IDO-01] Idosos (60 anos ou mais)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[IDO-06] 99,7%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103.823 dos 104.108 setores (99,7%) têm o dado. Nos 285 sem o dado, a renda mediana do responsável é R$ 1.737,33, contra R$ 2.575,06 nos que têm: o ausente não é aleatório.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A maior proporção sem dado é no Sudeste (0,3%); a menor, no Sul (0,1%).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(0,175) e a mediana (0,166) estão próximas: assimetria de 0,55.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(0,175) e a mediana (0,166) estão próximas: assimetria de 0,55.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653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0,166; três quartos, até 0,231.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(0,166) ao 99 (0,394).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Sul (0,200); a menor, a do Norte (0,123).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Sul (0,200); a menor, a do Norte (0,123).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mais de 500 mil (0,177); a menor, a dos de até 100 mil (0,157).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mais de 500 mil (0,177); a menor, a dos de até 100 mil (0,157).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São Paulo das Missões (0,317, 6 setores); menor: Portel (0,084).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A mediana vai de 0,073 a 0,294.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0,109 (Ibatiba) a 0,317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0,109 (Ibatiba) a 0,317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0,109 nos setores de favela e de 0,191 fora delas (razão de 0,6).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0,109 nos setores de favela e de 0,191 fora delas (razão de 0,6).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0,098; no decil 10, 0,230.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0,168; nos 70 municípios, 0,175.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0,168; nos 70 municípios, 0,175.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0,394; 1.039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Crianças (0 a 14 anos): -0,79 no conjunto e -0,77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Crianças (0 a 14 anos): -0,79 no conjunto e -0,77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0,570 no conjunto e 0,494 dentro dos municípios (critério: 0,30); MSA de 0,790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0,570 no conjunto e 0,494 dentro dos municípios (critério: 0,30); MSA de 0,790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0,2% dos pares a combinação era elegível sem ele e deixa de ser com ele; ao entrar, custa na mediana 177 setores e muda o KMO em 0,034.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3,2%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Fora do índice. Correlação de Spearman com o IVS proposto: -0,55. Média por faixa, de baixo a muito elevado: 0,218 · 0,164 · 0,119 · 0,102.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[IDO-35] Ao longo das faixas do IVS proposto
O que é. A média do indicador nos setores de cada faixa de vulnerabilidade do IVS proposto.
Para que serve. Responde à pergunta do ELSI: os idosos (ou as crianças) moram mais nos setores mais ou menos vulneráveis?
Como ler. Barras que sobem para a direita: mais presentes nos setores mais vulneráveis.
O que mostra. Fora do índice. Correlação de Spearman com o IVS proposto: -0,55. Média por faixa, de baixo a muito elevado: 0,218 · 0,164 · 0,119 · 0,102.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IDO · DEMOGRAFIA</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Idosos (60 anos ou mais)</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pessoas de 60 anos ou mais na população residente. Indicador complementar (Quadro 2), fora do IVS de 2012.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pessoas de 60 anos ou mais na população residente,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população de 60 anos ou mais é o foco do ELSI-Brasil. Não é vulnerabilidade em si: serve para ver onde moram os idosos em relação ao IVS.</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no sentido de mais idosos, que não é vulnerabilidade em si.</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Fora do IVS de 2012; entra na análise fatorial como indicador que pode ou não acrescentar.</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V01040 + V01041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Agregados_por_setores_basico_BR_20250417.csv; Agregados_por_setores_demografia_BR.csv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população residente total; moradores de domicílios coletivos entram (item a).</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Faixas de idade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grupos etários dos agregados por setor; idosos e crianças dividem o mesmo denominador e são o numerador e o denominador do índice de envelhecimento (Galvão et al., 2025).</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Fora do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demografia, não vulnerabilidade: descreve a estrutura etária e serve para ler o IVS proposto pelo tema do ELSI-Brasil.</a:t>
            </a:r>
            <a:endParaRPr lang="en-US" sz="1350" dirty="0"/>
          </a:p>
        </p:txBody>
      </p:sp>
      <p:sp>
        <p:nvSpPr>
          <p:cNvPr id="8" name="Text 6"/>
          <p:cNvSpPr/>
          <p:nvPr/>
        </p:nvSpPr>
        <p:spPr>
          <a:xfrm>
            <a:off x="777240" y="2760345"/>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99,7%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103.823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R$ 2.575,06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R$ 1.737,33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63,5%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103.823 dos 104.108 setores (99,7%) têm o dado. Nos 285 sem o dado, a renda mediana do responsável é R$ 1.737,33, contra R$ 2.575,06 nos que têm: o ausente não é aleatório.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ausente_regiao.png">    </p:cNvPr>
          <p:cNvPicPr>
            <a:picLocks noChangeAspect="1"/>
          </p:cNvPicPr>
          <p:nvPr/>
        </p:nvPicPr>
        <p:blipFill>
          <a:blip r:embed="rId1"/>
          <a:stretch>
            <a:fillRect/>
          </a:stretch>
        </p:blipFill>
        <p:spPr>
          <a:xfrm>
            <a:off x="777240" y="1298448"/>
            <a:ext cx="6675120" cy="3844064"/>
          </a:xfrm>
          <a:prstGeom prst="rect">
            <a:avLst/>
          </a:prstGeom>
        </p:spPr>
      </p:pic>
      <p:sp>
        <p:nvSpPr>
          <p:cNvPr id="6" name="Text 3"/>
          <p:cNvSpPr/>
          <p:nvPr/>
        </p:nvSpPr>
        <p:spPr>
          <a:xfrm>
            <a:off x="777240" y="519737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Idosos (60 anos ou mais):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proporção sem dado é no Sudeste (0,3%); a menor, no Sul (0,1%).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103.823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(0,175) e a mediana (0,166) estão próximas: assimetria de 0,55.</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histograma.png">    </p:cNvPr>
          <p:cNvPicPr>
            <a:picLocks noChangeAspect="1"/>
          </p:cNvPicPr>
          <p:nvPr/>
        </p:nvPicPr>
        <p:blipFill>
          <a:blip r:embed="rId1"/>
          <a:stretch>
            <a:fillRect/>
          </a:stretch>
        </p:blipFill>
        <p:spPr>
          <a:xfrm>
            <a:off x="777240" y="1298448"/>
            <a:ext cx="6675120" cy="4020482"/>
          </a:xfrm>
          <a:prstGeom prst="rect">
            <a:avLst/>
          </a:prstGeom>
        </p:spPr>
      </p:pic>
      <p:sp>
        <p:nvSpPr>
          <p:cNvPr id="6" name="Text 3"/>
          <p:cNvSpPr/>
          <p:nvPr/>
        </p:nvSpPr>
        <p:spPr>
          <a:xfrm>
            <a:off x="777240" y="537379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Idosos (60 anos ou mais): número de setores em cada faixa de valor (103.823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(0,175) e a mediana (0,166) estão próximas: assimetria de 0,55.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Idosos (60 anos ou mais):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653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Idosos (60 anos ou mais):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0,166; três quartos, até 0,231.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percentis.png">    </p:cNvPr>
          <p:cNvPicPr>
            <a:picLocks noChangeAspect="1"/>
          </p:cNvPicPr>
          <p:nvPr/>
        </p:nvPicPr>
        <p:blipFill>
          <a:blip r:embed="rId1"/>
          <a:stretch>
            <a:fillRect/>
          </a:stretch>
        </p:blipFill>
        <p:spPr>
          <a:xfrm>
            <a:off x="777240" y="1298448"/>
            <a:ext cx="6675120" cy="4038906"/>
          </a:xfrm>
          <a:prstGeom prst="rect">
            <a:avLst/>
          </a:prstGeom>
        </p:spPr>
      </p:pic>
      <p:sp>
        <p:nvSpPr>
          <p:cNvPr id="6" name="Text 3"/>
          <p:cNvSpPr/>
          <p:nvPr/>
        </p:nvSpPr>
        <p:spPr>
          <a:xfrm>
            <a:off x="777240" y="539221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Idosos (60 anos ou mais):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(0,166) ao 99 (0,394).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61.808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0,146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0,138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Sul (0,200); a menor, a do Norte (0,123).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regiao.png">    </p:cNvPr>
          <p:cNvPicPr>
            <a:picLocks noChangeAspect="1"/>
          </p:cNvPicPr>
          <p:nvPr/>
        </p:nvPicPr>
        <p:blipFill>
          <a:blip r:embed="rId1"/>
          <a:stretch>
            <a:fillRect/>
          </a:stretch>
        </p:blipFill>
        <p:spPr>
          <a:xfrm>
            <a:off x="777240" y="1298448"/>
            <a:ext cx="6675120" cy="3893820"/>
          </a:xfrm>
          <a:prstGeom prst="rect">
            <a:avLst/>
          </a:prstGeom>
        </p:spPr>
      </p:pic>
      <p:sp>
        <p:nvSpPr>
          <p:cNvPr id="6" name="Text 3"/>
          <p:cNvSpPr/>
          <p:nvPr/>
        </p:nvSpPr>
        <p:spPr>
          <a:xfrm>
            <a:off x="777240" y="524713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Idosos (60 anos ou mais)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Sul (0,200); a menor, a do Norte (0,123).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0,149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mais de 500 mil (0,177); a menor, a dos de até 100 mil (0,157).</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porte.png">    </p:cNvPr>
          <p:cNvPicPr>
            <a:picLocks noChangeAspect="1"/>
          </p:cNvPicPr>
          <p:nvPr/>
        </p:nvPicPr>
        <p:blipFill>
          <a:blip r:embed="rId1"/>
          <a:stretch>
            <a:fillRect/>
          </a:stretch>
        </p:blipFill>
        <p:spPr>
          <a:xfrm>
            <a:off x="777240" y="1298448"/>
            <a:ext cx="6675120" cy="3900952"/>
          </a:xfrm>
          <a:prstGeom prst="rect">
            <a:avLst/>
          </a:prstGeom>
        </p:spPr>
      </p:pic>
      <p:sp>
        <p:nvSpPr>
          <p:cNvPr id="6" name="Text 3"/>
          <p:cNvSpPr/>
          <p:nvPr/>
        </p:nvSpPr>
        <p:spPr>
          <a:xfrm>
            <a:off x="777240" y="525426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Idosos (60 anos ou mais)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mais de 500 mil (0,177); a menor, a dos de até 100 mil (0,157).</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0,317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0,294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0,252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Porto Alegre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2.673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0,225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Rio de Janeiro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13.348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Araçatuba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488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Belo Horizonte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5.105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Chapada dos Guimarães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Charqueadas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Itajuípe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Capelinha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Japoatã</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0,095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Ananindeua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727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0,108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José dos Pinhais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454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Vicentinópolis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0,112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Manaus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3.090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0,102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0,090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Autazes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0,102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0,097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0,092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0,090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José de Ribamar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580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0,090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0,082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0,084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0,073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São Paulo das Missões (0,317, 6 setores); menor: Portel (0,084).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municipios.png">    </p:cNvPr>
          <p:cNvPicPr>
            <a:picLocks noChangeAspect="1"/>
          </p:cNvPicPr>
          <p:nvPr/>
        </p:nvPicPr>
        <p:blipFill>
          <a:blip r:embed="rId1"/>
          <a:stretch>
            <a:fillRect/>
          </a:stretch>
        </p:blipFill>
        <p:spPr>
          <a:xfrm>
            <a:off x="1441969" y="1298448"/>
            <a:ext cx="5345663"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Idosos (60 anos ou mais):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mediana vai de 0,073 a 0,294.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Araçatuba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Teresina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Feira de Santana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992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Macaé</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Capelinha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Guapiaçu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Cachoeiro de Itapemirim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Duque de Caxias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Preta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Ibatiba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0,109 (Ibatiba) a 0,317 (Araçatuba).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desigualdade.png">    </p:cNvPr>
          <p:cNvPicPr>
            <a:picLocks noChangeAspect="1"/>
          </p:cNvPicPr>
          <p:nvPr/>
        </p:nvPicPr>
        <p:blipFill>
          <a:blip r:embed="rId1"/>
          <a:stretch>
            <a:fillRect/>
          </a:stretch>
        </p:blipFill>
        <p:spPr>
          <a:xfrm>
            <a:off x="777240" y="1298448"/>
            <a:ext cx="6675120" cy="4212523"/>
          </a:xfrm>
          <a:prstGeom prst="rect">
            <a:avLst/>
          </a:prstGeom>
        </p:spPr>
      </p:pic>
      <p:sp>
        <p:nvSpPr>
          <p:cNvPr id="6" name="Text 3"/>
          <p:cNvSpPr/>
          <p:nvPr/>
        </p:nvSpPr>
        <p:spPr>
          <a:xfrm>
            <a:off x="777240" y="556583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Idosos (60 anos ou mais):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0,109 (Ibatiba) a 0,317 (Araçatuba).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19.369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84.454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0,246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0,109 nos setores de favela e de 0,191 fora delas (razão de 0,6).</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favela.png">    </p:cNvPr>
          <p:cNvPicPr>
            <a:picLocks noChangeAspect="1"/>
          </p:cNvPicPr>
          <p:nvPr/>
        </p:nvPicPr>
        <p:blipFill>
          <a:blip r:embed="rId1"/>
          <a:stretch>
            <a:fillRect/>
          </a:stretch>
        </p:blipFill>
        <p:spPr>
          <a:xfrm>
            <a:off x="777240" y="1298448"/>
            <a:ext cx="6675120" cy="3893820"/>
          </a:xfrm>
          <a:prstGeom prst="rect">
            <a:avLst/>
          </a:prstGeom>
        </p:spPr>
      </p:pic>
      <p:sp>
        <p:nvSpPr>
          <p:cNvPr id="6" name="Text 3"/>
          <p:cNvSpPr/>
          <p:nvPr/>
        </p:nvSpPr>
        <p:spPr>
          <a:xfrm>
            <a:off x="777240" y="524713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Idosos (60 anos ou mais):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0,109 nos setores de favela e de 0,191 fora delas (razão de 0,6).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gradiente.png">    </p:cNvPr>
          <p:cNvPicPr>
            <a:picLocks noChangeAspect="1"/>
          </p:cNvPicPr>
          <p:nvPr/>
        </p:nvPicPr>
        <p:blipFill>
          <a:blip r:embed="rId1"/>
          <a:stretch>
            <a:fillRect/>
          </a:stretch>
        </p:blipFill>
        <p:spPr>
          <a:xfrm>
            <a:off x="777240" y="1298448"/>
            <a:ext cx="6675120" cy="4045954"/>
          </a:xfrm>
          <a:prstGeom prst="rect">
            <a:avLst/>
          </a:prstGeom>
        </p:spPr>
      </p:pic>
      <p:sp>
        <p:nvSpPr>
          <p:cNvPr id="6" name="Text 3"/>
          <p:cNvSpPr/>
          <p:nvPr/>
        </p:nvSpPr>
        <p:spPr>
          <a:xfrm>
            <a:off x="777240" y="539926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Idosos (60 anos ou mais)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0,098; no decil 10, 0,230.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346.054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103.823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0,231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0,168; nos 70 municípios, 0,175.</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Idosos (60 anos ou mais):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0,168; nos 70 municípios, 0,175.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Brasília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Campo Grande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Divinópolis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0,394; 1.039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Crianças (0 a 14 anos): -0,79 no conjunto e -0,77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correlacao.png">    </p:cNvPr>
          <p:cNvPicPr>
            <a:picLocks noChangeAspect="1"/>
          </p:cNvPicPr>
          <p:nvPr/>
        </p:nvPicPr>
        <p:blipFill>
          <a:blip r:embed="rId1"/>
          <a:stretch>
            <a:fillRect/>
          </a:stretch>
        </p:blipFill>
        <p:spPr>
          <a:xfrm>
            <a:off x="777240" y="1298448"/>
            <a:ext cx="6675120" cy="3388645"/>
          </a:xfrm>
          <a:prstGeom prst="rect">
            <a:avLst/>
          </a:prstGeom>
        </p:spPr>
      </p:pic>
      <p:sp>
        <p:nvSpPr>
          <p:cNvPr id="6" name="Text 3"/>
          <p:cNvSpPr/>
          <p:nvPr/>
        </p:nvSpPr>
        <p:spPr>
          <a:xfrm>
            <a:off x="777240" y="474195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Crianças (0 a 14 anos): -0,79 no conjunto e -0,77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0,494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-0,692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0,570 no conjunto e 0,494 dentro dos municípios (critério: 0,30); MSA de 0,790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cargas.png">    </p:cNvPr>
          <p:cNvPicPr>
            <a:picLocks noChangeAspect="1"/>
          </p:cNvPicPr>
          <p:nvPr/>
        </p:nvPicPr>
        <p:blipFill>
          <a:blip r:embed="rId1"/>
          <a:stretch>
            <a:fillRect/>
          </a:stretch>
        </p:blipFill>
        <p:spPr>
          <a:xfrm>
            <a:off x="777240" y="1298448"/>
            <a:ext cx="6675120" cy="3840480"/>
          </a:xfrm>
          <a:prstGeom prst="rect">
            <a:avLst/>
          </a:prstGeom>
        </p:spPr>
      </p:pic>
      <p:sp>
        <p:nvSpPr>
          <p:cNvPr id="6" name="Text 3"/>
          <p:cNvSpPr/>
          <p:nvPr/>
        </p:nvSpPr>
        <p:spPr>
          <a:xfrm>
            <a:off x="777240" y="519379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Idosos (60 anos ou mais):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0,570 no conjunto e 0,494 dentro dos municípios (critério: 0,30); MSA de 0,790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0,554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0,2% dos pares a combinação era elegível sem ele e deixa de ser com ele; ao entrar, custa na mediana 177 setores e muda o KMO em 0,034.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Idosos (60 anos ou mais):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3,2%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 do índice. Correlação de Spearman com o IVS proposto: -0,55. Média por faixa, de baixo a muito elevado: 0,218 · 0,164 · 0,119 · 0,102.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Ao longo das faixas do IVS proposto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IDO_por_faixa.png">    </p:cNvPr>
          <p:cNvPicPr>
            <a:picLocks noChangeAspect="1"/>
          </p:cNvPicPr>
          <p:nvPr/>
        </p:nvPicPr>
        <p:blipFill>
          <a:blip r:embed="rId1"/>
          <a:stretch>
            <a:fillRect/>
          </a:stretch>
        </p:blipFill>
        <p:spPr>
          <a:xfrm>
            <a:off x="777240" y="1298448"/>
            <a:ext cx="6675120" cy="4045954"/>
          </a:xfrm>
          <a:prstGeom prst="rect">
            <a:avLst/>
          </a:prstGeom>
        </p:spPr>
      </p:pic>
      <p:sp>
        <p:nvSpPr>
          <p:cNvPr id="6" name="Text 3"/>
          <p:cNvSpPr/>
          <p:nvPr/>
        </p:nvSpPr>
        <p:spPr>
          <a:xfrm>
            <a:off x="777240" y="539926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Idosos (60 anos ou mais): média por faixa do IVS proposto.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do indicador nos setores de cada faixa de vulnerabilidade do IVS proposto.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Responde à pergunta do ELSI: os idosos (ou as crianças) moram mais nos setores mais ou menos vulneráveis?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para a direita: mais presentes nos setores mais vulneráveis.</a:t>
            </a:r>
            <a:endParaRPr lang="en-US" sz="1150" dirty="0"/>
          </a:p>
        </p:txBody>
      </p:sp>
      <p:sp>
        <p:nvSpPr>
          <p:cNvPr id="11" name="Text 8"/>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 do índice. Correlação de Spearman com o IVS proposto: -0,55. Média por faixa, de baixo a muito elevado: 0,218 · 0,164 · 0,119 · 0,102.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(0,175) e a mediana (0,166) estão próximas: assimetria de 0,55.</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103.823 dos 104.108 setores (99,7%) têm o dado. Nos 285 sem o dado, a renda mediana do responsável é R$ 1.737,33, contra R$ 2.575,06 nos que têm: o ausente não é aleatório.</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Sul (0,200); a menor, a do Norte (0,123). O Norte tem só 6 municípios: os contrastes descrevem os municípios estudados, não a região inteira.</a:t>
            </a:r>
            <a:endParaRPr lang="en-US" sz="1350" dirty="0"/>
          </a:p>
        </p:txBody>
      </p:sp>
      <p:sp>
        <p:nvSpPr>
          <p:cNvPr id="8" name="Text 6"/>
          <p:cNvSpPr/>
          <p:nvPr/>
        </p:nvSpPr>
        <p:spPr>
          <a:xfrm>
            <a:off x="777240" y="276034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0,098; no decil 10, 0,230.</a:t>
            </a:r>
            <a:endParaRPr lang="en-US" sz="1350" dirty="0"/>
          </a:p>
        </p:txBody>
      </p:sp>
      <p:sp>
        <p:nvSpPr>
          <p:cNvPr id="9" name="Text 7"/>
          <p:cNvSpPr/>
          <p:nvPr/>
        </p:nvSpPr>
        <p:spPr>
          <a:xfrm>
            <a:off x="777240" y="3092958"/>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Crianças (0 a 14 anos): -0,79 no conjunto e -0,77 dentro dos municípios.</a:t>
            </a:r>
            <a:endParaRPr lang="en-US" sz="1350" dirty="0"/>
          </a:p>
        </p:txBody>
      </p:sp>
      <p:sp>
        <p:nvSpPr>
          <p:cNvPr id="10" name="Text 8"/>
          <p:cNvSpPr/>
          <p:nvPr/>
        </p:nvSpPr>
        <p:spPr>
          <a:xfrm>
            <a:off x="777240" y="3425571"/>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0,554 dentro dos municípios; atende a 3 dos 3 critérios da Fase 1 (comunalidade, perda de base, elegibilidade).</a:t>
            </a:r>
            <a:endParaRPr lang="en-US" sz="1350" dirty="0"/>
          </a:p>
        </p:txBody>
      </p:sp>
      <p:sp>
        <p:nvSpPr>
          <p:cNvPr id="11" name="Text 9"/>
          <p:cNvSpPr/>
          <p:nvPr/>
        </p:nvSpPr>
        <p:spPr>
          <a:xfrm>
            <a:off x="777240" y="398106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Fica fora do IVS proposto (padrão P2); a decisão é da orientadora.</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0,252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26.415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IDO-38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Idosos (60 anos ou mais)</dc:title>
  <dc:subject>PptxGenJS Presentation</dc:subject>
  <dc:creator>Pedro Dias Soares</dc:creator>
  <cp:lastModifiedBy>Pedro Dias Soares</cp:lastModifiedBy>
  <cp:revision>1</cp:revision>
  <dcterms:created xsi:type="dcterms:W3CDTF">2026-10-22T19:30:46Z</dcterms:created>
  <dcterms:modified xsi:type="dcterms:W3CDTF">2026-10-22T19:30:46Z</dcterms:modified>
</cp:coreProperties>
</file>