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[MNC-01] Moradia não convencional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[MNC-06] 100,0%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104.108 dos 104.108 setores (100,0%) têm o dado. A ausência é desprezível.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Nenhum setor está sem o dado, em nenhuma região.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(0,006) e a mediana (0,000) se afastam: assimetria de 13,01. Em 93,0%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(0,006) e a mediana (0,000) se afastam: assimetria de 13,01. Em 93,0%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O percentil 25 e o 75 são iguais (caixa sem altura): todo valor diferente deles aparece como extremo.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0,000; três quartos, até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(0,000) ao 99 (0,150).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Centro-Oeste (0,010); a menor, a do Sul (0,001).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Centro-Oeste (0,010); a menor, a do Sul (0,001).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mais de 500 mil (0,006); a menor, a dos de até 100 mil (0,001).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mais de 500 mil (0,006); a menor, a dos de até 100 mil (0,001).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Goiânia (0,021, 2.272 setores); menor: Urandi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70 dos 70 municípios têm mediana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0,841 (São Luís) a 0,996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0,841 (São Luís) a 0,996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0,013 nos setores de favela e de 0,004 fora delas (razão de 2,9).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0,013 nos setores de favela e de 0,004 fora delas (razão de 2,9).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0,014; no decil 10,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0,003; nos 70 municípios, 0,006.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0,003; nos 70 municípios, 0,006.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0,150; 1.042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Sem banheiro: 0,13 no conjunto e 0,10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Sem banheiro: 0,13 no conjunto e 0,10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0,012 no conjunto e 0,012 dentro dos municípios (critério: 0,30); MSA de 0,730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0,012 no conjunto e 0,012 dentro dos municípios (critério: 0,30); MSA de 0,730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1,2% dos pares a combinação era elegível sem ele e deixa de ser com ele; ao entrar, custa na mediana 0 setores e muda o KMO em 0,000.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99,6%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fora.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[MNC-35]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[MNC-36]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[MNC-37]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MNC · MORFOLOGIA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Moradia não convencional</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moradias não convencionais (cortiço, maloca, estrutura degradada). Indicador complementar (Quadro 2), fora do IVS de 2012.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moradias não convencionais (cortiço, maloca, estrutura degradada),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Cortiço, maloca ou estrutura degradada: moradia precária, que expõe a risco estrutural, umidade e adensamento.</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Fora do IVS de 2012; entra na análise fatorial como indicador que pode ou não acrescentar.</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V00050 + V00051 + V00052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Agregados_por_setores_caracteristicas_domicilio1_BR.csv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domicílios particulares permanentes ocupados (V00001), equivalente ao de 2012; moradores de domicílios coletivos não entram (relatório, item a).</a:t>
            </a:r>
            <a:endParaRPr lang="en-US" sz="1350" dirty="0"/>
          </a:p>
        </p:txBody>
      </p:sp>
      <p:sp>
        <p:nvSpPr>
          <p:cNvPr id="6" name="Text 4"/>
          <p:cNvSpPr/>
          <p:nvPr/>
        </p:nvSpPr>
        <p:spPr>
          <a:xfrm>
            <a:off x="777240" y="187223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Fora do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indicador complementar do Quadro 2: descreve o setor, não compõe o IVS de 2012.</a:t>
            </a:r>
            <a:endParaRPr lang="en-US" sz="1350" dirty="0"/>
          </a:p>
        </p:txBody>
      </p:sp>
      <p:sp>
        <p:nvSpPr>
          <p:cNvPr id="7" name="Text 5"/>
          <p:cNvSpPr/>
          <p:nvPr/>
        </p:nvSpPr>
        <p:spPr>
          <a:xfrm>
            <a:off x="777240" y="2204847"/>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100,0%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Nenhum setor está sem o dado, em nenhuma região.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(0,006) e a mediana (0,000) se afastam: assimetria de 13,01. Em 93,0% dos setores o valor é zero.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histograma.png">    </p:cNvPr>
          <p:cNvPicPr>
            <a:picLocks noChangeAspect="1"/>
          </p:cNvPicPr>
          <p:nvPr/>
        </p:nvPicPr>
        <p:blipFill>
          <a:blip r:embed="rId1"/>
          <a:stretch>
            <a:fillRect/>
          </a:stretch>
        </p:blipFill>
        <p:spPr>
          <a:xfrm>
            <a:off x="777240" y="1298448"/>
            <a:ext cx="6675120" cy="3929763"/>
          </a:xfrm>
          <a:prstGeom prst="rect">
            <a:avLst/>
          </a:prstGeom>
        </p:spPr>
      </p:pic>
      <p:sp>
        <p:nvSpPr>
          <p:cNvPr id="6" name="Text 3"/>
          <p:cNvSpPr/>
          <p:nvPr/>
        </p:nvSpPr>
        <p:spPr>
          <a:xfrm>
            <a:off x="777240" y="528307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número de setores em cada faixa de valor (104.108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(0,006) e a mediana (0,000) se afastam: assimetria de 13,01. Em 93,0% dos setores o valor é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25 e o 75 são iguais (caixa sem altura): todo valor diferente deles aparece como extremo.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0,000; três quartos, até 0,000.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percentis.png">    </p:cNvPr>
          <p:cNvPicPr>
            <a:picLocks noChangeAspect="1"/>
          </p:cNvPicPr>
          <p:nvPr/>
        </p:nvPicPr>
        <p:blipFill>
          <a:blip r:embed="rId1"/>
          <a:stretch>
            <a:fillRect/>
          </a:stretch>
        </p:blipFill>
        <p:spPr>
          <a:xfrm>
            <a:off x="777240" y="1298448"/>
            <a:ext cx="6675120" cy="4038906"/>
          </a:xfrm>
          <a:prstGeom prst="rect">
            <a:avLst/>
          </a:prstGeom>
        </p:spPr>
      </p:pic>
      <p:sp>
        <p:nvSpPr>
          <p:cNvPr id="6" name="Text 3"/>
          <p:cNvSpPr/>
          <p:nvPr/>
        </p:nvSpPr>
        <p:spPr>
          <a:xfrm>
            <a:off x="777240" y="539221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(0,000) ao 99 (0,150).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93,7%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Centro-Oeste (0,010); a menor, a do Sul (0,001).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regiao.png">    </p:cNvPr>
          <p:cNvPicPr>
            <a:picLocks noChangeAspect="1"/>
          </p:cNvPicPr>
          <p:nvPr/>
        </p:nvPicPr>
        <p:blipFill>
          <a:blip r:embed="rId1"/>
          <a:stretch>
            <a:fillRect/>
          </a:stretch>
        </p:blipFill>
        <p:spPr>
          <a:xfrm>
            <a:off x="777240" y="1298448"/>
            <a:ext cx="6675120" cy="3804400"/>
          </a:xfrm>
          <a:prstGeom prst="rect">
            <a:avLst/>
          </a:prstGeom>
        </p:spPr>
      </p:pic>
      <p:sp>
        <p:nvSpPr>
          <p:cNvPr id="6" name="Text 3"/>
          <p:cNvSpPr/>
          <p:nvPr/>
        </p:nvSpPr>
        <p:spPr>
          <a:xfrm>
            <a:off x="777240" y="515771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Centro-Oeste (0,010); a menor, a do Sul (0,001).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95.211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(0,006); a menor, a dos de até 100 mil (0,001).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porte.png">    </p:cNvPr>
          <p:cNvPicPr>
            <a:picLocks noChangeAspect="1"/>
          </p:cNvPicPr>
          <p:nvPr/>
        </p:nvPicPr>
        <p:blipFill>
          <a:blip r:embed="rId1"/>
          <a:stretch>
            <a:fillRect/>
          </a:stretch>
        </p:blipFill>
        <p:spPr>
          <a:xfrm>
            <a:off x="777240" y="1298448"/>
            <a:ext cx="6675120" cy="3811368"/>
          </a:xfrm>
          <a:prstGeom prst="rect">
            <a:avLst/>
          </a:prstGeom>
        </p:spPr>
      </p:pic>
      <p:sp>
        <p:nvSpPr>
          <p:cNvPr id="6" name="Text 3"/>
          <p:cNvSpPr/>
          <p:nvPr/>
        </p:nvSpPr>
        <p:spPr>
          <a:xfrm>
            <a:off x="777240" y="516468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(0,006); a menor, a dos de até 100 mil (0,001).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Goiânia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2.272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Luís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1.674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Belo Horizonte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5.113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Bernardo do Campo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1.685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Manaus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3.094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Brasília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4.924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Guarulhos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26.512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13.370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Marechal Deodoro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Orizânia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Santa Maria do 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Salinas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Taió</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Urandi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Goiânia (0,021, 2.272 setores); menor: Urandi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municipios.png">    </p:cNvPr>
          <p:cNvPicPr>
            <a:picLocks noChangeAspect="1"/>
          </p:cNvPicPr>
          <p:nvPr/>
        </p:nvPicPr>
        <p:blipFill>
          <a:blip r:embed="rId1"/>
          <a:stretch>
            <a:fillRect/>
          </a:stretch>
        </p:blipFill>
        <p:spPr>
          <a:xfrm>
            <a:off x="1411658" y="1298448"/>
            <a:ext cx="5406284"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70 dos 70 municípios têm mediana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Araçatuba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Divinópolis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Pedro da Aldeia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Limoeiro do Norte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Camaragibe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Pato Branco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Cachoeiro de Itapemirim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Maceió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Ibatiba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Marechal Deodoro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0,841 (São Luís) a 0,996 (Araçatuba).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desigualdade.png">    </p:cNvPr>
          <p:cNvPicPr>
            <a:picLocks noChangeAspect="1"/>
          </p:cNvPicPr>
          <p:nvPr/>
        </p:nvPicPr>
        <p:blipFill>
          <a:blip r:embed="rId1"/>
          <a:stretch>
            <a:fillRect/>
          </a:stretch>
        </p:blipFill>
        <p:spPr>
          <a:xfrm>
            <a:off x="777240" y="1298448"/>
            <a:ext cx="6675120" cy="4212523"/>
          </a:xfrm>
          <a:prstGeom prst="rect">
            <a:avLst/>
          </a:prstGeom>
        </p:spPr>
      </p:pic>
      <p:sp>
        <p:nvSpPr>
          <p:cNvPr id="6" name="Text 3"/>
          <p:cNvSpPr/>
          <p:nvPr/>
        </p:nvSpPr>
        <p:spPr>
          <a:xfrm>
            <a:off x="777240" y="556583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0,841 (São Luís) a 0,996 (Araçatuba).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93,8%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0,013 nos setores de favela e de 0,004 fora delas (razão de 2,9).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favela.png">    </p:cNvPr>
          <p:cNvPicPr>
            <a:picLocks noChangeAspect="1"/>
          </p:cNvPicPr>
          <p:nvPr/>
        </p:nvPicPr>
        <p:blipFill>
          <a:blip r:embed="rId1"/>
          <a:stretch>
            <a:fillRect/>
          </a:stretch>
        </p:blipFill>
        <p:spPr>
          <a:xfrm>
            <a:off x="777240" y="1298448"/>
            <a:ext cx="6675120" cy="3804400"/>
          </a:xfrm>
          <a:prstGeom prst="rect">
            <a:avLst/>
          </a:prstGeom>
        </p:spPr>
      </p:pic>
      <p:sp>
        <p:nvSpPr>
          <p:cNvPr id="6" name="Text 3"/>
          <p:cNvSpPr/>
          <p:nvPr/>
        </p:nvSpPr>
        <p:spPr>
          <a:xfrm>
            <a:off x="777240" y="515771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0,013 nos setores de favela e de 0,004 fora delas (razão de 2,9).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gradiente.png">    </p:cNvPr>
          <p:cNvPicPr>
            <a:picLocks noChangeAspect="1"/>
          </p:cNvPicPr>
          <p:nvPr/>
        </p:nvPicPr>
        <p:blipFill>
          <a:blip r:embed="rId1"/>
          <a:stretch>
            <a:fillRect/>
          </a:stretch>
        </p:blipFill>
        <p:spPr>
          <a:xfrm>
            <a:off x="777240" y="1298448"/>
            <a:ext cx="6675120" cy="3999498"/>
          </a:xfrm>
          <a:prstGeom prst="rect">
            <a:avLst/>
          </a:prstGeom>
        </p:spPr>
      </p:pic>
      <p:sp>
        <p:nvSpPr>
          <p:cNvPr id="6" name="Text 3"/>
          <p:cNvSpPr/>
          <p:nvPr/>
        </p:nvSpPr>
        <p:spPr>
          <a:xfrm>
            <a:off x="777240" y="535281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0,014; no decil 10, 0,000.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347.399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0,003; nos 70 municípios, 0,006.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0,003; nos 70 municípios, 0,006.</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Belo Horizonte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Bernardo do Campo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Bernardo do Campo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0,150; 1.042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Sem banheiro: 0,13 no conjunto e 0,10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Sem banheiro: 0,13 no conjunto e 0,10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0,012 no conjunto e 0,012 dentro dos municípios (critério: 0,30); MSA de 0,730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cargas.png">    </p:cNvPr>
          <p:cNvPicPr>
            <a:picLocks noChangeAspect="1"/>
          </p:cNvPicPr>
          <p:nvPr/>
        </p:nvPicPr>
        <p:blipFill>
          <a:blip r:embed="rId1"/>
          <a:stretch>
            <a:fillRect/>
          </a:stretch>
        </p:blipFill>
        <p:spPr>
          <a:xfrm>
            <a:off x="777240" y="1298448"/>
            <a:ext cx="6675120" cy="3852659"/>
          </a:xfrm>
          <a:prstGeom prst="rect">
            <a:avLst/>
          </a:prstGeom>
        </p:spPr>
      </p:pic>
      <p:sp>
        <p:nvSpPr>
          <p:cNvPr id="6" name="Text 3"/>
          <p:cNvSpPr/>
          <p:nvPr/>
        </p:nvSpPr>
        <p:spPr>
          <a:xfrm>
            <a:off x="777240" y="520597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0,012 no conjunto e 0,012 dentro dos municípios (critério: 0,30); MSA de 0,730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1,2% dos pares a combinação era elegível sem ele e deixa de ser com ele; ao entrar, custa na mediana 0 setores e muda o KMO em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MNC_comunalidade.png">    </p:cNvPr>
          <p:cNvPicPr>
            <a:picLocks noChangeAspect="1"/>
          </p:cNvPicPr>
          <p:nvPr/>
        </p:nvPicPr>
        <p:blipFill>
          <a:blip r:embed="rId1"/>
          <a:stretch>
            <a:fillRect/>
          </a:stretch>
        </p:blipFill>
        <p:spPr>
          <a:xfrm>
            <a:off x="777240" y="1298448"/>
            <a:ext cx="6675120" cy="4020482"/>
          </a:xfrm>
          <a:prstGeom prst="rect">
            <a:avLst/>
          </a:prstGeom>
        </p:spPr>
      </p:pic>
      <p:sp>
        <p:nvSpPr>
          <p:cNvPr id="6" name="Text 3"/>
          <p:cNvSpPr/>
          <p:nvPr/>
        </p:nvSpPr>
        <p:spPr>
          <a:xfrm>
            <a:off x="777240" y="537379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Moradia não convencional: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99,6%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fora.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(0,006) e a mediana (0,000) se afastam: assimetria de 13,01. Em 93,0% dos setores o valor é zero.</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350" dirty="0"/>
          </a:p>
        </p:txBody>
      </p:sp>
      <p:sp>
        <p:nvSpPr>
          <p:cNvPr id="7" name="Text 5"/>
          <p:cNvSpPr/>
          <p:nvPr/>
        </p:nvSpPr>
        <p:spPr>
          <a:xfrm>
            <a:off x="777240" y="198196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Centro-Oeste (0,010); a menor, a do Sul (0,001). O Norte tem só 6 municípios: os contrastes descrevem os municípios estudados, não a região inteira.</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0,014; no decil 10, 0,000.</a:t>
            </a:r>
            <a:endParaRPr lang="en-US" sz="1350" dirty="0"/>
          </a:p>
        </p:txBody>
      </p:sp>
      <p:sp>
        <p:nvSpPr>
          <p:cNvPr id="9" name="Text 7"/>
          <p:cNvSpPr/>
          <p:nvPr/>
        </p:nvSpPr>
        <p:spPr>
          <a:xfrm>
            <a:off x="777240" y="287007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Sem banheiro: 0,13 no conjunto e 0,10 dentro dos municípios.</a:t>
            </a:r>
            <a:endParaRPr lang="en-US" sz="1350" dirty="0"/>
          </a:p>
        </p:txBody>
      </p:sp>
      <p:sp>
        <p:nvSpPr>
          <p:cNvPr id="10" name="Text 8"/>
          <p:cNvSpPr/>
          <p:nvPr/>
        </p:nvSpPr>
        <p:spPr>
          <a:xfrm>
            <a:off x="777240" y="320268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0,013 dentro dos municípios; atende a 2 dos 3 critérios da Fase 1 (comunalidade, perda de base, elegibilidade).</a:t>
            </a:r>
            <a:endParaRPr lang="en-US" sz="1350" dirty="0"/>
          </a:p>
        </p:txBody>
      </p:sp>
      <p:sp>
        <p:nvSpPr>
          <p:cNvPr id="11" name="Text 9"/>
          <p:cNvSpPr/>
          <p:nvPr/>
        </p:nvSpPr>
        <p:spPr>
          <a:xfrm>
            <a:off x="777240" y="375818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Fica fora do IVS proposto (padrão P2); a decisão é da orientadora.</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MNC-37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Moradia não convencional</dc:title>
  <dc:subject>PptxGenJS Presentation</dc:subject>
  <dc:creator>Pedro Dias Soares</dc:creator>
  <cp:lastModifiedBy>Pedro Dias Soares</cp:lastModifiedBy>
  <cp:revision>1</cp:revision>
  <dcterms:created xsi:type="dcterms:W3CDTF">2026-10-22T19:30:46Z</dcterms:created>
  <dcterms:modified xsi:type="dcterms:W3CDTF">2026-10-22T19:30:46Z</dcterms:modified>
</cp:coreProperties>
</file>