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[ESG-01] Esgoto inadequado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[ESG-06] 100,00%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104.107 dos 104.108 setores (100,00%)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Nordeste (0,01%); a menor, no Norte (0,0%).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(0,082) e a mediana (0,000) se afastam: assimetria de 2,98. Em 72,5%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(0,082) e a mediana (0,000) se afastam: assimetria de 2,98. Em 72,5%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20.901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0,018.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(0,961).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(0,238); a menor, a do Sul (0,029).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(0,238); a menor, a do Sul (0,029).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(0,202); a menor, a dos de mais de 500 mil (0,079).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(0,202); a menor, a dos de mais de 500 mil (0,079).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Vicentinópolis (0,980, 11 setores); menor: São Caetano do Sul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35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0,218 (Autazes) a 0,985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0,218 (Autazes) a 0,985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0,214 nos setores de favela e de 0,052 fora delas (razão de 4,1).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0,214 nos setores de favela e de 0,052 fora delas (razão de 4,1).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0,227; no decil 10, 0,011.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0,162; nos 70 municípios, 0,082.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0,162; nos 70 municípios, 0,082.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0,961; 1.041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Renda média do responsável: 0,42 no conjunto e 0,36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Renda média do responsável: 0,42 no conjunto e 0,36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0,374 no conjunto e 0,289 dentro dos municípios (critério: 0,30); MSA de 0,916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0,374 no conjunto e 0,289 dentro dos municípios (critério: 0,30); MSA de 0,916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0,9% dos pares a combinação era elegível sem ele e deixa de ser com ele; ao entrar, custa na mediana 0 setores e muda o KMO em 0,049.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51,4%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18,6%; tirando um município por vez, vai de 15,7% a 35,9%.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18,6%; tirando um município por vez, vai de 15,7% a 35,9%.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ESG · SANEAMENTO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Esgoto inadequado</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domicílios com esgotamento sanitário inadequado ou ausente.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domicílios com esgotamento sanitário inadequado ou ausente,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Sem rede de esgoto ou fossa séptica, o dejeto fica em fossa rudimentar, vala ou curso d'água, perto das casas: é a via de verminoses, leptospirose e doenças diarreicas.</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V00312 + V00313 + V00314 + V00315 + V00316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 Agregados_por_setores_caracteristicas_domicilio2_BR_20250417.csv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Sigilo parcial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quando o IBGE suprimiu só parte das parcelas do numerador, elas entram como zero, o que subestima o indicador; só fica ausente quando todas foram suprimidas (item d).</a:t>
            </a:r>
            <a:endParaRPr lang="en-US" sz="1350" dirty="0"/>
          </a:p>
        </p:txBody>
      </p:sp>
      <p:sp>
        <p:nvSpPr>
          <p:cNvPr id="7" name="Text 5"/>
          <p:cNvSpPr/>
          <p:nvPr/>
        </p:nvSpPr>
        <p:spPr>
          <a:xfrm>
            <a:off x="777240" y="242773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R$ 1.306,38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104.107 dos 104.108 setores (100,00%)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Esgoto inadequado: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Nordeste (0,01%); a menor, no Norte (0,0%).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(0,082) e a mediana (0,000) se afastam: assimetria de 2,98. Em 72,5%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Esgoto inadequado: número de setores em cada faixa de valor (104.107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(0,082) e a mediana (0,000) se afastam: assimetria de 2,98. Em 72,5%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Esgoto inadequado: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20.901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Esgoto inadequado: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0,018.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percentis.png">    </p:cNvPr>
          <p:cNvPicPr>
            <a:picLocks noChangeAspect="1"/>
          </p:cNvPicPr>
          <p:nvPr/>
        </p:nvPicPr>
        <p:blipFill>
          <a:blip r:embed="rId1"/>
          <a:stretch>
            <a:fillRect/>
          </a:stretch>
        </p:blipFill>
        <p:spPr>
          <a:xfrm>
            <a:off x="777240" y="1298448"/>
            <a:ext cx="6675120" cy="4100635"/>
          </a:xfrm>
          <a:prstGeom prst="rect">
            <a:avLst/>
          </a:prstGeom>
        </p:spPr>
      </p:pic>
      <p:sp>
        <p:nvSpPr>
          <p:cNvPr id="6" name="Text 3"/>
          <p:cNvSpPr/>
          <p:nvPr/>
        </p:nvSpPr>
        <p:spPr>
          <a:xfrm>
            <a:off x="777240" y="545394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Esgoto inadequado: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(0,961).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(0,238); a menor, a do Sul (0,029).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regiao.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Esgoto inadequado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(0,238); a menor, a do Sul (0,029).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(0,202); a menor, a dos de mais de 500 mil (0,079).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porte.png">    </p:cNvPr>
          <p:cNvPicPr>
            <a:picLocks noChangeAspect="1"/>
          </p:cNvPicPr>
          <p:nvPr/>
        </p:nvPicPr>
        <p:blipFill>
          <a:blip r:embed="rId1"/>
          <a:stretch>
            <a:fillRect/>
          </a:stretch>
        </p:blipFill>
        <p:spPr>
          <a:xfrm>
            <a:off x="777240" y="1298448"/>
            <a:ext cx="6675120" cy="3900952"/>
          </a:xfrm>
          <a:prstGeom prst="rect">
            <a:avLst/>
          </a:prstGeom>
        </p:spPr>
      </p:pic>
      <p:sp>
        <p:nvSpPr>
          <p:cNvPr id="6" name="Text 3"/>
          <p:cNvSpPr/>
          <p:nvPr/>
        </p:nvSpPr>
        <p:spPr>
          <a:xfrm>
            <a:off x="777240" y="525426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Esgoto inadequado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(0,202); a menor, a dos de mais de 500 mil (0,079).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Vicentinópolis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0,980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0,979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0,980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0,942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0,971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Santa Maria do 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Urandi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0,765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0,690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0,479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Chapada dos Guimarães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Salto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Canoas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Itapetinga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Tabatinga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Araçatuba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Igarapava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Vicentinópolis (0,980, 11 setores); menor: São Caetano do Sul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municipios.png">    </p:cNvPr>
          <p:cNvPicPr>
            <a:picLocks noChangeAspect="1"/>
          </p:cNvPicPr>
          <p:nvPr/>
        </p:nvPicPr>
        <p:blipFill>
          <a:blip r:embed="rId1"/>
          <a:stretch>
            <a:fillRect/>
          </a:stretch>
        </p:blipFill>
        <p:spPr>
          <a:xfrm>
            <a:off x="1472279" y="1298448"/>
            <a:ext cx="5285042"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Esgoto inadequado: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35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Canoas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Brasília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Chapada dos Guimarães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Caetano do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0,218 (Autazes) a 0,985 (Araçatuba).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desigualdade.png">    </p:cNvPr>
          <p:cNvPicPr>
            <a:picLocks noChangeAspect="1"/>
          </p:cNvPicPr>
          <p:nvPr/>
        </p:nvPicPr>
        <p:blipFill>
          <a:blip r:embed="rId1"/>
          <a:stretch>
            <a:fillRect/>
          </a:stretch>
        </p:blipFill>
        <p:spPr>
          <a:xfrm>
            <a:off x="777240" y="1298448"/>
            <a:ext cx="6675120" cy="4155419"/>
          </a:xfrm>
          <a:prstGeom prst="rect">
            <a:avLst/>
          </a:prstGeom>
        </p:spPr>
      </p:pic>
      <p:sp>
        <p:nvSpPr>
          <p:cNvPr id="6" name="Text 3"/>
          <p:cNvSpPr/>
          <p:nvPr/>
        </p:nvSpPr>
        <p:spPr>
          <a:xfrm>
            <a:off x="777240" y="550873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Esgoto inadequado: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0,218 (Autazes) a 0,985 (Araçatuba).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0,337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0,214 nos setores de favela e de 0,052 fora delas (razão de 4,1).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favela.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Esgoto inadequado: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0,214 nos setores de favela e de 0,052 fora delas (razão de 4,1).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gradiente.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Esgoto inadequado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0,227; no decil 10, 0,011.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347.391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0,162; nos 70 municípios, 0,082.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Esgoto inadequado: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0,162; nos 70 municípios, 0,082.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0,961; 1.041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0,42 no conjunto e 0,36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0,42 no conjunto e 0,36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0,374 no conjunto e 0,289 dentro dos municípios (critério: 0,30); MSA de 0,916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cargas.png">    </p:cNvPr>
          <p:cNvPicPr>
            <a:picLocks noChangeAspect="1"/>
          </p:cNvPicPr>
          <p:nvPr/>
        </p:nvPicPr>
        <p:blipFill>
          <a:blip r:embed="rId1"/>
          <a:stretch>
            <a:fillRect/>
          </a:stretch>
        </p:blipFill>
        <p:spPr>
          <a:xfrm>
            <a:off x="777240" y="1298448"/>
            <a:ext cx="6675120" cy="3897985"/>
          </a:xfrm>
          <a:prstGeom prst="rect">
            <a:avLst/>
          </a:prstGeom>
        </p:spPr>
      </p:pic>
      <p:sp>
        <p:nvSpPr>
          <p:cNvPr id="6" name="Text 3"/>
          <p:cNvSpPr/>
          <p:nvPr/>
        </p:nvSpPr>
        <p:spPr>
          <a:xfrm>
            <a:off x="777240" y="52512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Esgoto inadequado: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0,374 no conjunto e 0,289 dentro dos municípios (critério: 0,30); MSA de 0,916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0,9% dos pares a combinação era elegível sem ele e deixa de ser com ele; ao entrar, custa na mediana 0 setores e muda o KMO em 0,049.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Esgoto inadequado: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51,4%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18,6%; tirando um município por vez, vai de 15,7% a 35,9%.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ESG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Esgoto inadequado: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18,6%; tirando um município por vez, vai de 15,7% a 35,9%.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(0,082) e a mediana (0,000) se afastam: assimetria de 2,98. Em 72,5% dos setores o valor é zero.</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104.107 dos 104.108 setores (100,00%)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(0,238); a menor, a do Sul (0,029).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0,227; no decil 10, 0,011.</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Renda média do responsável: 0,42 no conjunto e 0,36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0,297 dentro dos municípios; atende a 2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ESG-38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Esgoto inadequado</dc:title>
  <dc:subject>PptxGenJS Presentation</dc:subject>
  <dc:creator>Pedro Dias Soares</dc:creator>
  <cp:lastModifiedBy>Pedro Dias Soares</cp:lastModifiedBy>
  <cp:revision>1</cp:revision>
  <dcterms:created xsi:type="dcterms:W3CDTF">2026-10-22T23:26:07Z</dcterms:created>
  <dcterms:modified xsi:type="dcterms:W3CDTF">2026-10-22T23:26:07Z</dcterms:modified>
</cp:coreProperties>
</file>