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[AGU-01] Água inadequada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[AGU-06] 100,0%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104.108 dos 104.108 setores (100,0%)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Nenhum setor está sem o dado, em nenhuma região.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(0,070) e a mediana (0,000) se afastam: assimetria de 3,42. Em 74,2%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(0,070) e a mediana (0,000) se afastam: assimetria de 3,42. Em 74,2%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21.532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0,000; três quartos, até 0,012.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(0,000) ao 99 (0,975).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(0,323); a menor, a do Sul (0,020).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(0,323); a menor, a do Sul (0,020).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100 a 500 mil (0,131); a menor, a dos de mais de 500 mil (0,064).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100 a 500 mil (0,131); a menor, a dos de mais de 500 mil (0,064).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Portel (0,869, 26 setores); menor: São Raimundo do Doca Bezerra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43 dos 70 municípios têm mediana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0,311 (Ananindeua) a 0,986 (Belo Horizonte).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0,311 (Ananindeua) a 0,986 (Belo Horizonte).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0,108 nos setores de favela e de 0,061 fora delas (razão de 1,8).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0,108 nos setores de favela e de 0,061 fora delas (razão de 1,8).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0,102; no decil 10, 0,068.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0,096; nos 70 municípios, 0,070.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0,096; nos 70 municípios, 0,070.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0,975; 1.042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Sem água canalizada: 0,47 no conjunto e 0,28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Sem água canalizada: 0,47 no conjunto e 0,28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0,365 no conjunto e 0,177 dentro dos municípios (critério: 0,30); MSA de 0,783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0,365 no conjunto e 0,177 dentro dos municípios (critério: 0,30); MSA de 0,783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1,2% dos pares a combinação era elegível sem ele e deixa de ser com ele; ao entrar, custa na mediana 0 setores e muda o KMO em 0,002.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95,8%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20,8%; tirando um município por vez, vai de 3,4% a 24,2%.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20,8%; tirando um município por vez, vai de 3,4% a 24,2%.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[AGU-38]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AGU · SANEAMENTO</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Água inadequada</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domicílios com abastecimento de água inadequado ou ausente.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domicílios com abastecimento de água inadequado ou ausente,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Água que não vem da rede geral (poço, nascente, carro-pipa, rio) tem qualidade e regularidade incertas, e expõe os moradores a doenças de veiculação hídrica, como diarreias e hepatite A.</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V00112 + V00113 + V00114 + V00115 + V00116 + V00117 + V00118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 Agregados_por_setores_caracteristicas_domicilio2_BR_20250417.csv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ocupados (V00001), equivalente ao de 2012; moradores de domicílios coletivos não entram (relatório, item a).</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Sigilo parcial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quando o IBGE suprimiu só parte das parcelas do numerador, elas entram como zero, o que subestima o indicador; só fica ausente quando todas foram suprimidas (item d).</a:t>
            </a:r>
            <a:endParaRPr lang="en-US" sz="1350" dirty="0"/>
          </a:p>
        </p:txBody>
      </p:sp>
      <p:sp>
        <p:nvSpPr>
          <p:cNvPr id="7" name="Text 5"/>
          <p:cNvSpPr/>
          <p:nvPr/>
        </p:nvSpPr>
        <p:spPr>
          <a:xfrm>
            <a:off x="777240" y="242773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100,0%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Água inadequada: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Nenhum setor está sem o dado, em nenhuma região.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(0,070) e a mediana (0,000) se afastam: assimetria de 3,42. Em 74,2% dos setores o valor é zero.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histograma.png">    </p:cNvPr>
          <p:cNvPicPr>
            <a:picLocks noChangeAspect="1"/>
          </p:cNvPicPr>
          <p:nvPr/>
        </p:nvPicPr>
        <p:blipFill>
          <a:blip r:embed="rId1"/>
          <a:stretch>
            <a:fillRect/>
          </a:stretch>
        </p:blipFill>
        <p:spPr>
          <a:xfrm>
            <a:off x="777240" y="1298448"/>
            <a:ext cx="6675120" cy="3988453"/>
          </a:xfrm>
          <a:prstGeom prst="rect">
            <a:avLst/>
          </a:prstGeom>
        </p:spPr>
      </p:pic>
      <p:sp>
        <p:nvSpPr>
          <p:cNvPr id="6" name="Text 3"/>
          <p:cNvSpPr/>
          <p:nvPr/>
        </p:nvSpPr>
        <p:spPr>
          <a:xfrm>
            <a:off x="777240" y="534176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Água inadequada: número de setores em cada faixa de valor (104.108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(0,070) e a mediana (0,000) se afastam: assimetria de 3,42. Em 74,2% dos setores o valor é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boxplot.png">    </p:cNvPr>
          <p:cNvPicPr>
            <a:picLocks noChangeAspect="1"/>
          </p:cNvPicPr>
          <p:nvPr/>
        </p:nvPicPr>
        <p:blipFill>
          <a:blip r:embed="rId1"/>
          <a:stretch>
            <a:fillRect/>
          </a:stretch>
        </p:blipFill>
        <p:spPr>
          <a:xfrm>
            <a:off x="777240" y="1298448"/>
            <a:ext cx="6675120" cy="3187428"/>
          </a:xfrm>
          <a:prstGeom prst="rect">
            <a:avLst/>
          </a:prstGeom>
        </p:spPr>
      </p:pic>
      <p:sp>
        <p:nvSpPr>
          <p:cNvPr id="6" name="Text 3"/>
          <p:cNvSpPr/>
          <p:nvPr/>
        </p:nvSpPr>
        <p:spPr>
          <a:xfrm>
            <a:off x="777240" y="454074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Água inadequada: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21.532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acumulada.png">    </p:cNvPr>
          <p:cNvPicPr>
            <a:picLocks noChangeAspect="1"/>
          </p:cNvPicPr>
          <p:nvPr/>
        </p:nvPicPr>
        <p:blipFill>
          <a:blip r:embed="rId1"/>
          <a:stretch>
            <a:fillRect/>
          </a:stretch>
        </p:blipFill>
        <p:spPr>
          <a:xfrm>
            <a:off x="777240" y="1298448"/>
            <a:ext cx="6675120" cy="4107766"/>
          </a:xfrm>
          <a:prstGeom prst="rect">
            <a:avLst/>
          </a:prstGeom>
        </p:spPr>
      </p:pic>
      <p:sp>
        <p:nvSpPr>
          <p:cNvPr id="6" name="Text 3"/>
          <p:cNvSpPr/>
          <p:nvPr/>
        </p:nvSpPr>
        <p:spPr>
          <a:xfrm>
            <a:off x="777240" y="546107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Água inadequada: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0,000; três quartos, até 0,012.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percentis.png">    </p:cNvPr>
          <p:cNvPicPr>
            <a:picLocks noChangeAspect="1"/>
          </p:cNvPicPr>
          <p:nvPr/>
        </p:nvPicPr>
        <p:blipFill>
          <a:blip r:embed="rId1"/>
          <a:stretch>
            <a:fillRect/>
          </a:stretch>
        </p:blipFill>
        <p:spPr>
          <a:xfrm>
            <a:off x="777240" y="1298448"/>
            <a:ext cx="6675120" cy="4077659"/>
          </a:xfrm>
          <a:prstGeom prst="rect">
            <a:avLst/>
          </a:prstGeom>
        </p:spPr>
      </p:pic>
      <p:sp>
        <p:nvSpPr>
          <p:cNvPr id="6" name="Text 3"/>
          <p:cNvSpPr/>
          <p:nvPr/>
        </p:nvSpPr>
        <p:spPr>
          <a:xfrm>
            <a:off x="777240" y="543097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Água inadequada: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(0,000) ao 99 (0,975).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(0,323); a menor, a do Sul (0,020).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regiao.png">    </p:cNvPr>
          <p:cNvPicPr>
            <a:picLocks noChangeAspect="1"/>
          </p:cNvPicPr>
          <p:nvPr/>
        </p:nvPicPr>
        <p:blipFill>
          <a:blip r:embed="rId1"/>
          <a:stretch>
            <a:fillRect/>
          </a:stretch>
        </p:blipFill>
        <p:spPr>
          <a:xfrm>
            <a:off x="777240" y="1298448"/>
            <a:ext cx="6675120" cy="3885518"/>
          </a:xfrm>
          <a:prstGeom prst="rect">
            <a:avLst/>
          </a:prstGeom>
        </p:spPr>
      </p:pic>
      <p:sp>
        <p:nvSpPr>
          <p:cNvPr id="6" name="Text 3"/>
          <p:cNvSpPr/>
          <p:nvPr/>
        </p:nvSpPr>
        <p:spPr>
          <a:xfrm>
            <a:off x="777240" y="523883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Água inadequada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(0,323); a menor, a do Sul (0,020).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75,3%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100 a 500 mil (0,131); a menor, a dos de mais de 500 mil (0,064).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porte.png">    </p:cNvPr>
          <p:cNvPicPr>
            <a:picLocks noChangeAspect="1"/>
          </p:cNvPicPr>
          <p:nvPr/>
        </p:nvPicPr>
        <p:blipFill>
          <a:blip r:embed="rId1"/>
          <a:stretch>
            <a:fillRect/>
          </a:stretch>
        </p:blipFill>
        <p:spPr>
          <a:xfrm>
            <a:off x="777240" y="1298448"/>
            <a:ext cx="6675120" cy="3847514"/>
          </a:xfrm>
          <a:prstGeom prst="rect">
            <a:avLst/>
          </a:prstGeom>
        </p:spPr>
      </p:pic>
      <p:sp>
        <p:nvSpPr>
          <p:cNvPr id="6" name="Text 3"/>
          <p:cNvSpPr/>
          <p:nvPr/>
        </p:nvSpPr>
        <p:spPr>
          <a:xfrm>
            <a:off x="777240" y="520082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Água inadequada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100 a 500 mil (0,131); a menor, a dos de mais de 500 mil (0,064).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0,869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0,767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Ananindeua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0,643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0,605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0,643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0,439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Duque de Caxias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1.788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0,395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Camaragibe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0,342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0,196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Luís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1.674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Belém</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2.004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Salvador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4.476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Salinas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5.113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Groaíras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Itapetinga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Urandi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Portel (0,869, 26 setores); menor: São Raimundo do Doca Bezerra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municipios.png">    </p:cNvPr>
          <p:cNvPicPr>
            <a:picLocks noChangeAspect="1"/>
          </p:cNvPicPr>
          <p:nvPr/>
        </p:nvPicPr>
        <p:blipFill>
          <a:blip r:embed="rId1"/>
          <a:stretch>
            <a:fillRect/>
          </a:stretch>
        </p:blipFill>
        <p:spPr>
          <a:xfrm>
            <a:off x="1466768" y="1298448"/>
            <a:ext cx="5296064"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Água inadequada: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43 dos 70 municípios têm mediana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26.512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Bernardo do Campo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Itapetinga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Mauá</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Porto Alegre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Caetano do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Goianésia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Rosário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Ananindeua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0,311 (Ananindeua) a 0,986 (Belo Horizonte).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desigualdade.png">    </p:cNvPr>
          <p:cNvPicPr>
            <a:picLocks noChangeAspect="1"/>
          </p:cNvPicPr>
          <p:nvPr/>
        </p:nvPicPr>
        <p:blipFill>
          <a:blip r:embed="rId1"/>
          <a:stretch>
            <a:fillRect/>
          </a:stretch>
        </p:blipFill>
        <p:spPr>
          <a:xfrm>
            <a:off x="777240" y="1298448"/>
            <a:ext cx="6675120" cy="4029370"/>
          </a:xfrm>
          <a:prstGeom prst="rect">
            <a:avLst/>
          </a:prstGeom>
        </p:spPr>
      </p:pic>
      <p:sp>
        <p:nvSpPr>
          <p:cNvPr id="6" name="Text 3"/>
          <p:cNvSpPr/>
          <p:nvPr/>
        </p:nvSpPr>
        <p:spPr>
          <a:xfrm>
            <a:off x="777240" y="538268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Água inadequada: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0,311 (Ananindeua) a 0,986 (Belo Horizonte).</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0,108 nos setores de favela e de 0,061 fora delas (razão de 1,8).</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favela.png">    </p:cNvPr>
          <p:cNvPicPr>
            <a:picLocks noChangeAspect="1"/>
          </p:cNvPicPr>
          <p:nvPr/>
        </p:nvPicPr>
        <p:blipFill>
          <a:blip r:embed="rId1"/>
          <a:stretch>
            <a:fillRect/>
          </a:stretch>
        </p:blipFill>
        <p:spPr>
          <a:xfrm>
            <a:off x="777240" y="1298448"/>
            <a:ext cx="6675120" cy="3840480"/>
          </a:xfrm>
          <a:prstGeom prst="rect">
            <a:avLst/>
          </a:prstGeom>
        </p:spPr>
      </p:pic>
      <p:sp>
        <p:nvSpPr>
          <p:cNvPr id="6" name="Text 3"/>
          <p:cNvSpPr/>
          <p:nvPr/>
        </p:nvSpPr>
        <p:spPr>
          <a:xfrm>
            <a:off x="777240" y="51937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Água inadequada: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0,108 nos setores de favela e de 0,061 fora delas (razão de 1,8).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gradiente.png">    </p:cNvPr>
          <p:cNvPicPr>
            <a:picLocks noChangeAspect="1"/>
          </p:cNvPicPr>
          <p:nvPr/>
        </p:nvPicPr>
        <p:blipFill>
          <a:blip r:embed="rId1"/>
          <a:stretch>
            <a:fillRect/>
          </a:stretch>
        </p:blipFill>
        <p:spPr>
          <a:xfrm>
            <a:off x="777240" y="1298448"/>
            <a:ext cx="6675120" cy="4037428"/>
          </a:xfrm>
          <a:prstGeom prst="rect">
            <a:avLst/>
          </a:prstGeom>
        </p:spPr>
      </p:pic>
      <p:sp>
        <p:nvSpPr>
          <p:cNvPr id="6" name="Text 3"/>
          <p:cNvSpPr/>
          <p:nvPr/>
        </p:nvSpPr>
        <p:spPr>
          <a:xfrm>
            <a:off x="777240" y="539074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Água inadequada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0,102; no decil 10, 0,068.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347.400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0,096; nos 70 municípios, 0,070.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brasil.png">    </p:cNvPr>
          <p:cNvPicPr>
            <a:picLocks noChangeAspect="1"/>
          </p:cNvPicPr>
          <p:nvPr/>
        </p:nvPicPr>
        <p:blipFill>
          <a:blip r:embed="rId1"/>
          <a:stretch>
            <a:fillRect/>
          </a:stretch>
        </p:blipFill>
        <p:spPr>
          <a:xfrm>
            <a:off x="777240" y="1298448"/>
            <a:ext cx="6675120" cy="4107766"/>
          </a:xfrm>
          <a:prstGeom prst="rect">
            <a:avLst/>
          </a:prstGeom>
        </p:spPr>
      </p:pic>
      <p:sp>
        <p:nvSpPr>
          <p:cNvPr id="6" name="Text 3"/>
          <p:cNvSpPr/>
          <p:nvPr/>
        </p:nvSpPr>
        <p:spPr>
          <a:xfrm>
            <a:off x="777240" y="546107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Água inadequada: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0,096; nos 70 municípios, 0,070.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0,975; 1.042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Sem água canalizada: 0,47 no conjunto e 0,28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correlacao.png">    </p:cNvPr>
          <p:cNvPicPr>
            <a:picLocks noChangeAspect="1"/>
          </p:cNvPicPr>
          <p:nvPr/>
        </p:nvPicPr>
        <p:blipFill>
          <a:blip r:embed="rId1"/>
          <a:stretch>
            <a:fillRect/>
          </a:stretch>
        </p:blipFill>
        <p:spPr>
          <a:xfrm>
            <a:off x="777240" y="1298448"/>
            <a:ext cx="6675120" cy="3408936"/>
          </a:xfrm>
          <a:prstGeom prst="rect">
            <a:avLst/>
          </a:prstGeom>
        </p:spPr>
      </p:pic>
      <p:sp>
        <p:nvSpPr>
          <p:cNvPr id="6" name="Text 3"/>
          <p:cNvSpPr/>
          <p:nvPr/>
        </p:nvSpPr>
        <p:spPr>
          <a:xfrm>
            <a:off x="777240" y="476224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Sem água canalizada: 0,47 no conjunto e 0,28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0,365 no conjunto e 0,177 dentro dos municípios (critério: 0,30); MSA de 0,783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cargas.png">    </p:cNvPr>
          <p:cNvPicPr>
            <a:picLocks noChangeAspect="1"/>
          </p:cNvPicPr>
          <p:nvPr/>
        </p:nvPicPr>
        <p:blipFill>
          <a:blip r:embed="rId1"/>
          <a:stretch>
            <a:fillRect/>
          </a:stretch>
        </p:blipFill>
        <p:spPr>
          <a:xfrm>
            <a:off x="777240" y="1298448"/>
            <a:ext cx="6675120" cy="3840480"/>
          </a:xfrm>
          <a:prstGeom prst="rect">
            <a:avLst/>
          </a:prstGeom>
        </p:spPr>
      </p:pic>
      <p:sp>
        <p:nvSpPr>
          <p:cNvPr id="6" name="Text 3"/>
          <p:cNvSpPr/>
          <p:nvPr/>
        </p:nvSpPr>
        <p:spPr>
          <a:xfrm>
            <a:off x="777240" y="51937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Água inadequada: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0,365 no conjunto e 0,177 dentro dos municípios (critério: 0,30); MSA de 0,783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1,2% dos pares a combinação era elegível sem ele e deixa de ser com ele; ao entrar, custa na mediana 0 setores e muda o KMO em 0,002.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Água inadequada: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95,8%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20,8%; tirando um município por vez, vai de 3,4% a 24,2%.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AGU_peso_estabilidade.png">    </p:cNvPr>
          <p:cNvPicPr>
            <a:picLocks noChangeAspect="1"/>
          </p:cNvPicPr>
          <p:nvPr/>
        </p:nvPicPr>
        <p:blipFill>
          <a:blip r:embed="rId1"/>
          <a:stretch>
            <a:fillRect/>
          </a:stretch>
        </p:blipFill>
        <p:spPr>
          <a:xfrm>
            <a:off x="777240" y="1298448"/>
            <a:ext cx="6675120" cy="4106665"/>
          </a:xfrm>
          <a:prstGeom prst="rect">
            <a:avLst/>
          </a:prstGeom>
        </p:spPr>
      </p:pic>
      <p:sp>
        <p:nvSpPr>
          <p:cNvPr id="6" name="Text 3"/>
          <p:cNvSpPr/>
          <p:nvPr/>
        </p:nvSpPr>
        <p:spPr>
          <a:xfrm>
            <a:off x="777240" y="545997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Água inadequada: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20,8%; tirando um município por vez, vai de 3,4% a 24,2%.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(0,070) e a mediana (0,000) se afastam: assimetria de 3,42. Em 74,2% dos setores o valor é zero.</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(0,323); a menor, a do Sul (0,020).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0,102; no decil 10, 0,068.</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Sem água canalizada: 0,47 no conjunto e 0,28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0,128 dentro dos municípios; atende a 2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AGU-38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Água inadequada</dc:title>
  <dc:subject>PptxGenJS Presentation</dc:subject>
  <dc:creator>Pedro Dias Soares</dc:creator>
  <cp:lastModifiedBy>Pedro Dias Soares</cp:lastModifiedBy>
  <cp:revision>1</cp:revision>
  <dcterms:created xsi:type="dcterms:W3CDTF">2026-10-22T19:30:45Z</dcterms:created>
  <dcterms:modified xsi:type="dcterms:W3CDTF">2026-10-22T19:30:45Z</dcterms:modified>
</cp:coreProperties>
</file>