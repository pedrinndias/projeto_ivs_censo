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[PPI-01] Preta, parda ou indígena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[PPI-06] 100,00%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104.106 dos 104.108 setores (100,00%) têm o dado. A ausência é desprezível.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A maior proporção sem dado é no Sudeste (0,00%); a menor, no Norte (0,0%).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(0,527) e a mediana (0,572) estão próximas: assimetria de -0,39.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(0,527) e a mediana (0,572) estão próximas: assimetria de -0,39.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0 setores ficam além do bigode direito.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0,572; três quartos, até 0,704.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(0,572) ao 99 (0,932).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Norte (0,748); a menor, a do Sul (0,246).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Norte (0,748); a menor, a do Sul (0,246).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até 100 mil (0,579); a menor, a dos de 100 a 500 mil (0,503).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até 100 mil (0,579); a menor, a dos de 100 a 500 mil (0,503).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Autazes (0,832, 43 setores); menor: Taió (0,163).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A mediana vai de 0,160 a 0,889.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56 municípios com pelo menos 30 setores, o Gini vai de 0,034 (Rosário) a 0,370 (Porto Alegre).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56 municípios com pelo menos 30 setores, o Gini vai de 0,034 (Rosário) a 0,370 (Porto Alegre).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0,735 nos setores de favela e de 0,479 fora delas (razão de 1,5).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0,735 nos setores de favela e de 0,479 fora delas (razão de 1,5).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[PPI-23] O indicador ao longo da renda
O que é. Os setores de cada município ordenados pela renda e divididos em 10 grupos iguais (decis); o gráfico dá a média e a mediana do indicador em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0,713; no decil 10, 0,249.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0,524; nos 70 municípios, 0,527.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0,524; nos 70 municípios, 0,527.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0,932; 1.042 setores ficam acima dele.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Renda média do responsável: 0,79 no conjunto e 0,84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Renda média do responsável: 0,79 no conjunto e 0,84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0,633 no conjunto e 0,772 dentro dos municípios (critério: 0,30); MSA de 0,853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0,633 no conjunto e 0,772 dentro dos municípios (critério: 0,30); MSA de 0,853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0,0% dos pares a combinação era elegível sem ele e deixa de ser com ele; ao entrar, custa na mediana 1 setores e muda o KMO em 0,071.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1,6%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No IVS proposto o peso é 13,4%; tirando um município por vez, vai de 12,5% a 17,6%.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[PPI-35] O peso sem um município por vez
O que é. O peso do indicador recalculado 70 vezes, cada vez sem um dos municípios.
Para que serve. É a medida de incerteza adotada (a reamostragem de setores subestimava). Se um município sozinho muda muito o peso, a fatorial depende dele.
Como ler. Histograma estreito em torno da linha vermelha: peso estável. Barras isoladas longe dela: um município que puxa o peso.
O que mostra. No IVS proposto o peso é 13,4%; tirando um município por vez, vai de 12,5% a 17,6%.
Fontes: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[PPI-36]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[PPI-37]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[PPI-38]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PPI · SOCIOECONÔMICA</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Preta, parda ou indígena</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Proporção de pessoas de cor/raça preta, parda ou indígena. Compõe o IVS (Quadro 1 do relatório).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Proporção de pessoas de cor/raça preta, parda ou indígena, em proporção de 0 a 1.</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Pessoas pretas, pardas e indígenas enfrentam desigualdade estrutural no acesso a renda, moradia e serviços. Entra como marcador dessa desigualdade, como no IVS de 2012.</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como no IVS de 2012.</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Compõe o IVS de 2012 e o núcleo desta análise (padrão P2).</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V01318 + V01320 + V01321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proporção de 0 a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Agregados_por_setores_basico_BR_20250417.csv; Agregados_por_setores_cor_ou_raca_BR.csv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como está</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Denominador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população residente total; moradores de domicílios coletivos entram (item a).</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Sigilo parcial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quando o IBGE suprimiu só parte das parcelas do numerador, elas entram como zero, o que subestima o indicador; só fica ausente quando todas foram suprimidas (item d).</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100,00%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R$ 2.572,16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R$ 25.919,80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104.106 dos 104.108 setores (100,00%) têm o dado. A ausência é desprezível.</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ausente_regiao.png">    </p:cNvPr>
          <p:cNvPicPr>
            <a:picLocks noChangeAspect="1"/>
          </p:cNvPicPr>
          <p:nvPr/>
        </p:nvPicPr>
        <p:blipFill>
          <a:blip r:embed="rId1"/>
          <a:stretch>
            <a:fillRect/>
          </a:stretch>
        </p:blipFill>
        <p:spPr>
          <a:xfrm>
            <a:off x="777240" y="1298448"/>
            <a:ext cx="6675120" cy="3847931"/>
          </a:xfrm>
          <a:prstGeom prst="rect">
            <a:avLst/>
          </a:prstGeom>
        </p:spPr>
      </p:pic>
      <p:sp>
        <p:nvSpPr>
          <p:cNvPr id="6" name="Text 3"/>
          <p:cNvSpPr/>
          <p:nvPr/>
        </p:nvSpPr>
        <p:spPr>
          <a:xfrm>
            <a:off x="777240" y="520124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proporção sem dado é no Sudeste (0,00%); a menor, no Norte (0,0%).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104.106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0,793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(0,527) e a mediana (0,572) estão próximas: assimetria de -0,39.</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histograma.png">    </p:cNvPr>
          <p:cNvPicPr>
            <a:picLocks noChangeAspect="1"/>
          </p:cNvPicPr>
          <p:nvPr/>
        </p:nvPicPr>
        <p:blipFill>
          <a:blip r:embed="rId1"/>
          <a:stretch>
            <a:fillRect/>
          </a:stretch>
        </p:blipFill>
        <p:spPr>
          <a:xfrm>
            <a:off x="777240" y="1298448"/>
            <a:ext cx="6675120" cy="4020482"/>
          </a:xfrm>
          <a:prstGeom prst="rect">
            <a:avLst/>
          </a:prstGeom>
        </p:spPr>
      </p:pic>
      <p:sp>
        <p:nvSpPr>
          <p:cNvPr id="6" name="Text 3"/>
          <p:cNvSpPr/>
          <p:nvPr/>
        </p:nvSpPr>
        <p:spPr>
          <a:xfrm>
            <a:off x="777240" y="537379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número de setores em cada faixa de valor (104.106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(0,527) e a mediana (0,572) estão próximas: assimetria de -0,39.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boxplot.png">    </p:cNvPr>
          <p:cNvPicPr>
            <a:picLocks noChangeAspect="1"/>
          </p:cNvPicPr>
          <p:nvPr/>
        </p:nvPicPr>
        <p:blipFill>
          <a:blip r:embed="rId1"/>
          <a:stretch>
            <a:fillRect/>
          </a:stretch>
        </p:blipFill>
        <p:spPr>
          <a:xfrm>
            <a:off x="777240" y="1298448"/>
            <a:ext cx="6675120" cy="3172029"/>
          </a:xfrm>
          <a:prstGeom prst="rect">
            <a:avLst/>
          </a:prstGeom>
        </p:spPr>
      </p:pic>
      <p:sp>
        <p:nvSpPr>
          <p:cNvPr id="6" name="Text 3"/>
          <p:cNvSpPr/>
          <p:nvPr/>
        </p:nvSpPr>
        <p:spPr>
          <a:xfrm>
            <a:off x="777240" y="45253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0 setores ficam além do bigode direito.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acumulada.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proporção de setores com valor até cada ponto do eixo horizontal.</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0,572; três quartos, até 0,704.</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percentis.png">    </p:cNvPr>
          <p:cNvPicPr>
            <a:picLocks noChangeAspect="1"/>
          </p:cNvPicPr>
          <p:nvPr/>
        </p:nvPicPr>
        <p:blipFill>
          <a:blip r:embed="rId1"/>
          <a:stretch>
            <a:fillRect/>
          </a:stretch>
        </p:blipFill>
        <p:spPr>
          <a:xfrm>
            <a:off x="777240" y="1298448"/>
            <a:ext cx="6675120" cy="4086372"/>
          </a:xfrm>
          <a:prstGeom prst="rect">
            <a:avLst/>
          </a:prstGeom>
        </p:spPr>
      </p:pic>
      <p:sp>
        <p:nvSpPr>
          <p:cNvPr id="6" name="Text 3"/>
          <p:cNvSpPr/>
          <p:nvPr/>
        </p:nvSpPr>
        <p:spPr>
          <a:xfrm>
            <a:off x="777240" y="54396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(0,572) ao 99 (0,932).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0,748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0,770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61.987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0,474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0,646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0,246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9.490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0,565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0,680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(0,748); a menor, a do Sul (0,246).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regiao.png">    </p:cNvPr>
          <p:cNvPicPr>
            <a:picLocks noChangeAspect="1"/>
          </p:cNvPicPr>
          <p:nvPr/>
        </p:nvPicPr>
        <p:blipFill>
          <a:blip r:embed="rId1"/>
          <a:stretch>
            <a:fillRect/>
          </a:stretch>
        </p:blipFill>
        <p:spPr>
          <a:xfrm>
            <a:off x="777240" y="1298448"/>
            <a:ext cx="6675120" cy="3893820"/>
          </a:xfrm>
          <a:prstGeom prst="rect">
            <a:avLst/>
          </a:prstGeom>
        </p:spPr>
      </p:pic>
      <p:sp>
        <p:nvSpPr>
          <p:cNvPr id="6" name="Text 3"/>
          <p:cNvSpPr/>
          <p:nvPr/>
        </p:nvSpPr>
        <p:spPr>
          <a:xfrm>
            <a:off x="777240" y="524713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(0,748); a menor, a do Sul (0,246).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0,579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0,648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0,757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7.674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0,520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0,679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95.209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0,575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(0,579); a menor, a dos de 100 a 500 mil (0,503).</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porte.png">    </p:cNvPr>
          <p:cNvPicPr>
            <a:picLocks noChangeAspect="1"/>
          </p:cNvPicPr>
          <p:nvPr/>
        </p:nvPicPr>
        <p:blipFill>
          <a:blip r:embed="rId1"/>
          <a:stretch>
            <a:fillRect/>
          </a:stretch>
        </p:blipFill>
        <p:spPr>
          <a:xfrm>
            <a:off x="777240" y="1298448"/>
            <a:ext cx="6675120" cy="3900952"/>
          </a:xfrm>
          <a:prstGeom prst="rect">
            <a:avLst/>
          </a:prstGeom>
        </p:spPr>
      </p:pic>
      <p:sp>
        <p:nvSpPr>
          <p:cNvPr id="6" name="Text 3"/>
          <p:cNvSpPr/>
          <p:nvPr/>
        </p:nvSpPr>
        <p:spPr>
          <a:xfrm>
            <a:off x="777240" y="525426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(0,579); a menor, a dos de 100 a 500 mil (0,503).</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Autazes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0,846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Rosário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0,830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0,838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Salvador</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4.476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0,824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0,889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Itajuípe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0,823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0,813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0,792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Feira de Santana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997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0,813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0,829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Raimundo do Doca Bezerra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0,783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Placas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0,782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0,788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Ananindeua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0,763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0,773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José de Ribamar</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580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0,761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0,774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Salto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0,350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0,369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José dos Pinhais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0,345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0,349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Pato Branco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151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0,324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0,315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Porto Alegre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2.677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0,246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Curitiba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0,220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Canoas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645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0,201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 das Missões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0,189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0,178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Caetano do 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0,185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0,172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Charqueadas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0,179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0,167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Taió</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0,163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0,160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Autazes (0,832, 43 setores); menor: Taió (0,163).</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municipios.png">    </p:cNvPr>
          <p:cNvPicPr>
            <a:picLocks noChangeAspect="1"/>
          </p:cNvPicPr>
          <p:nvPr/>
        </p:nvPicPr>
        <p:blipFill>
          <a:blip r:embed="rId1"/>
          <a:stretch>
            <a:fillRect/>
          </a:stretch>
        </p:blipFill>
        <p:spPr>
          <a:xfrm>
            <a:off x="1472279" y="1298448"/>
            <a:ext cx="5285042"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mediana vai de 0,160 a 0,889.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Porto Alegre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0,370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Campinas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2.461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Curitiba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3.168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26.510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0,294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Caetano do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Bernardo do Campo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1.685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Pato Branco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Capelinha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Preta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Rosário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0,034 (Rosário) a 0,370 (Porto Alegre).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desigualdade.png">    </p:cNvPr>
          <p:cNvPicPr>
            <a:picLocks noChangeAspect="1"/>
          </p:cNvPicPr>
          <p:nvPr/>
        </p:nvPicPr>
        <p:blipFill>
          <a:blip r:embed="rId1"/>
          <a:stretch>
            <a:fillRect/>
          </a:stretch>
        </p:blipFill>
        <p:spPr>
          <a:xfrm>
            <a:off x="777240" y="1298448"/>
            <a:ext cx="6675120" cy="4212523"/>
          </a:xfrm>
          <a:prstGeom prst="rect">
            <a:avLst/>
          </a:prstGeom>
        </p:spPr>
      </p:pic>
      <p:sp>
        <p:nvSpPr>
          <p:cNvPr id="6" name="Text 3"/>
          <p:cNvSpPr/>
          <p:nvPr/>
        </p:nvSpPr>
        <p:spPr>
          <a:xfrm>
            <a:off x="777240" y="556583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0,034 (Rosário) a 0,370 (Porto Alegre).</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0,735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0,743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84.654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0,479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0,655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0,735 nos setores de favela e de 0,479 fora delas (razão de 1,5).</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favela.png">    </p:cNvPr>
          <p:cNvPicPr>
            <a:picLocks noChangeAspect="1"/>
          </p:cNvPicPr>
          <p:nvPr/>
        </p:nvPicPr>
        <p:blipFill>
          <a:blip r:embed="rId1"/>
          <a:stretch>
            <a:fillRect/>
          </a:stretch>
        </p:blipFill>
        <p:spPr>
          <a:xfrm>
            <a:off x="777240" y="1298448"/>
            <a:ext cx="6675120" cy="3893820"/>
          </a:xfrm>
          <a:prstGeom prst="rect">
            <a:avLst/>
          </a:prstGeom>
        </p:spPr>
      </p:pic>
      <p:sp>
        <p:nvSpPr>
          <p:cNvPr id="6" name="Text 3"/>
          <p:cNvSpPr/>
          <p:nvPr/>
        </p:nvSpPr>
        <p:spPr>
          <a:xfrm>
            <a:off x="777240" y="524713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0,735 nos setores de favela e de 0,479 fora delas (razão de 1,5).</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indicador ao longo da renda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gradiente.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por decil de renda do setor no município (1 = mais pobre).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renda e divididos em 10 grupos iguais (decis); o gráfico dá a média e a mediana do indicador em cada grupo.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52628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0,713; no decil 10, 0,249.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347.396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0,560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104.106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0,572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0,524; nos 70 municípios, 0,527.</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brasil.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distribuição acumulada no Brasil urbano e nos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0,524; nos 70 municípios, 0,527.</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Belém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Fortaleza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Fortaleza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Fortaleza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Fortaleza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Fortaleza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Fortaleza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Feira de Santana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0,932; 1.042 setores ficam acima dele.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Renda média do responsável: 0,79 no conjunto e 0,84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correlacao.png">    </p:cNvPr>
          <p:cNvPicPr>
            <a:picLocks noChangeAspect="1"/>
          </p:cNvPicPr>
          <p:nvPr/>
        </p:nvPicPr>
        <p:blipFill>
          <a:blip r:embed="rId1"/>
          <a:stretch>
            <a:fillRect/>
          </a:stretch>
        </p:blipFill>
        <p:spPr>
          <a:xfrm>
            <a:off x="777240" y="1298448"/>
            <a:ext cx="6675120" cy="3429472"/>
          </a:xfrm>
          <a:prstGeom prst="rect">
            <a:avLst/>
          </a:prstGeom>
        </p:spPr>
      </p:pic>
      <p:sp>
        <p:nvSpPr>
          <p:cNvPr id="6" name="Text 3"/>
          <p:cNvSpPr/>
          <p:nvPr/>
        </p:nvSpPr>
        <p:spPr>
          <a:xfrm>
            <a:off x="777240" y="47827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Renda média do responsável: 0,79 no conjunto e 0,84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0,878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0,633 no conjunto e 0,772 dentro dos municípios (critério: 0,30); MSA de 0,853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cargas.png">    </p:cNvPr>
          <p:cNvPicPr>
            <a:picLocks noChangeAspect="1"/>
          </p:cNvPicPr>
          <p:nvPr/>
        </p:nvPicPr>
        <p:blipFill>
          <a:blip r:embed="rId1"/>
          <a:stretch>
            <a:fillRect/>
          </a:stretch>
        </p:blipFill>
        <p:spPr>
          <a:xfrm>
            <a:off x="777240" y="1298448"/>
            <a:ext cx="6675120" cy="3840480"/>
          </a:xfrm>
          <a:prstGeom prst="rect">
            <a:avLst/>
          </a:prstGeom>
        </p:spPr>
      </p:pic>
      <p:sp>
        <p:nvSpPr>
          <p:cNvPr id="6" name="Text 3"/>
          <p:cNvSpPr/>
          <p:nvPr/>
        </p:nvSpPr>
        <p:spPr>
          <a:xfrm>
            <a:off x="777240" y="519379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0,633 no conjunto e 0,772 dentro dos municípios (critério: 0,30); MSA de 0,853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0,672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0,777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0,0% dos pares a combinação era elegível sem ele e deixa de ser com ele; ao entrar, custa na mediana 1 setores e muda o KMO em 0,071.</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comunalidade.png">    </p:cNvPr>
          <p:cNvPicPr>
            <a:picLocks noChangeAspect="1"/>
          </p:cNvPicPr>
          <p:nvPr/>
        </p:nvPicPr>
        <p:blipFill>
          <a:blip r:embed="rId1"/>
          <a:stretch>
            <a:fillRect/>
          </a:stretch>
        </p:blipFill>
        <p:spPr>
          <a:xfrm>
            <a:off x="777240" y="1298448"/>
            <a:ext cx="6675120" cy="4067430"/>
          </a:xfrm>
          <a:prstGeom prst="rect">
            <a:avLst/>
          </a:prstGeom>
        </p:spPr>
      </p:pic>
      <p:sp>
        <p:nvSpPr>
          <p:cNvPr id="6" name="Text 3"/>
          <p:cNvSpPr/>
          <p:nvPr/>
        </p:nvSpPr>
        <p:spPr>
          <a:xfrm>
            <a:off x="777240" y="542074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1,6%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17,6%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17,8%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13,4%; tirando um município por vez, vai de 12,5% a 17,6%.</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sem um município por vez</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PPI_peso_estabilidade.png">    </p:cNvPr>
          <p:cNvPicPr>
            <a:picLocks noChangeAspect="1"/>
          </p:cNvPicPr>
          <p:nvPr/>
        </p:nvPicPr>
        <p:blipFill>
          <a:blip r:embed="rId1"/>
          <a:stretch>
            <a:fillRect/>
          </a:stretch>
        </p:blipFill>
        <p:spPr>
          <a:xfrm>
            <a:off x="777240" y="1298448"/>
            <a:ext cx="6675120" cy="4119913"/>
          </a:xfrm>
          <a:prstGeom prst="rect">
            <a:avLst/>
          </a:prstGeom>
        </p:spPr>
      </p:pic>
      <p:sp>
        <p:nvSpPr>
          <p:cNvPr id="6" name="Text 3"/>
          <p:cNvSpPr/>
          <p:nvPr/>
        </p:nvSpPr>
        <p:spPr>
          <a:xfrm>
            <a:off x="777240" y="547322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16 — </a:t>
            </a:r>
            <a:pPr indent="0" marL="0">
              <a:buNone/>
            </a:pPr>
            <a:r>
              <a:rPr lang="en-US" sz="1050" dirty="0">
                <a:solidFill>
                  <a:srgbClr val="56534C"/>
                </a:solidFill>
                <a:latin typeface="Cambria" pitchFamily="34" charset="0"/>
                <a:ea typeface="Cambria" pitchFamily="34" charset="-122"/>
                <a:cs typeface="Cambria" pitchFamily="34" charset="-120"/>
              </a:rPr>
              <a:t>Preta, parda ou indígena: peso no IVS proposto em cada uma das 70 rodadas; linha vermelha: peso com todos.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recalculado 70 vezes, cada vez sem um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a medida de incerteza adotada (a reamostragem de setores subestimava). Se um município sozinho muda muito o peso, a fatorial depende dele.</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estreito em torno da linha vermelha: peso estável. Barras isoladas longe dela: um município que puxa o peso.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13,4%; tirando um município por vez, vai de 12,5% a 17,6%.</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(0,527) e a mediana (0,572) estão próximas: assimetria de -0,39.</a:t>
            </a:r>
            <a:endParaRPr lang="en-US" sz="1350" dirty="0"/>
          </a:p>
        </p:txBody>
      </p:sp>
      <p:sp>
        <p:nvSpPr>
          <p:cNvPr id="6" name="Text 4"/>
          <p:cNvSpPr/>
          <p:nvPr/>
        </p:nvSpPr>
        <p:spPr>
          <a:xfrm>
            <a:off x="777240" y="164934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104.106 dos 104.108 setores (100,00%) têm o dado. A ausência é desprezível.</a:t>
            </a:r>
            <a:endParaRPr lang="en-US" sz="1350" dirty="0"/>
          </a:p>
        </p:txBody>
      </p:sp>
      <p:sp>
        <p:nvSpPr>
          <p:cNvPr id="7" name="Text 5"/>
          <p:cNvSpPr/>
          <p:nvPr/>
        </p:nvSpPr>
        <p:spPr>
          <a:xfrm>
            <a:off x="777240" y="1981962"/>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Norte (0,748); a menor, a do Sul (0,246). O Norte tem só 6 municípios: os contrastes descrevem os municípios estudados, não a região inteira.</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0,713; no decil 10, 0,249.</a:t>
            </a:r>
            <a:endParaRPr lang="en-US" sz="1350" dirty="0"/>
          </a:p>
        </p:txBody>
      </p:sp>
      <p:sp>
        <p:nvSpPr>
          <p:cNvPr id="9" name="Text 7"/>
          <p:cNvSpPr/>
          <p:nvPr/>
        </p:nvSpPr>
        <p:spPr>
          <a:xfrm>
            <a:off x="777240" y="2870073"/>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Renda média do responsável: 0,79 no conjunto e 0,84 dentro dos municípios.</a:t>
            </a:r>
            <a:endParaRPr lang="en-US" sz="1350" dirty="0"/>
          </a:p>
        </p:txBody>
      </p:sp>
      <p:sp>
        <p:nvSpPr>
          <p:cNvPr id="10" name="Text 8"/>
          <p:cNvSpPr/>
          <p:nvPr/>
        </p:nvSpPr>
        <p:spPr>
          <a:xfrm>
            <a:off x="777240" y="320268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0,777 dentro dos municípios; atende a 3 dos 3 critérios da Fase 1 (comunalidade, perda de base, elegibilidade).</a:t>
            </a:r>
            <a:endParaRPr lang="en-US" sz="1350" dirty="0"/>
          </a:p>
        </p:txBody>
      </p:sp>
      <p:sp>
        <p:nvSpPr>
          <p:cNvPr id="11" name="Text 9"/>
          <p:cNvSpPr/>
          <p:nvPr/>
        </p:nvSpPr>
        <p:spPr>
          <a:xfrm>
            <a:off x="777240" y="375818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Entra no IVS proposto (padrão P2: os 7 do Quadro 1).</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0,838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0,829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0,783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0,752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0,704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0,641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0,648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0,617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0,602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13.370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0,517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0,483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0,509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0,399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0,419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PPI-38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Preta, parda ou indígena</dc:title>
  <dc:subject>PptxGenJS Presentation</dc:subject>
  <dc:creator>Pedro Dias Soares</dc:creator>
  <cp:lastModifiedBy>Pedro Dias Soares</cp:lastModifiedBy>
  <cp:revision>1</cp:revision>
  <dcterms:created xsi:type="dcterms:W3CDTF">2026-10-22T19:30:46Z</dcterms:created>
  <dcterms:modified xsi:type="dcterms:W3CDTF">2026-10-22T19:30:46Z</dcterms:modified>
</cp:coreProperties>
</file>