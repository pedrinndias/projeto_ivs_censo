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[MOR-01] Razão de moradores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[MOR-06] 100,0%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104.108 dos 104.108 setores (100,0%)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Nenhum setor está sem o dado, em nenhuma região.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(2,69) e a mediana (2,71) estão próximas: assimetria de -0,22.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(2,69) e a mediana (2,71) estão próximas: assimetria de -0,22.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1.158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2,71; três quartos, até 2,93.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(2,71) ao 99 (3,62).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(3,19); a menor, a do Sul (2,53).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(3,19); a menor, a do Sul (2,53).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até 100 mil (2,84); a menor, a dos de mais de 500 mil (2,68).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até 100 mil (2,84); a menor, a dos de mais de 500 mil (2,68).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Portel (4,23, 26 setores); menor: Porto Alegre (2,37).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A mediana vai de 2,38 a 4,23.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0,029 (Rosário) a 0,101 (Porto Alegre).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0,029 (Rosário) a 0,101 (Porto Alegre).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2,93 nos setores de favela e de 2,64 fora delas (razão de 1,1).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2,93 nos setores de favela e de 2,64 fora delas (razão de 1,1).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2,92; no decil 10, 2,52.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2,76; nos 70 municípios, 2,69.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2,76; nos 70 municípios, 2,69.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3,62; 1.042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Crianças (0 a 14 anos): 0,61 no conjunto e 0,59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Crianças (0 a 14 anos): 0,61 no conjunto e 0,59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0,349 no conjunto e 0,323 dentro dos municípios (critério: 0,30); MSA de 0,822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0,349 no conjunto e 0,323 dentro dos municípios (critério: 0,30); MSA de 0,822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0,2% dos pares a combinação era elegível sem ele e deixa de ser com ele; ao entrar, custa na mediana 0 setores e muda o KMO em 0,034.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26,3%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2,2%; tirando um município por vez, vai de 1,8% a 5,6%.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2,2%; tirando um município por vez, vai de 1,8% a 5,6%.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MOR · SOCIOECONÔMICA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Razão de moradores</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Razão de moradores por domicílio (reproduz o V0005 do IBGE).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Razão de moradores por domicílio (reproduz o V0005 do IBGE), em moradores por domicílio.</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Muitas pessoas por domicílio indicam adensamento: facilita a transmissão de doenças respiratórias e reflete restrição de renda para moradia.</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V00005 + V00006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 + V00002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moradores por domicílio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e improvisados ocupados, para reproduzir o V0005 publicado pelo IBGE (item a).</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100,0%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Razão de moradores: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Nenhum setor está sem o dado, em nenhuma região.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(2,69) e a mediana (2,71) estão próximas: assimetria de -0,22.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Razão de moradores: número de setores em cada faixa de valor (104.108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(2,69) e a mediana (2,71) estão próximas: assimetria de -0,22.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Razão de moradores: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1.158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Razão de moradores: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2,71; três quartos, até 2,93.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percentis.png">    </p:cNvPr>
          <p:cNvPicPr>
            <a:picLocks noChangeAspect="1"/>
          </p:cNvPicPr>
          <p:nvPr/>
        </p:nvPicPr>
        <p:blipFill>
          <a:blip r:embed="rId1"/>
          <a:stretch>
            <a:fillRect/>
          </a:stretch>
        </p:blipFill>
        <p:spPr>
          <a:xfrm>
            <a:off x="777240" y="1298448"/>
            <a:ext cx="6675120" cy="4086372"/>
          </a:xfrm>
          <a:prstGeom prst="rect">
            <a:avLst/>
          </a:prstGeom>
        </p:spPr>
      </p:pic>
      <p:sp>
        <p:nvSpPr>
          <p:cNvPr id="6" name="Text 3"/>
          <p:cNvSpPr/>
          <p:nvPr/>
        </p:nvSpPr>
        <p:spPr>
          <a:xfrm>
            <a:off x="777240" y="54396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Razão de moradores: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(2,71) ao 99 (3,62).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2,53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(3,19); a menor, a do Sul (2,53).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regiao.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Razão de moradores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(3,19); a menor, a do Sul (2,53).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(2,84); a menor, a dos de mais de 500 mil (2,68).</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porte.png">    </p:cNvPr>
          <p:cNvPicPr>
            <a:picLocks noChangeAspect="1"/>
          </p:cNvPicPr>
          <p:nvPr/>
        </p:nvPicPr>
        <p:blipFill>
          <a:blip r:embed="rId1"/>
          <a:stretch>
            <a:fillRect/>
          </a:stretch>
        </p:blipFill>
        <p:spPr>
          <a:xfrm>
            <a:off x="777240" y="1298448"/>
            <a:ext cx="6675120" cy="3855640"/>
          </a:xfrm>
          <a:prstGeom prst="rect">
            <a:avLst/>
          </a:prstGeom>
        </p:spPr>
      </p:pic>
      <p:sp>
        <p:nvSpPr>
          <p:cNvPr id="6" name="Text 3"/>
          <p:cNvSpPr/>
          <p:nvPr/>
        </p:nvSpPr>
        <p:spPr>
          <a:xfrm>
            <a:off x="777240" y="520895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Razão de moradores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(2,84); a menor, a dos de mais de 500 mil (2,68).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Coroaci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3,34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3,38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Manaus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3,27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3,30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Ananindeua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Teresina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Belém</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2.004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Cachoeiro de Itapemirim</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Canoas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Araçatuba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13.370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Salvador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4.476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Gonçalo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2.357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2.677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2,37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2,38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Portel (4,23, 26 setores); menor: Porto Alegre (2,37).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municipios.png">    </p:cNvPr>
          <p:cNvPicPr>
            <a:picLocks noChangeAspect="1"/>
          </p:cNvPicPr>
          <p:nvPr/>
        </p:nvPicPr>
        <p:blipFill>
          <a:blip r:embed="rId1"/>
          <a:stretch>
            <a:fillRect/>
          </a:stretch>
        </p:blipFill>
        <p:spPr>
          <a:xfrm>
            <a:off x="1472279" y="1298448"/>
            <a:ext cx="5285042"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Razão de moradores: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mediana vai de 2,38 a 4,23.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Porto Alegre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Brasília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4.924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26.512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Guarujá</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13.370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Camaragibe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Preta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Rosário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0,029 (Rosário) a 0,101 (Porto Alegre).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desigualdade.png">    </p:cNvPr>
          <p:cNvPicPr>
            <a:picLocks noChangeAspect="1"/>
          </p:cNvPicPr>
          <p:nvPr/>
        </p:nvPicPr>
        <p:blipFill>
          <a:blip r:embed="rId1"/>
          <a:stretch>
            <a:fillRect/>
          </a:stretch>
        </p:blipFill>
        <p:spPr>
          <a:xfrm>
            <a:off x="777240" y="1298448"/>
            <a:ext cx="6675120" cy="4212523"/>
          </a:xfrm>
          <a:prstGeom prst="rect">
            <a:avLst/>
          </a:prstGeom>
        </p:spPr>
      </p:pic>
      <p:sp>
        <p:nvSpPr>
          <p:cNvPr id="6" name="Text 3"/>
          <p:cNvSpPr/>
          <p:nvPr/>
        </p:nvSpPr>
        <p:spPr>
          <a:xfrm>
            <a:off x="777240" y="556583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Razão de moradores: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0,029 (Rosário) a 0,101 (Porto Alegre).</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2,93 nos setores de favela e de 2,64 fora delas (razão de 1,1).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favela.png">    </p:cNvPr>
          <p:cNvPicPr>
            <a:picLocks noChangeAspect="1"/>
          </p:cNvPicPr>
          <p:nvPr/>
        </p:nvPicPr>
        <p:blipFill>
          <a:blip r:embed="rId1"/>
          <a:stretch>
            <a:fillRect/>
          </a:stretch>
        </p:blipFill>
        <p:spPr>
          <a:xfrm>
            <a:off x="777240" y="1298448"/>
            <a:ext cx="6675120" cy="3848591"/>
          </a:xfrm>
          <a:prstGeom prst="rect">
            <a:avLst/>
          </a:prstGeom>
        </p:spPr>
      </p:pic>
      <p:sp>
        <p:nvSpPr>
          <p:cNvPr id="6" name="Text 3"/>
          <p:cNvSpPr/>
          <p:nvPr/>
        </p:nvSpPr>
        <p:spPr>
          <a:xfrm>
            <a:off x="777240" y="520190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Razão de moradores: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2,93 nos setores de favela e de 2,64 fora delas (razão de 1,1).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gradiente.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Razão de moradores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2,92; no decil 10, 2,52.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347.400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2,76; nos 70 municípios, 2,69.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Razão de moradores: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2,76; nos 70 municípios, 2,69.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Guarulhos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Porto Alegre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Guarulhos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Guarulhos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José dos Pinhais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3,62; 1.042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Crianças (0 a 14 anos): 0,61 no conjunto e 0,59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Crianças (0 a 14 anos): 0,61 no conjunto e 0,59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0,349 no conjunto e 0,323 dentro dos municípios (critério: 0,30); MSA de 0,822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cargas.png">    </p:cNvPr>
          <p:cNvPicPr>
            <a:picLocks noChangeAspect="1"/>
          </p:cNvPicPr>
          <p:nvPr/>
        </p:nvPicPr>
        <p:blipFill>
          <a:blip r:embed="rId1"/>
          <a:stretch>
            <a:fillRect/>
          </a:stretch>
        </p:blipFill>
        <p:spPr>
          <a:xfrm>
            <a:off x="777240" y="1298448"/>
            <a:ext cx="6675120" cy="3840480"/>
          </a:xfrm>
          <a:prstGeom prst="rect">
            <a:avLst/>
          </a:prstGeom>
        </p:spPr>
      </p:pic>
      <p:sp>
        <p:nvSpPr>
          <p:cNvPr id="6" name="Text 3"/>
          <p:cNvSpPr/>
          <p:nvPr/>
        </p:nvSpPr>
        <p:spPr>
          <a:xfrm>
            <a:off x="777240" y="51937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Razão de moradores: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0,349 no conjunto e 0,323 dentro dos municípios (critério: 0,30); MSA de 0,822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0,394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0,2% dos pares a combinação era elegível sem ele e deixa de ser com ele; ao entrar, custa na mediana 0 setores e muda o KMO em 0,034.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Razão de moradores: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26,3%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2,2%; tirando um município por vez, vai de 1,8% a 5,6%.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OR_peso_estabilidade.png">    </p:cNvPr>
          <p:cNvPicPr>
            <a:picLocks noChangeAspect="1"/>
          </p:cNvPicPr>
          <p:nvPr/>
        </p:nvPicPr>
        <p:blipFill>
          <a:blip r:embed="rId1"/>
          <a:stretch>
            <a:fillRect/>
          </a:stretch>
        </p:blipFill>
        <p:spPr>
          <a:xfrm>
            <a:off x="777240" y="1298448"/>
            <a:ext cx="6675120" cy="4119913"/>
          </a:xfrm>
          <a:prstGeom prst="rect">
            <a:avLst/>
          </a:prstGeom>
        </p:spPr>
      </p:pic>
      <p:sp>
        <p:nvSpPr>
          <p:cNvPr id="6" name="Text 3"/>
          <p:cNvSpPr/>
          <p:nvPr/>
        </p:nvSpPr>
        <p:spPr>
          <a:xfrm>
            <a:off x="777240" y="547322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Razão de moradores: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2,2%; tirando um município por vez, vai de 1,8% a 5,6%.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(2,69) e a mediana (2,71) estão próximas: assimetria de -0,22.</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(3,19); a menor, a do Sul (2,53).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2,92; no decil 10, 2,52.</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Crianças (0 a 14 anos): 0,61 no conjunto e 0,59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0,347 dentro dos municípios; atende a 3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MOR-38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Razão de moradores</dc:title>
  <dc:subject>PptxGenJS Presentation</dc:subject>
  <dc:creator>Pedro Dias Soares</dc:creator>
  <cp:lastModifiedBy>Pedro Dias Soares</cp:lastModifiedBy>
  <cp:revision>1</cp:revision>
  <dcterms:created xsi:type="dcterms:W3CDTF">2026-10-22T19:30:45Z</dcterms:created>
  <dcterms:modified xsi:type="dcterms:W3CDTF">2026-10-22T19:30:45Z</dcterms:modified>
</cp:coreProperties>
</file>