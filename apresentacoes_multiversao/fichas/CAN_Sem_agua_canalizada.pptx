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[CAN-01] Sem água canalizada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[CAN-06] 99,96%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104.067 dos 104.108 setores (99,96%) têm o dado. Nos 41 sem o dado, a renda mediana do responsável é R$ 1.366,04, contra R$ 2.573,09 nos que têm: o ausente não é aleatório.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Norte (0,2%); a menor, no Sul (0,0%).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(0,015) e a mediana (0,000) se afastam: assimetria de 8,70. Em 69,7%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(0,015) e a mediana (0,000) se afastam: assimetria de 8,70. Em 69,7%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15.934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0,000; três quartos, até 0,005.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(0,000) ao 99 (0,340).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Norte (0,040); a menor, a do Sul (0,004).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Norte (0,040); a menor, a do Sul (0,004).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100 a 500 mil (0,024); a menor, a dos de mais de 500 mil (0,014).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100 a 500 mil (0,024); a menor, a dos de mais de 500 mil (0,014).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Rosário (0,135, 36 setores); menor: São Paulo das Missões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43 dos 70 municípios têm mediana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0,481 (Autazes) a 0,976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0,481 (Autazes) a 0,976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0,032 nos setores de favela e de 0,011 fora delas (razão de 2,8).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0,032 nos setores de favela e de 0,011 fora delas (razão de 2,8).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0,042; no decil 10, 0,003.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0,022; nos 70 municípios, 0,015.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0,022; nos 70 municípios, 0,015.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0,340; 1.041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Água inadequada: 0,47 no conjunto e 0,28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Água inadequada: 0,47 no conjunto e 0,28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0,532 no conjunto e 0,384 dentro dos municípios (critério: 0,30); MSA de 0,844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0,532 no conjunto e 0,384 dentro dos municípios (critério: 0,30); MSA de 0,844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1,2% dos pares a combinação era elegível sem ele e deixa de ser com ele; ao entrar, custa na mediana 32 setores e muda o KMO em 0,021.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35,6%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fora.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[CAN-35]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[CAN-36]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[CAN-37]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CAN · SANEAMENTO</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Sem água canalizada</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domicílios em que a água não chega encanada até dentro do domicílio (complemento de V00199; equivale a V00200+V00201 sobre V00001). Indicador complementar (Quadro 2), fora do IVS de 2012.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domicílios em que a água não chega encanada até dentro do domicílio (complemento de V00199; equivale a V00200+V00201 sobre V00001), em proporção de 0 a 1.</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Mesmo com rede geral, a água pode chegar só ao terreno ou não chegar encanada: mede a entrega da água dentro de casa, um eixo diferente da fonte medida em "água inadequada".</a:t>
            </a:r>
            <a:endParaRPr lang="en-US" sz="1350" dirty="0"/>
          </a:p>
        </p:txBody>
      </p:sp>
      <p:sp>
        <p:nvSpPr>
          <p:cNvPr id="7" name="Text 5"/>
          <p:cNvSpPr/>
          <p:nvPr/>
        </p:nvSpPr>
        <p:spPr>
          <a:xfrm>
            <a:off x="777240" y="2427732"/>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76034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Fora do IVS de 2012; entra na análise fatorial como indicador que pode ou não acrescentar.</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V00199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Agregados_por_setores_caracteristicas_domicilio1_BR.csv; Agregados_por_setores_caracteristicas_domicilio2_BR_20250417.csv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domicílios particulares permanentes ocupados (V00001), equivalente ao de 2012; moradores de domicílios coletivos não entram (relatório, item a).</a:t>
            </a:r>
            <a:endParaRPr lang="en-US" sz="1350" dirty="0"/>
          </a:p>
        </p:txBody>
      </p:sp>
      <p:sp>
        <p:nvSpPr>
          <p:cNvPr id="6" name="Text 4"/>
          <p:cNvSpPr/>
          <p:nvPr/>
        </p:nvSpPr>
        <p:spPr>
          <a:xfrm>
            <a:off x="777240" y="187223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Fora do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indicador complementar do Quadro 2: descreve o setor, não compõe o IVS de 2012.</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99,96%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104.067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99,96%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R$ 2.573,09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R$ 1.366,04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104.067 dos 104.108 setores (99,96%) têm o dado. Nos 41 sem o dado, a renda mediana do responsável é R$ 1.366,04, contra R$ 2.573,09 nos que têm: o ausente não é aleatório.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Sem água canalizada: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Norte (0,2%); a menor, no Sul (0,0%).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104.067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(0,015) e a mediana (0,000) se afastam: assimetria de 8,70. Em 69,7% dos setores o valor é zero.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histograma.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Sem água canalizada: número de setores em cada faixa de valor (104.067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(0,015) e a mediana (0,000) se afastam: assimetria de 8,70. Em 69,7% dos setores o valor é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Sem água canalizada: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15.934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Sem água canalizada: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0,000; três quartos, até 0,005.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percentis.png">    </p:cNvPr>
          <p:cNvPicPr>
            <a:picLocks noChangeAspect="1"/>
          </p:cNvPicPr>
          <p:nvPr/>
        </p:nvPicPr>
        <p:blipFill>
          <a:blip r:embed="rId1"/>
          <a:stretch>
            <a:fillRect/>
          </a:stretch>
        </p:blipFill>
        <p:spPr>
          <a:xfrm>
            <a:off x="777240" y="1298448"/>
            <a:ext cx="6675120" cy="4038906"/>
          </a:xfrm>
          <a:prstGeom prst="rect">
            <a:avLst/>
          </a:prstGeom>
        </p:spPr>
      </p:pic>
      <p:sp>
        <p:nvSpPr>
          <p:cNvPr id="6" name="Text 3"/>
          <p:cNvSpPr/>
          <p:nvPr/>
        </p:nvSpPr>
        <p:spPr>
          <a:xfrm>
            <a:off x="777240" y="539221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Sem água canalizada: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(0,000) ao 99 (0,340).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74,6%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(0,040); a menor, a do Sul (0,004).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regiao.png">    </p:cNvPr>
          <p:cNvPicPr>
            <a:picLocks noChangeAspect="1"/>
          </p:cNvPicPr>
          <p:nvPr/>
        </p:nvPicPr>
        <p:blipFill>
          <a:blip r:embed="rId1"/>
          <a:stretch>
            <a:fillRect/>
          </a:stretch>
        </p:blipFill>
        <p:spPr>
          <a:xfrm>
            <a:off x="777240" y="1298448"/>
            <a:ext cx="6675120" cy="3848591"/>
          </a:xfrm>
          <a:prstGeom prst="rect">
            <a:avLst/>
          </a:prstGeom>
        </p:spPr>
      </p:pic>
      <p:sp>
        <p:nvSpPr>
          <p:cNvPr id="6" name="Text 3"/>
          <p:cNvSpPr/>
          <p:nvPr/>
        </p:nvSpPr>
        <p:spPr>
          <a:xfrm>
            <a:off x="777240" y="520190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Sem água canalizada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(0,040); a menor, a do Sul (0,004).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65,3%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95.174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100 a 500 mil (0,024); a menor, a dos de mais de 500 mil (0,014).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porte.png">    </p:cNvPr>
          <p:cNvPicPr>
            <a:picLocks noChangeAspect="1"/>
          </p:cNvPicPr>
          <p:nvPr/>
        </p:nvPicPr>
        <p:blipFill>
          <a:blip r:embed="rId1"/>
          <a:stretch>
            <a:fillRect/>
          </a:stretch>
        </p:blipFill>
        <p:spPr>
          <a:xfrm>
            <a:off x="777240" y="1298448"/>
            <a:ext cx="6675120" cy="3811368"/>
          </a:xfrm>
          <a:prstGeom prst="rect">
            <a:avLst/>
          </a:prstGeom>
        </p:spPr>
      </p:pic>
      <p:sp>
        <p:nvSpPr>
          <p:cNvPr id="6" name="Text 3"/>
          <p:cNvSpPr/>
          <p:nvPr/>
        </p:nvSpPr>
        <p:spPr>
          <a:xfrm>
            <a:off x="777240" y="516468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Sem água canalizada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100 a 500 mil (0,024); a menor, a dos de mais de 500 mil (0,014).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0,135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0,135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0,039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0,106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Macaé</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617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0,096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Duque de Caxias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1.782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0,084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Jaqueira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0,084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0,076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Nova Iguaçu</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1.563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0,075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Luís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1.674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0,072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0,071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Charqueadas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Tabatinga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Santa Maria do 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Araçatuba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Pato Branco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151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Guapiaçu</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Orizânia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Rosário (0,135, 36 setores); menor: São Paulo das Missões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municipios.png">    </p:cNvPr>
          <p:cNvPicPr>
            <a:picLocks noChangeAspect="1"/>
          </p:cNvPicPr>
          <p:nvPr/>
        </p:nvPicPr>
        <p:blipFill>
          <a:blip r:embed="rId1"/>
          <a:stretch>
            <a:fillRect/>
          </a:stretch>
        </p:blipFill>
        <p:spPr>
          <a:xfrm>
            <a:off x="1411658" y="1298448"/>
            <a:ext cx="5406284"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Sem água canalizada: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43 dos 70 municípios têm mediana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Araçatuba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Caetano do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26.508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Bernardo do Campo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Mauá</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Curitiba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Guapiaçu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Camaragibe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Chapada dos Guimarães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Rosário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0,481 (Autazes) a 0,976 (Araçatuba).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desigualdade.png">    </p:cNvPr>
          <p:cNvPicPr>
            <a:picLocks noChangeAspect="1"/>
          </p:cNvPicPr>
          <p:nvPr/>
        </p:nvPicPr>
        <p:blipFill>
          <a:blip r:embed="rId1"/>
          <a:stretch>
            <a:fillRect/>
          </a:stretch>
        </p:blipFill>
        <p:spPr>
          <a:xfrm>
            <a:off x="777240" y="1298448"/>
            <a:ext cx="6675120" cy="4197182"/>
          </a:xfrm>
          <a:prstGeom prst="rect">
            <a:avLst/>
          </a:prstGeom>
        </p:spPr>
      </p:pic>
      <p:sp>
        <p:nvSpPr>
          <p:cNvPr id="6" name="Text 3"/>
          <p:cNvSpPr/>
          <p:nvPr/>
        </p:nvSpPr>
        <p:spPr>
          <a:xfrm>
            <a:off x="777240" y="555049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Sem água canalizada: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0,481 (Autazes) a 0,976 (Araçatuba).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19.438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0,032 nos setores de favela e de 0,011 fora delas (razão de 2,8).</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favela.png">    </p:cNvPr>
          <p:cNvPicPr>
            <a:picLocks noChangeAspect="1"/>
          </p:cNvPicPr>
          <p:nvPr/>
        </p:nvPicPr>
        <p:blipFill>
          <a:blip r:embed="rId1"/>
          <a:stretch>
            <a:fillRect/>
          </a:stretch>
        </p:blipFill>
        <p:spPr>
          <a:xfrm>
            <a:off x="777240" y="1298448"/>
            <a:ext cx="6675120" cy="3848591"/>
          </a:xfrm>
          <a:prstGeom prst="rect">
            <a:avLst/>
          </a:prstGeom>
        </p:spPr>
      </p:pic>
      <p:sp>
        <p:nvSpPr>
          <p:cNvPr id="6" name="Text 3"/>
          <p:cNvSpPr/>
          <p:nvPr/>
        </p:nvSpPr>
        <p:spPr>
          <a:xfrm>
            <a:off x="777240" y="520190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Sem água canalizada: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0,032 nos setores de favela e de 0,011 fora delas (razão de 2,8).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gradiente.png">    </p:cNvPr>
          <p:cNvPicPr>
            <a:picLocks noChangeAspect="1"/>
          </p:cNvPicPr>
          <p:nvPr/>
        </p:nvPicPr>
        <p:blipFill>
          <a:blip r:embed="rId1"/>
          <a:stretch>
            <a:fillRect/>
          </a:stretch>
        </p:blipFill>
        <p:spPr>
          <a:xfrm>
            <a:off x="777240" y="1298448"/>
            <a:ext cx="6675120" cy="4045954"/>
          </a:xfrm>
          <a:prstGeom prst="rect">
            <a:avLst/>
          </a:prstGeom>
        </p:spPr>
      </p:pic>
      <p:sp>
        <p:nvSpPr>
          <p:cNvPr id="6" name="Text 3"/>
          <p:cNvSpPr/>
          <p:nvPr/>
        </p:nvSpPr>
        <p:spPr>
          <a:xfrm>
            <a:off x="777240" y="539926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Sem água canalizada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0,042; no decil 10, 0,003.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104.067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0,022; nos 70 municípios, 0,015.</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Sem água canalizada: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0,022; nos 70 municípios, 0,015.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Salvador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Duque de Caxias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Macaé</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Macaé</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Nova Iguaçu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Nova Iguaçu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Nova Iguaçu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0,340; 1.041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Água inadequada: 0,47 no conjunto e 0,28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correlacao.png">    </p:cNvPr>
          <p:cNvPicPr>
            <a:picLocks noChangeAspect="1"/>
          </p:cNvPicPr>
          <p:nvPr/>
        </p:nvPicPr>
        <p:blipFill>
          <a:blip r:embed="rId1"/>
          <a:stretch>
            <a:fillRect/>
          </a:stretch>
        </p:blipFill>
        <p:spPr>
          <a:xfrm>
            <a:off x="777240" y="1298448"/>
            <a:ext cx="6675120" cy="3408936"/>
          </a:xfrm>
          <a:prstGeom prst="rect">
            <a:avLst/>
          </a:prstGeom>
        </p:spPr>
      </p:pic>
      <p:sp>
        <p:nvSpPr>
          <p:cNvPr id="6" name="Text 3"/>
          <p:cNvSpPr/>
          <p:nvPr/>
        </p:nvSpPr>
        <p:spPr>
          <a:xfrm>
            <a:off x="777240" y="476224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Água inadequada: 0,47 no conjunto e 0,28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0,532 no conjunto e 0,384 dentro dos municípios (critério: 0,30); MSA de 0,844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cargas.png">    </p:cNvPr>
          <p:cNvPicPr>
            <a:picLocks noChangeAspect="1"/>
          </p:cNvPicPr>
          <p:nvPr/>
        </p:nvPicPr>
        <p:blipFill>
          <a:blip r:embed="rId1"/>
          <a:stretch>
            <a:fillRect/>
          </a:stretch>
        </p:blipFill>
        <p:spPr>
          <a:xfrm>
            <a:off x="777240" y="1298448"/>
            <a:ext cx="6675120" cy="3897985"/>
          </a:xfrm>
          <a:prstGeom prst="rect">
            <a:avLst/>
          </a:prstGeom>
        </p:spPr>
      </p:pic>
      <p:sp>
        <p:nvSpPr>
          <p:cNvPr id="6" name="Text 3"/>
          <p:cNvSpPr/>
          <p:nvPr/>
        </p:nvSpPr>
        <p:spPr>
          <a:xfrm>
            <a:off x="777240" y="525129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Sem água canalizada: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0,532 no conjunto e 0,384 dentro dos municípios (critério: 0,30); MSA de 0,844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1,2% dos pares a combinação era elegível sem ele e deixa de ser com ele; ao entrar, custa na mediana 32 setores e muda o KMO em 0,021.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AN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Sem água canalizada: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35,6%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fora.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(0,015) e a mediana (0,000) se afastam: assimetria de 8,70. Em 69,7% dos setores o valor é zero.</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104.067 dos 104.108 setores (99,96%) têm o dado. Nos 41 sem o dado, a renda mediana do responsável é R$ 1.366,04, contra R$ 2.573,09 nos que têm: o ausente não é aleatório.</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Norte (0,040); a menor, a do Sul (0,004). O Norte tem só 6 municípios: os contrastes descrevem os municípios estudados, não a região inteira.</a:t>
            </a:r>
            <a:endParaRPr lang="en-US" sz="1350" dirty="0"/>
          </a:p>
        </p:txBody>
      </p:sp>
      <p:sp>
        <p:nvSpPr>
          <p:cNvPr id="8" name="Text 6"/>
          <p:cNvSpPr/>
          <p:nvPr/>
        </p:nvSpPr>
        <p:spPr>
          <a:xfrm>
            <a:off x="777240" y="276034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0,042; no decil 10, 0,003.</a:t>
            </a:r>
            <a:endParaRPr lang="en-US" sz="1350" dirty="0"/>
          </a:p>
        </p:txBody>
      </p:sp>
      <p:sp>
        <p:nvSpPr>
          <p:cNvPr id="9" name="Text 7"/>
          <p:cNvSpPr/>
          <p:nvPr/>
        </p:nvSpPr>
        <p:spPr>
          <a:xfrm>
            <a:off x="777240" y="3092958"/>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Água inadequada: 0,47 no conjunto e 0,28 dentro dos municípios.</a:t>
            </a:r>
            <a:endParaRPr lang="en-US" sz="1350" dirty="0"/>
          </a:p>
        </p:txBody>
      </p:sp>
      <p:sp>
        <p:nvSpPr>
          <p:cNvPr id="10" name="Text 8"/>
          <p:cNvSpPr/>
          <p:nvPr/>
        </p:nvSpPr>
        <p:spPr>
          <a:xfrm>
            <a:off x="777240" y="3425571"/>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0,334 dentro dos municípios; atende a 3 dos 3 critérios da Fase 1 (comunalidade, perda de base, elegibilidade).</a:t>
            </a:r>
            <a:endParaRPr lang="en-US" sz="1350" dirty="0"/>
          </a:p>
        </p:txBody>
      </p:sp>
      <p:sp>
        <p:nvSpPr>
          <p:cNvPr id="11" name="Text 9"/>
          <p:cNvSpPr/>
          <p:nvPr/>
        </p:nvSpPr>
        <p:spPr>
          <a:xfrm>
            <a:off x="777240" y="398106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Fica fora do IVS proposto (padrão P2); a decisão é da orientadora.</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CAN-37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 água canalizada</dc:title>
  <dc:subject>PptxGenJS Presentation</dc:subject>
  <dc:creator>Pedro Dias Soares</dc:creator>
  <cp:lastModifiedBy>Pedro Dias Soares</cp:lastModifiedBy>
  <cp:revision>1</cp:revision>
  <dcterms:created xsi:type="dcterms:W3CDTF">2026-10-22T19:30:46Z</dcterms:created>
  <dcterms:modified xsi:type="dcterms:W3CDTF">2026-10-22T19:30:46Z</dcterms:modified>
</cp:coreProperties>
</file>